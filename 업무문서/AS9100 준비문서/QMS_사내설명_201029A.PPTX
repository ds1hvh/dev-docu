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1209" r:id="rId2"/>
    <p:sldId id="1353" r:id="rId3"/>
    <p:sldId id="1378" r:id="rId4"/>
    <p:sldId id="1358" r:id="rId5"/>
    <p:sldId id="1359" r:id="rId6"/>
    <p:sldId id="1361" r:id="rId7"/>
    <p:sldId id="1356" r:id="rId8"/>
    <p:sldId id="1357" r:id="rId9"/>
    <p:sldId id="1354" r:id="rId10"/>
    <p:sldId id="1362" r:id="rId11"/>
    <p:sldId id="1365" r:id="rId12"/>
    <p:sldId id="1366" r:id="rId13"/>
    <p:sldId id="1364" r:id="rId14"/>
    <p:sldId id="1367" r:id="rId15"/>
    <p:sldId id="1369" r:id="rId16"/>
    <p:sldId id="1370" r:id="rId17"/>
    <p:sldId id="1371" r:id="rId18"/>
    <p:sldId id="1392" r:id="rId19"/>
    <p:sldId id="1372" r:id="rId20"/>
    <p:sldId id="1373" r:id="rId21"/>
    <p:sldId id="1374" r:id="rId22"/>
    <p:sldId id="1375" r:id="rId23"/>
    <p:sldId id="1376" r:id="rId24"/>
    <p:sldId id="1379" r:id="rId25"/>
    <p:sldId id="1360" r:id="rId26"/>
    <p:sldId id="1380" r:id="rId27"/>
    <p:sldId id="1377" r:id="rId28"/>
    <p:sldId id="1381" r:id="rId29"/>
    <p:sldId id="1384" r:id="rId30"/>
    <p:sldId id="1382" r:id="rId31"/>
    <p:sldId id="1385" r:id="rId32"/>
    <p:sldId id="1390" r:id="rId33"/>
    <p:sldId id="1391" r:id="rId34"/>
    <p:sldId id="1387" r:id="rId35"/>
    <p:sldId id="1393" r:id="rId36"/>
    <p:sldId id="1394" r:id="rId37"/>
    <p:sldId id="1388" r:id="rId38"/>
    <p:sldId id="1389" r:id="rId39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상섭" initials="PSS" lastIdx="3" clrIdx="0">
    <p:extLst>
      <p:ext uri="{19B8F6BF-5375-455C-9EA6-DF929625EA0E}">
        <p15:presenceInfo xmlns:p15="http://schemas.microsoft.com/office/powerpoint/2012/main" userId="박상섭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338"/>
    <a:srgbClr val="E6EEF7"/>
    <a:srgbClr val="1B6DA5"/>
    <a:srgbClr val="E2EFD9"/>
    <a:srgbClr val="F2F2F2"/>
    <a:srgbClr val="FFFFFF"/>
    <a:srgbClr val="DBDBDB"/>
    <a:srgbClr val="63686C"/>
    <a:srgbClr val="6C7174"/>
    <a:srgbClr val="EFF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6362" autoAdjust="0"/>
  </p:normalViewPr>
  <p:slideViewPr>
    <p:cSldViewPr snapToGrid="0">
      <p:cViewPr varScale="1">
        <p:scale>
          <a:sx n="88" d="100"/>
          <a:sy n="88" d="100"/>
        </p:scale>
        <p:origin x="1266" y="96"/>
      </p:cViewPr>
      <p:guideLst>
        <p:guide orient="horz" pos="2160"/>
        <p:guide pos="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40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13053B-2D44-4FA2-962F-18A7F0C5B20A}" type="doc">
      <dgm:prSet loTypeId="urn:microsoft.com/office/officeart/2005/8/layout/pyramid1" loCatId="pyramid" qsTypeId="urn:microsoft.com/office/officeart/2005/8/quickstyle/simple1" qsCatId="simple" csTypeId="urn:microsoft.com/office/officeart/2005/8/colors/accent2_5" csCatId="accent2" phldr="1"/>
      <dgm:spPr/>
    </dgm:pt>
    <dgm:pt modelId="{EE985D57-5A00-4AB2-8E3F-5DC49AD2671B}">
      <dgm:prSet phldrT="[텍스트]" custT="1"/>
      <dgm:spPr>
        <a:blipFill rotWithShape="0">
          <a:blip xmlns:r="http://schemas.openxmlformats.org/officeDocument/2006/relationships" r:embed="rId1" cstate="print"/>
          <a:stretch>
            <a:fillRect/>
          </a:stretch>
        </a:blip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dirty="0"/>
            <a:t>국제표준</a:t>
          </a:r>
          <a:endParaRPr lang="en-US" altLang="ko-KR" sz="1600" dirty="0"/>
        </a:p>
      </dgm:t>
    </dgm:pt>
    <dgm:pt modelId="{C84E38F4-4BB2-4EAC-B5F0-D2C9FABE0D30}" type="parTrans" cxnId="{E07D1D8C-71CF-4273-AB02-283AB861B0CF}">
      <dgm:prSet/>
      <dgm:spPr/>
      <dgm:t>
        <a:bodyPr/>
        <a:lstStyle/>
        <a:p>
          <a:pPr latinLnBrk="1"/>
          <a:endParaRPr lang="ko-KR" altLang="en-US"/>
        </a:p>
      </dgm:t>
    </dgm:pt>
    <dgm:pt modelId="{F3FA36F6-8BB3-4F18-A94C-4D957998BAC4}" type="sibTrans" cxnId="{E07D1D8C-71CF-4273-AB02-283AB861B0CF}">
      <dgm:prSet/>
      <dgm:spPr/>
      <dgm:t>
        <a:bodyPr/>
        <a:lstStyle/>
        <a:p>
          <a:pPr latinLnBrk="1"/>
          <a:endParaRPr lang="ko-KR" altLang="en-US"/>
        </a:p>
      </dgm:t>
    </dgm:pt>
    <dgm:pt modelId="{B0CDEF74-ECEE-4A9A-9DBC-6A1B4B8C0332}">
      <dgm:prSet phldrT="[텍스트]" custT="1"/>
      <dgm:spPr>
        <a:blipFill rotWithShape="0">
          <a:blip xmlns:r="http://schemas.openxmlformats.org/officeDocument/2006/relationships" r:embed="rId1" cstate="print"/>
          <a:stretch>
            <a:fillRect/>
          </a:stretch>
        </a:blip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dirty="0"/>
            <a:t>지역표준</a:t>
          </a:r>
        </a:p>
      </dgm:t>
    </dgm:pt>
    <dgm:pt modelId="{58F2E486-FF59-45A8-B9BC-74D519C5FBD8}" type="parTrans" cxnId="{BDF2FE4E-8CC4-4FA0-8DBC-D50A328446FE}">
      <dgm:prSet/>
      <dgm:spPr/>
      <dgm:t>
        <a:bodyPr/>
        <a:lstStyle/>
        <a:p>
          <a:pPr latinLnBrk="1"/>
          <a:endParaRPr lang="ko-KR" altLang="en-US"/>
        </a:p>
      </dgm:t>
    </dgm:pt>
    <dgm:pt modelId="{35EA25D2-9685-4EDF-92A4-96CFC0A43486}" type="sibTrans" cxnId="{BDF2FE4E-8CC4-4FA0-8DBC-D50A328446FE}">
      <dgm:prSet/>
      <dgm:spPr/>
      <dgm:t>
        <a:bodyPr/>
        <a:lstStyle/>
        <a:p>
          <a:pPr latinLnBrk="1"/>
          <a:endParaRPr lang="ko-KR" altLang="en-US"/>
        </a:p>
      </dgm:t>
    </dgm:pt>
    <dgm:pt modelId="{768C1E95-1E37-4217-9D21-FF4A29649DAC}">
      <dgm:prSet phldrT="[텍스트]" custT="1"/>
      <dgm:spPr>
        <a:blipFill rotWithShape="0">
          <a:blip xmlns:r="http://schemas.openxmlformats.org/officeDocument/2006/relationships" r:embed="rId1" cstate="print"/>
          <a:stretch>
            <a:fillRect/>
          </a:stretch>
        </a:blip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dirty="0"/>
            <a:t>국가표준</a:t>
          </a:r>
        </a:p>
      </dgm:t>
    </dgm:pt>
    <dgm:pt modelId="{CCC58CA5-9180-4384-8B68-EC01238A1CD9}" type="parTrans" cxnId="{7770FE4B-B82A-4DDA-9F21-8A78DDD07871}">
      <dgm:prSet/>
      <dgm:spPr/>
      <dgm:t>
        <a:bodyPr/>
        <a:lstStyle/>
        <a:p>
          <a:pPr latinLnBrk="1"/>
          <a:endParaRPr lang="ko-KR" altLang="en-US"/>
        </a:p>
      </dgm:t>
    </dgm:pt>
    <dgm:pt modelId="{509AACFF-CF56-4B15-B7BE-C9C0F18AB82F}" type="sibTrans" cxnId="{7770FE4B-B82A-4DDA-9F21-8A78DDD07871}">
      <dgm:prSet/>
      <dgm:spPr/>
      <dgm:t>
        <a:bodyPr/>
        <a:lstStyle/>
        <a:p>
          <a:pPr latinLnBrk="1"/>
          <a:endParaRPr lang="ko-KR" altLang="en-US"/>
        </a:p>
      </dgm:t>
    </dgm:pt>
    <dgm:pt modelId="{3A3B31E7-1B4D-4384-8C22-B12CBD8E523D}">
      <dgm:prSet phldrT="[텍스트]" custT="1"/>
      <dgm:spPr>
        <a:blipFill rotWithShape="0">
          <a:blip xmlns:r="http://schemas.openxmlformats.org/officeDocument/2006/relationships" r:embed="rId1" cstate="print"/>
          <a:stretch>
            <a:fillRect/>
          </a:stretch>
        </a:blip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dirty="0"/>
            <a:t>사내표준 </a:t>
          </a:r>
          <a:r>
            <a:rPr lang="en-US" altLang="ko-KR" sz="1600" dirty="0"/>
            <a:t>(</a:t>
          </a:r>
          <a:r>
            <a:rPr lang="ko-KR" altLang="en-US" sz="1600" dirty="0"/>
            <a:t>매뉴얼</a:t>
          </a:r>
          <a:r>
            <a:rPr lang="en-US" altLang="ko-KR" sz="1600" dirty="0"/>
            <a:t>, </a:t>
          </a:r>
          <a:r>
            <a:rPr lang="ko-KR" altLang="en-US" sz="1600" dirty="0"/>
            <a:t>절차서</a:t>
          </a:r>
          <a:r>
            <a:rPr lang="en-US" altLang="ko-KR" sz="1600" dirty="0"/>
            <a:t>, </a:t>
          </a:r>
          <a:r>
            <a:rPr lang="ko-KR" altLang="en-US" sz="1600" dirty="0"/>
            <a:t>지침서</a:t>
          </a:r>
          <a:r>
            <a:rPr lang="en-US" altLang="ko-KR" sz="1600" dirty="0"/>
            <a:t>, </a:t>
          </a:r>
          <a:r>
            <a:rPr lang="ko-KR" altLang="en-US" sz="1600" dirty="0"/>
            <a:t>기록서 등</a:t>
          </a:r>
          <a:r>
            <a:rPr lang="en-US" altLang="ko-KR" sz="1600" dirty="0"/>
            <a:t>)</a:t>
          </a:r>
          <a:endParaRPr lang="ko-KR" altLang="en-US" sz="1600" dirty="0"/>
        </a:p>
      </dgm:t>
    </dgm:pt>
    <dgm:pt modelId="{F5141F65-02A2-44FF-99E9-2A0F004E3C78}" type="parTrans" cxnId="{7819E149-0AA8-44B5-9037-5FB98F97724B}">
      <dgm:prSet/>
      <dgm:spPr/>
      <dgm:t>
        <a:bodyPr/>
        <a:lstStyle/>
        <a:p>
          <a:pPr latinLnBrk="1"/>
          <a:endParaRPr lang="ko-KR" altLang="en-US"/>
        </a:p>
      </dgm:t>
    </dgm:pt>
    <dgm:pt modelId="{9FF1DF0F-9F17-4FB2-A987-6C1603A6F7D5}" type="sibTrans" cxnId="{7819E149-0AA8-44B5-9037-5FB98F97724B}">
      <dgm:prSet/>
      <dgm:spPr/>
      <dgm:t>
        <a:bodyPr/>
        <a:lstStyle/>
        <a:p>
          <a:pPr latinLnBrk="1"/>
          <a:endParaRPr lang="ko-KR" altLang="en-US"/>
        </a:p>
      </dgm:t>
    </dgm:pt>
    <dgm:pt modelId="{84A7EC0B-7D63-4452-A3AC-FD7583962D9A}">
      <dgm:prSet phldrT="[텍스트]" custT="1"/>
      <dgm:spPr>
        <a:blipFill rotWithShape="0">
          <a:blip xmlns:r="http://schemas.openxmlformats.org/officeDocument/2006/relationships" r:embed="rId1" cstate="print"/>
          <a:stretch>
            <a:fillRect/>
          </a:stretch>
        </a:blip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600" dirty="0"/>
            <a:t>단체표준</a:t>
          </a:r>
        </a:p>
      </dgm:t>
    </dgm:pt>
    <dgm:pt modelId="{3A207ACC-125D-4BDA-A2DC-971D322A57B7}" type="parTrans" cxnId="{CE218B49-7E93-4F91-ADE9-AD78EDD797D0}">
      <dgm:prSet/>
      <dgm:spPr/>
      <dgm:t>
        <a:bodyPr/>
        <a:lstStyle/>
        <a:p>
          <a:pPr latinLnBrk="1"/>
          <a:endParaRPr lang="ko-KR" altLang="en-US"/>
        </a:p>
      </dgm:t>
    </dgm:pt>
    <dgm:pt modelId="{7BEF365A-DD15-4290-86E3-2901D43D314E}" type="sibTrans" cxnId="{CE218B49-7E93-4F91-ADE9-AD78EDD797D0}">
      <dgm:prSet/>
      <dgm:spPr/>
      <dgm:t>
        <a:bodyPr/>
        <a:lstStyle/>
        <a:p>
          <a:pPr latinLnBrk="1"/>
          <a:endParaRPr lang="ko-KR" altLang="en-US"/>
        </a:p>
      </dgm:t>
    </dgm:pt>
    <dgm:pt modelId="{F60E0D27-08EF-42A5-B3D5-D1AE859C5A7D}" type="pres">
      <dgm:prSet presAssocID="{7413053B-2D44-4FA2-962F-18A7F0C5B20A}" presName="Name0" presStyleCnt="0">
        <dgm:presLayoutVars>
          <dgm:dir/>
          <dgm:animLvl val="lvl"/>
          <dgm:resizeHandles val="exact"/>
        </dgm:presLayoutVars>
      </dgm:prSet>
      <dgm:spPr/>
    </dgm:pt>
    <dgm:pt modelId="{9B7C8FBF-3CDB-40C1-8D81-53FC6A0A1B7D}" type="pres">
      <dgm:prSet presAssocID="{EE985D57-5A00-4AB2-8E3F-5DC49AD2671B}" presName="Name8" presStyleCnt="0"/>
      <dgm:spPr/>
    </dgm:pt>
    <dgm:pt modelId="{CB5C58A4-2419-4BAB-BF17-5CB222A0C54C}" type="pres">
      <dgm:prSet presAssocID="{EE985D57-5A00-4AB2-8E3F-5DC49AD2671B}" presName="level" presStyleLbl="node1" presStyleIdx="0" presStyleCnt="5">
        <dgm:presLayoutVars>
          <dgm:chMax val="1"/>
          <dgm:bulletEnabled val="1"/>
        </dgm:presLayoutVars>
      </dgm:prSet>
      <dgm:spPr/>
    </dgm:pt>
    <dgm:pt modelId="{5A9FA9D7-A21D-4609-956A-894749ECDDF3}" type="pres">
      <dgm:prSet presAssocID="{EE985D57-5A00-4AB2-8E3F-5DC49AD2671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037FC04-F49F-4208-B0E5-A0C4BA73973A}" type="pres">
      <dgm:prSet presAssocID="{B0CDEF74-ECEE-4A9A-9DBC-6A1B4B8C0332}" presName="Name8" presStyleCnt="0"/>
      <dgm:spPr/>
    </dgm:pt>
    <dgm:pt modelId="{72AB0037-DE37-4986-8526-CEB4CBF502B9}" type="pres">
      <dgm:prSet presAssocID="{B0CDEF74-ECEE-4A9A-9DBC-6A1B4B8C0332}" presName="level" presStyleLbl="node1" presStyleIdx="1" presStyleCnt="5">
        <dgm:presLayoutVars>
          <dgm:chMax val="1"/>
          <dgm:bulletEnabled val="1"/>
        </dgm:presLayoutVars>
      </dgm:prSet>
      <dgm:spPr/>
    </dgm:pt>
    <dgm:pt modelId="{F9D4B99A-F194-4C42-9E31-FEDD9A837B7B}" type="pres">
      <dgm:prSet presAssocID="{B0CDEF74-ECEE-4A9A-9DBC-6A1B4B8C033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1730DDC-70D7-4C16-98D9-35A05CEC3BD3}" type="pres">
      <dgm:prSet presAssocID="{768C1E95-1E37-4217-9D21-FF4A29649DAC}" presName="Name8" presStyleCnt="0"/>
      <dgm:spPr/>
    </dgm:pt>
    <dgm:pt modelId="{5509C711-5FAE-4CC2-A7C4-BD83BDB7B607}" type="pres">
      <dgm:prSet presAssocID="{768C1E95-1E37-4217-9D21-FF4A29649DAC}" presName="level" presStyleLbl="node1" presStyleIdx="2" presStyleCnt="5">
        <dgm:presLayoutVars>
          <dgm:chMax val="1"/>
          <dgm:bulletEnabled val="1"/>
        </dgm:presLayoutVars>
      </dgm:prSet>
      <dgm:spPr/>
    </dgm:pt>
    <dgm:pt modelId="{54019CFE-218F-4A34-8D23-486965093770}" type="pres">
      <dgm:prSet presAssocID="{768C1E95-1E37-4217-9D21-FF4A29649DA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E657484-BCF8-4503-8BBE-A1D20D098542}" type="pres">
      <dgm:prSet presAssocID="{84A7EC0B-7D63-4452-A3AC-FD7583962D9A}" presName="Name8" presStyleCnt="0"/>
      <dgm:spPr/>
    </dgm:pt>
    <dgm:pt modelId="{0C0AF206-D663-47BA-B10B-CB8028A16AF4}" type="pres">
      <dgm:prSet presAssocID="{84A7EC0B-7D63-4452-A3AC-FD7583962D9A}" presName="level" presStyleLbl="node1" presStyleIdx="3" presStyleCnt="5">
        <dgm:presLayoutVars>
          <dgm:chMax val="1"/>
          <dgm:bulletEnabled val="1"/>
        </dgm:presLayoutVars>
      </dgm:prSet>
      <dgm:spPr/>
    </dgm:pt>
    <dgm:pt modelId="{BEE617DD-B216-41CF-B466-EA02F8D4E583}" type="pres">
      <dgm:prSet presAssocID="{84A7EC0B-7D63-4452-A3AC-FD7583962D9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7C9419B-92B2-4229-BE44-051710805255}" type="pres">
      <dgm:prSet presAssocID="{3A3B31E7-1B4D-4384-8C22-B12CBD8E523D}" presName="Name8" presStyleCnt="0"/>
      <dgm:spPr/>
    </dgm:pt>
    <dgm:pt modelId="{1ECC1CED-A478-421D-88CD-65D1C0C5FB8E}" type="pres">
      <dgm:prSet presAssocID="{3A3B31E7-1B4D-4384-8C22-B12CBD8E523D}" presName="level" presStyleLbl="node1" presStyleIdx="4" presStyleCnt="5">
        <dgm:presLayoutVars>
          <dgm:chMax val="1"/>
          <dgm:bulletEnabled val="1"/>
        </dgm:presLayoutVars>
      </dgm:prSet>
      <dgm:spPr/>
    </dgm:pt>
    <dgm:pt modelId="{C48866EA-CA68-4BAC-98FF-1E48BA1589D3}" type="pres">
      <dgm:prSet presAssocID="{3A3B31E7-1B4D-4384-8C22-B12CBD8E523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17A8C01-615B-44E6-9CFA-1861B47DF601}" type="presOf" srcId="{EE985D57-5A00-4AB2-8E3F-5DC49AD2671B}" destId="{5A9FA9D7-A21D-4609-956A-894749ECDDF3}" srcOrd="1" destOrd="0" presId="urn:microsoft.com/office/officeart/2005/8/layout/pyramid1"/>
    <dgm:cxn modelId="{7641580B-C4D8-4E2F-90BE-530934C526E2}" type="presOf" srcId="{7413053B-2D44-4FA2-962F-18A7F0C5B20A}" destId="{F60E0D27-08EF-42A5-B3D5-D1AE859C5A7D}" srcOrd="0" destOrd="0" presId="urn:microsoft.com/office/officeart/2005/8/layout/pyramid1"/>
    <dgm:cxn modelId="{4AB1D617-E6BE-4B95-8C99-18722342E27F}" type="presOf" srcId="{B0CDEF74-ECEE-4A9A-9DBC-6A1B4B8C0332}" destId="{F9D4B99A-F194-4C42-9E31-FEDD9A837B7B}" srcOrd="1" destOrd="0" presId="urn:microsoft.com/office/officeart/2005/8/layout/pyramid1"/>
    <dgm:cxn modelId="{CE218B49-7E93-4F91-ADE9-AD78EDD797D0}" srcId="{7413053B-2D44-4FA2-962F-18A7F0C5B20A}" destId="{84A7EC0B-7D63-4452-A3AC-FD7583962D9A}" srcOrd="3" destOrd="0" parTransId="{3A207ACC-125D-4BDA-A2DC-971D322A57B7}" sibTransId="{7BEF365A-DD15-4290-86E3-2901D43D314E}"/>
    <dgm:cxn modelId="{7819E149-0AA8-44B5-9037-5FB98F97724B}" srcId="{7413053B-2D44-4FA2-962F-18A7F0C5B20A}" destId="{3A3B31E7-1B4D-4384-8C22-B12CBD8E523D}" srcOrd="4" destOrd="0" parTransId="{F5141F65-02A2-44FF-99E9-2A0F004E3C78}" sibTransId="{9FF1DF0F-9F17-4FB2-A987-6C1603A6F7D5}"/>
    <dgm:cxn modelId="{7770FE4B-B82A-4DDA-9F21-8A78DDD07871}" srcId="{7413053B-2D44-4FA2-962F-18A7F0C5B20A}" destId="{768C1E95-1E37-4217-9D21-FF4A29649DAC}" srcOrd="2" destOrd="0" parTransId="{CCC58CA5-9180-4384-8B68-EC01238A1CD9}" sibTransId="{509AACFF-CF56-4B15-B7BE-C9C0F18AB82F}"/>
    <dgm:cxn modelId="{BDF2FE4E-8CC4-4FA0-8DBC-D50A328446FE}" srcId="{7413053B-2D44-4FA2-962F-18A7F0C5B20A}" destId="{B0CDEF74-ECEE-4A9A-9DBC-6A1B4B8C0332}" srcOrd="1" destOrd="0" parTransId="{58F2E486-FF59-45A8-B9BC-74D519C5FBD8}" sibTransId="{35EA25D2-9685-4EDF-92A4-96CFC0A43486}"/>
    <dgm:cxn modelId="{928FF453-2DC3-43BF-B49E-19A6E059E881}" type="presOf" srcId="{EE985D57-5A00-4AB2-8E3F-5DC49AD2671B}" destId="{CB5C58A4-2419-4BAB-BF17-5CB222A0C54C}" srcOrd="0" destOrd="0" presId="urn:microsoft.com/office/officeart/2005/8/layout/pyramid1"/>
    <dgm:cxn modelId="{B5D5BA78-3619-447C-B1EC-418AEED69D70}" type="presOf" srcId="{768C1E95-1E37-4217-9D21-FF4A29649DAC}" destId="{5509C711-5FAE-4CC2-A7C4-BD83BDB7B607}" srcOrd="0" destOrd="0" presId="urn:microsoft.com/office/officeart/2005/8/layout/pyramid1"/>
    <dgm:cxn modelId="{637D017A-0CA1-4A3D-BD90-C2EA29F7C4C8}" type="presOf" srcId="{84A7EC0B-7D63-4452-A3AC-FD7583962D9A}" destId="{BEE617DD-B216-41CF-B466-EA02F8D4E583}" srcOrd="1" destOrd="0" presId="urn:microsoft.com/office/officeart/2005/8/layout/pyramid1"/>
    <dgm:cxn modelId="{7B4C5A7D-4806-4E58-8360-9A636F80C491}" type="presOf" srcId="{B0CDEF74-ECEE-4A9A-9DBC-6A1B4B8C0332}" destId="{72AB0037-DE37-4986-8526-CEB4CBF502B9}" srcOrd="0" destOrd="0" presId="urn:microsoft.com/office/officeart/2005/8/layout/pyramid1"/>
    <dgm:cxn modelId="{E035C685-AB45-4133-ADCA-9298336EF4A8}" type="presOf" srcId="{84A7EC0B-7D63-4452-A3AC-FD7583962D9A}" destId="{0C0AF206-D663-47BA-B10B-CB8028A16AF4}" srcOrd="0" destOrd="0" presId="urn:microsoft.com/office/officeart/2005/8/layout/pyramid1"/>
    <dgm:cxn modelId="{E07D1D8C-71CF-4273-AB02-283AB861B0CF}" srcId="{7413053B-2D44-4FA2-962F-18A7F0C5B20A}" destId="{EE985D57-5A00-4AB2-8E3F-5DC49AD2671B}" srcOrd="0" destOrd="0" parTransId="{C84E38F4-4BB2-4EAC-B5F0-D2C9FABE0D30}" sibTransId="{F3FA36F6-8BB3-4F18-A94C-4D957998BAC4}"/>
    <dgm:cxn modelId="{660A9BB2-F437-4D80-BE70-C4978E5C3453}" type="presOf" srcId="{3A3B31E7-1B4D-4384-8C22-B12CBD8E523D}" destId="{1ECC1CED-A478-421D-88CD-65D1C0C5FB8E}" srcOrd="0" destOrd="0" presId="urn:microsoft.com/office/officeart/2005/8/layout/pyramid1"/>
    <dgm:cxn modelId="{8D1E9EC3-19BF-401A-B16A-875B95647BED}" type="presOf" srcId="{768C1E95-1E37-4217-9D21-FF4A29649DAC}" destId="{54019CFE-218F-4A34-8D23-486965093770}" srcOrd="1" destOrd="0" presId="urn:microsoft.com/office/officeart/2005/8/layout/pyramid1"/>
    <dgm:cxn modelId="{5B5096D2-01B5-4C0D-BC12-B3A28888AD5A}" type="presOf" srcId="{3A3B31E7-1B4D-4384-8C22-B12CBD8E523D}" destId="{C48866EA-CA68-4BAC-98FF-1E48BA1589D3}" srcOrd="1" destOrd="0" presId="urn:microsoft.com/office/officeart/2005/8/layout/pyramid1"/>
    <dgm:cxn modelId="{15D393C9-C279-4222-9CDF-705AD94725C9}" type="presParOf" srcId="{F60E0D27-08EF-42A5-B3D5-D1AE859C5A7D}" destId="{9B7C8FBF-3CDB-40C1-8D81-53FC6A0A1B7D}" srcOrd="0" destOrd="0" presId="urn:microsoft.com/office/officeart/2005/8/layout/pyramid1"/>
    <dgm:cxn modelId="{66D9FFDA-1793-4A86-AF28-C2DCE3A469FA}" type="presParOf" srcId="{9B7C8FBF-3CDB-40C1-8D81-53FC6A0A1B7D}" destId="{CB5C58A4-2419-4BAB-BF17-5CB222A0C54C}" srcOrd="0" destOrd="0" presId="urn:microsoft.com/office/officeart/2005/8/layout/pyramid1"/>
    <dgm:cxn modelId="{2F483CF4-96AD-46D5-9858-EB7343248BB6}" type="presParOf" srcId="{9B7C8FBF-3CDB-40C1-8D81-53FC6A0A1B7D}" destId="{5A9FA9D7-A21D-4609-956A-894749ECDDF3}" srcOrd="1" destOrd="0" presId="urn:microsoft.com/office/officeart/2005/8/layout/pyramid1"/>
    <dgm:cxn modelId="{DBCEBC2F-B6A8-4261-A54F-451E73674910}" type="presParOf" srcId="{F60E0D27-08EF-42A5-B3D5-D1AE859C5A7D}" destId="{9037FC04-F49F-4208-B0E5-A0C4BA73973A}" srcOrd="1" destOrd="0" presId="urn:microsoft.com/office/officeart/2005/8/layout/pyramid1"/>
    <dgm:cxn modelId="{14D5DB41-E6FA-4735-9534-F16FC31D3800}" type="presParOf" srcId="{9037FC04-F49F-4208-B0E5-A0C4BA73973A}" destId="{72AB0037-DE37-4986-8526-CEB4CBF502B9}" srcOrd="0" destOrd="0" presId="urn:microsoft.com/office/officeart/2005/8/layout/pyramid1"/>
    <dgm:cxn modelId="{780EBCDC-8787-4CED-B9A4-18762DD236DA}" type="presParOf" srcId="{9037FC04-F49F-4208-B0E5-A0C4BA73973A}" destId="{F9D4B99A-F194-4C42-9E31-FEDD9A837B7B}" srcOrd="1" destOrd="0" presId="urn:microsoft.com/office/officeart/2005/8/layout/pyramid1"/>
    <dgm:cxn modelId="{EBA055CF-6707-4745-A4E8-D83109AD9EC5}" type="presParOf" srcId="{F60E0D27-08EF-42A5-B3D5-D1AE859C5A7D}" destId="{41730DDC-70D7-4C16-98D9-35A05CEC3BD3}" srcOrd="2" destOrd="0" presId="urn:microsoft.com/office/officeart/2005/8/layout/pyramid1"/>
    <dgm:cxn modelId="{51B21CAD-E92E-49C1-8B73-F3F69B5CA1D0}" type="presParOf" srcId="{41730DDC-70D7-4C16-98D9-35A05CEC3BD3}" destId="{5509C711-5FAE-4CC2-A7C4-BD83BDB7B607}" srcOrd="0" destOrd="0" presId="urn:microsoft.com/office/officeart/2005/8/layout/pyramid1"/>
    <dgm:cxn modelId="{DF44D879-9772-4E72-8E57-A5A247C2BCFA}" type="presParOf" srcId="{41730DDC-70D7-4C16-98D9-35A05CEC3BD3}" destId="{54019CFE-218F-4A34-8D23-486965093770}" srcOrd="1" destOrd="0" presId="urn:microsoft.com/office/officeart/2005/8/layout/pyramid1"/>
    <dgm:cxn modelId="{130877FC-2B33-4918-BCD8-77576F8A0527}" type="presParOf" srcId="{F60E0D27-08EF-42A5-B3D5-D1AE859C5A7D}" destId="{CE657484-BCF8-4503-8BBE-A1D20D098542}" srcOrd="3" destOrd="0" presId="urn:microsoft.com/office/officeart/2005/8/layout/pyramid1"/>
    <dgm:cxn modelId="{3C2D5548-2C01-4660-BAFE-FE15D327D38B}" type="presParOf" srcId="{CE657484-BCF8-4503-8BBE-A1D20D098542}" destId="{0C0AF206-D663-47BA-B10B-CB8028A16AF4}" srcOrd="0" destOrd="0" presId="urn:microsoft.com/office/officeart/2005/8/layout/pyramid1"/>
    <dgm:cxn modelId="{D1F212F1-0CD7-47B6-AAC6-27E2B32B8C2C}" type="presParOf" srcId="{CE657484-BCF8-4503-8BBE-A1D20D098542}" destId="{BEE617DD-B216-41CF-B466-EA02F8D4E583}" srcOrd="1" destOrd="0" presId="urn:microsoft.com/office/officeart/2005/8/layout/pyramid1"/>
    <dgm:cxn modelId="{BDFE1347-4B46-477A-9009-11E29CF7A13A}" type="presParOf" srcId="{F60E0D27-08EF-42A5-B3D5-D1AE859C5A7D}" destId="{07C9419B-92B2-4229-BE44-051710805255}" srcOrd="4" destOrd="0" presId="urn:microsoft.com/office/officeart/2005/8/layout/pyramid1"/>
    <dgm:cxn modelId="{277260AB-CF18-45F5-84D8-F2A33A2593DA}" type="presParOf" srcId="{07C9419B-92B2-4229-BE44-051710805255}" destId="{1ECC1CED-A478-421D-88CD-65D1C0C5FB8E}" srcOrd="0" destOrd="0" presId="urn:microsoft.com/office/officeart/2005/8/layout/pyramid1"/>
    <dgm:cxn modelId="{DA3E6D46-83B5-40D9-B31A-1AF90D425050}" type="presParOf" srcId="{07C9419B-92B2-4229-BE44-051710805255}" destId="{C48866EA-CA68-4BAC-98FF-1E48BA1589D3}" srcOrd="1" destOrd="0" presId="urn:microsoft.com/office/officeart/2005/8/layout/pyramid1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C58A4-2419-4BAB-BF17-5CB222A0C54C}">
      <dsp:nvSpPr>
        <dsp:cNvPr id="0" name=""/>
        <dsp:cNvSpPr/>
      </dsp:nvSpPr>
      <dsp:spPr>
        <a:xfrm>
          <a:off x="1958236" y="0"/>
          <a:ext cx="979118" cy="693281"/>
        </a:xfrm>
        <a:prstGeom prst="trapezoid">
          <a:avLst>
            <a:gd name="adj" fmla="val 70615"/>
          </a:avLst>
        </a:prstGeom>
        <a:blipFill rotWithShape="0">
          <a:blip xmlns:r="http://schemas.openxmlformats.org/officeDocument/2006/relationships" r:embed="rId1" cstate="print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국제표준</a:t>
          </a:r>
          <a:endParaRPr lang="en-US" altLang="ko-KR" sz="1600" kern="1200" dirty="0"/>
        </a:p>
      </dsp:txBody>
      <dsp:txXfrm>
        <a:off x="1958236" y="0"/>
        <a:ext cx="979118" cy="693281"/>
      </dsp:txXfrm>
    </dsp:sp>
    <dsp:sp modelId="{72AB0037-DE37-4986-8526-CEB4CBF502B9}">
      <dsp:nvSpPr>
        <dsp:cNvPr id="0" name=""/>
        <dsp:cNvSpPr/>
      </dsp:nvSpPr>
      <dsp:spPr>
        <a:xfrm>
          <a:off x="1468677" y="693281"/>
          <a:ext cx="1958236" cy="693281"/>
        </a:xfrm>
        <a:prstGeom prst="trapezoid">
          <a:avLst>
            <a:gd name="adj" fmla="val 70615"/>
          </a:avLst>
        </a:prstGeom>
        <a:blipFill rotWithShape="0">
          <a:blip xmlns:r="http://schemas.openxmlformats.org/officeDocument/2006/relationships" r:embed="rId1" cstate="print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지역표준</a:t>
          </a:r>
        </a:p>
      </dsp:txBody>
      <dsp:txXfrm>
        <a:off x="1811368" y="693281"/>
        <a:ext cx="1272853" cy="693281"/>
      </dsp:txXfrm>
    </dsp:sp>
    <dsp:sp modelId="{5509C711-5FAE-4CC2-A7C4-BD83BDB7B607}">
      <dsp:nvSpPr>
        <dsp:cNvPr id="0" name=""/>
        <dsp:cNvSpPr/>
      </dsp:nvSpPr>
      <dsp:spPr>
        <a:xfrm>
          <a:off x="979118" y="1386563"/>
          <a:ext cx="2937354" cy="693281"/>
        </a:xfrm>
        <a:prstGeom prst="trapezoid">
          <a:avLst>
            <a:gd name="adj" fmla="val 70615"/>
          </a:avLst>
        </a:prstGeom>
        <a:blipFill rotWithShape="0">
          <a:blip xmlns:r="http://schemas.openxmlformats.org/officeDocument/2006/relationships" r:embed="rId1" cstate="print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국가표준</a:t>
          </a:r>
        </a:p>
      </dsp:txBody>
      <dsp:txXfrm>
        <a:off x="1493155" y="1386563"/>
        <a:ext cx="1909280" cy="693281"/>
      </dsp:txXfrm>
    </dsp:sp>
    <dsp:sp modelId="{0C0AF206-D663-47BA-B10B-CB8028A16AF4}">
      <dsp:nvSpPr>
        <dsp:cNvPr id="0" name=""/>
        <dsp:cNvSpPr/>
      </dsp:nvSpPr>
      <dsp:spPr>
        <a:xfrm>
          <a:off x="489559" y="2079844"/>
          <a:ext cx="3916472" cy="693281"/>
        </a:xfrm>
        <a:prstGeom prst="trapezoid">
          <a:avLst>
            <a:gd name="adj" fmla="val 70615"/>
          </a:avLst>
        </a:prstGeom>
        <a:blipFill rotWithShape="0">
          <a:blip xmlns:r="http://schemas.openxmlformats.org/officeDocument/2006/relationships" r:embed="rId1" cstate="print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단체표준</a:t>
          </a:r>
        </a:p>
      </dsp:txBody>
      <dsp:txXfrm>
        <a:off x="1174941" y="2079844"/>
        <a:ext cx="2545707" cy="693281"/>
      </dsp:txXfrm>
    </dsp:sp>
    <dsp:sp modelId="{1ECC1CED-A478-421D-88CD-65D1C0C5FB8E}">
      <dsp:nvSpPr>
        <dsp:cNvPr id="0" name=""/>
        <dsp:cNvSpPr/>
      </dsp:nvSpPr>
      <dsp:spPr>
        <a:xfrm>
          <a:off x="0" y="2773126"/>
          <a:ext cx="4895591" cy="693281"/>
        </a:xfrm>
        <a:prstGeom prst="trapezoid">
          <a:avLst>
            <a:gd name="adj" fmla="val 70615"/>
          </a:avLst>
        </a:prstGeom>
        <a:blipFill rotWithShape="0">
          <a:blip xmlns:r="http://schemas.openxmlformats.org/officeDocument/2006/relationships" r:embed="rId1" cstate="print"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사내표준 </a:t>
          </a:r>
          <a:r>
            <a:rPr lang="en-US" altLang="ko-KR" sz="1600" kern="1200" dirty="0"/>
            <a:t>(</a:t>
          </a:r>
          <a:r>
            <a:rPr lang="ko-KR" altLang="en-US" sz="1600" kern="1200" dirty="0"/>
            <a:t>매뉴얼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절차서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지침서</a:t>
          </a:r>
          <a:r>
            <a:rPr lang="en-US" altLang="ko-KR" sz="1600" kern="1200" dirty="0"/>
            <a:t>, </a:t>
          </a:r>
          <a:r>
            <a:rPr lang="ko-KR" altLang="en-US" sz="1600" kern="1200" dirty="0"/>
            <a:t>기록서 등</a:t>
          </a:r>
          <a:r>
            <a:rPr lang="en-US" altLang="ko-KR" sz="1600" kern="1200" dirty="0"/>
            <a:t>)</a:t>
          </a:r>
          <a:endParaRPr lang="ko-KR" altLang="en-US" sz="1600" kern="1200" dirty="0"/>
        </a:p>
      </dsp:txBody>
      <dsp:txXfrm>
        <a:off x="856728" y="2773126"/>
        <a:ext cx="3182134" cy="6932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14878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3006090" y="622300"/>
            <a:ext cx="5570220" cy="1470025"/>
          </a:xfrm>
        </p:spPr>
        <p:txBody>
          <a:bodyPr lIns="91440" tIns="45720" rIns="91440" bIns="45720"/>
          <a:lstStyle>
            <a:lvl1pPr>
              <a:defRPr sz="3000">
                <a:latin typeface="+mj-lt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3006090" y="3886200"/>
            <a:ext cx="4766310" cy="1752600"/>
          </a:xfrm>
        </p:spPr>
        <p:txBody>
          <a:bodyPr lIns="91440" tIns="45720" rIns="91440" bIns="45720" anchor="ctr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sp>
        <p:nvSpPr>
          <p:cNvPr id="23" name="Line 84"/>
          <p:cNvSpPr>
            <a:spLocks noChangeShapeType="1"/>
          </p:cNvSpPr>
          <p:nvPr userDrawn="1"/>
        </p:nvSpPr>
        <p:spPr bwMode="auto">
          <a:xfrm>
            <a:off x="230696" y="6842760"/>
            <a:ext cx="8913303" cy="0"/>
          </a:xfrm>
          <a:prstGeom prst="line">
            <a:avLst/>
          </a:prstGeom>
          <a:noFill/>
          <a:ln w="25400">
            <a:solidFill>
              <a:srgbClr val="000338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2921" y="6415804"/>
            <a:ext cx="1203521" cy="36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31763"/>
            <a:ext cx="86868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6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gradFill flip="none" rotWithShape="1">
              <a:gsLst>
                <a:gs pos="0">
                  <a:schemeClr val="accent6"/>
                </a:gs>
                <a:gs pos="50000">
                  <a:schemeClr val="accent6">
                    <a:lumMod val="22000"/>
                    <a:lumOff val="78000"/>
                  </a:schemeClr>
                </a:gs>
                <a:gs pos="100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6963" y="6519864"/>
            <a:ext cx="1028295" cy="311142"/>
          </a:xfrm>
          <a:prstGeom prst="rect">
            <a:avLst/>
          </a:prstGeom>
        </p:spPr>
      </p:pic>
      <p:sp>
        <p:nvSpPr>
          <p:cNvPr id="11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  <a:cs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22906" y="1958975"/>
            <a:ext cx="6137910" cy="1594121"/>
          </a:xfrm>
        </p:spPr>
        <p:txBody>
          <a:bodyPr/>
          <a:lstStyle/>
          <a:p>
            <a:pPr algn="ctr"/>
            <a:r>
              <a:rPr lang="ko-KR" altLang="en-US" sz="2800" dirty="0"/>
              <a:t>품질환경경영시스템</a:t>
            </a:r>
            <a:r>
              <a:rPr lang="en-US" altLang="ko-KR" sz="2800" dirty="0"/>
              <a:t>(QEMS) </a:t>
            </a:r>
            <a:r>
              <a:rPr lang="ko-KR" altLang="en-US" sz="2800" dirty="0"/>
              <a:t>및 </a:t>
            </a:r>
            <a:br>
              <a:rPr lang="en-US" altLang="ko-KR" sz="2800" dirty="0"/>
            </a:br>
            <a:r>
              <a:rPr lang="en-US" altLang="ko-KR" sz="2800" dirty="0"/>
              <a:t>AS 9100D </a:t>
            </a:r>
            <a:r>
              <a:rPr lang="ko-KR" altLang="en-US" sz="2800" dirty="0"/>
              <a:t>인증 준비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2906" y="5094514"/>
            <a:ext cx="6137910" cy="907558"/>
          </a:xfrm>
        </p:spPr>
        <p:txBody>
          <a:bodyPr/>
          <a:lstStyle/>
          <a:p>
            <a:r>
              <a:rPr lang="en-US" altLang="ko-KR" sz="2000" dirty="0"/>
              <a:t>2019. 01. 25</a:t>
            </a:r>
          </a:p>
        </p:txBody>
      </p:sp>
    </p:spTree>
    <p:extLst>
      <p:ext uri="{BB962C8B-B14F-4D97-AF65-F5344CB8AC3E}">
        <p14:creationId xmlns:p14="http://schemas.microsoft.com/office/powerpoint/2010/main" val="31367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  <a:endParaRPr lang="en-US" altLang="ko-KR" dirty="0"/>
          </a:p>
          <a:p>
            <a:pPr lvl="1"/>
            <a:r>
              <a:rPr lang="ko-KR" altLang="en-US" dirty="0"/>
              <a:t>표준 경영시스템 인증 현황</a:t>
            </a:r>
            <a:endParaRPr lang="en-US" altLang="ko-KR" dirty="0"/>
          </a:p>
          <a:p>
            <a:pPr lvl="1"/>
            <a:r>
              <a:rPr lang="ko-KR" altLang="en-US" dirty="0"/>
              <a:t>표준의 분류 및 표준 경영시스템의 종류</a:t>
            </a:r>
            <a:endParaRPr lang="en-US" altLang="ko-KR" dirty="0"/>
          </a:p>
          <a:p>
            <a:pPr lvl="1"/>
            <a:r>
              <a:rPr lang="en-US" altLang="ko-KR" dirty="0"/>
              <a:t>ISO 9001 / ISO 14001 / AS 9100 </a:t>
            </a:r>
            <a:r>
              <a:rPr lang="ko-KR" altLang="en-US" dirty="0"/>
              <a:t>이란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표준 경영시스템 소개</a:t>
            </a:r>
            <a:endParaRPr lang="en-US" altLang="ko-KR" dirty="0"/>
          </a:p>
          <a:p>
            <a:pPr lvl="1"/>
            <a:r>
              <a:rPr lang="ko-KR" altLang="en-US" dirty="0"/>
              <a:t>경영시스템 비교표</a:t>
            </a:r>
            <a:endParaRPr lang="en-US" altLang="ko-KR" dirty="0"/>
          </a:p>
          <a:p>
            <a:pPr lvl="1"/>
            <a:r>
              <a:rPr lang="en-US" altLang="ko-KR" dirty="0"/>
              <a:t>PDCA Cycle (</a:t>
            </a:r>
            <a:r>
              <a:rPr lang="ko-KR" altLang="en-US" dirty="0" err="1"/>
              <a:t>데밍</a:t>
            </a:r>
            <a:r>
              <a:rPr lang="ko-KR" altLang="en-US" dirty="0"/>
              <a:t> 사이클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/>
              <a:t>경영시스템의 기본 요구사항</a:t>
            </a:r>
            <a:r>
              <a:rPr lang="en-US" altLang="ko-KR" dirty="0"/>
              <a:t>: Documentation</a:t>
            </a:r>
          </a:p>
          <a:p>
            <a:pPr lvl="1"/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 </a:t>
            </a:r>
            <a:r>
              <a:rPr lang="ko-KR" altLang="en-US" dirty="0"/>
              <a:t>요구사항의 상호관계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표준 경영시스템 인증 준비</a:t>
            </a:r>
            <a:endParaRPr lang="en-US" altLang="ko-KR" dirty="0"/>
          </a:p>
          <a:p>
            <a:pPr lvl="1"/>
            <a:r>
              <a:rPr lang="en-US" altLang="ko-KR" dirty="0"/>
              <a:t>AS 9100D, ISO 9001:2015, ISO14001:2015 </a:t>
            </a:r>
            <a:r>
              <a:rPr lang="ko-KR" altLang="en-US" dirty="0"/>
              <a:t>통합 인증 방안</a:t>
            </a:r>
          </a:p>
          <a:p>
            <a:pPr lvl="1"/>
            <a:r>
              <a:rPr lang="ko-KR" altLang="en-US" dirty="0"/>
              <a:t>경영시스템 인증 절차</a:t>
            </a:r>
          </a:p>
          <a:p>
            <a:pPr lvl="1"/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601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37A49-58EE-4211-B6E7-C7C65EF5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FEA25-0FED-48D0-A3CA-0EE349F4C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표준 경영시스템 인증 현황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51CB984-1477-4765-8030-5CEFB9B98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05554"/>
              </p:ext>
            </p:extLst>
          </p:nvPr>
        </p:nvGraphicFramePr>
        <p:xfrm>
          <a:off x="904816" y="1556591"/>
          <a:ext cx="7297889" cy="150093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632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5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2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lt"/>
                          <a:ea typeface="나눔스퀘어" panose="020B0600000101010101" pitchFamily="50" charset="-127"/>
                        </a:rPr>
                        <a:t>Standards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4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lt"/>
                          <a:ea typeface="나눔스퀘어" panose="020B0600000101010101" pitchFamily="50" charset="-127"/>
                        </a:rPr>
                        <a:t>Scope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lt"/>
                          <a:ea typeface="나눔스퀘어" panose="020B0600000101010101" pitchFamily="50" charset="-127"/>
                        </a:rPr>
                        <a:t>AS9100D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lt"/>
                          <a:ea typeface="나눔스퀘어" panose="020B0600000101010101" pitchFamily="50" charset="-127"/>
                        </a:rPr>
                        <a:t>Design &amp; Development and Production of Space Equipment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596368"/>
                  </a:ext>
                </a:extLst>
              </a:tr>
              <a:tr h="375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lt"/>
                          <a:ea typeface="나눔스퀘어" panose="020B0600000101010101" pitchFamily="50" charset="-127"/>
                        </a:rPr>
                        <a:t>ISO 9001:2015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lt"/>
                          <a:ea typeface="나눔스퀘어" panose="020B0600000101010101" pitchFamily="50" charset="-127"/>
                        </a:rPr>
                        <a:t>Design, Development and Production of Aircraft and Spacecraft Auxiliary Devices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lt"/>
                          <a:ea typeface="나눔스퀘어" panose="020B0600000101010101" pitchFamily="50" charset="-127"/>
                        </a:rPr>
                        <a:t>ISO 14001:2015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lt"/>
                        <a:ea typeface="나눔스퀘어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+mn-lt"/>
                          <a:ea typeface="나눔스퀘어" panose="020B0600000101010101" pitchFamily="50" charset="-127"/>
                        </a:rPr>
                        <a:t>Design, Development and Production of Aircraft and Spacecraft Auxiliary Devices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309545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716F19CE-494B-4F9C-900D-AADC75E4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24" y="3641583"/>
            <a:ext cx="1870734" cy="24463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8D0C3F-F946-4866-9ACC-39E0C03626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34" y="3641584"/>
            <a:ext cx="1735407" cy="244634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A502745-0D6D-475D-9329-79408B45E9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350" y="3641584"/>
            <a:ext cx="1729186" cy="244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5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6B174-960F-4899-A6A1-2EB00D2C9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9320499-820B-444F-AF09-CE75CCFD2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표준의 분류</a:t>
            </a:r>
          </a:p>
        </p:txBody>
      </p:sp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5C7D1F3E-45B7-4A6C-9A4A-5C85DFD9941D}"/>
              </a:ext>
            </a:extLst>
          </p:cNvPr>
          <p:cNvGraphicFramePr>
            <a:graphicFrameLocks/>
          </p:cNvGraphicFramePr>
          <p:nvPr/>
        </p:nvGraphicFramePr>
        <p:xfrm>
          <a:off x="1072945" y="1812171"/>
          <a:ext cx="4895591" cy="3466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31227D7-1235-4404-B099-F8B7FE2E82E3}"/>
              </a:ext>
            </a:extLst>
          </p:cNvPr>
          <p:cNvCxnSpPr/>
          <p:nvPr/>
        </p:nvCxnSpPr>
        <p:spPr bwMode="auto">
          <a:xfrm flipH="1">
            <a:off x="228600" y="4580310"/>
            <a:ext cx="129262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2B326AB-0B6F-4928-BD1B-BD531B71DEFD}"/>
              </a:ext>
            </a:extLst>
          </p:cNvPr>
          <p:cNvCxnSpPr/>
          <p:nvPr/>
        </p:nvCxnSpPr>
        <p:spPr bwMode="auto">
          <a:xfrm flipH="1">
            <a:off x="228600" y="1814942"/>
            <a:ext cx="329876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5C6CE4F-BD79-42DF-8921-33700F591DFC}"/>
              </a:ext>
            </a:extLst>
          </p:cNvPr>
          <p:cNvCxnSpPr/>
          <p:nvPr/>
        </p:nvCxnSpPr>
        <p:spPr bwMode="auto">
          <a:xfrm flipH="1">
            <a:off x="228600" y="5278579"/>
            <a:ext cx="84434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C4F9AD-5F85-4DE2-A824-C0ABFE127E1C}"/>
              </a:ext>
            </a:extLst>
          </p:cNvPr>
          <p:cNvSpPr txBox="1"/>
          <p:nvPr/>
        </p:nvSpPr>
        <p:spPr>
          <a:xfrm>
            <a:off x="207724" y="2977239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Arial" panose="020B0604020202020204" pitchFamily="34" charset="0"/>
                <a:ea typeface="맑은 고딕" panose="020B0503020000020004" pitchFamily="50" charset="-127"/>
              </a:rPr>
              <a:t>사외 표준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CC9C83-E12F-4AD5-8442-F2CA80F7B80C}"/>
              </a:ext>
            </a:extLst>
          </p:cNvPr>
          <p:cNvSpPr txBox="1"/>
          <p:nvPr/>
        </p:nvSpPr>
        <p:spPr>
          <a:xfrm>
            <a:off x="207724" y="4770155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Arial" panose="020B0604020202020204" pitchFamily="34" charset="0"/>
                <a:ea typeface="맑은 고딕" panose="020B0503020000020004" pitchFamily="50" charset="-127"/>
              </a:rPr>
              <a:t>사내 표준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403679B-7295-4ECA-AFB7-5BA4527E0EF7}"/>
              </a:ext>
            </a:extLst>
          </p:cNvPr>
          <p:cNvCxnSpPr/>
          <p:nvPr/>
        </p:nvCxnSpPr>
        <p:spPr bwMode="auto">
          <a:xfrm flipH="1">
            <a:off x="3520740" y="1812171"/>
            <a:ext cx="537878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2957011-BB27-4A7C-8A7D-8C6EFB788016}"/>
              </a:ext>
            </a:extLst>
          </p:cNvPr>
          <p:cNvCxnSpPr/>
          <p:nvPr/>
        </p:nvCxnSpPr>
        <p:spPr bwMode="auto">
          <a:xfrm flipH="1">
            <a:off x="4015347" y="2484116"/>
            <a:ext cx="489174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E35AA8F-27EB-4029-A5A8-C068A3CD8E00}"/>
              </a:ext>
            </a:extLst>
          </p:cNvPr>
          <p:cNvCxnSpPr/>
          <p:nvPr/>
        </p:nvCxnSpPr>
        <p:spPr bwMode="auto">
          <a:xfrm flipH="1">
            <a:off x="4496099" y="3194854"/>
            <a:ext cx="4410988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E630B56-1147-474E-A432-B6CA4B837E49}"/>
              </a:ext>
            </a:extLst>
          </p:cNvPr>
          <p:cNvCxnSpPr/>
          <p:nvPr/>
        </p:nvCxnSpPr>
        <p:spPr bwMode="auto">
          <a:xfrm flipH="1">
            <a:off x="4986551" y="3884811"/>
            <a:ext cx="392053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9FE3823-EB2F-4B13-8CAA-438E54CE0A3D}"/>
              </a:ext>
            </a:extLst>
          </p:cNvPr>
          <p:cNvCxnSpPr/>
          <p:nvPr/>
        </p:nvCxnSpPr>
        <p:spPr bwMode="auto">
          <a:xfrm flipH="1">
            <a:off x="5477002" y="4580310"/>
            <a:ext cx="3422523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2A0921E-0F6B-4042-9F2D-9870569C8540}"/>
              </a:ext>
            </a:extLst>
          </p:cNvPr>
          <p:cNvSpPr txBox="1"/>
          <p:nvPr/>
        </p:nvSpPr>
        <p:spPr>
          <a:xfrm>
            <a:off x="4945309" y="1913795"/>
            <a:ext cx="3461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ISO(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국제표준화기구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), IEC(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국제전기기술위원회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IAQG(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국제항공품질협회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</a:t>
            </a:r>
            <a:endParaRPr lang="ko-KR" altLang="en-US" sz="1200" dirty="0" err="1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C732FC-4B5B-4040-AE7B-0253EC4F5AA4}"/>
              </a:ext>
            </a:extLst>
          </p:cNvPr>
          <p:cNvSpPr txBox="1"/>
          <p:nvPr/>
        </p:nvSpPr>
        <p:spPr>
          <a:xfrm>
            <a:off x="4945309" y="2607540"/>
            <a:ext cx="3680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ECSS(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유럽우주표준협회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), CEN(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유럽표준화위원회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CBES(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프랑스국립우주연구소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</a:t>
            </a:r>
            <a:endParaRPr lang="ko-KR" altLang="en-US" sz="12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2CEE6D-FF4D-4795-93AF-89EB1B5BB3AE}"/>
              </a:ext>
            </a:extLst>
          </p:cNvPr>
          <p:cNvSpPr txBox="1"/>
          <p:nvPr/>
        </p:nvSpPr>
        <p:spPr>
          <a:xfrm>
            <a:off x="4945309" y="3387607"/>
            <a:ext cx="3779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KS(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한국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), JIS(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일본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), ASA(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미국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), DIN(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독일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), BS(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영국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</a:t>
            </a:r>
            <a:endParaRPr lang="ko-KR" altLang="en-US" sz="12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3FE4C2-FAEA-49DA-B61B-1C78601C6072}"/>
              </a:ext>
            </a:extLst>
          </p:cNvPr>
          <p:cNvSpPr txBox="1"/>
          <p:nvPr/>
        </p:nvSpPr>
        <p:spPr>
          <a:xfrm>
            <a:off x="5327368" y="3998763"/>
            <a:ext cx="3700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AIAA(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미국항공우주학회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), KSAS(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한국항공우주학회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IEEE(</a:t>
            </a:r>
            <a:r>
              <a:rPr lang="ko-KR" altLang="en-US" sz="1200" dirty="0">
                <a:latin typeface="Arial" panose="020B0604020202020204" pitchFamily="34" charset="0"/>
                <a:ea typeface="맑은 고딕" panose="020B0503020000020004" pitchFamily="50" charset="-127"/>
              </a:rPr>
              <a:t>전기전자기술자협회</a:t>
            </a:r>
            <a:r>
              <a:rPr lang="en-US" altLang="ko-KR" sz="1200" dirty="0">
                <a:latin typeface="Arial" panose="020B0604020202020204" pitchFamily="34" charset="0"/>
                <a:ea typeface="맑은 고딕" panose="020B0503020000020004" pitchFamily="50" charset="-127"/>
              </a:rPr>
              <a:t>),</a:t>
            </a:r>
            <a:endParaRPr lang="ko-KR" altLang="en-US" sz="12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31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706832-6985-4577-97D0-10D6DF38B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표준 경영시스템의 종류</a:t>
            </a:r>
          </a:p>
        </p:txBody>
      </p:sp>
      <p:sp>
        <p:nvSpPr>
          <p:cNvPr id="263" name="자유형: 도형 262">
            <a:extLst>
              <a:ext uri="{FF2B5EF4-FFF2-40B4-BE49-F238E27FC236}">
                <a16:creationId xmlns:a16="http://schemas.microsoft.com/office/drawing/2014/main" id="{4191F73C-A8A1-4A23-B78F-B9CCB44BBFCA}"/>
              </a:ext>
            </a:extLst>
          </p:cNvPr>
          <p:cNvSpPr/>
          <p:nvPr/>
        </p:nvSpPr>
        <p:spPr bwMode="auto">
          <a:xfrm>
            <a:off x="1005840" y="2693323"/>
            <a:ext cx="3391593" cy="2044931"/>
          </a:xfrm>
          <a:custGeom>
            <a:avLst/>
            <a:gdLst>
              <a:gd name="connsiteX0" fmla="*/ 0 w 3391593"/>
              <a:gd name="connsiteY0" fmla="*/ 0 h 2044931"/>
              <a:gd name="connsiteX1" fmla="*/ 0 w 3391593"/>
              <a:gd name="connsiteY1" fmla="*/ 2044931 h 2044931"/>
              <a:gd name="connsiteX2" fmla="*/ 1446415 w 3391593"/>
              <a:gd name="connsiteY2" fmla="*/ 2028305 h 2044931"/>
              <a:gd name="connsiteX3" fmla="*/ 1454727 w 3391593"/>
              <a:gd name="connsiteY3" fmla="*/ 872836 h 2044931"/>
              <a:gd name="connsiteX4" fmla="*/ 3383280 w 3391593"/>
              <a:gd name="connsiteY4" fmla="*/ 864523 h 2044931"/>
              <a:gd name="connsiteX5" fmla="*/ 3391593 w 3391593"/>
              <a:gd name="connsiteY5" fmla="*/ 8312 h 2044931"/>
              <a:gd name="connsiteX6" fmla="*/ 0 w 3391593"/>
              <a:gd name="connsiteY6" fmla="*/ 0 h 2044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91593" h="2044931">
                <a:moveTo>
                  <a:pt x="0" y="0"/>
                </a:moveTo>
                <a:lnTo>
                  <a:pt x="0" y="2044931"/>
                </a:lnTo>
                <a:lnTo>
                  <a:pt x="1446415" y="2028305"/>
                </a:lnTo>
                <a:cubicBezTo>
                  <a:pt x="1449186" y="1643149"/>
                  <a:pt x="1451956" y="1257992"/>
                  <a:pt x="1454727" y="872836"/>
                </a:cubicBezTo>
                <a:lnTo>
                  <a:pt x="3383280" y="864523"/>
                </a:lnTo>
                <a:lnTo>
                  <a:pt x="3391593" y="8312"/>
                </a:lnTo>
                <a:lnTo>
                  <a:pt x="0" y="0"/>
                </a:lnTo>
                <a:close/>
              </a:path>
            </a:pathLst>
          </a:custGeom>
          <a:pattFill prst="wdUpDiag">
            <a:fgClr>
              <a:srgbClr val="E6EEF7"/>
            </a:fgClr>
            <a:bgClr>
              <a:schemeClr val="bg1"/>
            </a:bgClr>
          </a:pattFill>
          <a:ln w="28575" cap="flat" cmpd="sng" algn="ctr">
            <a:solidFill>
              <a:srgbClr val="1B6DA5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795FA3-5630-44F1-B25C-8470EC06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088932-0797-4C93-AED9-D086D00D5178}"/>
              </a:ext>
            </a:extLst>
          </p:cNvPr>
          <p:cNvSpPr/>
          <p:nvPr/>
        </p:nvSpPr>
        <p:spPr>
          <a:xfrm>
            <a:off x="4873427" y="2807522"/>
            <a:ext cx="144015" cy="4320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363620-1CA5-485E-BEAC-43FFD07C8555}"/>
              </a:ext>
            </a:extLst>
          </p:cNvPr>
          <p:cNvSpPr/>
          <p:nvPr/>
        </p:nvSpPr>
        <p:spPr>
          <a:xfrm>
            <a:off x="3757303" y="2807522"/>
            <a:ext cx="144015" cy="4320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E4EF98-5076-4B2F-AD4C-B77924C6DCA1}"/>
              </a:ext>
            </a:extLst>
          </p:cNvPr>
          <p:cNvSpPr/>
          <p:nvPr/>
        </p:nvSpPr>
        <p:spPr>
          <a:xfrm>
            <a:off x="1525055" y="2807522"/>
            <a:ext cx="144016" cy="4320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AEDA27-A0A5-4ABE-ABBB-8711FE429077}"/>
              </a:ext>
            </a:extLst>
          </p:cNvPr>
          <p:cNvSpPr/>
          <p:nvPr/>
        </p:nvSpPr>
        <p:spPr>
          <a:xfrm>
            <a:off x="2641179" y="2807522"/>
            <a:ext cx="144016" cy="4320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8E4DE0-F80F-4C9B-B153-E712A2620E06}"/>
              </a:ext>
            </a:extLst>
          </p:cNvPr>
          <p:cNvSpPr/>
          <p:nvPr/>
        </p:nvSpPr>
        <p:spPr>
          <a:xfrm>
            <a:off x="1525055" y="1755912"/>
            <a:ext cx="5734086" cy="546531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ea typeface="+mn-ea"/>
                <a:cs typeface="Arial" pitchFamily="34" charset="0"/>
              </a:rPr>
              <a:t>경영시스템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ea typeface="+mn-ea"/>
                <a:cs typeface="Arial" pitchFamily="34" charset="0"/>
              </a:rPr>
              <a:t>(Management System)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EEAD0C-57A9-456B-BCE5-3628A4F2CE0F}"/>
              </a:ext>
            </a:extLst>
          </p:cNvPr>
          <p:cNvSpPr/>
          <p:nvPr/>
        </p:nvSpPr>
        <p:spPr>
          <a:xfrm>
            <a:off x="1525055" y="2807522"/>
            <a:ext cx="1240818" cy="54653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품질</a:t>
            </a:r>
            <a:endParaRPr kumimoji="1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(ISO 9001)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0F8E0A-5D32-4BB2-8232-7BA4FADE7CFB}"/>
              </a:ext>
            </a:extLst>
          </p:cNvPr>
          <p:cNvSpPr/>
          <p:nvPr/>
        </p:nvSpPr>
        <p:spPr>
          <a:xfrm>
            <a:off x="3022811" y="2807522"/>
            <a:ext cx="1240818" cy="54653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환경</a:t>
            </a:r>
            <a:endParaRPr kumimoji="1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(ISO 14001)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1FF210-6D81-48AC-B7E1-917215AC1477}"/>
              </a:ext>
            </a:extLst>
          </p:cNvPr>
          <p:cNvSpPr/>
          <p:nvPr/>
        </p:nvSpPr>
        <p:spPr>
          <a:xfrm>
            <a:off x="4520567" y="2807522"/>
            <a:ext cx="1240818" cy="54653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안전보건</a:t>
            </a:r>
            <a:endParaRPr kumimoji="1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(OHSAS 18001)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4F87356-88AB-420A-B36C-ECF005272ECD}"/>
              </a:ext>
            </a:extLst>
          </p:cNvPr>
          <p:cNvSpPr/>
          <p:nvPr/>
        </p:nvSpPr>
        <p:spPr>
          <a:xfrm>
            <a:off x="1208383" y="3946602"/>
            <a:ext cx="1188862" cy="546529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6350" algn="ctr">
            <a:solidFill>
              <a:sysClr val="windowText" lastClr="000000"/>
            </a:solidFill>
            <a:round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항공우주</a:t>
            </a:r>
            <a:endParaRPr kumimoji="1" lang="en-US" altLang="ko-KR" sz="1200" kern="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(AS 9100)</a:t>
            </a:r>
          </a:p>
        </p:txBody>
      </p:sp>
      <p:cxnSp>
        <p:nvCxnSpPr>
          <p:cNvPr id="31" name="Shape 40">
            <a:extLst>
              <a:ext uri="{FF2B5EF4-FFF2-40B4-BE49-F238E27FC236}">
                <a16:creationId xmlns:a16="http://schemas.microsoft.com/office/drawing/2014/main" id="{3DC17129-FD49-4632-BC5A-4B43214B4E70}"/>
              </a:ext>
            </a:extLst>
          </p:cNvPr>
          <p:cNvCxnSpPr>
            <a:cxnSpLocks/>
            <a:stCxn id="15" idx="2"/>
            <a:endCxn id="35" idx="0"/>
          </p:cNvCxnSpPr>
          <p:nvPr/>
        </p:nvCxnSpPr>
        <p:spPr>
          <a:xfrm rot="16200000" flipH="1">
            <a:off x="4253277" y="1246238"/>
            <a:ext cx="592550" cy="4808177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46F7FBB-7320-4A12-9A05-9A70D1FF68C4}"/>
              </a:ext>
            </a:extLst>
          </p:cNvPr>
          <p:cNvSpPr/>
          <p:nvPr/>
        </p:nvSpPr>
        <p:spPr>
          <a:xfrm>
            <a:off x="2496090" y="3946602"/>
            <a:ext cx="1188862" cy="546529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6350" algn="ctr">
            <a:solidFill>
              <a:sysClr val="windowText" lastClr="000000"/>
            </a:solidFill>
            <a:round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자동차</a:t>
            </a:r>
            <a:endParaRPr kumimoji="1" lang="en-US" altLang="ko-KR" sz="1200" kern="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(ISO/TS 16949)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84F8BA7-25B9-4969-9850-A7A7F48BFDE2}"/>
              </a:ext>
            </a:extLst>
          </p:cNvPr>
          <p:cNvSpPr/>
          <p:nvPr/>
        </p:nvSpPr>
        <p:spPr>
          <a:xfrm>
            <a:off x="3783797" y="3946602"/>
            <a:ext cx="1188862" cy="546529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6350" algn="ctr">
            <a:solidFill>
              <a:sysClr val="windowText" lastClr="000000"/>
            </a:solidFill>
            <a:round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정보통신</a:t>
            </a:r>
            <a:endParaRPr kumimoji="1" lang="en-US" altLang="ko-KR" sz="1200" kern="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(TL 9000)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C310455-780C-4493-AE55-B662321443E8}"/>
              </a:ext>
            </a:extLst>
          </p:cNvPr>
          <p:cNvSpPr/>
          <p:nvPr/>
        </p:nvSpPr>
        <p:spPr>
          <a:xfrm>
            <a:off x="5071504" y="3946602"/>
            <a:ext cx="1188862" cy="546529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6350" algn="ctr">
            <a:solidFill>
              <a:sysClr val="windowText" lastClr="000000"/>
            </a:solidFill>
            <a:round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공공부문</a:t>
            </a:r>
            <a:endParaRPr kumimoji="1" lang="en-US" altLang="ko-KR" sz="1200" kern="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(PM 9000)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F895D4-4248-4A9D-B1CB-5E817BB008FE}"/>
              </a:ext>
            </a:extLst>
          </p:cNvPr>
          <p:cNvSpPr/>
          <p:nvPr/>
        </p:nvSpPr>
        <p:spPr>
          <a:xfrm>
            <a:off x="6359210" y="3946602"/>
            <a:ext cx="1188862" cy="546529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6350" algn="ctr">
            <a:solidFill>
              <a:sysClr val="windowText" lastClr="000000"/>
            </a:solidFill>
            <a:round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식품부문</a:t>
            </a:r>
            <a:endParaRPr kumimoji="1" lang="en-US" altLang="ko-KR" sz="1200" kern="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  <a:p>
            <a:pPr lvl="0" algn="ctr" defTabSz="942975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(ISO 22000)</a:t>
            </a:r>
          </a:p>
        </p:txBody>
      </p:sp>
      <p:cxnSp>
        <p:nvCxnSpPr>
          <p:cNvPr id="36" name="Shape 45">
            <a:extLst>
              <a:ext uri="{FF2B5EF4-FFF2-40B4-BE49-F238E27FC236}">
                <a16:creationId xmlns:a16="http://schemas.microsoft.com/office/drawing/2014/main" id="{D640FD0E-16ED-4240-BF15-23A884C2B715}"/>
              </a:ext>
            </a:extLst>
          </p:cNvPr>
          <p:cNvCxnSpPr>
            <a:cxnSpLocks/>
            <a:stCxn id="15" idx="2"/>
            <a:endCxn id="34" idx="0"/>
          </p:cNvCxnSpPr>
          <p:nvPr/>
        </p:nvCxnSpPr>
        <p:spPr>
          <a:xfrm rot="16200000" flipH="1">
            <a:off x="3609424" y="1890091"/>
            <a:ext cx="592550" cy="3520471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7" name="Shape 46">
            <a:extLst>
              <a:ext uri="{FF2B5EF4-FFF2-40B4-BE49-F238E27FC236}">
                <a16:creationId xmlns:a16="http://schemas.microsoft.com/office/drawing/2014/main" id="{F81EE4D6-4A52-4E2C-9B7D-9767E5B9E8A9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 rot="16200000" flipH="1">
            <a:off x="2965571" y="2533945"/>
            <a:ext cx="592550" cy="2232764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8" name="Shape 47">
            <a:extLst>
              <a:ext uri="{FF2B5EF4-FFF2-40B4-BE49-F238E27FC236}">
                <a16:creationId xmlns:a16="http://schemas.microsoft.com/office/drawing/2014/main" id="{C76460CB-0018-4E89-AF26-6810A968111C}"/>
              </a:ext>
            </a:extLst>
          </p:cNvPr>
          <p:cNvCxnSpPr>
            <a:cxnSpLocks/>
            <a:stCxn id="15" idx="2"/>
            <a:endCxn id="32" idx="0"/>
          </p:cNvCxnSpPr>
          <p:nvPr/>
        </p:nvCxnSpPr>
        <p:spPr>
          <a:xfrm rot="16200000" flipH="1">
            <a:off x="2321717" y="3177798"/>
            <a:ext cx="592550" cy="945057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39" name="Shape 48">
            <a:extLst>
              <a:ext uri="{FF2B5EF4-FFF2-40B4-BE49-F238E27FC236}">
                <a16:creationId xmlns:a16="http://schemas.microsoft.com/office/drawing/2014/main" id="{AE2A3954-F31C-4D2A-99DF-1B7C115049E7}"/>
              </a:ext>
            </a:extLst>
          </p:cNvPr>
          <p:cNvCxnSpPr>
            <a:cxnSpLocks/>
            <a:stCxn id="15" idx="2"/>
            <a:endCxn id="30" idx="0"/>
          </p:cNvCxnSpPr>
          <p:nvPr/>
        </p:nvCxnSpPr>
        <p:spPr>
          <a:xfrm rot="5400000">
            <a:off x="1677864" y="3479002"/>
            <a:ext cx="592550" cy="342650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7" name="Shape 147">
            <a:extLst>
              <a:ext uri="{FF2B5EF4-FFF2-40B4-BE49-F238E27FC236}">
                <a16:creationId xmlns:a16="http://schemas.microsoft.com/office/drawing/2014/main" id="{CCA4F4C9-B83D-4B1B-B39B-F4272F2BB6C5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rot="5400000" flipH="1" flipV="1">
            <a:off x="3016242" y="1431666"/>
            <a:ext cx="505079" cy="2246634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8" name="Shape 147">
            <a:extLst>
              <a:ext uri="{FF2B5EF4-FFF2-40B4-BE49-F238E27FC236}">
                <a16:creationId xmlns:a16="http://schemas.microsoft.com/office/drawing/2014/main" id="{FC6B11D7-40C1-4A1B-AB9F-F10B67915FFB}"/>
              </a:ext>
            </a:extLst>
          </p:cNvPr>
          <p:cNvCxnSpPr>
            <a:cxnSpLocks/>
            <a:stCxn id="16" idx="0"/>
            <a:endCxn id="14" idx="2"/>
          </p:cNvCxnSpPr>
          <p:nvPr/>
        </p:nvCxnSpPr>
        <p:spPr>
          <a:xfrm rot="5400000" flipH="1" flipV="1">
            <a:off x="3765120" y="2180544"/>
            <a:ext cx="505079" cy="748878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59" name="Shape 147">
            <a:extLst>
              <a:ext uri="{FF2B5EF4-FFF2-40B4-BE49-F238E27FC236}">
                <a16:creationId xmlns:a16="http://schemas.microsoft.com/office/drawing/2014/main" id="{86008CD7-C6F8-4C4B-BDFD-74A1D79634A8}"/>
              </a:ext>
            </a:extLst>
          </p:cNvPr>
          <p:cNvCxnSpPr>
            <a:cxnSpLocks/>
            <a:stCxn id="17" idx="0"/>
            <a:endCxn id="14" idx="2"/>
          </p:cNvCxnSpPr>
          <p:nvPr/>
        </p:nvCxnSpPr>
        <p:spPr>
          <a:xfrm rot="16200000" flipV="1">
            <a:off x="4513998" y="2180544"/>
            <a:ext cx="505079" cy="748878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60" name="Shape 147">
            <a:extLst>
              <a:ext uri="{FF2B5EF4-FFF2-40B4-BE49-F238E27FC236}">
                <a16:creationId xmlns:a16="http://schemas.microsoft.com/office/drawing/2014/main" id="{B927C648-6149-47D1-B44F-6DBC661E84B0}"/>
              </a:ext>
            </a:extLst>
          </p:cNvPr>
          <p:cNvCxnSpPr>
            <a:cxnSpLocks/>
            <a:stCxn id="88" idx="0"/>
            <a:endCxn id="14" idx="2"/>
          </p:cNvCxnSpPr>
          <p:nvPr/>
        </p:nvCxnSpPr>
        <p:spPr>
          <a:xfrm rot="16200000" flipV="1">
            <a:off x="5262876" y="1431666"/>
            <a:ext cx="505079" cy="2246634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0EBAEB5-C696-435D-A0C8-166DDF9059CE}"/>
              </a:ext>
            </a:extLst>
          </p:cNvPr>
          <p:cNvSpPr/>
          <p:nvPr/>
        </p:nvSpPr>
        <p:spPr>
          <a:xfrm>
            <a:off x="6018323" y="2807522"/>
            <a:ext cx="1240818" cy="54653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정보보안</a:t>
            </a:r>
            <a:endParaRPr kumimoji="1" lang="en-US" altLang="ko-KR" sz="1200" kern="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(ISO 27001)</a:t>
            </a:r>
          </a:p>
        </p:txBody>
      </p:sp>
    </p:spTree>
    <p:extLst>
      <p:ext uri="{BB962C8B-B14F-4D97-AF65-F5344CB8AC3E}">
        <p14:creationId xmlns:p14="http://schemas.microsoft.com/office/powerpoint/2010/main" val="276464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8A392-1C75-47D1-A2AA-E8F18713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AEB5B-E86C-44C7-9A9B-39FC173C6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품질경영 </a:t>
            </a:r>
            <a:r>
              <a:rPr lang="en-US" altLang="ko-KR" dirty="0"/>
              <a:t>(Quality Management)</a:t>
            </a:r>
          </a:p>
          <a:p>
            <a:pPr lvl="1"/>
            <a:r>
              <a:rPr lang="ko-KR" altLang="en-US" dirty="0"/>
              <a:t>품질에 관하여 조직을 지휘하고 관리하기 위해 조정되는 활동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A9D689-D188-4D0D-A44B-E69BAD7AA2B3}"/>
              </a:ext>
            </a:extLst>
          </p:cNvPr>
          <p:cNvSpPr/>
          <p:nvPr/>
        </p:nvSpPr>
        <p:spPr>
          <a:xfrm>
            <a:off x="4873427" y="2890649"/>
            <a:ext cx="144015" cy="4320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A8D675-7848-4AA8-9706-B4AEC64898E5}"/>
              </a:ext>
            </a:extLst>
          </p:cNvPr>
          <p:cNvSpPr/>
          <p:nvPr/>
        </p:nvSpPr>
        <p:spPr>
          <a:xfrm>
            <a:off x="3757303" y="2890649"/>
            <a:ext cx="144015" cy="4320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5A7036-E4E6-42E9-B33F-16937B92CF4E}"/>
              </a:ext>
            </a:extLst>
          </p:cNvPr>
          <p:cNvSpPr/>
          <p:nvPr/>
        </p:nvSpPr>
        <p:spPr>
          <a:xfrm>
            <a:off x="1525055" y="2890649"/>
            <a:ext cx="144016" cy="4320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03A0BC-E555-4C18-AF68-EE0C5EF0FDF1}"/>
              </a:ext>
            </a:extLst>
          </p:cNvPr>
          <p:cNvSpPr/>
          <p:nvPr/>
        </p:nvSpPr>
        <p:spPr>
          <a:xfrm>
            <a:off x="2641179" y="2890649"/>
            <a:ext cx="144016" cy="4320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F65780-4B0C-42B6-BF8F-D64EB29BACFA}"/>
              </a:ext>
            </a:extLst>
          </p:cNvPr>
          <p:cNvSpPr/>
          <p:nvPr/>
        </p:nvSpPr>
        <p:spPr>
          <a:xfrm>
            <a:off x="1525055" y="1839039"/>
            <a:ext cx="5734086" cy="546531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ea typeface="+mn-ea"/>
                <a:cs typeface="Arial" pitchFamily="34" charset="0"/>
              </a:rPr>
              <a:t>품질 경영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ea typeface="+mn-ea"/>
                <a:cs typeface="Arial" pitchFamily="34" charset="0"/>
              </a:rPr>
              <a:t>(Quality Management)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6E9148-A04A-476D-9A31-1BB1A3545E6D}"/>
              </a:ext>
            </a:extLst>
          </p:cNvPr>
          <p:cNvSpPr/>
          <p:nvPr/>
        </p:nvSpPr>
        <p:spPr>
          <a:xfrm>
            <a:off x="652220" y="2890649"/>
            <a:ext cx="1667464" cy="85007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품질방침 및 계획 </a:t>
            </a:r>
            <a:endParaRPr kumimoji="1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(QP, Quality Policy &amp; Planning)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71EE92-75BA-402F-8F1C-3CA23DAABD3C}"/>
              </a:ext>
            </a:extLst>
          </p:cNvPr>
          <p:cNvSpPr/>
          <p:nvPr/>
        </p:nvSpPr>
        <p:spPr>
          <a:xfrm>
            <a:off x="2579467" y="2890649"/>
            <a:ext cx="1667464" cy="85007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품질관리 </a:t>
            </a:r>
            <a:endParaRPr kumimoji="1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(QC, Quality Control)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8A0FBF-EFEE-4CF2-B558-9BBB75D87D97}"/>
              </a:ext>
            </a:extLst>
          </p:cNvPr>
          <p:cNvSpPr/>
          <p:nvPr/>
        </p:nvSpPr>
        <p:spPr>
          <a:xfrm>
            <a:off x="4506714" y="2890649"/>
            <a:ext cx="1667464" cy="85007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품질보증 </a:t>
            </a:r>
            <a:endParaRPr kumimoji="1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(QA, Quality Assurance)</a:t>
            </a:r>
          </a:p>
        </p:txBody>
      </p:sp>
      <p:cxnSp>
        <p:nvCxnSpPr>
          <p:cNvPr id="23" name="Shape 147">
            <a:extLst>
              <a:ext uri="{FF2B5EF4-FFF2-40B4-BE49-F238E27FC236}">
                <a16:creationId xmlns:a16="http://schemas.microsoft.com/office/drawing/2014/main" id="{E883C94D-1377-4A7E-B424-58A13C29ADC0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rot="5400000" flipH="1" flipV="1">
            <a:off x="2686486" y="1185037"/>
            <a:ext cx="505079" cy="2906146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4" name="Shape 147">
            <a:extLst>
              <a:ext uri="{FF2B5EF4-FFF2-40B4-BE49-F238E27FC236}">
                <a16:creationId xmlns:a16="http://schemas.microsoft.com/office/drawing/2014/main" id="{8C90ED41-FE0F-4560-853B-2244B9E37DDA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>
          <a:xfrm rot="5400000" flipH="1" flipV="1">
            <a:off x="3650109" y="2148661"/>
            <a:ext cx="505079" cy="978899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5" name="Shape 147">
            <a:extLst>
              <a:ext uri="{FF2B5EF4-FFF2-40B4-BE49-F238E27FC236}">
                <a16:creationId xmlns:a16="http://schemas.microsoft.com/office/drawing/2014/main" id="{46C0C02B-CE50-4413-B105-C4903907B9EB}"/>
              </a:ext>
            </a:extLst>
          </p:cNvPr>
          <p:cNvCxnSpPr>
            <a:cxnSpLocks/>
            <a:stCxn id="12" idx="0"/>
            <a:endCxn id="9" idx="2"/>
          </p:cNvCxnSpPr>
          <p:nvPr/>
        </p:nvCxnSpPr>
        <p:spPr>
          <a:xfrm rot="16200000" flipV="1">
            <a:off x="4613733" y="2163936"/>
            <a:ext cx="505079" cy="948348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26" name="Shape 147">
            <a:extLst>
              <a:ext uri="{FF2B5EF4-FFF2-40B4-BE49-F238E27FC236}">
                <a16:creationId xmlns:a16="http://schemas.microsoft.com/office/drawing/2014/main" id="{653ACE65-A32C-4B2C-A373-8FE478291542}"/>
              </a:ext>
            </a:extLst>
          </p:cNvPr>
          <p:cNvCxnSpPr>
            <a:cxnSpLocks/>
            <a:stCxn id="27" idx="0"/>
            <a:endCxn id="9" idx="2"/>
          </p:cNvCxnSpPr>
          <p:nvPr/>
        </p:nvCxnSpPr>
        <p:spPr>
          <a:xfrm rot="16200000" flipV="1">
            <a:off x="5577356" y="1200313"/>
            <a:ext cx="505079" cy="2875594"/>
          </a:xfrm>
          <a:prstGeom prst="bentConnector3">
            <a:avLst>
              <a:gd name="adj1" fmla="val 50000"/>
            </a:avLst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306FEE-8557-4F31-8E68-E4B1D1BC3F2A}"/>
              </a:ext>
            </a:extLst>
          </p:cNvPr>
          <p:cNvSpPr/>
          <p:nvPr/>
        </p:nvSpPr>
        <p:spPr>
          <a:xfrm>
            <a:off x="6433960" y="2890649"/>
            <a:ext cx="1667464" cy="850078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17961" dir="2700000" algn="ctr" rotWithShape="0">
              <a:srgbClr val="EAEAEA"/>
            </a:outerShdw>
          </a:effectLst>
        </p:spPr>
        <p:txBody>
          <a:bodyPr lIns="0" tIns="0" rIns="0" bIns="0" anchor="ctr"/>
          <a:lstStyle/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품질개선 </a:t>
            </a:r>
            <a:endParaRPr kumimoji="1" lang="en-US" altLang="ko-KR" sz="1200" kern="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  <a:p>
            <a:pPr marL="0" marR="0" lvl="0" indent="0" algn="ctr" defTabSz="94297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kern="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(QI, Quality Improvement)</a:t>
            </a:r>
            <a:endParaRPr kumimoji="1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72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2D7EA-23D1-4109-A576-D70A8A2A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1356DA-8300-41FC-A26B-314DD7A7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ISO 9001</a:t>
            </a:r>
          </a:p>
          <a:p>
            <a:pPr lvl="1"/>
            <a:r>
              <a:rPr lang="ko-KR" altLang="en-US" dirty="0"/>
              <a:t>모든 산업 분야 및 활동에 적용할 수 있는 품질경영시스템의 요구사항을 국제 표준화 기구</a:t>
            </a:r>
            <a:r>
              <a:rPr lang="en-US" altLang="ko-KR" dirty="0"/>
              <a:t>(International Organization for Standardization)</a:t>
            </a:r>
            <a:r>
              <a:rPr lang="ko-KR" altLang="en-US" dirty="0"/>
              <a:t>에서 규정한 국제표준규격</a:t>
            </a:r>
            <a:endParaRPr lang="en-US" altLang="ko-KR" dirty="0"/>
          </a:p>
          <a:p>
            <a:pPr lvl="1"/>
            <a:r>
              <a:rPr lang="ko-KR" altLang="en-US" dirty="0"/>
              <a:t>제품 또는 서비스의 실현 시스템이 규정된 요구사항을 충족하고 이를 유효하게 운영하고 있음을 인증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인증 취득의 효과</a:t>
            </a:r>
            <a:endParaRPr lang="en-US" altLang="ko-KR" dirty="0"/>
          </a:p>
          <a:p>
            <a:pPr lvl="2"/>
            <a:r>
              <a:rPr lang="ko-KR" altLang="en-US" dirty="0"/>
              <a:t>조직 성과의 지속적인 개선 및 성과 측정의 도구로 활용</a:t>
            </a:r>
            <a:endParaRPr lang="en-US" altLang="ko-KR" dirty="0"/>
          </a:p>
          <a:p>
            <a:pPr lvl="2"/>
            <a:r>
              <a:rPr lang="ko-KR" altLang="en-US" dirty="0"/>
              <a:t>고객의 요구에 부응하는 최적의 품질시스템 구축</a:t>
            </a:r>
            <a:endParaRPr lang="en-US" altLang="ko-KR" dirty="0"/>
          </a:p>
          <a:p>
            <a:pPr lvl="2"/>
            <a:r>
              <a:rPr lang="ko-KR" altLang="en-US" dirty="0"/>
              <a:t>조직의 품질경영 의지 입증</a:t>
            </a:r>
            <a:endParaRPr lang="en-US" altLang="ko-KR" dirty="0"/>
          </a:p>
          <a:p>
            <a:pPr lvl="2"/>
            <a:r>
              <a:rPr lang="ko-KR" altLang="en-US" dirty="0"/>
              <a:t>품질경영 및 품질보증 시스템 정착</a:t>
            </a:r>
            <a:endParaRPr lang="en-US" altLang="ko-KR" dirty="0"/>
          </a:p>
          <a:p>
            <a:pPr lvl="2"/>
            <a:r>
              <a:rPr lang="ko-KR" altLang="en-US" dirty="0"/>
              <a:t>품질경영시스템</a:t>
            </a:r>
            <a:r>
              <a:rPr lang="en-US" altLang="ko-KR" dirty="0"/>
              <a:t>(QMS)</a:t>
            </a:r>
            <a:r>
              <a:rPr lang="ko-KR" altLang="en-US" dirty="0"/>
              <a:t>의 국제화 추세에 능동적으로 대응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179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20B19-7748-4950-9F27-4E8CDCEF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DB01B-5A8D-4D0D-85C3-B88B4599A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ISO 14001</a:t>
            </a:r>
          </a:p>
          <a:p>
            <a:pPr lvl="1"/>
            <a:r>
              <a:rPr lang="ko-KR" altLang="en-US" dirty="0"/>
              <a:t>모든 산업 분야 및 활동에 적용할 수 있는 환경경영시스템의 요구사항을 국제 표준화 기구</a:t>
            </a:r>
            <a:r>
              <a:rPr lang="en-US" altLang="ko-KR" dirty="0"/>
              <a:t>(International Organization for Standardization)</a:t>
            </a:r>
            <a:r>
              <a:rPr lang="ko-KR" altLang="en-US" dirty="0"/>
              <a:t>에서 규정한 국제표준규격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인증취득의 효과</a:t>
            </a:r>
            <a:endParaRPr lang="en-US" altLang="ko-KR" dirty="0"/>
          </a:p>
          <a:p>
            <a:pPr lvl="2"/>
            <a:r>
              <a:rPr lang="ko-KR" altLang="en-US" dirty="0"/>
              <a:t>폐기물 및 에너지 소비 최소화를 통한 직접비용 절감</a:t>
            </a:r>
            <a:endParaRPr lang="en-US" altLang="ko-KR" dirty="0"/>
          </a:p>
          <a:p>
            <a:pPr lvl="2"/>
            <a:r>
              <a:rPr lang="ko-KR" altLang="en-US" dirty="0"/>
              <a:t>환경사고의 사전 예방 및 최소화</a:t>
            </a:r>
            <a:endParaRPr lang="en-US" altLang="ko-KR" dirty="0"/>
          </a:p>
          <a:p>
            <a:pPr lvl="2"/>
            <a:r>
              <a:rPr lang="ko-KR" altLang="en-US" dirty="0"/>
              <a:t>환경법규 준수</a:t>
            </a:r>
            <a:endParaRPr lang="en-US" altLang="ko-KR" dirty="0"/>
          </a:p>
          <a:p>
            <a:pPr lvl="2"/>
            <a:r>
              <a:rPr lang="ko-KR" altLang="en-US" dirty="0"/>
              <a:t>환경성과의 지속적 개선을 통한 환경 문제점 해결</a:t>
            </a:r>
            <a:endParaRPr lang="en-US" altLang="ko-KR" dirty="0"/>
          </a:p>
          <a:p>
            <a:pPr lvl="2"/>
            <a:r>
              <a:rPr lang="ko-KR" altLang="en-US" dirty="0"/>
              <a:t>국제적 신뢰 획득을 통한 대외 무역장벽 극복</a:t>
            </a:r>
            <a:endParaRPr lang="en-US" altLang="ko-KR" dirty="0"/>
          </a:p>
          <a:p>
            <a:pPr lvl="2"/>
            <a:r>
              <a:rPr lang="en-US" altLang="ko-KR" dirty="0"/>
              <a:t>Green </a:t>
            </a:r>
            <a:r>
              <a:rPr lang="ko-KR" altLang="en-US" dirty="0"/>
              <a:t>기업으로 이미지 개선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353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</a:t>
            </a:r>
          </a:p>
          <a:p>
            <a:pPr lvl="1"/>
            <a:r>
              <a:rPr lang="ko-KR" altLang="en-US" dirty="0"/>
              <a:t>국제항공품질협회</a:t>
            </a:r>
            <a:r>
              <a:rPr lang="en-US" altLang="ko-KR" dirty="0"/>
              <a:t>(IAQG: International Aerospace Quality Group)</a:t>
            </a:r>
            <a:r>
              <a:rPr lang="ko-KR" altLang="en-US" dirty="0"/>
              <a:t>에서 품질경영시스템에 대한 국제 표준인 </a:t>
            </a:r>
            <a:r>
              <a:rPr lang="en-US" altLang="ko-KR" dirty="0"/>
              <a:t>ISO 9001</a:t>
            </a:r>
            <a:r>
              <a:rPr lang="ko-KR" altLang="en-US" dirty="0"/>
              <a:t>을 근간으로 하여</a:t>
            </a:r>
            <a:r>
              <a:rPr lang="en-US" altLang="ko-KR" dirty="0"/>
              <a:t>,</a:t>
            </a:r>
            <a:r>
              <a:rPr lang="ko-KR" altLang="en-US" dirty="0"/>
              <a:t> 전세계 항공우주분야에서 요구되는 안전성</a:t>
            </a:r>
            <a:r>
              <a:rPr lang="en-US" altLang="ko-KR" dirty="0"/>
              <a:t>, </a:t>
            </a:r>
            <a:r>
              <a:rPr lang="ko-KR" altLang="en-US" dirty="0"/>
              <a:t>신뢰성 및 특수요건을 반영</a:t>
            </a:r>
            <a:r>
              <a:rPr lang="en-US" altLang="ko-KR" dirty="0"/>
              <a:t>, </a:t>
            </a:r>
            <a:r>
              <a:rPr lang="ko-KR" altLang="en-US" dirty="0"/>
              <a:t>제정한 항공부문 품질경영시스템 표준규격</a:t>
            </a:r>
            <a:endParaRPr lang="en-US" altLang="ko-KR" dirty="0"/>
          </a:p>
          <a:p>
            <a:pPr lvl="1"/>
            <a:r>
              <a:rPr lang="ko-KR" altLang="en-US" dirty="0"/>
              <a:t>항공</a:t>
            </a:r>
            <a:r>
              <a:rPr lang="en-US" altLang="ko-KR" dirty="0"/>
              <a:t>, </a:t>
            </a:r>
            <a:r>
              <a:rPr lang="ko-KR" altLang="en-US" dirty="0"/>
              <a:t>우주</a:t>
            </a:r>
            <a:r>
              <a:rPr lang="en-US" altLang="ko-KR" dirty="0"/>
              <a:t>, </a:t>
            </a:r>
            <a:r>
              <a:rPr lang="ko-KR" altLang="en-US" dirty="0"/>
              <a:t>방산 관련 제조 업종이 받을 수 있는 특수인증으로 조직이 수행하고 있는 모든 활동에 대하여 문서화하고 규정</a:t>
            </a:r>
            <a:endParaRPr lang="en-US" altLang="ko-KR" dirty="0"/>
          </a:p>
          <a:p>
            <a:pPr lvl="1"/>
            <a:r>
              <a:rPr lang="en-US" altLang="ko-KR" dirty="0"/>
              <a:t>AS 9100 </a:t>
            </a:r>
            <a:r>
              <a:rPr lang="ko-KR" altLang="en-US" dirty="0"/>
              <a:t>요구사항 </a:t>
            </a:r>
            <a:r>
              <a:rPr lang="en-US" altLang="ko-KR" dirty="0"/>
              <a:t>= ISO 9001 </a:t>
            </a:r>
            <a:r>
              <a:rPr lang="ko-KR" altLang="en-US" dirty="0"/>
              <a:t>요구사항</a:t>
            </a:r>
            <a:r>
              <a:rPr lang="en-US" altLang="ko-KR" dirty="0"/>
              <a:t>(80% </a:t>
            </a:r>
            <a:r>
              <a:rPr lang="ko-KR" altLang="en-US" dirty="0"/>
              <a:t>이상 일치</a:t>
            </a:r>
            <a:r>
              <a:rPr lang="en-US" altLang="ko-KR" dirty="0"/>
              <a:t>) + </a:t>
            </a:r>
            <a:r>
              <a:rPr lang="ko-KR" altLang="en-US" dirty="0"/>
              <a:t>항공우주관련 특수 요구사항</a:t>
            </a:r>
          </a:p>
          <a:p>
            <a:pPr lvl="1"/>
            <a:r>
              <a:rPr lang="ko-KR" altLang="en-US" dirty="0"/>
              <a:t>인증의 필요성</a:t>
            </a:r>
            <a:endParaRPr lang="en-US" altLang="ko-KR" dirty="0"/>
          </a:p>
          <a:p>
            <a:pPr lvl="2"/>
            <a:r>
              <a:rPr lang="ko-KR" altLang="en-US" b="1" dirty="0"/>
              <a:t>항공사 및 방산 산업의 품질시스템 신뢰 확보</a:t>
            </a:r>
            <a:endParaRPr lang="en-US" altLang="ko-KR" b="1" dirty="0"/>
          </a:p>
          <a:p>
            <a:pPr lvl="2"/>
            <a:r>
              <a:rPr lang="ko-KR" altLang="en-US" dirty="0"/>
              <a:t>항공 사업에 필요한 규격 및 시스템 도입</a:t>
            </a:r>
            <a:endParaRPr lang="en-US" altLang="ko-KR" dirty="0"/>
          </a:p>
          <a:p>
            <a:pPr lvl="2"/>
            <a:r>
              <a:rPr lang="ko-KR" altLang="en-US" dirty="0"/>
              <a:t>제품의 신뢰성과 품질에 대한 인식 확보</a:t>
            </a:r>
            <a:endParaRPr lang="en-US" altLang="ko-KR" dirty="0"/>
          </a:p>
          <a:p>
            <a:pPr lvl="2"/>
            <a:r>
              <a:rPr lang="ko-KR" altLang="en-US" dirty="0"/>
              <a:t>항공기</a:t>
            </a:r>
            <a:r>
              <a:rPr lang="en-US" altLang="ko-KR" dirty="0"/>
              <a:t>, </a:t>
            </a:r>
            <a:r>
              <a:rPr lang="ko-KR" altLang="en-US" dirty="0"/>
              <a:t>우주</a:t>
            </a:r>
            <a:r>
              <a:rPr lang="en-US" altLang="ko-KR" dirty="0"/>
              <a:t>, </a:t>
            </a:r>
            <a:r>
              <a:rPr lang="ko-KR" altLang="en-US" dirty="0"/>
              <a:t>방위산업 관련 특수공정 제공업체의 국제 인증</a:t>
            </a:r>
            <a:endParaRPr lang="en-US" altLang="ko-KR" dirty="0"/>
          </a:p>
          <a:p>
            <a:pPr lvl="1"/>
            <a:r>
              <a:rPr lang="ko-KR" altLang="en-US" dirty="0"/>
              <a:t>인증취득의 효과</a:t>
            </a:r>
            <a:endParaRPr lang="en-US" altLang="ko-KR" dirty="0"/>
          </a:p>
          <a:p>
            <a:pPr lvl="2"/>
            <a:r>
              <a:rPr lang="ko-KR" altLang="en-US" b="1" dirty="0"/>
              <a:t>항공사 고객의 신뢰성 확보</a:t>
            </a:r>
          </a:p>
          <a:p>
            <a:pPr lvl="2"/>
            <a:r>
              <a:rPr lang="ko-KR" altLang="en-US" dirty="0"/>
              <a:t>기업 이미지 제고</a:t>
            </a:r>
            <a:r>
              <a:rPr lang="en-US" altLang="ko-KR" dirty="0"/>
              <a:t>, </a:t>
            </a:r>
            <a:r>
              <a:rPr lang="ko-KR" altLang="en-US" dirty="0"/>
              <a:t>매출증대 및 수출장벽 극복</a:t>
            </a:r>
            <a:endParaRPr lang="en-US" altLang="ko-KR" dirty="0"/>
          </a:p>
          <a:p>
            <a:pPr lvl="2"/>
            <a:r>
              <a:rPr lang="ko-KR" altLang="en-US" dirty="0"/>
              <a:t>역할 및 책임의 명확화 및 체계화된 교육</a:t>
            </a:r>
            <a:r>
              <a:rPr lang="en-US" altLang="ko-KR" dirty="0"/>
              <a:t>, </a:t>
            </a:r>
            <a:r>
              <a:rPr lang="ko-KR" altLang="en-US" dirty="0"/>
              <a:t>훈련 프로그램 확보</a:t>
            </a:r>
            <a:endParaRPr lang="en-US" altLang="ko-KR" dirty="0"/>
          </a:p>
          <a:p>
            <a:pPr lvl="2"/>
            <a:r>
              <a:rPr lang="ko-KR" altLang="en-US" dirty="0"/>
              <a:t>표준화를 통한 업무능률 향상 및 시정</a:t>
            </a:r>
            <a:r>
              <a:rPr lang="en-US" altLang="ko-KR" dirty="0"/>
              <a:t>, </a:t>
            </a:r>
            <a:r>
              <a:rPr lang="ko-KR" altLang="en-US" dirty="0"/>
              <a:t>예방 활동을 통한 불량</a:t>
            </a:r>
            <a:r>
              <a:rPr lang="en-US" altLang="ko-KR" dirty="0"/>
              <a:t>/</a:t>
            </a:r>
            <a:r>
              <a:rPr lang="ko-KR" altLang="en-US" dirty="0"/>
              <a:t>부적합 발생률 감소</a:t>
            </a:r>
            <a:endParaRPr lang="en-US" altLang="ko-KR" dirty="0"/>
          </a:p>
          <a:p>
            <a:pPr lvl="2"/>
            <a:r>
              <a:rPr lang="ko-KR" altLang="en-US" dirty="0"/>
              <a:t>입찰</a:t>
            </a:r>
            <a:r>
              <a:rPr lang="en-US" altLang="ko-KR" dirty="0"/>
              <a:t>, </a:t>
            </a:r>
            <a:r>
              <a:rPr lang="ko-KR" altLang="en-US" dirty="0"/>
              <a:t>협력 업체 등록 신청 시 품질경영시스템 인증 기업 우대</a:t>
            </a:r>
            <a:endParaRPr lang="en-US" altLang="ko-KR" dirty="0"/>
          </a:p>
          <a:p>
            <a:pPr lvl="2"/>
            <a:r>
              <a:rPr lang="en-US" altLang="ko-KR" dirty="0"/>
              <a:t>OASIS</a:t>
            </a:r>
            <a:r>
              <a:rPr lang="ko-KR" altLang="en-US" dirty="0"/>
              <a:t>를 통한 </a:t>
            </a:r>
            <a:r>
              <a:rPr lang="en-US" altLang="ko-KR" dirty="0"/>
              <a:t>DB </a:t>
            </a:r>
            <a:r>
              <a:rPr lang="ko-KR" altLang="en-US" dirty="0"/>
              <a:t>공개 및 공유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83070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62B7C-E980-4CBF-91EA-A08660E9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F9955-4884-48D5-A992-95104C68A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비교표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AFFBE9C-B143-4ACB-A372-8654B0355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602719"/>
              </p:ext>
            </p:extLst>
          </p:nvPr>
        </p:nvGraphicFramePr>
        <p:xfrm>
          <a:off x="771684" y="1397000"/>
          <a:ext cx="7589520" cy="4999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</a:tblGrid>
              <a:tr h="289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</a:t>
                      </a:r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</a:t>
                      </a:r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</a:t>
                      </a:r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289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인용표준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BS 5750(TC176)</a:t>
                      </a:r>
                      <a:endParaRPr lang="ko-KR" altLang="en-US" sz="1200" dirty="0"/>
                    </a:p>
                    <a:p>
                      <a:pPr algn="ctr" latinLnBrk="1"/>
                      <a:r>
                        <a:rPr lang="en-US" altLang="ko-KR" sz="1200" dirty="0"/>
                        <a:t>ISO TC20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BS 5750(TC176)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BS 7700(TC207)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289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규격성격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품질경영시스템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품질경영시스템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환경경영시스템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289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동기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이윤 창출 및 지속적 경영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단기적 이윤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장기적 이윤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6765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목적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항공우주관련 생산제품에 대한 고객요구 충족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고객 만족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부적합품에 대한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고객요구 충족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고객 만족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환경보전에 대한 사회적 요구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고객요구 충족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이해관계자 만족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항공우주관련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생산제품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불량률 </a:t>
                      </a:r>
                      <a:r>
                        <a:rPr lang="en-US" altLang="ko-KR" sz="1200" dirty="0"/>
                        <a:t>Zero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생산제품 불량률 </a:t>
                      </a:r>
                      <a:r>
                        <a:rPr lang="en-US" altLang="ko-KR" sz="1200" dirty="0"/>
                        <a:t>Zero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무오염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무방출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법적규제 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289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규격구조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PDCA Cycle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PDCA Cycle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PDCA Cycle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2899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제품 또는 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제품 또는 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제품 또는 서비스 부산물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9002838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핵심사항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고객요구사항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규제요구사항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고객요구사항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규제요구사항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환경관련 법규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환경측면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환경영향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548789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시스템 원리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목표 달성을 위한 조직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책임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활동계획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관행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절차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공정 및 자원을 포함하는 </a:t>
                      </a:r>
                      <a:endParaRPr lang="en-US" altLang="ko-KR" sz="1200" dirty="0"/>
                    </a:p>
                    <a:p>
                      <a:pPr algn="l" latinLnBrk="1"/>
                      <a:r>
                        <a:rPr lang="ko-KR" altLang="en-US" sz="1200" dirty="0"/>
                        <a:t>전체적인 경영시스템의 일부분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98718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시스템 이해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관련정보 수집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분석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의사결정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문서화하여 관리된 조건에서의 프로그램의 실행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공정의 검증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결과의 평가를 체계적으로 접근하여 관리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893295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공통사항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방침관리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목표관리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세부추진계획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문서관리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기록관리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법규관리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책임과 권한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의사소통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교육훈련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모니터링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측정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시정 및 예방조치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내부심사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경영자 검토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23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32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A71BB-9C3D-43D4-9BF5-6013E215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84ACF-559B-4911-9E5B-A5A8644A4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PDCA Cycle (</a:t>
            </a:r>
            <a:r>
              <a:rPr lang="ko-KR" altLang="en-US" dirty="0" err="1"/>
              <a:t>데밍</a:t>
            </a:r>
            <a:r>
              <a:rPr lang="ko-KR" altLang="en-US" dirty="0"/>
              <a:t> 사이클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일정한 목표를 정해 놓고 이것을 달성하기 위해 행하는 모든 활동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1026" name="Picture 2" descr="How to Implement the PDCA Cycle (Plan-Do-Check-Act) [Free Template]">
            <a:extLst>
              <a:ext uri="{FF2B5EF4-FFF2-40B4-BE49-F238E27FC236}">
                <a16:creationId xmlns:a16="http://schemas.microsoft.com/office/drawing/2014/main" id="{A20756F3-963E-4611-94ED-0CD30C7B6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37"/>
          <a:stretch/>
        </p:blipFill>
        <p:spPr bwMode="auto">
          <a:xfrm>
            <a:off x="6716541" y="1102139"/>
            <a:ext cx="2202095" cy="226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B979193-B7E0-4155-A9D8-A91E4CF8F7AB}"/>
              </a:ext>
            </a:extLst>
          </p:cNvPr>
          <p:cNvSpPr/>
          <p:nvPr/>
        </p:nvSpPr>
        <p:spPr bwMode="auto">
          <a:xfrm>
            <a:off x="1597944" y="2288252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방침 및 목표설정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B56995-B204-47EC-83EF-988AB2AA5183}"/>
              </a:ext>
            </a:extLst>
          </p:cNvPr>
          <p:cNvSpPr/>
          <p:nvPr/>
        </p:nvSpPr>
        <p:spPr bwMode="auto">
          <a:xfrm>
            <a:off x="1588419" y="2717549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품질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, 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환경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, 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안전보건 목표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안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 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통보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F31C5F-F881-4477-A772-CC362194579C}"/>
              </a:ext>
            </a:extLst>
          </p:cNvPr>
          <p:cNvSpPr/>
          <p:nvPr/>
        </p:nvSpPr>
        <p:spPr bwMode="auto">
          <a:xfrm>
            <a:off x="1588418" y="3146846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목표 수립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FA8BE21-5D57-4C78-82E2-A9F4D3126FB0}"/>
              </a:ext>
            </a:extLst>
          </p:cNvPr>
          <p:cNvSpPr/>
          <p:nvPr/>
        </p:nvSpPr>
        <p:spPr bwMode="auto">
          <a:xfrm>
            <a:off x="1597943" y="3576143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실행계획서 작성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A747E6-F299-4C94-AC68-DCA921C0BA96}"/>
              </a:ext>
            </a:extLst>
          </p:cNvPr>
          <p:cNvSpPr/>
          <p:nvPr/>
        </p:nvSpPr>
        <p:spPr bwMode="auto">
          <a:xfrm>
            <a:off x="1588417" y="4005440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실행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802077-D0EE-4401-8F64-C6F5F3EBFD97}"/>
              </a:ext>
            </a:extLst>
          </p:cNvPr>
          <p:cNvSpPr/>
          <p:nvPr/>
        </p:nvSpPr>
        <p:spPr bwMode="auto">
          <a:xfrm>
            <a:off x="1588416" y="4434737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실행 결과 입력 및 자체 분석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10C095-8DE2-4198-BF7C-1D264192A7DF}"/>
              </a:ext>
            </a:extLst>
          </p:cNvPr>
          <p:cNvSpPr/>
          <p:nvPr/>
        </p:nvSpPr>
        <p:spPr bwMode="auto">
          <a:xfrm>
            <a:off x="1588416" y="4864034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점검 및 평가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E6B6B9-423C-40D8-9F0E-16E11F1DEEE4}"/>
              </a:ext>
            </a:extLst>
          </p:cNvPr>
          <p:cNvSpPr/>
          <p:nvPr/>
        </p:nvSpPr>
        <p:spPr bwMode="auto">
          <a:xfrm>
            <a:off x="1588416" y="5293331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부적합 사항 조정 및 대책 수립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BC9953-CC7C-4F9F-A83E-AE4A012C8C7C}"/>
              </a:ext>
            </a:extLst>
          </p:cNvPr>
          <p:cNvSpPr/>
          <p:nvPr/>
        </p:nvSpPr>
        <p:spPr bwMode="auto">
          <a:xfrm>
            <a:off x="1588416" y="5722625"/>
            <a:ext cx="2205560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종합 성과 평가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030558-B1BB-473F-BBBD-D79CB429C640}"/>
              </a:ext>
            </a:extLst>
          </p:cNvPr>
          <p:cNvSpPr/>
          <p:nvPr/>
        </p:nvSpPr>
        <p:spPr bwMode="auto">
          <a:xfrm>
            <a:off x="3853485" y="2288252"/>
            <a:ext cx="1313411" cy="1537270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+mn-ea"/>
                <a:ea typeface="+mn-ea"/>
              </a:rPr>
              <a:t>Plan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399E769-26C9-41ED-BE99-164FCB97EB27}"/>
              </a:ext>
            </a:extLst>
          </p:cNvPr>
          <p:cNvSpPr/>
          <p:nvPr/>
        </p:nvSpPr>
        <p:spPr bwMode="auto">
          <a:xfrm>
            <a:off x="3853485" y="4005440"/>
            <a:ext cx="1313411" cy="678676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Do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5651F8-B640-4D83-8EDB-BF264E8A28E7}"/>
              </a:ext>
            </a:extLst>
          </p:cNvPr>
          <p:cNvSpPr/>
          <p:nvPr/>
        </p:nvSpPr>
        <p:spPr bwMode="auto">
          <a:xfrm>
            <a:off x="3856074" y="4864034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Check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4EE3A5F-E54E-42F4-B4C9-095C0D051FD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 bwMode="auto">
          <a:xfrm flipH="1">
            <a:off x="2691199" y="2537634"/>
            <a:ext cx="9525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EE3CC8B-8DE1-474B-B658-B965260B5D6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 bwMode="auto">
          <a:xfrm flipH="1">
            <a:off x="2691198" y="2966931"/>
            <a:ext cx="1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F14E2D9-64BC-4195-965B-B9064C708377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 bwMode="auto">
          <a:xfrm>
            <a:off x="2691198" y="3396228"/>
            <a:ext cx="9525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D4B045E-602B-4977-9A0F-96BB3985BCB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 bwMode="auto">
          <a:xfrm flipH="1">
            <a:off x="2691197" y="3825525"/>
            <a:ext cx="9526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9B9CBB1-C3DF-420B-BC19-88743091C29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 bwMode="auto">
          <a:xfrm flipH="1">
            <a:off x="2691196" y="4254822"/>
            <a:ext cx="1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9E206F2-D5E0-4CA5-ABD8-17EDF7488E9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 bwMode="auto">
          <a:xfrm>
            <a:off x="2691196" y="4684119"/>
            <a:ext cx="0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CA2F41C-5FBC-4596-B161-4B746517AB1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 bwMode="auto">
          <a:xfrm>
            <a:off x="2691196" y="5113416"/>
            <a:ext cx="0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80DDAC9-B259-4790-9B56-04B802C6E143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 bwMode="auto">
          <a:xfrm>
            <a:off x="2691196" y="5542713"/>
            <a:ext cx="0" cy="179912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DD80C8-1587-488C-B08C-67F2B5476A69}"/>
              </a:ext>
            </a:extLst>
          </p:cNvPr>
          <p:cNvSpPr/>
          <p:nvPr/>
        </p:nvSpPr>
        <p:spPr bwMode="auto">
          <a:xfrm>
            <a:off x="3856075" y="5293331"/>
            <a:ext cx="1313411" cy="678676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Action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57281C8-0A7D-4C4F-9C13-86799DF6D2C9}"/>
              </a:ext>
            </a:extLst>
          </p:cNvPr>
          <p:cNvCxnSpPr>
            <a:cxnSpLocks/>
            <a:stCxn id="12" idx="1"/>
            <a:endCxn id="8" idx="1"/>
          </p:cNvCxnSpPr>
          <p:nvPr/>
        </p:nvCxnSpPr>
        <p:spPr bwMode="auto">
          <a:xfrm rot="10800000" flipH="1">
            <a:off x="1588415" y="3700834"/>
            <a:ext cx="9527" cy="1717188"/>
          </a:xfrm>
          <a:prstGeom prst="bentConnector3">
            <a:avLst>
              <a:gd name="adj1" fmla="val -2399496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0DD956-9E96-490F-803C-F88A5ADA0561}"/>
              </a:ext>
            </a:extLst>
          </p:cNvPr>
          <p:cNvSpPr/>
          <p:nvPr/>
        </p:nvSpPr>
        <p:spPr bwMode="auto">
          <a:xfrm>
            <a:off x="571328" y="3346875"/>
            <a:ext cx="1413246" cy="27861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dirty="0">
                <a:latin typeface="+mn-ea"/>
                <a:ea typeface="+mn-ea"/>
              </a:rPr>
              <a:t>실행계획 </a:t>
            </a:r>
            <a:endParaRPr lang="en-US" altLang="ko-KR" sz="1000" dirty="0">
              <a:latin typeface="+mn-ea"/>
              <a:ea typeface="+mn-ea"/>
            </a:endParaRPr>
          </a:p>
          <a:p>
            <a:pPr algn="ctr" eaLnBrk="1" latinLnBrk="1" hangingPunct="1"/>
            <a:r>
              <a:rPr lang="ko-KR" altLang="en-US" sz="1000" dirty="0" err="1">
                <a:latin typeface="+mn-ea"/>
                <a:ea typeface="+mn-ea"/>
              </a:rPr>
              <a:t>재수립</a:t>
            </a:r>
            <a:endParaRPr lang="ko-KR" altLang="en-US" sz="1000" dirty="0">
              <a:latin typeface="+mn-ea"/>
              <a:ea typeface="+mn-ea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8946E1B8-3ECE-4DF9-9DD0-76783E309A34}"/>
              </a:ext>
            </a:extLst>
          </p:cNvPr>
          <p:cNvCxnSpPr>
            <a:cxnSpLocks/>
            <a:stCxn id="13" idx="1"/>
            <a:endCxn id="5" idx="1"/>
          </p:cNvCxnSpPr>
          <p:nvPr/>
        </p:nvCxnSpPr>
        <p:spPr bwMode="auto">
          <a:xfrm rot="10800000" flipH="1">
            <a:off x="1588416" y="2412944"/>
            <a:ext cx="9528" cy="3434373"/>
          </a:xfrm>
          <a:prstGeom prst="bentConnector3">
            <a:avLst>
              <a:gd name="adj1" fmla="val -6597922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FDD2195-7207-45B2-BFD2-60A149F4E52B}"/>
              </a:ext>
            </a:extLst>
          </p:cNvPr>
          <p:cNvSpPr/>
          <p:nvPr/>
        </p:nvSpPr>
        <p:spPr bwMode="auto">
          <a:xfrm>
            <a:off x="80086" y="2007638"/>
            <a:ext cx="1556836" cy="40011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eaLnBrk="1" latinLnBrk="1" hangingPunct="1"/>
            <a:r>
              <a:rPr lang="ko-KR" altLang="en-US" sz="1000" dirty="0">
                <a:latin typeface="+mn-ea"/>
                <a:ea typeface="+mn-ea"/>
              </a:rPr>
              <a:t>성과 및 부진사유 등을 </a:t>
            </a:r>
            <a:br>
              <a:rPr lang="en-US" altLang="ko-KR" sz="1000" dirty="0">
                <a:latin typeface="+mn-ea"/>
                <a:ea typeface="+mn-ea"/>
              </a:rPr>
            </a:br>
            <a:r>
              <a:rPr lang="ko-KR" altLang="en-US" sz="1000" dirty="0">
                <a:latin typeface="+mn-ea"/>
                <a:ea typeface="+mn-ea"/>
              </a:rPr>
              <a:t>차년도 경력전략에 반영</a:t>
            </a: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5CED0FC1-A430-4A01-944B-DCD51EE2129C}"/>
              </a:ext>
            </a:extLst>
          </p:cNvPr>
          <p:cNvSpPr/>
          <p:nvPr/>
        </p:nvSpPr>
        <p:spPr bwMode="auto">
          <a:xfrm flipH="1">
            <a:off x="5173025" y="2320363"/>
            <a:ext cx="1427605" cy="400110"/>
          </a:xfrm>
          <a:prstGeom prst="rightArrow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경영자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9DFB29C9-1C42-4186-92A6-C86289B91CEC}"/>
              </a:ext>
            </a:extLst>
          </p:cNvPr>
          <p:cNvSpPr/>
          <p:nvPr/>
        </p:nvSpPr>
        <p:spPr bwMode="auto">
          <a:xfrm flipH="1">
            <a:off x="5173025" y="2872636"/>
            <a:ext cx="1427605" cy="400110"/>
          </a:xfrm>
          <a:prstGeom prst="rightArrow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+mn-ea"/>
                <a:ea typeface="+mn-ea"/>
              </a:rPr>
              <a:t>품질보증팀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B17FDB27-501A-45B7-8188-5201B3A63288}"/>
              </a:ext>
            </a:extLst>
          </p:cNvPr>
          <p:cNvSpPr/>
          <p:nvPr/>
        </p:nvSpPr>
        <p:spPr bwMode="auto">
          <a:xfrm flipH="1">
            <a:off x="5173025" y="4155374"/>
            <a:ext cx="1427605" cy="400110"/>
          </a:xfrm>
          <a:prstGeom prst="rightArrow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각 부서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, 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개인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7A0229C4-49FF-4768-B65D-0C93DBF00B32}"/>
              </a:ext>
            </a:extLst>
          </p:cNvPr>
          <p:cNvSpPr/>
          <p:nvPr/>
        </p:nvSpPr>
        <p:spPr bwMode="auto">
          <a:xfrm flipH="1">
            <a:off x="5173025" y="3424908"/>
            <a:ext cx="1427605" cy="400110"/>
          </a:xfrm>
          <a:prstGeom prst="rightArrow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각 부서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, 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개인</a:t>
            </a:r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9E519E26-1FF1-407F-B5C4-E86787AAC49E}"/>
              </a:ext>
            </a:extLst>
          </p:cNvPr>
          <p:cNvSpPr/>
          <p:nvPr/>
        </p:nvSpPr>
        <p:spPr bwMode="auto">
          <a:xfrm flipH="1">
            <a:off x="5182550" y="4793126"/>
            <a:ext cx="1427605" cy="400110"/>
          </a:xfrm>
          <a:prstGeom prst="rightArrow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+mn-ea"/>
                <a:ea typeface="+mn-ea"/>
              </a:rPr>
              <a:t>품질보증팀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B826361A-1335-4FFE-9B17-0AA1E75EC059}"/>
              </a:ext>
            </a:extLst>
          </p:cNvPr>
          <p:cNvSpPr/>
          <p:nvPr/>
        </p:nvSpPr>
        <p:spPr bwMode="auto">
          <a:xfrm flipH="1">
            <a:off x="5179019" y="5281210"/>
            <a:ext cx="1427605" cy="400110"/>
          </a:xfrm>
          <a:prstGeom prst="rightArrow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각 부서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, 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개인</a:t>
            </a: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D89F5031-6515-46C3-96C2-1543B7B4691C}"/>
              </a:ext>
            </a:extLst>
          </p:cNvPr>
          <p:cNvSpPr/>
          <p:nvPr/>
        </p:nvSpPr>
        <p:spPr bwMode="auto">
          <a:xfrm flipH="1">
            <a:off x="5179019" y="5699887"/>
            <a:ext cx="1427605" cy="400110"/>
          </a:xfrm>
          <a:prstGeom prst="rightArrow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>
                <a:latin typeface="+mn-ea"/>
                <a:ea typeface="+mn-ea"/>
              </a:rPr>
              <a:t>품질보증팀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6470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78662-D41D-4A4E-B01F-35E3EB3F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3529C9-CB60-4791-BFA1-39B62670A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표준 경영시스템의 기본 요구사항</a:t>
            </a:r>
            <a:r>
              <a:rPr lang="en-US" altLang="ko-KR" dirty="0"/>
              <a:t>: Documentation</a:t>
            </a:r>
          </a:p>
          <a:p>
            <a:pPr lvl="1"/>
            <a:r>
              <a:rPr lang="ko-KR" altLang="en-US" dirty="0"/>
              <a:t>경영시스템의 요구사항을 기준으로 프로세스를 수립하여</a:t>
            </a:r>
            <a:r>
              <a:rPr lang="en-US" altLang="ko-KR" dirty="0"/>
              <a:t> </a:t>
            </a:r>
            <a:r>
              <a:rPr lang="ko-KR" altLang="en-US" dirty="0"/>
              <a:t>회사 내규로 규정하고</a:t>
            </a:r>
            <a:r>
              <a:rPr lang="en-US" altLang="ko-KR" dirty="0"/>
              <a:t>(</a:t>
            </a:r>
            <a:r>
              <a:rPr lang="ko-KR" altLang="en-US" dirty="0"/>
              <a:t>매뉴얼</a:t>
            </a:r>
            <a:r>
              <a:rPr lang="en-US" altLang="ko-KR" dirty="0"/>
              <a:t>), </a:t>
            </a:r>
            <a:r>
              <a:rPr lang="ko-KR" altLang="en-US" dirty="0"/>
              <a:t>프로세스를 준수할 수 있는 문서화된 절차서</a:t>
            </a:r>
            <a:r>
              <a:rPr lang="en-US" altLang="ko-KR" dirty="0"/>
              <a:t>, </a:t>
            </a:r>
            <a:r>
              <a:rPr lang="ko-KR" altLang="en-US" dirty="0"/>
              <a:t>지침서</a:t>
            </a:r>
            <a:r>
              <a:rPr lang="en-US" altLang="ko-KR" dirty="0"/>
              <a:t>, </a:t>
            </a:r>
            <a:r>
              <a:rPr lang="ko-KR" altLang="en-US" dirty="0"/>
              <a:t>기록물 등을 작성 및 준수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사내문서구조</a:t>
            </a:r>
            <a:r>
              <a:rPr lang="en-US" altLang="ko-KR" dirty="0"/>
              <a:t>: </a:t>
            </a:r>
            <a:r>
              <a:rPr lang="ko-KR" altLang="en-US" dirty="0"/>
              <a:t>요구사항 확인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매뉴얼 및 프로세스 수립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절차서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지침서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기록물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Level 1: </a:t>
            </a:r>
            <a:r>
              <a:rPr lang="ko-KR" altLang="en-US" dirty="0">
                <a:sym typeface="Wingdings" panose="05000000000000000000" pitchFamily="2" charset="2"/>
              </a:rPr>
              <a:t>표명된 경영방침 및 경영목표에 따라 경영시스템 기술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매뉴얼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조직의 품질경영시스템을 규정한 문서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Level 2: </a:t>
            </a:r>
            <a:r>
              <a:rPr lang="ko-KR" altLang="en-US" dirty="0">
                <a:sym typeface="Wingdings" panose="05000000000000000000" pitchFamily="2" charset="2"/>
              </a:rPr>
              <a:t>경영시스템을 실행하는데 요구되는 상호 관련된 프로세스 및 활동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절차서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조직에서 구분한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프로세스를 수행하기 위하여 규정한 절차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ko-KR" dirty="0"/>
              <a:t>Level 3: </a:t>
            </a:r>
            <a:r>
              <a:rPr lang="ko-KR" altLang="en-US" dirty="0"/>
              <a:t>상세한 작업 지침서로 구성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지침서</a:t>
            </a:r>
            <a:r>
              <a:rPr lang="en-US" altLang="ko-KR" dirty="0"/>
              <a:t>: </a:t>
            </a:r>
            <a:r>
              <a:rPr lang="ko-KR" altLang="en-US" dirty="0"/>
              <a:t>수행하여야 하는 조치를 전달하는 규정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Level 4: </a:t>
            </a:r>
            <a:r>
              <a:rPr lang="ko-KR" altLang="en-US" dirty="0"/>
              <a:t>절차서 또는 지침서를 수행함으로써 도출되는 결과물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지도서</a:t>
            </a:r>
            <a:r>
              <a:rPr lang="en-US" altLang="ko-KR" dirty="0"/>
              <a:t>, </a:t>
            </a:r>
            <a:r>
              <a:rPr lang="ko-KR" altLang="en-US" dirty="0"/>
              <a:t>요령서</a:t>
            </a:r>
            <a:r>
              <a:rPr lang="en-US" altLang="ko-KR" dirty="0"/>
              <a:t>, </a:t>
            </a:r>
            <a:r>
              <a:rPr lang="ko-KR" altLang="en-US" dirty="0"/>
              <a:t>그림</a:t>
            </a:r>
            <a:r>
              <a:rPr lang="en-US" altLang="ko-KR" dirty="0"/>
              <a:t>, </a:t>
            </a:r>
            <a:r>
              <a:rPr lang="ko-KR" altLang="en-US" dirty="0"/>
              <a:t>도표</a:t>
            </a:r>
            <a:r>
              <a:rPr lang="en-US" altLang="ko-KR" dirty="0"/>
              <a:t>, Flow Chart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8309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62B7C-E980-4CBF-91EA-A08660E9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F9955-4884-48D5-A992-95104C68A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소개 및 일반사항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AFFBE9C-B143-4ACB-A372-8654B0355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052839"/>
              </p:ext>
            </p:extLst>
          </p:nvPr>
        </p:nvGraphicFramePr>
        <p:xfrm>
          <a:off x="516444" y="1710963"/>
          <a:ext cx="8100000" cy="322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Introduction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Introduction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Introduction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Quality management principles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Quality management principles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Quality management principles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Process approach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Process approach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Process approach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Plan-Do-Check-Act cycle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Plan-Do-Check-Act cycle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Plan-Do-Check-Act cycle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Risk-based thinking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Risk-based thinking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Risk-based thinking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Relationship with other management standards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Relationship with other management standards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Relationship with other management standards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1667679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Scope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Scope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Scope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07121190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Normative reference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Normative reference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Normative reference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Terms and definitions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Terms and definitions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Terms and definitions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70814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090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조직의 상황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99011"/>
              </p:ext>
            </p:extLst>
          </p:nvPr>
        </p:nvGraphicFramePr>
        <p:xfrm>
          <a:off x="516444" y="1710963"/>
          <a:ext cx="8100000" cy="3094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4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Context of the organization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4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Context of the organization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4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Context of the organization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Understanding the organization and its context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Understanding the organization and its context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Understanding the organization and its context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Understanding the needs and expectations of interested parties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Understanding the needs and expectations of interested parties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Understanding the needs and expectations of interested parties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Determining the scope of the quality management system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Determining the scope of the quality management system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Determining the scope of the environmental management system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Quality management system and its processes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Quality management system and its processes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Environmental management system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4.4.1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Establish, implement, maintain and continually improve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4.4.2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Maintain 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926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 err="1"/>
              <a:t>리더쉽</a:t>
            </a:r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799007"/>
              </p:ext>
            </p:extLst>
          </p:nvPr>
        </p:nvGraphicFramePr>
        <p:xfrm>
          <a:off x="516444" y="1710963"/>
          <a:ext cx="8100000" cy="2525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5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Leadership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5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Leadership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5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Leadership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Leadership and commitment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Leadership and commitment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Leadership and commitment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focus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focus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Environmental policy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Establishing the quality 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Establishing the quality 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Communicating the quality 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Communicating the quality 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Organizational roles, responsibilities and authorities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Organizational roles, responsibilities and authorities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Organizational roles, responsibilities and authorities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166767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513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계획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036791"/>
              </p:ext>
            </p:extLst>
          </p:nvPr>
        </p:nvGraphicFramePr>
        <p:xfrm>
          <a:off x="516444" y="1710963"/>
          <a:ext cx="8100000" cy="379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6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Planning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6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Planning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6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Planning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Actions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to address risks and opportunities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Actions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to address risks and opportunities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Actions to address risks and opportunities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Consider issues of 4.1 and requirements of 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Actions to address risks and opportunities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Environmental aspects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Compliance obligations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Planning action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Quality objectives and planning to achieve them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Quality objectives and planning to achieve them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6.2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Environmental objectives and planning to achieve them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Quality objectives at relevant functions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Environmental objectives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1667679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Determine what, who, when, how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Planning actions to achieve environmental objectives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07121190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6.3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Planning of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Planning of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447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지원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434489"/>
              </p:ext>
            </p:extLst>
          </p:nvPr>
        </p:nvGraphicFramePr>
        <p:xfrm>
          <a:off x="516444" y="1710963"/>
          <a:ext cx="8100000" cy="315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7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Support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7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Support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7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Support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Resources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Resources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Resources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People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People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Infrastructure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Infrastructure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Environment for the operation of processes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Environment for the operation of processes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Monitoring and measuring resources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Monitoring and measuring resources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7.1.6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Organizational knowledge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7.1.6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Organizational knowledge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Competence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Competence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Competence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2890122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Awareness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Awareness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Awareness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7558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022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지원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246443"/>
              </p:ext>
            </p:extLst>
          </p:nvPr>
        </p:nvGraphicFramePr>
        <p:xfrm>
          <a:off x="516444" y="1710963"/>
          <a:ext cx="8100000" cy="2757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7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Support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7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Support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7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Support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Communication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Communication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Communication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82152764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7.4.1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2769690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Internal communication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31201714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7.4.3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External communication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000864677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83604233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1875532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Creating and updating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Creating and updating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Creating and updating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708148200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03818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758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운영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746828"/>
              </p:ext>
            </p:extLst>
          </p:nvPr>
        </p:nvGraphicFramePr>
        <p:xfrm>
          <a:off x="516444" y="1710963"/>
          <a:ext cx="8100000" cy="4326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Operational planning and control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Operational planning and control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Operational planning and control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Operational Risk Management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Configuration Management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Product Safety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Prevention of Counterfeit Parts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Emergency preparedness and response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communication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communication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Determining the 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Determining the 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2890122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Review of the 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Review of the 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7558007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8.2.3.1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Ensure ability to meet requirements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82152764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Retain 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83604233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Changes to 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Changes to 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187553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632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운영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354302"/>
              </p:ext>
            </p:extLst>
          </p:nvPr>
        </p:nvGraphicFramePr>
        <p:xfrm>
          <a:off x="516444" y="1710963"/>
          <a:ext cx="8100000" cy="4254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of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of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planning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planning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inputs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inputs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controls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controls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8.3.6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8.3.6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externally provided processes,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externally provided processes,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2890122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7558007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Type and extent of control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Type and extent of control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82152764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Information for external providers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Information for external providers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836042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475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운영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50662"/>
              </p:ext>
            </p:extLst>
          </p:nvPr>
        </p:nvGraphicFramePr>
        <p:xfrm>
          <a:off x="516444" y="1710963"/>
          <a:ext cx="8100000" cy="315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Production and service provision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Production and service provision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production and service provision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production and service provision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Identification and traceability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Identification and traceability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Property belonging to customers or external providers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Property belonging to customers or external providers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Preservation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Preservation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Post-delivery activities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Post-delivery activities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8.5.6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8.5.6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Release of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Release of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2890122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8.7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nonconforming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8.7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nonconforming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75580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025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성과 평가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005793"/>
              </p:ext>
            </p:extLst>
          </p:nvPr>
        </p:nvGraphicFramePr>
        <p:xfrm>
          <a:off x="516444" y="1710963"/>
          <a:ext cx="8100000" cy="3774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9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Performance</a:t>
                      </a:r>
                      <a:r>
                        <a:rPr lang="ko-KR" altLang="en-US" sz="1050" b="1" dirty="0"/>
                        <a:t> </a:t>
                      </a:r>
                      <a:r>
                        <a:rPr lang="en-US" altLang="ko-KR" sz="1050" b="1" dirty="0"/>
                        <a:t>evaluation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9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Performance</a:t>
                      </a:r>
                      <a:r>
                        <a:rPr lang="ko-KR" altLang="en-US" sz="1050" b="1" dirty="0"/>
                        <a:t> </a:t>
                      </a:r>
                      <a:r>
                        <a:rPr lang="en-US" altLang="ko-KR" sz="1050" b="1" dirty="0"/>
                        <a:t>evaluation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9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Performance</a:t>
                      </a:r>
                      <a:r>
                        <a:rPr lang="ko-KR" altLang="en-US" sz="1050" b="1" dirty="0"/>
                        <a:t> </a:t>
                      </a:r>
                      <a:r>
                        <a:rPr lang="en-US" altLang="ko-KR" sz="1050" b="1" dirty="0"/>
                        <a:t>evaluation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Monitoring measurement, analysis and evaluation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Monitoring measurement, analysis and evaluation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Monitoring, measurement, analysis and evaluation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satisfaction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satisfaction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Evaluation of compliance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Analysis and evaluation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Analysis and evaluation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Internal audit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Internal audit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Internal audit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Conduct internal audits at planned intervals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9.2.2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Plan, establish, implement and maintain audit program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/>
                        <a:t>Internal audit </a:t>
                      </a:r>
                      <a:r>
                        <a:rPr lang="en-US" altLang="ko-KR" sz="1050" dirty="0" err="1"/>
                        <a:t>programme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2890122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7558007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 inputs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 inputs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2945724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331972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473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27D49-47FC-41A1-8C86-2EFA1CDF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144AC2-7330-4ED5-B28E-ACBD269E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</a:t>
            </a:r>
            <a:r>
              <a:rPr lang="en-US" altLang="ko-KR" dirty="0"/>
              <a:t>(</a:t>
            </a:r>
            <a:r>
              <a:rPr lang="ko-KR" altLang="en-US" dirty="0"/>
              <a:t>항공우주</a:t>
            </a:r>
            <a:r>
              <a:rPr lang="en-US" altLang="ko-KR" dirty="0"/>
              <a:t>, </a:t>
            </a:r>
            <a:r>
              <a:rPr lang="ko-KR" altLang="en-US" dirty="0"/>
              <a:t>품질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)</a:t>
            </a:r>
            <a:r>
              <a:rPr lang="ko-KR" altLang="en-US" dirty="0"/>
              <a:t> 요구사항의 상호관계</a:t>
            </a:r>
            <a:endParaRPr lang="en-US" altLang="ko-KR" dirty="0"/>
          </a:p>
          <a:p>
            <a:pPr lvl="1"/>
            <a:r>
              <a:rPr lang="ko-KR" altLang="en-US" dirty="0"/>
              <a:t>개선</a:t>
            </a:r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55BFB551-5A7D-4D4B-AD68-A6649DC43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481791"/>
              </p:ext>
            </p:extLst>
          </p:nvPr>
        </p:nvGraphicFramePr>
        <p:xfrm>
          <a:off x="516444" y="1710963"/>
          <a:ext cx="8100000" cy="2525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000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20573172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171010990"/>
                    </a:ext>
                  </a:extLst>
                </a:gridCol>
              </a:tblGrid>
              <a:tr h="15222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AS 9100D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9001:2015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ISO 14001:2015</a:t>
                      </a:r>
                      <a:endParaRPr lang="ko-KR" altLang="en-US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1522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조항</a:t>
                      </a:r>
                      <a:endParaRPr lang="en-US" altLang="ko-KR" sz="12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10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Improvement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10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Improvement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10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Improvement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10.2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Nonconformity and corrective action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10.2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Nonconformity and corrective action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10.2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Nonconformity and corrective action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When a nonconformity occurs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Retain 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Continual improvement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Continual improvement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Continual improvement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11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Notes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11.1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Revision Indicator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102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A42E0-EB9A-4B97-92AD-6527A549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E49259-1141-4784-951A-00F75125E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9100D, ISO 9001:2015, ISO14001:2015 </a:t>
            </a:r>
            <a:r>
              <a:rPr lang="ko-KR" altLang="en-US" dirty="0"/>
              <a:t>통합 인증 방안</a:t>
            </a:r>
            <a:endParaRPr lang="en-US" altLang="ko-KR" dirty="0"/>
          </a:p>
          <a:p>
            <a:pPr lvl="1"/>
            <a:r>
              <a:rPr lang="en-US" altLang="ko-KR" dirty="0"/>
              <a:t>AS 9100D</a:t>
            </a:r>
            <a:r>
              <a:rPr lang="ko-KR" altLang="en-US" dirty="0"/>
              <a:t>와 </a:t>
            </a:r>
            <a:r>
              <a:rPr lang="en-US" altLang="ko-KR" dirty="0"/>
              <a:t>ISO 9001:2015</a:t>
            </a:r>
            <a:r>
              <a:rPr lang="ko-KR" altLang="en-US" dirty="0"/>
              <a:t>의 요구사항 연관성은 </a:t>
            </a:r>
            <a:r>
              <a:rPr lang="en-US" altLang="ko-KR" dirty="0"/>
              <a:t>80% </a:t>
            </a:r>
            <a:r>
              <a:rPr lang="ko-KR" altLang="en-US" dirty="0"/>
              <a:t>이상</a:t>
            </a:r>
            <a:endParaRPr lang="en-US" altLang="ko-KR" dirty="0"/>
          </a:p>
          <a:p>
            <a:pPr lvl="2"/>
            <a:r>
              <a:rPr lang="en-US" altLang="ko-KR" dirty="0"/>
              <a:t>Level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 수준의 요구사항에 대해서는 </a:t>
            </a:r>
            <a:r>
              <a:rPr lang="en-US" altLang="ko-KR" dirty="0"/>
              <a:t>100% </a:t>
            </a:r>
            <a:r>
              <a:rPr lang="ko-KR" altLang="en-US" dirty="0"/>
              <a:t>일치하므로</a:t>
            </a:r>
            <a:r>
              <a:rPr lang="en-US" altLang="ko-KR" dirty="0"/>
              <a:t>, </a:t>
            </a:r>
            <a:r>
              <a:rPr lang="ko-KR" altLang="en-US" dirty="0"/>
              <a:t>인증에 필요한 프로세스</a:t>
            </a:r>
            <a:r>
              <a:rPr lang="en-US" altLang="ko-KR" dirty="0"/>
              <a:t>, </a:t>
            </a:r>
            <a:r>
              <a:rPr lang="ko-KR" altLang="en-US" dirty="0"/>
              <a:t>절차서</a:t>
            </a:r>
            <a:r>
              <a:rPr lang="en-US" altLang="ko-KR" dirty="0"/>
              <a:t>, </a:t>
            </a:r>
            <a:r>
              <a:rPr lang="ko-KR" altLang="en-US" dirty="0"/>
              <a:t>지침서</a:t>
            </a:r>
            <a:r>
              <a:rPr lang="en-US" altLang="ko-KR" dirty="0"/>
              <a:t>, </a:t>
            </a:r>
            <a:r>
              <a:rPr lang="ko-KR" altLang="en-US" dirty="0"/>
              <a:t>기록물 등의 통합 가능</a:t>
            </a:r>
            <a:endParaRPr lang="en-US" altLang="ko-KR" dirty="0"/>
          </a:p>
          <a:p>
            <a:pPr lvl="1"/>
            <a:r>
              <a:rPr lang="en-US" altLang="ko-KR" dirty="0"/>
              <a:t>ISO 14001:2015 </a:t>
            </a:r>
            <a:r>
              <a:rPr lang="ko-KR" altLang="en-US" dirty="0"/>
              <a:t>통합 방안</a:t>
            </a:r>
            <a:endParaRPr lang="en-US" altLang="ko-KR" dirty="0"/>
          </a:p>
          <a:p>
            <a:pPr lvl="2"/>
            <a:r>
              <a:rPr lang="ko-KR" altLang="en-US" dirty="0"/>
              <a:t>제조품목에 대한 요구사항 연관성이 매우 떨어지나</a:t>
            </a:r>
            <a:r>
              <a:rPr lang="en-US" altLang="ko-KR" dirty="0"/>
              <a:t>, Level 1 </a:t>
            </a:r>
            <a:r>
              <a:rPr lang="ko-KR" altLang="en-US" dirty="0"/>
              <a:t>수준의 요구사항은 동일하므로 프로세스의 통합 가능</a:t>
            </a:r>
            <a:endParaRPr lang="en-US" altLang="ko-KR" dirty="0"/>
          </a:p>
          <a:p>
            <a:pPr lvl="2"/>
            <a:r>
              <a:rPr lang="en-US" altLang="ko-KR" dirty="0"/>
              <a:t>AS 9100D + ISO 9001:2015 </a:t>
            </a:r>
            <a:r>
              <a:rPr lang="ko-KR" altLang="en-US" dirty="0"/>
              <a:t>인증을 위한 통합 버전에 환경경영과 관련된 절차서</a:t>
            </a:r>
            <a:r>
              <a:rPr lang="en-US" altLang="ko-KR" dirty="0"/>
              <a:t>, </a:t>
            </a:r>
            <a:r>
              <a:rPr lang="ko-KR" altLang="en-US" dirty="0"/>
              <a:t>지침서</a:t>
            </a:r>
            <a:r>
              <a:rPr lang="en-US" altLang="ko-KR" dirty="0"/>
              <a:t>, </a:t>
            </a:r>
            <a:r>
              <a:rPr lang="ko-KR" altLang="en-US" dirty="0"/>
              <a:t>기록물들을 통합하는 방향으로 통합 인증 진행</a:t>
            </a:r>
            <a:endParaRPr lang="en-US" altLang="ko-KR" dirty="0"/>
          </a:p>
          <a:p>
            <a:pPr lvl="1"/>
            <a:r>
              <a:rPr lang="ko-KR" altLang="en-US" dirty="0"/>
              <a:t>절차서 및 지침서</a:t>
            </a:r>
            <a:r>
              <a:rPr lang="en-US" altLang="ko-KR" dirty="0"/>
              <a:t>: 48</a:t>
            </a:r>
            <a:r>
              <a:rPr lang="ko-KR" altLang="en-US" dirty="0"/>
              <a:t>종</a:t>
            </a:r>
            <a:r>
              <a:rPr lang="en-US" altLang="ko-KR" dirty="0"/>
              <a:t>, </a:t>
            </a:r>
            <a:r>
              <a:rPr lang="ko-KR" altLang="en-US" dirty="0"/>
              <a:t>기록물</a:t>
            </a:r>
            <a:r>
              <a:rPr lang="en-US" altLang="ko-KR" dirty="0"/>
              <a:t>: 133</a:t>
            </a:r>
            <a:r>
              <a:rPr lang="ko-KR" altLang="en-US" dirty="0"/>
              <a:t>종 </a:t>
            </a:r>
            <a:r>
              <a:rPr lang="en-US" altLang="ko-KR" dirty="0"/>
              <a:t>(2020-10-23 </a:t>
            </a:r>
            <a:r>
              <a:rPr lang="ko-KR" altLang="en-US" dirty="0"/>
              <a:t>기준</a:t>
            </a:r>
            <a:r>
              <a:rPr lang="en-US" altLang="ko-KR"/>
              <a:t>),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용어정의</a:t>
            </a:r>
            <a:endParaRPr lang="en-US" altLang="ko-KR" dirty="0"/>
          </a:p>
          <a:p>
            <a:pPr lvl="1"/>
            <a:r>
              <a:rPr lang="en-US" altLang="ko-KR" dirty="0"/>
              <a:t>QEP: Quality &amp; Environmental Procedure</a:t>
            </a:r>
          </a:p>
          <a:p>
            <a:pPr lvl="1"/>
            <a:r>
              <a:rPr lang="en-US" altLang="ko-KR" dirty="0"/>
              <a:t>QEI: Quality &amp; Environmental Instruction</a:t>
            </a:r>
          </a:p>
          <a:p>
            <a:pPr lvl="1"/>
            <a:r>
              <a:rPr lang="en-US" altLang="ko-KR" dirty="0"/>
              <a:t>QP: Quality Procedure</a:t>
            </a:r>
          </a:p>
          <a:p>
            <a:pPr lvl="1"/>
            <a:r>
              <a:rPr lang="en-US" altLang="ko-KR" dirty="0"/>
              <a:t>QI: Quality Instruction</a:t>
            </a:r>
          </a:p>
          <a:p>
            <a:pPr lvl="1"/>
            <a:r>
              <a:rPr lang="en-US" altLang="ko-KR" dirty="0"/>
              <a:t>EP: Environmental Procedure</a:t>
            </a:r>
          </a:p>
          <a:p>
            <a:pPr lvl="1"/>
            <a:r>
              <a:rPr lang="en-US" altLang="ko-KR" dirty="0"/>
              <a:t>EI: Environmental Instruction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524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F652FF-3C3E-49DB-88DE-474ACF555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경영시스템 인증 절차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DE9154-0D4E-42DB-AB0C-C028E589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97D65E-EAB2-448F-BB83-3FF16FC259C7}"/>
              </a:ext>
            </a:extLst>
          </p:cNvPr>
          <p:cNvSpPr/>
          <p:nvPr/>
        </p:nvSpPr>
        <p:spPr bwMode="auto">
          <a:xfrm>
            <a:off x="881148" y="1512569"/>
            <a:ext cx="2958299" cy="4339245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사내 활동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4AD910-9274-4B84-8AC9-DF163B386813}"/>
              </a:ext>
            </a:extLst>
          </p:cNvPr>
          <p:cNvSpPr/>
          <p:nvPr/>
        </p:nvSpPr>
        <p:spPr bwMode="auto">
          <a:xfrm>
            <a:off x="1093119" y="1897727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인증 추진 계획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507C75-F979-45B5-AD64-A0F50D04651B}"/>
              </a:ext>
            </a:extLst>
          </p:cNvPr>
          <p:cNvSpPr/>
          <p:nvPr/>
        </p:nvSpPr>
        <p:spPr bwMode="auto">
          <a:xfrm>
            <a:off x="1093119" y="2327024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추진 조직 구성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35EAAD-A6CE-41A1-A0CC-109E030BA6A4}"/>
              </a:ext>
            </a:extLst>
          </p:cNvPr>
          <p:cNvSpPr/>
          <p:nvPr/>
        </p:nvSpPr>
        <p:spPr bwMode="auto">
          <a:xfrm>
            <a:off x="1093118" y="2756321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표준화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052AD6-D32A-4965-BD4A-CD0761A87B44}"/>
              </a:ext>
            </a:extLst>
          </p:cNvPr>
          <p:cNvSpPr/>
          <p:nvPr/>
        </p:nvSpPr>
        <p:spPr bwMode="auto">
          <a:xfrm>
            <a:off x="1093118" y="3185618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시스템 운영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3BE7F2-9A5F-4441-B4DE-74D099BE970E}"/>
              </a:ext>
            </a:extLst>
          </p:cNvPr>
          <p:cNvSpPr/>
          <p:nvPr/>
        </p:nvSpPr>
        <p:spPr bwMode="auto">
          <a:xfrm>
            <a:off x="1093117" y="3614915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내부심사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34F135-104F-4918-9A6D-2B4BC3FB0085}"/>
              </a:ext>
            </a:extLst>
          </p:cNvPr>
          <p:cNvSpPr/>
          <p:nvPr/>
        </p:nvSpPr>
        <p:spPr bwMode="auto">
          <a:xfrm>
            <a:off x="1093116" y="4044212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시정조치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6F01DC-62A2-4708-937C-0DB5B8FBB964}"/>
              </a:ext>
            </a:extLst>
          </p:cNvPr>
          <p:cNvSpPr/>
          <p:nvPr/>
        </p:nvSpPr>
        <p:spPr bwMode="auto">
          <a:xfrm>
            <a:off x="1093116" y="4473509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경영검토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F0697E-B2AD-4580-A299-ED856ACFE3CD}"/>
              </a:ext>
            </a:extLst>
          </p:cNvPr>
          <p:cNvSpPr/>
          <p:nvPr/>
        </p:nvSpPr>
        <p:spPr bwMode="auto">
          <a:xfrm>
            <a:off x="1093116" y="4902806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인증기관 선정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235BF6-DF60-4BC1-9A5A-A72F8496702A}"/>
              </a:ext>
            </a:extLst>
          </p:cNvPr>
          <p:cNvSpPr/>
          <p:nvPr/>
        </p:nvSpPr>
        <p:spPr bwMode="auto">
          <a:xfrm>
            <a:off x="1093116" y="5332100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인증 신청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C158F8-926A-4F12-97D8-DE20E2E83B7F}"/>
              </a:ext>
            </a:extLst>
          </p:cNvPr>
          <p:cNvSpPr/>
          <p:nvPr/>
        </p:nvSpPr>
        <p:spPr bwMode="auto">
          <a:xfrm>
            <a:off x="4499955" y="1512569"/>
            <a:ext cx="3661065" cy="4339245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인증 기관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2F064B8-EB03-471C-83C5-64974E78F959}"/>
              </a:ext>
            </a:extLst>
          </p:cNvPr>
          <p:cNvSpPr/>
          <p:nvPr/>
        </p:nvSpPr>
        <p:spPr bwMode="auto">
          <a:xfrm>
            <a:off x="4711926" y="1897727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서류 검토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45F1291-3759-4B79-A6D9-C597DF0A0D0D}"/>
              </a:ext>
            </a:extLst>
          </p:cNvPr>
          <p:cNvSpPr/>
          <p:nvPr/>
        </p:nvSpPr>
        <p:spPr bwMode="auto">
          <a:xfrm>
            <a:off x="4711926" y="2327024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심사 일정 조정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2AA4DE7-259B-4040-AB68-3BA060E43EC6}"/>
              </a:ext>
            </a:extLst>
          </p:cNvPr>
          <p:cNvSpPr/>
          <p:nvPr/>
        </p:nvSpPr>
        <p:spPr bwMode="auto">
          <a:xfrm>
            <a:off x="4711925" y="2756321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예비방문 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(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필요시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)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C3A63F6-0B4A-4B65-BE2D-25C37ACBA482}"/>
              </a:ext>
            </a:extLst>
          </p:cNvPr>
          <p:cNvSpPr/>
          <p:nvPr/>
        </p:nvSpPr>
        <p:spPr bwMode="auto">
          <a:xfrm>
            <a:off x="4711923" y="4473509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인증 결정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C25F6D-EE98-4FCE-A146-7C5A5590A3B8}"/>
              </a:ext>
            </a:extLst>
          </p:cNvPr>
          <p:cNvSpPr/>
          <p:nvPr/>
        </p:nvSpPr>
        <p:spPr bwMode="auto">
          <a:xfrm>
            <a:off x="4711923" y="4902806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사후관리 심사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911F91-223D-49FB-83BE-23C34842E84C}"/>
              </a:ext>
            </a:extLst>
          </p:cNvPr>
          <p:cNvSpPr/>
          <p:nvPr/>
        </p:nvSpPr>
        <p:spPr bwMode="auto">
          <a:xfrm>
            <a:off x="4711923" y="5332100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갱신 심사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00391C6F-FC44-4570-99FA-609AFF908966}"/>
              </a:ext>
            </a:extLst>
          </p:cNvPr>
          <p:cNvSpPr/>
          <p:nvPr/>
        </p:nvSpPr>
        <p:spPr bwMode="auto">
          <a:xfrm>
            <a:off x="4711923" y="3260335"/>
            <a:ext cx="1313411" cy="349328"/>
          </a:xfrm>
          <a:prstGeom prst="flowChartDecision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 dirty="0">
                <a:latin typeface="+mn-ea"/>
                <a:ea typeface="+mn-ea"/>
              </a:rPr>
              <a:t>문서 심사</a:t>
            </a:r>
          </a:p>
        </p:txBody>
      </p:sp>
      <p:sp>
        <p:nvSpPr>
          <p:cNvPr id="47" name="순서도: 판단 46">
            <a:extLst>
              <a:ext uri="{FF2B5EF4-FFF2-40B4-BE49-F238E27FC236}">
                <a16:creationId xmlns:a16="http://schemas.microsoft.com/office/drawing/2014/main" id="{1F38DBCA-4550-47B0-8AEB-AD7FCB0A155D}"/>
              </a:ext>
            </a:extLst>
          </p:cNvPr>
          <p:cNvSpPr/>
          <p:nvPr/>
        </p:nvSpPr>
        <p:spPr bwMode="auto">
          <a:xfrm>
            <a:off x="4711922" y="3875674"/>
            <a:ext cx="1313411" cy="349328"/>
          </a:xfrm>
          <a:prstGeom prst="flowChartDecision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ko-KR" altLang="en-US" sz="1000">
                <a:latin typeface="+mn-ea"/>
                <a:ea typeface="+mn-ea"/>
              </a:rPr>
              <a:t>현장 심사</a:t>
            </a:r>
            <a:endParaRPr lang="ko-KR" altLang="en-US" sz="1000" dirty="0">
              <a:latin typeface="+mn-ea"/>
              <a:ea typeface="+mn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5D5057B-3772-4EC0-A60C-F5C67F055B04}"/>
              </a:ext>
            </a:extLst>
          </p:cNvPr>
          <p:cNvCxnSpPr>
            <a:stCxn id="6" idx="2"/>
            <a:endCxn id="8" idx="0"/>
          </p:cNvCxnSpPr>
          <p:nvPr/>
        </p:nvCxnSpPr>
        <p:spPr bwMode="auto">
          <a:xfrm>
            <a:off x="1749825" y="2147109"/>
            <a:ext cx="0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D976808-881D-48D1-861B-D1F218795DCC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 bwMode="auto">
          <a:xfrm flipH="1">
            <a:off x="1749824" y="2576406"/>
            <a:ext cx="1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3B13DD6-8F87-406B-A7FB-303ADA468401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 bwMode="auto">
          <a:xfrm>
            <a:off x="1749824" y="3005703"/>
            <a:ext cx="0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3D072B3-6F34-41A9-8911-C6B12677B88B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 bwMode="auto">
          <a:xfrm flipH="1">
            <a:off x="1749823" y="3435000"/>
            <a:ext cx="1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B9A21224-1EBB-4995-9DBA-8FC07619FB27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 bwMode="auto">
          <a:xfrm flipH="1">
            <a:off x="1749822" y="3864297"/>
            <a:ext cx="1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56E6065-0A08-42A2-A6EB-5A89DCC90031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 bwMode="auto">
          <a:xfrm>
            <a:off x="1749822" y="4293594"/>
            <a:ext cx="0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EC81195-1B70-43D6-BA72-2C70C9AD938F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 bwMode="auto">
          <a:xfrm>
            <a:off x="1749822" y="4722891"/>
            <a:ext cx="0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761704B8-2E98-4BD9-88D3-FBF847559E1E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 bwMode="auto">
          <a:xfrm>
            <a:off x="1749822" y="5152188"/>
            <a:ext cx="0" cy="179912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E33D7B05-3038-4C47-838A-1A945858C1D3}"/>
              </a:ext>
            </a:extLst>
          </p:cNvPr>
          <p:cNvCxnSpPr>
            <a:cxnSpLocks/>
            <a:stCxn id="22" idx="2"/>
            <a:endCxn id="26" idx="1"/>
          </p:cNvCxnSpPr>
          <p:nvPr/>
        </p:nvCxnSpPr>
        <p:spPr bwMode="auto">
          <a:xfrm rot="5400000" flipH="1" flipV="1">
            <a:off x="1451342" y="2320898"/>
            <a:ext cx="3559064" cy="2962104"/>
          </a:xfrm>
          <a:prstGeom prst="bentConnector4">
            <a:avLst>
              <a:gd name="adj1" fmla="val -3854"/>
              <a:gd name="adj2" fmla="val 82133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0B8790F-490E-4AE5-94C8-E07224D28A68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 bwMode="auto">
          <a:xfrm>
            <a:off x="5368632" y="2147109"/>
            <a:ext cx="0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18B71E0D-65C8-493F-955A-4BCEF257455F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 bwMode="auto">
          <a:xfrm flipH="1">
            <a:off x="5368631" y="2576406"/>
            <a:ext cx="1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21ECEBDF-16B9-41BE-8487-D2A76D9E9F1B}"/>
              </a:ext>
            </a:extLst>
          </p:cNvPr>
          <p:cNvCxnSpPr>
            <a:cxnSpLocks/>
            <a:stCxn id="30" idx="2"/>
            <a:endCxn id="43" idx="0"/>
          </p:cNvCxnSpPr>
          <p:nvPr/>
        </p:nvCxnSpPr>
        <p:spPr bwMode="auto">
          <a:xfrm flipH="1">
            <a:off x="5368629" y="3005703"/>
            <a:ext cx="2" cy="254632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C0DDFB52-71B0-4B88-AACB-ADEAEDC50AF4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 bwMode="auto">
          <a:xfrm flipH="1">
            <a:off x="5368628" y="3609663"/>
            <a:ext cx="1" cy="266011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CC02EF14-E70D-43B6-BFDC-C9BD0496A7AA}"/>
              </a:ext>
            </a:extLst>
          </p:cNvPr>
          <p:cNvCxnSpPr>
            <a:cxnSpLocks/>
            <a:stCxn id="47" idx="2"/>
            <a:endCxn id="38" idx="0"/>
          </p:cNvCxnSpPr>
          <p:nvPr/>
        </p:nvCxnSpPr>
        <p:spPr bwMode="auto">
          <a:xfrm>
            <a:off x="5368628" y="4225002"/>
            <a:ext cx="1" cy="248507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CFDE3D25-6B31-4F72-A341-00CB233695BC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 bwMode="auto">
          <a:xfrm>
            <a:off x="5368629" y="4722891"/>
            <a:ext cx="0" cy="179915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7634F078-4D27-4B9E-932E-91F36A59332A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 bwMode="auto">
          <a:xfrm>
            <a:off x="5368629" y="5152188"/>
            <a:ext cx="0" cy="179912"/>
          </a:xfrm>
          <a:prstGeom prst="straightConnector1">
            <a:avLst/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88922F9-6B76-46EE-AAE6-B840C6795C09}"/>
              </a:ext>
            </a:extLst>
          </p:cNvPr>
          <p:cNvSpPr txBox="1"/>
          <p:nvPr/>
        </p:nvSpPr>
        <p:spPr>
          <a:xfrm>
            <a:off x="2348333" y="4815233"/>
            <a:ext cx="14911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ㆍ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</a:rPr>
              <a:t>AS: SAI Global</a:t>
            </a:r>
          </a:p>
          <a:p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ㆍ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</a:rPr>
              <a:t>ISO: </a:t>
            </a:r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큐에이코리아</a:t>
            </a:r>
            <a:endParaRPr lang="ko-KR" altLang="en-US" sz="11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C2378AC-0F79-457F-B1D6-C13D9D98EE1F}"/>
              </a:ext>
            </a:extLst>
          </p:cNvPr>
          <p:cNvSpPr txBox="1"/>
          <p:nvPr/>
        </p:nvSpPr>
        <p:spPr>
          <a:xfrm>
            <a:off x="2348333" y="2318606"/>
            <a:ext cx="1069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ㆍ품질보증팀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3F0797-A093-4565-81C5-3075094E66D5}"/>
              </a:ext>
            </a:extLst>
          </p:cNvPr>
          <p:cNvSpPr txBox="1"/>
          <p:nvPr/>
        </p:nvSpPr>
        <p:spPr>
          <a:xfrm>
            <a:off x="2348333" y="2745599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err="1">
                <a:latin typeface="Arial" panose="020B0604020202020204" pitchFamily="34" charset="0"/>
                <a:ea typeface="맑은 고딕" panose="020B0503020000020004" pitchFamily="50" charset="-127"/>
              </a:rPr>
              <a:t>ㆍ자료</a:t>
            </a:r>
            <a:r>
              <a:rPr lang="ko-KR" altLang="en-US" sz="1100" dirty="0">
                <a:latin typeface="Arial" panose="020B0604020202020204" pitchFamily="34" charset="0"/>
                <a:ea typeface="맑은 고딕" panose="020B0503020000020004" pitchFamily="50" charset="-127"/>
              </a:rPr>
              <a:t> 참조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D3AA409-824A-4556-9DA6-D98E5049FC73}"/>
              </a:ext>
            </a:extLst>
          </p:cNvPr>
          <p:cNvSpPr txBox="1"/>
          <p:nvPr/>
        </p:nvSpPr>
        <p:spPr>
          <a:xfrm>
            <a:off x="2348333" y="446897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ㆍ경영지원실</a:t>
            </a:r>
            <a:endParaRPr lang="en-US" altLang="ko-KR" sz="11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42903F2-5B9C-4CA5-8239-BA740F17B4A0}"/>
              </a:ext>
            </a:extLst>
          </p:cNvPr>
          <p:cNvSpPr txBox="1"/>
          <p:nvPr/>
        </p:nvSpPr>
        <p:spPr>
          <a:xfrm>
            <a:off x="2348812" y="4044071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Arial" panose="020B0604020202020204" pitchFamily="34" charset="0"/>
                <a:ea typeface="맑은 고딕" panose="020B0503020000020004" pitchFamily="50" charset="-127"/>
              </a:rPr>
              <a:t>ㆍ담당부서</a:t>
            </a:r>
            <a:endParaRPr lang="en-US" altLang="ko-KR" sz="11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4FD9EC0-B5DC-4C69-B980-06BBD6B960C3}"/>
              </a:ext>
            </a:extLst>
          </p:cNvPr>
          <p:cNvSpPr txBox="1"/>
          <p:nvPr/>
        </p:nvSpPr>
        <p:spPr>
          <a:xfrm>
            <a:off x="2350317" y="3606532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Arial" panose="020B0604020202020204" pitchFamily="34" charset="0"/>
                <a:ea typeface="맑은 고딕" panose="020B0503020000020004" pitchFamily="50" charset="-127"/>
              </a:rPr>
              <a:t>ㆍ품질보증팀</a:t>
            </a:r>
            <a:endParaRPr lang="en-US" altLang="ko-KR" sz="11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F2AE85E-C088-4E2D-87EB-BF44265FA7EE}"/>
              </a:ext>
            </a:extLst>
          </p:cNvPr>
          <p:cNvSpPr txBox="1"/>
          <p:nvPr/>
        </p:nvSpPr>
        <p:spPr>
          <a:xfrm>
            <a:off x="6034674" y="1800483"/>
            <a:ext cx="17876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ㆍ필요</a:t>
            </a:r>
            <a:r>
              <a:rPr lang="ko-KR" altLang="en-US" sz="1100" dirty="0">
                <a:latin typeface="Arial" panose="020B0604020202020204" pitchFamily="34" charset="0"/>
                <a:ea typeface="맑은 고딕" panose="020B0503020000020004" pitchFamily="50" charset="-127"/>
              </a:rPr>
              <a:t> 시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100" dirty="0">
                <a:latin typeface="Arial" panose="020B0604020202020204" pitchFamily="34" charset="0"/>
                <a:ea typeface="맑은 고딕" panose="020B0503020000020004" pitchFamily="50" charset="-127"/>
              </a:rPr>
              <a:t> 추가 자료 요청</a:t>
            </a:r>
            <a:endParaRPr lang="en-US" altLang="ko-KR" sz="1100" dirty="0">
              <a:latin typeface="Arial" panose="020B0604020202020204" pitchFamily="34" charset="0"/>
              <a:ea typeface="맑은 고딕" panose="020B0503020000020004" pitchFamily="50" charset="-127"/>
            </a:endParaRPr>
          </a:p>
          <a:p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ㆍ부적격</a:t>
            </a:r>
            <a:r>
              <a:rPr lang="ko-KR" altLang="en-US" sz="1100" dirty="0">
                <a:latin typeface="Arial" panose="020B0604020202020204" pitchFamily="34" charset="0"/>
                <a:ea typeface="맑은 고딕" panose="020B0503020000020004" pitchFamily="50" charset="-127"/>
              </a:rPr>
              <a:t> 시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100" dirty="0">
                <a:latin typeface="Arial" panose="020B0604020202020204" pitchFamily="34" charset="0"/>
                <a:ea typeface="맑은 고딕" panose="020B0503020000020004" pitchFamily="50" charset="-127"/>
              </a:rPr>
              <a:t> 신청 기각</a:t>
            </a:r>
          </a:p>
        </p:txBody>
      </p:sp>
      <p:cxnSp>
        <p:nvCxnSpPr>
          <p:cNvPr id="113" name="직선 화살표 연결선 70">
            <a:extLst>
              <a:ext uri="{FF2B5EF4-FFF2-40B4-BE49-F238E27FC236}">
                <a16:creationId xmlns:a16="http://schemas.microsoft.com/office/drawing/2014/main" id="{1317586B-726C-4188-9C87-462F09B4DC58}"/>
              </a:ext>
            </a:extLst>
          </p:cNvPr>
          <p:cNvCxnSpPr>
            <a:cxnSpLocks/>
            <a:stCxn id="28" idx="3"/>
            <a:endCxn id="117" idx="1"/>
          </p:cNvCxnSpPr>
          <p:nvPr/>
        </p:nvCxnSpPr>
        <p:spPr bwMode="auto">
          <a:xfrm flipV="1">
            <a:off x="6025337" y="2447953"/>
            <a:ext cx="551061" cy="0"/>
          </a:xfrm>
          <a:prstGeom prst="bentConnector3">
            <a:avLst>
              <a:gd name="adj1" fmla="val 50000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5B51BFC-52DA-4088-9214-CE57A0F10A6B}"/>
              </a:ext>
            </a:extLst>
          </p:cNvPr>
          <p:cNvSpPr/>
          <p:nvPr/>
        </p:nvSpPr>
        <p:spPr bwMode="auto">
          <a:xfrm>
            <a:off x="6576398" y="2323262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심사팀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 구성</a:t>
            </a:r>
          </a:p>
        </p:txBody>
      </p:sp>
      <p:cxnSp>
        <p:nvCxnSpPr>
          <p:cNvPr id="119" name="직선 화살표 연결선 70">
            <a:extLst>
              <a:ext uri="{FF2B5EF4-FFF2-40B4-BE49-F238E27FC236}">
                <a16:creationId xmlns:a16="http://schemas.microsoft.com/office/drawing/2014/main" id="{C5041B57-1D6C-4DE4-89A7-99500AE75D65}"/>
              </a:ext>
            </a:extLst>
          </p:cNvPr>
          <p:cNvCxnSpPr>
            <a:cxnSpLocks/>
            <a:endCxn id="123" idx="1"/>
          </p:cNvCxnSpPr>
          <p:nvPr/>
        </p:nvCxnSpPr>
        <p:spPr bwMode="auto">
          <a:xfrm flipV="1">
            <a:off x="6025333" y="3440447"/>
            <a:ext cx="551065" cy="0"/>
          </a:xfrm>
          <a:prstGeom prst="bentConnector3">
            <a:avLst>
              <a:gd name="adj1" fmla="val 50000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96F45B88-EE5D-4FD5-94E7-80A5AFDC3BA1}"/>
              </a:ext>
            </a:extLst>
          </p:cNvPr>
          <p:cNvSpPr/>
          <p:nvPr/>
        </p:nvSpPr>
        <p:spPr bwMode="auto">
          <a:xfrm>
            <a:off x="6576398" y="3315756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시정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49915AD-B7B7-4B70-9CF2-6DFD44D1D5E6}"/>
              </a:ext>
            </a:extLst>
          </p:cNvPr>
          <p:cNvSpPr txBox="1"/>
          <p:nvPr/>
        </p:nvSpPr>
        <p:spPr>
          <a:xfrm>
            <a:off x="5961452" y="3197870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ea typeface="맑은 고딕" panose="020B0503020000020004" pitchFamily="50" charset="-127"/>
              </a:rPr>
              <a:t>No</a:t>
            </a:r>
            <a:endParaRPr lang="ko-KR" altLang="en-US" sz="10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6E74F15-DBE8-4A73-870D-712044BC59B9}"/>
              </a:ext>
            </a:extLst>
          </p:cNvPr>
          <p:cNvSpPr txBox="1"/>
          <p:nvPr/>
        </p:nvSpPr>
        <p:spPr>
          <a:xfrm>
            <a:off x="5017104" y="3577868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ea typeface="맑은 고딕" panose="020B0503020000020004" pitchFamily="50" charset="-127"/>
              </a:rPr>
              <a:t>Yes</a:t>
            </a:r>
            <a:endParaRPr lang="ko-KR" altLang="en-US" sz="10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8" name="직선 화살표 연결선 70">
            <a:extLst>
              <a:ext uri="{FF2B5EF4-FFF2-40B4-BE49-F238E27FC236}">
                <a16:creationId xmlns:a16="http://schemas.microsoft.com/office/drawing/2014/main" id="{D182BD26-F102-4E13-B474-127E8B849E63}"/>
              </a:ext>
            </a:extLst>
          </p:cNvPr>
          <p:cNvCxnSpPr>
            <a:cxnSpLocks/>
            <a:endCxn id="129" idx="1"/>
          </p:cNvCxnSpPr>
          <p:nvPr/>
        </p:nvCxnSpPr>
        <p:spPr bwMode="auto">
          <a:xfrm flipV="1">
            <a:off x="6025333" y="4054292"/>
            <a:ext cx="551065" cy="0"/>
          </a:xfrm>
          <a:prstGeom prst="bentConnector3">
            <a:avLst>
              <a:gd name="adj1" fmla="val 50000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5594330B-29FC-47BC-9298-FE67950645DC}"/>
              </a:ext>
            </a:extLst>
          </p:cNvPr>
          <p:cNvSpPr/>
          <p:nvPr/>
        </p:nvSpPr>
        <p:spPr bwMode="auto">
          <a:xfrm>
            <a:off x="6576398" y="3929601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시정조치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801D3FE-F485-4B83-B241-2234AD83904D}"/>
              </a:ext>
            </a:extLst>
          </p:cNvPr>
          <p:cNvSpPr txBox="1"/>
          <p:nvPr/>
        </p:nvSpPr>
        <p:spPr>
          <a:xfrm>
            <a:off x="5961452" y="3815234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ea typeface="맑은 고딕" panose="020B0503020000020004" pitchFamily="50" charset="-127"/>
              </a:rPr>
              <a:t>No</a:t>
            </a:r>
            <a:endParaRPr lang="ko-KR" altLang="en-US" sz="10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FD9B722-E95D-4B93-B951-C6389BCDDD6D}"/>
              </a:ext>
            </a:extLst>
          </p:cNvPr>
          <p:cNvSpPr txBox="1"/>
          <p:nvPr/>
        </p:nvSpPr>
        <p:spPr>
          <a:xfrm>
            <a:off x="5017104" y="4195232"/>
            <a:ext cx="4042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ea typeface="맑은 고딕" panose="020B0503020000020004" pitchFamily="50" charset="-127"/>
              </a:rPr>
              <a:t>Yes</a:t>
            </a:r>
            <a:endParaRPr lang="ko-KR" altLang="en-US" sz="10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AC8481A-39FA-4DBA-A58A-5EA86B713AC1}"/>
              </a:ext>
            </a:extLst>
          </p:cNvPr>
          <p:cNvSpPr/>
          <p:nvPr/>
        </p:nvSpPr>
        <p:spPr bwMode="auto">
          <a:xfrm>
            <a:off x="6576398" y="4468970"/>
            <a:ext cx="1313411" cy="249382"/>
          </a:xfrm>
          <a:prstGeom prst="rect">
            <a:avLst/>
          </a:prstGeom>
          <a:noFill/>
          <a:ln w="12700" cap="flat" cmpd="sng" algn="ctr">
            <a:solidFill>
              <a:srgbClr val="000338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업체 등록</a:t>
            </a:r>
          </a:p>
        </p:txBody>
      </p:sp>
      <p:cxnSp>
        <p:nvCxnSpPr>
          <p:cNvPr id="143" name="직선 화살표 연결선 70">
            <a:extLst>
              <a:ext uri="{FF2B5EF4-FFF2-40B4-BE49-F238E27FC236}">
                <a16:creationId xmlns:a16="http://schemas.microsoft.com/office/drawing/2014/main" id="{7DB91E22-1F22-46CD-A295-7FF2183FD33B}"/>
              </a:ext>
            </a:extLst>
          </p:cNvPr>
          <p:cNvCxnSpPr>
            <a:cxnSpLocks/>
            <a:stCxn id="38" idx="3"/>
            <a:endCxn id="137" idx="1"/>
          </p:cNvCxnSpPr>
          <p:nvPr/>
        </p:nvCxnSpPr>
        <p:spPr bwMode="auto">
          <a:xfrm flipV="1">
            <a:off x="6025334" y="4593661"/>
            <a:ext cx="551064" cy="0"/>
          </a:xfrm>
          <a:prstGeom prst="bentConnector3">
            <a:avLst>
              <a:gd name="adj1" fmla="val 50000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7BE4EAF1-943B-4582-AC4F-78C4F5AC7877}"/>
              </a:ext>
            </a:extLst>
          </p:cNvPr>
          <p:cNvSpPr txBox="1"/>
          <p:nvPr/>
        </p:nvSpPr>
        <p:spPr>
          <a:xfrm>
            <a:off x="6038137" y="4892295"/>
            <a:ext cx="8659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ㆍ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latin typeface="Arial" panose="020B0604020202020204" pitchFamily="34" charset="0"/>
                <a:ea typeface="맑은 고딕" panose="020B0503020000020004" pitchFamily="50" charset="-127"/>
              </a:rPr>
              <a:t>년 이내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E3C4F1F-0EB8-4B17-B858-6F6F59989A1B}"/>
              </a:ext>
            </a:extLst>
          </p:cNvPr>
          <p:cNvSpPr txBox="1"/>
          <p:nvPr/>
        </p:nvSpPr>
        <p:spPr>
          <a:xfrm>
            <a:off x="6032085" y="5323958"/>
            <a:ext cx="8659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latin typeface="Arial" panose="020B0604020202020204" pitchFamily="34" charset="0"/>
                <a:ea typeface="맑은 고딕" panose="020B0503020000020004" pitchFamily="50" charset="-127"/>
              </a:rPr>
              <a:t>ㆍ</a:t>
            </a:r>
            <a:r>
              <a:rPr lang="en-US" altLang="ko-KR" sz="1100" dirty="0">
                <a:latin typeface="Arial" panose="020B0604020202020204" pitchFamily="34" charset="0"/>
                <a:ea typeface="맑은 고딕" panose="020B0503020000020004" pitchFamily="50" charset="-127"/>
              </a:rPr>
              <a:t>3</a:t>
            </a:r>
            <a:r>
              <a:rPr lang="ko-KR" altLang="en-US" sz="1100" dirty="0">
                <a:latin typeface="Arial" panose="020B0604020202020204" pitchFamily="34" charset="0"/>
                <a:ea typeface="맑은 고딕" panose="020B0503020000020004" pitchFamily="50" charset="-127"/>
              </a:rPr>
              <a:t>년 이내</a:t>
            </a:r>
          </a:p>
        </p:txBody>
      </p:sp>
      <p:cxnSp>
        <p:nvCxnSpPr>
          <p:cNvPr id="153" name="직선 화살표 연결선 70">
            <a:extLst>
              <a:ext uri="{FF2B5EF4-FFF2-40B4-BE49-F238E27FC236}">
                <a16:creationId xmlns:a16="http://schemas.microsoft.com/office/drawing/2014/main" id="{3375EBE1-AB70-4070-BA1B-EC51B7373D6A}"/>
              </a:ext>
            </a:extLst>
          </p:cNvPr>
          <p:cNvCxnSpPr>
            <a:cxnSpLocks/>
            <a:stCxn id="42" idx="2"/>
            <a:endCxn id="14" idx="1"/>
          </p:cNvCxnSpPr>
          <p:nvPr/>
        </p:nvCxnSpPr>
        <p:spPr bwMode="auto">
          <a:xfrm rot="5400000" flipH="1">
            <a:off x="2309935" y="2522788"/>
            <a:ext cx="1841876" cy="4275512"/>
          </a:xfrm>
          <a:prstGeom prst="bentConnector4">
            <a:avLst>
              <a:gd name="adj1" fmla="val -21889"/>
              <a:gd name="adj2" fmla="val 107680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직선 화살표 연결선 70">
            <a:extLst>
              <a:ext uri="{FF2B5EF4-FFF2-40B4-BE49-F238E27FC236}">
                <a16:creationId xmlns:a16="http://schemas.microsoft.com/office/drawing/2014/main" id="{131AD84C-E087-44F2-8CBD-187750484EBE}"/>
              </a:ext>
            </a:extLst>
          </p:cNvPr>
          <p:cNvCxnSpPr>
            <a:cxnSpLocks/>
            <a:stCxn id="123" idx="3"/>
            <a:endCxn id="10" idx="1"/>
          </p:cNvCxnSpPr>
          <p:nvPr/>
        </p:nvCxnSpPr>
        <p:spPr bwMode="auto">
          <a:xfrm flipH="1" flipV="1">
            <a:off x="1093118" y="2881012"/>
            <a:ext cx="6796691" cy="559435"/>
          </a:xfrm>
          <a:prstGeom prst="bentConnector5">
            <a:avLst>
              <a:gd name="adj1" fmla="val -6788"/>
              <a:gd name="adj2" fmla="val -481958"/>
              <a:gd name="adj3" fmla="val 107399"/>
            </a:avLst>
          </a:prstGeom>
          <a:ln w="9525">
            <a:headEnd type="none" w="sm" len="sm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2734BFF-AAE6-42E0-9B8F-CF6418744595}"/>
              </a:ext>
            </a:extLst>
          </p:cNvPr>
          <p:cNvCxnSpPr>
            <a:cxnSpLocks/>
            <a:stCxn id="129" idx="3"/>
          </p:cNvCxnSpPr>
          <p:nvPr/>
        </p:nvCxnSpPr>
        <p:spPr bwMode="auto">
          <a:xfrm>
            <a:off x="7889809" y="4054292"/>
            <a:ext cx="458588" cy="606"/>
          </a:xfrm>
          <a:prstGeom prst="straightConnector1">
            <a:avLst/>
          </a:prstGeom>
          <a:ln w="952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559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271304"/>
              </p:ext>
            </p:extLst>
          </p:nvPr>
        </p:nvGraphicFramePr>
        <p:xfrm>
          <a:off x="506919" y="1387113"/>
          <a:ext cx="8200827" cy="49439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담당부서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4</a:t>
                      </a:r>
                      <a:endParaRPr lang="ko-KR" altLang="en-US" sz="100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Context of the organization</a:t>
                      </a:r>
                      <a:endParaRPr lang="ko-KR" altLang="en-US" sz="1000" b="1" dirty="0"/>
                    </a:p>
                  </a:txBody>
                  <a:tcPr marL="54000" marR="54000" marT="36000" marB="36000" anchor="ctr"/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경영상황 이해 및 품질환경경영시스템 운영</a:t>
                      </a:r>
                    </a:p>
                  </a:txBody>
                  <a:tcPr marL="54000" marR="54000" marT="36000" marB="36000" anchor="ctr"/>
                </a:tc>
                <a:tc rowSpan="5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[QEP-410] </a:t>
                      </a:r>
                      <a:r>
                        <a:rPr lang="ko-KR" altLang="en-US" sz="1000" b="0" dirty="0"/>
                        <a:t>상황이해 및 품질환경경영시스템 운영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[QEP-410-01]</a:t>
                      </a:r>
                      <a:r>
                        <a:rPr lang="ko-KR" altLang="en-US" sz="1000" b="0" dirty="0"/>
                        <a:t> </a:t>
                      </a:r>
                      <a:r>
                        <a:rPr lang="en-US" altLang="ko-KR" sz="1000" b="0" dirty="0"/>
                        <a:t>SWOT </a:t>
                      </a:r>
                      <a:r>
                        <a:rPr lang="ko-KR" altLang="en-US" sz="1000" b="0" dirty="0"/>
                        <a:t>분석표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209352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4.1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Understanding the organization and its context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[QEP-410-02]</a:t>
                      </a:r>
                      <a:r>
                        <a:rPr lang="ko-KR" altLang="en-US" sz="1000" b="0" dirty="0"/>
                        <a:t> 이해관계자 </a:t>
                      </a:r>
                      <a:r>
                        <a:rPr lang="ko-KR" altLang="en-US" sz="1000" b="0" dirty="0" err="1"/>
                        <a:t>파악표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사업관리팀</a:t>
                      </a:r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2951741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4.2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Understanding the needs and expectations of interested parties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0283320"/>
                  </a:ext>
                </a:extLst>
              </a:tr>
              <a:tr h="152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4.3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Determining the scope of the quality management system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9222215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/>
                        <a:t>4.4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Quality management system and its processes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0587976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5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Leadership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Leadership and commitment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리더십 및 방침수립</a:t>
                      </a:r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[QEP-510]</a:t>
                      </a:r>
                      <a:r>
                        <a:rPr lang="ko-KR" altLang="en-US" sz="1000" b="0" dirty="0"/>
                        <a:t> 리더십 및 방침수립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X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735220872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645574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focus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06053775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2890122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Establishing the quality 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7558007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Communicating the quality policy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29457245"/>
                  </a:ext>
                </a:extLst>
              </a:tr>
              <a:tr h="27603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Organizational roles, responsibilities and authorities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조직 및 업무분장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dirty="0"/>
                        <a:t>관리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[QEP-520] </a:t>
                      </a:r>
                      <a:r>
                        <a:rPr lang="ko-KR" altLang="en-US" sz="1000" b="0" dirty="0"/>
                        <a:t>조직 및 </a:t>
                      </a:r>
                      <a:r>
                        <a:rPr lang="ko-KR" altLang="en-US" sz="1000" b="0" dirty="0" err="1"/>
                        <a:t>업무분장관리</a:t>
                      </a:r>
                      <a:r>
                        <a:rPr lang="ko-KR" altLang="en-US" sz="1000" b="0" dirty="0"/>
                        <a:t>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[QEP-520-01] </a:t>
                      </a:r>
                      <a:r>
                        <a:rPr lang="ko-KR" altLang="en-US" sz="1000" b="0" dirty="0"/>
                        <a:t>업무 </a:t>
                      </a:r>
                      <a:r>
                        <a:rPr lang="ko-KR" altLang="en-US" sz="1000" b="0" dirty="0" err="1"/>
                        <a:t>분장표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경영지원실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3319726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별첨</a:t>
                      </a:r>
                      <a:r>
                        <a:rPr lang="en-US" altLang="ko-KR" sz="1000" b="0" dirty="0"/>
                        <a:t>) </a:t>
                      </a:r>
                      <a:r>
                        <a:rPr lang="ko-KR" altLang="en-US" sz="1000" b="0" dirty="0"/>
                        <a:t>조직도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경영지원실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8093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000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293771"/>
              </p:ext>
            </p:extLst>
          </p:nvPr>
        </p:nvGraphicFramePr>
        <p:xfrm>
          <a:off x="506919" y="1387113"/>
          <a:ext cx="8200827" cy="3744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담당부서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6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Planning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Actions</a:t>
                      </a:r>
                      <a:r>
                        <a:rPr lang="ko-KR" altLang="en-US" sz="1050" dirty="0"/>
                        <a:t> </a:t>
                      </a:r>
                      <a:r>
                        <a:rPr lang="en-US" altLang="ko-KR" sz="1050" dirty="0"/>
                        <a:t>to address risks and opportunities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품질환경 경영시스템 기획 및 리스크 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[QEP-610] </a:t>
                      </a:r>
                      <a:r>
                        <a:rPr lang="ko-KR" altLang="en-US" sz="1000" b="0" dirty="0"/>
                        <a:t>품질환경 경영시스템 기획 및 리스크 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[QEP-610-01]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리스크 및 기회관리 조치 계획서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각 부서</a:t>
                      </a:r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277294009"/>
                  </a:ext>
                </a:extLst>
              </a:tr>
              <a:tr h="139536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6.1.2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Environmental aspects (ISO14001)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환경측면 파악 및 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dirty="0"/>
                        <a:t>영향 평가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[EP-610] </a:t>
                      </a:r>
                      <a:r>
                        <a:rPr lang="ko-KR" altLang="en-US" sz="1000" b="0" dirty="0"/>
                        <a:t>환경측면 파악 및 영향평가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[EP-610-01]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환경측면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파악표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19113774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[EP-610-02]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환경영향 평가서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95540956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[EP-610-03]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부서환경영향 평가표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각 부서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97448125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[EP-610-04]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환경영향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등록표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각 부서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993538555"/>
                  </a:ext>
                </a:extLst>
              </a:tr>
              <a:tr h="1395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6.1.3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Compliance obligations</a:t>
                      </a:r>
                    </a:p>
                    <a:p>
                      <a:pPr algn="l" latinLnBrk="1"/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(ISO14001)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환경법규 관리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[EP-620] </a:t>
                      </a:r>
                      <a:r>
                        <a:rPr lang="ko-KR" altLang="en-US" sz="1000" b="0" dirty="0"/>
                        <a:t>환경법규 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[EP-620-01]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환경법규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등록부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94935908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[EP-620-02]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환경법규 등록관리대장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49108199"/>
                  </a:ext>
                </a:extLst>
              </a:tr>
              <a:tr h="376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6.2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Quality objectives and planning to achieve them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품질환경목표 기획 및 변경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[QEP-620] </a:t>
                      </a:r>
                      <a:r>
                        <a:rPr lang="ko-KR" altLang="en-US" sz="1000" b="0" dirty="0"/>
                        <a:t>품질환경목표 </a:t>
                      </a:r>
                      <a:r>
                        <a:rPr lang="ko-KR" altLang="en-US" sz="1000" b="0" dirty="0" err="1"/>
                        <a:t>기획및</a:t>
                      </a:r>
                      <a:r>
                        <a:rPr lang="ko-KR" altLang="en-US" sz="1000" b="0" dirty="0"/>
                        <a:t> 변경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[[QEP-620-01]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품질환경목표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추진계획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결과서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944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6.3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Planning of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[QEP-620-02]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세부목표변경요청서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19989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708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900571"/>
              </p:ext>
            </p:extLst>
          </p:nvPr>
        </p:nvGraphicFramePr>
        <p:xfrm>
          <a:off x="506919" y="1387113"/>
          <a:ext cx="8200827" cy="50117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 </a:t>
                      </a:r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담당부서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7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Support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Resources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자원관리</a:t>
                      </a: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[QEP-710] </a:t>
                      </a:r>
                      <a:r>
                        <a:rPr lang="ko-KR" altLang="en-US" sz="1000" b="0" dirty="0"/>
                        <a:t>자원관리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[QEP-710-01] </a:t>
                      </a:r>
                      <a:r>
                        <a:rPr lang="ko-KR" altLang="en-US" sz="1000" b="0" dirty="0"/>
                        <a:t>업무환경관리 검토서</a:t>
                      </a: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631248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[QEP-710-02] 3</a:t>
                      </a:r>
                      <a:r>
                        <a:rPr lang="ko-KR" altLang="en-US" sz="1000" b="0" dirty="0"/>
                        <a:t>정</a:t>
                      </a:r>
                      <a:r>
                        <a:rPr lang="en-US" altLang="ko-KR" sz="1000" b="0" dirty="0"/>
                        <a:t>5S</a:t>
                      </a:r>
                      <a:r>
                        <a:rPr lang="ko-KR" altLang="en-US" sz="1000" b="0" dirty="0"/>
                        <a:t>평가서</a:t>
                      </a:r>
                      <a:r>
                        <a:rPr lang="en-US" altLang="ko-KR" sz="1000" b="0" dirty="0"/>
                        <a:t>/</a:t>
                      </a:r>
                      <a:r>
                        <a:rPr lang="ko-KR" altLang="en-US" sz="1000" b="0" dirty="0"/>
                        <a:t>현장용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37127450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People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[QEP-710-03] 3</a:t>
                      </a:r>
                      <a:r>
                        <a:rPr lang="ko-KR" altLang="en-US" sz="1000" b="0" dirty="0"/>
                        <a:t>정</a:t>
                      </a:r>
                      <a:r>
                        <a:rPr lang="en-US" altLang="ko-KR" sz="1000" b="0" dirty="0"/>
                        <a:t>5S</a:t>
                      </a:r>
                      <a:r>
                        <a:rPr lang="ko-KR" altLang="en-US" sz="1000" b="0" dirty="0"/>
                        <a:t>평가서</a:t>
                      </a:r>
                      <a:r>
                        <a:rPr lang="en-US" altLang="ko-KR" sz="1000" b="0" dirty="0"/>
                        <a:t>/</a:t>
                      </a:r>
                      <a:r>
                        <a:rPr lang="ko-KR" altLang="en-US" sz="1000" b="0" dirty="0"/>
                        <a:t>사무실용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099363700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Infrastructure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설비관리</a:t>
                      </a:r>
                    </a:p>
                  </a:txBody>
                  <a:tcPr marL="54000" marR="54000" marT="36000" marB="36000" anchor="ctr"/>
                </a:tc>
                <a:tc rowSpan="5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[QP-710] </a:t>
                      </a:r>
                      <a:r>
                        <a:rPr lang="ko-KR" altLang="en-US" sz="1000" b="0" dirty="0"/>
                        <a:t>설비관리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[QP-710-01]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설비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이력카드</a:t>
                      </a:r>
                    </a:p>
                  </a:txBody>
                  <a:tcPr marL="54000" marR="54000" marT="36000" marB="36000" anchor="ctr"/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179374716"/>
                  </a:ext>
                </a:extLst>
              </a:tr>
              <a:tr h="139536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Environment for the operation of processes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[QP-710-02]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설비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72776431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[QP-710-03]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설비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점검표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95334685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[QP-710-04]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청절실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점검일지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[QP-710-04] ETB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실 점검일지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6668003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[QP-710-05]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정전기 방지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관리표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821420836"/>
                  </a:ext>
                </a:extLst>
              </a:tr>
              <a:tr h="1395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7.1.5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Monitoring and measuring resources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시험 및 측정장비 관리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[QP-720] </a:t>
                      </a:r>
                      <a:r>
                        <a:rPr lang="ko-KR" altLang="en-US" sz="1000" b="0" dirty="0"/>
                        <a:t>시험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및 측정장비 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[QP-720-01]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계측장비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관리대장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254913037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[QP-720-02]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계측장비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이력카드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760288340"/>
                  </a:ext>
                </a:extLst>
              </a:tr>
              <a:tr h="139536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7.1.6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Organizational knowledge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교육 및 훈련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[QEP-720] </a:t>
                      </a:r>
                      <a:r>
                        <a:rPr lang="ko-KR" altLang="en-US" sz="1000" b="0" dirty="0"/>
                        <a:t>교육 및 훈련관리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[QEP-720-01]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년간 교육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훈련 계획서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각 부서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905439154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[QEP-720-02]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사내 교육훈련 일지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27608740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[QEP-720-03]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사외 교육 이수보고서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964215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[QEP-720-04]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개인별 교육훈련 이력카드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61897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10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954099"/>
              </p:ext>
            </p:extLst>
          </p:nvPr>
        </p:nvGraphicFramePr>
        <p:xfrm>
          <a:off x="506919" y="1387113"/>
          <a:ext cx="8200827" cy="3861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 </a:t>
                      </a:r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담당부서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Competence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자격인증관리</a:t>
                      </a: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[QEI-710] </a:t>
                      </a:r>
                      <a:r>
                        <a:rPr lang="ko-KR" altLang="en-US" sz="1000" b="0" dirty="0"/>
                        <a:t>자격인증관리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[QEI-710-01]</a:t>
                      </a:r>
                      <a:r>
                        <a:rPr lang="ko-KR" altLang="en-US" sz="1000" b="0" dirty="0"/>
                        <a:t> 자격인증 관리대장</a:t>
                      </a: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8433990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[QEI-710-02]</a:t>
                      </a:r>
                      <a:r>
                        <a:rPr lang="ko-KR" altLang="en-US" sz="1000" b="0" dirty="0"/>
                        <a:t> 자격인증 평가표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3723061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[QEI-710-03]</a:t>
                      </a:r>
                      <a:r>
                        <a:rPr lang="ko-KR" altLang="en-US" sz="1000" b="0" dirty="0"/>
                        <a:t> 자격인증서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527592010"/>
                  </a:ext>
                </a:extLst>
              </a:tr>
              <a:tr h="2320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Awareness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인식 및 의사소통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[QEP-730] </a:t>
                      </a:r>
                      <a:r>
                        <a:rPr lang="ko-KR" altLang="en-US" sz="1000" b="0" dirty="0"/>
                        <a:t>인식 및 의사소통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[QEP-730-01]</a:t>
                      </a:r>
                      <a:r>
                        <a:rPr lang="ko-KR" altLang="en-US" sz="1000" b="0" dirty="0"/>
                        <a:t> 정보 보고서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277294009"/>
                  </a:ext>
                </a:extLst>
              </a:tr>
              <a:tr h="128258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Communication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[QEP-730-02]</a:t>
                      </a:r>
                      <a:r>
                        <a:rPr lang="ko-KR" altLang="en-US" sz="1000" b="0" dirty="0"/>
                        <a:t> 의사소통 관리대장</a:t>
                      </a:r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282702341"/>
                  </a:ext>
                </a:extLst>
              </a:tr>
              <a:tr h="10376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7.4</a:t>
                      </a:r>
                      <a:endParaRPr lang="ko-KR" altLang="en-US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Communication</a:t>
                      </a:r>
                      <a:endParaRPr lang="ko-KR" altLang="en-US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163772201"/>
                  </a:ext>
                </a:extLst>
              </a:tr>
              <a:tr h="2320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[QEP-730-03]</a:t>
                      </a:r>
                      <a:r>
                        <a:rPr lang="ko-KR" altLang="en-US" sz="1000" b="0" dirty="0"/>
                        <a:t> 회의록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573349270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문서화 정보 관리</a:t>
                      </a:r>
                    </a:p>
                  </a:txBody>
                  <a:tcPr marL="54000" marR="54000" marT="36000" marB="36000" anchor="ctr"/>
                </a:tc>
                <a:tc rowSpan="5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[QEP-740] </a:t>
                      </a:r>
                      <a:r>
                        <a:rPr lang="ko-KR" altLang="en-US" sz="1000" b="0" dirty="0"/>
                        <a:t>문서화 정보관리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[QEP-740-01] </a:t>
                      </a:r>
                      <a:r>
                        <a:rPr lang="ko-KR" altLang="en-US" sz="1000" b="0" dirty="0"/>
                        <a:t>문서 제정 및 개정 심의서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19113774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[QEP-740-02] </a:t>
                      </a:r>
                      <a:r>
                        <a:rPr lang="ko-KR" altLang="en-US" sz="1000" b="0" dirty="0"/>
                        <a:t>문서 </a:t>
                      </a:r>
                      <a:r>
                        <a:rPr lang="ko-KR" altLang="en-US" sz="1000" b="0" dirty="0" err="1"/>
                        <a:t>배포처</a:t>
                      </a:r>
                      <a:r>
                        <a:rPr lang="ko-KR" altLang="en-US" sz="1000" b="0" dirty="0"/>
                        <a:t> 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사업관리팀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9493590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Creating and updating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[QEP-740-03] </a:t>
                      </a:r>
                      <a:r>
                        <a:rPr lang="ko-KR" altLang="en-US" sz="1000" b="0" dirty="0"/>
                        <a:t>문서 파일 목록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사업관리팀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491081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7.5.3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documented information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[QEP-740-04] </a:t>
                      </a:r>
                      <a:r>
                        <a:rPr lang="ko-KR" altLang="en-US" sz="1000" b="0" dirty="0"/>
                        <a:t>사외규격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사업관리팀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944142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[QEP-740-05] CD/USB</a:t>
                      </a:r>
                      <a:r>
                        <a:rPr lang="ko-KR" altLang="en-US" sz="1000" b="0" dirty="0"/>
                        <a:t> 관리대장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0168522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[QEI-720] </a:t>
                      </a:r>
                      <a:r>
                        <a:rPr lang="ko-KR" altLang="en-US" sz="1000" b="0" dirty="0"/>
                        <a:t>문서작성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[QEI-720-01] </a:t>
                      </a:r>
                      <a:r>
                        <a:rPr lang="ko-KR" altLang="en-US" sz="1000" b="0" dirty="0"/>
                        <a:t>표준문서 서식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 err="1"/>
                        <a:t>갑지</a:t>
                      </a:r>
                      <a:r>
                        <a:rPr lang="en-US" altLang="ko-KR" sz="1000" b="0" dirty="0"/>
                        <a:t>)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57429457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[QEI-720-02] </a:t>
                      </a:r>
                      <a:r>
                        <a:rPr lang="ko-KR" altLang="en-US" sz="1000" b="0" dirty="0"/>
                        <a:t>표준문서 서식</a:t>
                      </a:r>
                      <a:r>
                        <a:rPr lang="en-US" altLang="ko-KR" sz="1000" b="0" dirty="0"/>
                        <a:t> (</a:t>
                      </a:r>
                      <a:r>
                        <a:rPr lang="ko-KR" altLang="en-US" sz="1000" b="0" dirty="0"/>
                        <a:t>을지</a:t>
                      </a:r>
                      <a:r>
                        <a:rPr lang="en-US" altLang="ko-KR" sz="1000" b="0" dirty="0"/>
                        <a:t>)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사업관리팀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6177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102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427463"/>
              </p:ext>
            </p:extLst>
          </p:nvPr>
        </p:nvGraphicFramePr>
        <p:xfrm>
          <a:off x="506919" y="1387113"/>
          <a:ext cx="8200827" cy="44112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 </a:t>
                      </a:r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Operational planning and control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운영 기획 및 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[EP-810] </a:t>
                      </a:r>
                      <a:r>
                        <a:rPr lang="ko-KR" altLang="en-US" sz="1000" b="0" dirty="0"/>
                        <a:t>운영 기획 및 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X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688667497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[EI-810] </a:t>
                      </a:r>
                      <a:r>
                        <a:rPr lang="ko-KR" altLang="en-US" sz="1000" b="0" dirty="0"/>
                        <a:t>소음 및 진동관리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[EI-810-01] </a:t>
                      </a:r>
                      <a:r>
                        <a:rPr lang="ko-KR" altLang="en-US" sz="1000" b="0" dirty="0"/>
                        <a:t>자가측정 기록부</a:t>
                      </a:r>
                    </a:p>
                  </a:txBody>
                  <a:tcPr marL="54000" marR="54000" marT="36000" marB="36000" anchor="ctr"/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제조팀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601656773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[EI-820] </a:t>
                      </a:r>
                      <a:r>
                        <a:rPr lang="ko-KR" altLang="en-US" sz="1000" b="0" dirty="0"/>
                        <a:t>수질관리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[EI-820-01] </a:t>
                      </a:r>
                      <a:r>
                        <a:rPr lang="ko-KR" altLang="en-US" sz="1000" b="0" dirty="0"/>
                        <a:t>오수처리장 일일점검표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제조팀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913841575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[EI-830] </a:t>
                      </a:r>
                      <a:r>
                        <a:rPr lang="ko-KR" altLang="en-US" sz="1000" b="0" dirty="0"/>
                        <a:t>대기오염관리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[EI-830-01] </a:t>
                      </a:r>
                      <a:r>
                        <a:rPr lang="ko-KR" altLang="en-US" sz="1000" b="0" dirty="0"/>
                        <a:t>환경관리인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임명 및 개임신고서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제조팀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000634587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[EI-830-02] </a:t>
                      </a:r>
                      <a:r>
                        <a:rPr lang="ko-KR" altLang="en-US" sz="1000" b="0" dirty="0"/>
                        <a:t>배출시설 및 방지시설 가동개시 신고서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제조팀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0797593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[EI-830-03] </a:t>
                      </a:r>
                      <a:r>
                        <a:rPr lang="ko-KR" altLang="en-US" sz="1000" b="0" dirty="0"/>
                        <a:t>배출시설 및 방지시설 운영기록부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제조팀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2852604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[EI-840] </a:t>
                      </a:r>
                      <a:r>
                        <a:rPr lang="ko-KR" altLang="en-US" sz="1000" b="0" dirty="0"/>
                        <a:t>폐기물관리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[EI-840-01] </a:t>
                      </a:r>
                      <a:r>
                        <a:rPr lang="ko-KR" altLang="en-US" sz="1000" b="0" dirty="0"/>
                        <a:t>사업장 폐기물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제조팀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311226333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[EI-850] </a:t>
                      </a:r>
                      <a:r>
                        <a:rPr lang="ko-KR" altLang="en-US" sz="1000" b="0" dirty="0"/>
                        <a:t>환경유해물질 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[EI-850-01] </a:t>
                      </a:r>
                      <a:r>
                        <a:rPr lang="ko-KR" altLang="en-US" sz="1000" b="0" dirty="0"/>
                        <a:t>환경유해자재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제조팀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069211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[EI-850-02] </a:t>
                      </a:r>
                      <a:r>
                        <a:rPr lang="ko-KR" altLang="en-US" sz="1000" b="0" dirty="0"/>
                        <a:t>유해물질자재 목록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제조팀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맑은 고딕"/>
                        <a:cs typeface="+mn-cs"/>
                      </a:endParaRP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541251444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[EI-860] </a:t>
                      </a:r>
                      <a:r>
                        <a:rPr lang="ko-KR" altLang="en-US" sz="1000" b="0" dirty="0"/>
                        <a:t>에너지 및 자원관리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X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7561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476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652479"/>
              </p:ext>
            </p:extLst>
          </p:nvPr>
        </p:nvGraphicFramePr>
        <p:xfrm>
          <a:off x="506919" y="1387113"/>
          <a:ext cx="8200827" cy="4581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 </a:t>
                      </a:r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8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Operation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8.1.1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Operational Risk Management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비상사태 대비 및 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dirty="0"/>
                        <a:t>대응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[EP-820] </a:t>
                      </a:r>
                      <a:r>
                        <a:rPr lang="ko-KR" altLang="en-US" sz="1000" b="0" dirty="0"/>
                        <a:t>비상사태 대비 및 대응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[EP-820-01] </a:t>
                      </a:r>
                      <a:r>
                        <a:rPr lang="ko-KR" altLang="en-US" sz="1000" b="0" dirty="0"/>
                        <a:t>비상사태 훈련계획서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27729400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[EP-820-02] </a:t>
                      </a:r>
                      <a:r>
                        <a:rPr lang="ko-KR" altLang="en-US" sz="1000" b="0" dirty="0"/>
                        <a:t>비상사태 훈련보고서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28270234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[EP-820-03] </a:t>
                      </a:r>
                      <a:r>
                        <a:rPr lang="ko-KR" altLang="en-US" sz="1000" b="0" dirty="0"/>
                        <a:t>비상사태 보고서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19113774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[EP-820-04] </a:t>
                      </a:r>
                      <a:r>
                        <a:rPr lang="ko-KR" altLang="en-US" sz="1000" b="0" dirty="0"/>
                        <a:t>비상 연락망 체계표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9493590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Configuration Management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형상관리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[QEI-810] </a:t>
                      </a:r>
                      <a:r>
                        <a:rPr lang="ko-KR" altLang="en-US" sz="1000" b="0" dirty="0"/>
                        <a:t>형상관리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추가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식별 필요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491081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Product Safety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제품안전 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[QEI-820] </a:t>
                      </a:r>
                      <a:r>
                        <a:rPr lang="ko-KR" altLang="en-US" sz="1000" b="0" dirty="0"/>
                        <a:t>제품안전관리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추가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식별 필요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87114114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8.1.4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Prevention of Counterfeit Parts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위조품 식별 및 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[QEI-830] </a:t>
                      </a:r>
                      <a:r>
                        <a:rPr lang="ko-KR" altLang="en-US" sz="1000" b="0" dirty="0"/>
                        <a:t>위조품 식별 및 방지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추가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식별 필요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41717547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제품 및 서비스 요구사항 검토</a:t>
                      </a:r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[QP-810] </a:t>
                      </a:r>
                      <a:r>
                        <a:rPr lang="ko-KR" altLang="en-US" sz="1000" b="0" dirty="0"/>
                        <a:t>제품 및 서비스 요구사항 검토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[QP-810-01] Requirement Compliance Matrix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23260417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8.2.1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communication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[QP-810-02] </a:t>
                      </a:r>
                      <a:r>
                        <a:rPr lang="ko-KR" altLang="en-US" sz="1000" b="0" dirty="0"/>
                        <a:t>계약서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746413532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Determining the 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[QP-810-03] </a:t>
                      </a:r>
                      <a:r>
                        <a:rPr lang="ko-KR" altLang="en-US" sz="1000" b="0" dirty="0"/>
                        <a:t>계약서 관리대장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8869712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8.2.3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Review of the requirements for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[QP-810-04] </a:t>
                      </a:r>
                      <a:r>
                        <a:rPr lang="ko-KR" altLang="en-US" sz="1000" b="0" dirty="0"/>
                        <a:t>견적서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0430818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[QP-810-05] </a:t>
                      </a:r>
                      <a:r>
                        <a:rPr lang="ko-KR" altLang="en-US" sz="1000" b="0" dirty="0"/>
                        <a:t>견적서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049768537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[QP-810-06] </a:t>
                      </a:r>
                      <a:r>
                        <a:rPr lang="ko-KR" altLang="en-US" sz="1000" b="0" dirty="0"/>
                        <a:t>계약변경요청서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04322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493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402170"/>
              </p:ext>
            </p:extLst>
          </p:nvPr>
        </p:nvGraphicFramePr>
        <p:xfrm>
          <a:off x="506919" y="1387113"/>
          <a:ext cx="8200827" cy="47865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of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1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설계 및 개발관리</a:t>
                      </a:r>
                    </a:p>
                  </a:txBody>
                  <a:tcPr marL="54000" marR="54000" marT="36000" marB="36000" anchor="ctr"/>
                </a:tc>
                <a:tc rowSpan="16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[QP-820] </a:t>
                      </a:r>
                      <a:r>
                        <a:rPr lang="ko-KR" altLang="en-US" sz="1000" b="0" dirty="0"/>
                        <a:t>설계 및 개발관리 </a:t>
                      </a:r>
                      <a:endParaRPr lang="en-US" altLang="ko-KR" sz="1000" b="0" dirty="0"/>
                    </a:p>
                    <a:p>
                      <a:pPr algn="l" latinLnBrk="1"/>
                      <a:r>
                        <a:rPr lang="ko-KR" altLang="en-US" sz="1000" b="0" dirty="0"/>
                        <a:t>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8.3.1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165379534"/>
                  </a:ext>
                </a:extLst>
              </a:tr>
              <a:tr h="13953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planning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[QP-820-01] </a:t>
                      </a:r>
                      <a:r>
                        <a:rPr lang="ko-KR" altLang="en-US" sz="1000" b="0" dirty="0"/>
                        <a:t>제안서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27729400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[QP-820-02] </a:t>
                      </a:r>
                      <a:r>
                        <a:rPr lang="ko-KR" altLang="en-US" sz="1000" b="0" dirty="0"/>
                        <a:t>개발계획서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441721013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[QP-820-03] PAPP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439393926"/>
                  </a:ext>
                </a:extLst>
              </a:tr>
              <a:tr h="1395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inputs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[QP-820-04] RFP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28270234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[QP-820-05] </a:t>
                      </a:r>
                      <a:r>
                        <a:rPr lang="ko-KR" altLang="en-US" sz="1000" b="0" dirty="0"/>
                        <a:t>요구사양서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577816792"/>
                  </a:ext>
                </a:extLst>
              </a:tr>
              <a:tr h="139536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9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controls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[QP-820-06] </a:t>
                      </a:r>
                      <a:r>
                        <a:rPr lang="ko-KR" altLang="en-US" sz="1000" b="0" dirty="0"/>
                        <a:t>개발 프로젝트 목록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19113774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[QP-820-07] </a:t>
                      </a:r>
                      <a:r>
                        <a:rPr lang="ko-KR" altLang="en-US" sz="1000" b="0" dirty="0"/>
                        <a:t>개발일정표</a:t>
                      </a:r>
                    </a:p>
                  </a:txBody>
                  <a:tcPr marL="54000" marR="54000" marT="36000" marB="36000" anchor="ctr"/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73073598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[QP-820-08] </a:t>
                      </a:r>
                      <a:r>
                        <a:rPr lang="ko-KR" altLang="en-US" sz="1000" b="0" dirty="0"/>
                        <a:t>비용관리표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2663569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[QP-820-09] </a:t>
                      </a:r>
                      <a:r>
                        <a:rPr lang="ko-KR" altLang="en-US" sz="1000" b="0" dirty="0"/>
                        <a:t>위험식별표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828537882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[QP-820-10] </a:t>
                      </a:r>
                      <a:r>
                        <a:rPr lang="ko-KR" altLang="en-US" sz="1000" b="0" dirty="0"/>
                        <a:t>소프트웨어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894516816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[QP-820-11] CAD </a:t>
                      </a:r>
                      <a:r>
                        <a:rPr lang="ko-KR" altLang="en-US" sz="1000" b="0" dirty="0"/>
                        <a:t>도면관리대장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163996687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[QP-820-12] </a:t>
                      </a:r>
                      <a:r>
                        <a:rPr lang="ko-KR" altLang="en-US" sz="1000" b="0" dirty="0"/>
                        <a:t>회로설계검토 체크리스트</a:t>
                      </a: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78413478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[QP-820-13] Artwork </a:t>
                      </a:r>
                      <a:r>
                        <a:rPr lang="ko-KR" altLang="en-US" sz="1000" b="0" dirty="0"/>
                        <a:t>설계검토 체크리스트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590385614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[QP-820-14] </a:t>
                      </a:r>
                      <a:r>
                        <a:rPr lang="ko-KR" altLang="en-US" sz="1000" b="0" dirty="0"/>
                        <a:t>기구설계검토 체크리스트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07016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1655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717748"/>
              </p:ext>
            </p:extLst>
          </p:nvPr>
        </p:nvGraphicFramePr>
        <p:xfrm>
          <a:off x="506919" y="1387113"/>
          <a:ext cx="8200827" cy="38313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8.3.5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설계 및 개발관리</a:t>
                      </a:r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[QP-820] </a:t>
                      </a:r>
                      <a:r>
                        <a:rPr lang="ko-KR" altLang="en-US" sz="1000" b="0" dirty="0"/>
                        <a:t>설계 및 개발관리 </a:t>
                      </a:r>
                      <a:endParaRPr lang="en-US" altLang="ko-KR" sz="1000" b="0" dirty="0"/>
                    </a:p>
                    <a:p>
                      <a:pPr algn="l" latinLnBrk="1"/>
                      <a:r>
                        <a:rPr lang="ko-KR" altLang="en-US" sz="1000" b="0" dirty="0"/>
                        <a:t>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[QP-820-15] CDRL (</a:t>
                      </a:r>
                      <a:r>
                        <a:rPr lang="ko-KR" altLang="en-US" sz="1000" b="0" dirty="0"/>
                        <a:t>기술보고서</a:t>
                      </a:r>
                      <a:r>
                        <a:rPr lang="en-US" altLang="ko-KR" sz="1000" b="0" dirty="0"/>
                        <a:t>)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[QP-820-16] EIDP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97816201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[QP-820-17] Parts Identification List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061646180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[QP-820-18] Material List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655112173"/>
                  </a:ext>
                </a:extLst>
              </a:tr>
              <a:tr h="2244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[QP-820-19] Process List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41925644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8.3.6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Design and development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[QP-820-20] Change Proposal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165379534"/>
                  </a:ext>
                </a:extLst>
              </a:tr>
              <a:tr h="13953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externally provided processes,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구매관리</a:t>
                      </a:r>
                    </a:p>
                  </a:txBody>
                  <a:tcPr marL="54000" marR="54000" marT="36000" marB="36000" anchor="ctr"/>
                </a:tc>
                <a:tc rowSpan="7"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[QP-830] </a:t>
                      </a:r>
                      <a:r>
                        <a:rPr lang="ko-KR" altLang="en-US" sz="1050" dirty="0"/>
                        <a:t>구매관리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[QP-830-01] </a:t>
                      </a:r>
                      <a:r>
                        <a:rPr lang="ko-KR" altLang="en-US" sz="1000" b="0" dirty="0"/>
                        <a:t>구매품의서</a:t>
                      </a:r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899573866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[QP-830-02] </a:t>
                      </a:r>
                      <a:r>
                        <a:rPr lang="ko-KR" altLang="en-US" sz="1000" b="0" dirty="0"/>
                        <a:t>발주서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674007128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[QP-830-03] </a:t>
                      </a:r>
                      <a:r>
                        <a:rPr lang="ko-KR" altLang="en-US" sz="1000" b="0" dirty="0"/>
                        <a:t>발주서 영문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0232734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[QP-830-04] </a:t>
                      </a:r>
                      <a:r>
                        <a:rPr lang="ko-KR" altLang="en-US" sz="1000" b="0" dirty="0"/>
                        <a:t>발주서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35139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Type and extent of control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[QP-830-05] </a:t>
                      </a:r>
                      <a:r>
                        <a:rPr lang="ko-KR" altLang="en-US" sz="1000" b="0" dirty="0"/>
                        <a:t>재고관리표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05369639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[QP-830-06] </a:t>
                      </a:r>
                      <a:r>
                        <a:rPr lang="ko-KR" altLang="en-US" sz="1000" b="0" dirty="0"/>
                        <a:t>출고요청서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38156076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[QP-830-07] </a:t>
                      </a:r>
                      <a:r>
                        <a:rPr lang="ko-KR" altLang="en-US" sz="1000" b="0" dirty="0"/>
                        <a:t>품질보증요구조건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5746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877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974142"/>
              </p:ext>
            </p:extLst>
          </p:nvPr>
        </p:nvGraphicFramePr>
        <p:xfrm>
          <a:off x="506919" y="1387113"/>
          <a:ext cx="8200827" cy="41777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8.4.3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Information for external providers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공급자 관리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[QP-840] </a:t>
                      </a:r>
                      <a:r>
                        <a:rPr lang="ko-KR" altLang="en-US" sz="1000" b="0" dirty="0"/>
                        <a:t>공급자관리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[QP-840-01] </a:t>
                      </a:r>
                      <a:r>
                        <a:rPr lang="ko-KR" altLang="en-US" sz="1000" b="0" dirty="0"/>
                        <a:t>업체실태 조사서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772925108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[QP-840-02] </a:t>
                      </a:r>
                      <a:r>
                        <a:rPr lang="ko-KR" altLang="en-US" sz="1000" b="0" dirty="0"/>
                        <a:t>공급자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746831303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[QP-840-03] </a:t>
                      </a:r>
                      <a:r>
                        <a:rPr lang="ko-KR" altLang="en-US" sz="1000" b="0" dirty="0"/>
                        <a:t>협력업체 평가표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38096297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[QP-840-04] </a:t>
                      </a:r>
                      <a:r>
                        <a:rPr lang="ko-KR" altLang="en-US" sz="1000" b="0" dirty="0"/>
                        <a:t>협력업체 정기평가표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84850716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Production and service provision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생산관리</a:t>
                      </a:r>
                    </a:p>
                  </a:txBody>
                  <a:tcPr marL="54000" marR="54000" marT="36000" marB="36000" anchor="ctr"/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[QP-850] </a:t>
                      </a:r>
                      <a:r>
                        <a:rPr lang="ko-KR" altLang="en-US" sz="1000" b="0" dirty="0"/>
                        <a:t>생산관리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[QP-850-01] </a:t>
                      </a:r>
                      <a:r>
                        <a:rPr lang="ko-KR" altLang="en-US" sz="1000" b="0" dirty="0"/>
                        <a:t>작업지시서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8.5.1</a:t>
                      </a:r>
                    </a:p>
                  </a:txBody>
                  <a:tcPr marL="54000" marR="54000" marT="36000" marB="36000" anchor="ctr"/>
                </a:tc>
                <a:tc rowSpan="9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production and service provision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생산관리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[QP-850] </a:t>
                      </a:r>
                      <a:r>
                        <a:rPr lang="ko-KR" altLang="en-US" sz="1000" b="0" dirty="0"/>
                        <a:t>생산관리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[QP-850-02] Order</a:t>
                      </a:r>
                      <a:r>
                        <a:rPr lang="ko-KR" altLang="en-US" sz="1000" b="0" dirty="0"/>
                        <a:t>별 생산일지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27729400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[QP-850-03] </a:t>
                      </a:r>
                      <a:r>
                        <a:rPr lang="ko-KR" altLang="en-US" sz="1000" b="0" dirty="0"/>
                        <a:t>작업표준서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28270234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[QP-850-04] </a:t>
                      </a:r>
                      <a:r>
                        <a:rPr lang="ko-KR" altLang="en-US" sz="1000" b="0" dirty="0"/>
                        <a:t>제조</a:t>
                      </a:r>
                      <a:r>
                        <a:rPr lang="en-US" altLang="ko-KR" sz="1000" b="0" dirty="0"/>
                        <a:t>/QC </a:t>
                      </a:r>
                      <a:r>
                        <a:rPr lang="ko-KR" altLang="en-US" sz="1000" b="0" dirty="0"/>
                        <a:t>공정도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19113774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[QP-850-05] Travel Sheet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94935908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[QP-850-06] </a:t>
                      </a:r>
                      <a:r>
                        <a:rPr lang="ko-KR" altLang="en-US" sz="1000" b="0" dirty="0"/>
                        <a:t>출고요청서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4910819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[QP-850-07] </a:t>
                      </a:r>
                      <a:r>
                        <a:rPr lang="ko-KR" altLang="en-US" sz="1000" b="0" dirty="0"/>
                        <a:t>출고관리대장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944142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[QP-850-08] </a:t>
                      </a:r>
                      <a:r>
                        <a:rPr lang="ko-KR" altLang="en-US" sz="1000" b="0" dirty="0" err="1"/>
                        <a:t>시효열화자재관리대장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/>
                        <a:t>제조팀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0168522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[QP-850-09] 4M </a:t>
                      </a:r>
                      <a:r>
                        <a:rPr lang="ko-KR" altLang="en-US" sz="1000" b="0" dirty="0"/>
                        <a:t>변경관리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57429457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[QP-850-10] </a:t>
                      </a:r>
                      <a:r>
                        <a:rPr lang="ko-KR" altLang="en-US" sz="1000" b="0" dirty="0"/>
                        <a:t>특수공정관리 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6177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18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42646"/>
              </p:ext>
            </p:extLst>
          </p:nvPr>
        </p:nvGraphicFramePr>
        <p:xfrm>
          <a:off x="506919" y="1387113"/>
          <a:ext cx="8200827" cy="3888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8.5.1</a:t>
                      </a:r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production and service provision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검사 및 시험</a:t>
                      </a:r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[QP-860] </a:t>
                      </a:r>
                      <a:r>
                        <a:rPr lang="ko-KR" altLang="en-US" sz="1000" b="0" dirty="0"/>
                        <a:t>검사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및 시험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[QP-860-01] </a:t>
                      </a:r>
                      <a:r>
                        <a:rPr lang="ko-KR" altLang="en-US" sz="1000" b="0" dirty="0"/>
                        <a:t>수입검사성적서</a:t>
                      </a:r>
                    </a:p>
                  </a:txBody>
                  <a:tcPr marL="54000" marR="54000" marT="36000" marB="36000" anchor="ctr"/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[QP-860-02] </a:t>
                      </a:r>
                      <a:r>
                        <a:rPr lang="ko-KR" altLang="en-US" sz="1000" b="0" dirty="0"/>
                        <a:t>공정검사성적서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01168592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[QP-860-05] </a:t>
                      </a:r>
                      <a:r>
                        <a:rPr lang="ko-KR" altLang="en-US" sz="1000" b="0" dirty="0"/>
                        <a:t>검사관리대장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47080790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[QP-860-06] </a:t>
                      </a:r>
                      <a:r>
                        <a:rPr lang="ko-KR" altLang="en-US" sz="1000" b="0" dirty="0"/>
                        <a:t>품질보증서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163630032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[QP-860-07] </a:t>
                      </a:r>
                      <a:r>
                        <a:rPr lang="ko-KR" altLang="en-US" sz="1000" b="0" dirty="0"/>
                        <a:t>품질보증서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28270234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[QP-860-08] </a:t>
                      </a:r>
                      <a:r>
                        <a:rPr lang="ko-KR" altLang="en-US" sz="1000" b="0" dirty="0"/>
                        <a:t>출하검사성적서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19113774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Identification and traceability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식별 및 추적성 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[QI-810] </a:t>
                      </a:r>
                      <a:r>
                        <a:rPr lang="ko-KR" altLang="en-US" sz="1000" b="0" dirty="0"/>
                        <a:t>식별 및 추적서 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X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394935908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Property belonging to customers or external providers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고객 및 외부공급자 자산관리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[QI-820] </a:t>
                      </a:r>
                      <a:r>
                        <a:rPr lang="ko-KR" altLang="en-US" sz="1000" b="0" dirty="0"/>
                        <a:t>고객 및 외부공급자 자산관리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[QI-820-01] </a:t>
                      </a:r>
                      <a:r>
                        <a:rPr lang="ko-KR" altLang="en-US" sz="1000" b="0" dirty="0"/>
                        <a:t>고객자산 관리대장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592491908"/>
                  </a:ext>
                </a:extLst>
              </a:tr>
              <a:tr h="1395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8.5.4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Preservation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제품 보존관리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[QI-830] </a:t>
                      </a:r>
                      <a:r>
                        <a:rPr lang="ko-KR" altLang="en-US" sz="1000" b="0" dirty="0"/>
                        <a:t>제품 보존관리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[QI-830-01] </a:t>
                      </a:r>
                      <a:r>
                        <a:rPr lang="ko-KR" altLang="en-US" sz="1000" b="0" dirty="0"/>
                        <a:t>자재 점검 </a:t>
                      </a:r>
                      <a:r>
                        <a:rPr lang="ko-KR" altLang="en-US" sz="1000" b="0" dirty="0" err="1"/>
                        <a:t>일지표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4910819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[QI-830-02] </a:t>
                      </a:r>
                      <a:r>
                        <a:rPr lang="ko-KR" altLang="en-US" sz="1000" b="0" dirty="0"/>
                        <a:t>자재 수불 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14194507"/>
                  </a:ext>
                </a:extLst>
              </a:tr>
              <a:tr h="1395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8.5.5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Post-delivery activities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인도 후 활동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[QI-840] </a:t>
                      </a:r>
                      <a:r>
                        <a:rPr lang="ko-KR" altLang="en-US" sz="1000" b="0" dirty="0"/>
                        <a:t>인도 후 활동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[QI-840-01] </a:t>
                      </a:r>
                      <a:r>
                        <a:rPr lang="ko-KR" altLang="en-US" sz="1000" b="0" dirty="0"/>
                        <a:t>고객불만 및 </a:t>
                      </a:r>
                      <a:r>
                        <a:rPr lang="en-US" altLang="ko-KR" sz="1000" b="0" dirty="0"/>
                        <a:t>AS </a:t>
                      </a:r>
                      <a:r>
                        <a:rPr lang="ko-KR" altLang="en-US" sz="1000" b="0" dirty="0"/>
                        <a:t>사항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기술부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  <a:endParaRPr lang="en-US" altLang="ko-KR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944142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[QI-840-02] </a:t>
                      </a:r>
                      <a:r>
                        <a:rPr lang="ko-KR" altLang="en-US" sz="1000" b="0" dirty="0"/>
                        <a:t>고객요구</a:t>
                      </a:r>
                      <a:r>
                        <a:rPr lang="en-US" altLang="ko-KR" sz="1000" b="0" dirty="0"/>
                        <a:t>/</a:t>
                      </a:r>
                      <a:r>
                        <a:rPr lang="ko-KR" altLang="en-US" sz="1000" b="0" dirty="0"/>
                        <a:t>불만접수 처리대장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363732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627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394955"/>
              </p:ext>
            </p:extLst>
          </p:nvPr>
        </p:nvGraphicFramePr>
        <p:xfrm>
          <a:off x="506919" y="1387113"/>
          <a:ext cx="8200827" cy="2237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8.5.6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changes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변경 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[QI-850] </a:t>
                      </a:r>
                      <a:r>
                        <a:rPr lang="ko-KR" altLang="en-US" sz="1000" b="0" dirty="0"/>
                        <a:t>변경관리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[QI-850-01] </a:t>
                      </a:r>
                      <a:r>
                        <a:rPr lang="ko-KR" altLang="en-US" sz="1000" b="0" dirty="0" err="1"/>
                        <a:t>변경점</a:t>
                      </a:r>
                      <a:r>
                        <a:rPr lang="ko-KR" altLang="en-US" sz="1000" b="0" dirty="0"/>
                        <a:t> 관리대장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0168522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8.6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Release of products and services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제품 및 서비스 출시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[QI-860] </a:t>
                      </a:r>
                      <a:r>
                        <a:rPr lang="ko-KR" altLang="en-US" sz="1000" b="0" dirty="0"/>
                        <a:t>제품 및 서비스 출시 지침서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[QI-860-01] </a:t>
                      </a:r>
                      <a:r>
                        <a:rPr lang="ko-KR" altLang="en-US" sz="1000" b="0" dirty="0"/>
                        <a:t>납품내역서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사업관리팀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57429457"/>
                  </a:ext>
                </a:extLst>
              </a:tr>
              <a:tr h="139536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8.7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Control of nonconforming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제품 부적합 관리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[QP-870] </a:t>
                      </a:r>
                      <a:r>
                        <a:rPr lang="ko-KR" altLang="en-US" sz="1000" b="0" dirty="0"/>
                        <a:t>제품 부적합 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[QP-870-01] </a:t>
                      </a:r>
                      <a:r>
                        <a:rPr lang="ko-KR" altLang="en-US" sz="1000" b="0" dirty="0"/>
                        <a:t>부적합 보고서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61778816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[QP-870-02] </a:t>
                      </a:r>
                      <a:r>
                        <a:rPr lang="ko-KR" altLang="en-US" sz="1000" b="0" dirty="0"/>
                        <a:t>부적합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025274240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[QP-870-03] Request for Waiver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75812388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[QP-870-04] Request for Deviation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76394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280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386820"/>
              </p:ext>
            </p:extLst>
          </p:nvPr>
        </p:nvGraphicFramePr>
        <p:xfrm>
          <a:off x="506919" y="1387113"/>
          <a:ext cx="8200827" cy="52047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9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Performance</a:t>
                      </a:r>
                      <a:r>
                        <a:rPr lang="ko-KR" altLang="en-US" sz="1050" b="1" dirty="0"/>
                        <a:t> </a:t>
                      </a:r>
                      <a:r>
                        <a:rPr lang="en-US" altLang="ko-KR" sz="1050" b="1" dirty="0"/>
                        <a:t>evaluation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392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Monitoring measurement, analysis and evaluation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프로세스 성과관리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[QEP-910] </a:t>
                      </a:r>
                      <a:r>
                        <a:rPr lang="ko-KR" altLang="en-US" sz="1000" b="0" dirty="0"/>
                        <a:t>프로세스 성과관리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[QEP-910-01] </a:t>
                      </a:r>
                      <a:r>
                        <a:rPr lang="ko-KR" altLang="en-US" sz="1000" b="0" dirty="0"/>
                        <a:t>부서별 성과지표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각 부서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79337288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Customer satisfaction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고객만족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관리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[QP-910] </a:t>
                      </a:r>
                      <a:r>
                        <a:rPr lang="ko-KR" altLang="en-US" sz="1000" b="0" dirty="0"/>
                        <a:t>고객만족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[QP-910-01] </a:t>
                      </a:r>
                      <a:r>
                        <a:rPr lang="ko-KR" altLang="en-US" sz="1000" b="0" dirty="0"/>
                        <a:t>고객만족도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조사표</a:t>
                      </a:r>
                      <a:r>
                        <a:rPr lang="en-US" altLang="ko-KR" sz="1000" b="0" dirty="0"/>
                        <a:t> 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27729400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[QP-910-02] </a:t>
                      </a:r>
                      <a:r>
                        <a:rPr lang="ko-KR" altLang="en-US" sz="1000" b="0" dirty="0"/>
                        <a:t>고객만족도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평가표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690042212"/>
                  </a:ext>
                </a:extLst>
              </a:tr>
              <a:tr h="139536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9.1.2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Evaluation of compliance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rgbClr val="FF0000"/>
                          </a:solidFill>
                        </a:rPr>
                        <a:t>(ISO 14001)</a:t>
                      </a: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환경점검 및 </a:t>
                      </a:r>
                      <a:endParaRPr lang="en-US" altLang="ko-KR" sz="1000" b="0" dirty="0"/>
                    </a:p>
                    <a:p>
                      <a:pPr algn="ctr" latinLnBrk="1"/>
                      <a:r>
                        <a:rPr lang="ko-KR" altLang="en-US" sz="1000" b="0" dirty="0"/>
                        <a:t>측정관리</a:t>
                      </a: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[EP-910] </a:t>
                      </a:r>
                      <a:r>
                        <a:rPr lang="ko-KR" altLang="en-US" sz="1000" b="0" dirty="0"/>
                        <a:t>환경점검 및 측정관리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[EP-910-01] </a:t>
                      </a:r>
                      <a:r>
                        <a:rPr lang="ko-KR" altLang="en-US" sz="1000" b="0" dirty="0"/>
                        <a:t>환경관리 체크리스트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470152832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[EP-910-02]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환경점검 및 측정계획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584552542"/>
                  </a:ext>
                </a:extLst>
              </a:tr>
              <a:tr h="3945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[EP-910-01]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맑은 고딕"/>
                          <a:cs typeface="+mn-cs"/>
                        </a:rPr>
                        <a:t>보건위생 안전관리 교육일지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5786771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9.1.3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Analysis and evaluation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데이터 분석관리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[QP-920] </a:t>
                      </a:r>
                      <a:r>
                        <a:rPr lang="ko-KR" altLang="en-US" sz="1000" b="0" dirty="0"/>
                        <a:t>데이터 분석관리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추가</a:t>
                      </a:r>
                      <a:r>
                        <a:rPr lang="en-US" altLang="ko-KR" sz="1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rgbClr val="FF0000"/>
                          </a:solidFill>
                        </a:rPr>
                        <a:t>식별 필요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282702341"/>
                  </a:ext>
                </a:extLst>
              </a:tr>
              <a:tr h="139536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Internal audit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내부 심사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[QEP-920] </a:t>
                      </a:r>
                      <a:r>
                        <a:rPr lang="ko-KR" altLang="en-US" sz="1000" b="0" dirty="0"/>
                        <a:t>내부심사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[QEP-920-01] 202X</a:t>
                      </a:r>
                      <a:r>
                        <a:rPr lang="ko-KR" altLang="en-US" sz="1000" b="0" dirty="0"/>
                        <a:t>년도 내부심사 일정표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19113774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[QEP-920-02] </a:t>
                      </a:r>
                      <a:r>
                        <a:rPr lang="ko-KR" altLang="en-US" sz="1000" b="0" dirty="0"/>
                        <a:t>내부심사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실시 계획 통보서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4910819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[QEP-920-03] </a:t>
                      </a:r>
                      <a:r>
                        <a:rPr lang="ko-KR" altLang="en-US" sz="1000" b="0" dirty="0"/>
                        <a:t>내부심사 </a:t>
                      </a:r>
                      <a:r>
                        <a:rPr lang="en-US" altLang="ko-KR" sz="1000" b="0" dirty="0"/>
                        <a:t>Check list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88185895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solidFill>
                          <a:srgbClr val="FF0000"/>
                        </a:solidFill>
                      </a:endParaRP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[QEP-920-04] </a:t>
                      </a:r>
                      <a:r>
                        <a:rPr lang="ko-KR" altLang="en-US" sz="1000" b="0" dirty="0"/>
                        <a:t>내부심사 결과보고서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24671154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경영검토</a:t>
                      </a: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[QEP-930] </a:t>
                      </a:r>
                      <a:r>
                        <a:rPr lang="ko-KR" altLang="en-US" sz="1000" b="0" dirty="0"/>
                        <a:t>경영검토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[QEP-930-01] </a:t>
                      </a:r>
                      <a:r>
                        <a:rPr lang="ko-KR" altLang="en-US" sz="1000" b="0" dirty="0"/>
                        <a:t>품질환경 경영검토서</a:t>
                      </a:r>
                    </a:p>
                  </a:txBody>
                  <a:tcPr marL="54000" marR="54000" marT="36000" marB="36000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경영지원실</a:t>
                      </a:r>
                      <a:endParaRPr lang="en-US" altLang="ko-KR" sz="10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944142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9.3.2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 inputs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957429457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9.3.3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Management review outputs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6177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193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E0A10-9736-48E1-B809-B33B54B3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 경영시스템 인증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D920F-EC80-4C4A-957D-317A3891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9100D </a:t>
            </a:r>
            <a:r>
              <a:rPr lang="ko-KR" altLang="en-US" dirty="0"/>
              <a:t>인증 관련 준비문서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81669409-DD8D-4F7E-8E93-103ECDD84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299528"/>
              </p:ext>
            </p:extLst>
          </p:nvPr>
        </p:nvGraphicFramePr>
        <p:xfrm>
          <a:off x="506919" y="1387113"/>
          <a:ext cx="8200827" cy="28465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572">
                  <a:extLst>
                    <a:ext uri="{9D8B030D-6E8A-4147-A177-3AD203B41FA5}">
                      <a16:colId xmlns:a16="http://schemas.microsoft.com/office/drawing/2014/main" val="3044173744"/>
                    </a:ext>
                  </a:extLst>
                </a:gridCol>
                <a:gridCol w="1807898">
                  <a:extLst>
                    <a:ext uri="{9D8B030D-6E8A-4147-A177-3AD203B41FA5}">
                      <a16:colId xmlns:a16="http://schemas.microsoft.com/office/drawing/2014/main" val="336879315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165383370"/>
                    </a:ext>
                  </a:extLst>
                </a:gridCol>
                <a:gridCol w="1862051">
                  <a:extLst>
                    <a:ext uri="{9D8B030D-6E8A-4147-A177-3AD203B41FA5}">
                      <a16:colId xmlns:a16="http://schemas.microsoft.com/office/drawing/2014/main" val="11038108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3624483249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3559491028"/>
                    </a:ext>
                  </a:extLst>
                </a:gridCol>
              </a:tblGrid>
              <a:tr h="32403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AS 9100D </a:t>
                      </a:r>
                      <a:r>
                        <a:rPr lang="ko-KR" altLang="en-US" sz="1100" b="1" dirty="0"/>
                        <a:t>요구사항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프로세스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(Process)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절차서 및 지침서 </a:t>
                      </a:r>
                      <a:endParaRPr lang="en-US" altLang="ko-KR" sz="1100" b="1" dirty="0"/>
                    </a:p>
                    <a:p>
                      <a:pPr algn="ctr" latinLnBrk="1"/>
                      <a:r>
                        <a:rPr lang="en-US" altLang="ko-KR" sz="1100" b="1" dirty="0"/>
                        <a:t>(Procedures &amp; Instruction)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기록물 </a:t>
                      </a:r>
                      <a:r>
                        <a:rPr lang="en-US" altLang="ko-KR" sz="1100" b="1" dirty="0"/>
                        <a:t>(Record)</a:t>
                      </a:r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1033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조항</a:t>
                      </a:r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내용</a:t>
                      </a:r>
                      <a:endParaRPr lang="ko-KR" altLang="en-US" sz="1000" dirty="0"/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담당</a:t>
                      </a:r>
                    </a:p>
                  </a:txBody>
                  <a:tcPr marL="54000" marR="54000" marT="36000" marB="36000" anchor="ctr">
                    <a:blipFill>
                      <a:blip r:embed="rId2" cstate="print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9759553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10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Improvement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690068321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General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277294009"/>
                  </a:ext>
                </a:extLst>
              </a:tr>
              <a:tr h="1395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10.2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Nonconformity and corrective action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부적합 및 시정조치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[QEP-1010] </a:t>
                      </a:r>
                      <a:r>
                        <a:rPr lang="ko-KR" altLang="en-US" sz="1000" b="0" dirty="0"/>
                        <a:t>부적합 및 시정조치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[QEP-1010-01] </a:t>
                      </a:r>
                      <a:r>
                        <a:rPr lang="ko-KR" altLang="en-US" sz="1000" b="0" dirty="0"/>
                        <a:t>시정조치 요구서</a:t>
                      </a:r>
                    </a:p>
                  </a:txBody>
                  <a:tcPr marL="54000" marR="54000" marT="36000" marB="36000" anchor="ctr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품질보증팀</a:t>
                      </a:r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1282702341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[QEP-1010-02] </a:t>
                      </a:r>
                      <a:r>
                        <a:rPr lang="ko-KR" altLang="en-US" sz="1000" b="0" dirty="0"/>
                        <a:t>시정조치 관리대장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819113774"/>
                  </a:ext>
                </a:extLst>
              </a:tr>
              <a:tr h="1395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10.3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Continual improvement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/>
                        <a:t>지속적 개선</a:t>
                      </a:r>
                    </a:p>
                  </a:txBody>
                  <a:tcPr marL="54000" marR="54000" marT="36000" marB="36000" anchor="ctr"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/>
                        <a:t>[QEP-1020] </a:t>
                      </a:r>
                      <a:r>
                        <a:rPr lang="ko-KR" altLang="en-US" sz="1000" b="0" dirty="0"/>
                        <a:t>지속적 개선 절차서</a:t>
                      </a:r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[QEP-1020-01] </a:t>
                      </a:r>
                      <a:r>
                        <a:rPr lang="ko-KR" altLang="en-US" sz="1000" b="0" dirty="0"/>
                        <a:t>시정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및 예방조치 요구서</a:t>
                      </a:r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549108199"/>
                  </a:ext>
                </a:extLst>
              </a:tr>
              <a:tr h="13953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[QEP-1020-02] </a:t>
                      </a:r>
                      <a:r>
                        <a:rPr lang="ko-KR" altLang="en-US" sz="1000" b="0" dirty="0"/>
                        <a:t>시정조치보고서 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고객제출용</a:t>
                      </a:r>
                      <a:r>
                        <a:rPr lang="en-US" altLang="ko-KR" sz="1000" b="0" dirty="0"/>
                        <a:t>)</a:t>
                      </a: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194809577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/>
                        <a:t>11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Notes</a:t>
                      </a:r>
                      <a:endParaRPr lang="ko-KR" altLang="en-US" sz="1050" b="1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299441429"/>
                  </a:ext>
                </a:extLst>
              </a:tr>
              <a:tr h="1395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11.1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Revision Indicator</a:t>
                      </a:r>
                      <a:endParaRPr lang="ko-KR" altLang="en-US" sz="105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/>
                    </a:p>
                  </a:txBody>
                  <a:tcPr marL="54000" marR="54000" marT="36000" marB="36000" anchor="ctr"/>
                </a:tc>
                <a:extLst>
                  <a:ext uri="{0D108BD9-81ED-4DB2-BD59-A6C34878D82A}">
                    <a16:rowId xmlns:a16="http://schemas.microsoft.com/office/drawing/2014/main" val="3601685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61028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400" dirty="0" err="1" smtClean="0">
            <a:latin typeface="Arial" panose="020B0604020202020204" pitchFamily="34" charset="0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46308</TotalTime>
  <Words>4560</Words>
  <Application>Microsoft Office PowerPoint</Application>
  <PresentationFormat>화면 슬라이드 쇼(4:3)</PresentationFormat>
  <Paragraphs>1511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4" baseType="lpstr">
      <vt:lpstr>굴림</vt:lpstr>
      <vt:lpstr>맑은 고딕</vt:lpstr>
      <vt:lpstr>Arial</vt:lpstr>
      <vt:lpstr>Times New Roman</vt:lpstr>
      <vt:lpstr>Wingdings</vt:lpstr>
      <vt:lpstr>기본 디자인</vt:lpstr>
      <vt:lpstr>품질환경경영시스템(QEMS) 및  AS 9100D 인증 준비</vt:lpstr>
      <vt:lpstr>Contents</vt:lpstr>
      <vt:lpstr>개요</vt:lpstr>
      <vt:lpstr>개요</vt:lpstr>
      <vt:lpstr>개요</vt:lpstr>
      <vt:lpstr>개요</vt:lpstr>
      <vt:lpstr>개요</vt:lpstr>
      <vt:lpstr>개요</vt:lpstr>
      <vt:lpstr>개요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소개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  <vt:lpstr>표준 경영시스템 인증 준비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남명용</dc:creator>
  <cp:lastModifiedBy>최 진혁</cp:lastModifiedBy>
  <cp:revision>1913</cp:revision>
  <cp:lastPrinted>2018-02-26T11:54:17Z</cp:lastPrinted>
  <dcterms:created xsi:type="dcterms:W3CDTF">1601-01-01T00:00:00Z</dcterms:created>
  <dcterms:modified xsi:type="dcterms:W3CDTF">2020-10-29T02:08:55Z</dcterms:modified>
</cp:coreProperties>
</file>