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1209" r:id="rId2"/>
    <p:sldId id="1767" r:id="rId3"/>
    <p:sldId id="1768" r:id="rId4"/>
    <p:sldId id="1769" r:id="rId5"/>
    <p:sldId id="1770" r:id="rId6"/>
    <p:sldId id="1771" r:id="rId7"/>
    <p:sldId id="1773" r:id="rId8"/>
    <p:sldId id="1775" r:id="rId9"/>
    <p:sldId id="1772" r:id="rId10"/>
    <p:sldId id="1777" r:id="rId11"/>
    <p:sldId id="1785" r:id="rId12"/>
    <p:sldId id="1786" r:id="rId13"/>
    <p:sldId id="1787" r:id="rId14"/>
    <p:sldId id="818" r:id="rId15"/>
    <p:sldId id="1778" r:id="rId16"/>
    <p:sldId id="1779" r:id="rId17"/>
    <p:sldId id="1780" r:id="rId18"/>
    <p:sldId id="1784" r:id="rId19"/>
    <p:sldId id="1782" r:id="rId20"/>
    <p:sldId id="1781" r:id="rId21"/>
    <p:sldId id="1783" r:id="rId22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009900"/>
    <a:srgbClr val="1B6DA5"/>
    <a:srgbClr val="FFCC99"/>
    <a:srgbClr val="00CC00"/>
    <a:srgbClr val="33CC33"/>
    <a:srgbClr val="F2F2F2"/>
    <a:srgbClr val="EFFFB3"/>
    <a:srgbClr val="6368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2987" autoAdjust="0"/>
  </p:normalViewPr>
  <p:slideViewPr>
    <p:cSldViewPr snapToGrid="0">
      <p:cViewPr varScale="1">
        <p:scale>
          <a:sx n="114" d="100"/>
          <a:sy n="114" d="100"/>
        </p:scale>
        <p:origin x="1272" y="84"/>
      </p:cViewPr>
      <p:guideLst>
        <p:guide orient="horz" pos="2160"/>
        <p:guide pos="3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1" d="100"/>
          <a:sy n="71" d="100"/>
        </p:scale>
        <p:origin x="2400" y="6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D0299D-B60A-4896-8397-6469664CBFF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5985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4" y="4714878"/>
            <a:ext cx="4984750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9CEF302-C0C4-41F5-9E57-DF55FCB3FB8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8776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9879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672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4698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7254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9152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98" name="Rectangle 38"/>
          <p:cNvSpPr>
            <a:spLocks noGrp="1" noChangeArrowheads="1"/>
          </p:cNvSpPr>
          <p:nvPr>
            <p:ph type="ctrTitle"/>
          </p:nvPr>
        </p:nvSpPr>
        <p:spPr>
          <a:xfrm>
            <a:off x="3006090" y="622300"/>
            <a:ext cx="5570220" cy="1470025"/>
          </a:xfrm>
        </p:spPr>
        <p:txBody>
          <a:bodyPr lIns="91440" tIns="45720" rIns="91440" bIns="45720"/>
          <a:lstStyle>
            <a:lvl1pPr>
              <a:defRPr sz="3000">
                <a:latin typeface="+mj-lt"/>
              </a:defRPr>
            </a:lvl1pPr>
          </a:lstStyle>
          <a:p>
            <a:pPr lvl="0"/>
            <a:r>
              <a:rPr lang="en-US" altLang="ko-KR" noProof="0" dirty="0"/>
              <a:t>Arial Black 30 font &amp; Bold</a:t>
            </a:r>
          </a:p>
        </p:txBody>
      </p:sp>
      <p:sp>
        <p:nvSpPr>
          <p:cNvPr id="15399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3006090" y="3886200"/>
            <a:ext cx="4766310" cy="1752600"/>
          </a:xfrm>
        </p:spPr>
        <p:txBody>
          <a:bodyPr lIns="91440" tIns="45720" rIns="91440" bIns="45720" anchor="ctr"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en-US" altLang="ko-KR" noProof="0" dirty="0"/>
              <a:t>Arial 24 font &amp; Bold</a:t>
            </a:r>
          </a:p>
        </p:txBody>
      </p:sp>
      <p:pic>
        <p:nvPicPr>
          <p:cNvPr id="21" name="그림 20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9915" y="6510338"/>
            <a:ext cx="947582" cy="276225"/>
          </a:xfrm>
          <a:prstGeom prst="rect">
            <a:avLst/>
          </a:prstGeom>
        </p:spPr>
      </p:pic>
      <p:sp>
        <p:nvSpPr>
          <p:cNvPr id="23" name="Line 84"/>
          <p:cNvSpPr>
            <a:spLocks noChangeShapeType="1"/>
          </p:cNvSpPr>
          <p:nvPr userDrawn="1"/>
        </p:nvSpPr>
        <p:spPr bwMode="auto">
          <a:xfrm>
            <a:off x="230696" y="6842760"/>
            <a:ext cx="8913303" cy="0"/>
          </a:xfrm>
          <a:prstGeom prst="line">
            <a:avLst/>
          </a:prstGeom>
          <a:noFill/>
          <a:ln w="25400">
            <a:solidFill>
              <a:srgbClr val="000338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</p:spTree>
    <p:extLst>
      <p:ext uri="{BB962C8B-B14F-4D97-AF65-F5344CB8AC3E}">
        <p14:creationId xmlns:p14="http://schemas.microsoft.com/office/powerpoint/2010/main" val="36381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6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0363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B5C1B240-8930-4347-9EDB-DB33EF9CA41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5471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33363" y="981075"/>
            <a:ext cx="4256087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1850" y="981075"/>
            <a:ext cx="4257675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5895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054CD70C-7F67-4367-9FDF-206008AB283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날짜 개체 틀 8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234313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DCE243E3-F0B5-437D-ADC4-C0F1BFD6693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391888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1E4831DA-CFB9-4C15-9A7C-5CCA7DDD4A0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152977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4872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EF079343-1D4C-4350-8921-D61C8EBC773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342660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70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34175" y="131763"/>
            <a:ext cx="2165350" cy="60975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33363" y="131763"/>
            <a:ext cx="6348412" cy="60975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FE64E568-A02E-4C51-8193-5D7193BC921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날짜 개체 틀 5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319355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8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7" name="Line 8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32" name="Rectangle 93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31763"/>
            <a:ext cx="6987540" cy="70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24 font &amp; bold</a:t>
            </a:r>
          </a:p>
        </p:txBody>
      </p:sp>
      <p:sp>
        <p:nvSpPr>
          <p:cNvPr id="1033" name="Rectangle 9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3363" y="981075"/>
            <a:ext cx="866616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18 font &amp; bold</a:t>
            </a:r>
          </a:p>
          <a:p>
            <a:pPr lvl="1"/>
            <a:r>
              <a:rPr lang="en-US" altLang="ko-KR" dirty="0"/>
              <a:t>Arial 16 font &amp; bold</a:t>
            </a:r>
            <a:endParaRPr lang="ko-KR" altLang="en-US" dirty="0"/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5" name="Text Box 86"/>
          <p:cNvSpPr txBox="1">
            <a:spLocks noChangeArrowheads="1"/>
          </p:cNvSpPr>
          <p:nvPr userDrawn="1"/>
        </p:nvSpPr>
        <p:spPr bwMode="auto">
          <a:xfrm>
            <a:off x="3829050" y="6510338"/>
            <a:ext cx="14859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accent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fld id="{BD253322-42C0-4748-AAA5-F0068379097A}" type="slidenum">
              <a:rPr lang="en-US" altLang="ko-KR" sz="1200" b="0" smtClean="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sz="1200" b="0" dirty="0">
              <a:solidFill>
                <a:schemeClr val="tx1"/>
              </a:solidFill>
              <a:latin typeface="Arial" panose="020B0604020202020204" pitchFamily="34" charset="0"/>
              <a:ea typeface="바탕체" panose="02030609000101010101" pitchFamily="17" charset="-127"/>
              <a:cs typeface="Arial" panose="020B0604020202020204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9915" y="6510338"/>
            <a:ext cx="947582" cy="276225"/>
          </a:xfrm>
          <a:prstGeom prst="rect">
            <a:avLst/>
          </a:prstGeom>
        </p:spPr>
      </p:pic>
      <p:sp>
        <p:nvSpPr>
          <p:cNvPr id="16" name="Line 89"/>
          <p:cNvSpPr>
            <a:spLocks noChangeShapeType="1"/>
          </p:cNvSpPr>
          <p:nvPr userDrawn="1"/>
        </p:nvSpPr>
        <p:spPr bwMode="auto">
          <a:xfrm flipV="1">
            <a:off x="228600" y="876300"/>
            <a:ext cx="8686800" cy="0"/>
          </a:xfrm>
          <a:prstGeom prst="line">
            <a:avLst/>
          </a:prstGeom>
          <a:noFill/>
          <a:ln w="57150">
            <a:gradFill flip="none" rotWithShape="1">
              <a:gsLst>
                <a:gs pos="0">
                  <a:schemeClr val="accent6"/>
                </a:gs>
                <a:gs pos="50000">
                  <a:schemeClr val="accent6">
                    <a:lumMod val="22000"/>
                    <a:lumOff val="78000"/>
                  </a:schemeClr>
                </a:gs>
                <a:gs pos="100000">
                  <a:srgbClr val="7030A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5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ftr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 b="1" kern="1200" baseline="0">
          <a:solidFill>
            <a:schemeClr val="tx2"/>
          </a:solidFill>
          <a:latin typeface="Arial" panose="020B0604020202020204" pitchFamily="34" charset="0"/>
          <a:ea typeface="맑은 고딕" panose="020B0503020000020004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9pPr>
    </p:titleStyle>
    <p:bodyStyle>
      <a:lvl1pPr marL="190500" indent="-1905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b="1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1pPr>
      <a:lvl2pPr marL="538163" indent="-1905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2pPr>
      <a:lvl3pPr marL="896938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3pPr>
      <a:lvl4pPr marL="125571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4pPr>
      <a:lvl5pPr marL="1614488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css.nl/standard/ecss-e-st-40c-software-general-requirements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image" Target="../media/image13.png"/><Relationship Id="rId9" Type="http://schemas.openxmlformats.org/officeDocument/2006/relationships/oleObject" Target="../embeddings/oleObject6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722906" y="1958975"/>
            <a:ext cx="6137910" cy="1866576"/>
          </a:xfrm>
        </p:spPr>
        <p:txBody>
          <a:bodyPr anchor="t"/>
          <a:lstStyle/>
          <a:p>
            <a:pPr algn="ctr">
              <a:lnSpc>
                <a:spcPct val="150000"/>
              </a:lnSpc>
            </a:pPr>
            <a:r>
              <a:rPr lang="en-US" altLang="ko-KR" sz="3600" dirty="0"/>
              <a:t>2</a:t>
            </a:r>
            <a:r>
              <a:rPr lang="ko-KR" altLang="en-US" sz="3600" dirty="0"/>
              <a:t>팀 </a:t>
            </a:r>
            <a:r>
              <a:rPr lang="en-US" altLang="ko-KR" sz="3600" dirty="0"/>
              <a:t>(Software) </a:t>
            </a:r>
            <a:br>
              <a:rPr lang="en-US" altLang="ko-KR" sz="3600" dirty="0"/>
            </a:br>
            <a:r>
              <a:rPr lang="ko-KR" altLang="en-US" sz="3600" dirty="0"/>
              <a:t>업무현황</a:t>
            </a:r>
            <a:endParaRPr lang="ko-KR" altLang="en-US" sz="24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722906" y="5094514"/>
            <a:ext cx="6137910" cy="907558"/>
          </a:xfrm>
        </p:spPr>
        <p:txBody>
          <a:bodyPr/>
          <a:lstStyle/>
          <a:p>
            <a:r>
              <a:rPr lang="en-US" altLang="ko-KR" dirty="0"/>
              <a:t>2020. 09. 24</a:t>
            </a:r>
          </a:p>
        </p:txBody>
      </p:sp>
    </p:spTree>
    <p:extLst>
      <p:ext uri="{BB962C8B-B14F-4D97-AF65-F5344CB8AC3E}">
        <p14:creationId xmlns:p14="http://schemas.microsoft.com/office/powerpoint/2010/main" val="3136763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" y="131763"/>
            <a:ext cx="8666162" cy="706437"/>
          </a:xfrm>
        </p:spPr>
        <p:txBody>
          <a:bodyPr/>
          <a:lstStyle/>
          <a:p>
            <a:pPr algn="ctr"/>
            <a:r>
              <a:rPr lang="en-US" altLang="ko-KR" dirty="0"/>
              <a:t>Software Layer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sz="1800" b="1" kern="0" dirty="0">
              <a:latin typeface="Arial" pitchFamily="34" charset="0"/>
              <a:ea typeface="맑은 고딕" pitchFamily="50" charset="-127"/>
            </a:endParaRPr>
          </a:p>
          <a:p>
            <a:endParaRPr lang="ko-KR" altLang="en-US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1C346F6-2D43-4FC4-A587-061ABC394CD8}"/>
              </a:ext>
            </a:extLst>
          </p:cNvPr>
          <p:cNvSpPr/>
          <p:nvPr/>
        </p:nvSpPr>
        <p:spPr>
          <a:xfrm>
            <a:off x="1127871" y="5464629"/>
            <a:ext cx="6905705" cy="532129"/>
          </a:xfrm>
          <a:prstGeom prst="rect">
            <a:avLst/>
          </a:prstGeom>
          <a:noFill/>
          <a:ln w="12700" cap="flat" cmpd="sng" algn="ctr">
            <a:solidFill>
              <a:srgbClr val="4472C4">
                <a:shade val="50000"/>
              </a:srgbClr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H/W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3937953-1B27-4E4F-AE46-CEA3FE49FECC}"/>
              </a:ext>
            </a:extLst>
          </p:cNvPr>
          <p:cNvSpPr/>
          <p:nvPr/>
        </p:nvSpPr>
        <p:spPr>
          <a:xfrm>
            <a:off x="1127871" y="4841480"/>
            <a:ext cx="3440821" cy="532129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Driver Library / BSP / MMU / GPIO / SPI / I2C / UART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491FFF4-8ACA-4688-93AD-6284749ED1B7}"/>
              </a:ext>
            </a:extLst>
          </p:cNvPr>
          <p:cNvSpPr/>
          <p:nvPr/>
        </p:nvSpPr>
        <p:spPr>
          <a:xfrm>
            <a:off x="1127871" y="4218330"/>
            <a:ext cx="3440821" cy="532129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HAL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50C139E-A6E9-4A61-94E2-5C110E439A95}"/>
              </a:ext>
            </a:extLst>
          </p:cNvPr>
          <p:cNvSpPr/>
          <p:nvPr/>
        </p:nvSpPr>
        <p:spPr>
          <a:xfrm>
            <a:off x="4682317" y="4218329"/>
            <a:ext cx="3351259" cy="1155278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RTEMS </a:t>
            </a:r>
          </a:p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(Kernel OS)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EE21560-4194-4F50-985B-3AB1A4CFA981}"/>
              </a:ext>
            </a:extLst>
          </p:cNvPr>
          <p:cNvSpPr/>
          <p:nvPr/>
        </p:nvSpPr>
        <p:spPr>
          <a:xfrm>
            <a:off x="4682317" y="3684450"/>
            <a:ext cx="3351259" cy="442858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POSIX </a:t>
            </a:r>
            <a:r>
              <a:rPr kumimoji="0" lang="en-US" altLang="ko-KR" sz="1400" kern="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API</a:t>
            </a:r>
            <a:endParaRPr kumimoji="0" lang="en-US" altLang="ko-KR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(Kernel I/F)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0932807-B776-4A96-8B48-06F6ACB407DB}"/>
              </a:ext>
            </a:extLst>
          </p:cNvPr>
          <p:cNvSpPr/>
          <p:nvPr/>
        </p:nvSpPr>
        <p:spPr>
          <a:xfrm>
            <a:off x="1127870" y="2527421"/>
            <a:ext cx="3440821" cy="1599887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Middle Ware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7D23209-E885-4E4C-9299-86023AB18E02}"/>
              </a:ext>
            </a:extLst>
          </p:cNvPr>
          <p:cNvSpPr/>
          <p:nvPr/>
        </p:nvSpPr>
        <p:spPr>
          <a:xfrm>
            <a:off x="1252187" y="2860001"/>
            <a:ext cx="1752495" cy="336081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Packet Parser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5D7347E-492A-446B-A0C5-C14549F0CD2D}"/>
              </a:ext>
            </a:extLst>
          </p:cNvPr>
          <p:cNvSpPr/>
          <p:nvPr/>
        </p:nvSpPr>
        <p:spPr>
          <a:xfrm>
            <a:off x="1252187" y="3287103"/>
            <a:ext cx="1752495" cy="336081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CAN Protocol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37D5F03-295D-4DC8-8C38-CA41A2D22AC2}"/>
              </a:ext>
            </a:extLst>
          </p:cNvPr>
          <p:cNvSpPr/>
          <p:nvPr/>
        </p:nvSpPr>
        <p:spPr>
          <a:xfrm>
            <a:off x="1252187" y="3707206"/>
            <a:ext cx="1752495" cy="336081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SpaceWire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259B7E3-8EE5-4D29-8A43-C38BACEB68DF}"/>
              </a:ext>
            </a:extLst>
          </p:cNvPr>
          <p:cNvSpPr/>
          <p:nvPr/>
        </p:nvSpPr>
        <p:spPr>
          <a:xfrm>
            <a:off x="3128998" y="2860001"/>
            <a:ext cx="1335427" cy="336081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File System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CBE8C1E-28C4-4A83-B2E6-59D52A8BB0A5}"/>
              </a:ext>
            </a:extLst>
          </p:cNvPr>
          <p:cNvSpPr/>
          <p:nvPr/>
        </p:nvSpPr>
        <p:spPr>
          <a:xfrm>
            <a:off x="4693007" y="2520419"/>
            <a:ext cx="3351259" cy="1073010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Network I/F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8E672F4-012F-41D3-B7A2-6E1CED0DDE67}"/>
              </a:ext>
            </a:extLst>
          </p:cNvPr>
          <p:cNvSpPr/>
          <p:nvPr/>
        </p:nvSpPr>
        <p:spPr>
          <a:xfrm>
            <a:off x="4805296" y="2860001"/>
            <a:ext cx="1335427" cy="336081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UDP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C94863E-B146-4749-ACFA-CD563B57D1E8}"/>
              </a:ext>
            </a:extLst>
          </p:cNvPr>
          <p:cNvSpPr/>
          <p:nvPr/>
        </p:nvSpPr>
        <p:spPr>
          <a:xfrm>
            <a:off x="6402728" y="2860001"/>
            <a:ext cx="1335427" cy="336081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TCP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06C3830-109F-46F3-87C1-4261BB38B16D}"/>
              </a:ext>
            </a:extLst>
          </p:cNvPr>
          <p:cNvSpPr/>
          <p:nvPr/>
        </p:nvSpPr>
        <p:spPr>
          <a:xfrm>
            <a:off x="3118973" y="3287103"/>
            <a:ext cx="1335427" cy="336081"/>
          </a:xfrm>
          <a:prstGeom prst="rect">
            <a:avLst/>
          </a:prstGeom>
          <a:solidFill>
            <a:srgbClr val="7030A0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…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5BD6D3E-BD25-4D67-8AF9-4D3B4446D8A6}"/>
              </a:ext>
            </a:extLst>
          </p:cNvPr>
          <p:cNvSpPr/>
          <p:nvPr/>
        </p:nvSpPr>
        <p:spPr>
          <a:xfrm>
            <a:off x="1127871" y="2123073"/>
            <a:ext cx="6905706" cy="320326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I/F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F2D657E-93E1-4A73-8A87-E2AA7DA341E0}"/>
              </a:ext>
            </a:extLst>
          </p:cNvPr>
          <p:cNvSpPr/>
          <p:nvPr/>
        </p:nvSpPr>
        <p:spPr>
          <a:xfrm>
            <a:off x="1127870" y="1498173"/>
            <a:ext cx="6905707" cy="547007"/>
          </a:xfrm>
          <a:prstGeom prst="rect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User Application</a:t>
            </a: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8315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" y="131763"/>
            <a:ext cx="8666162" cy="706437"/>
          </a:xfrm>
        </p:spPr>
        <p:txBody>
          <a:bodyPr/>
          <a:lstStyle/>
          <a:p>
            <a:pPr algn="ctr"/>
            <a:r>
              <a:rPr lang="ko-KR" altLang="en-US" dirty="0"/>
              <a:t>현황 및 개선방안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kern="0" dirty="0"/>
              <a:t>기술관리</a:t>
            </a:r>
            <a:endParaRPr lang="en-US" altLang="ko-KR" kern="0" dirty="0"/>
          </a:p>
          <a:p>
            <a:endParaRPr lang="en-US" altLang="ko-KR" kern="0" dirty="0"/>
          </a:p>
          <a:p>
            <a:endParaRPr lang="en-US" altLang="ko-KR" kern="0" dirty="0"/>
          </a:p>
          <a:p>
            <a:endParaRPr lang="en-US" altLang="ko-KR" kern="0" dirty="0"/>
          </a:p>
          <a:p>
            <a:endParaRPr lang="en-US" altLang="ko-KR" kern="0" dirty="0"/>
          </a:p>
          <a:p>
            <a:endParaRPr lang="en-US" altLang="ko-KR" kern="0" dirty="0"/>
          </a:p>
          <a:p>
            <a:endParaRPr lang="en-US" altLang="ko-KR" kern="0" dirty="0"/>
          </a:p>
          <a:p>
            <a:endParaRPr lang="en-US" altLang="ko-KR" kern="0" dirty="0"/>
          </a:p>
          <a:p>
            <a:endParaRPr lang="en-US" altLang="ko-KR" kern="0" dirty="0"/>
          </a:p>
          <a:p>
            <a:endParaRPr lang="en-US" altLang="ko-KR" kern="0" dirty="0"/>
          </a:p>
          <a:p>
            <a:endParaRPr lang="en-US" altLang="ko-KR" kern="0" dirty="0"/>
          </a:p>
          <a:p>
            <a:endParaRPr lang="en-US" altLang="ko-KR" kern="0" dirty="0"/>
          </a:p>
          <a:p>
            <a:endParaRPr lang="en-US" altLang="ko-KR" kern="0" dirty="0"/>
          </a:p>
          <a:p>
            <a:endParaRPr lang="en-US" altLang="ko-KR" kern="0" dirty="0"/>
          </a:p>
          <a:p>
            <a:endParaRPr lang="en-US" altLang="ko-KR" kern="0" dirty="0"/>
          </a:p>
          <a:p>
            <a:endParaRPr lang="en-US" altLang="ko-KR" kern="0" dirty="0"/>
          </a:p>
          <a:p>
            <a:endParaRPr lang="ko-KR" altLang="en-US" dirty="0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8043BF1-8699-4F2C-A161-77178C1BCC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186741"/>
              </p:ext>
            </p:extLst>
          </p:nvPr>
        </p:nvGraphicFramePr>
        <p:xfrm>
          <a:off x="228600" y="1473940"/>
          <a:ext cx="8666161" cy="36859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7954">
                  <a:extLst>
                    <a:ext uri="{9D8B030D-6E8A-4147-A177-3AD203B41FA5}">
                      <a16:colId xmlns:a16="http://schemas.microsoft.com/office/drawing/2014/main" val="1401345980"/>
                    </a:ext>
                  </a:extLst>
                </a:gridCol>
                <a:gridCol w="1145120">
                  <a:extLst>
                    <a:ext uri="{9D8B030D-6E8A-4147-A177-3AD203B41FA5}">
                      <a16:colId xmlns:a16="http://schemas.microsoft.com/office/drawing/2014/main" val="185875524"/>
                    </a:ext>
                  </a:extLst>
                </a:gridCol>
                <a:gridCol w="1732080">
                  <a:extLst>
                    <a:ext uri="{9D8B030D-6E8A-4147-A177-3AD203B41FA5}">
                      <a16:colId xmlns:a16="http://schemas.microsoft.com/office/drawing/2014/main" val="2137067819"/>
                    </a:ext>
                  </a:extLst>
                </a:gridCol>
                <a:gridCol w="3540369">
                  <a:extLst>
                    <a:ext uri="{9D8B030D-6E8A-4147-A177-3AD203B41FA5}">
                      <a16:colId xmlns:a16="http://schemas.microsoft.com/office/drawing/2014/main" val="1817157066"/>
                    </a:ext>
                  </a:extLst>
                </a:gridCol>
                <a:gridCol w="1110638">
                  <a:extLst>
                    <a:ext uri="{9D8B030D-6E8A-4147-A177-3AD203B41FA5}">
                      <a16:colId xmlns:a16="http://schemas.microsoft.com/office/drawing/2014/main" val="3046730565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현황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개선방안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일정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73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Application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 표준화 안되어 있음</a:t>
                      </a:r>
                      <a:endParaRPr lang="en-US" altLang="ko-KR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arenBoth"/>
                      </a:pP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DTNPL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S/W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부터 적용 </a:t>
                      </a:r>
                      <a:endParaRPr lang="en-US" altLang="ko-KR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28600" indent="-228600" algn="l" latinLnBrk="1">
                        <a:buAutoNum type="arabicParenBoth"/>
                      </a:pP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이후 </a:t>
                      </a:r>
                      <a:r>
                        <a:rPr lang="ko-KR" altLang="en-US" sz="105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타사업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적용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~10/23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7608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Boot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Loader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DTNPL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</a:t>
                      </a:r>
                      <a:r>
                        <a:rPr lang="ko-KR" altLang="en-US" sz="105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적용중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(1) u-boot 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Boot Loader 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적용</a:t>
                      </a:r>
                      <a:endParaRPr lang="en-US" altLang="ko-KR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(2) 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이후 </a:t>
                      </a:r>
                      <a:r>
                        <a:rPr lang="ko-KR" altLang="en-US" sz="105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타사업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적용 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~10/23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4771132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Middle Ware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SpaceWire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안정화되지 않음</a:t>
                      </a:r>
                      <a:endParaRPr lang="en-US" altLang="ko-KR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arenBoth"/>
                      </a:pP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개선점 파악</a:t>
                      </a:r>
                      <a:endParaRPr lang="en-US" altLang="ko-KR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28600" indent="-228600" algn="l" latinLnBrk="1">
                        <a:buAutoNum type="arabicParenBoth"/>
                      </a:pP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SCM 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 이용 코드 개선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~11/10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281687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File System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Access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속도 느림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현상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</a:t>
                      </a:r>
                      <a:endParaRPr lang="en-US" altLang="ko-KR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arenBoth"/>
                      </a:pP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DTNPL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NAND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 개선점 파악 및 적용</a:t>
                      </a:r>
                      <a:endParaRPr lang="en-US" altLang="ko-KR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28600" indent="-228600" algn="l" latinLnBrk="1">
                        <a:buAutoNum type="arabicParenBoth"/>
                      </a:pP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JFFS 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적용</a:t>
                      </a:r>
                      <a:endParaRPr lang="en-US" altLang="ko-KR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28600" indent="-228600" algn="l" latinLnBrk="1">
                        <a:buAutoNum type="arabicParenBoth"/>
                      </a:pP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C4PI File System 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~10/23</a:t>
                      </a:r>
                    </a:p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TBD</a:t>
                      </a:r>
                    </a:p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TBD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19179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TMTC Protocol, CAN, UDP, </a:t>
                      </a:r>
                      <a:r>
                        <a:rPr lang="en-US" altLang="ko-KR" sz="105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etc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 표준화 등 정리 필요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TBD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94743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RTEMS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기술확보 단계</a:t>
                      </a:r>
                      <a:endParaRPr lang="en-US" altLang="ko-KR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endParaRPr lang="en-US" altLang="ko-KR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(1) Kernel 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최적화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~11/20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0328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VxWorks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사용경험 없음</a:t>
                      </a:r>
                      <a:endParaRPr lang="en-US" altLang="ko-KR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WindRiver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 관련업체를 통한 기술확보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2018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138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" y="131763"/>
            <a:ext cx="8666162" cy="706437"/>
          </a:xfrm>
        </p:spPr>
        <p:txBody>
          <a:bodyPr/>
          <a:lstStyle/>
          <a:p>
            <a:pPr algn="ctr"/>
            <a:r>
              <a:rPr lang="ko-KR" altLang="en-US" dirty="0"/>
              <a:t>현황 및 개선방안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kern="0" dirty="0"/>
              <a:t>개발관리</a:t>
            </a:r>
            <a:endParaRPr lang="en-US" altLang="ko-KR" kern="0" dirty="0"/>
          </a:p>
          <a:p>
            <a:endParaRPr lang="en-US" altLang="ko-KR" kern="0" dirty="0"/>
          </a:p>
          <a:p>
            <a:endParaRPr lang="en-US" altLang="ko-KR" kern="0" dirty="0"/>
          </a:p>
          <a:p>
            <a:endParaRPr lang="en-US" altLang="ko-KR" kern="0" dirty="0"/>
          </a:p>
          <a:p>
            <a:endParaRPr lang="en-US" altLang="ko-KR" kern="0" dirty="0"/>
          </a:p>
          <a:p>
            <a:endParaRPr lang="en-US" altLang="ko-KR" kern="0" dirty="0"/>
          </a:p>
          <a:p>
            <a:endParaRPr lang="en-US" altLang="ko-KR" kern="0" dirty="0"/>
          </a:p>
          <a:p>
            <a:endParaRPr lang="en-US" altLang="ko-KR" kern="0" dirty="0"/>
          </a:p>
          <a:p>
            <a:endParaRPr lang="en-US" altLang="ko-KR" kern="0" dirty="0"/>
          </a:p>
          <a:p>
            <a:pPr marL="347663" lvl="1" indent="0">
              <a:buNone/>
            </a:pPr>
            <a:endParaRPr lang="en-US" altLang="ko-KR" kern="0" dirty="0"/>
          </a:p>
          <a:p>
            <a:pPr lvl="1"/>
            <a:r>
              <a:rPr lang="en-US" altLang="ko-KR" kern="0" dirty="0"/>
              <a:t>(*) ECSS-E-ST-40, ECSS-E-HB-40C </a:t>
            </a:r>
            <a:r>
              <a:rPr lang="ko-KR" altLang="en-US" kern="0" dirty="0"/>
              <a:t>등</a:t>
            </a:r>
            <a:endParaRPr lang="en-US" altLang="ko-KR" b="0" i="0" u="sng" dirty="0">
              <a:solidFill>
                <a:srgbClr val="660099"/>
              </a:solidFill>
              <a:effectLst/>
              <a:latin typeface="Apple SD Gothic Neo"/>
              <a:hlinkClick r:id="rId2"/>
            </a:endParaRPr>
          </a:p>
          <a:p>
            <a:pPr lvl="1"/>
            <a:endParaRPr lang="en-US" altLang="ko-KR" kern="0" dirty="0"/>
          </a:p>
          <a:p>
            <a:endParaRPr lang="en-US" altLang="ko-KR" kern="0" dirty="0"/>
          </a:p>
          <a:p>
            <a:endParaRPr lang="en-US" altLang="ko-KR" kern="0" dirty="0"/>
          </a:p>
          <a:p>
            <a:endParaRPr lang="en-US" altLang="ko-KR" kern="0" dirty="0"/>
          </a:p>
          <a:p>
            <a:endParaRPr lang="en-US" altLang="ko-KR" kern="0" dirty="0"/>
          </a:p>
          <a:p>
            <a:endParaRPr lang="en-US" altLang="ko-KR" kern="0" dirty="0"/>
          </a:p>
          <a:p>
            <a:endParaRPr lang="en-US" altLang="ko-KR" kern="0" dirty="0"/>
          </a:p>
          <a:p>
            <a:endParaRPr lang="en-US" altLang="ko-KR" kern="0" dirty="0"/>
          </a:p>
          <a:p>
            <a:endParaRPr lang="en-US" altLang="ko-KR" kern="0" dirty="0"/>
          </a:p>
          <a:p>
            <a:endParaRPr lang="ko-KR" altLang="en-US" dirty="0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8043BF1-8699-4F2C-A161-77178C1BCC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695705"/>
              </p:ext>
            </p:extLst>
          </p:nvPr>
        </p:nvGraphicFramePr>
        <p:xfrm>
          <a:off x="228600" y="1473940"/>
          <a:ext cx="8666161" cy="2453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3426">
                  <a:extLst>
                    <a:ext uri="{9D8B030D-6E8A-4147-A177-3AD203B41FA5}">
                      <a16:colId xmlns:a16="http://schemas.microsoft.com/office/drawing/2014/main" val="1401345980"/>
                    </a:ext>
                  </a:extLst>
                </a:gridCol>
                <a:gridCol w="2461846">
                  <a:extLst>
                    <a:ext uri="{9D8B030D-6E8A-4147-A177-3AD203B41FA5}">
                      <a16:colId xmlns:a16="http://schemas.microsoft.com/office/drawing/2014/main" val="2137067819"/>
                    </a:ext>
                  </a:extLst>
                </a:gridCol>
                <a:gridCol w="1941341">
                  <a:extLst>
                    <a:ext uri="{9D8B030D-6E8A-4147-A177-3AD203B41FA5}">
                      <a16:colId xmlns:a16="http://schemas.microsoft.com/office/drawing/2014/main" val="1188671378"/>
                    </a:ext>
                  </a:extLst>
                </a:gridCol>
                <a:gridCol w="2405576">
                  <a:extLst>
                    <a:ext uri="{9D8B030D-6E8A-4147-A177-3AD203B41FA5}">
                      <a16:colId xmlns:a16="http://schemas.microsoft.com/office/drawing/2014/main" val="1817157066"/>
                    </a:ext>
                  </a:extLst>
                </a:gridCol>
                <a:gridCol w="833972">
                  <a:extLst>
                    <a:ext uri="{9D8B030D-6E8A-4147-A177-3AD203B41FA5}">
                      <a16:colId xmlns:a16="http://schemas.microsoft.com/office/drawing/2014/main" val="30467305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현황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개선방안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일정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73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일정관리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 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일정관리에 따름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algn="l" latinLnBrk="1"/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소프트웨어팀 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소프트웨어팀 일정관리표 작성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매주 업데이트 관리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arenBoth"/>
                      </a:pP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으로부터 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S/W 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 정의 </a:t>
                      </a:r>
                      <a:endParaRPr lang="en-US" altLang="ko-KR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28600" indent="-228600" algn="l" latinLnBrk="1">
                        <a:buAutoNum type="arabicParenBoth"/>
                      </a:pP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일정관리표 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Template 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</a:t>
                      </a:r>
                      <a:endParaRPr lang="en-US" altLang="ko-KR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28600" indent="-228600" algn="l" latinLnBrk="1">
                        <a:buAutoNum type="arabicParenBoth"/>
                      </a:pP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시행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~10/8</a:t>
                      </a:r>
                    </a:p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~10/8</a:t>
                      </a:r>
                    </a:p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10/12~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303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이슈관리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TRS 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Issue Tracking</a:t>
                      </a:r>
                    </a:p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(TRS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사내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Wingdings" panose="05000000000000000000" pitchFamily="2" charset="2"/>
                        </a:rPr>
                        <a:t>MRB)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회사차원 검토 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(Jia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7608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코드관리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Build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Server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통한 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Tracking 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GitServer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구축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GitServer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구축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~11/23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2816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개발체계 구축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정형화된 사내 개발체계 없음</a:t>
                      </a:r>
                      <a:endParaRPr lang="en-US" altLang="ko-KR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ECSS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Software 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개발체계 파악 후 적절한 부분을 사내 적용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algn="l" latinLnBrk="1">
                        <a:buAutoNum type="arabicParenBoth"/>
                      </a:pP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ECSS 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자료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(*)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파악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105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최상림</a:t>
                      </a:r>
                      <a:endParaRPr lang="en-US" altLang="ko-KR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28600" indent="-228600" algn="l" latinLnBrk="1">
                        <a:buAutoNum type="arabicParenBoth"/>
                      </a:pP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사내 개발체계 정리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문서화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228600" indent="-228600" algn="l" latinLnBrk="1">
                        <a:buAutoNum type="arabicParenBoth"/>
                      </a:pP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팀원 교육 및 적용</a:t>
                      </a: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~11/27</a:t>
                      </a:r>
                    </a:p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~12/11</a:t>
                      </a:r>
                    </a:p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~12/18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03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46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248275"/>
          </a:xfrm>
        </p:spPr>
        <p:txBody>
          <a:bodyPr/>
          <a:lstStyle/>
          <a:p>
            <a:r>
              <a:rPr lang="en-US" altLang="ko-KR" dirty="0"/>
              <a:t>On-Board Program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기술 확보 목표 </a:t>
            </a:r>
            <a:r>
              <a:rPr lang="en-US" altLang="ko-KR" dirty="0"/>
              <a:t>Item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28600" y="131763"/>
            <a:ext cx="8666162" cy="706437"/>
          </a:xfrm>
        </p:spPr>
        <p:txBody>
          <a:bodyPr/>
          <a:lstStyle/>
          <a:p>
            <a:pPr algn="ctr"/>
            <a:r>
              <a:rPr lang="ko-KR" altLang="en-US" dirty="0"/>
              <a:t>현 진행중 </a:t>
            </a:r>
            <a:r>
              <a:rPr lang="en-US" altLang="ko-KR" dirty="0"/>
              <a:t>Project</a:t>
            </a:r>
            <a:endParaRPr lang="ko-KR" altLang="en-US" dirty="0"/>
          </a:p>
        </p:txBody>
      </p:sp>
      <p:graphicFrame>
        <p:nvGraphicFramePr>
          <p:cNvPr id="5" name="Group 414">
            <a:extLst>
              <a:ext uri="{FF2B5EF4-FFF2-40B4-BE49-F238E27FC236}">
                <a16:creationId xmlns:a16="http://schemas.microsoft.com/office/drawing/2014/main" id="{6B3E7AD0-EE51-4679-A80A-CA1C5205C6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283985"/>
              </p:ext>
            </p:extLst>
          </p:nvPr>
        </p:nvGraphicFramePr>
        <p:xfrm>
          <a:off x="228600" y="4431641"/>
          <a:ext cx="8666162" cy="1497833"/>
        </p:xfrm>
        <a:graphic>
          <a:graphicData uri="http://schemas.openxmlformats.org/drawingml/2006/table">
            <a:tbl>
              <a:tblPr/>
              <a:tblGrid>
                <a:gridCol w="651612">
                  <a:extLst>
                    <a:ext uri="{9D8B030D-6E8A-4147-A177-3AD203B41FA5}">
                      <a16:colId xmlns:a16="http://schemas.microsoft.com/office/drawing/2014/main" val="3465821244"/>
                    </a:ext>
                  </a:extLst>
                </a:gridCol>
                <a:gridCol w="1107887">
                  <a:extLst>
                    <a:ext uri="{9D8B030D-6E8A-4147-A177-3AD203B41FA5}">
                      <a16:colId xmlns:a16="http://schemas.microsoft.com/office/drawing/2014/main" val="3735195541"/>
                    </a:ext>
                  </a:extLst>
                </a:gridCol>
                <a:gridCol w="1659607">
                  <a:extLst>
                    <a:ext uri="{9D8B030D-6E8A-4147-A177-3AD203B41FA5}">
                      <a16:colId xmlns:a16="http://schemas.microsoft.com/office/drawing/2014/main" val="1914490660"/>
                    </a:ext>
                  </a:extLst>
                </a:gridCol>
                <a:gridCol w="1486082">
                  <a:extLst>
                    <a:ext uri="{9D8B030D-6E8A-4147-A177-3AD203B41FA5}">
                      <a16:colId xmlns:a16="http://schemas.microsoft.com/office/drawing/2014/main" val="568304102"/>
                    </a:ext>
                  </a:extLst>
                </a:gridCol>
                <a:gridCol w="2829786">
                  <a:extLst>
                    <a:ext uri="{9D8B030D-6E8A-4147-A177-3AD203B41FA5}">
                      <a16:colId xmlns:a16="http://schemas.microsoft.com/office/drawing/2014/main" val="1868441027"/>
                    </a:ext>
                  </a:extLst>
                </a:gridCol>
                <a:gridCol w="931188">
                  <a:extLst>
                    <a:ext uri="{9D8B030D-6E8A-4147-A177-3AD203B41FA5}">
                      <a16:colId xmlns:a16="http://schemas.microsoft.com/office/drawing/2014/main" val="1094245912"/>
                    </a:ext>
                  </a:extLst>
                </a:gridCol>
              </a:tblGrid>
              <a:tr h="199084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우선</a:t>
                      </a:r>
                      <a:endParaRPr lang="en-US" altLang="ko-KR" sz="105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algn="ctr" defTabSz="914400" rtl="0" eaLnBrk="1" latinLnBrk="1" hangingPunct="1"/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순위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Layer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Item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Prototyping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추진전략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05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5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Processor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Dual Core Processor</a:t>
                      </a:r>
                      <a:endParaRPr lang="ko-KR" altLang="en-US" sz="1050" kern="120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GR712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Eval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Kit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768261"/>
                  </a:ext>
                </a:extLst>
              </a:tr>
              <a:tr h="2838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OS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Vxworks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GR712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Eval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Kit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-22860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Both"/>
                        <a:tabLst/>
                        <a:defRPr/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CPU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제조사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컨텍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en-US" altLang="ko-KR" sz="105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Cobham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-22860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Both"/>
                        <a:tabLst/>
                        <a:defRPr/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VxWorks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업체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컨텍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en-US" altLang="ko-KR" sz="105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Windriver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64048"/>
                  </a:ext>
                </a:extLst>
              </a:tr>
              <a:tr h="2838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S/W Platform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NASA </a:t>
                      </a:r>
                      <a:r>
                        <a:rPr lang="en-US" altLang="ko-KR" sz="105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cFS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Lumir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표준</a:t>
                      </a:r>
                      <a:endParaRPr lang="en-US" altLang="ko-KR" sz="105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H/W Platform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5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742306"/>
                  </a:ext>
                </a:extLst>
              </a:tr>
            </a:tbl>
          </a:graphicData>
        </a:graphic>
      </p:graphicFrame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4A4AEA91-3526-4D3D-8586-1CBA18F5AE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823788"/>
              </p:ext>
            </p:extLst>
          </p:nvPr>
        </p:nvGraphicFramePr>
        <p:xfrm>
          <a:off x="228600" y="1473940"/>
          <a:ext cx="8666161" cy="19397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3426">
                  <a:extLst>
                    <a:ext uri="{9D8B030D-6E8A-4147-A177-3AD203B41FA5}">
                      <a16:colId xmlns:a16="http://schemas.microsoft.com/office/drawing/2014/main" val="1401345980"/>
                    </a:ext>
                  </a:extLst>
                </a:gridCol>
                <a:gridCol w="1987431">
                  <a:extLst>
                    <a:ext uri="{9D8B030D-6E8A-4147-A177-3AD203B41FA5}">
                      <a16:colId xmlns:a16="http://schemas.microsoft.com/office/drawing/2014/main" val="2137067819"/>
                    </a:ext>
                  </a:extLst>
                </a:gridCol>
                <a:gridCol w="1952865">
                  <a:extLst>
                    <a:ext uri="{9D8B030D-6E8A-4147-A177-3AD203B41FA5}">
                      <a16:colId xmlns:a16="http://schemas.microsoft.com/office/drawing/2014/main" val="1188671378"/>
                    </a:ext>
                  </a:extLst>
                </a:gridCol>
                <a:gridCol w="1989624">
                  <a:extLst>
                    <a:ext uri="{9D8B030D-6E8A-4147-A177-3AD203B41FA5}">
                      <a16:colId xmlns:a16="http://schemas.microsoft.com/office/drawing/2014/main" val="1817157066"/>
                    </a:ext>
                  </a:extLst>
                </a:gridCol>
                <a:gridCol w="1712815">
                  <a:extLst>
                    <a:ext uri="{9D8B030D-6E8A-4147-A177-3AD203B41FA5}">
                      <a16:colId xmlns:a16="http://schemas.microsoft.com/office/drawing/2014/main" val="30467305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DTNE (SBC)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SCEU (SCM)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IDHU (COB)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CEU (</a:t>
                      </a:r>
                      <a:r>
                        <a:rPr lang="en-US" altLang="ko-KR" sz="105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FpgaBoard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73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Application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ION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SAR Operation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Flash File System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CMOS Processing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303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Boot Loader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U-boot (</a:t>
                      </a:r>
                      <a:r>
                        <a:rPr lang="ko-KR" altLang="en-US" sz="105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개발중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U-boot [TBC]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Custom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7608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Middle Ware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UART, USRT, UDP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SpaceWire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CAN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SpaceWire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1553B, UART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USB 3.0, GPS_IMU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2816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RTEMS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Based on Leon-3 IP Processor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RTEMS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Based on Leon-3 IP Processor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RTEMS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Based on ASIC Processor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Lunux</a:t>
                      </a:r>
                      <a:endParaRPr lang="en-US" altLang="ko-KR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Based on ARM Processor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03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3057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248275"/>
          </a:xfrm>
        </p:spPr>
        <p:txBody>
          <a:bodyPr/>
          <a:lstStyle/>
          <a:p>
            <a:r>
              <a:rPr lang="en-US" altLang="ko-KR" dirty="0"/>
              <a:t>EGSE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28600" y="131763"/>
            <a:ext cx="8666162" cy="706437"/>
          </a:xfrm>
        </p:spPr>
        <p:txBody>
          <a:bodyPr/>
          <a:lstStyle/>
          <a:p>
            <a:pPr algn="ctr"/>
            <a:r>
              <a:rPr lang="ko-KR" altLang="en-US" dirty="0"/>
              <a:t>현 진행중 </a:t>
            </a:r>
            <a:r>
              <a:rPr lang="en-US" altLang="ko-KR" dirty="0"/>
              <a:t>Project</a:t>
            </a:r>
            <a:endParaRPr lang="ko-KR" altLang="en-US" dirty="0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8EED11B-CEF7-470E-A52C-3B0EC5A61F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130698"/>
              </p:ext>
            </p:extLst>
          </p:nvPr>
        </p:nvGraphicFramePr>
        <p:xfrm>
          <a:off x="228600" y="1473940"/>
          <a:ext cx="8666160" cy="19490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4951">
                  <a:extLst>
                    <a:ext uri="{9D8B030D-6E8A-4147-A177-3AD203B41FA5}">
                      <a16:colId xmlns:a16="http://schemas.microsoft.com/office/drawing/2014/main" val="1401345980"/>
                    </a:ext>
                  </a:extLst>
                </a:gridCol>
                <a:gridCol w="1073834">
                  <a:extLst>
                    <a:ext uri="{9D8B030D-6E8A-4147-A177-3AD203B41FA5}">
                      <a16:colId xmlns:a16="http://schemas.microsoft.com/office/drawing/2014/main" val="2137067819"/>
                    </a:ext>
                  </a:extLst>
                </a:gridCol>
                <a:gridCol w="1228578">
                  <a:extLst>
                    <a:ext uri="{9D8B030D-6E8A-4147-A177-3AD203B41FA5}">
                      <a16:colId xmlns:a16="http://schemas.microsoft.com/office/drawing/2014/main" val="1188671378"/>
                    </a:ext>
                  </a:extLst>
                </a:gridCol>
                <a:gridCol w="1331742">
                  <a:extLst>
                    <a:ext uri="{9D8B030D-6E8A-4147-A177-3AD203B41FA5}">
                      <a16:colId xmlns:a16="http://schemas.microsoft.com/office/drawing/2014/main" val="1817157066"/>
                    </a:ext>
                  </a:extLst>
                </a:gridCol>
                <a:gridCol w="1303606">
                  <a:extLst>
                    <a:ext uri="{9D8B030D-6E8A-4147-A177-3AD203B41FA5}">
                      <a16:colId xmlns:a16="http://schemas.microsoft.com/office/drawing/2014/main" val="1914341818"/>
                    </a:ext>
                  </a:extLst>
                </a:gridCol>
                <a:gridCol w="1499587">
                  <a:extLst>
                    <a:ext uri="{9D8B030D-6E8A-4147-A177-3AD203B41FA5}">
                      <a16:colId xmlns:a16="http://schemas.microsoft.com/office/drawing/2014/main" val="2616039523"/>
                    </a:ext>
                  </a:extLst>
                </a:gridCol>
                <a:gridCol w="1303862">
                  <a:extLst>
                    <a:ext uri="{9D8B030D-6E8A-4147-A177-3AD203B41FA5}">
                      <a16:colId xmlns:a16="http://schemas.microsoft.com/office/drawing/2014/main" val="3046730565"/>
                    </a:ext>
                  </a:extLst>
                </a:gridCol>
              </a:tblGrid>
              <a:tr h="403226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DTNE EGSE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SAX1 EGSE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IDHU EGSE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XDM EGSE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K7PE, 25PE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DHCC EGSE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73365"/>
                  </a:ext>
                </a:extLst>
              </a:tr>
              <a:tr h="4032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Application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ION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SAR Operation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Flash File System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XDM Operation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XDM Operation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CMOS Processing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6811342"/>
                  </a:ext>
                </a:extLst>
              </a:tr>
              <a:tr h="6785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Tool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Visual C++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COSMOS or 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Visual C++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COSMOS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COSMOS or 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Visual C++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latinLnBrk="1">
                        <a:buNone/>
                      </a:pP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-CMTS: </a:t>
                      </a:r>
                      <a:r>
                        <a:rPr lang="en-US" altLang="ko-KR" sz="105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Labview</a:t>
                      </a:r>
                      <a:endParaRPr lang="en-US" altLang="ko-KR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-SAS: C#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-VU: Embedded S/W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105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Labview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/ </a:t>
                      </a:r>
                    </a:p>
                    <a:p>
                      <a:pPr marL="0" indent="0" algn="ctr" latinLnBrk="1">
                        <a:buNone/>
                      </a:pP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Visual C++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303018"/>
                  </a:ext>
                </a:extLst>
              </a:tr>
              <a:tr h="4032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Windows10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Windows10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Windows10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Windows10 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(Was: Windows 7)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Windows10 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Windows10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7608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4380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248275"/>
          </a:xfrm>
        </p:spPr>
        <p:txBody>
          <a:bodyPr/>
          <a:lstStyle/>
          <a:p>
            <a:r>
              <a:rPr lang="en-US" altLang="ko-KR" dirty="0"/>
              <a:t>Software Layer</a:t>
            </a:r>
            <a:r>
              <a:rPr lang="ko-KR" altLang="en-US" dirty="0"/>
              <a:t>별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28600" y="131763"/>
            <a:ext cx="8666162" cy="706437"/>
          </a:xfrm>
        </p:spPr>
        <p:txBody>
          <a:bodyPr/>
          <a:lstStyle/>
          <a:p>
            <a:pPr algn="ctr"/>
            <a:r>
              <a:rPr lang="ko-KR" altLang="en-US" dirty="0" err="1"/>
              <a:t>인력별</a:t>
            </a:r>
            <a:r>
              <a:rPr lang="ko-KR" altLang="en-US" dirty="0"/>
              <a:t> 업무할당</a:t>
            </a:r>
          </a:p>
        </p:txBody>
      </p:sp>
      <p:graphicFrame>
        <p:nvGraphicFramePr>
          <p:cNvPr id="15" name="표 4">
            <a:extLst>
              <a:ext uri="{FF2B5EF4-FFF2-40B4-BE49-F238E27FC236}">
                <a16:creationId xmlns:a16="http://schemas.microsoft.com/office/drawing/2014/main" id="{23B09CE4-C621-4347-9B6B-BC47AE012C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138436"/>
              </p:ext>
            </p:extLst>
          </p:nvPr>
        </p:nvGraphicFramePr>
        <p:xfrm>
          <a:off x="360191" y="1491996"/>
          <a:ext cx="7817021" cy="37093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0969">
                  <a:extLst>
                    <a:ext uri="{9D8B030D-6E8A-4147-A177-3AD203B41FA5}">
                      <a16:colId xmlns:a16="http://schemas.microsoft.com/office/drawing/2014/main" val="3915171945"/>
                    </a:ext>
                  </a:extLst>
                </a:gridCol>
                <a:gridCol w="1100969">
                  <a:extLst>
                    <a:ext uri="{9D8B030D-6E8A-4147-A177-3AD203B41FA5}">
                      <a16:colId xmlns:a16="http://schemas.microsoft.com/office/drawing/2014/main" val="1401345980"/>
                    </a:ext>
                  </a:extLst>
                </a:gridCol>
                <a:gridCol w="1719131">
                  <a:extLst>
                    <a:ext uri="{9D8B030D-6E8A-4147-A177-3AD203B41FA5}">
                      <a16:colId xmlns:a16="http://schemas.microsoft.com/office/drawing/2014/main" val="2137067819"/>
                    </a:ext>
                  </a:extLst>
                </a:gridCol>
                <a:gridCol w="1501448">
                  <a:extLst>
                    <a:ext uri="{9D8B030D-6E8A-4147-A177-3AD203B41FA5}">
                      <a16:colId xmlns:a16="http://schemas.microsoft.com/office/drawing/2014/main" val="1188671378"/>
                    </a:ext>
                  </a:extLst>
                </a:gridCol>
                <a:gridCol w="1467960">
                  <a:extLst>
                    <a:ext uri="{9D8B030D-6E8A-4147-A177-3AD203B41FA5}">
                      <a16:colId xmlns:a16="http://schemas.microsoft.com/office/drawing/2014/main" val="1817157066"/>
                    </a:ext>
                  </a:extLst>
                </a:gridCol>
                <a:gridCol w="926544">
                  <a:extLst>
                    <a:ext uri="{9D8B030D-6E8A-4147-A177-3AD203B41FA5}">
                      <a16:colId xmlns:a16="http://schemas.microsoft.com/office/drawing/2014/main" val="1914341818"/>
                    </a:ext>
                  </a:extLst>
                </a:gridCol>
              </a:tblGrid>
              <a:tr h="403226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최상림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정연조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신정한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73365"/>
                  </a:ext>
                </a:extLst>
              </a:tr>
              <a:tr h="403226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On-Board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Application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 (DTNPL)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 (DTNPL)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6811342"/>
                  </a:ext>
                </a:extLst>
              </a:tr>
              <a:tr h="67856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Boot Loader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 (</a:t>
                      </a:r>
                      <a:r>
                        <a:rPr lang="en-US" altLang="ko-KR" sz="105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U-boot@DTNPL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450488"/>
                  </a:ext>
                </a:extLst>
              </a:tr>
              <a:tr h="67856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Middle Ware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303018"/>
                  </a:ext>
                </a:extLst>
              </a:tr>
              <a:tr h="67856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Kernel I/F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8960860"/>
                  </a:ext>
                </a:extLst>
              </a:tr>
              <a:tr h="40322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 (RTEMS)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7608457"/>
                  </a:ext>
                </a:extLst>
              </a:tr>
              <a:tr h="4032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 </a:t>
                      </a: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Platform S/W </a:t>
                      </a:r>
                      <a:r>
                        <a:rPr lang="ko-KR" altLang="en-US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구축</a:t>
                      </a: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1504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1510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248275"/>
          </a:xfrm>
        </p:spPr>
        <p:txBody>
          <a:bodyPr/>
          <a:lstStyle/>
          <a:p>
            <a:r>
              <a:rPr lang="en-US" altLang="ko-KR" dirty="0"/>
              <a:t>Project</a:t>
            </a:r>
            <a:r>
              <a:rPr lang="ko-KR" altLang="en-US" dirty="0"/>
              <a:t>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28600" y="131763"/>
            <a:ext cx="8666162" cy="706437"/>
          </a:xfrm>
        </p:spPr>
        <p:txBody>
          <a:bodyPr/>
          <a:lstStyle/>
          <a:p>
            <a:pPr algn="ctr"/>
            <a:r>
              <a:rPr lang="ko-KR" altLang="en-US" dirty="0" err="1"/>
              <a:t>인력별</a:t>
            </a:r>
            <a:r>
              <a:rPr lang="ko-KR" altLang="en-US" dirty="0"/>
              <a:t> 업무할당</a:t>
            </a:r>
          </a:p>
        </p:txBody>
      </p:sp>
      <p:graphicFrame>
        <p:nvGraphicFramePr>
          <p:cNvPr id="2" name="표 4">
            <a:extLst>
              <a:ext uri="{FF2B5EF4-FFF2-40B4-BE49-F238E27FC236}">
                <a16:creationId xmlns:a16="http://schemas.microsoft.com/office/drawing/2014/main" id="{12BF2CE2-B695-4C14-B692-A82B9DD87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730753"/>
              </p:ext>
            </p:extLst>
          </p:nvPr>
        </p:nvGraphicFramePr>
        <p:xfrm>
          <a:off x="228600" y="1473940"/>
          <a:ext cx="8666160" cy="22690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4951">
                  <a:extLst>
                    <a:ext uri="{9D8B030D-6E8A-4147-A177-3AD203B41FA5}">
                      <a16:colId xmlns:a16="http://schemas.microsoft.com/office/drawing/2014/main" val="1401345980"/>
                    </a:ext>
                  </a:extLst>
                </a:gridCol>
                <a:gridCol w="1226646">
                  <a:extLst>
                    <a:ext uri="{9D8B030D-6E8A-4147-A177-3AD203B41FA5}">
                      <a16:colId xmlns:a16="http://schemas.microsoft.com/office/drawing/2014/main" val="2137067819"/>
                    </a:ext>
                  </a:extLst>
                </a:gridCol>
                <a:gridCol w="1304973">
                  <a:extLst>
                    <a:ext uri="{9D8B030D-6E8A-4147-A177-3AD203B41FA5}">
                      <a16:colId xmlns:a16="http://schemas.microsoft.com/office/drawing/2014/main" val="1188671378"/>
                    </a:ext>
                  </a:extLst>
                </a:gridCol>
                <a:gridCol w="1346327">
                  <a:extLst>
                    <a:ext uri="{9D8B030D-6E8A-4147-A177-3AD203B41FA5}">
                      <a16:colId xmlns:a16="http://schemas.microsoft.com/office/drawing/2014/main" val="1817157066"/>
                    </a:ext>
                  </a:extLst>
                </a:gridCol>
                <a:gridCol w="1272809">
                  <a:extLst>
                    <a:ext uri="{9D8B030D-6E8A-4147-A177-3AD203B41FA5}">
                      <a16:colId xmlns:a16="http://schemas.microsoft.com/office/drawing/2014/main" val="1914341818"/>
                    </a:ext>
                  </a:extLst>
                </a:gridCol>
                <a:gridCol w="1231453">
                  <a:extLst>
                    <a:ext uri="{9D8B030D-6E8A-4147-A177-3AD203B41FA5}">
                      <a16:colId xmlns:a16="http://schemas.microsoft.com/office/drawing/2014/main" val="2616039523"/>
                    </a:ext>
                  </a:extLst>
                </a:gridCol>
                <a:gridCol w="1359001">
                  <a:extLst>
                    <a:ext uri="{9D8B030D-6E8A-4147-A177-3AD203B41FA5}">
                      <a16:colId xmlns:a16="http://schemas.microsoft.com/office/drawing/2014/main" val="3046730565"/>
                    </a:ext>
                  </a:extLst>
                </a:gridCol>
              </a:tblGrid>
              <a:tr h="403226"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DTNE (SBC)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SCEU (SCM)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IDHU (COB)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XDM EGSE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K7PE, 25PE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DHCC (CEU)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73365"/>
                  </a:ext>
                </a:extLst>
              </a:tr>
              <a:tr h="4032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최상림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Application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Boot Loader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Driver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RTEMS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Application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Boot Loader</a:t>
                      </a:r>
                    </a:p>
                    <a:p>
                      <a:pPr algn="ctr" latinLnBrk="1"/>
                      <a:endParaRPr lang="en-US" altLang="ko-KR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Application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Boot Loader</a:t>
                      </a:r>
                    </a:p>
                    <a:p>
                      <a:pPr algn="ctr" latinLnBrk="1"/>
                      <a:endParaRPr lang="en-US" altLang="ko-KR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endParaRPr lang="en-US" altLang="ko-KR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Application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6811342"/>
                  </a:ext>
                </a:extLst>
              </a:tr>
              <a:tr h="678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정연조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Application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Driver</a:t>
                      </a:r>
                    </a:p>
                    <a:p>
                      <a:pPr algn="ctr" latinLnBrk="1"/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RTEMS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Application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Driver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RTEMS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Application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Driver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RTEMS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303018"/>
                  </a:ext>
                </a:extLst>
              </a:tr>
              <a:tr h="4032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신정한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None/>
                      </a:pP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Application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Application</a:t>
                      </a:r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7608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8143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3" y="981075"/>
            <a:ext cx="8666162" cy="5248275"/>
          </a:xfrm>
        </p:spPr>
        <p:txBody>
          <a:bodyPr/>
          <a:lstStyle/>
          <a:p>
            <a:r>
              <a:rPr lang="ko-KR" altLang="en-US" dirty="0"/>
              <a:t>현 진행 상황 요약</a:t>
            </a:r>
            <a:endParaRPr lang="en-US" altLang="ko-KR" dirty="0"/>
          </a:p>
          <a:p>
            <a:pPr lvl="1"/>
            <a:r>
              <a:rPr lang="en-US" altLang="ko-KR" dirty="0"/>
              <a:t>S/W</a:t>
            </a:r>
            <a:r>
              <a:rPr lang="ko-KR" altLang="en-US" dirty="0"/>
              <a:t>의 개발방향 및 업무현황 파악진행</a:t>
            </a:r>
            <a:endParaRPr lang="en-US" altLang="ko-KR" dirty="0"/>
          </a:p>
          <a:p>
            <a:pPr lvl="2"/>
            <a:r>
              <a:rPr lang="en-US" altLang="ko-KR" dirty="0"/>
              <a:t>Boot Loader </a:t>
            </a:r>
            <a:r>
              <a:rPr lang="ko-KR" altLang="en-US" dirty="0"/>
              <a:t>작업 진행중 </a:t>
            </a:r>
            <a:r>
              <a:rPr lang="en-US" altLang="ko-KR" dirty="0"/>
              <a:t>(DTNPL)</a:t>
            </a:r>
          </a:p>
          <a:p>
            <a:pPr lvl="3"/>
            <a:r>
              <a:rPr lang="en-US" altLang="ko-KR" dirty="0"/>
              <a:t>1</a:t>
            </a:r>
            <a:r>
              <a:rPr lang="ko-KR" altLang="en-US" dirty="0"/>
              <a:t>단계 완료</a:t>
            </a:r>
            <a:r>
              <a:rPr lang="en-US" altLang="ko-KR" dirty="0"/>
              <a:t>, 2</a:t>
            </a:r>
            <a:r>
              <a:rPr lang="ko-KR" altLang="en-US" dirty="0"/>
              <a:t>단계 진행중 </a:t>
            </a:r>
            <a:r>
              <a:rPr lang="en-US" altLang="ko-KR" dirty="0"/>
              <a:t>(~10/30)</a:t>
            </a:r>
          </a:p>
          <a:p>
            <a:pPr lvl="2"/>
            <a:r>
              <a:rPr lang="ko-KR" altLang="en-US" dirty="0"/>
              <a:t>기술확보 </a:t>
            </a:r>
            <a:r>
              <a:rPr lang="en-US" altLang="ko-KR" dirty="0"/>
              <a:t>Item </a:t>
            </a:r>
            <a:r>
              <a:rPr lang="ko-KR" altLang="en-US" dirty="0"/>
              <a:t>선정 </a:t>
            </a:r>
            <a:r>
              <a:rPr lang="en-US" altLang="ko-KR" dirty="0"/>
              <a:t>(</a:t>
            </a:r>
            <a:r>
              <a:rPr lang="en-US" altLang="ko-KR" dirty="0" err="1"/>
              <a:t>DualCore</a:t>
            </a:r>
            <a:r>
              <a:rPr lang="en-US" altLang="ko-KR" dirty="0"/>
              <a:t> Processor)</a:t>
            </a:r>
          </a:p>
          <a:p>
            <a:pPr lvl="3"/>
            <a:r>
              <a:rPr lang="ko-KR" altLang="en-US" dirty="0"/>
              <a:t>관련자료 수집 및 파악진행 중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Near-term</a:t>
            </a:r>
            <a:r>
              <a:rPr lang="ko-KR" altLang="en-US" dirty="0"/>
              <a:t> </a:t>
            </a:r>
            <a:r>
              <a:rPr lang="en-US" altLang="ko-KR" dirty="0"/>
              <a:t>Activities</a:t>
            </a:r>
          </a:p>
          <a:p>
            <a:pPr lvl="1"/>
            <a:r>
              <a:rPr lang="ko-KR" altLang="en-US" dirty="0"/>
              <a:t>프로젝트별 일정 입수 및 </a:t>
            </a:r>
            <a:r>
              <a:rPr lang="en-US" altLang="ko-KR" dirty="0"/>
              <a:t>S/W</a:t>
            </a:r>
            <a:r>
              <a:rPr lang="ko-KR" altLang="en-US" dirty="0"/>
              <a:t>팀 스케쥴 작성 및 관리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비고</a:t>
            </a:r>
            <a:endParaRPr lang="en-US" altLang="ko-KR" dirty="0"/>
          </a:p>
          <a:p>
            <a:pPr lvl="1"/>
            <a:r>
              <a:rPr lang="ko-KR" altLang="en-US" dirty="0"/>
              <a:t>매주 목요일 오전 </a:t>
            </a:r>
            <a:r>
              <a:rPr lang="en-US" altLang="ko-KR" dirty="0"/>
              <a:t>11</a:t>
            </a:r>
            <a:r>
              <a:rPr lang="ko-KR" altLang="en-US" dirty="0"/>
              <a:t>시 정기회의 </a:t>
            </a:r>
            <a:r>
              <a:rPr lang="en-US" altLang="ko-KR" dirty="0"/>
              <a:t>(S/W</a:t>
            </a:r>
            <a:r>
              <a:rPr lang="ko-KR" altLang="en-US" dirty="0"/>
              <a:t>팀</a:t>
            </a:r>
            <a:r>
              <a:rPr lang="en-US" altLang="ko-KR" dirty="0"/>
              <a:t>)</a:t>
            </a:r>
          </a:p>
          <a:p>
            <a:pPr marL="347663" lvl="1" indent="0">
              <a:buNone/>
            </a:pPr>
            <a:r>
              <a:rPr lang="en-US" altLang="ko-KR" dirty="0"/>
              <a:t>	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28600" y="131763"/>
            <a:ext cx="8666162" cy="706437"/>
          </a:xfrm>
        </p:spPr>
        <p:txBody>
          <a:bodyPr/>
          <a:lstStyle/>
          <a:p>
            <a:pPr algn="ctr"/>
            <a:r>
              <a:rPr lang="en-US" altLang="ko-KR" dirty="0"/>
              <a:t>2020.09.24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3306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7EE375-71EF-4D59-8CEB-7DEE411B5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W41 – SW </a:t>
            </a:r>
            <a:r>
              <a:rPr lang="ko-KR" altLang="en-US" dirty="0"/>
              <a:t>주간</a:t>
            </a:r>
            <a:r>
              <a:rPr lang="en-US" altLang="ko-KR" dirty="0"/>
              <a:t> </a:t>
            </a:r>
            <a:r>
              <a:rPr lang="ko-KR" altLang="en-US" dirty="0"/>
              <a:t>업무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4923BB16-2FC0-41AD-AA7A-2DD4F48110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6036182"/>
              </p:ext>
            </p:extLst>
          </p:nvPr>
        </p:nvGraphicFramePr>
        <p:xfrm>
          <a:off x="233363" y="981078"/>
          <a:ext cx="8666160" cy="54852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25">
                  <a:extLst>
                    <a:ext uri="{9D8B030D-6E8A-4147-A177-3AD203B41FA5}">
                      <a16:colId xmlns:a16="http://schemas.microsoft.com/office/drawing/2014/main" val="3525870986"/>
                    </a:ext>
                  </a:extLst>
                </a:gridCol>
                <a:gridCol w="3397541">
                  <a:extLst>
                    <a:ext uri="{9D8B030D-6E8A-4147-A177-3AD203B41FA5}">
                      <a16:colId xmlns:a16="http://schemas.microsoft.com/office/drawing/2014/main" val="859442770"/>
                    </a:ext>
                  </a:extLst>
                </a:gridCol>
                <a:gridCol w="3740294">
                  <a:extLst>
                    <a:ext uri="{9D8B030D-6E8A-4147-A177-3AD203B41FA5}">
                      <a16:colId xmlns:a16="http://schemas.microsoft.com/office/drawing/2014/main" val="3862309279"/>
                    </a:ext>
                  </a:extLst>
                </a:gridCol>
              </a:tblGrid>
              <a:tr h="333909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W41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W42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611804"/>
                  </a:ext>
                </a:extLst>
              </a:tr>
              <a:tr h="12521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최상림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DTNE : U-Boot 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             MRAM Address </a:t>
                      </a:r>
                      <a:r>
                        <a:rPr lang="ko-KR" altLang="en-US" sz="1200" dirty="0"/>
                        <a:t>설계 검증 진행 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DHCC : </a:t>
                      </a:r>
                      <a:r>
                        <a:rPr lang="ko-KR" altLang="en-US" sz="1200" dirty="0"/>
                        <a:t>진도 확인 및 문제점 파악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              Sensor </a:t>
                      </a:r>
                      <a:r>
                        <a:rPr lang="ko-KR" altLang="en-US" sz="1200" dirty="0"/>
                        <a:t>동작이 정상적으로 </a:t>
                      </a:r>
                      <a:r>
                        <a:rPr lang="en-US" altLang="ko-KR" sz="1200" dirty="0" err="1"/>
                        <a:t>Init.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되지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않는 것으로 판단이 되며 차 주 원인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분석예정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dirty="0"/>
                        <a:t>DHCC : Sensor </a:t>
                      </a:r>
                      <a:r>
                        <a:rPr lang="ko-KR" altLang="en-US" sz="1200" dirty="0"/>
                        <a:t>동작이 정상적으로 </a:t>
                      </a:r>
                      <a:r>
                        <a:rPr lang="en-US" altLang="ko-KR" sz="1200" dirty="0" err="1"/>
                        <a:t>Init.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되지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않는 문제점 분석</a:t>
                      </a:r>
                      <a:endParaRPr lang="en-US" altLang="ko-KR" sz="120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dirty="0"/>
                        <a:t>DTNE : HYU </a:t>
                      </a:r>
                      <a:r>
                        <a:rPr lang="ko-KR" altLang="en-US" sz="1200" dirty="0"/>
                        <a:t>출장 예정 </a:t>
                      </a:r>
                      <a:r>
                        <a:rPr lang="en-US" altLang="ko-KR" sz="1200" dirty="0"/>
                        <a:t>( 10/14 13:00)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             KARI , ETRI , HYU</a:t>
                      </a:r>
                      <a:r>
                        <a:rPr lang="ko-KR" altLang="en-US" sz="1200" dirty="0"/>
                        <a:t>와 함께 전송 속도 검증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205359"/>
                  </a:ext>
                </a:extLst>
              </a:tr>
              <a:tr h="10729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정연조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DTNE : </a:t>
                      </a:r>
                      <a:r>
                        <a:rPr lang="en-US" altLang="ko-KR" sz="1200" dirty="0" err="1"/>
                        <a:t>Nand</a:t>
                      </a:r>
                      <a:r>
                        <a:rPr lang="en-US" altLang="ko-KR" sz="1200" dirty="0"/>
                        <a:t> HAL Driver </a:t>
                      </a:r>
                      <a:r>
                        <a:rPr lang="ko-KR" altLang="en-US" sz="1200" dirty="0"/>
                        <a:t>검증 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             - R/W </a:t>
                      </a:r>
                      <a:r>
                        <a:rPr lang="ko-KR" altLang="en-US" sz="1200" dirty="0"/>
                        <a:t>성능 확인 완료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             SRAM </a:t>
                      </a:r>
                      <a:r>
                        <a:rPr lang="ko-KR" altLang="en-US" sz="1200" dirty="0"/>
                        <a:t>영역 정상 동작 검증 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DTNE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: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SRAM </a:t>
                      </a:r>
                      <a:r>
                        <a:rPr lang="ko-KR" altLang="en-US" sz="1200" dirty="0"/>
                        <a:t>영역 정상 동작 검증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 err="1"/>
                        <a:t>SpaceWire</a:t>
                      </a:r>
                      <a:r>
                        <a:rPr lang="en-US" altLang="ko-KR" sz="1200" dirty="0"/>
                        <a:t> code</a:t>
                      </a:r>
                      <a:r>
                        <a:rPr lang="ko-KR" altLang="en-US" sz="1200" dirty="0"/>
                        <a:t> 검증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154520"/>
                  </a:ext>
                </a:extLst>
              </a:tr>
              <a:tr h="13200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신정한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DHCC : </a:t>
                      </a:r>
                      <a:r>
                        <a:rPr lang="en-US" altLang="ko-KR" sz="1200" dirty="0" err="1"/>
                        <a:t>Labview</a:t>
                      </a:r>
                      <a:r>
                        <a:rPr lang="en-US" altLang="ko-KR" sz="1200" dirty="0"/>
                        <a:t> Source Code </a:t>
                      </a:r>
                      <a:r>
                        <a:rPr lang="ko-KR" altLang="en-US" sz="1200" dirty="0"/>
                        <a:t>분석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DTNE : SBC EGSE Manual</a:t>
                      </a:r>
                      <a:r>
                        <a:rPr lang="ko-KR" altLang="en-US" sz="1200" dirty="0"/>
                        <a:t> </a:t>
                      </a:r>
                      <a:r>
                        <a:rPr lang="ko-KR" altLang="en-US" sz="1200"/>
                        <a:t>작성 완료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             DTNPL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Aging</a:t>
                      </a:r>
                      <a:r>
                        <a:rPr lang="ko-KR" altLang="en-US" sz="1200" dirty="0"/>
                        <a:t> 시험 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25PE</a:t>
                      </a:r>
                      <a:r>
                        <a:rPr lang="ko-KR" altLang="en-US" sz="1200" dirty="0"/>
                        <a:t>  </a:t>
                      </a:r>
                      <a:r>
                        <a:rPr lang="en-US" altLang="ko-KR" sz="1200" dirty="0"/>
                        <a:t>:</a:t>
                      </a:r>
                      <a:r>
                        <a:rPr lang="ko-KR" altLang="en-US" sz="1200" dirty="0"/>
                        <a:t> 베터리 알고리즘 충전 알고리즘 관련 구현된 </a:t>
                      </a:r>
                      <a:r>
                        <a:rPr lang="en-US" altLang="ko-KR" sz="1200" dirty="0"/>
                        <a:t>vi </a:t>
                      </a:r>
                      <a:r>
                        <a:rPr lang="ko-KR" altLang="en-US" sz="1200" dirty="0"/>
                        <a:t>확인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DTNE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: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Aging </a:t>
                      </a:r>
                      <a:r>
                        <a:rPr lang="ko-KR" altLang="en-US" sz="1200" dirty="0"/>
                        <a:t>시험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             </a:t>
                      </a:r>
                      <a:r>
                        <a:rPr lang="ko-KR" altLang="en-US" sz="1200" dirty="0"/>
                        <a:t>시험 결과 보고서 작성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COSMOS </a:t>
                      </a:r>
                      <a:r>
                        <a:rPr lang="ko-KR" altLang="en-US" sz="1200" dirty="0"/>
                        <a:t>분석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DHCC :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LabView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Source </a:t>
                      </a:r>
                      <a:r>
                        <a:rPr lang="ko-KR" altLang="en-US" sz="1200" dirty="0"/>
                        <a:t>분석</a:t>
                      </a:r>
                      <a:endParaRPr lang="en-US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20695"/>
                  </a:ext>
                </a:extLst>
              </a:tr>
              <a:tr h="13549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이우림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- XDM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EGSE</a:t>
                      </a:r>
                      <a:r>
                        <a:rPr lang="ko-KR" altLang="en-US" sz="1200" dirty="0"/>
                        <a:t> 점검 </a:t>
                      </a:r>
                      <a:r>
                        <a:rPr lang="en-US" altLang="ko-KR" sz="1200" dirty="0"/>
                        <a:t>(KARI)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SOH </a:t>
                      </a:r>
                      <a:r>
                        <a:rPr lang="ko-KR" altLang="en-US" sz="1200" dirty="0"/>
                        <a:t>출장 </a:t>
                      </a:r>
                      <a:r>
                        <a:rPr lang="en-US" altLang="ko-KR" sz="1200" dirty="0"/>
                        <a:t>( 10/15~16)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59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9487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7EE375-71EF-4D59-8CEB-7DEE411B5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W42 – SW </a:t>
            </a:r>
            <a:r>
              <a:rPr lang="ko-KR" altLang="en-US" dirty="0"/>
              <a:t>주간</a:t>
            </a:r>
            <a:r>
              <a:rPr lang="en-US" altLang="ko-KR" dirty="0"/>
              <a:t> </a:t>
            </a:r>
            <a:r>
              <a:rPr lang="ko-KR" altLang="en-US" dirty="0"/>
              <a:t>업무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4923BB16-2FC0-41AD-AA7A-2DD4F48110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536405"/>
              </p:ext>
            </p:extLst>
          </p:nvPr>
        </p:nvGraphicFramePr>
        <p:xfrm>
          <a:off x="233363" y="981078"/>
          <a:ext cx="8666160" cy="5783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378">
                  <a:extLst>
                    <a:ext uri="{9D8B030D-6E8A-4147-A177-3AD203B41FA5}">
                      <a16:colId xmlns:a16="http://schemas.microsoft.com/office/drawing/2014/main" val="3525870986"/>
                    </a:ext>
                  </a:extLst>
                </a:gridCol>
                <a:gridCol w="3741490">
                  <a:extLst>
                    <a:ext uri="{9D8B030D-6E8A-4147-A177-3AD203B41FA5}">
                      <a16:colId xmlns:a16="http://schemas.microsoft.com/office/drawing/2014/main" val="859442770"/>
                    </a:ext>
                  </a:extLst>
                </a:gridCol>
                <a:gridCol w="3589292">
                  <a:extLst>
                    <a:ext uri="{9D8B030D-6E8A-4147-A177-3AD203B41FA5}">
                      <a16:colId xmlns:a16="http://schemas.microsoft.com/office/drawing/2014/main" val="3862309279"/>
                    </a:ext>
                  </a:extLst>
                </a:gridCol>
              </a:tblGrid>
              <a:tr h="333909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W41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W42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611804"/>
                  </a:ext>
                </a:extLst>
              </a:tr>
              <a:tr h="12521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최상림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DTNE : U-Boot </a:t>
                      </a:r>
                      <a:r>
                        <a:rPr lang="ko-KR" altLang="en-US" sz="1200" dirty="0"/>
                        <a:t>수정 완료 </a:t>
                      </a:r>
                      <a:r>
                        <a:rPr lang="en-US" altLang="ko-KR" sz="1200" dirty="0"/>
                        <a:t>– </a:t>
                      </a:r>
                      <a:r>
                        <a:rPr lang="ko-KR" altLang="en-US" sz="1200" dirty="0"/>
                        <a:t>시험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대기 중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             MRAM Address </a:t>
                      </a:r>
                      <a:r>
                        <a:rPr lang="ko-KR" altLang="en-US" sz="1200" dirty="0"/>
                        <a:t>설계 검증 완료 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             HYU </a:t>
                      </a:r>
                      <a:r>
                        <a:rPr lang="ko-KR" altLang="en-US" sz="1200" dirty="0"/>
                        <a:t>출장 </a:t>
                      </a:r>
                      <a:r>
                        <a:rPr lang="en-US" altLang="ko-KR" sz="1200" dirty="0"/>
                        <a:t>: DTNE </a:t>
                      </a:r>
                      <a:r>
                        <a:rPr lang="ko-KR" altLang="en-US" sz="1200" dirty="0"/>
                        <a:t>통신 속도 검증 완료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DHCC : </a:t>
                      </a:r>
                      <a:r>
                        <a:rPr lang="ko-KR" altLang="en-US" sz="1200" dirty="0"/>
                        <a:t>진도 확인 및 문제점 파악 </a:t>
                      </a:r>
                      <a:r>
                        <a:rPr lang="en-US" altLang="ko-KR" sz="1200" dirty="0"/>
                        <a:t>F/U</a:t>
                      </a:r>
                      <a:br>
                        <a:rPr lang="en-US" altLang="ko-KR" sz="1200" dirty="0"/>
                      </a:b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dirty="0"/>
                        <a:t>DTNE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: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U-boot</a:t>
                      </a:r>
                      <a:r>
                        <a:rPr lang="ko-KR" altLang="en-US" sz="1200" dirty="0"/>
                        <a:t>  동작 검증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시험</a:t>
                      </a:r>
                      <a:endParaRPr lang="en-US" altLang="ko-KR" sz="120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dirty="0"/>
                        <a:t>DHCC : Issue F/U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dirty="0"/>
                        <a:t>C4PI    : </a:t>
                      </a:r>
                      <a:r>
                        <a:rPr lang="ko-KR" altLang="en-US" sz="1200" dirty="0"/>
                        <a:t>기 구현 </a:t>
                      </a:r>
                      <a:r>
                        <a:rPr lang="en-US" altLang="ko-KR" sz="1200" dirty="0"/>
                        <a:t>S/W </a:t>
                      </a:r>
                      <a:r>
                        <a:rPr lang="ko-KR" altLang="en-US" sz="1200" dirty="0"/>
                        <a:t>분석 진행</a:t>
                      </a:r>
                      <a:endParaRPr lang="en-US" altLang="ko-KR" sz="120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dirty="0" err="1"/>
                        <a:t>SpaceWire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기능 개선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205359"/>
                  </a:ext>
                </a:extLst>
              </a:tr>
              <a:tr h="10729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정연조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DTNE : SRAM </a:t>
                      </a:r>
                      <a:r>
                        <a:rPr lang="ko-KR" altLang="en-US" sz="1200" dirty="0"/>
                        <a:t>영역 정상 동작 검증 완료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             MKPROM</a:t>
                      </a:r>
                      <a:r>
                        <a:rPr lang="ko-KR" altLang="en-US" sz="1200" dirty="0"/>
                        <a:t>을 이용 </a:t>
                      </a:r>
                      <a:r>
                        <a:rPr lang="en-US" altLang="ko-KR" sz="1200" dirty="0"/>
                        <a:t>CPU Register </a:t>
                      </a:r>
                      <a:r>
                        <a:rPr lang="ko-KR" altLang="en-US" sz="1200" dirty="0"/>
                        <a:t>설정 없이 </a:t>
                      </a:r>
                      <a:r>
                        <a:rPr lang="en-US" altLang="ko-KR" sz="1200" dirty="0"/>
                        <a:t>CPU Initialize</a:t>
                      </a:r>
                      <a:r>
                        <a:rPr lang="ko-KR" altLang="en-US" sz="1200" dirty="0"/>
                        <a:t> 할 때 중요 </a:t>
                      </a:r>
                      <a:r>
                        <a:rPr lang="en-US" altLang="ko-KR" sz="1200" dirty="0"/>
                        <a:t>Register </a:t>
                      </a:r>
                      <a:r>
                        <a:rPr lang="ko-KR" altLang="en-US" sz="1200" dirty="0"/>
                        <a:t>설정 할 수 있도록 프로그램 수정 중</a:t>
                      </a:r>
                      <a:r>
                        <a:rPr lang="en-US" altLang="ko-KR" sz="1200" dirty="0"/>
                        <a:t>.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DTNE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: RTEMS Based Device Driver Bring up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             (Memory Control Unit </a:t>
                      </a:r>
                      <a:r>
                        <a:rPr lang="ko-KR" altLang="en-US" sz="1200" dirty="0"/>
                        <a:t>부터 시작 예정</a:t>
                      </a:r>
                      <a:r>
                        <a:rPr lang="en-US" altLang="ko-KR" sz="12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154520"/>
                  </a:ext>
                </a:extLst>
              </a:tr>
              <a:tr h="13200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신정한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DHCC : </a:t>
                      </a:r>
                      <a:r>
                        <a:rPr lang="en-US" altLang="ko-KR" sz="1200" dirty="0" err="1"/>
                        <a:t>Labview</a:t>
                      </a:r>
                      <a:r>
                        <a:rPr lang="en-US" altLang="ko-KR" sz="1200" dirty="0"/>
                        <a:t> Source Code </a:t>
                      </a:r>
                      <a:r>
                        <a:rPr lang="ko-KR" altLang="en-US" sz="1200" dirty="0"/>
                        <a:t>분석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DTNE : 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EGSE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S/W Mega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Traffic </a:t>
                      </a:r>
                      <a:r>
                        <a:rPr lang="ko-KR" altLang="en-US" sz="1200" dirty="0"/>
                        <a:t>수신 시 </a:t>
                      </a:r>
                      <a:r>
                        <a:rPr lang="en-US" altLang="ko-KR" sz="1200" dirty="0"/>
                        <a:t>Hang </a:t>
                      </a:r>
                      <a:r>
                        <a:rPr lang="ko-KR" altLang="en-US" sz="1200" dirty="0"/>
                        <a:t>현상 발생하여 원인 분석 중 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25PE</a:t>
                      </a:r>
                      <a:r>
                        <a:rPr lang="ko-KR" altLang="en-US" sz="1200" dirty="0"/>
                        <a:t>  </a:t>
                      </a:r>
                      <a:r>
                        <a:rPr lang="en-US" altLang="ko-KR" sz="1200" dirty="0"/>
                        <a:t>:</a:t>
                      </a:r>
                      <a:r>
                        <a:rPr lang="ko-KR" altLang="en-US" sz="1200" dirty="0"/>
                        <a:t> 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PCTS v2.0 </a:t>
                      </a:r>
                      <a:r>
                        <a:rPr lang="ko-KR" altLang="en-US" sz="1200" dirty="0"/>
                        <a:t>테스트 </a:t>
                      </a:r>
                      <a:r>
                        <a:rPr lang="en-US" altLang="ko-KR" sz="1200" dirty="0"/>
                        <a:t>&amp; PCTS Ramp up </a:t>
                      </a:r>
                      <a:r>
                        <a:rPr lang="ko-KR" altLang="en-US" sz="1200" dirty="0"/>
                        <a:t>테스트 대응 준비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AIT </a:t>
                      </a:r>
                      <a:r>
                        <a:rPr lang="ko-KR" altLang="en-US" sz="1200" dirty="0"/>
                        <a:t>프로그램 동작 흐름도 작성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             </a:t>
                      </a:r>
                      <a:r>
                        <a:rPr lang="ko-KR" altLang="en-US" sz="12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DTNE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: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Aging </a:t>
                      </a:r>
                      <a:r>
                        <a:rPr lang="ko-KR" altLang="en-US" sz="1200" dirty="0"/>
                        <a:t>시험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             </a:t>
                      </a:r>
                      <a:r>
                        <a:rPr lang="ko-KR" altLang="en-US" sz="1200" dirty="0"/>
                        <a:t>시험 결과 보고서 작성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COSMOS </a:t>
                      </a:r>
                      <a:r>
                        <a:rPr lang="ko-KR" altLang="en-US" sz="1200" dirty="0"/>
                        <a:t>분석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DHCC :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LabView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Source </a:t>
                      </a:r>
                      <a:r>
                        <a:rPr lang="ko-KR" altLang="en-US" sz="1200" dirty="0"/>
                        <a:t>분석</a:t>
                      </a:r>
                      <a:endParaRPr lang="en-US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20695"/>
                  </a:ext>
                </a:extLst>
              </a:tr>
              <a:tr h="13549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이우림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- XDM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EGSE</a:t>
                      </a:r>
                      <a:r>
                        <a:rPr lang="ko-KR" altLang="en-US" sz="1200" dirty="0"/>
                        <a:t> 점검 </a:t>
                      </a:r>
                      <a:r>
                        <a:rPr lang="en-US" altLang="ko-KR" sz="1200" dirty="0"/>
                        <a:t>(KARI)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59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9315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A3FD79-F9F2-4F75-9B0A-45891CBDB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RTEMS Base Memory Map </a:t>
            </a:r>
            <a:r>
              <a:rPr lang="ko-KR" altLang="en-US" dirty="0"/>
              <a:t>구성 완료</a:t>
            </a:r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55D53D71-035F-429E-B379-B49373985C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46919" y="1309687"/>
            <a:ext cx="763905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492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7ECCAC-B365-4B36-9EE1-F11453A9B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RTEMS Base Memory Control</a:t>
            </a:r>
            <a:r>
              <a:rPr lang="ko-KR" altLang="en-US" dirty="0"/>
              <a:t> </a:t>
            </a:r>
            <a:r>
              <a:rPr lang="en-US" altLang="ko-KR" dirty="0"/>
              <a:t>– Tech Note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5CF9E139-1FF0-4921-BDFB-17A65372AA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1136661"/>
            <a:ext cx="8666162" cy="87683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706DDDA-09C2-40E7-873B-B9AB6615F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170799"/>
            <a:ext cx="9144000" cy="228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731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DTNE AGING TEST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33363" y="981076"/>
            <a:ext cx="8694737" cy="5419724"/>
          </a:xfrm>
        </p:spPr>
        <p:txBody>
          <a:bodyPr/>
          <a:lstStyle/>
          <a:p>
            <a:r>
              <a:rPr lang="ko-KR" altLang="en-US" dirty="0"/>
              <a:t>시험 방법</a:t>
            </a:r>
            <a:endParaRPr lang="en-US" altLang="ko-KR" dirty="0"/>
          </a:p>
          <a:p>
            <a:pPr lvl="1"/>
            <a:r>
              <a:rPr lang="ko-KR" altLang="en-US" dirty="0"/>
              <a:t>시험 시간 </a:t>
            </a:r>
            <a:r>
              <a:rPr lang="en-US" altLang="ko-KR" dirty="0"/>
              <a:t>: </a:t>
            </a:r>
            <a:r>
              <a:rPr lang="ko-KR" altLang="en-US" dirty="0"/>
              <a:t>전원 </a:t>
            </a:r>
            <a:r>
              <a:rPr lang="en-US" altLang="ko-KR" dirty="0"/>
              <a:t>On </a:t>
            </a:r>
            <a:r>
              <a:rPr lang="ko-KR" altLang="en-US" dirty="0"/>
              <a:t>상태로 반복시험 </a:t>
            </a:r>
            <a:r>
              <a:rPr lang="en-US" altLang="ko-KR" dirty="0">
                <a:solidFill>
                  <a:srgbClr val="0000FF"/>
                </a:solidFill>
              </a:rPr>
              <a:t>3 days </a:t>
            </a:r>
            <a:r>
              <a:rPr lang="ko-KR" altLang="en-US" dirty="0"/>
              <a:t>이상</a:t>
            </a:r>
            <a:endParaRPr lang="en-US" altLang="ko-KR" dirty="0"/>
          </a:p>
          <a:p>
            <a:pPr lvl="1"/>
            <a:r>
              <a:rPr lang="ko-KR" altLang="en-US" dirty="0"/>
              <a:t>시험 수행 </a:t>
            </a:r>
            <a:r>
              <a:rPr lang="en-US" altLang="ko-KR" dirty="0"/>
              <a:t>: </a:t>
            </a:r>
            <a:r>
              <a:rPr lang="ko-KR" altLang="en-US" dirty="0"/>
              <a:t>동작을 확인할 수 있는 </a:t>
            </a:r>
            <a:r>
              <a:rPr lang="en-US" altLang="ko-KR" dirty="0">
                <a:solidFill>
                  <a:srgbClr val="0000FF"/>
                </a:solidFill>
              </a:rPr>
              <a:t>TC Set</a:t>
            </a:r>
            <a:r>
              <a:rPr lang="ko-KR" altLang="en-US" dirty="0"/>
              <a:t>을 반복 수행</a:t>
            </a:r>
            <a:endParaRPr lang="en-US" altLang="ko-KR" dirty="0"/>
          </a:p>
          <a:p>
            <a:pPr lvl="1"/>
            <a:r>
              <a:rPr lang="ko-KR" altLang="en-US" dirty="0"/>
              <a:t>시험 로그 </a:t>
            </a:r>
            <a:r>
              <a:rPr lang="en-US" altLang="ko-KR" dirty="0"/>
              <a:t>: EGSE</a:t>
            </a:r>
            <a:r>
              <a:rPr lang="ko-KR" altLang="en-US" dirty="0"/>
              <a:t>를 이용한 자동 로그</a:t>
            </a:r>
            <a:r>
              <a:rPr lang="en-US" altLang="ko-KR" dirty="0"/>
              <a:t>(TC </a:t>
            </a:r>
            <a:r>
              <a:rPr lang="ko-KR" altLang="en-US" dirty="0"/>
              <a:t>및 </a:t>
            </a:r>
            <a:r>
              <a:rPr lang="en-US" altLang="ko-KR" dirty="0"/>
              <a:t>TM)</a:t>
            </a:r>
          </a:p>
          <a:p>
            <a:endParaRPr lang="en-US" altLang="ko-KR" dirty="0"/>
          </a:p>
          <a:p>
            <a:r>
              <a:rPr lang="ko-KR" altLang="en-US" dirty="0"/>
              <a:t>판정 기준</a:t>
            </a:r>
            <a:endParaRPr lang="en-US" altLang="ko-KR" dirty="0"/>
          </a:p>
          <a:p>
            <a:pPr lvl="1"/>
            <a:r>
              <a:rPr lang="ko-KR" altLang="en-US" dirty="0"/>
              <a:t>수행한 모든 </a:t>
            </a:r>
            <a:r>
              <a:rPr lang="en-US" altLang="ko-KR" dirty="0"/>
              <a:t>TC</a:t>
            </a:r>
            <a:r>
              <a:rPr lang="ko-KR" altLang="en-US" dirty="0"/>
              <a:t>에 대해 정상 </a:t>
            </a:r>
            <a:r>
              <a:rPr lang="en-US" altLang="ko-KR" dirty="0"/>
              <a:t>TM </a:t>
            </a:r>
            <a:r>
              <a:rPr lang="ko-KR" altLang="en-US" dirty="0"/>
              <a:t>여부 확인 </a:t>
            </a:r>
            <a:endParaRPr lang="en-US" altLang="ko-KR" dirty="0"/>
          </a:p>
          <a:p>
            <a:pPr lvl="1"/>
            <a:r>
              <a:rPr lang="ko-KR" altLang="en-US" dirty="0"/>
              <a:t>반복적인 </a:t>
            </a:r>
            <a:r>
              <a:rPr lang="en-US" altLang="ko-KR" dirty="0"/>
              <a:t>S/W Reset </a:t>
            </a:r>
            <a:r>
              <a:rPr lang="ko-KR" altLang="en-US" dirty="0"/>
              <a:t>에 대해서 정상 동작 여부 확인</a:t>
            </a:r>
            <a:endParaRPr lang="en-US" altLang="ko-KR" dirty="0"/>
          </a:p>
          <a:p>
            <a:pPr lvl="1"/>
            <a:r>
              <a:rPr lang="en-US" altLang="ko-KR" dirty="0"/>
              <a:t>U-Boot </a:t>
            </a:r>
            <a:r>
              <a:rPr lang="ko-KR" altLang="en-US" dirty="0"/>
              <a:t>정상적으로 </a:t>
            </a:r>
            <a:r>
              <a:rPr lang="en-US" altLang="ko-KR" dirty="0"/>
              <a:t>Memory Control</a:t>
            </a:r>
            <a:r>
              <a:rPr lang="ko-KR" altLang="en-US" dirty="0"/>
              <a:t> </a:t>
            </a:r>
            <a:r>
              <a:rPr lang="en-US" altLang="ko-KR" dirty="0"/>
              <a:t>Register</a:t>
            </a:r>
            <a:r>
              <a:rPr lang="ko-KR" altLang="en-US" dirty="0"/>
              <a:t>를 설정 하여</a:t>
            </a:r>
            <a:br>
              <a:rPr lang="en-US" altLang="ko-KR" dirty="0"/>
            </a:br>
            <a:r>
              <a:rPr lang="ko-KR" altLang="en-US" dirty="0"/>
              <a:t>정상적으로 </a:t>
            </a:r>
            <a:r>
              <a:rPr lang="en-US" altLang="ko-KR" dirty="0"/>
              <a:t>Booting </a:t>
            </a:r>
            <a:r>
              <a:rPr lang="ko-KR" altLang="en-US" dirty="0"/>
              <a:t>되는지 확인 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시험 결과 </a:t>
            </a:r>
            <a:r>
              <a:rPr lang="en-US" altLang="ko-KR" dirty="0"/>
              <a:t>: </a:t>
            </a:r>
            <a:r>
              <a:rPr lang="ko-KR" altLang="en-US" dirty="0"/>
              <a:t>정상 동작 확인 완료</a:t>
            </a:r>
            <a:endParaRPr lang="en-US" altLang="ko-KR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1516FC-A4D6-406D-82EF-A47BD5C7F338}"/>
              </a:ext>
            </a:extLst>
          </p:cNvPr>
          <p:cNvSpPr txBox="1"/>
          <p:nvPr/>
        </p:nvSpPr>
        <p:spPr>
          <a:xfrm>
            <a:off x="3341330" y="6852137"/>
            <a:ext cx="70724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30s </a:t>
            </a:r>
            <a:r>
              <a:rPr lang="ko-KR" altLang="en-US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대기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75D79456-19C0-4B6A-9B5C-7CC125C68A29}"/>
              </a:ext>
            </a:extLst>
          </p:cNvPr>
          <p:cNvGrpSpPr/>
          <p:nvPr/>
        </p:nvGrpSpPr>
        <p:grpSpPr>
          <a:xfrm>
            <a:off x="6743013" y="1439197"/>
            <a:ext cx="2090493" cy="5067238"/>
            <a:chOff x="6933362" y="1474528"/>
            <a:chExt cx="1697268" cy="4718844"/>
          </a:xfrm>
        </p:grpSpPr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AAB86CE3-6887-47DA-A159-533198DAE618}"/>
                </a:ext>
              </a:extLst>
            </p:cNvPr>
            <p:cNvGrpSpPr/>
            <p:nvPr/>
          </p:nvGrpSpPr>
          <p:grpSpPr>
            <a:xfrm>
              <a:off x="6933362" y="1474528"/>
              <a:ext cx="1697268" cy="4486276"/>
              <a:chOff x="2346597" y="1143543"/>
              <a:chExt cx="1777347" cy="5400133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18AA51DD-69DC-4B08-B253-9968D9125D68}"/>
                  </a:ext>
                </a:extLst>
              </p:cNvPr>
              <p:cNvSpPr/>
              <p:nvPr/>
            </p:nvSpPr>
            <p:spPr bwMode="auto">
              <a:xfrm>
                <a:off x="2544651" y="1239424"/>
                <a:ext cx="1350170" cy="256779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Time Set TC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전송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7F3F40C4-7962-4293-B1C2-DC673FA68101}"/>
                  </a:ext>
                </a:extLst>
              </p:cNvPr>
              <p:cNvSpPr/>
              <p:nvPr/>
            </p:nvSpPr>
            <p:spPr bwMode="auto">
              <a:xfrm>
                <a:off x="2544651" y="1647763"/>
                <a:ext cx="1350170" cy="28295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Time Set TC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에 대한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ACK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수신</a:t>
                </a: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79E002DD-99BF-482D-8B84-A87C5B33B34A}"/>
                  </a:ext>
                </a:extLst>
              </p:cNvPr>
              <p:cNvSpPr/>
              <p:nvPr/>
            </p:nvSpPr>
            <p:spPr bwMode="auto">
              <a:xfrm>
                <a:off x="2544645" y="2085017"/>
                <a:ext cx="1350170" cy="256779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SOH Request TC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전송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</p:txBody>
          </p:sp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78EEFE3F-3B66-4E91-9015-675F20C2F15D}"/>
                  </a:ext>
                </a:extLst>
              </p:cNvPr>
              <p:cNvSpPr/>
              <p:nvPr/>
            </p:nvSpPr>
            <p:spPr bwMode="auto">
              <a:xfrm>
                <a:off x="2544646" y="2483248"/>
                <a:ext cx="1350170" cy="30988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SOH Request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에 대한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ACK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수신</a:t>
                </a:r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5807B279-A7D6-4A65-A565-965DA290F5C5}"/>
                  </a:ext>
                </a:extLst>
              </p:cNvPr>
              <p:cNvSpPr/>
              <p:nvPr/>
            </p:nvSpPr>
            <p:spPr bwMode="auto">
              <a:xfrm>
                <a:off x="2544645" y="2937612"/>
                <a:ext cx="1350168" cy="256779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Script1(</a:t>
                </a: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ION Start</a:t>
                </a: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) TC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전송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</p:txBody>
          </p:sp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38546859-15A3-4C4C-ABA5-6DBF17B1F1A7}"/>
                  </a:ext>
                </a:extLst>
              </p:cNvPr>
              <p:cNvSpPr/>
              <p:nvPr/>
            </p:nvSpPr>
            <p:spPr bwMode="auto">
              <a:xfrm>
                <a:off x="2544645" y="3347068"/>
                <a:ext cx="1350166" cy="27315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Script1 TC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에 대한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ACK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수신</a:t>
                </a:r>
              </a:p>
            </p:txBody>
          </p:sp>
          <p:cxnSp>
            <p:nvCxnSpPr>
              <p:cNvPr id="22" name="직선 화살표 연결선 21">
                <a:extLst>
                  <a:ext uri="{FF2B5EF4-FFF2-40B4-BE49-F238E27FC236}">
                    <a16:creationId xmlns:a16="http://schemas.microsoft.com/office/drawing/2014/main" id="{04CED5E2-8D3C-4C4F-876A-8FB3B715F54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24928" y="1497345"/>
                <a:ext cx="0" cy="150418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2793418-23D8-4A8B-9B68-E1C91EA69F55}"/>
                  </a:ext>
                </a:extLst>
              </p:cNvPr>
              <p:cNvSpPr txBox="1"/>
              <p:nvPr/>
            </p:nvSpPr>
            <p:spPr>
              <a:xfrm>
                <a:off x="3231765" y="3601589"/>
                <a:ext cx="738935" cy="2778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b="1" i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30</a:t>
                </a:r>
                <a:r>
                  <a:rPr lang="ko-KR" altLang="en-US" sz="900" b="1" i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초</a:t>
                </a:r>
                <a:r>
                  <a:rPr lang="en-US" altLang="ko-KR" sz="900" b="1" i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900" b="1" i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대기</a:t>
                </a: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74FAC258-31C4-4B78-8699-101360705392}"/>
                  </a:ext>
                </a:extLst>
              </p:cNvPr>
              <p:cNvSpPr/>
              <p:nvPr/>
            </p:nvSpPr>
            <p:spPr bwMode="auto">
              <a:xfrm>
                <a:off x="2544653" y="3845710"/>
                <a:ext cx="1358900" cy="256779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Time Set TC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전송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7E6B829D-B9A1-458D-AC13-A8F6F9690EF9}"/>
                  </a:ext>
                </a:extLst>
              </p:cNvPr>
              <p:cNvSpPr/>
              <p:nvPr/>
            </p:nvSpPr>
            <p:spPr bwMode="auto">
              <a:xfrm>
                <a:off x="2544653" y="4248469"/>
                <a:ext cx="1358900" cy="2812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Time Set TC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에 대한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ACK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수신</a:t>
                </a: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B256D9E2-9243-40BE-BBE8-8BA74065620A}"/>
                  </a:ext>
                </a:extLst>
              </p:cNvPr>
              <p:cNvSpPr/>
              <p:nvPr/>
            </p:nvSpPr>
            <p:spPr bwMode="auto">
              <a:xfrm>
                <a:off x="2535911" y="4680155"/>
                <a:ext cx="1358900" cy="256779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SOH Request TC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전송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DA089BA9-FCFC-444A-8F62-9D3E4B83EC5C}"/>
                  </a:ext>
                </a:extLst>
              </p:cNvPr>
              <p:cNvSpPr/>
              <p:nvPr/>
            </p:nvSpPr>
            <p:spPr bwMode="auto">
              <a:xfrm>
                <a:off x="2535911" y="5091532"/>
                <a:ext cx="1376363" cy="29673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SOH Request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에 대한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ACK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수신</a:t>
                </a:r>
              </a:p>
            </p:txBody>
          </p:sp>
          <p:cxnSp>
            <p:nvCxnSpPr>
              <p:cNvPr id="30" name="직선 화살표 연결선 29">
                <a:extLst>
                  <a:ext uri="{FF2B5EF4-FFF2-40B4-BE49-F238E27FC236}">
                    <a16:creationId xmlns:a16="http://schemas.microsoft.com/office/drawing/2014/main" id="{D5FF604A-D680-47FB-8A2B-2C07B027029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32833" y="4102489"/>
                <a:ext cx="0" cy="150418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1B6CBE9C-7C3F-40BF-B9DA-3244299C8A13}"/>
                  </a:ext>
                </a:extLst>
              </p:cNvPr>
              <p:cNvSpPr/>
              <p:nvPr/>
            </p:nvSpPr>
            <p:spPr bwMode="auto">
              <a:xfrm>
                <a:off x="2535910" y="5531211"/>
                <a:ext cx="1350179" cy="256779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Script1(</a:t>
                </a:r>
                <a:r>
                  <a:rPr kumimoji="1" lang="en-US" altLang="ko-KR" sz="800" b="0" i="0" u="none" strike="noStrike" cap="none" normalizeH="0" baseline="0" dirty="0" err="1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killm</a:t>
                </a: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) TC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전송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</p:txBody>
          </p:sp>
          <p:cxnSp>
            <p:nvCxnSpPr>
              <p:cNvPr id="38" name="직선 화살표 연결선 37">
                <a:extLst>
                  <a:ext uri="{FF2B5EF4-FFF2-40B4-BE49-F238E27FC236}">
                    <a16:creationId xmlns:a16="http://schemas.microsoft.com/office/drawing/2014/main" id="{E03E2A3B-F18B-4C48-905D-4252C6CD447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32833" y="1931182"/>
                <a:ext cx="0" cy="150418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9" name="직선 화살표 연결선 38">
                <a:extLst>
                  <a:ext uri="{FF2B5EF4-FFF2-40B4-BE49-F238E27FC236}">
                    <a16:creationId xmlns:a16="http://schemas.microsoft.com/office/drawing/2014/main" id="{D44402C3-97FB-4296-9C16-AD4F993290B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32833" y="2341796"/>
                <a:ext cx="0" cy="150418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0" name="직선 화살표 연결선 39">
                <a:extLst>
                  <a:ext uri="{FF2B5EF4-FFF2-40B4-BE49-F238E27FC236}">
                    <a16:creationId xmlns:a16="http://schemas.microsoft.com/office/drawing/2014/main" id="{3382D8D5-24D3-4CBB-B104-713A49C8CB1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24101" y="2786777"/>
                <a:ext cx="0" cy="150418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1" name="직선 화살표 연결선 40">
                <a:extLst>
                  <a:ext uri="{FF2B5EF4-FFF2-40B4-BE49-F238E27FC236}">
                    <a16:creationId xmlns:a16="http://schemas.microsoft.com/office/drawing/2014/main" id="{F70937FE-1B5F-4CD6-BFC0-D02A07D53FE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32833" y="3194391"/>
                <a:ext cx="0" cy="150418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3" name="직선 화살표 연결선 42">
                <a:extLst>
                  <a:ext uri="{FF2B5EF4-FFF2-40B4-BE49-F238E27FC236}">
                    <a16:creationId xmlns:a16="http://schemas.microsoft.com/office/drawing/2014/main" id="{7EC57B67-AA44-42AE-8B27-F36D2709AFB8}"/>
                  </a:ext>
                </a:extLst>
              </p:cNvPr>
              <p:cNvCxnSpPr>
                <a:cxnSpLocks/>
                <a:endCxn id="26" idx="0"/>
              </p:cNvCxnSpPr>
              <p:nvPr/>
            </p:nvCxnSpPr>
            <p:spPr bwMode="auto">
              <a:xfrm>
                <a:off x="3224103" y="3620225"/>
                <a:ext cx="0" cy="225485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5" name="직선 화살표 연결선 44">
                <a:extLst>
                  <a:ext uri="{FF2B5EF4-FFF2-40B4-BE49-F238E27FC236}">
                    <a16:creationId xmlns:a16="http://schemas.microsoft.com/office/drawing/2014/main" id="{6535482F-7455-4ED8-9D74-78E9068750B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35834" y="4529737"/>
                <a:ext cx="0" cy="150418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8" name="직선 화살표 연결선 47">
                <a:extLst>
                  <a:ext uri="{FF2B5EF4-FFF2-40B4-BE49-F238E27FC236}">
                    <a16:creationId xmlns:a16="http://schemas.microsoft.com/office/drawing/2014/main" id="{F744628C-6A6B-43B7-873B-5D1B15526E5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32833" y="4936934"/>
                <a:ext cx="0" cy="150418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49" name="직선 화살표 연결선 48">
                <a:extLst>
                  <a:ext uri="{FF2B5EF4-FFF2-40B4-BE49-F238E27FC236}">
                    <a16:creationId xmlns:a16="http://schemas.microsoft.com/office/drawing/2014/main" id="{EBF965BF-5BB2-4803-B6A9-9BF4C226919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32833" y="5388271"/>
                <a:ext cx="0" cy="150418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C7637DC5-1B20-4033-AA29-21AD7262D580}"/>
                  </a:ext>
                </a:extLst>
              </p:cNvPr>
              <p:cNvSpPr/>
              <p:nvPr/>
            </p:nvSpPr>
            <p:spPr bwMode="auto">
              <a:xfrm>
                <a:off x="2535909" y="5939816"/>
                <a:ext cx="1339685" cy="27315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Script1 TC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에 대한</a:t>
                </a:r>
                <a:endParaRPr kumimoji="1" lang="en-US" altLang="ko-KR" sz="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ko-KR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ACK </a:t>
                </a:r>
                <a:r>
                  <a:rPr kumimoji="1" lang="ko-KR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굴림" panose="020B0600000101010101" pitchFamily="50" charset="-127"/>
                  </a:rPr>
                  <a:t>수신</a:t>
                </a:r>
              </a:p>
            </p:txBody>
          </p:sp>
          <p:cxnSp>
            <p:nvCxnSpPr>
              <p:cNvPr id="52" name="직선 화살표 연결선 51">
                <a:extLst>
                  <a:ext uri="{FF2B5EF4-FFF2-40B4-BE49-F238E27FC236}">
                    <a16:creationId xmlns:a16="http://schemas.microsoft.com/office/drawing/2014/main" id="{9E154CC8-E565-4B1A-A64E-EE0696A4C5A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32833" y="5787990"/>
                <a:ext cx="0" cy="150418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3" name="직선 화살표 연결선 52">
                <a:extLst>
                  <a:ext uri="{FF2B5EF4-FFF2-40B4-BE49-F238E27FC236}">
                    <a16:creationId xmlns:a16="http://schemas.microsoft.com/office/drawing/2014/main" id="{667825C1-BC2D-4AC3-B672-A7C48715361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232833" y="6212973"/>
                <a:ext cx="0" cy="225485"/>
              </a:xfrm>
              <a:prstGeom prst="straightConnector1">
                <a:avLst/>
              </a:prstGeom>
              <a:solidFill>
                <a:schemeClr val="accent1"/>
              </a:solidFill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triangle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D46EC33-3BB2-4010-8D66-A43F34430DE1}"/>
                  </a:ext>
                </a:extLst>
              </p:cNvPr>
              <p:cNvSpPr txBox="1"/>
              <p:nvPr/>
            </p:nvSpPr>
            <p:spPr>
              <a:xfrm>
                <a:off x="3229370" y="6224119"/>
                <a:ext cx="738935" cy="2778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900" b="1" i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30</a:t>
                </a:r>
                <a:r>
                  <a:rPr lang="ko-KR" altLang="en-US" sz="900" b="1" i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초</a:t>
                </a:r>
                <a:r>
                  <a:rPr lang="en-US" altLang="ko-KR" sz="900" b="1" i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900" b="1" i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대기</a:t>
                </a:r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030014F2-BF11-4DC1-B007-D2CD5DBBF2F8}"/>
                  </a:ext>
                </a:extLst>
              </p:cNvPr>
              <p:cNvSpPr/>
              <p:nvPr/>
            </p:nvSpPr>
            <p:spPr bwMode="auto">
              <a:xfrm>
                <a:off x="2346597" y="1143543"/>
                <a:ext cx="1777347" cy="5400133"/>
              </a:xfrm>
              <a:prstGeom prst="rect">
                <a:avLst/>
              </a:prstGeom>
              <a:noFill/>
              <a:ln w="317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42E6A40-F44B-48FF-9D85-C1D7C4639A9A}"/>
                </a:ext>
              </a:extLst>
            </p:cNvPr>
            <p:cNvSpPr txBox="1"/>
            <p:nvPr/>
          </p:nvSpPr>
          <p:spPr>
            <a:xfrm>
              <a:off x="7618214" y="5935418"/>
              <a:ext cx="520851" cy="2579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solidFill>
                    <a:srgbClr val="0000FF"/>
                  </a:solidFill>
                </a:rPr>
                <a:t>TC Set</a:t>
              </a:r>
              <a:endParaRPr lang="ko-KR" altLang="en-US" sz="1200" b="1" dirty="0">
                <a:solidFill>
                  <a:srgbClr val="0000FF"/>
                </a:solidFill>
              </a:endParaRPr>
            </a:p>
          </p:txBody>
        </p:sp>
      </p:grp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31E7419-B1D1-4F7D-A74E-999178DA91D0}"/>
              </a:ext>
            </a:extLst>
          </p:cNvPr>
          <p:cNvSpPr/>
          <p:nvPr/>
        </p:nvSpPr>
        <p:spPr bwMode="auto">
          <a:xfrm>
            <a:off x="7630973" y="1031729"/>
            <a:ext cx="198965" cy="13886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ko-KR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AD2964C0-6B0D-4A58-B45B-84368931ACCB}"/>
              </a:ext>
            </a:extLst>
          </p:cNvPr>
          <p:cNvSpPr/>
          <p:nvPr/>
        </p:nvSpPr>
        <p:spPr bwMode="auto">
          <a:xfrm>
            <a:off x="7625786" y="1215696"/>
            <a:ext cx="198965" cy="13886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14A4B08-249F-4A50-9D76-E34B83F4233A}"/>
              </a:ext>
            </a:extLst>
          </p:cNvPr>
          <p:cNvSpPr txBox="1"/>
          <p:nvPr/>
        </p:nvSpPr>
        <p:spPr>
          <a:xfrm>
            <a:off x="7788260" y="1004522"/>
            <a:ext cx="111761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latin typeface="+mn-lt"/>
                <a:ea typeface="맑은 고딕" panose="020B0503020000020004" pitchFamily="50" charset="-127"/>
              </a:rPr>
              <a:t>TC (EGSE </a:t>
            </a:r>
            <a:r>
              <a:rPr lang="en-US" altLang="ko-KR" sz="7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--&gt;</a:t>
            </a:r>
            <a:r>
              <a:rPr lang="en-US" altLang="ko-KR" sz="700" dirty="0">
                <a:latin typeface="+mn-lt"/>
                <a:ea typeface="맑은 고딕" panose="020B0503020000020004" pitchFamily="50" charset="-127"/>
              </a:rPr>
              <a:t> DTNPL)</a:t>
            </a:r>
            <a:endParaRPr lang="ko-KR" altLang="en-US" sz="700" dirty="0">
              <a:latin typeface="+mn-lt"/>
              <a:ea typeface="맑은 고딕" panose="020B0503020000020004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1515B4C-6D00-4919-867B-6EF5877129BA}"/>
              </a:ext>
            </a:extLst>
          </p:cNvPr>
          <p:cNvSpPr txBox="1"/>
          <p:nvPr/>
        </p:nvSpPr>
        <p:spPr>
          <a:xfrm>
            <a:off x="7788260" y="1184219"/>
            <a:ext cx="108074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latin typeface="+mn-lt"/>
                <a:ea typeface="맑은 고딕" panose="020B0503020000020004" pitchFamily="50" charset="-127"/>
              </a:rPr>
              <a:t>TM (DTNPL </a:t>
            </a:r>
            <a:r>
              <a:rPr lang="en-US" altLang="ko-KR" sz="7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anose="05000000000000000000" pitchFamily="2" charset="2"/>
              </a:rPr>
              <a:t></a:t>
            </a:r>
            <a:r>
              <a:rPr lang="en-US" altLang="ko-KR" sz="700" dirty="0">
                <a:latin typeface="+mn-lt"/>
                <a:ea typeface="맑은 고딕" panose="020B0503020000020004" pitchFamily="50" charset="-127"/>
              </a:rPr>
              <a:t> EGSE)</a:t>
            </a:r>
            <a:endParaRPr lang="ko-KR" altLang="en-US" sz="700" dirty="0">
              <a:latin typeface="+mn-lt"/>
              <a:ea typeface="맑은 고딕" panose="020B0503020000020004" pitchFamily="50" charset="-127"/>
            </a:endParaRPr>
          </a:p>
        </p:txBody>
      </p:sp>
      <p:pic>
        <p:nvPicPr>
          <p:cNvPr id="42" name="table">
            <a:extLst>
              <a:ext uri="{FF2B5EF4-FFF2-40B4-BE49-F238E27FC236}">
                <a16:creationId xmlns:a16="http://schemas.microsoft.com/office/drawing/2014/main" id="{D16880BF-FDE9-4F04-B1E1-CA26BA251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70" y="4640472"/>
            <a:ext cx="6108836" cy="143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598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1691E4-DB46-4054-BDDF-3210FB7EE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NAND R/W Performance</a:t>
            </a:r>
            <a:r>
              <a:rPr lang="ko-KR" altLang="en-US" dirty="0"/>
              <a:t> </a:t>
            </a:r>
            <a:r>
              <a:rPr lang="en-US" altLang="ko-KR" dirty="0"/>
              <a:t>Test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33B552-2FCF-467D-B46D-BAAB8E608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585" y="1133474"/>
            <a:ext cx="8666162" cy="5248275"/>
          </a:xfrm>
        </p:spPr>
        <p:txBody>
          <a:bodyPr/>
          <a:lstStyle/>
          <a:p>
            <a:r>
              <a:rPr lang="en-US" altLang="ko-KR" dirty="0"/>
              <a:t>Write Time  : 256 KB</a:t>
            </a:r>
            <a:r>
              <a:rPr lang="ko-KR" altLang="en-US" dirty="0"/>
              <a:t> 데이터 </a:t>
            </a:r>
            <a:r>
              <a:rPr lang="en-US" altLang="ko-KR" dirty="0"/>
              <a:t>Write time 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 about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160 </a:t>
            </a:r>
            <a:r>
              <a:rPr lang="en-US" altLang="ko-KR" dirty="0" err="1">
                <a:sym typeface="Wingdings" panose="05000000000000000000" pitchFamily="2" charset="2"/>
              </a:rPr>
              <a:t>ms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Read Time : 256 KB </a:t>
            </a:r>
            <a:r>
              <a:rPr lang="ko-KR" altLang="en-US" dirty="0">
                <a:sym typeface="Wingdings" panose="05000000000000000000" pitchFamily="2" charset="2"/>
              </a:rPr>
              <a:t>데이터 </a:t>
            </a:r>
            <a:r>
              <a:rPr lang="en-US" altLang="ko-KR" dirty="0">
                <a:sym typeface="Wingdings" panose="05000000000000000000" pitchFamily="2" charset="2"/>
              </a:rPr>
              <a:t>Read time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 About 400 </a:t>
            </a:r>
            <a:r>
              <a:rPr lang="en-US" altLang="ko-KR" dirty="0" err="1">
                <a:sym typeface="Wingdings" panose="05000000000000000000" pitchFamily="2" charset="2"/>
              </a:rPr>
              <a:t>ms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3438A70-602C-4CB1-B755-EBAFFA760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156" y="1769943"/>
            <a:ext cx="3306589" cy="198766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D789A81-381A-4485-A0D3-8E144CB2D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156" y="4394080"/>
            <a:ext cx="3374703" cy="19629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E4FB07E-7A17-454F-9E16-C9E3C7F342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1668" y="1716074"/>
            <a:ext cx="4055598" cy="3933825"/>
          </a:xfrm>
          <a:prstGeom prst="rect">
            <a:avLst/>
          </a:prstGeom>
        </p:spPr>
      </p:pic>
      <p:sp>
        <p:nvSpPr>
          <p:cNvPr id="9" name="내용 개체 틀 6">
            <a:extLst>
              <a:ext uri="{FF2B5EF4-FFF2-40B4-BE49-F238E27FC236}">
                <a16:creationId xmlns:a16="http://schemas.microsoft.com/office/drawing/2014/main" id="{62A99391-B62F-4FB1-99C8-2A94C85C3C1B}"/>
              </a:ext>
            </a:extLst>
          </p:cNvPr>
          <p:cNvSpPr txBox="1">
            <a:spLocks/>
          </p:cNvSpPr>
          <p:nvPr/>
        </p:nvSpPr>
        <p:spPr bwMode="auto">
          <a:xfrm>
            <a:off x="4931668" y="1141795"/>
            <a:ext cx="4212332" cy="5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b="1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  <a:lvl2pPr marL="538163" indent="-1905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60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2pPr>
            <a:lvl3pPr marL="896938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 b="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3pPr>
            <a:lvl4pPr marL="1255713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400" b="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4pPr>
            <a:lvl5pPr marL="1614488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 b="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/>
              <a:t>Test Data Pattern</a:t>
            </a:r>
          </a:p>
        </p:txBody>
      </p:sp>
    </p:spTree>
    <p:extLst>
      <p:ext uri="{BB962C8B-B14F-4D97-AF65-F5344CB8AC3E}">
        <p14:creationId xmlns:p14="http://schemas.microsoft.com/office/powerpoint/2010/main" val="728602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D1552E-97B2-474D-B10A-5A51FA4DC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SDRAM</a:t>
            </a:r>
            <a:r>
              <a:rPr lang="ko-KR" altLang="en-US" dirty="0"/>
              <a:t> </a:t>
            </a:r>
            <a:r>
              <a:rPr lang="en-US" altLang="ko-KR" dirty="0"/>
              <a:t>Performance</a:t>
            </a:r>
            <a:r>
              <a:rPr lang="ko-KR" altLang="en-US" dirty="0"/>
              <a:t> </a:t>
            </a:r>
            <a:r>
              <a:rPr lang="en-US" altLang="ko-KR" dirty="0"/>
              <a:t>Test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B74ED6-7760-494D-AC76-B2EAD2448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/>
              <a:t>TEST RAM </a:t>
            </a:r>
            <a:r>
              <a:rPr lang="ko-KR" altLang="en-US" sz="1800" dirty="0"/>
              <a:t>영역</a:t>
            </a:r>
            <a:r>
              <a:rPr lang="en-US" altLang="ko-KR" sz="1800" dirty="0"/>
              <a:t>: 0x60000000 ~ 0x68000000 (128 MB)</a:t>
            </a:r>
          </a:p>
          <a:p>
            <a:pPr lvl="1"/>
            <a:r>
              <a:rPr lang="ko-KR" altLang="en-US" dirty="0"/>
              <a:t>시험방법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en-US" altLang="ko-KR" dirty="0"/>
              <a:t>0x60000000 </a:t>
            </a:r>
            <a:r>
              <a:rPr lang="ko-KR" altLang="en-US" dirty="0"/>
              <a:t>번지 부터 임의의 </a:t>
            </a:r>
            <a:r>
              <a:rPr lang="en-US" altLang="ko-KR" dirty="0"/>
              <a:t>Data 4bytes(0x55AA55AA) </a:t>
            </a:r>
            <a:r>
              <a:rPr lang="ko-KR" altLang="en-US" dirty="0"/>
              <a:t>를 </a:t>
            </a:r>
            <a:r>
              <a:rPr lang="en-US" altLang="ko-KR" dirty="0"/>
              <a:t>Write -&gt; Read -&gt; Compare </a:t>
            </a:r>
            <a:r>
              <a:rPr lang="ko-KR" altLang="en-US" dirty="0"/>
              <a:t>반복 수행 </a:t>
            </a:r>
            <a:r>
              <a:rPr lang="en-US" altLang="ko-KR" dirty="0"/>
              <a:t>(16MB </a:t>
            </a:r>
            <a:r>
              <a:rPr lang="ko-KR" altLang="en-US" dirty="0"/>
              <a:t>영역까지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테스트 중 에러 발생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    1) 16KB write </a:t>
            </a:r>
            <a:r>
              <a:rPr lang="ko-KR" altLang="en-US" dirty="0"/>
              <a:t>후 원인 불명의 </a:t>
            </a:r>
            <a:r>
              <a:rPr lang="en-US" altLang="ko-KR" dirty="0"/>
              <a:t>exception </a:t>
            </a:r>
            <a:r>
              <a:rPr lang="ko-KR" altLang="en-US" dirty="0"/>
              <a:t>발생후 </a:t>
            </a:r>
            <a:r>
              <a:rPr lang="en-US" altLang="ko-KR" dirty="0"/>
              <a:t>System down</a:t>
            </a:r>
            <a:br>
              <a:rPr lang="en-US" altLang="ko-KR" dirty="0"/>
            </a:br>
            <a:r>
              <a:rPr lang="en-US" altLang="ko-KR" dirty="0"/>
              <a:t>    2) </a:t>
            </a:r>
            <a:r>
              <a:rPr lang="ko-KR" altLang="en-US" dirty="0"/>
              <a:t>위 증상으로 </a:t>
            </a:r>
            <a:r>
              <a:rPr lang="en-US" altLang="ko-KR" dirty="0"/>
              <a:t>16KB write </a:t>
            </a:r>
            <a:r>
              <a:rPr lang="ko-KR" altLang="en-US" dirty="0"/>
              <a:t>후 약 </a:t>
            </a:r>
            <a:r>
              <a:rPr lang="en-US" altLang="ko-KR" dirty="0"/>
              <a:t>1</a:t>
            </a:r>
            <a:r>
              <a:rPr lang="ko-KR" altLang="en-US" dirty="0"/>
              <a:t>초의 </a:t>
            </a:r>
            <a:r>
              <a:rPr lang="en-US" altLang="ko-KR" dirty="0"/>
              <a:t>delay </a:t>
            </a:r>
            <a:r>
              <a:rPr lang="ko-KR" altLang="en-US" dirty="0"/>
              <a:t>삽입하여 다시 시험 </a:t>
            </a:r>
            <a:r>
              <a:rPr lang="en-US" altLang="ko-KR" dirty="0"/>
              <a:t>(</a:t>
            </a:r>
            <a:r>
              <a:rPr lang="ko-KR" altLang="en-US" dirty="0"/>
              <a:t>즉</a:t>
            </a:r>
            <a:r>
              <a:rPr lang="en-US" altLang="ko-KR" dirty="0"/>
              <a:t>, 16KB write </a:t>
            </a:r>
            <a:r>
              <a:rPr lang="ko-KR" altLang="en-US" dirty="0"/>
              <a:t>마다 </a:t>
            </a:r>
            <a:r>
              <a:rPr lang="en-US" altLang="ko-KR" dirty="0"/>
              <a:t>1 </a:t>
            </a:r>
            <a:r>
              <a:rPr lang="ko-KR" altLang="en-US" dirty="0"/>
              <a:t>초의 </a:t>
            </a:r>
            <a:r>
              <a:rPr lang="en-US" altLang="ko-KR" dirty="0"/>
              <a:t>delay</a:t>
            </a:r>
            <a:r>
              <a:rPr lang="ko-KR" altLang="en-US" dirty="0"/>
              <a:t>임의 삽입테스트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    3) 0x60F49570 </a:t>
            </a:r>
            <a:r>
              <a:rPr lang="ko-KR" altLang="en-US" dirty="0"/>
              <a:t>번지 까지 테스트 되다가 원인 불명의 </a:t>
            </a:r>
            <a:r>
              <a:rPr lang="en-US" altLang="ko-KR" dirty="0"/>
              <a:t>exception </a:t>
            </a:r>
            <a:r>
              <a:rPr lang="ko-KR" altLang="en-US" dirty="0"/>
              <a:t>발생후 </a:t>
            </a:r>
            <a:r>
              <a:rPr lang="en-US" altLang="ko-KR" dirty="0"/>
              <a:t>System down</a:t>
            </a:r>
            <a:br>
              <a:rPr lang="en-US" altLang="ko-KR" dirty="0"/>
            </a:br>
            <a:r>
              <a:rPr lang="en-US" altLang="ko-KR" dirty="0"/>
              <a:t>    4) </a:t>
            </a:r>
            <a:r>
              <a:rPr lang="ko-KR" altLang="en-US" dirty="0"/>
              <a:t>그 외에 다양한 </a:t>
            </a:r>
            <a:r>
              <a:rPr lang="en-US" altLang="ko-KR" dirty="0"/>
              <a:t>size, delay </a:t>
            </a:r>
            <a:r>
              <a:rPr lang="ko-KR" altLang="en-US" dirty="0"/>
              <a:t>등을 </a:t>
            </a:r>
            <a:r>
              <a:rPr lang="en-US" altLang="ko-KR" dirty="0"/>
              <a:t>TEST.</a:t>
            </a:r>
          </a:p>
          <a:p>
            <a:r>
              <a:rPr lang="en-US" altLang="ko-KR" sz="1800" dirty="0"/>
              <a:t>GRMON</a:t>
            </a:r>
            <a:r>
              <a:rPr lang="ko-KR" altLang="en-US" sz="1800" dirty="0"/>
              <a:t>을</a:t>
            </a:r>
            <a:r>
              <a:rPr lang="en-US" altLang="ko-KR" sz="1800" dirty="0"/>
              <a:t> </a:t>
            </a:r>
            <a:r>
              <a:rPr lang="ko-KR" altLang="en-US" sz="1800" dirty="0"/>
              <a:t>이용 메모리 </a:t>
            </a:r>
            <a:r>
              <a:rPr lang="en-US" altLang="ko-KR" sz="1800" dirty="0"/>
              <a:t>R/W </a:t>
            </a:r>
            <a:r>
              <a:rPr lang="ko-KR" altLang="en-US" sz="1800" dirty="0"/>
              <a:t>시험</a:t>
            </a:r>
            <a:endParaRPr lang="en-US" altLang="ko-KR" sz="1800" dirty="0"/>
          </a:p>
          <a:p>
            <a:pPr lvl="1"/>
            <a:r>
              <a:rPr lang="ko-KR" altLang="en-US" dirty="0"/>
              <a:t>시험방법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en-US" altLang="ko-KR" dirty="0"/>
              <a:t>0x60000000 </a:t>
            </a:r>
            <a:r>
              <a:rPr lang="ko-KR" altLang="en-US" dirty="0"/>
              <a:t>번지에 </a:t>
            </a:r>
            <a:r>
              <a:rPr lang="en-US" altLang="ko-KR" dirty="0"/>
              <a:t>16MB, 128MB</a:t>
            </a:r>
            <a:r>
              <a:rPr lang="ko-KR" altLang="en-US" dirty="0"/>
              <a:t>등의 </a:t>
            </a:r>
            <a:r>
              <a:rPr lang="en-US" altLang="ko-KR" dirty="0"/>
              <a:t>dummy binary file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en-US" altLang="ko-KR" dirty="0" err="1"/>
              <a:t>grmon</a:t>
            </a:r>
            <a:r>
              <a:rPr lang="en-US" altLang="ko-KR" dirty="0"/>
              <a:t> </a:t>
            </a:r>
            <a:r>
              <a:rPr lang="ko-KR" altLang="en-US" dirty="0"/>
              <a:t>명령어 </a:t>
            </a:r>
            <a:r>
              <a:rPr lang="en-US" altLang="ko-KR" dirty="0"/>
              <a:t>load(write) -&gt; verify </a:t>
            </a:r>
            <a:r>
              <a:rPr lang="ko-KR" altLang="en-US" dirty="0"/>
              <a:t>를 사용하여 시험</a:t>
            </a:r>
            <a:endParaRPr lang="en-US" altLang="ko-KR" dirty="0"/>
          </a:p>
          <a:p>
            <a:pPr lvl="1"/>
            <a:r>
              <a:rPr lang="ko-KR" altLang="en-US" dirty="0"/>
              <a:t>시험결과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    16MB </a:t>
            </a:r>
            <a:r>
              <a:rPr lang="ko-KR" altLang="en-US" dirty="0"/>
              <a:t>영역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(0x60000000 ~ 0x61000000) : load, verify </a:t>
            </a:r>
            <a:r>
              <a:rPr lang="ko-KR" altLang="en-US" dirty="0"/>
              <a:t>과정에 에러 없음</a:t>
            </a:r>
            <a:br>
              <a:rPr lang="en-US" altLang="ko-KR" dirty="0"/>
            </a:br>
            <a:r>
              <a:rPr lang="en-US" altLang="ko-KR" dirty="0"/>
              <a:t>    128MB </a:t>
            </a:r>
            <a:r>
              <a:rPr lang="ko-KR" altLang="en-US" dirty="0"/>
              <a:t>영역</a:t>
            </a:r>
            <a:r>
              <a:rPr lang="en-US" altLang="ko-KR" dirty="0"/>
              <a:t>: (0x60000000 ~ 0x68000000) : load, verify </a:t>
            </a:r>
            <a:r>
              <a:rPr lang="ko-KR" altLang="en-US" dirty="0"/>
              <a:t>과정에 에러 없음</a:t>
            </a:r>
          </a:p>
        </p:txBody>
      </p:sp>
    </p:spTree>
    <p:extLst>
      <p:ext uri="{BB962C8B-B14F-4D97-AF65-F5344CB8AC3E}">
        <p14:creationId xmlns:p14="http://schemas.microsoft.com/office/powerpoint/2010/main" val="2824533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5D0DF2-E770-4370-9E22-3F9CBCBAB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S/W</a:t>
            </a:r>
            <a:r>
              <a:rPr lang="ko-KR" altLang="en-US" dirty="0"/>
              <a:t> 개발 </a:t>
            </a:r>
            <a:r>
              <a:rPr lang="en-US" altLang="ko-KR" dirty="0"/>
              <a:t>Process</a:t>
            </a:r>
            <a:endParaRPr lang="ko-KR" altLang="en-US" dirty="0"/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A32479BC-4D0E-40F3-A364-1BE24A8210E4}"/>
              </a:ext>
            </a:extLst>
          </p:cNvPr>
          <p:cNvGrpSpPr/>
          <p:nvPr/>
        </p:nvGrpSpPr>
        <p:grpSpPr>
          <a:xfrm>
            <a:off x="435963" y="974027"/>
            <a:ext cx="8272073" cy="5259874"/>
            <a:chOff x="1847528" y="932082"/>
            <a:chExt cx="8272073" cy="525987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99A10CF-C2C0-4439-A584-C55EA81D8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7528" y="932082"/>
              <a:ext cx="489654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  <a:cs typeface="+mn-cs"/>
                </a:defRPr>
              </a:lvl9pPr>
            </a:lstStyle>
            <a:p>
              <a:pPr marL="285750" indent="-285750" latinLnBrk="0">
                <a:buFont typeface="Arial" panose="020B0604020202020204" pitchFamily="34" charset="0"/>
                <a:buChar char="•"/>
                <a:defRPr/>
              </a:pPr>
              <a:r>
                <a:rPr kumimoji="0" lang="en-US" altLang="ko-KR" sz="1800" b="1" dirty="0">
                  <a:solidFill>
                    <a:srgbClr val="222268"/>
                  </a:solidFill>
                  <a:latin typeface="+mj-ea"/>
                  <a:ea typeface="+mj-ea"/>
                </a:rPr>
                <a:t>S/W</a:t>
              </a:r>
              <a:r>
                <a:rPr kumimoji="0" lang="ko-KR" altLang="en-US" sz="1800" b="1" dirty="0">
                  <a:solidFill>
                    <a:srgbClr val="222268"/>
                  </a:solidFill>
                  <a:latin typeface="+mj-ea"/>
                  <a:ea typeface="+mj-ea"/>
                </a:rPr>
                <a:t> 개발 진행 방안</a:t>
              </a:r>
              <a:endParaRPr kumimoji="0" lang="en-US" altLang="ko-KR" sz="1800" b="1" dirty="0">
                <a:solidFill>
                  <a:srgbClr val="222268"/>
                </a:solidFill>
                <a:latin typeface="+mj-ea"/>
                <a:ea typeface="+mj-ea"/>
              </a:endParaRPr>
            </a:p>
          </p:txBody>
        </p:sp>
        <p:sp>
          <p:nvSpPr>
            <p:cNvPr id="5" name="Arc 10">
              <a:extLst>
                <a:ext uri="{FF2B5EF4-FFF2-40B4-BE49-F238E27FC236}">
                  <a16:creationId xmlns:a16="http://schemas.microsoft.com/office/drawing/2014/main" id="{B0118C6C-F89D-4A65-B7CE-D2F1D867A8D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641776" y="1097670"/>
              <a:ext cx="4865688" cy="2152399"/>
            </a:xfrm>
            <a:custGeom>
              <a:avLst/>
              <a:gdLst>
                <a:gd name="G0" fmla="+- 21600 0 0"/>
                <a:gd name="G1" fmla="+- 284 0 0"/>
                <a:gd name="G2" fmla="+- 21600 0 0"/>
                <a:gd name="T0" fmla="*/ 43198 w 43200"/>
                <a:gd name="T1" fmla="*/ 0 h 21884"/>
                <a:gd name="T2" fmla="*/ 2 w 43200"/>
                <a:gd name="T3" fmla="*/ 27 h 21884"/>
                <a:gd name="T4" fmla="*/ 21600 w 43200"/>
                <a:gd name="T5" fmla="*/ 284 h 21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1884" fill="none" extrusionOk="0">
                  <a:moveTo>
                    <a:pt x="43198" y="-1"/>
                  </a:moveTo>
                  <a:cubicBezTo>
                    <a:pt x="43199" y="94"/>
                    <a:pt x="43200" y="189"/>
                    <a:pt x="43200" y="284"/>
                  </a:cubicBezTo>
                  <a:cubicBezTo>
                    <a:pt x="43200" y="12213"/>
                    <a:pt x="33529" y="21884"/>
                    <a:pt x="21600" y="21884"/>
                  </a:cubicBezTo>
                  <a:cubicBezTo>
                    <a:pt x="9670" y="21884"/>
                    <a:pt x="0" y="12213"/>
                    <a:pt x="0" y="284"/>
                  </a:cubicBezTo>
                  <a:cubicBezTo>
                    <a:pt x="-1" y="198"/>
                    <a:pt x="0" y="112"/>
                    <a:pt x="1" y="26"/>
                  </a:cubicBezTo>
                </a:path>
                <a:path w="43200" h="21884" stroke="0" extrusionOk="0">
                  <a:moveTo>
                    <a:pt x="43198" y="-1"/>
                  </a:moveTo>
                  <a:cubicBezTo>
                    <a:pt x="43199" y="94"/>
                    <a:pt x="43200" y="189"/>
                    <a:pt x="43200" y="284"/>
                  </a:cubicBezTo>
                  <a:cubicBezTo>
                    <a:pt x="43200" y="12213"/>
                    <a:pt x="33529" y="21884"/>
                    <a:pt x="21600" y="21884"/>
                  </a:cubicBezTo>
                  <a:cubicBezTo>
                    <a:pt x="9670" y="21884"/>
                    <a:pt x="0" y="12213"/>
                    <a:pt x="0" y="284"/>
                  </a:cubicBezTo>
                  <a:cubicBezTo>
                    <a:pt x="-1" y="198"/>
                    <a:pt x="0" y="112"/>
                    <a:pt x="1" y="26"/>
                  </a:cubicBezTo>
                  <a:lnTo>
                    <a:pt x="21600" y="284"/>
                  </a:lnTo>
                  <a:close/>
                </a:path>
              </a:pathLst>
            </a:custGeom>
            <a:gradFill rotWithShape="0">
              <a:gsLst>
                <a:gs pos="0">
                  <a:srgbClr val="A5C5F5"/>
                </a:gs>
                <a:gs pos="100000">
                  <a:srgbClr val="A5C5F5">
                    <a:gamma/>
                    <a:tint val="0"/>
                    <a:invGamma/>
                  </a:srgb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rgbClr val="97BFE7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13500000" algn="ctr" rotWithShape="0">
                      <a:srgbClr val="A5C5F5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6" name="Arc 11">
              <a:extLst>
                <a:ext uri="{FF2B5EF4-FFF2-40B4-BE49-F238E27FC236}">
                  <a16:creationId xmlns:a16="http://schemas.microsoft.com/office/drawing/2014/main" id="{AD24D6B0-0796-4BB4-B51B-DBAA743BF1A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605263" y="1247257"/>
              <a:ext cx="4940300" cy="2415008"/>
            </a:xfrm>
            <a:custGeom>
              <a:avLst/>
              <a:gdLst>
                <a:gd name="G0" fmla="+- 21600 0 0"/>
                <a:gd name="G1" fmla="+- 284 0 0"/>
                <a:gd name="G2" fmla="+- 21600 0 0"/>
                <a:gd name="T0" fmla="*/ 43198 w 43200"/>
                <a:gd name="T1" fmla="*/ 0 h 21884"/>
                <a:gd name="T2" fmla="*/ 2 w 43200"/>
                <a:gd name="T3" fmla="*/ 27 h 21884"/>
                <a:gd name="T4" fmla="*/ 21600 w 43200"/>
                <a:gd name="T5" fmla="*/ 284 h 21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21884" fill="none" extrusionOk="0">
                  <a:moveTo>
                    <a:pt x="43198" y="-1"/>
                  </a:moveTo>
                  <a:cubicBezTo>
                    <a:pt x="43199" y="94"/>
                    <a:pt x="43200" y="189"/>
                    <a:pt x="43200" y="284"/>
                  </a:cubicBezTo>
                  <a:cubicBezTo>
                    <a:pt x="43200" y="12213"/>
                    <a:pt x="33529" y="21884"/>
                    <a:pt x="21600" y="21884"/>
                  </a:cubicBezTo>
                  <a:cubicBezTo>
                    <a:pt x="9670" y="21884"/>
                    <a:pt x="0" y="12213"/>
                    <a:pt x="0" y="284"/>
                  </a:cubicBezTo>
                  <a:cubicBezTo>
                    <a:pt x="-1" y="198"/>
                    <a:pt x="0" y="112"/>
                    <a:pt x="1" y="26"/>
                  </a:cubicBezTo>
                </a:path>
                <a:path w="43200" h="21884" stroke="0" extrusionOk="0">
                  <a:moveTo>
                    <a:pt x="43198" y="-1"/>
                  </a:moveTo>
                  <a:cubicBezTo>
                    <a:pt x="43199" y="94"/>
                    <a:pt x="43200" y="189"/>
                    <a:pt x="43200" y="284"/>
                  </a:cubicBezTo>
                  <a:cubicBezTo>
                    <a:pt x="43200" y="12213"/>
                    <a:pt x="33529" y="21884"/>
                    <a:pt x="21600" y="21884"/>
                  </a:cubicBezTo>
                  <a:cubicBezTo>
                    <a:pt x="9670" y="21884"/>
                    <a:pt x="0" y="12213"/>
                    <a:pt x="0" y="284"/>
                  </a:cubicBezTo>
                  <a:cubicBezTo>
                    <a:pt x="-1" y="198"/>
                    <a:pt x="0" y="112"/>
                    <a:pt x="1" y="26"/>
                  </a:cubicBezTo>
                  <a:lnTo>
                    <a:pt x="21600" y="284"/>
                  </a:lnTo>
                  <a:close/>
                </a:path>
              </a:pathLst>
            </a:custGeom>
            <a:gradFill rotWithShape="0">
              <a:gsLst>
                <a:gs pos="0">
                  <a:srgbClr val="C0D7F8"/>
                </a:gs>
                <a:gs pos="100000">
                  <a:srgbClr val="C0D7F8">
                    <a:gamma/>
                    <a:tint val="0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175">
                  <a:solidFill>
                    <a:srgbClr val="97BFE7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13500000" algn="ctr" rotWithShape="0">
                      <a:srgbClr val="C0D7F8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grpSp>
          <p:nvGrpSpPr>
            <p:cNvPr id="7" name="Group 12">
              <a:extLst>
                <a:ext uri="{FF2B5EF4-FFF2-40B4-BE49-F238E27FC236}">
                  <a16:creationId xmlns:a16="http://schemas.microsoft.com/office/drawing/2014/main" id="{30DBFF6D-25A5-40C0-85AF-730455511E35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3354564" y="2400744"/>
              <a:ext cx="3287713" cy="1678705"/>
              <a:chOff x="1279" y="3947"/>
              <a:chExt cx="1875" cy="658"/>
            </a:xfrm>
          </p:grpSpPr>
          <p:sp>
            <p:nvSpPr>
              <p:cNvPr id="8" name="Freeform 13">
                <a:extLst>
                  <a:ext uri="{FF2B5EF4-FFF2-40B4-BE49-F238E27FC236}">
                    <a16:creationId xmlns:a16="http://schemas.microsoft.com/office/drawing/2014/main" id="{848ED46A-CBBB-4967-8EC7-9784876E1B4C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1279" y="3963"/>
                <a:ext cx="1875" cy="642"/>
              </a:xfrm>
              <a:custGeom>
                <a:avLst/>
                <a:gdLst>
                  <a:gd name="T0" fmla="*/ 2281 w 2766"/>
                  <a:gd name="T1" fmla="*/ 1456 h 2744"/>
                  <a:gd name="T2" fmla="*/ 2737 w 2766"/>
                  <a:gd name="T3" fmla="*/ 1445 h 2744"/>
                  <a:gd name="T4" fmla="*/ 2680 w 2766"/>
                  <a:gd name="T5" fmla="*/ 1419 h 2744"/>
                  <a:gd name="T6" fmla="*/ 2622 w 2766"/>
                  <a:gd name="T7" fmla="*/ 1390 h 2744"/>
                  <a:gd name="T8" fmla="*/ 2567 w 2766"/>
                  <a:gd name="T9" fmla="*/ 1359 h 2744"/>
                  <a:gd name="T10" fmla="*/ 2483 w 2766"/>
                  <a:gd name="T11" fmla="*/ 1308 h 2744"/>
                  <a:gd name="T12" fmla="*/ 2375 w 2766"/>
                  <a:gd name="T13" fmla="*/ 1233 h 2744"/>
                  <a:gd name="T14" fmla="*/ 2271 w 2766"/>
                  <a:gd name="T15" fmla="*/ 1151 h 2744"/>
                  <a:gd name="T16" fmla="*/ 2171 w 2766"/>
                  <a:gd name="T17" fmla="*/ 1063 h 2744"/>
                  <a:gd name="T18" fmla="*/ 2075 w 2766"/>
                  <a:gd name="T19" fmla="*/ 968 h 2744"/>
                  <a:gd name="T20" fmla="*/ 1981 w 2766"/>
                  <a:gd name="T21" fmla="*/ 870 h 2744"/>
                  <a:gd name="T22" fmla="*/ 1893 w 2766"/>
                  <a:gd name="T23" fmla="*/ 768 h 2744"/>
                  <a:gd name="T24" fmla="*/ 1808 w 2766"/>
                  <a:gd name="T25" fmla="*/ 664 h 2744"/>
                  <a:gd name="T26" fmla="*/ 1729 w 2766"/>
                  <a:gd name="T27" fmla="*/ 558 h 2744"/>
                  <a:gd name="T28" fmla="*/ 1654 w 2766"/>
                  <a:gd name="T29" fmla="*/ 453 h 2744"/>
                  <a:gd name="T30" fmla="*/ 1584 w 2766"/>
                  <a:gd name="T31" fmla="*/ 347 h 2744"/>
                  <a:gd name="T32" fmla="*/ 1519 w 2766"/>
                  <a:gd name="T33" fmla="*/ 244 h 2744"/>
                  <a:gd name="T34" fmla="*/ 1461 w 2766"/>
                  <a:gd name="T35" fmla="*/ 144 h 2744"/>
                  <a:gd name="T36" fmla="*/ 1408 w 2766"/>
                  <a:gd name="T37" fmla="*/ 47 h 2744"/>
                  <a:gd name="T38" fmla="*/ 1358 w 2766"/>
                  <a:gd name="T39" fmla="*/ 47 h 2744"/>
                  <a:gd name="T40" fmla="*/ 1305 w 2766"/>
                  <a:gd name="T41" fmla="*/ 144 h 2744"/>
                  <a:gd name="T42" fmla="*/ 1245 w 2766"/>
                  <a:gd name="T43" fmla="*/ 244 h 2744"/>
                  <a:gd name="T44" fmla="*/ 1182 w 2766"/>
                  <a:gd name="T45" fmla="*/ 347 h 2744"/>
                  <a:gd name="T46" fmla="*/ 1112 w 2766"/>
                  <a:gd name="T47" fmla="*/ 453 h 2744"/>
                  <a:gd name="T48" fmla="*/ 1037 w 2766"/>
                  <a:gd name="T49" fmla="*/ 558 h 2744"/>
                  <a:gd name="T50" fmla="*/ 958 w 2766"/>
                  <a:gd name="T51" fmla="*/ 664 h 2744"/>
                  <a:gd name="T52" fmla="*/ 873 w 2766"/>
                  <a:gd name="T53" fmla="*/ 768 h 2744"/>
                  <a:gd name="T54" fmla="*/ 785 w 2766"/>
                  <a:gd name="T55" fmla="*/ 870 h 2744"/>
                  <a:gd name="T56" fmla="*/ 693 w 2766"/>
                  <a:gd name="T57" fmla="*/ 968 h 2744"/>
                  <a:gd name="T58" fmla="*/ 595 w 2766"/>
                  <a:gd name="T59" fmla="*/ 1063 h 2744"/>
                  <a:gd name="T60" fmla="*/ 495 w 2766"/>
                  <a:gd name="T61" fmla="*/ 1151 h 2744"/>
                  <a:gd name="T62" fmla="*/ 391 w 2766"/>
                  <a:gd name="T63" fmla="*/ 1233 h 2744"/>
                  <a:gd name="T64" fmla="*/ 283 w 2766"/>
                  <a:gd name="T65" fmla="*/ 1308 h 2744"/>
                  <a:gd name="T66" fmla="*/ 199 w 2766"/>
                  <a:gd name="T67" fmla="*/ 1359 h 2744"/>
                  <a:gd name="T68" fmla="*/ 144 w 2766"/>
                  <a:gd name="T69" fmla="*/ 1390 h 2744"/>
                  <a:gd name="T70" fmla="*/ 86 w 2766"/>
                  <a:gd name="T71" fmla="*/ 1419 h 2744"/>
                  <a:gd name="T72" fmla="*/ 29 w 2766"/>
                  <a:gd name="T73" fmla="*/ 1445 h 2744"/>
                  <a:gd name="T74" fmla="*/ 485 w 2766"/>
                  <a:gd name="T75" fmla="*/ 1456 h 2744"/>
                  <a:gd name="T76" fmla="*/ 2696 w 2766"/>
                  <a:gd name="T77" fmla="*/ 2744 h 2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766" h="2744">
                    <a:moveTo>
                      <a:pt x="2696" y="2744"/>
                    </a:moveTo>
                    <a:lnTo>
                      <a:pt x="2281" y="1456"/>
                    </a:lnTo>
                    <a:lnTo>
                      <a:pt x="2766" y="1456"/>
                    </a:lnTo>
                    <a:lnTo>
                      <a:pt x="2737" y="1445"/>
                    </a:lnTo>
                    <a:lnTo>
                      <a:pt x="2707" y="1432"/>
                    </a:lnTo>
                    <a:lnTo>
                      <a:pt x="2680" y="1419"/>
                    </a:lnTo>
                    <a:lnTo>
                      <a:pt x="2650" y="1404"/>
                    </a:lnTo>
                    <a:lnTo>
                      <a:pt x="2622" y="1390"/>
                    </a:lnTo>
                    <a:lnTo>
                      <a:pt x="2595" y="1375"/>
                    </a:lnTo>
                    <a:lnTo>
                      <a:pt x="2567" y="1359"/>
                    </a:lnTo>
                    <a:lnTo>
                      <a:pt x="2539" y="1343"/>
                    </a:lnTo>
                    <a:lnTo>
                      <a:pt x="2483" y="1308"/>
                    </a:lnTo>
                    <a:lnTo>
                      <a:pt x="2429" y="1271"/>
                    </a:lnTo>
                    <a:lnTo>
                      <a:pt x="2375" y="1233"/>
                    </a:lnTo>
                    <a:lnTo>
                      <a:pt x="2324" y="1193"/>
                    </a:lnTo>
                    <a:lnTo>
                      <a:pt x="2271" y="1151"/>
                    </a:lnTo>
                    <a:lnTo>
                      <a:pt x="2221" y="1108"/>
                    </a:lnTo>
                    <a:lnTo>
                      <a:pt x="2171" y="1063"/>
                    </a:lnTo>
                    <a:lnTo>
                      <a:pt x="2121" y="1015"/>
                    </a:lnTo>
                    <a:lnTo>
                      <a:pt x="2075" y="968"/>
                    </a:lnTo>
                    <a:lnTo>
                      <a:pt x="2028" y="920"/>
                    </a:lnTo>
                    <a:lnTo>
                      <a:pt x="1981" y="870"/>
                    </a:lnTo>
                    <a:lnTo>
                      <a:pt x="1937" y="820"/>
                    </a:lnTo>
                    <a:lnTo>
                      <a:pt x="1893" y="768"/>
                    </a:lnTo>
                    <a:lnTo>
                      <a:pt x="1850" y="717"/>
                    </a:lnTo>
                    <a:lnTo>
                      <a:pt x="1808" y="664"/>
                    </a:lnTo>
                    <a:lnTo>
                      <a:pt x="1768" y="611"/>
                    </a:lnTo>
                    <a:lnTo>
                      <a:pt x="1729" y="558"/>
                    </a:lnTo>
                    <a:lnTo>
                      <a:pt x="1691" y="506"/>
                    </a:lnTo>
                    <a:lnTo>
                      <a:pt x="1654" y="453"/>
                    </a:lnTo>
                    <a:lnTo>
                      <a:pt x="1619" y="400"/>
                    </a:lnTo>
                    <a:lnTo>
                      <a:pt x="1584" y="347"/>
                    </a:lnTo>
                    <a:lnTo>
                      <a:pt x="1551" y="296"/>
                    </a:lnTo>
                    <a:lnTo>
                      <a:pt x="1519" y="244"/>
                    </a:lnTo>
                    <a:lnTo>
                      <a:pt x="1490" y="194"/>
                    </a:lnTo>
                    <a:lnTo>
                      <a:pt x="1461" y="144"/>
                    </a:lnTo>
                    <a:lnTo>
                      <a:pt x="1433" y="95"/>
                    </a:lnTo>
                    <a:lnTo>
                      <a:pt x="1408" y="47"/>
                    </a:lnTo>
                    <a:lnTo>
                      <a:pt x="1383" y="0"/>
                    </a:lnTo>
                    <a:lnTo>
                      <a:pt x="1358" y="47"/>
                    </a:lnTo>
                    <a:lnTo>
                      <a:pt x="1332" y="95"/>
                    </a:lnTo>
                    <a:lnTo>
                      <a:pt x="1305" y="144"/>
                    </a:lnTo>
                    <a:lnTo>
                      <a:pt x="1276" y="194"/>
                    </a:lnTo>
                    <a:lnTo>
                      <a:pt x="1245" y="244"/>
                    </a:lnTo>
                    <a:lnTo>
                      <a:pt x="1215" y="296"/>
                    </a:lnTo>
                    <a:lnTo>
                      <a:pt x="1182" y="347"/>
                    </a:lnTo>
                    <a:lnTo>
                      <a:pt x="1147" y="400"/>
                    </a:lnTo>
                    <a:lnTo>
                      <a:pt x="1112" y="453"/>
                    </a:lnTo>
                    <a:lnTo>
                      <a:pt x="1075" y="506"/>
                    </a:lnTo>
                    <a:lnTo>
                      <a:pt x="1037" y="558"/>
                    </a:lnTo>
                    <a:lnTo>
                      <a:pt x="998" y="611"/>
                    </a:lnTo>
                    <a:lnTo>
                      <a:pt x="958" y="664"/>
                    </a:lnTo>
                    <a:lnTo>
                      <a:pt x="916" y="717"/>
                    </a:lnTo>
                    <a:lnTo>
                      <a:pt x="873" y="768"/>
                    </a:lnTo>
                    <a:lnTo>
                      <a:pt x="829" y="820"/>
                    </a:lnTo>
                    <a:lnTo>
                      <a:pt x="785" y="870"/>
                    </a:lnTo>
                    <a:lnTo>
                      <a:pt x="740" y="920"/>
                    </a:lnTo>
                    <a:lnTo>
                      <a:pt x="693" y="968"/>
                    </a:lnTo>
                    <a:lnTo>
                      <a:pt x="645" y="1015"/>
                    </a:lnTo>
                    <a:lnTo>
                      <a:pt x="595" y="1063"/>
                    </a:lnTo>
                    <a:lnTo>
                      <a:pt x="545" y="1108"/>
                    </a:lnTo>
                    <a:lnTo>
                      <a:pt x="495" y="1151"/>
                    </a:lnTo>
                    <a:lnTo>
                      <a:pt x="442" y="1193"/>
                    </a:lnTo>
                    <a:lnTo>
                      <a:pt x="391" y="1233"/>
                    </a:lnTo>
                    <a:lnTo>
                      <a:pt x="337" y="1271"/>
                    </a:lnTo>
                    <a:lnTo>
                      <a:pt x="283" y="1308"/>
                    </a:lnTo>
                    <a:lnTo>
                      <a:pt x="227" y="1343"/>
                    </a:lnTo>
                    <a:lnTo>
                      <a:pt x="199" y="1359"/>
                    </a:lnTo>
                    <a:lnTo>
                      <a:pt x="171" y="1375"/>
                    </a:lnTo>
                    <a:lnTo>
                      <a:pt x="144" y="1390"/>
                    </a:lnTo>
                    <a:lnTo>
                      <a:pt x="116" y="1404"/>
                    </a:lnTo>
                    <a:lnTo>
                      <a:pt x="86" y="1419"/>
                    </a:lnTo>
                    <a:lnTo>
                      <a:pt x="59" y="1432"/>
                    </a:lnTo>
                    <a:lnTo>
                      <a:pt x="29" y="1445"/>
                    </a:lnTo>
                    <a:lnTo>
                      <a:pt x="0" y="1456"/>
                    </a:lnTo>
                    <a:lnTo>
                      <a:pt x="485" y="1456"/>
                    </a:lnTo>
                    <a:lnTo>
                      <a:pt x="70" y="2744"/>
                    </a:lnTo>
                    <a:lnTo>
                      <a:pt x="2696" y="274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47A9C7">
                      <a:gamma/>
                      <a:tint val="20000"/>
                      <a:invGamma/>
                    </a:srgbClr>
                  </a:gs>
                  <a:gs pos="100000">
                    <a:srgbClr val="47A9C7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ko-KR" altLang="en-US"/>
              </a:p>
            </p:txBody>
          </p:sp>
          <p:grpSp>
            <p:nvGrpSpPr>
              <p:cNvPr id="9" name="Group 14">
                <a:extLst>
                  <a:ext uri="{FF2B5EF4-FFF2-40B4-BE49-F238E27FC236}">
                    <a16:creationId xmlns:a16="http://schemas.microsoft.com/office/drawing/2014/main" id="{2B557C80-8D94-4A58-8E34-83F6E411D7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79" y="3947"/>
                <a:ext cx="1875" cy="625"/>
                <a:chOff x="1279" y="3947"/>
                <a:chExt cx="1875" cy="625"/>
              </a:xfrm>
            </p:grpSpPr>
            <p:sp>
              <p:nvSpPr>
                <p:cNvPr id="10" name="Freeform 15">
                  <a:extLst>
                    <a:ext uri="{FF2B5EF4-FFF2-40B4-BE49-F238E27FC236}">
                      <a16:creationId xmlns:a16="http://schemas.microsoft.com/office/drawing/2014/main" id="{3F2D2527-08D6-47BE-A1DB-B85FEE6E20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1279" y="3959"/>
                  <a:ext cx="1875" cy="613"/>
                </a:xfrm>
                <a:custGeom>
                  <a:avLst/>
                  <a:gdLst>
                    <a:gd name="T0" fmla="*/ 2281 w 2766"/>
                    <a:gd name="T1" fmla="*/ 1456 h 2744"/>
                    <a:gd name="T2" fmla="*/ 2737 w 2766"/>
                    <a:gd name="T3" fmla="*/ 1445 h 2744"/>
                    <a:gd name="T4" fmla="*/ 2680 w 2766"/>
                    <a:gd name="T5" fmla="*/ 1419 h 2744"/>
                    <a:gd name="T6" fmla="*/ 2622 w 2766"/>
                    <a:gd name="T7" fmla="*/ 1390 h 2744"/>
                    <a:gd name="T8" fmla="*/ 2567 w 2766"/>
                    <a:gd name="T9" fmla="*/ 1359 h 2744"/>
                    <a:gd name="T10" fmla="*/ 2483 w 2766"/>
                    <a:gd name="T11" fmla="*/ 1308 h 2744"/>
                    <a:gd name="T12" fmla="*/ 2375 w 2766"/>
                    <a:gd name="T13" fmla="*/ 1233 h 2744"/>
                    <a:gd name="T14" fmla="*/ 2271 w 2766"/>
                    <a:gd name="T15" fmla="*/ 1151 h 2744"/>
                    <a:gd name="T16" fmla="*/ 2171 w 2766"/>
                    <a:gd name="T17" fmla="*/ 1063 h 2744"/>
                    <a:gd name="T18" fmla="*/ 2075 w 2766"/>
                    <a:gd name="T19" fmla="*/ 968 h 2744"/>
                    <a:gd name="T20" fmla="*/ 1981 w 2766"/>
                    <a:gd name="T21" fmla="*/ 870 h 2744"/>
                    <a:gd name="T22" fmla="*/ 1893 w 2766"/>
                    <a:gd name="T23" fmla="*/ 768 h 2744"/>
                    <a:gd name="T24" fmla="*/ 1808 w 2766"/>
                    <a:gd name="T25" fmla="*/ 664 h 2744"/>
                    <a:gd name="T26" fmla="*/ 1729 w 2766"/>
                    <a:gd name="T27" fmla="*/ 558 h 2744"/>
                    <a:gd name="T28" fmla="*/ 1654 w 2766"/>
                    <a:gd name="T29" fmla="*/ 453 h 2744"/>
                    <a:gd name="T30" fmla="*/ 1584 w 2766"/>
                    <a:gd name="T31" fmla="*/ 347 h 2744"/>
                    <a:gd name="T32" fmla="*/ 1519 w 2766"/>
                    <a:gd name="T33" fmla="*/ 244 h 2744"/>
                    <a:gd name="T34" fmla="*/ 1461 w 2766"/>
                    <a:gd name="T35" fmla="*/ 144 h 2744"/>
                    <a:gd name="T36" fmla="*/ 1408 w 2766"/>
                    <a:gd name="T37" fmla="*/ 47 h 2744"/>
                    <a:gd name="T38" fmla="*/ 1358 w 2766"/>
                    <a:gd name="T39" fmla="*/ 47 h 2744"/>
                    <a:gd name="T40" fmla="*/ 1305 w 2766"/>
                    <a:gd name="T41" fmla="*/ 144 h 2744"/>
                    <a:gd name="T42" fmla="*/ 1245 w 2766"/>
                    <a:gd name="T43" fmla="*/ 244 h 2744"/>
                    <a:gd name="T44" fmla="*/ 1182 w 2766"/>
                    <a:gd name="T45" fmla="*/ 347 h 2744"/>
                    <a:gd name="T46" fmla="*/ 1112 w 2766"/>
                    <a:gd name="T47" fmla="*/ 453 h 2744"/>
                    <a:gd name="T48" fmla="*/ 1037 w 2766"/>
                    <a:gd name="T49" fmla="*/ 558 h 2744"/>
                    <a:gd name="T50" fmla="*/ 958 w 2766"/>
                    <a:gd name="T51" fmla="*/ 664 h 2744"/>
                    <a:gd name="T52" fmla="*/ 873 w 2766"/>
                    <a:gd name="T53" fmla="*/ 768 h 2744"/>
                    <a:gd name="T54" fmla="*/ 785 w 2766"/>
                    <a:gd name="T55" fmla="*/ 870 h 2744"/>
                    <a:gd name="T56" fmla="*/ 693 w 2766"/>
                    <a:gd name="T57" fmla="*/ 968 h 2744"/>
                    <a:gd name="T58" fmla="*/ 595 w 2766"/>
                    <a:gd name="T59" fmla="*/ 1063 h 2744"/>
                    <a:gd name="T60" fmla="*/ 495 w 2766"/>
                    <a:gd name="T61" fmla="*/ 1151 h 2744"/>
                    <a:gd name="T62" fmla="*/ 391 w 2766"/>
                    <a:gd name="T63" fmla="*/ 1233 h 2744"/>
                    <a:gd name="T64" fmla="*/ 283 w 2766"/>
                    <a:gd name="T65" fmla="*/ 1308 h 2744"/>
                    <a:gd name="T66" fmla="*/ 199 w 2766"/>
                    <a:gd name="T67" fmla="*/ 1359 h 2744"/>
                    <a:gd name="T68" fmla="*/ 144 w 2766"/>
                    <a:gd name="T69" fmla="*/ 1390 h 2744"/>
                    <a:gd name="T70" fmla="*/ 86 w 2766"/>
                    <a:gd name="T71" fmla="*/ 1419 h 2744"/>
                    <a:gd name="T72" fmla="*/ 29 w 2766"/>
                    <a:gd name="T73" fmla="*/ 1445 h 2744"/>
                    <a:gd name="T74" fmla="*/ 485 w 2766"/>
                    <a:gd name="T75" fmla="*/ 1456 h 2744"/>
                    <a:gd name="T76" fmla="*/ 2696 w 2766"/>
                    <a:gd name="T77" fmla="*/ 2744 h 27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2766" h="2744">
                      <a:moveTo>
                        <a:pt x="2696" y="2744"/>
                      </a:moveTo>
                      <a:lnTo>
                        <a:pt x="2281" y="1456"/>
                      </a:lnTo>
                      <a:lnTo>
                        <a:pt x="2766" y="1456"/>
                      </a:lnTo>
                      <a:lnTo>
                        <a:pt x="2737" y="1445"/>
                      </a:lnTo>
                      <a:lnTo>
                        <a:pt x="2707" y="1432"/>
                      </a:lnTo>
                      <a:lnTo>
                        <a:pt x="2680" y="1419"/>
                      </a:lnTo>
                      <a:lnTo>
                        <a:pt x="2650" y="1404"/>
                      </a:lnTo>
                      <a:lnTo>
                        <a:pt x="2622" y="1390"/>
                      </a:lnTo>
                      <a:lnTo>
                        <a:pt x="2595" y="1375"/>
                      </a:lnTo>
                      <a:lnTo>
                        <a:pt x="2567" y="1359"/>
                      </a:lnTo>
                      <a:lnTo>
                        <a:pt x="2539" y="1343"/>
                      </a:lnTo>
                      <a:lnTo>
                        <a:pt x="2483" y="1308"/>
                      </a:lnTo>
                      <a:lnTo>
                        <a:pt x="2429" y="1271"/>
                      </a:lnTo>
                      <a:lnTo>
                        <a:pt x="2375" y="1233"/>
                      </a:lnTo>
                      <a:lnTo>
                        <a:pt x="2324" y="1193"/>
                      </a:lnTo>
                      <a:lnTo>
                        <a:pt x="2271" y="1151"/>
                      </a:lnTo>
                      <a:lnTo>
                        <a:pt x="2221" y="1108"/>
                      </a:lnTo>
                      <a:lnTo>
                        <a:pt x="2171" y="1063"/>
                      </a:lnTo>
                      <a:lnTo>
                        <a:pt x="2121" y="1015"/>
                      </a:lnTo>
                      <a:lnTo>
                        <a:pt x="2075" y="968"/>
                      </a:lnTo>
                      <a:lnTo>
                        <a:pt x="2028" y="920"/>
                      </a:lnTo>
                      <a:lnTo>
                        <a:pt x="1981" y="870"/>
                      </a:lnTo>
                      <a:lnTo>
                        <a:pt x="1937" y="820"/>
                      </a:lnTo>
                      <a:lnTo>
                        <a:pt x="1893" y="768"/>
                      </a:lnTo>
                      <a:lnTo>
                        <a:pt x="1850" y="717"/>
                      </a:lnTo>
                      <a:lnTo>
                        <a:pt x="1808" y="664"/>
                      </a:lnTo>
                      <a:lnTo>
                        <a:pt x="1768" y="611"/>
                      </a:lnTo>
                      <a:lnTo>
                        <a:pt x="1729" y="558"/>
                      </a:lnTo>
                      <a:lnTo>
                        <a:pt x="1691" y="506"/>
                      </a:lnTo>
                      <a:lnTo>
                        <a:pt x="1654" y="453"/>
                      </a:lnTo>
                      <a:lnTo>
                        <a:pt x="1619" y="400"/>
                      </a:lnTo>
                      <a:lnTo>
                        <a:pt x="1584" y="347"/>
                      </a:lnTo>
                      <a:lnTo>
                        <a:pt x="1551" y="296"/>
                      </a:lnTo>
                      <a:lnTo>
                        <a:pt x="1519" y="244"/>
                      </a:lnTo>
                      <a:lnTo>
                        <a:pt x="1490" y="194"/>
                      </a:lnTo>
                      <a:lnTo>
                        <a:pt x="1461" y="144"/>
                      </a:lnTo>
                      <a:lnTo>
                        <a:pt x="1433" y="95"/>
                      </a:lnTo>
                      <a:lnTo>
                        <a:pt x="1408" y="47"/>
                      </a:lnTo>
                      <a:lnTo>
                        <a:pt x="1383" y="0"/>
                      </a:lnTo>
                      <a:lnTo>
                        <a:pt x="1358" y="47"/>
                      </a:lnTo>
                      <a:lnTo>
                        <a:pt x="1332" y="95"/>
                      </a:lnTo>
                      <a:lnTo>
                        <a:pt x="1305" y="144"/>
                      </a:lnTo>
                      <a:lnTo>
                        <a:pt x="1276" y="194"/>
                      </a:lnTo>
                      <a:lnTo>
                        <a:pt x="1245" y="244"/>
                      </a:lnTo>
                      <a:lnTo>
                        <a:pt x="1215" y="296"/>
                      </a:lnTo>
                      <a:lnTo>
                        <a:pt x="1182" y="347"/>
                      </a:lnTo>
                      <a:lnTo>
                        <a:pt x="1147" y="400"/>
                      </a:lnTo>
                      <a:lnTo>
                        <a:pt x="1112" y="453"/>
                      </a:lnTo>
                      <a:lnTo>
                        <a:pt x="1075" y="506"/>
                      </a:lnTo>
                      <a:lnTo>
                        <a:pt x="1037" y="558"/>
                      </a:lnTo>
                      <a:lnTo>
                        <a:pt x="998" y="611"/>
                      </a:lnTo>
                      <a:lnTo>
                        <a:pt x="958" y="664"/>
                      </a:lnTo>
                      <a:lnTo>
                        <a:pt x="916" y="717"/>
                      </a:lnTo>
                      <a:lnTo>
                        <a:pt x="873" y="768"/>
                      </a:lnTo>
                      <a:lnTo>
                        <a:pt x="829" y="820"/>
                      </a:lnTo>
                      <a:lnTo>
                        <a:pt x="785" y="870"/>
                      </a:lnTo>
                      <a:lnTo>
                        <a:pt x="740" y="920"/>
                      </a:lnTo>
                      <a:lnTo>
                        <a:pt x="693" y="968"/>
                      </a:lnTo>
                      <a:lnTo>
                        <a:pt x="645" y="1015"/>
                      </a:lnTo>
                      <a:lnTo>
                        <a:pt x="595" y="1063"/>
                      </a:lnTo>
                      <a:lnTo>
                        <a:pt x="545" y="1108"/>
                      </a:lnTo>
                      <a:lnTo>
                        <a:pt x="495" y="1151"/>
                      </a:lnTo>
                      <a:lnTo>
                        <a:pt x="442" y="1193"/>
                      </a:lnTo>
                      <a:lnTo>
                        <a:pt x="391" y="1233"/>
                      </a:lnTo>
                      <a:lnTo>
                        <a:pt x="337" y="1271"/>
                      </a:lnTo>
                      <a:lnTo>
                        <a:pt x="283" y="1308"/>
                      </a:lnTo>
                      <a:lnTo>
                        <a:pt x="227" y="1343"/>
                      </a:lnTo>
                      <a:lnTo>
                        <a:pt x="199" y="1359"/>
                      </a:lnTo>
                      <a:lnTo>
                        <a:pt x="171" y="1375"/>
                      </a:lnTo>
                      <a:lnTo>
                        <a:pt x="144" y="1390"/>
                      </a:lnTo>
                      <a:lnTo>
                        <a:pt x="116" y="1404"/>
                      </a:lnTo>
                      <a:lnTo>
                        <a:pt x="86" y="1419"/>
                      </a:lnTo>
                      <a:lnTo>
                        <a:pt x="59" y="1432"/>
                      </a:lnTo>
                      <a:lnTo>
                        <a:pt x="29" y="1445"/>
                      </a:lnTo>
                      <a:lnTo>
                        <a:pt x="0" y="1456"/>
                      </a:lnTo>
                      <a:lnTo>
                        <a:pt x="485" y="1456"/>
                      </a:lnTo>
                      <a:lnTo>
                        <a:pt x="70" y="2744"/>
                      </a:lnTo>
                      <a:lnTo>
                        <a:pt x="2696" y="2744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59B1CD"/>
                    </a:gs>
                    <a:gs pos="100000">
                      <a:srgbClr val="59B1CD">
                        <a:gamma/>
                        <a:tint val="20000"/>
                        <a:invGamma/>
                      </a:srgbClr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11" name="Line 16">
                  <a:extLst>
                    <a:ext uri="{FF2B5EF4-FFF2-40B4-BE49-F238E27FC236}">
                      <a16:creationId xmlns:a16="http://schemas.microsoft.com/office/drawing/2014/main" id="{303B2AE6-E546-4517-A0EF-405DFF7A58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750" y="3947"/>
                  <a:ext cx="196" cy="482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>
                  <a:prstShdw prst="shdw18" dist="17961" dir="13500000">
                    <a:schemeClr val="bg1">
                      <a:gamma/>
                      <a:shade val="60000"/>
                      <a:invGamma/>
                    </a:schemeClr>
                  </a:prst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tIns="0" bIns="0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2" name="Line 17">
                  <a:extLst>
                    <a:ext uri="{FF2B5EF4-FFF2-40B4-BE49-F238E27FC236}">
                      <a16:creationId xmlns:a16="http://schemas.microsoft.com/office/drawing/2014/main" id="{8B7824E6-9A8F-425C-AD88-FCB91986DC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65" y="3960"/>
                  <a:ext cx="194" cy="47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>
                  <a:prstShdw prst="shdw18" dist="17961" dir="13500000">
                    <a:schemeClr val="bg1">
                      <a:gamma/>
                      <a:shade val="60000"/>
                      <a:invGamma/>
                    </a:schemeClr>
                  </a:prst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tIns="0" bIns="0">
                  <a:spAutoFit/>
                </a:bodyPr>
                <a:lstStyle/>
                <a:p>
                  <a:endParaRPr lang="ko-KR" altLang="en-US"/>
                </a:p>
              </p:txBody>
            </p:sp>
            <p:sp>
              <p:nvSpPr>
                <p:cNvPr id="13" name="Line 18">
                  <a:extLst>
                    <a:ext uri="{FF2B5EF4-FFF2-40B4-BE49-F238E27FC236}">
                      <a16:creationId xmlns:a16="http://schemas.microsoft.com/office/drawing/2014/main" id="{93206D6C-4BDA-4E94-8AAA-5370410BEF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14" y="3951"/>
                  <a:ext cx="0" cy="618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ffectLst>
                  <a:prstShdw prst="shdw18" dist="17961" dir="13500000">
                    <a:schemeClr val="bg1">
                      <a:gamma/>
                      <a:shade val="60000"/>
                      <a:invGamma/>
                    </a:schemeClr>
                  </a:prst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tIns="0" bIns="0">
                  <a:spAutoFit/>
                </a:bodyPr>
                <a:lstStyle/>
                <a:p>
                  <a:endParaRPr lang="ko-KR" altLang="en-US"/>
                </a:p>
              </p:txBody>
            </p:sp>
          </p:grpSp>
        </p:grpSp>
        <p:sp>
          <p:nvSpPr>
            <p:cNvPr id="14" name="Freeform 20">
              <a:extLst>
                <a:ext uri="{FF2B5EF4-FFF2-40B4-BE49-F238E27FC236}">
                  <a16:creationId xmlns:a16="http://schemas.microsoft.com/office/drawing/2014/main" id="{0F41F799-FD8E-4A4B-AC24-76801E1D5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0652" y="3908253"/>
              <a:ext cx="1660525" cy="350700"/>
            </a:xfrm>
            <a:custGeom>
              <a:avLst/>
              <a:gdLst>
                <a:gd name="T0" fmla="*/ 1053 w 1053"/>
                <a:gd name="T1" fmla="*/ 194 h 194"/>
                <a:gd name="T2" fmla="*/ 668 w 1053"/>
                <a:gd name="T3" fmla="*/ 0 h 194"/>
                <a:gd name="T4" fmla="*/ 0 w 1053"/>
                <a:gd name="T5" fmla="*/ 9 h 194"/>
                <a:gd name="T6" fmla="*/ 150 w 1053"/>
                <a:gd name="T7" fmla="*/ 191 h 194"/>
                <a:gd name="T8" fmla="*/ 1053 w 1053"/>
                <a:gd name="T9" fmla="*/ 194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3" h="194">
                  <a:moveTo>
                    <a:pt x="1053" y="194"/>
                  </a:moveTo>
                  <a:lnTo>
                    <a:pt x="668" y="0"/>
                  </a:lnTo>
                  <a:lnTo>
                    <a:pt x="0" y="9"/>
                  </a:lnTo>
                  <a:lnTo>
                    <a:pt x="150" y="191"/>
                  </a:lnTo>
                  <a:lnTo>
                    <a:pt x="1053" y="194"/>
                  </a:lnTo>
                  <a:close/>
                </a:path>
              </a:pathLst>
            </a:custGeom>
            <a:gradFill rotWithShape="0">
              <a:gsLst>
                <a:gs pos="0">
                  <a:srgbClr val="88C7E0">
                    <a:gamma/>
                    <a:tint val="36471"/>
                    <a:invGamma/>
                  </a:srgbClr>
                </a:gs>
                <a:gs pos="100000">
                  <a:srgbClr val="88C7E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5" name="Freeform 21">
              <a:extLst>
                <a:ext uri="{FF2B5EF4-FFF2-40B4-BE49-F238E27FC236}">
                  <a16:creationId xmlns:a16="http://schemas.microsoft.com/office/drawing/2014/main" id="{B41E9B8D-DA0B-4D5D-A8F5-6E1AE1957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0652" y="3924874"/>
              <a:ext cx="233363" cy="2267082"/>
            </a:xfrm>
            <a:custGeom>
              <a:avLst/>
              <a:gdLst>
                <a:gd name="T0" fmla="*/ 147 w 148"/>
                <a:gd name="T1" fmla="*/ 1254 h 1254"/>
                <a:gd name="T2" fmla="*/ 42 w 148"/>
                <a:gd name="T3" fmla="*/ 798 h 1254"/>
                <a:gd name="T4" fmla="*/ 0 w 148"/>
                <a:gd name="T5" fmla="*/ 0 h 1254"/>
                <a:gd name="T6" fmla="*/ 148 w 148"/>
                <a:gd name="T7" fmla="*/ 179 h 1254"/>
                <a:gd name="T8" fmla="*/ 147 w 148"/>
                <a:gd name="T9" fmla="*/ 1254 h 1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1254">
                  <a:moveTo>
                    <a:pt x="147" y="1254"/>
                  </a:moveTo>
                  <a:lnTo>
                    <a:pt x="42" y="798"/>
                  </a:lnTo>
                  <a:lnTo>
                    <a:pt x="0" y="0"/>
                  </a:lnTo>
                  <a:lnTo>
                    <a:pt x="148" y="179"/>
                  </a:lnTo>
                  <a:lnTo>
                    <a:pt x="147" y="1254"/>
                  </a:lnTo>
                  <a:close/>
                </a:path>
              </a:pathLst>
            </a:custGeom>
            <a:gradFill rotWithShape="0">
              <a:gsLst>
                <a:gs pos="0">
                  <a:srgbClr val="308EB4"/>
                </a:gs>
                <a:gs pos="100000">
                  <a:srgbClr val="308EB4">
                    <a:gamma/>
                    <a:tint val="36471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6" name="Rectangle 22">
              <a:extLst>
                <a:ext uri="{FF2B5EF4-FFF2-40B4-BE49-F238E27FC236}">
                  <a16:creationId xmlns:a16="http://schemas.microsoft.com/office/drawing/2014/main" id="{8D4FD643-CDEF-4F6E-9C5C-19AAF2D1147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6572427" y="4248980"/>
              <a:ext cx="1433513" cy="1936328"/>
            </a:xfrm>
            <a:prstGeom prst="rect">
              <a:avLst/>
            </a:prstGeom>
            <a:gradFill rotWithShape="0">
              <a:gsLst>
                <a:gs pos="0">
                  <a:srgbClr val="58AFD2"/>
                </a:gs>
                <a:gs pos="50000">
                  <a:srgbClr val="58AFD2">
                    <a:gamma/>
                    <a:tint val="21176"/>
                    <a:invGamma/>
                  </a:srgbClr>
                </a:gs>
                <a:gs pos="100000">
                  <a:srgbClr val="58AFD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7" name="Rectangle 23">
              <a:extLst>
                <a:ext uri="{FF2B5EF4-FFF2-40B4-BE49-F238E27FC236}">
                  <a16:creationId xmlns:a16="http://schemas.microsoft.com/office/drawing/2014/main" id="{15607699-8BCD-4974-83C2-5B012529576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6599413" y="4303829"/>
              <a:ext cx="1358900" cy="1816658"/>
            </a:xfrm>
            <a:prstGeom prst="rect">
              <a:avLst/>
            </a:prstGeom>
            <a:solidFill>
              <a:srgbClr val="B4DAE6"/>
            </a:solidFill>
            <a:ln>
              <a:noFill/>
            </a:ln>
            <a:effectLst>
              <a:prstShdw prst="shdw18" dist="17961" dir="13500000">
                <a:srgbClr val="B4DAE6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8" name="Freeform 24">
              <a:extLst>
                <a:ext uri="{FF2B5EF4-FFF2-40B4-BE49-F238E27FC236}">
                  <a16:creationId xmlns:a16="http://schemas.microsoft.com/office/drawing/2014/main" id="{997E92BE-6199-4978-94B8-09AB5DE76A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6513" y="3916564"/>
              <a:ext cx="1504950" cy="334079"/>
            </a:xfrm>
            <a:custGeom>
              <a:avLst/>
              <a:gdLst>
                <a:gd name="T0" fmla="*/ 954 w 954"/>
                <a:gd name="T1" fmla="*/ 184 h 184"/>
                <a:gd name="T2" fmla="*/ 843 w 954"/>
                <a:gd name="T3" fmla="*/ 0 h 184"/>
                <a:gd name="T4" fmla="*/ 0 w 954"/>
                <a:gd name="T5" fmla="*/ 10 h 184"/>
                <a:gd name="T6" fmla="*/ 54 w 954"/>
                <a:gd name="T7" fmla="*/ 184 h 184"/>
                <a:gd name="T8" fmla="*/ 954 w 954"/>
                <a:gd name="T9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4" h="184">
                  <a:moveTo>
                    <a:pt x="954" y="184"/>
                  </a:moveTo>
                  <a:lnTo>
                    <a:pt x="843" y="0"/>
                  </a:lnTo>
                  <a:lnTo>
                    <a:pt x="0" y="10"/>
                  </a:lnTo>
                  <a:lnTo>
                    <a:pt x="54" y="184"/>
                  </a:lnTo>
                  <a:lnTo>
                    <a:pt x="954" y="184"/>
                  </a:lnTo>
                  <a:close/>
                </a:path>
              </a:pathLst>
            </a:custGeom>
            <a:gradFill rotWithShape="0">
              <a:gsLst>
                <a:gs pos="0">
                  <a:srgbClr val="88C7E0">
                    <a:gamma/>
                    <a:tint val="36471"/>
                    <a:invGamma/>
                  </a:srgbClr>
                </a:gs>
                <a:gs pos="100000">
                  <a:srgbClr val="88C7E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9" name="Freeform 25">
              <a:extLst>
                <a:ext uri="{FF2B5EF4-FFF2-40B4-BE49-F238E27FC236}">
                  <a16:creationId xmlns:a16="http://schemas.microsoft.com/office/drawing/2014/main" id="{539BBC42-13B8-4C7D-B1AD-46B582681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1588" y="3903267"/>
              <a:ext cx="120650" cy="2267082"/>
            </a:xfrm>
            <a:custGeom>
              <a:avLst/>
              <a:gdLst>
                <a:gd name="T0" fmla="*/ 64 w 76"/>
                <a:gd name="T1" fmla="*/ 1254 h 1254"/>
                <a:gd name="T2" fmla="*/ 0 w 76"/>
                <a:gd name="T3" fmla="*/ 822 h 1254"/>
                <a:gd name="T4" fmla="*/ 16 w 76"/>
                <a:gd name="T5" fmla="*/ 0 h 1254"/>
                <a:gd name="T6" fmla="*/ 76 w 76"/>
                <a:gd name="T7" fmla="*/ 180 h 1254"/>
                <a:gd name="T8" fmla="*/ 64 w 76"/>
                <a:gd name="T9" fmla="*/ 1254 h 1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1254">
                  <a:moveTo>
                    <a:pt x="64" y="1254"/>
                  </a:moveTo>
                  <a:lnTo>
                    <a:pt x="0" y="822"/>
                  </a:lnTo>
                  <a:lnTo>
                    <a:pt x="16" y="0"/>
                  </a:lnTo>
                  <a:lnTo>
                    <a:pt x="76" y="180"/>
                  </a:lnTo>
                  <a:lnTo>
                    <a:pt x="64" y="1254"/>
                  </a:lnTo>
                  <a:close/>
                </a:path>
              </a:pathLst>
            </a:custGeom>
            <a:gradFill rotWithShape="0">
              <a:gsLst>
                <a:gs pos="0">
                  <a:srgbClr val="308EB4"/>
                </a:gs>
                <a:gs pos="100000">
                  <a:srgbClr val="308EB4">
                    <a:gamma/>
                    <a:tint val="36471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0" name="Rectangle 26">
              <a:extLst>
                <a:ext uri="{FF2B5EF4-FFF2-40B4-BE49-F238E27FC236}">
                  <a16:creationId xmlns:a16="http://schemas.microsoft.com/office/drawing/2014/main" id="{7D3187EA-E148-46CC-BFD7-CC0400BB3AF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054777" y="4248980"/>
              <a:ext cx="1431925" cy="1936328"/>
            </a:xfrm>
            <a:prstGeom prst="rect">
              <a:avLst/>
            </a:prstGeom>
            <a:gradFill rotWithShape="0">
              <a:gsLst>
                <a:gs pos="0">
                  <a:srgbClr val="58AFD2"/>
                </a:gs>
                <a:gs pos="50000">
                  <a:srgbClr val="58AFD2">
                    <a:gamma/>
                    <a:tint val="21176"/>
                    <a:invGamma/>
                  </a:srgbClr>
                </a:gs>
                <a:gs pos="100000">
                  <a:srgbClr val="58AFD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1" name="Rectangle 27">
              <a:extLst>
                <a:ext uri="{FF2B5EF4-FFF2-40B4-BE49-F238E27FC236}">
                  <a16:creationId xmlns:a16="http://schemas.microsoft.com/office/drawing/2014/main" id="{F93742FE-5A6E-41D4-AA1A-C68DCBFD643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080176" y="4303829"/>
              <a:ext cx="1358900" cy="1816658"/>
            </a:xfrm>
            <a:prstGeom prst="rect">
              <a:avLst/>
            </a:prstGeom>
            <a:solidFill>
              <a:srgbClr val="B4DAE6"/>
            </a:solidFill>
            <a:ln>
              <a:noFill/>
            </a:ln>
            <a:effectLst>
              <a:prstShdw prst="shdw18" dist="17961" dir="13500000">
                <a:srgbClr val="B4DAE6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2" name="Freeform 28">
              <a:extLst>
                <a:ext uri="{FF2B5EF4-FFF2-40B4-BE49-F238E27FC236}">
                  <a16:creationId xmlns:a16="http://schemas.microsoft.com/office/drawing/2014/main" id="{085892D1-D797-44AC-B89C-46D210795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6627" y="3908253"/>
              <a:ext cx="1603375" cy="350700"/>
            </a:xfrm>
            <a:custGeom>
              <a:avLst/>
              <a:gdLst>
                <a:gd name="T0" fmla="*/ 0 w 1017"/>
                <a:gd name="T1" fmla="*/ 194 h 194"/>
                <a:gd name="T2" fmla="*/ 385 w 1017"/>
                <a:gd name="T3" fmla="*/ 0 h 194"/>
                <a:gd name="T4" fmla="*/ 1017 w 1017"/>
                <a:gd name="T5" fmla="*/ 9 h 194"/>
                <a:gd name="T6" fmla="*/ 903 w 1017"/>
                <a:gd name="T7" fmla="*/ 191 h 194"/>
                <a:gd name="T8" fmla="*/ 0 w 1017"/>
                <a:gd name="T9" fmla="*/ 194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7" h="194">
                  <a:moveTo>
                    <a:pt x="0" y="194"/>
                  </a:moveTo>
                  <a:lnTo>
                    <a:pt x="385" y="0"/>
                  </a:lnTo>
                  <a:lnTo>
                    <a:pt x="1017" y="9"/>
                  </a:lnTo>
                  <a:lnTo>
                    <a:pt x="903" y="191"/>
                  </a:lnTo>
                  <a:lnTo>
                    <a:pt x="0" y="194"/>
                  </a:lnTo>
                  <a:close/>
                </a:path>
              </a:pathLst>
            </a:custGeom>
            <a:gradFill rotWithShape="0">
              <a:gsLst>
                <a:gs pos="0">
                  <a:srgbClr val="88C7E0"/>
                </a:gs>
                <a:gs pos="100000">
                  <a:srgbClr val="88C7E0">
                    <a:gamma/>
                    <a:tint val="36471"/>
                    <a:invGamma/>
                  </a:srgbClr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3" name="Freeform 29">
              <a:extLst>
                <a:ext uri="{FF2B5EF4-FFF2-40B4-BE49-F238E27FC236}">
                  <a16:creationId xmlns:a16="http://schemas.microsoft.com/office/drawing/2014/main" id="{6FAF8262-DD5F-40BC-9B83-F70F8E806D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2201" y="3924874"/>
              <a:ext cx="177800" cy="2267082"/>
            </a:xfrm>
            <a:custGeom>
              <a:avLst/>
              <a:gdLst>
                <a:gd name="T0" fmla="*/ 1 w 113"/>
                <a:gd name="T1" fmla="*/ 1254 h 1254"/>
                <a:gd name="T2" fmla="*/ 106 w 113"/>
                <a:gd name="T3" fmla="*/ 798 h 1254"/>
                <a:gd name="T4" fmla="*/ 113 w 113"/>
                <a:gd name="T5" fmla="*/ 0 h 1254"/>
                <a:gd name="T6" fmla="*/ 0 w 113"/>
                <a:gd name="T7" fmla="*/ 179 h 1254"/>
                <a:gd name="T8" fmla="*/ 1 w 113"/>
                <a:gd name="T9" fmla="*/ 1254 h 1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1254">
                  <a:moveTo>
                    <a:pt x="1" y="1254"/>
                  </a:moveTo>
                  <a:lnTo>
                    <a:pt x="106" y="798"/>
                  </a:lnTo>
                  <a:lnTo>
                    <a:pt x="113" y="0"/>
                  </a:lnTo>
                  <a:lnTo>
                    <a:pt x="0" y="179"/>
                  </a:lnTo>
                  <a:lnTo>
                    <a:pt x="1" y="1254"/>
                  </a:lnTo>
                  <a:close/>
                </a:path>
              </a:pathLst>
            </a:custGeom>
            <a:gradFill rotWithShape="0">
              <a:gsLst>
                <a:gs pos="0">
                  <a:srgbClr val="308EB4">
                    <a:gamma/>
                    <a:tint val="36471"/>
                    <a:invGamma/>
                  </a:srgbClr>
                </a:gs>
                <a:gs pos="100000">
                  <a:srgbClr val="308EB4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4" name="Rectangle 30">
              <a:extLst>
                <a:ext uri="{FF2B5EF4-FFF2-40B4-BE49-F238E27FC236}">
                  <a16:creationId xmlns:a16="http://schemas.microsoft.com/office/drawing/2014/main" id="{8B00EC2A-FC0B-4A34-B559-8B0D89662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1864" y="4248980"/>
              <a:ext cx="1433513" cy="1936328"/>
            </a:xfrm>
            <a:prstGeom prst="rect">
              <a:avLst/>
            </a:prstGeom>
            <a:gradFill rotWithShape="0">
              <a:gsLst>
                <a:gs pos="0">
                  <a:srgbClr val="58AFD2"/>
                </a:gs>
                <a:gs pos="50000">
                  <a:srgbClr val="58AFD2">
                    <a:gamma/>
                    <a:tint val="21176"/>
                    <a:invGamma/>
                  </a:srgbClr>
                </a:gs>
                <a:gs pos="100000">
                  <a:srgbClr val="58AFD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5" name="Rectangle 31">
              <a:extLst>
                <a:ext uri="{FF2B5EF4-FFF2-40B4-BE49-F238E27FC236}">
                  <a16:creationId xmlns:a16="http://schemas.microsoft.com/office/drawing/2014/main" id="{9D65A066-CA84-4B49-8EDB-29435137E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7263" y="4303829"/>
              <a:ext cx="1358900" cy="1816658"/>
            </a:xfrm>
            <a:prstGeom prst="rect">
              <a:avLst/>
            </a:prstGeom>
            <a:solidFill>
              <a:srgbClr val="B4DAE6"/>
            </a:solidFill>
            <a:ln>
              <a:noFill/>
            </a:ln>
            <a:effectLst>
              <a:prstShdw prst="shdw18" dist="17961" dir="13500000">
                <a:srgbClr val="B4DAE6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6" name="Freeform 32">
              <a:extLst>
                <a:ext uri="{FF2B5EF4-FFF2-40B4-BE49-F238E27FC236}">
                  <a16:creationId xmlns:a16="http://schemas.microsoft.com/office/drawing/2014/main" id="{5ACCA2D3-5CF1-4052-9B1D-CDDC71229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7763" y="3916563"/>
              <a:ext cx="1428750" cy="325768"/>
            </a:xfrm>
            <a:custGeom>
              <a:avLst/>
              <a:gdLst>
                <a:gd name="T0" fmla="*/ 0 w 906"/>
                <a:gd name="T1" fmla="*/ 174 h 180"/>
                <a:gd name="T2" fmla="*/ 111 w 906"/>
                <a:gd name="T3" fmla="*/ 0 h 180"/>
                <a:gd name="T4" fmla="*/ 906 w 906"/>
                <a:gd name="T5" fmla="*/ 12 h 180"/>
                <a:gd name="T6" fmla="*/ 906 w 906"/>
                <a:gd name="T7" fmla="*/ 180 h 180"/>
                <a:gd name="T8" fmla="*/ 0 w 906"/>
                <a:gd name="T9" fmla="*/ 174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6" h="180">
                  <a:moveTo>
                    <a:pt x="0" y="174"/>
                  </a:moveTo>
                  <a:lnTo>
                    <a:pt x="111" y="0"/>
                  </a:lnTo>
                  <a:lnTo>
                    <a:pt x="906" y="12"/>
                  </a:lnTo>
                  <a:lnTo>
                    <a:pt x="906" y="180"/>
                  </a:lnTo>
                  <a:lnTo>
                    <a:pt x="0" y="174"/>
                  </a:lnTo>
                  <a:close/>
                </a:path>
              </a:pathLst>
            </a:custGeom>
            <a:gradFill rotWithShape="0">
              <a:gsLst>
                <a:gs pos="0">
                  <a:srgbClr val="88C7E0">
                    <a:gamma/>
                    <a:tint val="36471"/>
                    <a:invGamma/>
                  </a:srgbClr>
                </a:gs>
                <a:gs pos="100000">
                  <a:srgbClr val="88C7E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7" name="Rectangle 33">
              <a:extLst>
                <a:ext uri="{FF2B5EF4-FFF2-40B4-BE49-F238E27FC236}">
                  <a16:creationId xmlns:a16="http://schemas.microsoft.com/office/drawing/2014/main" id="{5FB200F1-48EE-4848-A5A6-E401CD3AD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0302" y="4248980"/>
              <a:ext cx="1463675" cy="1936328"/>
            </a:xfrm>
            <a:prstGeom prst="rect">
              <a:avLst/>
            </a:prstGeom>
            <a:gradFill rotWithShape="0">
              <a:gsLst>
                <a:gs pos="0">
                  <a:srgbClr val="58AFD2"/>
                </a:gs>
                <a:gs pos="50000">
                  <a:srgbClr val="58AFD2">
                    <a:gamma/>
                    <a:tint val="21176"/>
                    <a:invGamma/>
                  </a:srgbClr>
                </a:gs>
                <a:gs pos="100000">
                  <a:srgbClr val="58AFD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8" name="Rectangle 34">
              <a:extLst>
                <a:ext uri="{FF2B5EF4-FFF2-40B4-BE49-F238E27FC236}">
                  <a16:creationId xmlns:a16="http://schemas.microsoft.com/office/drawing/2014/main" id="{0E83A093-825D-4855-B044-CEB76C48C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7289" y="4303829"/>
              <a:ext cx="1389063" cy="1816658"/>
            </a:xfrm>
            <a:prstGeom prst="rect">
              <a:avLst/>
            </a:prstGeom>
            <a:solidFill>
              <a:srgbClr val="B4DAE6"/>
            </a:solidFill>
            <a:ln>
              <a:noFill/>
            </a:ln>
            <a:effectLst>
              <a:prstShdw prst="shdw18" dist="17961" dir="13500000">
                <a:srgbClr val="B4DAE6">
                  <a:gamma/>
                  <a:shade val="60000"/>
                  <a:invGamma/>
                </a:srgbClr>
              </a:prst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9" name="Line 35">
              <a:extLst>
                <a:ext uri="{FF2B5EF4-FFF2-40B4-BE49-F238E27FC236}">
                  <a16:creationId xmlns:a16="http://schemas.microsoft.com/office/drawing/2014/main" id="{705D3FE3-D7EB-4639-87FD-2DCEA51309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6951" y="4727660"/>
              <a:ext cx="1276350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30" name="Line 36">
              <a:extLst>
                <a:ext uri="{FF2B5EF4-FFF2-40B4-BE49-F238E27FC236}">
                  <a16:creationId xmlns:a16="http://schemas.microsoft.com/office/drawing/2014/main" id="{D7D8987A-153E-46F5-A2FC-0B46A2F74D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6501" y="4727660"/>
              <a:ext cx="1303338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31" name="Line 37">
              <a:extLst>
                <a:ext uri="{FF2B5EF4-FFF2-40B4-BE49-F238E27FC236}">
                  <a16:creationId xmlns:a16="http://schemas.microsoft.com/office/drawing/2014/main" id="{D9BC9F51-CD24-4D94-B8AC-39BFFF0F23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4152" y="4727660"/>
              <a:ext cx="1274763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32" name="Line 38">
              <a:extLst>
                <a:ext uri="{FF2B5EF4-FFF2-40B4-BE49-F238E27FC236}">
                  <a16:creationId xmlns:a16="http://schemas.microsoft.com/office/drawing/2014/main" id="{F7016517-D54E-4000-859F-C202C901DF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53388" y="4727660"/>
              <a:ext cx="1276350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  <a:headEnd/>
              <a:tailEnd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33" name="Text Box 39">
              <a:extLst>
                <a:ext uri="{FF2B5EF4-FFF2-40B4-BE49-F238E27FC236}">
                  <a16:creationId xmlns:a16="http://schemas.microsoft.com/office/drawing/2014/main" id="{AF6ECB4F-EB99-4B20-9FA5-B7E0028A49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2776" y="4327099"/>
              <a:ext cx="908050" cy="3689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b="1" dirty="0">
                  <a:latin typeface="+mj-ea"/>
                  <a:ea typeface="+mj-ea"/>
                </a:rPr>
                <a:t>적용</a:t>
              </a:r>
            </a:p>
          </p:txBody>
        </p:sp>
        <p:sp>
          <p:nvSpPr>
            <p:cNvPr id="34" name="Text Box 40">
              <a:extLst>
                <a:ext uri="{FF2B5EF4-FFF2-40B4-BE49-F238E27FC236}">
                  <a16:creationId xmlns:a16="http://schemas.microsoft.com/office/drawing/2014/main" id="{AC9CD93E-BFDE-4A68-85BD-D09E64DE77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5251" y="4326923"/>
              <a:ext cx="90805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b="1">
                  <a:latin typeface="+mj-ea"/>
                  <a:ea typeface="+mj-ea"/>
                </a:rPr>
                <a:t>설계</a:t>
              </a:r>
            </a:p>
          </p:txBody>
        </p:sp>
        <p:sp>
          <p:nvSpPr>
            <p:cNvPr id="35" name="Text Box 41">
              <a:extLst>
                <a:ext uri="{FF2B5EF4-FFF2-40B4-BE49-F238E27FC236}">
                  <a16:creationId xmlns:a16="http://schemas.microsoft.com/office/drawing/2014/main" id="{15E49419-5746-44AA-81E9-67D23DDF6C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9251" y="4327099"/>
              <a:ext cx="908050" cy="3689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b="1" dirty="0">
                  <a:latin typeface="+mj-ea"/>
                  <a:ea typeface="+mj-ea"/>
                </a:rPr>
                <a:t>시험</a:t>
              </a:r>
            </a:p>
          </p:txBody>
        </p:sp>
        <p:sp>
          <p:nvSpPr>
            <p:cNvPr id="36" name="Text Box 42">
              <a:extLst>
                <a:ext uri="{FF2B5EF4-FFF2-40B4-BE49-F238E27FC236}">
                  <a16:creationId xmlns:a16="http://schemas.microsoft.com/office/drawing/2014/main" id="{EA66C37C-90FD-4352-8B18-AA84444033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9351" y="4327099"/>
              <a:ext cx="908050" cy="3689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b="1" dirty="0">
                  <a:latin typeface="+mj-ea"/>
                  <a:ea typeface="+mj-ea"/>
                </a:rPr>
                <a:t>분석</a:t>
              </a:r>
            </a:p>
          </p:txBody>
        </p:sp>
        <p:sp>
          <p:nvSpPr>
            <p:cNvPr id="37" name="Rectangle 43">
              <a:extLst>
                <a:ext uri="{FF2B5EF4-FFF2-40B4-BE49-F238E27FC236}">
                  <a16:creationId xmlns:a16="http://schemas.microsoft.com/office/drawing/2014/main" id="{59FA0634-0C83-49AF-9A16-647D84C63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7839" y="4885558"/>
              <a:ext cx="1158875" cy="7213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7DD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7667" tIns="48834" rIns="97667" bIns="48834" anchor="ctr"/>
            <a:lstStyle>
              <a:lvl1pPr marL="95250" indent="-95250" algn="l" defTabSz="9763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515938" algn="l" defTabSz="9763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976313" algn="l" defTabSz="9763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465263" algn="l" defTabSz="9763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1952625" algn="l" defTabSz="9763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409825" defTabSz="9763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867025" defTabSz="9763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324225" defTabSz="9763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781425" defTabSz="9763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latinLnBrk="0" hangingPunct="0">
                <a:lnSpc>
                  <a:spcPct val="115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"/>
              </a:pPr>
              <a:r>
                <a:rPr lang="ko-KR" altLang="en-US" sz="1000" dirty="0">
                  <a:solidFill>
                    <a:srgbClr val="000000"/>
                  </a:solidFill>
                  <a:latin typeface="+mj-ea"/>
                  <a:ea typeface="+mj-ea"/>
                </a:rPr>
                <a:t>사용자 교육</a:t>
              </a:r>
            </a:p>
            <a:p>
              <a:pPr latinLnBrk="0" hangingPunct="0">
                <a:lnSpc>
                  <a:spcPct val="115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"/>
              </a:pPr>
              <a:r>
                <a:rPr lang="ko-KR" altLang="en-US" sz="1000" dirty="0">
                  <a:solidFill>
                    <a:srgbClr val="000000"/>
                  </a:solidFill>
                  <a:latin typeface="+mj-ea"/>
                  <a:ea typeface="+mj-ea"/>
                </a:rPr>
                <a:t>통합 시험 </a:t>
              </a:r>
              <a:endParaRPr lang="en-US" altLang="ko-KR" sz="1000" dirty="0">
                <a:solidFill>
                  <a:srgbClr val="000000"/>
                </a:solidFill>
                <a:latin typeface="+mj-ea"/>
                <a:ea typeface="+mj-ea"/>
              </a:endParaRPr>
            </a:p>
            <a:p>
              <a:pPr latinLnBrk="0" hangingPunct="0">
                <a:lnSpc>
                  <a:spcPct val="115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"/>
              </a:pPr>
              <a:r>
                <a:rPr lang="ko-KR" altLang="en-US" sz="1000" dirty="0">
                  <a:solidFill>
                    <a:srgbClr val="000000"/>
                  </a:solidFill>
                  <a:latin typeface="+mj-ea"/>
                  <a:ea typeface="+mj-ea"/>
                </a:rPr>
                <a:t>검토 및 보고</a:t>
              </a:r>
            </a:p>
          </p:txBody>
        </p:sp>
        <p:sp>
          <p:nvSpPr>
            <p:cNvPr id="38" name="Rectangle 44">
              <a:extLst>
                <a:ext uri="{FF2B5EF4-FFF2-40B4-BE49-F238E27FC236}">
                  <a16:creationId xmlns:a16="http://schemas.microsoft.com/office/drawing/2014/main" id="{DF6A7F08-C29C-4EEE-9726-32FE1C01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714" y="4784172"/>
              <a:ext cx="1566863" cy="12798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7DD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7667" tIns="48834" rIns="97667" bIns="48834" anchor="ctr"/>
            <a:lstStyle>
              <a:lvl1pPr marL="95250" indent="-95250" algn="l" defTabSz="9763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515938" algn="l" defTabSz="9763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976313" algn="l" defTabSz="9763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465263" algn="l" defTabSz="9763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1952625" algn="l" defTabSz="9763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409825" defTabSz="9763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867025" defTabSz="9763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324225" defTabSz="9763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781425" defTabSz="9763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latinLnBrk="0" hangingPunct="0">
                <a:lnSpc>
                  <a:spcPct val="115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"/>
              </a:pPr>
              <a:r>
                <a:rPr lang="ko-KR" altLang="en-US" sz="1000" dirty="0">
                  <a:solidFill>
                    <a:srgbClr val="000000"/>
                  </a:solidFill>
                  <a:latin typeface="+mj-ea"/>
                  <a:ea typeface="+mj-ea"/>
                </a:rPr>
                <a:t>상세 설계</a:t>
              </a:r>
            </a:p>
            <a:p>
              <a:pPr latinLnBrk="0" hangingPunct="0">
                <a:lnSpc>
                  <a:spcPct val="115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"/>
              </a:pPr>
              <a:r>
                <a:rPr lang="ko-KR" altLang="en-US" sz="1000" dirty="0">
                  <a:solidFill>
                    <a:srgbClr val="000000"/>
                  </a:solidFill>
                  <a:latin typeface="+mj-ea"/>
                  <a:ea typeface="+mj-ea"/>
                </a:rPr>
                <a:t>단위 시스템 </a:t>
              </a:r>
              <a:r>
                <a:rPr lang="ko-KR" altLang="en-US" sz="1000" dirty="0" err="1">
                  <a:solidFill>
                    <a:srgbClr val="000000"/>
                  </a:solidFill>
                  <a:latin typeface="+mj-ea"/>
                  <a:ea typeface="+mj-ea"/>
                </a:rPr>
                <a:t>프로토타입</a:t>
              </a:r>
              <a:r>
                <a:rPr lang="ko-KR" altLang="en-US" sz="1000" dirty="0">
                  <a:solidFill>
                    <a:srgbClr val="000000"/>
                  </a:solidFill>
                  <a:latin typeface="+mj-ea"/>
                  <a:ea typeface="+mj-ea"/>
                </a:rPr>
                <a:t> 제작</a:t>
              </a:r>
            </a:p>
            <a:p>
              <a:pPr latinLnBrk="0" hangingPunct="0">
                <a:lnSpc>
                  <a:spcPct val="115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"/>
              </a:pPr>
              <a:r>
                <a:rPr lang="ko-KR" altLang="en-US" sz="1000" dirty="0">
                  <a:solidFill>
                    <a:srgbClr val="000000"/>
                  </a:solidFill>
                  <a:latin typeface="+mj-ea"/>
                  <a:ea typeface="+mj-ea"/>
                </a:rPr>
                <a:t>사양서 작성</a:t>
              </a:r>
            </a:p>
            <a:p>
              <a:pPr latinLnBrk="0" hangingPunct="0">
                <a:lnSpc>
                  <a:spcPct val="115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"/>
              </a:pPr>
              <a:r>
                <a:rPr lang="ko-KR" altLang="en-US" sz="1000" dirty="0">
                  <a:solidFill>
                    <a:srgbClr val="000000"/>
                  </a:solidFill>
                  <a:latin typeface="+mj-ea"/>
                  <a:ea typeface="+mj-ea"/>
                </a:rPr>
                <a:t>요구사항 </a:t>
              </a:r>
              <a:r>
                <a:rPr lang="ko-KR" altLang="en-US" sz="1000" dirty="0" err="1">
                  <a:solidFill>
                    <a:srgbClr val="000000"/>
                  </a:solidFill>
                  <a:latin typeface="+mj-ea"/>
                  <a:ea typeface="+mj-ea"/>
                </a:rPr>
                <a:t>추적성</a:t>
              </a:r>
              <a:r>
                <a:rPr lang="ko-KR" altLang="en-US" sz="1000" dirty="0">
                  <a:solidFill>
                    <a:srgbClr val="000000"/>
                  </a:solidFill>
                  <a:latin typeface="+mj-ea"/>
                  <a:ea typeface="+mj-ea"/>
                </a:rPr>
                <a:t> 검증</a:t>
              </a:r>
            </a:p>
            <a:p>
              <a:pPr latinLnBrk="0" hangingPunct="0">
                <a:lnSpc>
                  <a:spcPct val="115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"/>
              </a:pPr>
              <a:r>
                <a:rPr lang="ko-KR" altLang="en-US" sz="1000" dirty="0">
                  <a:solidFill>
                    <a:srgbClr val="000000"/>
                  </a:solidFill>
                  <a:latin typeface="+mj-ea"/>
                  <a:ea typeface="+mj-ea"/>
                </a:rPr>
                <a:t>검토 및 보고</a:t>
              </a:r>
            </a:p>
          </p:txBody>
        </p:sp>
        <p:sp>
          <p:nvSpPr>
            <p:cNvPr id="39" name="Rectangle 45">
              <a:extLst>
                <a:ext uri="{FF2B5EF4-FFF2-40B4-BE49-F238E27FC236}">
                  <a16:creationId xmlns:a16="http://schemas.microsoft.com/office/drawing/2014/main" id="{8B9EF82F-FE87-4360-A1EC-4FA6F16AE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2413" y="4945393"/>
              <a:ext cx="1112838" cy="8809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7DD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7667" tIns="48834" rIns="97667" bIns="48834" anchor="ctr"/>
            <a:lstStyle>
              <a:lvl1pPr marL="95250" indent="-95250" algn="l" defTabSz="9763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515938" algn="l" defTabSz="9763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976313" algn="l" defTabSz="9763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465263" algn="l" defTabSz="9763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1952625" algn="l" defTabSz="9763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409825" defTabSz="9763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867025" defTabSz="9763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324225" defTabSz="9763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781425" defTabSz="9763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latinLnBrk="0" hangingPunct="0">
                <a:lnSpc>
                  <a:spcPct val="115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"/>
              </a:pPr>
              <a:r>
                <a:rPr lang="ko-KR" altLang="en-US" sz="1000" dirty="0">
                  <a:solidFill>
                    <a:srgbClr val="000000"/>
                  </a:solidFill>
                  <a:latin typeface="+mj-ea"/>
                  <a:ea typeface="+mj-ea"/>
                </a:rPr>
                <a:t>시스템 시험</a:t>
              </a:r>
              <a:endParaRPr lang="en-US" altLang="ko-KR" sz="1000" dirty="0">
                <a:solidFill>
                  <a:srgbClr val="000000"/>
                </a:solidFill>
                <a:latin typeface="+mj-ea"/>
                <a:ea typeface="+mj-ea"/>
              </a:endParaRPr>
            </a:p>
            <a:p>
              <a:pPr latinLnBrk="0" hangingPunct="0">
                <a:lnSpc>
                  <a:spcPct val="115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"/>
              </a:pPr>
              <a:r>
                <a:rPr lang="ko-KR" altLang="en-US" sz="1000" dirty="0">
                  <a:solidFill>
                    <a:srgbClr val="000000"/>
                  </a:solidFill>
                  <a:latin typeface="+mj-ea"/>
                  <a:ea typeface="+mj-ea"/>
                </a:rPr>
                <a:t>인증 시험</a:t>
              </a:r>
            </a:p>
            <a:p>
              <a:pPr latinLnBrk="0" hangingPunct="0">
                <a:lnSpc>
                  <a:spcPct val="115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"/>
              </a:pPr>
              <a:r>
                <a:rPr lang="ko-KR" altLang="en-US" sz="1000" dirty="0">
                  <a:solidFill>
                    <a:srgbClr val="000000"/>
                  </a:solidFill>
                  <a:latin typeface="+mj-ea"/>
                  <a:ea typeface="+mj-ea"/>
                </a:rPr>
                <a:t>검토 및 보고</a:t>
              </a:r>
            </a:p>
          </p:txBody>
        </p:sp>
        <p:sp>
          <p:nvSpPr>
            <p:cNvPr id="40" name="Rectangle 46">
              <a:extLst>
                <a:ext uri="{FF2B5EF4-FFF2-40B4-BE49-F238E27FC236}">
                  <a16:creationId xmlns:a16="http://schemas.microsoft.com/office/drawing/2014/main" id="{52E835AD-B35B-412E-B4D4-057C2CFA23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0914" y="4945393"/>
              <a:ext cx="1363663" cy="8809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7DD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7667" tIns="48834" rIns="97667" bIns="48834" anchor="ctr"/>
            <a:lstStyle>
              <a:lvl1pPr marL="95250" indent="-95250" algn="l" defTabSz="9763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515938" algn="l" defTabSz="9763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976313" algn="l" defTabSz="9763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465263" algn="l" defTabSz="9763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1952625" algn="l" defTabSz="976313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409825" defTabSz="9763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867025" defTabSz="9763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324225" defTabSz="9763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781425" defTabSz="976313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latinLnBrk="0" hangingPunct="0">
                <a:lnSpc>
                  <a:spcPct val="115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"/>
              </a:pPr>
              <a:r>
                <a:rPr lang="ko-KR" altLang="en-US" sz="1000" dirty="0">
                  <a:solidFill>
                    <a:srgbClr val="000000"/>
                  </a:solidFill>
                  <a:latin typeface="+mj-ea"/>
                  <a:ea typeface="+mj-ea"/>
                </a:rPr>
                <a:t>요구사항 정의</a:t>
              </a:r>
            </a:p>
            <a:p>
              <a:pPr latinLnBrk="0" hangingPunct="0">
                <a:lnSpc>
                  <a:spcPct val="115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"/>
              </a:pPr>
              <a:r>
                <a:rPr lang="ko-KR" altLang="en-US" sz="1000" dirty="0">
                  <a:solidFill>
                    <a:srgbClr val="000000"/>
                  </a:solidFill>
                  <a:latin typeface="+mj-ea"/>
                  <a:ea typeface="+mj-ea"/>
                </a:rPr>
                <a:t>사전 설계 및 모델링</a:t>
              </a:r>
              <a:endParaRPr lang="en-US" altLang="ko-KR" sz="1000" dirty="0">
                <a:solidFill>
                  <a:srgbClr val="000000"/>
                </a:solidFill>
                <a:latin typeface="+mj-ea"/>
                <a:ea typeface="+mj-ea"/>
              </a:endParaRPr>
            </a:p>
            <a:p>
              <a:pPr latinLnBrk="0" hangingPunct="0">
                <a:lnSpc>
                  <a:spcPct val="115000"/>
                </a:lnSpc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"/>
              </a:pPr>
              <a:r>
                <a:rPr lang="ko-KR" altLang="en-US" sz="1000" dirty="0">
                  <a:solidFill>
                    <a:srgbClr val="000000"/>
                  </a:solidFill>
                  <a:latin typeface="+mj-ea"/>
                  <a:ea typeface="+mj-ea"/>
                </a:rPr>
                <a:t>검토 및 보고</a:t>
              </a:r>
            </a:p>
          </p:txBody>
        </p:sp>
        <p:sp>
          <p:nvSpPr>
            <p:cNvPr id="41" name="Oval 47">
              <a:extLst>
                <a:ext uri="{FF2B5EF4-FFF2-40B4-BE49-F238E27FC236}">
                  <a16:creationId xmlns:a16="http://schemas.microsoft.com/office/drawing/2014/main" id="{6E0331BC-00D6-4A61-ACC9-DBEF9B17B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652" y="1350307"/>
              <a:ext cx="1370013" cy="1120245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E6E494">
                          <a:gamma/>
                          <a:tint val="12157"/>
                          <a:invGamma/>
                        </a:srgbClr>
                      </a:gs>
                      <a:gs pos="100000">
                        <a:srgbClr val="E6E494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97BFE7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13500000" algn="ctr" rotWithShape="0">
                      <a:srgbClr val="E6E494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2400" b="1" dirty="0">
                  <a:latin typeface="+mj-ea"/>
                  <a:ea typeface="+mj-ea"/>
                </a:rPr>
                <a:t>적용 목표 달성</a:t>
              </a:r>
            </a:p>
          </p:txBody>
        </p:sp>
        <p:grpSp>
          <p:nvGrpSpPr>
            <p:cNvPr id="42" name="Group 11">
              <a:extLst>
                <a:ext uri="{FF2B5EF4-FFF2-40B4-BE49-F238E27FC236}">
                  <a16:creationId xmlns:a16="http://schemas.microsoft.com/office/drawing/2014/main" id="{16D18A24-8664-438F-BE4F-F72A50CA9A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90876" y="5563306"/>
              <a:ext cx="1228725" cy="628650"/>
              <a:chOff x="978" y="3456"/>
              <a:chExt cx="1081" cy="227"/>
            </a:xfrm>
          </p:grpSpPr>
          <p:sp>
            <p:nvSpPr>
              <p:cNvPr id="43" name="AutoShape 12">
                <a:extLst>
                  <a:ext uri="{FF2B5EF4-FFF2-40B4-BE49-F238E27FC236}">
                    <a16:creationId xmlns:a16="http://schemas.microsoft.com/office/drawing/2014/main" id="{90177C12-F8A3-4F14-85D0-3530142F73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8" y="3456"/>
                <a:ext cx="1081" cy="227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7" dist="17961" dir="27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44" name="AutoShape 13">
                <a:extLst>
                  <a:ext uri="{FF2B5EF4-FFF2-40B4-BE49-F238E27FC236}">
                    <a16:creationId xmlns:a16="http://schemas.microsoft.com/office/drawing/2014/main" id="{06B8B2CA-ACF6-4B4A-9D24-980137CB6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4" y="3465"/>
                <a:ext cx="1049" cy="210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8" dist="17961" dir="135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</p:grpSp>
        <p:grpSp>
          <p:nvGrpSpPr>
            <p:cNvPr id="45" name="Group 14">
              <a:extLst>
                <a:ext uri="{FF2B5EF4-FFF2-40B4-BE49-F238E27FC236}">
                  <a16:creationId xmlns:a16="http://schemas.microsoft.com/office/drawing/2014/main" id="{F75861FA-5C06-47C7-94BA-E305B9F170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48013" y="5517270"/>
              <a:ext cx="1231900" cy="630237"/>
              <a:chOff x="978" y="3456"/>
              <a:chExt cx="1081" cy="227"/>
            </a:xfrm>
          </p:grpSpPr>
          <p:sp>
            <p:nvSpPr>
              <p:cNvPr id="46" name="AutoShape 15">
                <a:extLst>
                  <a:ext uri="{FF2B5EF4-FFF2-40B4-BE49-F238E27FC236}">
                    <a16:creationId xmlns:a16="http://schemas.microsoft.com/office/drawing/2014/main" id="{096D03DD-5D93-43FA-BD5C-F439153E1A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8" y="3456"/>
                <a:ext cx="1081" cy="227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7" dist="17961" dir="27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47" name="AutoShape 16">
                <a:extLst>
                  <a:ext uri="{FF2B5EF4-FFF2-40B4-BE49-F238E27FC236}">
                    <a16:creationId xmlns:a16="http://schemas.microsoft.com/office/drawing/2014/main" id="{C24D10C9-B5AD-4034-AC6E-08EF6BDDBA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4" y="3465"/>
                <a:ext cx="1049" cy="210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8" dist="17961" dir="135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</p:grpSp>
        <p:grpSp>
          <p:nvGrpSpPr>
            <p:cNvPr id="48" name="Group 17">
              <a:extLst>
                <a:ext uri="{FF2B5EF4-FFF2-40B4-BE49-F238E27FC236}">
                  <a16:creationId xmlns:a16="http://schemas.microsoft.com/office/drawing/2014/main" id="{9DA84FB9-F13F-4F17-AE9F-2FE179F6A1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89289" y="4196470"/>
              <a:ext cx="1228725" cy="631825"/>
              <a:chOff x="978" y="3456"/>
              <a:chExt cx="1081" cy="227"/>
            </a:xfrm>
          </p:grpSpPr>
          <p:sp>
            <p:nvSpPr>
              <p:cNvPr id="49" name="AutoShape 18">
                <a:extLst>
                  <a:ext uri="{FF2B5EF4-FFF2-40B4-BE49-F238E27FC236}">
                    <a16:creationId xmlns:a16="http://schemas.microsoft.com/office/drawing/2014/main" id="{51C33790-314D-41E7-94E8-4D13D44AA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8" y="3456"/>
                <a:ext cx="1081" cy="227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7" dist="17961" dir="27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50" name="AutoShape 19">
                <a:extLst>
                  <a:ext uri="{FF2B5EF4-FFF2-40B4-BE49-F238E27FC236}">
                    <a16:creationId xmlns:a16="http://schemas.microsoft.com/office/drawing/2014/main" id="{9F5C9C72-AEB4-45B5-B7C7-87433412EC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4" y="3465"/>
                <a:ext cx="1049" cy="210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8" dist="17961" dir="135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</p:grpSp>
        <p:grpSp>
          <p:nvGrpSpPr>
            <p:cNvPr id="51" name="Group 20">
              <a:extLst>
                <a:ext uri="{FF2B5EF4-FFF2-40B4-BE49-F238E27FC236}">
                  <a16:creationId xmlns:a16="http://schemas.microsoft.com/office/drawing/2014/main" id="{B2BF4B41-5EA3-4F01-84AD-603C0971BC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46425" y="4163131"/>
              <a:ext cx="1231900" cy="630238"/>
              <a:chOff x="978" y="3456"/>
              <a:chExt cx="1081" cy="227"/>
            </a:xfrm>
          </p:grpSpPr>
          <p:sp>
            <p:nvSpPr>
              <p:cNvPr id="52" name="AutoShape 21">
                <a:extLst>
                  <a:ext uri="{FF2B5EF4-FFF2-40B4-BE49-F238E27FC236}">
                    <a16:creationId xmlns:a16="http://schemas.microsoft.com/office/drawing/2014/main" id="{21189842-9EE7-4302-B588-E62F3CF3D6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8" y="3456"/>
                <a:ext cx="1081" cy="227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7" dist="17961" dir="27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53" name="AutoShape 22">
                <a:extLst>
                  <a:ext uri="{FF2B5EF4-FFF2-40B4-BE49-F238E27FC236}">
                    <a16:creationId xmlns:a16="http://schemas.microsoft.com/office/drawing/2014/main" id="{5BBB6F2E-D41D-4AB8-8A2A-303580EF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4" y="3465"/>
                <a:ext cx="1049" cy="210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8" dist="17961" dir="135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</p:grpSp>
        <p:grpSp>
          <p:nvGrpSpPr>
            <p:cNvPr id="54" name="Group 23">
              <a:extLst>
                <a:ext uri="{FF2B5EF4-FFF2-40B4-BE49-F238E27FC236}">
                  <a16:creationId xmlns:a16="http://schemas.microsoft.com/office/drawing/2014/main" id="{E492A36F-ED5F-454E-8D3F-A705A69066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87701" y="2842331"/>
              <a:ext cx="1228725" cy="628650"/>
              <a:chOff x="978" y="3456"/>
              <a:chExt cx="1081" cy="227"/>
            </a:xfrm>
          </p:grpSpPr>
          <p:sp>
            <p:nvSpPr>
              <p:cNvPr id="55" name="AutoShape 24">
                <a:extLst>
                  <a:ext uri="{FF2B5EF4-FFF2-40B4-BE49-F238E27FC236}">
                    <a16:creationId xmlns:a16="http://schemas.microsoft.com/office/drawing/2014/main" id="{04B9640F-94C1-4E45-9D73-DBB3FA1F7A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8" y="3456"/>
                <a:ext cx="1081" cy="227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7" dist="17961" dir="27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56" name="AutoShape 25">
                <a:extLst>
                  <a:ext uri="{FF2B5EF4-FFF2-40B4-BE49-F238E27FC236}">
                    <a16:creationId xmlns:a16="http://schemas.microsoft.com/office/drawing/2014/main" id="{6E626933-BDA5-44A1-AD67-DE64CB081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4" y="3465"/>
                <a:ext cx="1049" cy="210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8" dist="17961" dir="135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</p:grpSp>
        <p:grpSp>
          <p:nvGrpSpPr>
            <p:cNvPr id="57" name="Group 26">
              <a:extLst>
                <a:ext uri="{FF2B5EF4-FFF2-40B4-BE49-F238E27FC236}">
                  <a16:creationId xmlns:a16="http://schemas.microsoft.com/office/drawing/2014/main" id="{5C6C1AAB-73F3-4FC4-A1D4-71C89EFCBB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44838" y="2807406"/>
              <a:ext cx="1231900" cy="630238"/>
              <a:chOff x="978" y="3456"/>
              <a:chExt cx="1081" cy="227"/>
            </a:xfrm>
          </p:grpSpPr>
          <p:sp>
            <p:nvSpPr>
              <p:cNvPr id="58" name="AutoShape 27">
                <a:extLst>
                  <a:ext uri="{FF2B5EF4-FFF2-40B4-BE49-F238E27FC236}">
                    <a16:creationId xmlns:a16="http://schemas.microsoft.com/office/drawing/2014/main" id="{CB64FC03-D80D-4BE0-993B-548C327689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8" y="3456"/>
                <a:ext cx="1081" cy="227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7" dist="17961" dir="27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59" name="AutoShape 28">
                <a:extLst>
                  <a:ext uri="{FF2B5EF4-FFF2-40B4-BE49-F238E27FC236}">
                    <a16:creationId xmlns:a16="http://schemas.microsoft.com/office/drawing/2014/main" id="{68F22504-CB76-4C3D-B528-140FE85400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4" y="3465"/>
                <a:ext cx="1049" cy="210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8" dist="17961" dir="135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</p:grpSp>
        <p:grpSp>
          <p:nvGrpSpPr>
            <p:cNvPr id="60" name="Group 29">
              <a:extLst>
                <a:ext uri="{FF2B5EF4-FFF2-40B4-BE49-F238E27FC236}">
                  <a16:creationId xmlns:a16="http://schemas.microsoft.com/office/drawing/2014/main" id="{0601F61B-EFE3-4970-99A6-152B197E60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01975" y="2769307"/>
              <a:ext cx="1231900" cy="631825"/>
              <a:chOff x="978" y="3456"/>
              <a:chExt cx="1081" cy="227"/>
            </a:xfrm>
          </p:grpSpPr>
          <p:sp>
            <p:nvSpPr>
              <p:cNvPr id="61" name="AutoShape 30">
                <a:extLst>
                  <a:ext uri="{FF2B5EF4-FFF2-40B4-BE49-F238E27FC236}">
                    <a16:creationId xmlns:a16="http://schemas.microsoft.com/office/drawing/2014/main" id="{034F0C8C-593C-4BDF-91B5-2724C3BD3E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8" y="3456"/>
                <a:ext cx="1081" cy="227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7" dist="17961" dir="27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62" name="AutoShape 31">
                <a:extLst>
                  <a:ext uri="{FF2B5EF4-FFF2-40B4-BE49-F238E27FC236}">
                    <a16:creationId xmlns:a16="http://schemas.microsoft.com/office/drawing/2014/main" id="{D3A5C27F-B4A9-40AA-A458-D632E0C94A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4" y="3465"/>
                <a:ext cx="1049" cy="210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8" dist="17961" dir="135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</p:grpSp>
        <p:grpSp>
          <p:nvGrpSpPr>
            <p:cNvPr id="63" name="Group 32">
              <a:extLst>
                <a:ext uri="{FF2B5EF4-FFF2-40B4-BE49-F238E27FC236}">
                  <a16:creationId xmlns:a16="http://schemas.microsoft.com/office/drawing/2014/main" id="{C1F81C64-268E-4B86-9294-A921F2F99C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01975" y="4131381"/>
              <a:ext cx="1231900" cy="630238"/>
              <a:chOff x="978" y="3456"/>
              <a:chExt cx="1081" cy="227"/>
            </a:xfrm>
          </p:grpSpPr>
          <p:sp>
            <p:nvSpPr>
              <p:cNvPr id="64" name="AutoShape 33">
                <a:extLst>
                  <a:ext uri="{FF2B5EF4-FFF2-40B4-BE49-F238E27FC236}">
                    <a16:creationId xmlns:a16="http://schemas.microsoft.com/office/drawing/2014/main" id="{B81CFBD4-E98E-43D0-A7AC-1966DB55D6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8" y="3456"/>
                <a:ext cx="1081" cy="227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7" dist="17961" dir="27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65" name="AutoShape 34">
                <a:extLst>
                  <a:ext uri="{FF2B5EF4-FFF2-40B4-BE49-F238E27FC236}">
                    <a16:creationId xmlns:a16="http://schemas.microsoft.com/office/drawing/2014/main" id="{248A3FD0-A4A3-46DA-B672-EC6EA81441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4" y="3465"/>
                <a:ext cx="1049" cy="210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8" dist="17961" dir="135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</p:grpSp>
        <p:grpSp>
          <p:nvGrpSpPr>
            <p:cNvPr id="66" name="Group 35">
              <a:extLst>
                <a:ext uri="{FF2B5EF4-FFF2-40B4-BE49-F238E27FC236}">
                  <a16:creationId xmlns:a16="http://schemas.microsoft.com/office/drawing/2014/main" id="{8E8FDF06-FA47-4A57-B50C-E9DA6DB624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01975" y="5469645"/>
              <a:ext cx="1231900" cy="631825"/>
              <a:chOff x="978" y="3456"/>
              <a:chExt cx="1081" cy="227"/>
            </a:xfrm>
          </p:grpSpPr>
          <p:sp>
            <p:nvSpPr>
              <p:cNvPr id="67" name="AutoShape 36">
                <a:extLst>
                  <a:ext uri="{FF2B5EF4-FFF2-40B4-BE49-F238E27FC236}">
                    <a16:creationId xmlns:a16="http://schemas.microsoft.com/office/drawing/2014/main" id="{AF78C7DD-60AE-47FF-AF89-D4E3116E33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8" y="3456"/>
                <a:ext cx="1081" cy="227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7" dist="17961" dir="27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68" name="AutoShape 37">
                <a:extLst>
                  <a:ext uri="{FF2B5EF4-FFF2-40B4-BE49-F238E27FC236}">
                    <a16:creationId xmlns:a16="http://schemas.microsoft.com/office/drawing/2014/main" id="{DDEA9CA4-70E2-4D20-9161-705CB6C1FD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4" y="3465"/>
                <a:ext cx="1049" cy="210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8" dist="17961" dir="135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</p:grpSp>
        <p:sp>
          <p:nvSpPr>
            <p:cNvPr id="69" name="Text Box 38">
              <a:extLst>
                <a:ext uri="{FF2B5EF4-FFF2-40B4-BE49-F238E27FC236}">
                  <a16:creationId xmlns:a16="http://schemas.microsoft.com/office/drawing/2014/main" id="{A45571B1-9077-470C-BC4F-0243FCCBD3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51502" y="2932819"/>
              <a:ext cx="72808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b="1">
                  <a:latin typeface="+mj-ea"/>
                  <a:ea typeface="+mj-ea"/>
                </a:rPr>
                <a:t> </a:t>
              </a:r>
              <a:r>
                <a:rPr lang="ko-KR" altLang="en-US" b="1">
                  <a:latin typeface="+mj-ea"/>
                  <a:ea typeface="+mj-ea"/>
                </a:rPr>
                <a:t>설계</a:t>
              </a:r>
            </a:p>
          </p:txBody>
        </p:sp>
        <p:sp>
          <p:nvSpPr>
            <p:cNvPr id="70" name="Text Box 39">
              <a:extLst>
                <a:ext uri="{FF2B5EF4-FFF2-40B4-BE49-F238E27FC236}">
                  <a16:creationId xmlns:a16="http://schemas.microsoft.com/office/drawing/2014/main" id="{121E4952-18CF-4DDD-A67A-C0F8CD00F8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93172" y="4283781"/>
              <a:ext cx="64633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b="1" dirty="0">
                  <a:latin typeface="+mj-ea"/>
                  <a:ea typeface="+mj-ea"/>
                </a:rPr>
                <a:t>시험</a:t>
              </a:r>
            </a:p>
          </p:txBody>
        </p:sp>
        <p:sp>
          <p:nvSpPr>
            <p:cNvPr id="71" name="Text Box 40">
              <a:extLst>
                <a:ext uri="{FF2B5EF4-FFF2-40B4-BE49-F238E27FC236}">
                  <a16:creationId xmlns:a16="http://schemas.microsoft.com/office/drawing/2014/main" id="{868545AA-4AFA-41DA-834D-1EE40BFC6A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12222" y="5631569"/>
              <a:ext cx="646332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b="1" dirty="0">
                  <a:latin typeface="+mj-ea"/>
                  <a:ea typeface="+mj-ea"/>
                </a:rPr>
                <a:t>적용</a:t>
              </a:r>
            </a:p>
          </p:txBody>
        </p:sp>
        <p:grpSp>
          <p:nvGrpSpPr>
            <p:cNvPr id="72" name="Group 41">
              <a:extLst>
                <a:ext uri="{FF2B5EF4-FFF2-40B4-BE49-F238E27FC236}">
                  <a16:creationId xmlns:a16="http://schemas.microsoft.com/office/drawing/2014/main" id="{5EC23E34-8FC9-414A-9AAC-5767D38264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90864" y="2642307"/>
              <a:ext cx="333375" cy="354013"/>
              <a:chOff x="395" y="1869"/>
              <a:chExt cx="239" cy="227"/>
            </a:xfrm>
          </p:grpSpPr>
          <p:sp>
            <p:nvSpPr>
              <p:cNvPr id="73" name="Freeform 42">
                <a:extLst>
                  <a:ext uri="{FF2B5EF4-FFF2-40B4-BE49-F238E27FC236}">
                    <a16:creationId xmlns:a16="http://schemas.microsoft.com/office/drawing/2014/main" id="{082CA071-37F9-4A52-B661-671C040B42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" y="1869"/>
                <a:ext cx="154" cy="175"/>
              </a:xfrm>
              <a:custGeom>
                <a:avLst/>
                <a:gdLst>
                  <a:gd name="T0" fmla="*/ 546 w 1384"/>
                  <a:gd name="T1" fmla="*/ 234 h 1757"/>
                  <a:gd name="T2" fmla="*/ 596 w 1384"/>
                  <a:gd name="T3" fmla="*/ 244 h 1757"/>
                  <a:gd name="T4" fmla="*/ 635 w 1384"/>
                  <a:gd name="T5" fmla="*/ 254 h 1757"/>
                  <a:gd name="T6" fmla="*/ 676 w 1384"/>
                  <a:gd name="T7" fmla="*/ 267 h 1757"/>
                  <a:gd name="T8" fmla="*/ 717 w 1384"/>
                  <a:gd name="T9" fmla="*/ 280 h 1757"/>
                  <a:gd name="T10" fmla="*/ 765 w 1384"/>
                  <a:gd name="T11" fmla="*/ 300 h 1757"/>
                  <a:gd name="T12" fmla="*/ 810 w 1384"/>
                  <a:gd name="T13" fmla="*/ 320 h 1757"/>
                  <a:gd name="T14" fmla="*/ 854 w 1384"/>
                  <a:gd name="T15" fmla="*/ 342 h 1757"/>
                  <a:gd name="T16" fmla="*/ 892 w 1384"/>
                  <a:gd name="T17" fmla="*/ 365 h 1757"/>
                  <a:gd name="T18" fmla="*/ 930 w 1384"/>
                  <a:gd name="T19" fmla="*/ 390 h 1757"/>
                  <a:gd name="T20" fmla="*/ 972 w 1384"/>
                  <a:gd name="T21" fmla="*/ 421 h 1757"/>
                  <a:gd name="T22" fmla="*/ 1009 w 1384"/>
                  <a:gd name="T23" fmla="*/ 448 h 1757"/>
                  <a:gd name="T24" fmla="*/ 1067 w 1384"/>
                  <a:gd name="T25" fmla="*/ 500 h 1757"/>
                  <a:gd name="T26" fmla="*/ 1117 w 1384"/>
                  <a:gd name="T27" fmla="*/ 552 h 1757"/>
                  <a:gd name="T28" fmla="*/ 1157 w 1384"/>
                  <a:gd name="T29" fmla="*/ 600 h 1757"/>
                  <a:gd name="T30" fmla="*/ 1199 w 1384"/>
                  <a:gd name="T31" fmla="*/ 657 h 1757"/>
                  <a:gd name="T32" fmla="*/ 1238 w 1384"/>
                  <a:gd name="T33" fmla="*/ 717 h 1757"/>
                  <a:gd name="T34" fmla="*/ 1272 w 1384"/>
                  <a:gd name="T35" fmla="*/ 777 h 1757"/>
                  <a:gd name="T36" fmla="*/ 1303 w 1384"/>
                  <a:gd name="T37" fmla="*/ 844 h 1757"/>
                  <a:gd name="T38" fmla="*/ 1328 w 1384"/>
                  <a:gd name="T39" fmla="*/ 915 h 1757"/>
                  <a:gd name="T40" fmla="*/ 1354 w 1384"/>
                  <a:gd name="T41" fmla="*/ 1003 h 1757"/>
                  <a:gd name="T42" fmla="*/ 1370 w 1384"/>
                  <a:gd name="T43" fmla="*/ 1089 h 1757"/>
                  <a:gd name="T44" fmla="*/ 1382 w 1384"/>
                  <a:gd name="T45" fmla="*/ 1202 h 1757"/>
                  <a:gd name="T46" fmla="*/ 1382 w 1384"/>
                  <a:gd name="T47" fmla="*/ 1297 h 1757"/>
                  <a:gd name="T48" fmla="*/ 1373 w 1384"/>
                  <a:gd name="T49" fmla="*/ 1385 h 1757"/>
                  <a:gd name="T50" fmla="*/ 1358 w 1384"/>
                  <a:gd name="T51" fmla="*/ 1475 h 1757"/>
                  <a:gd name="T52" fmla="*/ 1330 w 1384"/>
                  <a:gd name="T53" fmla="*/ 1575 h 1757"/>
                  <a:gd name="T54" fmla="*/ 1296 w 1384"/>
                  <a:gd name="T55" fmla="*/ 1667 h 1757"/>
                  <a:gd name="T56" fmla="*/ 1244 w 1384"/>
                  <a:gd name="T57" fmla="*/ 1757 h 1757"/>
                  <a:gd name="T58" fmla="*/ 858 w 1384"/>
                  <a:gd name="T59" fmla="*/ 1474 h 1757"/>
                  <a:gd name="T60" fmla="*/ 884 w 1384"/>
                  <a:gd name="T61" fmla="*/ 1403 h 1757"/>
                  <a:gd name="T62" fmla="*/ 899 w 1384"/>
                  <a:gd name="T63" fmla="*/ 1334 h 1757"/>
                  <a:gd name="T64" fmla="*/ 905 w 1384"/>
                  <a:gd name="T65" fmla="*/ 1269 h 1757"/>
                  <a:gd name="T66" fmla="*/ 903 w 1384"/>
                  <a:gd name="T67" fmla="*/ 1195 h 1757"/>
                  <a:gd name="T68" fmla="*/ 890 w 1384"/>
                  <a:gd name="T69" fmla="*/ 1115 h 1757"/>
                  <a:gd name="T70" fmla="*/ 866 w 1384"/>
                  <a:gd name="T71" fmla="*/ 1042 h 1757"/>
                  <a:gd name="T72" fmla="*/ 835 w 1384"/>
                  <a:gd name="T73" fmla="*/ 978 h 1757"/>
                  <a:gd name="T74" fmla="*/ 806 w 1384"/>
                  <a:gd name="T75" fmla="*/ 933 h 1757"/>
                  <a:gd name="T76" fmla="*/ 774 w 1384"/>
                  <a:gd name="T77" fmla="*/ 893 h 1757"/>
                  <a:gd name="T78" fmla="*/ 740 w 1384"/>
                  <a:gd name="T79" fmla="*/ 856 h 1757"/>
                  <a:gd name="T80" fmla="*/ 704 w 1384"/>
                  <a:gd name="T81" fmla="*/ 822 h 1757"/>
                  <a:gd name="T82" fmla="*/ 657 w 1384"/>
                  <a:gd name="T83" fmla="*/ 791 h 1757"/>
                  <a:gd name="T84" fmla="*/ 618 w 1384"/>
                  <a:gd name="T85" fmla="*/ 766 h 1757"/>
                  <a:gd name="T86" fmla="*/ 569 w 1384"/>
                  <a:gd name="T87" fmla="*/ 742 h 1757"/>
                  <a:gd name="T88" fmla="*/ 528 w 1384"/>
                  <a:gd name="T89" fmla="*/ 727 h 1757"/>
                  <a:gd name="T90" fmla="*/ 467 w 1384"/>
                  <a:gd name="T91" fmla="*/ 714 h 1757"/>
                  <a:gd name="T92" fmla="*/ 406 w 1384"/>
                  <a:gd name="T93" fmla="*/ 709 h 1757"/>
                  <a:gd name="T94" fmla="*/ 389 w 1384"/>
                  <a:gd name="T95" fmla="*/ 964 h 1757"/>
                  <a:gd name="T96" fmla="*/ 388 w 1384"/>
                  <a:gd name="T97" fmla="*/ 0 h 1757"/>
                  <a:gd name="T98" fmla="*/ 409 w 1384"/>
                  <a:gd name="T99" fmla="*/ 221 h 1757"/>
                  <a:gd name="T100" fmla="*/ 471 w 1384"/>
                  <a:gd name="T101" fmla="*/ 224 h 1757"/>
                  <a:gd name="T102" fmla="*/ 527 w 1384"/>
                  <a:gd name="T103" fmla="*/ 230 h 17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384" h="1757">
                    <a:moveTo>
                      <a:pt x="527" y="230"/>
                    </a:moveTo>
                    <a:lnTo>
                      <a:pt x="546" y="234"/>
                    </a:lnTo>
                    <a:lnTo>
                      <a:pt x="571" y="238"/>
                    </a:lnTo>
                    <a:lnTo>
                      <a:pt x="596" y="244"/>
                    </a:lnTo>
                    <a:lnTo>
                      <a:pt x="614" y="249"/>
                    </a:lnTo>
                    <a:lnTo>
                      <a:pt x="635" y="254"/>
                    </a:lnTo>
                    <a:lnTo>
                      <a:pt x="655" y="260"/>
                    </a:lnTo>
                    <a:lnTo>
                      <a:pt x="676" y="267"/>
                    </a:lnTo>
                    <a:lnTo>
                      <a:pt x="695" y="272"/>
                    </a:lnTo>
                    <a:lnTo>
                      <a:pt x="717" y="280"/>
                    </a:lnTo>
                    <a:lnTo>
                      <a:pt x="743" y="291"/>
                    </a:lnTo>
                    <a:lnTo>
                      <a:pt x="765" y="300"/>
                    </a:lnTo>
                    <a:lnTo>
                      <a:pt x="786" y="309"/>
                    </a:lnTo>
                    <a:lnTo>
                      <a:pt x="810" y="320"/>
                    </a:lnTo>
                    <a:lnTo>
                      <a:pt x="833" y="331"/>
                    </a:lnTo>
                    <a:lnTo>
                      <a:pt x="854" y="342"/>
                    </a:lnTo>
                    <a:lnTo>
                      <a:pt x="874" y="355"/>
                    </a:lnTo>
                    <a:lnTo>
                      <a:pt x="892" y="365"/>
                    </a:lnTo>
                    <a:lnTo>
                      <a:pt x="910" y="378"/>
                    </a:lnTo>
                    <a:lnTo>
                      <a:pt x="930" y="390"/>
                    </a:lnTo>
                    <a:lnTo>
                      <a:pt x="952" y="406"/>
                    </a:lnTo>
                    <a:lnTo>
                      <a:pt x="972" y="421"/>
                    </a:lnTo>
                    <a:lnTo>
                      <a:pt x="991" y="436"/>
                    </a:lnTo>
                    <a:lnTo>
                      <a:pt x="1009" y="448"/>
                    </a:lnTo>
                    <a:lnTo>
                      <a:pt x="1037" y="473"/>
                    </a:lnTo>
                    <a:lnTo>
                      <a:pt x="1067" y="500"/>
                    </a:lnTo>
                    <a:lnTo>
                      <a:pt x="1090" y="522"/>
                    </a:lnTo>
                    <a:lnTo>
                      <a:pt x="1117" y="552"/>
                    </a:lnTo>
                    <a:lnTo>
                      <a:pt x="1136" y="575"/>
                    </a:lnTo>
                    <a:lnTo>
                      <a:pt x="1157" y="600"/>
                    </a:lnTo>
                    <a:lnTo>
                      <a:pt x="1180" y="629"/>
                    </a:lnTo>
                    <a:lnTo>
                      <a:pt x="1199" y="657"/>
                    </a:lnTo>
                    <a:lnTo>
                      <a:pt x="1218" y="687"/>
                    </a:lnTo>
                    <a:lnTo>
                      <a:pt x="1238" y="717"/>
                    </a:lnTo>
                    <a:lnTo>
                      <a:pt x="1255" y="749"/>
                    </a:lnTo>
                    <a:lnTo>
                      <a:pt x="1272" y="777"/>
                    </a:lnTo>
                    <a:lnTo>
                      <a:pt x="1288" y="811"/>
                    </a:lnTo>
                    <a:lnTo>
                      <a:pt x="1303" y="844"/>
                    </a:lnTo>
                    <a:lnTo>
                      <a:pt x="1315" y="878"/>
                    </a:lnTo>
                    <a:lnTo>
                      <a:pt x="1328" y="915"/>
                    </a:lnTo>
                    <a:lnTo>
                      <a:pt x="1344" y="961"/>
                    </a:lnTo>
                    <a:lnTo>
                      <a:pt x="1354" y="1003"/>
                    </a:lnTo>
                    <a:lnTo>
                      <a:pt x="1365" y="1047"/>
                    </a:lnTo>
                    <a:lnTo>
                      <a:pt x="1370" y="1089"/>
                    </a:lnTo>
                    <a:lnTo>
                      <a:pt x="1377" y="1139"/>
                    </a:lnTo>
                    <a:lnTo>
                      <a:pt x="1382" y="1202"/>
                    </a:lnTo>
                    <a:lnTo>
                      <a:pt x="1384" y="1250"/>
                    </a:lnTo>
                    <a:lnTo>
                      <a:pt x="1382" y="1297"/>
                    </a:lnTo>
                    <a:lnTo>
                      <a:pt x="1378" y="1342"/>
                    </a:lnTo>
                    <a:lnTo>
                      <a:pt x="1373" y="1385"/>
                    </a:lnTo>
                    <a:lnTo>
                      <a:pt x="1368" y="1429"/>
                    </a:lnTo>
                    <a:lnTo>
                      <a:pt x="1358" y="1475"/>
                    </a:lnTo>
                    <a:lnTo>
                      <a:pt x="1346" y="1524"/>
                    </a:lnTo>
                    <a:lnTo>
                      <a:pt x="1330" y="1575"/>
                    </a:lnTo>
                    <a:lnTo>
                      <a:pt x="1314" y="1622"/>
                    </a:lnTo>
                    <a:lnTo>
                      <a:pt x="1296" y="1667"/>
                    </a:lnTo>
                    <a:lnTo>
                      <a:pt x="1270" y="1712"/>
                    </a:lnTo>
                    <a:lnTo>
                      <a:pt x="1244" y="1757"/>
                    </a:lnTo>
                    <a:lnTo>
                      <a:pt x="836" y="1519"/>
                    </a:lnTo>
                    <a:lnTo>
                      <a:pt x="858" y="1474"/>
                    </a:lnTo>
                    <a:lnTo>
                      <a:pt x="873" y="1440"/>
                    </a:lnTo>
                    <a:lnTo>
                      <a:pt x="884" y="1403"/>
                    </a:lnTo>
                    <a:lnTo>
                      <a:pt x="893" y="1367"/>
                    </a:lnTo>
                    <a:lnTo>
                      <a:pt x="899" y="1334"/>
                    </a:lnTo>
                    <a:lnTo>
                      <a:pt x="902" y="1301"/>
                    </a:lnTo>
                    <a:lnTo>
                      <a:pt x="905" y="1269"/>
                    </a:lnTo>
                    <a:lnTo>
                      <a:pt x="905" y="1235"/>
                    </a:lnTo>
                    <a:lnTo>
                      <a:pt x="903" y="1195"/>
                    </a:lnTo>
                    <a:lnTo>
                      <a:pt x="897" y="1157"/>
                    </a:lnTo>
                    <a:lnTo>
                      <a:pt x="890" y="1115"/>
                    </a:lnTo>
                    <a:lnTo>
                      <a:pt x="881" y="1081"/>
                    </a:lnTo>
                    <a:lnTo>
                      <a:pt x="866" y="1042"/>
                    </a:lnTo>
                    <a:lnTo>
                      <a:pt x="852" y="1009"/>
                    </a:lnTo>
                    <a:lnTo>
                      <a:pt x="835" y="978"/>
                    </a:lnTo>
                    <a:lnTo>
                      <a:pt x="821" y="953"/>
                    </a:lnTo>
                    <a:lnTo>
                      <a:pt x="806" y="933"/>
                    </a:lnTo>
                    <a:lnTo>
                      <a:pt x="791" y="913"/>
                    </a:lnTo>
                    <a:lnTo>
                      <a:pt x="774" y="893"/>
                    </a:lnTo>
                    <a:lnTo>
                      <a:pt x="755" y="871"/>
                    </a:lnTo>
                    <a:lnTo>
                      <a:pt x="740" y="856"/>
                    </a:lnTo>
                    <a:lnTo>
                      <a:pt x="722" y="838"/>
                    </a:lnTo>
                    <a:lnTo>
                      <a:pt x="704" y="822"/>
                    </a:lnTo>
                    <a:lnTo>
                      <a:pt x="683" y="806"/>
                    </a:lnTo>
                    <a:lnTo>
                      <a:pt x="657" y="791"/>
                    </a:lnTo>
                    <a:lnTo>
                      <a:pt x="636" y="776"/>
                    </a:lnTo>
                    <a:lnTo>
                      <a:pt x="618" y="766"/>
                    </a:lnTo>
                    <a:lnTo>
                      <a:pt x="592" y="750"/>
                    </a:lnTo>
                    <a:lnTo>
                      <a:pt x="569" y="742"/>
                    </a:lnTo>
                    <a:lnTo>
                      <a:pt x="549" y="734"/>
                    </a:lnTo>
                    <a:lnTo>
                      <a:pt x="528" y="727"/>
                    </a:lnTo>
                    <a:lnTo>
                      <a:pt x="496" y="719"/>
                    </a:lnTo>
                    <a:lnTo>
                      <a:pt x="467" y="714"/>
                    </a:lnTo>
                    <a:lnTo>
                      <a:pt x="436" y="711"/>
                    </a:lnTo>
                    <a:lnTo>
                      <a:pt x="406" y="709"/>
                    </a:lnTo>
                    <a:lnTo>
                      <a:pt x="389" y="708"/>
                    </a:lnTo>
                    <a:lnTo>
                      <a:pt x="389" y="964"/>
                    </a:lnTo>
                    <a:lnTo>
                      <a:pt x="0" y="489"/>
                    </a:lnTo>
                    <a:lnTo>
                      <a:pt x="388" y="0"/>
                    </a:lnTo>
                    <a:lnTo>
                      <a:pt x="388" y="220"/>
                    </a:lnTo>
                    <a:lnTo>
                      <a:pt x="409" y="221"/>
                    </a:lnTo>
                    <a:lnTo>
                      <a:pt x="440" y="222"/>
                    </a:lnTo>
                    <a:lnTo>
                      <a:pt x="471" y="224"/>
                    </a:lnTo>
                    <a:lnTo>
                      <a:pt x="502" y="227"/>
                    </a:lnTo>
                    <a:lnTo>
                      <a:pt x="527" y="230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74" name="Freeform 43">
                <a:extLst>
                  <a:ext uri="{FF2B5EF4-FFF2-40B4-BE49-F238E27FC236}">
                    <a16:creationId xmlns:a16="http://schemas.microsoft.com/office/drawing/2014/main" id="{1EB90C8E-C4A9-419B-B3C2-9B96698CBF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" y="1998"/>
                <a:ext cx="204" cy="98"/>
              </a:xfrm>
              <a:custGeom>
                <a:avLst/>
                <a:gdLst>
                  <a:gd name="T0" fmla="*/ 942 w 1836"/>
                  <a:gd name="T1" fmla="*/ 961 h 976"/>
                  <a:gd name="T2" fmla="*/ 992 w 1836"/>
                  <a:gd name="T3" fmla="*/ 951 h 976"/>
                  <a:gd name="T4" fmla="*/ 1031 w 1836"/>
                  <a:gd name="T5" fmla="*/ 942 h 976"/>
                  <a:gd name="T6" fmla="*/ 1073 w 1836"/>
                  <a:gd name="T7" fmla="*/ 930 h 976"/>
                  <a:gd name="T8" fmla="*/ 1113 w 1836"/>
                  <a:gd name="T9" fmla="*/ 915 h 976"/>
                  <a:gd name="T10" fmla="*/ 1161 w 1836"/>
                  <a:gd name="T11" fmla="*/ 896 h 976"/>
                  <a:gd name="T12" fmla="*/ 1207 w 1836"/>
                  <a:gd name="T13" fmla="*/ 876 h 976"/>
                  <a:gd name="T14" fmla="*/ 1251 w 1836"/>
                  <a:gd name="T15" fmla="*/ 854 h 976"/>
                  <a:gd name="T16" fmla="*/ 1288 w 1836"/>
                  <a:gd name="T17" fmla="*/ 830 h 976"/>
                  <a:gd name="T18" fmla="*/ 1326 w 1836"/>
                  <a:gd name="T19" fmla="*/ 806 h 976"/>
                  <a:gd name="T20" fmla="*/ 1368 w 1836"/>
                  <a:gd name="T21" fmla="*/ 776 h 976"/>
                  <a:gd name="T22" fmla="*/ 1404 w 1836"/>
                  <a:gd name="T23" fmla="*/ 748 h 976"/>
                  <a:gd name="T24" fmla="*/ 1459 w 1836"/>
                  <a:gd name="T25" fmla="*/ 702 h 976"/>
                  <a:gd name="T26" fmla="*/ 1513 w 1836"/>
                  <a:gd name="T27" fmla="*/ 644 h 976"/>
                  <a:gd name="T28" fmla="*/ 1553 w 1836"/>
                  <a:gd name="T29" fmla="*/ 596 h 976"/>
                  <a:gd name="T30" fmla="*/ 1596 w 1836"/>
                  <a:gd name="T31" fmla="*/ 541 h 976"/>
                  <a:gd name="T32" fmla="*/ 1638 w 1836"/>
                  <a:gd name="T33" fmla="*/ 477 h 976"/>
                  <a:gd name="T34" fmla="*/ 1642 w 1836"/>
                  <a:gd name="T35" fmla="*/ 0 h 976"/>
                  <a:gd name="T36" fmla="*/ 1226 w 1836"/>
                  <a:gd name="T37" fmla="*/ 234 h 976"/>
                  <a:gd name="T38" fmla="*/ 1189 w 1836"/>
                  <a:gd name="T39" fmla="*/ 282 h 976"/>
                  <a:gd name="T40" fmla="*/ 1151 w 1836"/>
                  <a:gd name="T41" fmla="*/ 325 h 976"/>
                  <a:gd name="T42" fmla="*/ 1118 w 1836"/>
                  <a:gd name="T43" fmla="*/ 359 h 976"/>
                  <a:gd name="T44" fmla="*/ 1078 w 1836"/>
                  <a:gd name="T45" fmla="*/ 390 h 976"/>
                  <a:gd name="T46" fmla="*/ 1032 w 1836"/>
                  <a:gd name="T47" fmla="*/ 421 h 976"/>
                  <a:gd name="T48" fmla="*/ 988 w 1836"/>
                  <a:gd name="T49" fmla="*/ 447 h 976"/>
                  <a:gd name="T50" fmla="*/ 945 w 1836"/>
                  <a:gd name="T51" fmla="*/ 462 h 976"/>
                  <a:gd name="T52" fmla="*/ 893 w 1836"/>
                  <a:gd name="T53" fmla="*/ 478 h 976"/>
                  <a:gd name="T54" fmla="*/ 832 w 1836"/>
                  <a:gd name="T55" fmla="*/ 486 h 976"/>
                  <a:gd name="T56" fmla="*/ 728 w 1836"/>
                  <a:gd name="T57" fmla="*/ 489 h 976"/>
                  <a:gd name="T58" fmla="*/ 642 w 1836"/>
                  <a:gd name="T59" fmla="*/ 473 h 976"/>
                  <a:gd name="T60" fmla="*/ 552 w 1836"/>
                  <a:gd name="T61" fmla="*/ 441 h 976"/>
                  <a:gd name="T62" fmla="*/ 472 w 1836"/>
                  <a:gd name="T63" fmla="*/ 395 h 976"/>
                  <a:gd name="T64" fmla="*/ 0 w 1836"/>
                  <a:gd name="T65" fmla="*/ 617 h 976"/>
                  <a:gd name="T66" fmla="*/ 43 w 1836"/>
                  <a:gd name="T67" fmla="*/ 662 h 976"/>
                  <a:gd name="T68" fmla="*/ 85 w 1836"/>
                  <a:gd name="T69" fmla="*/ 704 h 976"/>
                  <a:gd name="T70" fmla="*/ 131 w 1836"/>
                  <a:gd name="T71" fmla="*/ 745 h 976"/>
                  <a:gd name="T72" fmla="*/ 178 w 1836"/>
                  <a:gd name="T73" fmla="*/ 780 h 976"/>
                  <a:gd name="T74" fmla="*/ 229 w 1836"/>
                  <a:gd name="T75" fmla="*/ 815 h 976"/>
                  <a:gd name="T76" fmla="*/ 280 w 1836"/>
                  <a:gd name="T77" fmla="*/ 846 h 976"/>
                  <a:gd name="T78" fmla="*/ 327 w 1836"/>
                  <a:gd name="T79" fmla="*/ 872 h 976"/>
                  <a:gd name="T80" fmla="*/ 388 w 1836"/>
                  <a:gd name="T81" fmla="*/ 899 h 976"/>
                  <a:gd name="T82" fmla="*/ 447 w 1836"/>
                  <a:gd name="T83" fmla="*/ 922 h 976"/>
                  <a:gd name="T84" fmla="*/ 500 w 1836"/>
                  <a:gd name="T85" fmla="*/ 940 h 976"/>
                  <a:gd name="T86" fmla="*/ 554 w 1836"/>
                  <a:gd name="T87" fmla="*/ 953 h 976"/>
                  <a:gd name="T88" fmla="*/ 617 w 1836"/>
                  <a:gd name="T89" fmla="*/ 965 h 976"/>
                  <a:gd name="T90" fmla="*/ 684 w 1836"/>
                  <a:gd name="T91" fmla="*/ 973 h 976"/>
                  <a:gd name="T92" fmla="*/ 744 w 1836"/>
                  <a:gd name="T93" fmla="*/ 976 h 976"/>
                  <a:gd name="T94" fmla="*/ 806 w 1836"/>
                  <a:gd name="T95" fmla="*/ 975 h 976"/>
                  <a:gd name="T96" fmla="*/ 868 w 1836"/>
                  <a:gd name="T97" fmla="*/ 971 h 976"/>
                  <a:gd name="T98" fmla="*/ 923 w 1836"/>
                  <a:gd name="T99" fmla="*/ 964 h 9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836" h="976">
                    <a:moveTo>
                      <a:pt x="923" y="964"/>
                    </a:moveTo>
                    <a:lnTo>
                      <a:pt x="942" y="961"/>
                    </a:lnTo>
                    <a:lnTo>
                      <a:pt x="967" y="957"/>
                    </a:lnTo>
                    <a:lnTo>
                      <a:pt x="992" y="951"/>
                    </a:lnTo>
                    <a:lnTo>
                      <a:pt x="1010" y="947"/>
                    </a:lnTo>
                    <a:lnTo>
                      <a:pt x="1031" y="942"/>
                    </a:lnTo>
                    <a:lnTo>
                      <a:pt x="1052" y="935"/>
                    </a:lnTo>
                    <a:lnTo>
                      <a:pt x="1073" y="930"/>
                    </a:lnTo>
                    <a:lnTo>
                      <a:pt x="1092" y="924"/>
                    </a:lnTo>
                    <a:lnTo>
                      <a:pt x="1113" y="915"/>
                    </a:lnTo>
                    <a:lnTo>
                      <a:pt x="1139" y="906"/>
                    </a:lnTo>
                    <a:lnTo>
                      <a:pt x="1161" y="896"/>
                    </a:lnTo>
                    <a:lnTo>
                      <a:pt x="1183" y="886"/>
                    </a:lnTo>
                    <a:lnTo>
                      <a:pt x="1207" y="876"/>
                    </a:lnTo>
                    <a:lnTo>
                      <a:pt x="1230" y="864"/>
                    </a:lnTo>
                    <a:lnTo>
                      <a:pt x="1251" y="854"/>
                    </a:lnTo>
                    <a:lnTo>
                      <a:pt x="1270" y="841"/>
                    </a:lnTo>
                    <a:lnTo>
                      <a:pt x="1288" y="830"/>
                    </a:lnTo>
                    <a:lnTo>
                      <a:pt x="1306" y="817"/>
                    </a:lnTo>
                    <a:lnTo>
                      <a:pt x="1326" y="806"/>
                    </a:lnTo>
                    <a:lnTo>
                      <a:pt x="1348" y="791"/>
                    </a:lnTo>
                    <a:lnTo>
                      <a:pt x="1368" y="776"/>
                    </a:lnTo>
                    <a:lnTo>
                      <a:pt x="1387" y="761"/>
                    </a:lnTo>
                    <a:lnTo>
                      <a:pt x="1404" y="748"/>
                    </a:lnTo>
                    <a:lnTo>
                      <a:pt x="1433" y="725"/>
                    </a:lnTo>
                    <a:lnTo>
                      <a:pt x="1459" y="702"/>
                    </a:lnTo>
                    <a:lnTo>
                      <a:pt x="1486" y="675"/>
                    </a:lnTo>
                    <a:lnTo>
                      <a:pt x="1513" y="644"/>
                    </a:lnTo>
                    <a:lnTo>
                      <a:pt x="1532" y="622"/>
                    </a:lnTo>
                    <a:lnTo>
                      <a:pt x="1553" y="596"/>
                    </a:lnTo>
                    <a:lnTo>
                      <a:pt x="1576" y="569"/>
                    </a:lnTo>
                    <a:lnTo>
                      <a:pt x="1596" y="541"/>
                    </a:lnTo>
                    <a:lnTo>
                      <a:pt x="1615" y="511"/>
                    </a:lnTo>
                    <a:lnTo>
                      <a:pt x="1638" y="477"/>
                    </a:lnTo>
                    <a:lnTo>
                      <a:pt x="1836" y="594"/>
                    </a:lnTo>
                    <a:lnTo>
                      <a:pt x="1642" y="0"/>
                    </a:lnTo>
                    <a:lnTo>
                      <a:pt x="1014" y="113"/>
                    </a:lnTo>
                    <a:lnTo>
                      <a:pt x="1226" y="234"/>
                    </a:lnTo>
                    <a:lnTo>
                      <a:pt x="1208" y="259"/>
                    </a:lnTo>
                    <a:lnTo>
                      <a:pt x="1189" y="282"/>
                    </a:lnTo>
                    <a:lnTo>
                      <a:pt x="1170" y="304"/>
                    </a:lnTo>
                    <a:lnTo>
                      <a:pt x="1151" y="325"/>
                    </a:lnTo>
                    <a:lnTo>
                      <a:pt x="1135" y="341"/>
                    </a:lnTo>
                    <a:lnTo>
                      <a:pt x="1118" y="359"/>
                    </a:lnTo>
                    <a:lnTo>
                      <a:pt x="1099" y="374"/>
                    </a:lnTo>
                    <a:lnTo>
                      <a:pt x="1078" y="390"/>
                    </a:lnTo>
                    <a:lnTo>
                      <a:pt x="1053" y="407"/>
                    </a:lnTo>
                    <a:lnTo>
                      <a:pt x="1032" y="421"/>
                    </a:lnTo>
                    <a:lnTo>
                      <a:pt x="1014" y="432"/>
                    </a:lnTo>
                    <a:lnTo>
                      <a:pt x="988" y="447"/>
                    </a:lnTo>
                    <a:lnTo>
                      <a:pt x="965" y="456"/>
                    </a:lnTo>
                    <a:lnTo>
                      <a:pt x="945" y="462"/>
                    </a:lnTo>
                    <a:lnTo>
                      <a:pt x="924" y="470"/>
                    </a:lnTo>
                    <a:lnTo>
                      <a:pt x="893" y="478"/>
                    </a:lnTo>
                    <a:lnTo>
                      <a:pt x="863" y="483"/>
                    </a:lnTo>
                    <a:lnTo>
                      <a:pt x="832" y="486"/>
                    </a:lnTo>
                    <a:lnTo>
                      <a:pt x="787" y="488"/>
                    </a:lnTo>
                    <a:lnTo>
                      <a:pt x="728" y="489"/>
                    </a:lnTo>
                    <a:lnTo>
                      <a:pt x="683" y="483"/>
                    </a:lnTo>
                    <a:lnTo>
                      <a:pt x="642" y="473"/>
                    </a:lnTo>
                    <a:lnTo>
                      <a:pt x="594" y="459"/>
                    </a:lnTo>
                    <a:lnTo>
                      <a:pt x="552" y="441"/>
                    </a:lnTo>
                    <a:lnTo>
                      <a:pt x="510" y="420"/>
                    </a:lnTo>
                    <a:lnTo>
                      <a:pt x="472" y="395"/>
                    </a:lnTo>
                    <a:lnTo>
                      <a:pt x="435" y="363"/>
                    </a:lnTo>
                    <a:lnTo>
                      <a:pt x="0" y="617"/>
                    </a:lnTo>
                    <a:lnTo>
                      <a:pt x="18" y="638"/>
                    </a:lnTo>
                    <a:lnTo>
                      <a:pt x="43" y="662"/>
                    </a:lnTo>
                    <a:lnTo>
                      <a:pt x="64" y="683"/>
                    </a:lnTo>
                    <a:lnTo>
                      <a:pt x="85" y="704"/>
                    </a:lnTo>
                    <a:lnTo>
                      <a:pt x="106" y="724"/>
                    </a:lnTo>
                    <a:lnTo>
                      <a:pt x="131" y="745"/>
                    </a:lnTo>
                    <a:lnTo>
                      <a:pt x="154" y="763"/>
                    </a:lnTo>
                    <a:lnTo>
                      <a:pt x="178" y="780"/>
                    </a:lnTo>
                    <a:lnTo>
                      <a:pt x="204" y="797"/>
                    </a:lnTo>
                    <a:lnTo>
                      <a:pt x="229" y="815"/>
                    </a:lnTo>
                    <a:lnTo>
                      <a:pt x="255" y="832"/>
                    </a:lnTo>
                    <a:lnTo>
                      <a:pt x="280" y="846"/>
                    </a:lnTo>
                    <a:lnTo>
                      <a:pt x="304" y="860"/>
                    </a:lnTo>
                    <a:lnTo>
                      <a:pt x="327" y="872"/>
                    </a:lnTo>
                    <a:lnTo>
                      <a:pt x="359" y="886"/>
                    </a:lnTo>
                    <a:lnTo>
                      <a:pt x="388" y="899"/>
                    </a:lnTo>
                    <a:lnTo>
                      <a:pt x="422" y="912"/>
                    </a:lnTo>
                    <a:lnTo>
                      <a:pt x="447" y="922"/>
                    </a:lnTo>
                    <a:lnTo>
                      <a:pt x="471" y="931"/>
                    </a:lnTo>
                    <a:lnTo>
                      <a:pt x="500" y="940"/>
                    </a:lnTo>
                    <a:lnTo>
                      <a:pt x="527" y="947"/>
                    </a:lnTo>
                    <a:lnTo>
                      <a:pt x="554" y="953"/>
                    </a:lnTo>
                    <a:lnTo>
                      <a:pt x="586" y="960"/>
                    </a:lnTo>
                    <a:lnTo>
                      <a:pt x="617" y="965"/>
                    </a:lnTo>
                    <a:lnTo>
                      <a:pt x="650" y="969"/>
                    </a:lnTo>
                    <a:lnTo>
                      <a:pt x="684" y="973"/>
                    </a:lnTo>
                    <a:lnTo>
                      <a:pt x="709" y="974"/>
                    </a:lnTo>
                    <a:lnTo>
                      <a:pt x="744" y="976"/>
                    </a:lnTo>
                    <a:lnTo>
                      <a:pt x="778" y="976"/>
                    </a:lnTo>
                    <a:lnTo>
                      <a:pt x="806" y="975"/>
                    </a:lnTo>
                    <a:lnTo>
                      <a:pt x="835" y="974"/>
                    </a:lnTo>
                    <a:lnTo>
                      <a:pt x="868" y="971"/>
                    </a:lnTo>
                    <a:lnTo>
                      <a:pt x="897" y="967"/>
                    </a:lnTo>
                    <a:lnTo>
                      <a:pt x="923" y="964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75" name="Freeform 44">
                <a:extLst>
                  <a:ext uri="{FF2B5EF4-FFF2-40B4-BE49-F238E27FC236}">
                    <a16:creationId xmlns:a16="http://schemas.microsoft.com/office/drawing/2014/main" id="{BA566F94-9DF0-4CA9-946A-05B17F11D4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" y="1892"/>
                <a:ext cx="103" cy="174"/>
              </a:xfrm>
              <a:custGeom>
                <a:avLst/>
                <a:gdLst>
                  <a:gd name="T0" fmla="*/ 911 w 931"/>
                  <a:gd name="T1" fmla="*/ 3 h 1739"/>
                  <a:gd name="T2" fmla="*/ 864 w 931"/>
                  <a:gd name="T3" fmla="*/ 13 h 1739"/>
                  <a:gd name="T4" fmla="*/ 823 w 931"/>
                  <a:gd name="T5" fmla="*/ 23 h 1739"/>
                  <a:gd name="T6" fmla="*/ 782 w 931"/>
                  <a:gd name="T7" fmla="*/ 35 h 1739"/>
                  <a:gd name="T8" fmla="*/ 741 w 931"/>
                  <a:gd name="T9" fmla="*/ 50 h 1739"/>
                  <a:gd name="T10" fmla="*/ 694 w 931"/>
                  <a:gd name="T11" fmla="*/ 69 h 1739"/>
                  <a:gd name="T12" fmla="*/ 649 w 931"/>
                  <a:gd name="T13" fmla="*/ 89 h 1739"/>
                  <a:gd name="T14" fmla="*/ 605 w 931"/>
                  <a:gd name="T15" fmla="*/ 111 h 1739"/>
                  <a:gd name="T16" fmla="*/ 567 w 931"/>
                  <a:gd name="T17" fmla="*/ 135 h 1739"/>
                  <a:gd name="T18" fmla="*/ 529 w 931"/>
                  <a:gd name="T19" fmla="*/ 159 h 1739"/>
                  <a:gd name="T20" fmla="*/ 487 w 931"/>
                  <a:gd name="T21" fmla="*/ 190 h 1739"/>
                  <a:gd name="T22" fmla="*/ 450 w 931"/>
                  <a:gd name="T23" fmla="*/ 218 h 1739"/>
                  <a:gd name="T24" fmla="*/ 391 w 931"/>
                  <a:gd name="T25" fmla="*/ 271 h 1739"/>
                  <a:gd name="T26" fmla="*/ 341 w 931"/>
                  <a:gd name="T27" fmla="*/ 323 h 1739"/>
                  <a:gd name="T28" fmla="*/ 301 w 931"/>
                  <a:gd name="T29" fmla="*/ 371 h 1739"/>
                  <a:gd name="T30" fmla="*/ 259 w 931"/>
                  <a:gd name="T31" fmla="*/ 426 h 1739"/>
                  <a:gd name="T32" fmla="*/ 221 w 931"/>
                  <a:gd name="T33" fmla="*/ 487 h 1739"/>
                  <a:gd name="T34" fmla="*/ 186 w 931"/>
                  <a:gd name="T35" fmla="*/ 546 h 1739"/>
                  <a:gd name="T36" fmla="*/ 157 w 931"/>
                  <a:gd name="T37" fmla="*/ 613 h 1739"/>
                  <a:gd name="T38" fmla="*/ 131 w 931"/>
                  <a:gd name="T39" fmla="*/ 684 h 1739"/>
                  <a:gd name="T40" fmla="*/ 105 w 931"/>
                  <a:gd name="T41" fmla="*/ 772 h 1739"/>
                  <a:gd name="T42" fmla="*/ 89 w 931"/>
                  <a:gd name="T43" fmla="*/ 858 h 1739"/>
                  <a:gd name="T44" fmla="*/ 77 w 931"/>
                  <a:gd name="T45" fmla="*/ 970 h 1739"/>
                  <a:gd name="T46" fmla="*/ 77 w 931"/>
                  <a:gd name="T47" fmla="*/ 1067 h 1739"/>
                  <a:gd name="T48" fmla="*/ 86 w 931"/>
                  <a:gd name="T49" fmla="*/ 1155 h 1739"/>
                  <a:gd name="T50" fmla="*/ 101 w 931"/>
                  <a:gd name="T51" fmla="*/ 1245 h 1739"/>
                  <a:gd name="T52" fmla="*/ 129 w 931"/>
                  <a:gd name="T53" fmla="*/ 1344 h 1739"/>
                  <a:gd name="T54" fmla="*/ 163 w 931"/>
                  <a:gd name="T55" fmla="*/ 1437 h 1739"/>
                  <a:gd name="T56" fmla="*/ 209 w 931"/>
                  <a:gd name="T57" fmla="*/ 1524 h 1739"/>
                  <a:gd name="T58" fmla="*/ 639 w 931"/>
                  <a:gd name="T59" fmla="*/ 1739 h 1739"/>
                  <a:gd name="T60" fmla="*/ 628 w 931"/>
                  <a:gd name="T61" fmla="*/ 1279 h 1739"/>
                  <a:gd name="T62" fmla="*/ 589 w 931"/>
                  <a:gd name="T63" fmla="*/ 1207 h 1739"/>
                  <a:gd name="T64" fmla="*/ 566 w 931"/>
                  <a:gd name="T65" fmla="*/ 1137 h 1739"/>
                  <a:gd name="T66" fmla="*/ 558 w 931"/>
                  <a:gd name="T67" fmla="*/ 1070 h 1739"/>
                  <a:gd name="T68" fmla="*/ 555 w 931"/>
                  <a:gd name="T69" fmla="*/ 1004 h 1739"/>
                  <a:gd name="T70" fmla="*/ 561 w 931"/>
                  <a:gd name="T71" fmla="*/ 927 h 1739"/>
                  <a:gd name="T72" fmla="*/ 579 w 931"/>
                  <a:gd name="T73" fmla="*/ 850 h 1739"/>
                  <a:gd name="T74" fmla="*/ 606 w 931"/>
                  <a:gd name="T75" fmla="*/ 779 h 1739"/>
                  <a:gd name="T76" fmla="*/ 639 w 931"/>
                  <a:gd name="T77" fmla="*/ 722 h 1739"/>
                  <a:gd name="T78" fmla="*/ 668 w 931"/>
                  <a:gd name="T79" fmla="*/ 682 h 1739"/>
                  <a:gd name="T80" fmla="*/ 703 w 931"/>
                  <a:gd name="T81" fmla="*/ 641 h 1739"/>
                  <a:gd name="T82" fmla="*/ 737 w 931"/>
                  <a:gd name="T83" fmla="*/ 607 h 1739"/>
                  <a:gd name="T84" fmla="*/ 776 w 931"/>
                  <a:gd name="T85" fmla="*/ 576 h 1739"/>
                  <a:gd name="T86" fmla="*/ 822 w 931"/>
                  <a:gd name="T87" fmla="*/ 545 h 1739"/>
                  <a:gd name="T88" fmla="*/ 866 w 931"/>
                  <a:gd name="T89" fmla="*/ 519 h 1739"/>
                  <a:gd name="T90" fmla="*/ 931 w 931"/>
                  <a:gd name="T91" fmla="*/ 497 h 1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31" h="1739">
                    <a:moveTo>
                      <a:pt x="931" y="0"/>
                    </a:moveTo>
                    <a:lnTo>
                      <a:pt x="911" y="3"/>
                    </a:lnTo>
                    <a:lnTo>
                      <a:pt x="891" y="6"/>
                    </a:lnTo>
                    <a:lnTo>
                      <a:pt x="864" y="13"/>
                    </a:lnTo>
                    <a:lnTo>
                      <a:pt x="844" y="17"/>
                    </a:lnTo>
                    <a:lnTo>
                      <a:pt x="823" y="23"/>
                    </a:lnTo>
                    <a:lnTo>
                      <a:pt x="803" y="30"/>
                    </a:lnTo>
                    <a:lnTo>
                      <a:pt x="782" y="35"/>
                    </a:lnTo>
                    <a:lnTo>
                      <a:pt x="762" y="41"/>
                    </a:lnTo>
                    <a:lnTo>
                      <a:pt x="741" y="50"/>
                    </a:lnTo>
                    <a:lnTo>
                      <a:pt x="716" y="59"/>
                    </a:lnTo>
                    <a:lnTo>
                      <a:pt x="694" y="69"/>
                    </a:lnTo>
                    <a:lnTo>
                      <a:pt x="672" y="78"/>
                    </a:lnTo>
                    <a:lnTo>
                      <a:pt x="649" y="89"/>
                    </a:lnTo>
                    <a:lnTo>
                      <a:pt x="626" y="101"/>
                    </a:lnTo>
                    <a:lnTo>
                      <a:pt x="605" y="111"/>
                    </a:lnTo>
                    <a:lnTo>
                      <a:pt x="585" y="124"/>
                    </a:lnTo>
                    <a:lnTo>
                      <a:pt x="567" y="135"/>
                    </a:lnTo>
                    <a:lnTo>
                      <a:pt x="549" y="148"/>
                    </a:lnTo>
                    <a:lnTo>
                      <a:pt x="529" y="159"/>
                    </a:lnTo>
                    <a:lnTo>
                      <a:pt x="507" y="174"/>
                    </a:lnTo>
                    <a:lnTo>
                      <a:pt x="487" y="190"/>
                    </a:lnTo>
                    <a:lnTo>
                      <a:pt x="468" y="205"/>
                    </a:lnTo>
                    <a:lnTo>
                      <a:pt x="450" y="218"/>
                    </a:lnTo>
                    <a:lnTo>
                      <a:pt x="421" y="242"/>
                    </a:lnTo>
                    <a:lnTo>
                      <a:pt x="391" y="271"/>
                    </a:lnTo>
                    <a:lnTo>
                      <a:pt x="368" y="292"/>
                    </a:lnTo>
                    <a:lnTo>
                      <a:pt x="341" y="323"/>
                    </a:lnTo>
                    <a:lnTo>
                      <a:pt x="322" y="345"/>
                    </a:lnTo>
                    <a:lnTo>
                      <a:pt x="301" y="371"/>
                    </a:lnTo>
                    <a:lnTo>
                      <a:pt x="278" y="399"/>
                    </a:lnTo>
                    <a:lnTo>
                      <a:pt x="259" y="426"/>
                    </a:lnTo>
                    <a:lnTo>
                      <a:pt x="240" y="457"/>
                    </a:lnTo>
                    <a:lnTo>
                      <a:pt x="221" y="487"/>
                    </a:lnTo>
                    <a:lnTo>
                      <a:pt x="202" y="518"/>
                    </a:lnTo>
                    <a:lnTo>
                      <a:pt x="186" y="546"/>
                    </a:lnTo>
                    <a:lnTo>
                      <a:pt x="171" y="580"/>
                    </a:lnTo>
                    <a:lnTo>
                      <a:pt x="157" y="613"/>
                    </a:lnTo>
                    <a:lnTo>
                      <a:pt x="144" y="647"/>
                    </a:lnTo>
                    <a:lnTo>
                      <a:pt x="131" y="684"/>
                    </a:lnTo>
                    <a:lnTo>
                      <a:pt x="116" y="730"/>
                    </a:lnTo>
                    <a:lnTo>
                      <a:pt x="105" y="772"/>
                    </a:lnTo>
                    <a:lnTo>
                      <a:pt x="95" y="816"/>
                    </a:lnTo>
                    <a:lnTo>
                      <a:pt x="89" y="858"/>
                    </a:lnTo>
                    <a:lnTo>
                      <a:pt x="82" y="908"/>
                    </a:lnTo>
                    <a:lnTo>
                      <a:pt x="77" y="970"/>
                    </a:lnTo>
                    <a:lnTo>
                      <a:pt x="76" y="1019"/>
                    </a:lnTo>
                    <a:lnTo>
                      <a:pt x="77" y="1067"/>
                    </a:lnTo>
                    <a:lnTo>
                      <a:pt x="81" y="1112"/>
                    </a:lnTo>
                    <a:lnTo>
                      <a:pt x="86" y="1155"/>
                    </a:lnTo>
                    <a:lnTo>
                      <a:pt x="92" y="1200"/>
                    </a:lnTo>
                    <a:lnTo>
                      <a:pt x="101" y="1245"/>
                    </a:lnTo>
                    <a:lnTo>
                      <a:pt x="114" y="1294"/>
                    </a:lnTo>
                    <a:lnTo>
                      <a:pt x="129" y="1344"/>
                    </a:lnTo>
                    <a:lnTo>
                      <a:pt x="145" y="1391"/>
                    </a:lnTo>
                    <a:lnTo>
                      <a:pt x="163" y="1437"/>
                    </a:lnTo>
                    <a:lnTo>
                      <a:pt x="184" y="1481"/>
                    </a:lnTo>
                    <a:lnTo>
                      <a:pt x="209" y="1524"/>
                    </a:lnTo>
                    <a:lnTo>
                      <a:pt x="0" y="1644"/>
                    </a:lnTo>
                    <a:lnTo>
                      <a:pt x="639" y="1739"/>
                    </a:lnTo>
                    <a:lnTo>
                      <a:pt x="873" y="1146"/>
                    </a:lnTo>
                    <a:lnTo>
                      <a:pt x="628" y="1279"/>
                    </a:lnTo>
                    <a:lnTo>
                      <a:pt x="604" y="1241"/>
                    </a:lnTo>
                    <a:lnTo>
                      <a:pt x="589" y="1207"/>
                    </a:lnTo>
                    <a:lnTo>
                      <a:pt x="576" y="1172"/>
                    </a:lnTo>
                    <a:lnTo>
                      <a:pt x="566" y="1137"/>
                    </a:lnTo>
                    <a:lnTo>
                      <a:pt x="560" y="1103"/>
                    </a:lnTo>
                    <a:lnTo>
                      <a:pt x="558" y="1070"/>
                    </a:lnTo>
                    <a:lnTo>
                      <a:pt x="555" y="1037"/>
                    </a:lnTo>
                    <a:lnTo>
                      <a:pt x="555" y="1004"/>
                    </a:lnTo>
                    <a:lnTo>
                      <a:pt x="557" y="965"/>
                    </a:lnTo>
                    <a:lnTo>
                      <a:pt x="561" y="927"/>
                    </a:lnTo>
                    <a:lnTo>
                      <a:pt x="569" y="884"/>
                    </a:lnTo>
                    <a:lnTo>
                      <a:pt x="579" y="850"/>
                    </a:lnTo>
                    <a:lnTo>
                      <a:pt x="593" y="812"/>
                    </a:lnTo>
                    <a:lnTo>
                      <a:pt x="606" y="779"/>
                    </a:lnTo>
                    <a:lnTo>
                      <a:pt x="624" y="747"/>
                    </a:lnTo>
                    <a:lnTo>
                      <a:pt x="639" y="722"/>
                    </a:lnTo>
                    <a:lnTo>
                      <a:pt x="653" y="702"/>
                    </a:lnTo>
                    <a:lnTo>
                      <a:pt x="668" y="682"/>
                    </a:lnTo>
                    <a:lnTo>
                      <a:pt x="685" y="662"/>
                    </a:lnTo>
                    <a:lnTo>
                      <a:pt x="703" y="641"/>
                    </a:lnTo>
                    <a:lnTo>
                      <a:pt x="719" y="626"/>
                    </a:lnTo>
                    <a:lnTo>
                      <a:pt x="737" y="607"/>
                    </a:lnTo>
                    <a:lnTo>
                      <a:pt x="754" y="592"/>
                    </a:lnTo>
                    <a:lnTo>
                      <a:pt x="776" y="576"/>
                    </a:lnTo>
                    <a:lnTo>
                      <a:pt x="801" y="559"/>
                    </a:lnTo>
                    <a:lnTo>
                      <a:pt x="822" y="545"/>
                    </a:lnTo>
                    <a:lnTo>
                      <a:pt x="840" y="534"/>
                    </a:lnTo>
                    <a:lnTo>
                      <a:pt x="866" y="519"/>
                    </a:lnTo>
                    <a:lnTo>
                      <a:pt x="891" y="509"/>
                    </a:lnTo>
                    <a:lnTo>
                      <a:pt x="931" y="497"/>
                    </a:lnTo>
                    <a:lnTo>
                      <a:pt x="931" y="0"/>
                    </a:lnTo>
                    <a:close/>
                  </a:path>
                </a:pathLst>
              </a:custGeom>
              <a:solidFill>
                <a:srgbClr val="008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76" name="Freeform 45">
                <a:extLst>
                  <a:ext uri="{FF2B5EF4-FFF2-40B4-BE49-F238E27FC236}">
                    <a16:creationId xmlns:a16="http://schemas.microsoft.com/office/drawing/2014/main" id="{6A239062-D8F6-4A9C-BCE3-895B1980E8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" y="1869"/>
                <a:ext cx="154" cy="157"/>
              </a:xfrm>
              <a:custGeom>
                <a:avLst/>
                <a:gdLst>
                  <a:gd name="T0" fmla="*/ 546 w 1384"/>
                  <a:gd name="T1" fmla="*/ 234 h 1575"/>
                  <a:gd name="T2" fmla="*/ 596 w 1384"/>
                  <a:gd name="T3" fmla="*/ 244 h 1575"/>
                  <a:gd name="T4" fmla="*/ 635 w 1384"/>
                  <a:gd name="T5" fmla="*/ 254 h 1575"/>
                  <a:gd name="T6" fmla="*/ 676 w 1384"/>
                  <a:gd name="T7" fmla="*/ 267 h 1575"/>
                  <a:gd name="T8" fmla="*/ 717 w 1384"/>
                  <a:gd name="T9" fmla="*/ 280 h 1575"/>
                  <a:gd name="T10" fmla="*/ 765 w 1384"/>
                  <a:gd name="T11" fmla="*/ 300 h 1575"/>
                  <a:gd name="T12" fmla="*/ 810 w 1384"/>
                  <a:gd name="T13" fmla="*/ 320 h 1575"/>
                  <a:gd name="T14" fmla="*/ 854 w 1384"/>
                  <a:gd name="T15" fmla="*/ 342 h 1575"/>
                  <a:gd name="T16" fmla="*/ 892 w 1384"/>
                  <a:gd name="T17" fmla="*/ 365 h 1575"/>
                  <a:gd name="T18" fmla="*/ 930 w 1384"/>
                  <a:gd name="T19" fmla="*/ 390 h 1575"/>
                  <a:gd name="T20" fmla="*/ 972 w 1384"/>
                  <a:gd name="T21" fmla="*/ 420 h 1575"/>
                  <a:gd name="T22" fmla="*/ 1009 w 1384"/>
                  <a:gd name="T23" fmla="*/ 448 h 1575"/>
                  <a:gd name="T24" fmla="*/ 1067 w 1384"/>
                  <a:gd name="T25" fmla="*/ 500 h 1575"/>
                  <a:gd name="T26" fmla="*/ 1117 w 1384"/>
                  <a:gd name="T27" fmla="*/ 552 h 1575"/>
                  <a:gd name="T28" fmla="*/ 1157 w 1384"/>
                  <a:gd name="T29" fmla="*/ 600 h 1575"/>
                  <a:gd name="T30" fmla="*/ 1199 w 1384"/>
                  <a:gd name="T31" fmla="*/ 657 h 1575"/>
                  <a:gd name="T32" fmla="*/ 1238 w 1384"/>
                  <a:gd name="T33" fmla="*/ 717 h 1575"/>
                  <a:gd name="T34" fmla="*/ 1272 w 1384"/>
                  <a:gd name="T35" fmla="*/ 777 h 1575"/>
                  <a:gd name="T36" fmla="*/ 1303 w 1384"/>
                  <a:gd name="T37" fmla="*/ 844 h 1575"/>
                  <a:gd name="T38" fmla="*/ 1328 w 1384"/>
                  <a:gd name="T39" fmla="*/ 915 h 1575"/>
                  <a:gd name="T40" fmla="*/ 1354 w 1384"/>
                  <a:gd name="T41" fmla="*/ 1003 h 1575"/>
                  <a:gd name="T42" fmla="*/ 1370 w 1384"/>
                  <a:gd name="T43" fmla="*/ 1089 h 1575"/>
                  <a:gd name="T44" fmla="*/ 1382 w 1384"/>
                  <a:gd name="T45" fmla="*/ 1201 h 1575"/>
                  <a:gd name="T46" fmla="*/ 1382 w 1384"/>
                  <a:gd name="T47" fmla="*/ 1296 h 1575"/>
                  <a:gd name="T48" fmla="*/ 1373 w 1384"/>
                  <a:gd name="T49" fmla="*/ 1385 h 1575"/>
                  <a:gd name="T50" fmla="*/ 1358 w 1384"/>
                  <a:gd name="T51" fmla="*/ 1475 h 1575"/>
                  <a:gd name="T52" fmla="*/ 1330 w 1384"/>
                  <a:gd name="T53" fmla="*/ 1575 h 1575"/>
                  <a:gd name="T54" fmla="*/ 894 w 1384"/>
                  <a:gd name="T55" fmla="*/ 1350 h 1575"/>
                  <a:gd name="T56" fmla="*/ 905 w 1384"/>
                  <a:gd name="T57" fmla="*/ 1268 h 1575"/>
                  <a:gd name="T58" fmla="*/ 903 w 1384"/>
                  <a:gd name="T59" fmla="*/ 1194 h 1575"/>
                  <a:gd name="T60" fmla="*/ 890 w 1384"/>
                  <a:gd name="T61" fmla="*/ 1115 h 1575"/>
                  <a:gd name="T62" fmla="*/ 866 w 1384"/>
                  <a:gd name="T63" fmla="*/ 1042 h 1575"/>
                  <a:gd name="T64" fmla="*/ 835 w 1384"/>
                  <a:gd name="T65" fmla="*/ 978 h 1575"/>
                  <a:gd name="T66" fmla="*/ 806 w 1384"/>
                  <a:gd name="T67" fmla="*/ 933 h 1575"/>
                  <a:gd name="T68" fmla="*/ 774 w 1384"/>
                  <a:gd name="T69" fmla="*/ 893 h 1575"/>
                  <a:gd name="T70" fmla="*/ 740 w 1384"/>
                  <a:gd name="T71" fmla="*/ 856 h 1575"/>
                  <a:gd name="T72" fmla="*/ 704 w 1384"/>
                  <a:gd name="T73" fmla="*/ 822 h 1575"/>
                  <a:gd name="T74" fmla="*/ 657 w 1384"/>
                  <a:gd name="T75" fmla="*/ 791 h 1575"/>
                  <a:gd name="T76" fmla="*/ 618 w 1384"/>
                  <a:gd name="T77" fmla="*/ 766 h 1575"/>
                  <a:gd name="T78" fmla="*/ 569 w 1384"/>
                  <a:gd name="T79" fmla="*/ 742 h 1575"/>
                  <a:gd name="T80" fmla="*/ 528 w 1384"/>
                  <a:gd name="T81" fmla="*/ 727 h 1575"/>
                  <a:gd name="T82" fmla="*/ 467 w 1384"/>
                  <a:gd name="T83" fmla="*/ 714 h 1575"/>
                  <a:gd name="T84" fmla="*/ 406 w 1384"/>
                  <a:gd name="T85" fmla="*/ 709 h 1575"/>
                  <a:gd name="T86" fmla="*/ 389 w 1384"/>
                  <a:gd name="T87" fmla="*/ 964 h 1575"/>
                  <a:gd name="T88" fmla="*/ 388 w 1384"/>
                  <a:gd name="T89" fmla="*/ 0 h 1575"/>
                  <a:gd name="T90" fmla="*/ 409 w 1384"/>
                  <a:gd name="T91" fmla="*/ 221 h 1575"/>
                  <a:gd name="T92" fmla="*/ 471 w 1384"/>
                  <a:gd name="T93" fmla="*/ 224 h 1575"/>
                  <a:gd name="T94" fmla="*/ 527 w 1384"/>
                  <a:gd name="T95" fmla="*/ 230 h 15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384" h="1575">
                    <a:moveTo>
                      <a:pt x="527" y="230"/>
                    </a:moveTo>
                    <a:lnTo>
                      <a:pt x="546" y="234"/>
                    </a:lnTo>
                    <a:lnTo>
                      <a:pt x="571" y="238"/>
                    </a:lnTo>
                    <a:lnTo>
                      <a:pt x="596" y="244"/>
                    </a:lnTo>
                    <a:lnTo>
                      <a:pt x="614" y="249"/>
                    </a:lnTo>
                    <a:lnTo>
                      <a:pt x="635" y="254"/>
                    </a:lnTo>
                    <a:lnTo>
                      <a:pt x="655" y="260"/>
                    </a:lnTo>
                    <a:lnTo>
                      <a:pt x="676" y="267"/>
                    </a:lnTo>
                    <a:lnTo>
                      <a:pt x="695" y="272"/>
                    </a:lnTo>
                    <a:lnTo>
                      <a:pt x="717" y="280"/>
                    </a:lnTo>
                    <a:lnTo>
                      <a:pt x="743" y="291"/>
                    </a:lnTo>
                    <a:lnTo>
                      <a:pt x="765" y="300"/>
                    </a:lnTo>
                    <a:lnTo>
                      <a:pt x="786" y="309"/>
                    </a:lnTo>
                    <a:lnTo>
                      <a:pt x="810" y="320"/>
                    </a:lnTo>
                    <a:lnTo>
                      <a:pt x="833" y="331"/>
                    </a:lnTo>
                    <a:lnTo>
                      <a:pt x="854" y="342"/>
                    </a:lnTo>
                    <a:lnTo>
                      <a:pt x="874" y="355"/>
                    </a:lnTo>
                    <a:lnTo>
                      <a:pt x="892" y="365"/>
                    </a:lnTo>
                    <a:lnTo>
                      <a:pt x="910" y="378"/>
                    </a:lnTo>
                    <a:lnTo>
                      <a:pt x="930" y="390"/>
                    </a:lnTo>
                    <a:lnTo>
                      <a:pt x="952" y="405"/>
                    </a:lnTo>
                    <a:lnTo>
                      <a:pt x="972" y="420"/>
                    </a:lnTo>
                    <a:lnTo>
                      <a:pt x="991" y="435"/>
                    </a:lnTo>
                    <a:lnTo>
                      <a:pt x="1009" y="448"/>
                    </a:lnTo>
                    <a:lnTo>
                      <a:pt x="1037" y="473"/>
                    </a:lnTo>
                    <a:lnTo>
                      <a:pt x="1067" y="500"/>
                    </a:lnTo>
                    <a:lnTo>
                      <a:pt x="1090" y="522"/>
                    </a:lnTo>
                    <a:lnTo>
                      <a:pt x="1117" y="552"/>
                    </a:lnTo>
                    <a:lnTo>
                      <a:pt x="1136" y="575"/>
                    </a:lnTo>
                    <a:lnTo>
                      <a:pt x="1157" y="600"/>
                    </a:lnTo>
                    <a:lnTo>
                      <a:pt x="1180" y="629"/>
                    </a:lnTo>
                    <a:lnTo>
                      <a:pt x="1199" y="657"/>
                    </a:lnTo>
                    <a:lnTo>
                      <a:pt x="1218" y="687"/>
                    </a:lnTo>
                    <a:lnTo>
                      <a:pt x="1238" y="717"/>
                    </a:lnTo>
                    <a:lnTo>
                      <a:pt x="1255" y="749"/>
                    </a:lnTo>
                    <a:lnTo>
                      <a:pt x="1272" y="777"/>
                    </a:lnTo>
                    <a:lnTo>
                      <a:pt x="1288" y="811"/>
                    </a:lnTo>
                    <a:lnTo>
                      <a:pt x="1303" y="844"/>
                    </a:lnTo>
                    <a:lnTo>
                      <a:pt x="1315" y="878"/>
                    </a:lnTo>
                    <a:lnTo>
                      <a:pt x="1328" y="915"/>
                    </a:lnTo>
                    <a:lnTo>
                      <a:pt x="1344" y="961"/>
                    </a:lnTo>
                    <a:lnTo>
                      <a:pt x="1354" y="1003"/>
                    </a:lnTo>
                    <a:lnTo>
                      <a:pt x="1365" y="1047"/>
                    </a:lnTo>
                    <a:lnTo>
                      <a:pt x="1370" y="1089"/>
                    </a:lnTo>
                    <a:lnTo>
                      <a:pt x="1377" y="1139"/>
                    </a:lnTo>
                    <a:lnTo>
                      <a:pt x="1382" y="1201"/>
                    </a:lnTo>
                    <a:lnTo>
                      <a:pt x="1384" y="1249"/>
                    </a:lnTo>
                    <a:lnTo>
                      <a:pt x="1382" y="1296"/>
                    </a:lnTo>
                    <a:lnTo>
                      <a:pt x="1378" y="1342"/>
                    </a:lnTo>
                    <a:lnTo>
                      <a:pt x="1373" y="1385"/>
                    </a:lnTo>
                    <a:lnTo>
                      <a:pt x="1368" y="1429"/>
                    </a:lnTo>
                    <a:lnTo>
                      <a:pt x="1358" y="1475"/>
                    </a:lnTo>
                    <a:lnTo>
                      <a:pt x="1346" y="1524"/>
                    </a:lnTo>
                    <a:lnTo>
                      <a:pt x="1330" y="1575"/>
                    </a:lnTo>
                    <a:lnTo>
                      <a:pt x="1239" y="1290"/>
                    </a:lnTo>
                    <a:lnTo>
                      <a:pt x="894" y="1350"/>
                    </a:lnTo>
                    <a:lnTo>
                      <a:pt x="902" y="1300"/>
                    </a:lnTo>
                    <a:lnTo>
                      <a:pt x="905" y="1268"/>
                    </a:lnTo>
                    <a:lnTo>
                      <a:pt x="905" y="1234"/>
                    </a:lnTo>
                    <a:lnTo>
                      <a:pt x="903" y="1194"/>
                    </a:lnTo>
                    <a:lnTo>
                      <a:pt x="897" y="1157"/>
                    </a:lnTo>
                    <a:lnTo>
                      <a:pt x="890" y="1115"/>
                    </a:lnTo>
                    <a:lnTo>
                      <a:pt x="881" y="1081"/>
                    </a:lnTo>
                    <a:lnTo>
                      <a:pt x="866" y="1042"/>
                    </a:lnTo>
                    <a:lnTo>
                      <a:pt x="852" y="1009"/>
                    </a:lnTo>
                    <a:lnTo>
                      <a:pt x="835" y="978"/>
                    </a:lnTo>
                    <a:lnTo>
                      <a:pt x="821" y="953"/>
                    </a:lnTo>
                    <a:lnTo>
                      <a:pt x="806" y="933"/>
                    </a:lnTo>
                    <a:lnTo>
                      <a:pt x="791" y="913"/>
                    </a:lnTo>
                    <a:lnTo>
                      <a:pt x="774" y="893"/>
                    </a:lnTo>
                    <a:lnTo>
                      <a:pt x="755" y="871"/>
                    </a:lnTo>
                    <a:lnTo>
                      <a:pt x="740" y="856"/>
                    </a:lnTo>
                    <a:lnTo>
                      <a:pt x="722" y="838"/>
                    </a:lnTo>
                    <a:lnTo>
                      <a:pt x="704" y="822"/>
                    </a:lnTo>
                    <a:lnTo>
                      <a:pt x="683" y="806"/>
                    </a:lnTo>
                    <a:lnTo>
                      <a:pt x="657" y="791"/>
                    </a:lnTo>
                    <a:lnTo>
                      <a:pt x="636" y="776"/>
                    </a:lnTo>
                    <a:lnTo>
                      <a:pt x="618" y="766"/>
                    </a:lnTo>
                    <a:lnTo>
                      <a:pt x="592" y="750"/>
                    </a:lnTo>
                    <a:lnTo>
                      <a:pt x="569" y="742"/>
                    </a:lnTo>
                    <a:lnTo>
                      <a:pt x="549" y="734"/>
                    </a:lnTo>
                    <a:lnTo>
                      <a:pt x="528" y="727"/>
                    </a:lnTo>
                    <a:lnTo>
                      <a:pt x="496" y="719"/>
                    </a:lnTo>
                    <a:lnTo>
                      <a:pt x="467" y="714"/>
                    </a:lnTo>
                    <a:lnTo>
                      <a:pt x="436" y="711"/>
                    </a:lnTo>
                    <a:lnTo>
                      <a:pt x="406" y="709"/>
                    </a:lnTo>
                    <a:lnTo>
                      <a:pt x="389" y="708"/>
                    </a:lnTo>
                    <a:lnTo>
                      <a:pt x="389" y="964"/>
                    </a:lnTo>
                    <a:lnTo>
                      <a:pt x="0" y="489"/>
                    </a:lnTo>
                    <a:lnTo>
                      <a:pt x="388" y="0"/>
                    </a:lnTo>
                    <a:lnTo>
                      <a:pt x="388" y="220"/>
                    </a:lnTo>
                    <a:lnTo>
                      <a:pt x="409" y="221"/>
                    </a:lnTo>
                    <a:lnTo>
                      <a:pt x="440" y="222"/>
                    </a:lnTo>
                    <a:lnTo>
                      <a:pt x="471" y="224"/>
                    </a:lnTo>
                    <a:lnTo>
                      <a:pt x="502" y="227"/>
                    </a:lnTo>
                    <a:lnTo>
                      <a:pt x="527" y="230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</p:grpSp>
        <p:grpSp>
          <p:nvGrpSpPr>
            <p:cNvPr id="77" name="Group 46">
              <a:extLst>
                <a:ext uri="{FF2B5EF4-FFF2-40B4-BE49-F238E27FC236}">
                  <a16:creationId xmlns:a16="http://schemas.microsoft.com/office/drawing/2014/main" id="{1AD1AEF5-A5EE-4214-AD65-4BACA4ADB6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98800" y="4029781"/>
              <a:ext cx="336550" cy="355600"/>
              <a:chOff x="395" y="1869"/>
              <a:chExt cx="239" cy="227"/>
            </a:xfrm>
          </p:grpSpPr>
          <p:sp>
            <p:nvSpPr>
              <p:cNvPr id="78" name="Freeform 47">
                <a:extLst>
                  <a:ext uri="{FF2B5EF4-FFF2-40B4-BE49-F238E27FC236}">
                    <a16:creationId xmlns:a16="http://schemas.microsoft.com/office/drawing/2014/main" id="{08F5E36B-A3E7-4841-BD4E-F90EDF0132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" y="1869"/>
                <a:ext cx="154" cy="175"/>
              </a:xfrm>
              <a:custGeom>
                <a:avLst/>
                <a:gdLst>
                  <a:gd name="T0" fmla="*/ 546 w 1384"/>
                  <a:gd name="T1" fmla="*/ 234 h 1757"/>
                  <a:gd name="T2" fmla="*/ 596 w 1384"/>
                  <a:gd name="T3" fmla="*/ 244 h 1757"/>
                  <a:gd name="T4" fmla="*/ 635 w 1384"/>
                  <a:gd name="T5" fmla="*/ 254 h 1757"/>
                  <a:gd name="T6" fmla="*/ 676 w 1384"/>
                  <a:gd name="T7" fmla="*/ 267 h 1757"/>
                  <a:gd name="T8" fmla="*/ 717 w 1384"/>
                  <a:gd name="T9" fmla="*/ 280 h 1757"/>
                  <a:gd name="T10" fmla="*/ 765 w 1384"/>
                  <a:gd name="T11" fmla="*/ 300 h 1757"/>
                  <a:gd name="T12" fmla="*/ 810 w 1384"/>
                  <a:gd name="T13" fmla="*/ 320 h 1757"/>
                  <a:gd name="T14" fmla="*/ 854 w 1384"/>
                  <a:gd name="T15" fmla="*/ 342 h 1757"/>
                  <a:gd name="T16" fmla="*/ 892 w 1384"/>
                  <a:gd name="T17" fmla="*/ 365 h 1757"/>
                  <a:gd name="T18" fmla="*/ 930 w 1384"/>
                  <a:gd name="T19" fmla="*/ 390 h 1757"/>
                  <a:gd name="T20" fmla="*/ 972 w 1384"/>
                  <a:gd name="T21" fmla="*/ 421 h 1757"/>
                  <a:gd name="T22" fmla="*/ 1009 w 1384"/>
                  <a:gd name="T23" fmla="*/ 448 h 1757"/>
                  <a:gd name="T24" fmla="*/ 1067 w 1384"/>
                  <a:gd name="T25" fmla="*/ 500 h 1757"/>
                  <a:gd name="T26" fmla="*/ 1117 w 1384"/>
                  <a:gd name="T27" fmla="*/ 552 h 1757"/>
                  <a:gd name="T28" fmla="*/ 1157 w 1384"/>
                  <a:gd name="T29" fmla="*/ 600 h 1757"/>
                  <a:gd name="T30" fmla="*/ 1199 w 1384"/>
                  <a:gd name="T31" fmla="*/ 657 h 1757"/>
                  <a:gd name="T32" fmla="*/ 1238 w 1384"/>
                  <a:gd name="T33" fmla="*/ 717 h 1757"/>
                  <a:gd name="T34" fmla="*/ 1272 w 1384"/>
                  <a:gd name="T35" fmla="*/ 777 h 1757"/>
                  <a:gd name="T36" fmla="*/ 1303 w 1384"/>
                  <a:gd name="T37" fmla="*/ 844 h 1757"/>
                  <a:gd name="T38" fmla="*/ 1328 w 1384"/>
                  <a:gd name="T39" fmla="*/ 915 h 1757"/>
                  <a:gd name="T40" fmla="*/ 1354 w 1384"/>
                  <a:gd name="T41" fmla="*/ 1003 h 1757"/>
                  <a:gd name="T42" fmla="*/ 1370 w 1384"/>
                  <a:gd name="T43" fmla="*/ 1089 h 1757"/>
                  <a:gd name="T44" fmla="*/ 1382 w 1384"/>
                  <a:gd name="T45" fmla="*/ 1202 h 1757"/>
                  <a:gd name="T46" fmla="*/ 1382 w 1384"/>
                  <a:gd name="T47" fmla="*/ 1297 h 1757"/>
                  <a:gd name="T48" fmla="*/ 1373 w 1384"/>
                  <a:gd name="T49" fmla="*/ 1385 h 1757"/>
                  <a:gd name="T50" fmla="*/ 1358 w 1384"/>
                  <a:gd name="T51" fmla="*/ 1475 h 1757"/>
                  <a:gd name="T52" fmla="*/ 1330 w 1384"/>
                  <a:gd name="T53" fmla="*/ 1575 h 1757"/>
                  <a:gd name="T54" fmla="*/ 1296 w 1384"/>
                  <a:gd name="T55" fmla="*/ 1667 h 1757"/>
                  <a:gd name="T56" fmla="*/ 1244 w 1384"/>
                  <a:gd name="T57" fmla="*/ 1757 h 1757"/>
                  <a:gd name="T58" fmla="*/ 858 w 1384"/>
                  <a:gd name="T59" fmla="*/ 1474 h 1757"/>
                  <a:gd name="T60" fmla="*/ 884 w 1384"/>
                  <a:gd name="T61" fmla="*/ 1403 h 1757"/>
                  <a:gd name="T62" fmla="*/ 899 w 1384"/>
                  <a:gd name="T63" fmla="*/ 1334 h 1757"/>
                  <a:gd name="T64" fmla="*/ 905 w 1384"/>
                  <a:gd name="T65" fmla="*/ 1269 h 1757"/>
                  <a:gd name="T66" fmla="*/ 903 w 1384"/>
                  <a:gd name="T67" fmla="*/ 1195 h 1757"/>
                  <a:gd name="T68" fmla="*/ 890 w 1384"/>
                  <a:gd name="T69" fmla="*/ 1115 h 1757"/>
                  <a:gd name="T70" fmla="*/ 866 w 1384"/>
                  <a:gd name="T71" fmla="*/ 1042 h 1757"/>
                  <a:gd name="T72" fmla="*/ 835 w 1384"/>
                  <a:gd name="T73" fmla="*/ 978 h 1757"/>
                  <a:gd name="T74" fmla="*/ 806 w 1384"/>
                  <a:gd name="T75" fmla="*/ 933 h 1757"/>
                  <a:gd name="T76" fmla="*/ 774 w 1384"/>
                  <a:gd name="T77" fmla="*/ 893 h 1757"/>
                  <a:gd name="T78" fmla="*/ 740 w 1384"/>
                  <a:gd name="T79" fmla="*/ 856 h 1757"/>
                  <a:gd name="T80" fmla="*/ 704 w 1384"/>
                  <a:gd name="T81" fmla="*/ 822 h 1757"/>
                  <a:gd name="T82" fmla="*/ 657 w 1384"/>
                  <a:gd name="T83" fmla="*/ 791 h 1757"/>
                  <a:gd name="T84" fmla="*/ 618 w 1384"/>
                  <a:gd name="T85" fmla="*/ 766 h 1757"/>
                  <a:gd name="T86" fmla="*/ 569 w 1384"/>
                  <a:gd name="T87" fmla="*/ 742 h 1757"/>
                  <a:gd name="T88" fmla="*/ 528 w 1384"/>
                  <a:gd name="T89" fmla="*/ 727 h 1757"/>
                  <a:gd name="T90" fmla="*/ 467 w 1384"/>
                  <a:gd name="T91" fmla="*/ 714 h 1757"/>
                  <a:gd name="T92" fmla="*/ 406 w 1384"/>
                  <a:gd name="T93" fmla="*/ 709 h 1757"/>
                  <a:gd name="T94" fmla="*/ 389 w 1384"/>
                  <a:gd name="T95" fmla="*/ 964 h 1757"/>
                  <a:gd name="T96" fmla="*/ 388 w 1384"/>
                  <a:gd name="T97" fmla="*/ 0 h 1757"/>
                  <a:gd name="T98" fmla="*/ 409 w 1384"/>
                  <a:gd name="T99" fmla="*/ 221 h 1757"/>
                  <a:gd name="T100" fmla="*/ 471 w 1384"/>
                  <a:gd name="T101" fmla="*/ 224 h 1757"/>
                  <a:gd name="T102" fmla="*/ 527 w 1384"/>
                  <a:gd name="T103" fmla="*/ 230 h 17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384" h="1757">
                    <a:moveTo>
                      <a:pt x="527" y="230"/>
                    </a:moveTo>
                    <a:lnTo>
                      <a:pt x="546" y="234"/>
                    </a:lnTo>
                    <a:lnTo>
                      <a:pt x="571" y="238"/>
                    </a:lnTo>
                    <a:lnTo>
                      <a:pt x="596" y="244"/>
                    </a:lnTo>
                    <a:lnTo>
                      <a:pt x="614" y="249"/>
                    </a:lnTo>
                    <a:lnTo>
                      <a:pt x="635" y="254"/>
                    </a:lnTo>
                    <a:lnTo>
                      <a:pt x="655" y="260"/>
                    </a:lnTo>
                    <a:lnTo>
                      <a:pt x="676" y="267"/>
                    </a:lnTo>
                    <a:lnTo>
                      <a:pt x="695" y="272"/>
                    </a:lnTo>
                    <a:lnTo>
                      <a:pt x="717" y="280"/>
                    </a:lnTo>
                    <a:lnTo>
                      <a:pt x="743" y="291"/>
                    </a:lnTo>
                    <a:lnTo>
                      <a:pt x="765" y="300"/>
                    </a:lnTo>
                    <a:lnTo>
                      <a:pt x="786" y="309"/>
                    </a:lnTo>
                    <a:lnTo>
                      <a:pt x="810" y="320"/>
                    </a:lnTo>
                    <a:lnTo>
                      <a:pt x="833" y="331"/>
                    </a:lnTo>
                    <a:lnTo>
                      <a:pt x="854" y="342"/>
                    </a:lnTo>
                    <a:lnTo>
                      <a:pt x="874" y="355"/>
                    </a:lnTo>
                    <a:lnTo>
                      <a:pt x="892" y="365"/>
                    </a:lnTo>
                    <a:lnTo>
                      <a:pt x="910" y="378"/>
                    </a:lnTo>
                    <a:lnTo>
                      <a:pt x="930" y="390"/>
                    </a:lnTo>
                    <a:lnTo>
                      <a:pt x="952" y="406"/>
                    </a:lnTo>
                    <a:lnTo>
                      <a:pt x="972" y="421"/>
                    </a:lnTo>
                    <a:lnTo>
                      <a:pt x="991" y="436"/>
                    </a:lnTo>
                    <a:lnTo>
                      <a:pt x="1009" y="448"/>
                    </a:lnTo>
                    <a:lnTo>
                      <a:pt x="1037" y="473"/>
                    </a:lnTo>
                    <a:lnTo>
                      <a:pt x="1067" y="500"/>
                    </a:lnTo>
                    <a:lnTo>
                      <a:pt x="1090" y="522"/>
                    </a:lnTo>
                    <a:lnTo>
                      <a:pt x="1117" y="552"/>
                    </a:lnTo>
                    <a:lnTo>
                      <a:pt x="1136" y="575"/>
                    </a:lnTo>
                    <a:lnTo>
                      <a:pt x="1157" y="600"/>
                    </a:lnTo>
                    <a:lnTo>
                      <a:pt x="1180" y="629"/>
                    </a:lnTo>
                    <a:lnTo>
                      <a:pt x="1199" y="657"/>
                    </a:lnTo>
                    <a:lnTo>
                      <a:pt x="1218" y="687"/>
                    </a:lnTo>
                    <a:lnTo>
                      <a:pt x="1238" y="717"/>
                    </a:lnTo>
                    <a:lnTo>
                      <a:pt x="1255" y="749"/>
                    </a:lnTo>
                    <a:lnTo>
                      <a:pt x="1272" y="777"/>
                    </a:lnTo>
                    <a:lnTo>
                      <a:pt x="1288" y="811"/>
                    </a:lnTo>
                    <a:lnTo>
                      <a:pt x="1303" y="844"/>
                    </a:lnTo>
                    <a:lnTo>
                      <a:pt x="1315" y="878"/>
                    </a:lnTo>
                    <a:lnTo>
                      <a:pt x="1328" y="915"/>
                    </a:lnTo>
                    <a:lnTo>
                      <a:pt x="1344" y="961"/>
                    </a:lnTo>
                    <a:lnTo>
                      <a:pt x="1354" y="1003"/>
                    </a:lnTo>
                    <a:lnTo>
                      <a:pt x="1365" y="1047"/>
                    </a:lnTo>
                    <a:lnTo>
                      <a:pt x="1370" y="1089"/>
                    </a:lnTo>
                    <a:lnTo>
                      <a:pt x="1377" y="1139"/>
                    </a:lnTo>
                    <a:lnTo>
                      <a:pt x="1382" y="1202"/>
                    </a:lnTo>
                    <a:lnTo>
                      <a:pt x="1384" y="1250"/>
                    </a:lnTo>
                    <a:lnTo>
                      <a:pt x="1382" y="1297"/>
                    </a:lnTo>
                    <a:lnTo>
                      <a:pt x="1378" y="1342"/>
                    </a:lnTo>
                    <a:lnTo>
                      <a:pt x="1373" y="1385"/>
                    </a:lnTo>
                    <a:lnTo>
                      <a:pt x="1368" y="1429"/>
                    </a:lnTo>
                    <a:lnTo>
                      <a:pt x="1358" y="1475"/>
                    </a:lnTo>
                    <a:lnTo>
                      <a:pt x="1346" y="1524"/>
                    </a:lnTo>
                    <a:lnTo>
                      <a:pt x="1330" y="1575"/>
                    </a:lnTo>
                    <a:lnTo>
                      <a:pt x="1314" y="1622"/>
                    </a:lnTo>
                    <a:lnTo>
                      <a:pt x="1296" y="1667"/>
                    </a:lnTo>
                    <a:lnTo>
                      <a:pt x="1270" y="1712"/>
                    </a:lnTo>
                    <a:lnTo>
                      <a:pt x="1244" y="1757"/>
                    </a:lnTo>
                    <a:lnTo>
                      <a:pt x="836" y="1519"/>
                    </a:lnTo>
                    <a:lnTo>
                      <a:pt x="858" y="1474"/>
                    </a:lnTo>
                    <a:lnTo>
                      <a:pt x="873" y="1440"/>
                    </a:lnTo>
                    <a:lnTo>
                      <a:pt x="884" y="1403"/>
                    </a:lnTo>
                    <a:lnTo>
                      <a:pt x="893" y="1367"/>
                    </a:lnTo>
                    <a:lnTo>
                      <a:pt x="899" y="1334"/>
                    </a:lnTo>
                    <a:lnTo>
                      <a:pt x="902" y="1301"/>
                    </a:lnTo>
                    <a:lnTo>
                      <a:pt x="905" y="1269"/>
                    </a:lnTo>
                    <a:lnTo>
                      <a:pt x="905" y="1235"/>
                    </a:lnTo>
                    <a:lnTo>
                      <a:pt x="903" y="1195"/>
                    </a:lnTo>
                    <a:lnTo>
                      <a:pt x="897" y="1157"/>
                    </a:lnTo>
                    <a:lnTo>
                      <a:pt x="890" y="1115"/>
                    </a:lnTo>
                    <a:lnTo>
                      <a:pt x="881" y="1081"/>
                    </a:lnTo>
                    <a:lnTo>
                      <a:pt x="866" y="1042"/>
                    </a:lnTo>
                    <a:lnTo>
                      <a:pt x="852" y="1009"/>
                    </a:lnTo>
                    <a:lnTo>
                      <a:pt x="835" y="978"/>
                    </a:lnTo>
                    <a:lnTo>
                      <a:pt x="821" y="953"/>
                    </a:lnTo>
                    <a:lnTo>
                      <a:pt x="806" y="933"/>
                    </a:lnTo>
                    <a:lnTo>
                      <a:pt x="791" y="913"/>
                    </a:lnTo>
                    <a:lnTo>
                      <a:pt x="774" y="893"/>
                    </a:lnTo>
                    <a:lnTo>
                      <a:pt x="755" y="871"/>
                    </a:lnTo>
                    <a:lnTo>
                      <a:pt x="740" y="856"/>
                    </a:lnTo>
                    <a:lnTo>
                      <a:pt x="722" y="838"/>
                    </a:lnTo>
                    <a:lnTo>
                      <a:pt x="704" y="822"/>
                    </a:lnTo>
                    <a:lnTo>
                      <a:pt x="683" y="806"/>
                    </a:lnTo>
                    <a:lnTo>
                      <a:pt x="657" y="791"/>
                    </a:lnTo>
                    <a:lnTo>
                      <a:pt x="636" y="776"/>
                    </a:lnTo>
                    <a:lnTo>
                      <a:pt x="618" y="766"/>
                    </a:lnTo>
                    <a:lnTo>
                      <a:pt x="592" y="750"/>
                    </a:lnTo>
                    <a:lnTo>
                      <a:pt x="569" y="742"/>
                    </a:lnTo>
                    <a:lnTo>
                      <a:pt x="549" y="734"/>
                    </a:lnTo>
                    <a:lnTo>
                      <a:pt x="528" y="727"/>
                    </a:lnTo>
                    <a:lnTo>
                      <a:pt x="496" y="719"/>
                    </a:lnTo>
                    <a:lnTo>
                      <a:pt x="467" y="714"/>
                    </a:lnTo>
                    <a:lnTo>
                      <a:pt x="436" y="711"/>
                    </a:lnTo>
                    <a:lnTo>
                      <a:pt x="406" y="709"/>
                    </a:lnTo>
                    <a:lnTo>
                      <a:pt x="389" y="708"/>
                    </a:lnTo>
                    <a:lnTo>
                      <a:pt x="389" y="964"/>
                    </a:lnTo>
                    <a:lnTo>
                      <a:pt x="0" y="489"/>
                    </a:lnTo>
                    <a:lnTo>
                      <a:pt x="388" y="0"/>
                    </a:lnTo>
                    <a:lnTo>
                      <a:pt x="388" y="220"/>
                    </a:lnTo>
                    <a:lnTo>
                      <a:pt x="409" y="221"/>
                    </a:lnTo>
                    <a:lnTo>
                      <a:pt x="440" y="222"/>
                    </a:lnTo>
                    <a:lnTo>
                      <a:pt x="471" y="224"/>
                    </a:lnTo>
                    <a:lnTo>
                      <a:pt x="502" y="227"/>
                    </a:lnTo>
                    <a:lnTo>
                      <a:pt x="527" y="230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79" name="Freeform 48">
                <a:extLst>
                  <a:ext uri="{FF2B5EF4-FFF2-40B4-BE49-F238E27FC236}">
                    <a16:creationId xmlns:a16="http://schemas.microsoft.com/office/drawing/2014/main" id="{111687E9-DE50-44D9-8F12-C659774E1E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" y="1998"/>
                <a:ext cx="204" cy="98"/>
              </a:xfrm>
              <a:custGeom>
                <a:avLst/>
                <a:gdLst>
                  <a:gd name="T0" fmla="*/ 942 w 1836"/>
                  <a:gd name="T1" fmla="*/ 961 h 976"/>
                  <a:gd name="T2" fmla="*/ 992 w 1836"/>
                  <a:gd name="T3" fmla="*/ 951 h 976"/>
                  <a:gd name="T4" fmla="*/ 1031 w 1836"/>
                  <a:gd name="T5" fmla="*/ 942 h 976"/>
                  <a:gd name="T6" fmla="*/ 1073 w 1836"/>
                  <a:gd name="T7" fmla="*/ 930 h 976"/>
                  <a:gd name="T8" fmla="*/ 1113 w 1836"/>
                  <a:gd name="T9" fmla="*/ 915 h 976"/>
                  <a:gd name="T10" fmla="*/ 1161 w 1836"/>
                  <a:gd name="T11" fmla="*/ 896 h 976"/>
                  <a:gd name="T12" fmla="*/ 1207 w 1836"/>
                  <a:gd name="T13" fmla="*/ 876 h 976"/>
                  <a:gd name="T14" fmla="*/ 1251 w 1836"/>
                  <a:gd name="T15" fmla="*/ 854 h 976"/>
                  <a:gd name="T16" fmla="*/ 1288 w 1836"/>
                  <a:gd name="T17" fmla="*/ 830 h 976"/>
                  <a:gd name="T18" fmla="*/ 1326 w 1836"/>
                  <a:gd name="T19" fmla="*/ 806 h 976"/>
                  <a:gd name="T20" fmla="*/ 1368 w 1836"/>
                  <a:gd name="T21" fmla="*/ 776 h 976"/>
                  <a:gd name="T22" fmla="*/ 1404 w 1836"/>
                  <a:gd name="T23" fmla="*/ 748 h 976"/>
                  <a:gd name="T24" fmla="*/ 1459 w 1836"/>
                  <a:gd name="T25" fmla="*/ 702 h 976"/>
                  <a:gd name="T26" fmla="*/ 1513 w 1836"/>
                  <a:gd name="T27" fmla="*/ 644 h 976"/>
                  <a:gd name="T28" fmla="*/ 1553 w 1836"/>
                  <a:gd name="T29" fmla="*/ 596 h 976"/>
                  <a:gd name="T30" fmla="*/ 1596 w 1836"/>
                  <a:gd name="T31" fmla="*/ 541 h 976"/>
                  <a:gd name="T32" fmla="*/ 1638 w 1836"/>
                  <a:gd name="T33" fmla="*/ 477 h 976"/>
                  <a:gd name="T34" fmla="*/ 1642 w 1836"/>
                  <a:gd name="T35" fmla="*/ 0 h 976"/>
                  <a:gd name="T36" fmla="*/ 1226 w 1836"/>
                  <a:gd name="T37" fmla="*/ 234 h 976"/>
                  <a:gd name="T38" fmla="*/ 1189 w 1836"/>
                  <a:gd name="T39" fmla="*/ 282 h 976"/>
                  <a:gd name="T40" fmla="*/ 1151 w 1836"/>
                  <a:gd name="T41" fmla="*/ 325 h 976"/>
                  <a:gd name="T42" fmla="*/ 1118 w 1836"/>
                  <a:gd name="T43" fmla="*/ 359 h 976"/>
                  <a:gd name="T44" fmla="*/ 1078 w 1836"/>
                  <a:gd name="T45" fmla="*/ 390 h 976"/>
                  <a:gd name="T46" fmla="*/ 1032 w 1836"/>
                  <a:gd name="T47" fmla="*/ 421 h 976"/>
                  <a:gd name="T48" fmla="*/ 988 w 1836"/>
                  <a:gd name="T49" fmla="*/ 447 h 976"/>
                  <a:gd name="T50" fmla="*/ 945 w 1836"/>
                  <a:gd name="T51" fmla="*/ 462 h 976"/>
                  <a:gd name="T52" fmla="*/ 893 w 1836"/>
                  <a:gd name="T53" fmla="*/ 478 h 976"/>
                  <a:gd name="T54" fmla="*/ 832 w 1836"/>
                  <a:gd name="T55" fmla="*/ 486 h 976"/>
                  <a:gd name="T56" fmla="*/ 728 w 1836"/>
                  <a:gd name="T57" fmla="*/ 489 h 976"/>
                  <a:gd name="T58" fmla="*/ 642 w 1836"/>
                  <a:gd name="T59" fmla="*/ 473 h 976"/>
                  <a:gd name="T60" fmla="*/ 552 w 1836"/>
                  <a:gd name="T61" fmla="*/ 441 h 976"/>
                  <a:gd name="T62" fmla="*/ 472 w 1836"/>
                  <a:gd name="T63" fmla="*/ 395 h 976"/>
                  <a:gd name="T64" fmla="*/ 0 w 1836"/>
                  <a:gd name="T65" fmla="*/ 617 h 976"/>
                  <a:gd name="T66" fmla="*/ 43 w 1836"/>
                  <a:gd name="T67" fmla="*/ 662 h 976"/>
                  <a:gd name="T68" fmla="*/ 85 w 1836"/>
                  <a:gd name="T69" fmla="*/ 704 h 976"/>
                  <a:gd name="T70" fmla="*/ 131 w 1836"/>
                  <a:gd name="T71" fmla="*/ 745 h 976"/>
                  <a:gd name="T72" fmla="*/ 178 w 1836"/>
                  <a:gd name="T73" fmla="*/ 780 h 976"/>
                  <a:gd name="T74" fmla="*/ 229 w 1836"/>
                  <a:gd name="T75" fmla="*/ 815 h 976"/>
                  <a:gd name="T76" fmla="*/ 280 w 1836"/>
                  <a:gd name="T77" fmla="*/ 846 h 976"/>
                  <a:gd name="T78" fmla="*/ 327 w 1836"/>
                  <a:gd name="T79" fmla="*/ 872 h 976"/>
                  <a:gd name="T80" fmla="*/ 388 w 1836"/>
                  <a:gd name="T81" fmla="*/ 899 h 976"/>
                  <a:gd name="T82" fmla="*/ 447 w 1836"/>
                  <a:gd name="T83" fmla="*/ 922 h 976"/>
                  <a:gd name="T84" fmla="*/ 500 w 1836"/>
                  <a:gd name="T85" fmla="*/ 940 h 976"/>
                  <a:gd name="T86" fmla="*/ 554 w 1836"/>
                  <a:gd name="T87" fmla="*/ 953 h 976"/>
                  <a:gd name="T88" fmla="*/ 617 w 1836"/>
                  <a:gd name="T89" fmla="*/ 965 h 976"/>
                  <a:gd name="T90" fmla="*/ 684 w 1836"/>
                  <a:gd name="T91" fmla="*/ 973 h 976"/>
                  <a:gd name="T92" fmla="*/ 744 w 1836"/>
                  <a:gd name="T93" fmla="*/ 976 h 976"/>
                  <a:gd name="T94" fmla="*/ 806 w 1836"/>
                  <a:gd name="T95" fmla="*/ 975 h 976"/>
                  <a:gd name="T96" fmla="*/ 868 w 1836"/>
                  <a:gd name="T97" fmla="*/ 971 h 976"/>
                  <a:gd name="T98" fmla="*/ 923 w 1836"/>
                  <a:gd name="T99" fmla="*/ 964 h 9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836" h="976">
                    <a:moveTo>
                      <a:pt x="923" y="964"/>
                    </a:moveTo>
                    <a:lnTo>
                      <a:pt x="942" y="961"/>
                    </a:lnTo>
                    <a:lnTo>
                      <a:pt x="967" y="957"/>
                    </a:lnTo>
                    <a:lnTo>
                      <a:pt x="992" y="951"/>
                    </a:lnTo>
                    <a:lnTo>
                      <a:pt x="1010" y="947"/>
                    </a:lnTo>
                    <a:lnTo>
                      <a:pt x="1031" y="942"/>
                    </a:lnTo>
                    <a:lnTo>
                      <a:pt x="1052" y="935"/>
                    </a:lnTo>
                    <a:lnTo>
                      <a:pt x="1073" y="930"/>
                    </a:lnTo>
                    <a:lnTo>
                      <a:pt x="1092" y="924"/>
                    </a:lnTo>
                    <a:lnTo>
                      <a:pt x="1113" y="915"/>
                    </a:lnTo>
                    <a:lnTo>
                      <a:pt x="1139" y="906"/>
                    </a:lnTo>
                    <a:lnTo>
                      <a:pt x="1161" y="896"/>
                    </a:lnTo>
                    <a:lnTo>
                      <a:pt x="1183" y="886"/>
                    </a:lnTo>
                    <a:lnTo>
                      <a:pt x="1207" y="876"/>
                    </a:lnTo>
                    <a:lnTo>
                      <a:pt x="1230" y="864"/>
                    </a:lnTo>
                    <a:lnTo>
                      <a:pt x="1251" y="854"/>
                    </a:lnTo>
                    <a:lnTo>
                      <a:pt x="1270" y="841"/>
                    </a:lnTo>
                    <a:lnTo>
                      <a:pt x="1288" y="830"/>
                    </a:lnTo>
                    <a:lnTo>
                      <a:pt x="1306" y="817"/>
                    </a:lnTo>
                    <a:lnTo>
                      <a:pt x="1326" y="806"/>
                    </a:lnTo>
                    <a:lnTo>
                      <a:pt x="1348" y="791"/>
                    </a:lnTo>
                    <a:lnTo>
                      <a:pt x="1368" y="776"/>
                    </a:lnTo>
                    <a:lnTo>
                      <a:pt x="1387" y="761"/>
                    </a:lnTo>
                    <a:lnTo>
                      <a:pt x="1404" y="748"/>
                    </a:lnTo>
                    <a:lnTo>
                      <a:pt x="1433" y="725"/>
                    </a:lnTo>
                    <a:lnTo>
                      <a:pt x="1459" y="702"/>
                    </a:lnTo>
                    <a:lnTo>
                      <a:pt x="1486" y="675"/>
                    </a:lnTo>
                    <a:lnTo>
                      <a:pt x="1513" y="644"/>
                    </a:lnTo>
                    <a:lnTo>
                      <a:pt x="1532" y="622"/>
                    </a:lnTo>
                    <a:lnTo>
                      <a:pt x="1553" y="596"/>
                    </a:lnTo>
                    <a:lnTo>
                      <a:pt x="1576" y="569"/>
                    </a:lnTo>
                    <a:lnTo>
                      <a:pt x="1596" y="541"/>
                    </a:lnTo>
                    <a:lnTo>
                      <a:pt x="1615" y="511"/>
                    </a:lnTo>
                    <a:lnTo>
                      <a:pt x="1638" y="477"/>
                    </a:lnTo>
                    <a:lnTo>
                      <a:pt x="1836" y="594"/>
                    </a:lnTo>
                    <a:lnTo>
                      <a:pt x="1642" y="0"/>
                    </a:lnTo>
                    <a:lnTo>
                      <a:pt x="1014" y="113"/>
                    </a:lnTo>
                    <a:lnTo>
                      <a:pt x="1226" y="234"/>
                    </a:lnTo>
                    <a:lnTo>
                      <a:pt x="1208" y="259"/>
                    </a:lnTo>
                    <a:lnTo>
                      <a:pt x="1189" y="282"/>
                    </a:lnTo>
                    <a:lnTo>
                      <a:pt x="1170" y="304"/>
                    </a:lnTo>
                    <a:lnTo>
                      <a:pt x="1151" y="325"/>
                    </a:lnTo>
                    <a:lnTo>
                      <a:pt x="1135" y="341"/>
                    </a:lnTo>
                    <a:lnTo>
                      <a:pt x="1118" y="359"/>
                    </a:lnTo>
                    <a:lnTo>
                      <a:pt x="1099" y="374"/>
                    </a:lnTo>
                    <a:lnTo>
                      <a:pt x="1078" y="390"/>
                    </a:lnTo>
                    <a:lnTo>
                      <a:pt x="1053" y="407"/>
                    </a:lnTo>
                    <a:lnTo>
                      <a:pt x="1032" y="421"/>
                    </a:lnTo>
                    <a:lnTo>
                      <a:pt x="1014" y="432"/>
                    </a:lnTo>
                    <a:lnTo>
                      <a:pt x="988" y="447"/>
                    </a:lnTo>
                    <a:lnTo>
                      <a:pt x="965" y="456"/>
                    </a:lnTo>
                    <a:lnTo>
                      <a:pt x="945" y="462"/>
                    </a:lnTo>
                    <a:lnTo>
                      <a:pt x="924" y="470"/>
                    </a:lnTo>
                    <a:lnTo>
                      <a:pt x="893" y="478"/>
                    </a:lnTo>
                    <a:lnTo>
                      <a:pt x="863" y="483"/>
                    </a:lnTo>
                    <a:lnTo>
                      <a:pt x="832" y="486"/>
                    </a:lnTo>
                    <a:lnTo>
                      <a:pt x="787" y="488"/>
                    </a:lnTo>
                    <a:lnTo>
                      <a:pt x="728" y="489"/>
                    </a:lnTo>
                    <a:lnTo>
                      <a:pt x="683" y="483"/>
                    </a:lnTo>
                    <a:lnTo>
                      <a:pt x="642" y="473"/>
                    </a:lnTo>
                    <a:lnTo>
                      <a:pt x="594" y="459"/>
                    </a:lnTo>
                    <a:lnTo>
                      <a:pt x="552" y="441"/>
                    </a:lnTo>
                    <a:lnTo>
                      <a:pt x="510" y="420"/>
                    </a:lnTo>
                    <a:lnTo>
                      <a:pt x="472" y="395"/>
                    </a:lnTo>
                    <a:lnTo>
                      <a:pt x="435" y="363"/>
                    </a:lnTo>
                    <a:lnTo>
                      <a:pt x="0" y="617"/>
                    </a:lnTo>
                    <a:lnTo>
                      <a:pt x="18" y="638"/>
                    </a:lnTo>
                    <a:lnTo>
                      <a:pt x="43" y="662"/>
                    </a:lnTo>
                    <a:lnTo>
                      <a:pt x="64" y="683"/>
                    </a:lnTo>
                    <a:lnTo>
                      <a:pt x="85" y="704"/>
                    </a:lnTo>
                    <a:lnTo>
                      <a:pt x="106" y="724"/>
                    </a:lnTo>
                    <a:lnTo>
                      <a:pt x="131" y="745"/>
                    </a:lnTo>
                    <a:lnTo>
                      <a:pt x="154" y="763"/>
                    </a:lnTo>
                    <a:lnTo>
                      <a:pt x="178" y="780"/>
                    </a:lnTo>
                    <a:lnTo>
                      <a:pt x="204" y="797"/>
                    </a:lnTo>
                    <a:lnTo>
                      <a:pt x="229" y="815"/>
                    </a:lnTo>
                    <a:lnTo>
                      <a:pt x="255" y="832"/>
                    </a:lnTo>
                    <a:lnTo>
                      <a:pt x="280" y="846"/>
                    </a:lnTo>
                    <a:lnTo>
                      <a:pt x="304" y="860"/>
                    </a:lnTo>
                    <a:lnTo>
                      <a:pt x="327" y="872"/>
                    </a:lnTo>
                    <a:lnTo>
                      <a:pt x="359" y="886"/>
                    </a:lnTo>
                    <a:lnTo>
                      <a:pt x="388" y="899"/>
                    </a:lnTo>
                    <a:lnTo>
                      <a:pt x="422" y="912"/>
                    </a:lnTo>
                    <a:lnTo>
                      <a:pt x="447" y="922"/>
                    </a:lnTo>
                    <a:lnTo>
                      <a:pt x="471" y="931"/>
                    </a:lnTo>
                    <a:lnTo>
                      <a:pt x="500" y="940"/>
                    </a:lnTo>
                    <a:lnTo>
                      <a:pt x="527" y="947"/>
                    </a:lnTo>
                    <a:lnTo>
                      <a:pt x="554" y="953"/>
                    </a:lnTo>
                    <a:lnTo>
                      <a:pt x="586" y="960"/>
                    </a:lnTo>
                    <a:lnTo>
                      <a:pt x="617" y="965"/>
                    </a:lnTo>
                    <a:lnTo>
                      <a:pt x="650" y="969"/>
                    </a:lnTo>
                    <a:lnTo>
                      <a:pt x="684" y="973"/>
                    </a:lnTo>
                    <a:lnTo>
                      <a:pt x="709" y="974"/>
                    </a:lnTo>
                    <a:lnTo>
                      <a:pt x="744" y="976"/>
                    </a:lnTo>
                    <a:lnTo>
                      <a:pt x="778" y="976"/>
                    </a:lnTo>
                    <a:lnTo>
                      <a:pt x="806" y="975"/>
                    </a:lnTo>
                    <a:lnTo>
                      <a:pt x="835" y="974"/>
                    </a:lnTo>
                    <a:lnTo>
                      <a:pt x="868" y="971"/>
                    </a:lnTo>
                    <a:lnTo>
                      <a:pt x="897" y="967"/>
                    </a:lnTo>
                    <a:lnTo>
                      <a:pt x="923" y="964"/>
                    </a:lnTo>
                    <a:close/>
                  </a:path>
                </a:pathLst>
              </a:custGeom>
              <a:solidFill>
                <a:srgbClr val="0000FF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80" name="Freeform 49">
                <a:extLst>
                  <a:ext uri="{FF2B5EF4-FFF2-40B4-BE49-F238E27FC236}">
                    <a16:creationId xmlns:a16="http://schemas.microsoft.com/office/drawing/2014/main" id="{022E5B0E-2E76-4E63-A050-D91E66A35C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" y="1892"/>
                <a:ext cx="103" cy="174"/>
              </a:xfrm>
              <a:custGeom>
                <a:avLst/>
                <a:gdLst>
                  <a:gd name="T0" fmla="*/ 911 w 931"/>
                  <a:gd name="T1" fmla="*/ 3 h 1739"/>
                  <a:gd name="T2" fmla="*/ 864 w 931"/>
                  <a:gd name="T3" fmla="*/ 13 h 1739"/>
                  <a:gd name="T4" fmla="*/ 823 w 931"/>
                  <a:gd name="T5" fmla="*/ 23 h 1739"/>
                  <a:gd name="T6" fmla="*/ 782 w 931"/>
                  <a:gd name="T7" fmla="*/ 35 h 1739"/>
                  <a:gd name="T8" fmla="*/ 741 w 931"/>
                  <a:gd name="T9" fmla="*/ 50 h 1739"/>
                  <a:gd name="T10" fmla="*/ 694 w 931"/>
                  <a:gd name="T11" fmla="*/ 69 h 1739"/>
                  <a:gd name="T12" fmla="*/ 649 w 931"/>
                  <a:gd name="T13" fmla="*/ 89 h 1739"/>
                  <a:gd name="T14" fmla="*/ 605 w 931"/>
                  <a:gd name="T15" fmla="*/ 111 h 1739"/>
                  <a:gd name="T16" fmla="*/ 567 w 931"/>
                  <a:gd name="T17" fmla="*/ 135 h 1739"/>
                  <a:gd name="T18" fmla="*/ 529 w 931"/>
                  <a:gd name="T19" fmla="*/ 159 h 1739"/>
                  <a:gd name="T20" fmla="*/ 487 w 931"/>
                  <a:gd name="T21" fmla="*/ 190 h 1739"/>
                  <a:gd name="T22" fmla="*/ 450 w 931"/>
                  <a:gd name="T23" fmla="*/ 218 h 1739"/>
                  <a:gd name="T24" fmla="*/ 391 w 931"/>
                  <a:gd name="T25" fmla="*/ 271 h 1739"/>
                  <a:gd name="T26" fmla="*/ 341 w 931"/>
                  <a:gd name="T27" fmla="*/ 323 h 1739"/>
                  <a:gd name="T28" fmla="*/ 301 w 931"/>
                  <a:gd name="T29" fmla="*/ 371 h 1739"/>
                  <a:gd name="T30" fmla="*/ 259 w 931"/>
                  <a:gd name="T31" fmla="*/ 426 h 1739"/>
                  <a:gd name="T32" fmla="*/ 221 w 931"/>
                  <a:gd name="T33" fmla="*/ 487 h 1739"/>
                  <a:gd name="T34" fmla="*/ 186 w 931"/>
                  <a:gd name="T35" fmla="*/ 546 h 1739"/>
                  <a:gd name="T36" fmla="*/ 157 w 931"/>
                  <a:gd name="T37" fmla="*/ 613 h 1739"/>
                  <a:gd name="T38" fmla="*/ 131 w 931"/>
                  <a:gd name="T39" fmla="*/ 684 h 1739"/>
                  <a:gd name="T40" fmla="*/ 105 w 931"/>
                  <a:gd name="T41" fmla="*/ 772 h 1739"/>
                  <a:gd name="T42" fmla="*/ 89 w 931"/>
                  <a:gd name="T43" fmla="*/ 858 h 1739"/>
                  <a:gd name="T44" fmla="*/ 77 w 931"/>
                  <a:gd name="T45" fmla="*/ 970 h 1739"/>
                  <a:gd name="T46" fmla="*/ 77 w 931"/>
                  <a:gd name="T47" fmla="*/ 1067 h 1739"/>
                  <a:gd name="T48" fmla="*/ 86 w 931"/>
                  <a:gd name="T49" fmla="*/ 1155 h 1739"/>
                  <a:gd name="T50" fmla="*/ 101 w 931"/>
                  <a:gd name="T51" fmla="*/ 1245 h 1739"/>
                  <a:gd name="T52" fmla="*/ 129 w 931"/>
                  <a:gd name="T53" fmla="*/ 1344 h 1739"/>
                  <a:gd name="T54" fmla="*/ 163 w 931"/>
                  <a:gd name="T55" fmla="*/ 1437 h 1739"/>
                  <a:gd name="T56" fmla="*/ 209 w 931"/>
                  <a:gd name="T57" fmla="*/ 1524 h 1739"/>
                  <a:gd name="T58" fmla="*/ 639 w 931"/>
                  <a:gd name="T59" fmla="*/ 1739 h 1739"/>
                  <a:gd name="T60" fmla="*/ 628 w 931"/>
                  <a:gd name="T61" fmla="*/ 1279 h 1739"/>
                  <a:gd name="T62" fmla="*/ 589 w 931"/>
                  <a:gd name="T63" fmla="*/ 1207 h 1739"/>
                  <a:gd name="T64" fmla="*/ 566 w 931"/>
                  <a:gd name="T65" fmla="*/ 1137 h 1739"/>
                  <a:gd name="T66" fmla="*/ 558 w 931"/>
                  <a:gd name="T67" fmla="*/ 1070 h 1739"/>
                  <a:gd name="T68" fmla="*/ 555 w 931"/>
                  <a:gd name="T69" fmla="*/ 1004 h 1739"/>
                  <a:gd name="T70" fmla="*/ 561 w 931"/>
                  <a:gd name="T71" fmla="*/ 927 h 1739"/>
                  <a:gd name="T72" fmla="*/ 579 w 931"/>
                  <a:gd name="T73" fmla="*/ 850 h 1739"/>
                  <a:gd name="T74" fmla="*/ 606 w 931"/>
                  <a:gd name="T75" fmla="*/ 779 h 1739"/>
                  <a:gd name="T76" fmla="*/ 639 w 931"/>
                  <a:gd name="T77" fmla="*/ 722 h 1739"/>
                  <a:gd name="T78" fmla="*/ 668 w 931"/>
                  <a:gd name="T79" fmla="*/ 682 h 1739"/>
                  <a:gd name="T80" fmla="*/ 703 w 931"/>
                  <a:gd name="T81" fmla="*/ 641 h 1739"/>
                  <a:gd name="T82" fmla="*/ 737 w 931"/>
                  <a:gd name="T83" fmla="*/ 607 h 1739"/>
                  <a:gd name="T84" fmla="*/ 776 w 931"/>
                  <a:gd name="T85" fmla="*/ 576 h 1739"/>
                  <a:gd name="T86" fmla="*/ 822 w 931"/>
                  <a:gd name="T87" fmla="*/ 545 h 1739"/>
                  <a:gd name="T88" fmla="*/ 866 w 931"/>
                  <a:gd name="T89" fmla="*/ 519 h 1739"/>
                  <a:gd name="T90" fmla="*/ 931 w 931"/>
                  <a:gd name="T91" fmla="*/ 497 h 17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31" h="1739">
                    <a:moveTo>
                      <a:pt x="931" y="0"/>
                    </a:moveTo>
                    <a:lnTo>
                      <a:pt x="911" y="3"/>
                    </a:lnTo>
                    <a:lnTo>
                      <a:pt x="891" y="6"/>
                    </a:lnTo>
                    <a:lnTo>
                      <a:pt x="864" y="13"/>
                    </a:lnTo>
                    <a:lnTo>
                      <a:pt x="844" y="17"/>
                    </a:lnTo>
                    <a:lnTo>
                      <a:pt x="823" y="23"/>
                    </a:lnTo>
                    <a:lnTo>
                      <a:pt x="803" y="30"/>
                    </a:lnTo>
                    <a:lnTo>
                      <a:pt x="782" y="35"/>
                    </a:lnTo>
                    <a:lnTo>
                      <a:pt x="762" y="41"/>
                    </a:lnTo>
                    <a:lnTo>
                      <a:pt x="741" y="50"/>
                    </a:lnTo>
                    <a:lnTo>
                      <a:pt x="716" y="59"/>
                    </a:lnTo>
                    <a:lnTo>
                      <a:pt x="694" y="69"/>
                    </a:lnTo>
                    <a:lnTo>
                      <a:pt x="672" y="78"/>
                    </a:lnTo>
                    <a:lnTo>
                      <a:pt x="649" y="89"/>
                    </a:lnTo>
                    <a:lnTo>
                      <a:pt x="626" y="101"/>
                    </a:lnTo>
                    <a:lnTo>
                      <a:pt x="605" y="111"/>
                    </a:lnTo>
                    <a:lnTo>
                      <a:pt x="585" y="124"/>
                    </a:lnTo>
                    <a:lnTo>
                      <a:pt x="567" y="135"/>
                    </a:lnTo>
                    <a:lnTo>
                      <a:pt x="549" y="148"/>
                    </a:lnTo>
                    <a:lnTo>
                      <a:pt x="529" y="159"/>
                    </a:lnTo>
                    <a:lnTo>
                      <a:pt x="507" y="174"/>
                    </a:lnTo>
                    <a:lnTo>
                      <a:pt x="487" y="190"/>
                    </a:lnTo>
                    <a:lnTo>
                      <a:pt x="468" y="205"/>
                    </a:lnTo>
                    <a:lnTo>
                      <a:pt x="450" y="218"/>
                    </a:lnTo>
                    <a:lnTo>
                      <a:pt x="421" y="242"/>
                    </a:lnTo>
                    <a:lnTo>
                      <a:pt x="391" y="271"/>
                    </a:lnTo>
                    <a:lnTo>
                      <a:pt x="368" y="292"/>
                    </a:lnTo>
                    <a:lnTo>
                      <a:pt x="341" y="323"/>
                    </a:lnTo>
                    <a:lnTo>
                      <a:pt x="322" y="345"/>
                    </a:lnTo>
                    <a:lnTo>
                      <a:pt x="301" y="371"/>
                    </a:lnTo>
                    <a:lnTo>
                      <a:pt x="278" y="399"/>
                    </a:lnTo>
                    <a:lnTo>
                      <a:pt x="259" y="426"/>
                    </a:lnTo>
                    <a:lnTo>
                      <a:pt x="240" y="457"/>
                    </a:lnTo>
                    <a:lnTo>
                      <a:pt x="221" y="487"/>
                    </a:lnTo>
                    <a:lnTo>
                      <a:pt x="202" y="518"/>
                    </a:lnTo>
                    <a:lnTo>
                      <a:pt x="186" y="546"/>
                    </a:lnTo>
                    <a:lnTo>
                      <a:pt x="171" y="580"/>
                    </a:lnTo>
                    <a:lnTo>
                      <a:pt x="157" y="613"/>
                    </a:lnTo>
                    <a:lnTo>
                      <a:pt x="144" y="647"/>
                    </a:lnTo>
                    <a:lnTo>
                      <a:pt x="131" y="684"/>
                    </a:lnTo>
                    <a:lnTo>
                      <a:pt x="116" y="730"/>
                    </a:lnTo>
                    <a:lnTo>
                      <a:pt x="105" y="772"/>
                    </a:lnTo>
                    <a:lnTo>
                      <a:pt x="95" y="816"/>
                    </a:lnTo>
                    <a:lnTo>
                      <a:pt x="89" y="858"/>
                    </a:lnTo>
                    <a:lnTo>
                      <a:pt x="82" y="908"/>
                    </a:lnTo>
                    <a:lnTo>
                      <a:pt x="77" y="970"/>
                    </a:lnTo>
                    <a:lnTo>
                      <a:pt x="76" y="1019"/>
                    </a:lnTo>
                    <a:lnTo>
                      <a:pt x="77" y="1067"/>
                    </a:lnTo>
                    <a:lnTo>
                      <a:pt x="81" y="1112"/>
                    </a:lnTo>
                    <a:lnTo>
                      <a:pt x="86" y="1155"/>
                    </a:lnTo>
                    <a:lnTo>
                      <a:pt x="92" y="1200"/>
                    </a:lnTo>
                    <a:lnTo>
                      <a:pt x="101" y="1245"/>
                    </a:lnTo>
                    <a:lnTo>
                      <a:pt x="114" y="1294"/>
                    </a:lnTo>
                    <a:lnTo>
                      <a:pt x="129" y="1344"/>
                    </a:lnTo>
                    <a:lnTo>
                      <a:pt x="145" y="1391"/>
                    </a:lnTo>
                    <a:lnTo>
                      <a:pt x="163" y="1437"/>
                    </a:lnTo>
                    <a:lnTo>
                      <a:pt x="184" y="1481"/>
                    </a:lnTo>
                    <a:lnTo>
                      <a:pt x="209" y="1524"/>
                    </a:lnTo>
                    <a:lnTo>
                      <a:pt x="0" y="1644"/>
                    </a:lnTo>
                    <a:lnTo>
                      <a:pt x="639" y="1739"/>
                    </a:lnTo>
                    <a:lnTo>
                      <a:pt x="873" y="1146"/>
                    </a:lnTo>
                    <a:lnTo>
                      <a:pt x="628" y="1279"/>
                    </a:lnTo>
                    <a:lnTo>
                      <a:pt x="604" y="1241"/>
                    </a:lnTo>
                    <a:lnTo>
                      <a:pt x="589" y="1207"/>
                    </a:lnTo>
                    <a:lnTo>
                      <a:pt x="576" y="1172"/>
                    </a:lnTo>
                    <a:lnTo>
                      <a:pt x="566" y="1137"/>
                    </a:lnTo>
                    <a:lnTo>
                      <a:pt x="560" y="1103"/>
                    </a:lnTo>
                    <a:lnTo>
                      <a:pt x="558" y="1070"/>
                    </a:lnTo>
                    <a:lnTo>
                      <a:pt x="555" y="1037"/>
                    </a:lnTo>
                    <a:lnTo>
                      <a:pt x="555" y="1004"/>
                    </a:lnTo>
                    <a:lnTo>
                      <a:pt x="557" y="965"/>
                    </a:lnTo>
                    <a:lnTo>
                      <a:pt x="561" y="927"/>
                    </a:lnTo>
                    <a:lnTo>
                      <a:pt x="569" y="884"/>
                    </a:lnTo>
                    <a:lnTo>
                      <a:pt x="579" y="850"/>
                    </a:lnTo>
                    <a:lnTo>
                      <a:pt x="593" y="812"/>
                    </a:lnTo>
                    <a:lnTo>
                      <a:pt x="606" y="779"/>
                    </a:lnTo>
                    <a:lnTo>
                      <a:pt x="624" y="747"/>
                    </a:lnTo>
                    <a:lnTo>
                      <a:pt x="639" y="722"/>
                    </a:lnTo>
                    <a:lnTo>
                      <a:pt x="653" y="702"/>
                    </a:lnTo>
                    <a:lnTo>
                      <a:pt x="668" y="682"/>
                    </a:lnTo>
                    <a:lnTo>
                      <a:pt x="685" y="662"/>
                    </a:lnTo>
                    <a:lnTo>
                      <a:pt x="703" y="641"/>
                    </a:lnTo>
                    <a:lnTo>
                      <a:pt x="719" y="626"/>
                    </a:lnTo>
                    <a:lnTo>
                      <a:pt x="737" y="607"/>
                    </a:lnTo>
                    <a:lnTo>
                      <a:pt x="754" y="592"/>
                    </a:lnTo>
                    <a:lnTo>
                      <a:pt x="776" y="576"/>
                    </a:lnTo>
                    <a:lnTo>
                      <a:pt x="801" y="559"/>
                    </a:lnTo>
                    <a:lnTo>
                      <a:pt x="822" y="545"/>
                    </a:lnTo>
                    <a:lnTo>
                      <a:pt x="840" y="534"/>
                    </a:lnTo>
                    <a:lnTo>
                      <a:pt x="866" y="519"/>
                    </a:lnTo>
                    <a:lnTo>
                      <a:pt x="891" y="509"/>
                    </a:lnTo>
                    <a:lnTo>
                      <a:pt x="931" y="497"/>
                    </a:lnTo>
                    <a:lnTo>
                      <a:pt x="931" y="0"/>
                    </a:lnTo>
                    <a:close/>
                  </a:path>
                </a:pathLst>
              </a:custGeom>
              <a:solidFill>
                <a:srgbClr val="008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81" name="Freeform 50">
                <a:extLst>
                  <a:ext uri="{FF2B5EF4-FFF2-40B4-BE49-F238E27FC236}">
                    <a16:creationId xmlns:a16="http://schemas.microsoft.com/office/drawing/2014/main" id="{CC8A7329-CAAC-4A06-9B6D-BB5F025069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" y="1869"/>
                <a:ext cx="154" cy="157"/>
              </a:xfrm>
              <a:custGeom>
                <a:avLst/>
                <a:gdLst>
                  <a:gd name="T0" fmla="*/ 546 w 1384"/>
                  <a:gd name="T1" fmla="*/ 234 h 1575"/>
                  <a:gd name="T2" fmla="*/ 596 w 1384"/>
                  <a:gd name="T3" fmla="*/ 244 h 1575"/>
                  <a:gd name="T4" fmla="*/ 635 w 1384"/>
                  <a:gd name="T5" fmla="*/ 254 h 1575"/>
                  <a:gd name="T6" fmla="*/ 676 w 1384"/>
                  <a:gd name="T7" fmla="*/ 267 h 1575"/>
                  <a:gd name="T8" fmla="*/ 717 w 1384"/>
                  <a:gd name="T9" fmla="*/ 280 h 1575"/>
                  <a:gd name="T10" fmla="*/ 765 w 1384"/>
                  <a:gd name="T11" fmla="*/ 300 h 1575"/>
                  <a:gd name="T12" fmla="*/ 810 w 1384"/>
                  <a:gd name="T13" fmla="*/ 320 h 1575"/>
                  <a:gd name="T14" fmla="*/ 854 w 1384"/>
                  <a:gd name="T15" fmla="*/ 342 h 1575"/>
                  <a:gd name="T16" fmla="*/ 892 w 1384"/>
                  <a:gd name="T17" fmla="*/ 365 h 1575"/>
                  <a:gd name="T18" fmla="*/ 930 w 1384"/>
                  <a:gd name="T19" fmla="*/ 390 h 1575"/>
                  <a:gd name="T20" fmla="*/ 972 w 1384"/>
                  <a:gd name="T21" fmla="*/ 420 h 1575"/>
                  <a:gd name="T22" fmla="*/ 1009 w 1384"/>
                  <a:gd name="T23" fmla="*/ 448 h 1575"/>
                  <a:gd name="T24" fmla="*/ 1067 w 1384"/>
                  <a:gd name="T25" fmla="*/ 500 h 1575"/>
                  <a:gd name="T26" fmla="*/ 1117 w 1384"/>
                  <a:gd name="T27" fmla="*/ 552 h 1575"/>
                  <a:gd name="T28" fmla="*/ 1157 w 1384"/>
                  <a:gd name="T29" fmla="*/ 600 h 1575"/>
                  <a:gd name="T30" fmla="*/ 1199 w 1384"/>
                  <a:gd name="T31" fmla="*/ 657 h 1575"/>
                  <a:gd name="T32" fmla="*/ 1238 w 1384"/>
                  <a:gd name="T33" fmla="*/ 717 h 1575"/>
                  <a:gd name="T34" fmla="*/ 1272 w 1384"/>
                  <a:gd name="T35" fmla="*/ 777 h 1575"/>
                  <a:gd name="T36" fmla="*/ 1303 w 1384"/>
                  <a:gd name="T37" fmla="*/ 844 h 1575"/>
                  <a:gd name="T38" fmla="*/ 1328 w 1384"/>
                  <a:gd name="T39" fmla="*/ 915 h 1575"/>
                  <a:gd name="T40" fmla="*/ 1354 w 1384"/>
                  <a:gd name="T41" fmla="*/ 1003 h 1575"/>
                  <a:gd name="T42" fmla="*/ 1370 w 1384"/>
                  <a:gd name="T43" fmla="*/ 1089 h 1575"/>
                  <a:gd name="T44" fmla="*/ 1382 w 1384"/>
                  <a:gd name="T45" fmla="*/ 1201 h 1575"/>
                  <a:gd name="T46" fmla="*/ 1382 w 1384"/>
                  <a:gd name="T47" fmla="*/ 1296 h 1575"/>
                  <a:gd name="T48" fmla="*/ 1373 w 1384"/>
                  <a:gd name="T49" fmla="*/ 1385 h 1575"/>
                  <a:gd name="T50" fmla="*/ 1358 w 1384"/>
                  <a:gd name="T51" fmla="*/ 1475 h 1575"/>
                  <a:gd name="T52" fmla="*/ 1330 w 1384"/>
                  <a:gd name="T53" fmla="*/ 1575 h 1575"/>
                  <a:gd name="T54" fmla="*/ 894 w 1384"/>
                  <a:gd name="T55" fmla="*/ 1350 h 1575"/>
                  <a:gd name="T56" fmla="*/ 905 w 1384"/>
                  <a:gd name="T57" fmla="*/ 1268 h 1575"/>
                  <a:gd name="T58" fmla="*/ 903 w 1384"/>
                  <a:gd name="T59" fmla="*/ 1194 h 1575"/>
                  <a:gd name="T60" fmla="*/ 890 w 1384"/>
                  <a:gd name="T61" fmla="*/ 1115 h 1575"/>
                  <a:gd name="T62" fmla="*/ 866 w 1384"/>
                  <a:gd name="T63" fmla="*/ 1042 h 1575"/>
                  <a:gd name="T64" fmla="*/ 835 w 1384"/>
                  <a:gd name="T65" fmla="*/ 978 h 1575"/>
                  <a:gd name="T66" fmla="*/ 806 w 1384"/>
                  <a:gd name="T67" fmla="*/ 933 h 1575"/>
                  <a:gd name="T68" fmla="*/ 774 w 1384"/>
                  <a:gd name="T69" fmla="*/ 893 h 1575"/>
                  <a:gd name="T70" fmla="*/ 740 w 1384"/>
                  <a:gd name="T71" fmla="*/ 856 h 1575"/>
                  <a:gd name="T72" fmla="*/ 704 w 1384"/>
                  <a:gd name="T73" fmla="*/ 822 h 1575"/>
                  <a:gd name="T74" fmla="*/ 657 w 1384"/>
                  <a:gd name="T75" fmla="*/ 791 h 1575"/>
                  <a:gd name="T76" fmla="*/ 618 w 1384"/>
                  <a:gd name="T77" fmla="*/ 766 h 1575"/>
                  <a:gd name="T78" fmla="*/ 569 w 1384"/>
                  <a:gd name="T79" fmla="*/ 742 h 1575"/>
                  <a:gd name="T80" fmla="*/ 528 w 1384"/>
                  <a:gd name="T81" fmla="*/ 727 h 1575"/>
                  <a:gd name="T82" fmla="*/ 467 w 1384"/>
                  <a:gd name="T83" fmla="*/ 714 h 1575"/>
                  <a:gd name="T84" fmla="*/ 406 w 1384"/>
                  <a:gd name="T85" fmla="*/ 709 h 1575"/>
                  <a:gd name="T86" fmla="*/ 389 w 1384"/>
                  <a:gd name="T87" fmla="*/ 964 h 1575"/>
                  <a:gd name="T88" fmla="*/ 388 w 1384"/>
                  <a:gd name="T89" fmla="*/ 0 h 1575"/>
                  <a:gd name="T90" fmla="*/ 409 w 1384"/>
                  <a:gd name="T91" fmla="*/ 221 h 1575"/>
                  <a:gd name="T92" fmla="*/ 471 w 1384"/>
                  <a:gd name="T93" fmla="*/ 224 h 1575"/>
                  <a:gd name="T94" fmla="*/ 527 w 1384"/>
                  <a:gd name="T95" fmla="*/ 230 h 15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384" h="1575">
                    <a:moveTo>
                      <a:pt x="527" y="230"/>
                    </a:moveTo>
                    <a:lnTo>
                      <a:pt x="546" y="234"/>
                    </a:lnTo>
                    <a:lnTo>
                      <a:pt x="571" y="238"/>
                    </a:lnTo>
                    <a:lnTo>
                      <a:pt x="596" y="244"/>
                    </a:lnTo>
                    <a:lnTo>
                      <a:pt x="614" y="249"/>
                    </a:lnTo>
                    <a:lnTo>
                      <a:pt x="635" y="254"/>
                    </a:lnTo>
                    <a:lnTo>
                      <a:pt x="655" y="260"/>
                    </a:lnTo>
                    <a:lnTo>
                      <a:pt x="676" y="267"/>
                    </a:lnTo>
                    <a:lnTo>
                      <a:pt x="695" y="272"/>
                    </a:lnTo>
                    <a:lnTo>
                      <a:pt x="717" y="280"/>
                    </a:lnTo>
                    <a:lnTo>
                      <a:pt x="743" y="291"/>
                    </a:lnTo>
                    <a:lnTo>
                      <a:pt x="765" y="300"/>
                    </a:lnTo>
                    <a:lnTo>
                      <a:pt x="786" y="309"/>
                    </a:lnTo>
                    <a:lnTo>
                      <a:pt x="810" y="320"/>
                    </a:lnTo>
                    <a:lnTo>
                      <a:pt x="833" y="331"/>
                    </a:lnTo>
                    <a:lnTo>
                      <a:pt x="854" y="342"/>
                    </a:lnTo>
                    <a:lnTo>
                      <a:pt x="874" y="355"/>
                    </a:lnTo>
                    <a:lnTo>
                      <a:pt x="892" y="365"/>
                    </a:lnTo>
                    <a:lnTo>
                      <a:pt x="910" y="378"/>
                    </a:lnTo>
                    <a:lnTo>
                      <a:pt x="930" y="390"/>
                    </a:lnTo>
                    <a:lnTo>
                      <a:pt x="952" y="405"/>
                    </a:lnTo>
                    <a:lnTo>
                      <a:pt x="972" y="420"/>
                    </a:lnTo>
                    <a:lnTo>
                      <a:pt x="991" y="435"/>
                    </a:lnTo>
                    <a:lnTo>
                      <a:pt x="1009" y="448"/>
                    </a:lnTo>
                    <a:lnTo>
                      <a:pt x="1037" y="473"/>
                    </a:lnTo>
                    <a:lnTo>
                      <a:pt x="1067" y="500"/>
                    </a:lnTo>
                    <a:lnTo>
                      <a:pt x="1090" y="522"/>
                    </a:lnTo>
                    <a:lnTo>
                      <a:pt x="1117" y="552"/>
                    </a:lnTo>
                    <a:lnTo>
                      <a:pt x="1136" y="575"/>
                    </a:lnTo>
                    <a:lnTo>
                      <a:pt x="1157" y="600"/>
                    </a:lnTo>
                    <a:lnTo>
                      <a:pt x="1180" y="629"/>
                    </a:lnTo>
                    <a:lnTo>
                      <a:pt x="1199" y="657"/>
                    </a:lnTo>
                    <a:lnTo>
                      <a:pt x="1218" y="687"/>
                    </a:lnTo>
                    <a:lnTo>
                      <a:pt x="1238" y="717"/>
                    </a:lnTo>
                    <a:lnTo>
                      <a:pt x="1255" y="749"/>
                    </a:lnTo>
                    <a:lnTo>
                      <a:pt x="1272" y="777"/>
                    </a:lnTo>
                    <a:lnTo>
                      <a:pt x="1288" y="811"/>
                    </a:lnTo>
                    <a:lnTo>
                      <a:pt x="1303" y="844"/>
                    </a:lnTo>
                    <a:lnTo>
                      <a:pt x="1315" y="878"/>
                    </a:lnTo>
                    <a:lnTo>
                      <a:pt x="1328" y="915"/>
                    </a:lnTo>
                    <a:lnTo>
                      <a:pt x="1344" y="961"/>
                    </a:lnTo>
                    <a:lnTo>
                      <a:pt x="1354" y="1003"/>
                    </a:lnTo>
                    <a:lnTo>
                      <a:pt x="1365" y="1047"/>
                    </a:lnTo>
                    <a:lnTo>
                      <a:pt x="1370" y="1089"/>
                    </a:lnTo>
                    <a:lnTo>
                      <a:pt x="1377" y="1139"/>
                    </a:lnTo>
                    <a:lnTo>
                      <a:pt x="1382" y="1201"/>
                    </a:lnTo>
                    <a:lnTo>
                      <a:pt x="1384" y="1249"/>
                    </a:lnTo>
                    <a:lnTo>
                      <a:pt x="1382" y="1296"/>
                    </a:lnTo>
                    <a:lnTo>
                      <a:pt x="1378" y="1342"/>
                    </a:lnTo>
                    <a:lnTo>
                      <a:pt x="1373" y="1385"/>
                    </a:lnTo>
                    <a:lnTo>
                      <a:pt x="1368" y="1429"/>
                    </a:lnTo>
                    <a:lnTo>
                      <a:pt x="1358" y="1475"/>
                    </a:lnTo>
                    <a:lnTo>
                      <a:pt x="1346" y="1524"/>
                    </a:lnTo>
                    <a:lnTo>
                      <a:pt x="1330" y="1575"/>
                    </a:lnTo>
                    <a:lnTo>
                      <a:pt x="1239" y="1290"/>
                    </a:lnTo>
                    <a:lnTo>
                      <a:pt x="894" y="1350"/>
                    </a:lnTo>
                    <a:lnTo>
                      <a:pt x="902" y="1300"/>
                    </a:lnTo>
                    <a:lnTo>
                      <a:pt x="905" y="1268"/>
                    </a:lnTo>
                    <a:lnTo>
                      <a:pt x="905" y="1234"/>
                    </a:lnTo>
                    <a:lnTo>
                      <a:pt x="903" y="1194"/>
                    </a:lnTo>
                    <a:lnTo>
                      <a:pt x="897" y="1157"/>
                    </a:lnTo>
                    <a:lnTo>
                      <a:pt x="890" y="1115"/>
                    </a:lnTo>
                    <a:lnTo>
                      <a:pt x="881" y="1081"/>
                    </a:lnTo>
                    <a:lnTo>
                      <a:pt x="866" y="1042"/>
                    </a:lnTo>
                    <a:lnTo>
                      <a:pt x="852" y="1009"/>
                    </a:lnTo>
                    <a:lnTo>
                      <a:pt x="835" y="978"/>
                    </a:lnTo>
                    <a:lnTo>
                      <a:pt x="821" y="953"/>
                    </a:lnTo>
                    <a:lnTo>
                      <a:pt x="806" y="933"/>
                    </a:lnTo>
                    <a:lnTo>
                      <a:pt x="791" y="913"/>
                    </a:lnTo>
                    <a:lnTo>
                      <a:pt x="774" y="893"/>
                    </a:lnTo>
                    <a:lnTo>
                      <a:pt x="755" y="871"/>
                    </a:lnTo>
                    <a:lnTo>
                      <a:pt x="740" y="856"/>
                    </a:lnTo>
                    <a:lnTo>
                      <a:pt x="722" y="838"/>
                    </a:lnTo>
                    <a:lnTo>
                      <a:pt x="704" y="822"/>
                    </a:lnTo>
                    <a:lnTo>
                      <a:pt x="683" y="806"/>
                    </a:lnTo>
                    <a:lnTo>
                      <a:pt x="657" y="791"/>
                    </a:lnTo>
                    <a:lnTo>
                      <a:pt x="636" y="776"/>
                    </a:lnTo>
                    <a:lnTo>
                      <a:pt x="618" y="766"/>
                    </a:lnTo>
                    <a:lnTo>
                      <a:pt x="592" y="750"/>
                    </a:lnTo>
                    <a:lnTo>
                      <a:pt x="569" y="742"/>
                    </a:lnTo>
                    <a:lnTo>
                      <a:pt x="549" y="734"/>
                    </a:lnTo>
                    <a:lnTo>
                      <a:pt x="528" y="727"/>
                    </a:lnTo>
                    <a:lnTo>
                      <a:pt x="496" y="719"/>
                    </a:lnTo>
                    <a:lnTo>
                      <a:pt x="467" y="714"/>
                    </a:lnTo>
                    <a:lnTo>
                      <a:pt x="436" y="711"/>
                    </a:lnTo>
                    <a:lnTo>
                      <a:pt x="406" y="709"/>
                    </a:lnTo>
                    <a:lnTo>
                      <a:pt x="389" y="708"/>
                    </a:lnTo>
                    <a:lnTo>
                      <a:pt x="389" y="964"/>
                    </a:lnTo>
                    <a:lnTo>
                      <a:pt x="0" y="489"/>
                    </a:lnTo>
                    <a:lnTo>
                      <a:pt x="388" y="0"/>
                    </a:lnTo>
                    <a:lnTo>
                      <a:pt x="388" y="220"/>
                    </a:lnTo>
                    <a:lnTo>
                      <a:pt x="409" y="221"/>
                    </a:lnTo>
                    <a:lnTo>
                      <a:pt x="440" y="222"/>
                    </a:lnTo>
                    <a:lnTo>
                      <a:pt x="471" y="224"/>
                    </a:lnTo>
                    <a:lnTo>
                      <a:pt x="502" y="227"/>
                    </a:lnTo>
                    <a:lnTo>
                      <a:pt x="527" y="230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</p:grpSp>
        <p:sp>
          <p:nvSpPr>
            <p:cNvPr id="82" name="Text Box 51">
              <a:extLst>
                <a:ext uri="{FF2B5EF4-FFF2-40B4-BE49-F238E27FC236}">
                  <a16:creationId xmlns:a16="http://schemas.microsoft.com/office/drawing/2014/main" id="{3F06E7CE-82F9-41AE-94FC-4B60D72B17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26431" y="2910595"/>
              <a:ext cx="798617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100" b="1" dirty="0">
                  <a:latin typeface="+mj-ea"/>
                  <a:ea typeface="+mj-ea"/>
                </a:rPr>
                <a:t>단위 시험</a:t>
              </a:r>
            </a:p>
            <a:p>
              <a:pPr 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100" b="1" dirty="0">
                  <a:latin typeface="+mj-ea"/>
                  <a:ea typeface="+mj-ea"/>
                </a:rPr>
                <a:t>반복</a:t>
              </a:r>
            </a:p>
          </p:txBody>
        </p:sp>
        <p:sp>
          <p:nvSpPr>
            <p:cNvPr id="83" name="Text Box 52">
              <a:extLst>
                <a:ext uri="{FF2B5EF4-FFF2-40B4-BE49-F238E27FC236}">
                  <a16:creationId xmlns:a16="http://schemas.microsoft.com/office/drawing/2014/main" id="{B9FF7E60-BBEC-41B3-AD40-447CA0581F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82787" y="4228220"/>
              <a:ext cx="798617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100" b="1" dirty="0">
                  <a:latin typeface="+mj-ea"/>
                  <a:ea typeface="+mj-ea"/>
                </a:rPr>
                <a:t>개발 반복</a:t>
              </a:r>
              <a:endParaRPr lang="en-US" altLang="ko-KR" sz="1100" b="1" dirty="0">
                <a:latin typeface="+mj-ea"/>
                <a:ea typeface="+mj-ea"/>
              </a:endParaRPr>
            </a:p>
            <a:p>
              <a:pPr 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sz="1100" b="1" dirty="0">
                  <a:latin typeface="+mj-ea"/>
                  <a:ea typeface="+mj-ea"/>
                </a:rPr>
                <a:t>시험 반복</a:t>
              </a:r>
            </a:p>
          </p:txBody>
        </p:sp>
        <p:sp>
          <p:nvSpPr>
            <p:cNvPr id="84" name="AutoShape 57">
              <a:extLst>
                <a:ext uri="{FF2B5EF4-FFF2-40B4-BE49-F238E27FC236}">
                  <a16:creationId xmlns:a16="http://schemas.microsoft.com/office/drawing/2014/main" id="{798F5EA6-D84B-4F53-A315-958D23011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3288" y="3586870"/>
              <a:ext cx="576262" cy="434975"/>
            </a:xfrm>
            <a:prstGeom prst="downArrow">
              <a:avLst>
                <a:gd name="adj1" fmla="val 53593"/>
                <a:gd name="adj2" fmla="val 36597"/>
              </a:avLst>
            </a:prstGeom>
            <a:gradFill rotWithShape="0">
              <a:gsLst>
                <a:gs pos="0">
                  <a:srgbClr val="0066CC">
                    <a:gamma/>
                    <a:tint val="0"/>
                    <a:invGamma/>
                  </a:srgbClr>
                </a:gs>
                <a:gs pos="100000">
                  <a:srgbClr val="0066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85" name="AutoShape 58">
              <a:extLst>
                <a:ext uri="{FF2B5EF4-FFF2-40B4-BE49-F238E27FC236}">
                  <a16:creationId xmlns:a16="http://schemas.microsoft.com/office/drawing/2014/main" id="{F4C680E0-9296-4E8E-8A61-C55E24ACE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3288" y="2308932"/>
              <a:ext cx="576262" cy="434975"/>
            </a:xfrm>
            <a:prstGeom prst="downArrow">
              <a:avLst>
                <a:gd name="adj1" fmla="val 53593"/>
                <a:gd name="adj2" fmla="val 36597"/>
              </a:avLst>
            </a:prstGeom>
            <a:gradFill rotWithShape="0">
              <a:gsLst>
                <a:gs pos="0">
                  <a:srgbClr val="0066CC">
                    <a:gamma/>
                    <a:tint val="0"/>
                    <a:invGamma/>
                  </a:srgbClr>
                </a:gs>
                <a:gs pos="100000">
                  <a:srgbClr val="0066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86" name="AutoShape 59">
              <a:extLst>
                <a:ext uri="{FF2B5EF4-FFF2-40B4-BE49-F238E27FC236}">
                  <a16:creationId xmlns:a16="http://schemas.microsoft.com/office/drawing/2014/main" id="{B7E7777C-02B9-4961-B498-81941A6248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3288" y="4918782"/>
              <a:ext cx="576262" cy="434975"/>
            </a:xfrm>
            <a:prstGeom prst="downArrow">
              <a:avLst>
                <a:gd name="adj1" fmla="val 53593"/>
                <a:gd name="adj2" fmla="val 36597"/>
              </a:avLst>
            </a:prstGeom>
            <a:gradFill rotWithShape="0">
              <a:gsLst>
                <a:gs pos="0">
                  <a:srgbClr val="0066CC">
                    <a:gamma/>
                    <a:tint val="0"/>
                    <a:invGamma/>
                  </a:srgbClr>
                </a:gs>
                <a:gs pos="100000">
                  <a:srgbClr val="0066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grpSp>
          <p:nvGrpSpPr>
            <p:cNvPr id="87" name="Group 60">
              <a:extLst>
                <a:ext uri="{FF2B5EF4-FFF2-40B4-BE49-F238E27FC236}">
                  <a16:creationId xmlns:a16="http://schemas.microsoft.com/office/drawing/2014/main" id="{0D2A1E91-3BF1-4022-B602-60A01FFF68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84526" y="1575506"/>
              <a:ext cx="1228725" cy="630238"/>
              <a:chOff x="978" y="3456"/>
              <a:chExt cx="1081" cy="227"/>
            </a:xfrm>
          </p:grpSpPr>
          <p:sp>
            <p:nvSpPr>
              <p:cNvPr id="88" name="AutoShape 61">
                <a:extLst>
                  <a:ext uri="{FF2B5EF4-FFF2-40B4-BE49-F238E27FC236}">
                    <a16:creationId xmlns:a16="http://schemas.microsoft.com/office/drawing/2014/main" id="{6BA0E65A-F230-4105-8BCB-FC2DD10667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8" y="3456"/>
                <a:ext cx="1081" cy="227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7" dist="17961" dir="27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89" name="AutoShape 62">
                <a:extLst>
                  <a:ext uri="{FF2B5EF4-FFF2-40B4-BE49-F238E27FC236}">
                    <a16:creationId xmlns:a16="http://schemas.microsoft.com/office/drawing/2014/main" id="{6F887264-6F11-4F4F-8F74-E9E56940C3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4" y="3465"/>
                <a:ext cx="1049" cy="210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8" dist="17961" dir="135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</p:grpSp>
        <p:grpSp>
          <p:nvGrpSpPr>
            <p:cNvPr id="90" name="Group 63">
              <a:extLst>
                <a:ext uri="{FF2B5EF4-FFF2-40B4-BE49-F238E27FC236}">
                  <a16:creationId xmlns:a16="http://schemas.microsoft.com/office/drawing/2014/main" id="{53CC8C97-BBDE-447F-9C49-919FA6BA99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41663" y="1529470"/>
              <a:ext cx="1230312" cy="631825"/>
              <a:chOff x="978" y="3456"/>
              <a:chExt cx="1081" cy="227"/>
            </a:xfrm>
          </p:grpSpPr>
          <p:sp>
            <p:nvSpPr>
              <p:cNvPr id="91" name="AutoShape 64">
                <a:extLst>
                  <a:ext uri="{FF2B5EF4-FFF2-40B4-BE49-F238E27FC236}">
                    <a16:creationId xmlns:a16="http://schemas.microsoft.com/office/drawing/2014/main" id="{0DC9BDBF-A619-4FDB-8B17-1119286CCE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8" y="3456"/>
                <a:ext cx="1081" cy="227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7" dist="17961" dir="27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92" name="AutoShape 65">
                <a:extLst>
                  <a:ext uri="{FF2B5EF4-FFF2-40B4-BE49-F238E27FC236}">
                    <a16:creationId xmlns:a16="http://schemas.microsoft.com/office/drawing/2014/main" id="{903147B7-6407-4943-9DBC-B78056D627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4" y="3465"/>
                <a:ext cx="1049" cy="210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8" dist="17961" dir="135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</p:grpSp>
        <p:grpSp>
          <p:nvGrpSpPr>
            <p:cNvPr id="93" name="Group 66">
              <a:extLst>
                <a:ext uri="{FF2B5EF4-FFF2-40B4-BE49-F238E27FC236}">
                  <a16:creationId xmlns:a16="http://schemas.microsoft.com/office/drawing/2014/main" id="{D0A74DD3-F5F4-4942-8825-351D914D0D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97213" y="1483432"/>
              <a:ext cx="1231900" cy="631825"/>
              <a:chOff x="978" y="3456"/>
              <a:chExt cx="1081" cy="227"/>
            </a:xfrm>
          </p:grpSpPr>
          <p:sp>
            <p:nvSpPr>
              <p:cNvPr id="94" name="AutoShape 67">
                <a:extLst>
                  <a:ext uri="{FF2B5EF4-FFF2-40B4-BE49-F238E27FC236}">
                    <a16:creationId xmlns:a16="http://schemas.microsoft.com/office/drawing/2014/main" id="{206FC526-D36F-4D1E-9A5F-694F664393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8" y="3456"/>
                <a:ext cx="1081" cy="227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7" dist="17961" dir="27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  <p:sp>
            <p:nvSpPr>
              <p:cNvPr id="95" name="AutoShape 68">
                <a:extLst>
                  <a:ext uri="{FF2B5EF4-FFF2-40B4-BE49-F238E27FC236}">
                    <a16:creationId xmlns:a16="http://schemas.microsoft.com/office/drawing/2014/main" id="{42E37220-572D-430B-8526-E5ADAF98D8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4" y="3465"/>
                <a:ext cx="1049" cy="210"/>
              </a:xfrm>
              <a:prstGeom prst="roundRect">
                <a:avLst>
                  <a:gd name="adj" fmla="val 16667"/>
                </a:avLst>
              </a:prstGeom>
              <a:solidFill>
                <a:srgbClr val="FFE161"/>
              </a:solidFill>
              <a:ln>
                <a:noFill/>
              </a:ln>
              <a:effectLst>
                <a:prstShdw prst="shdw18" dist="17961" dir="13500000">
                  <a:srgbClr val="FFE161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CC99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ko-KR" altLang="en-US">
                  <a:latin typeface="+mj-ea"/>
                  <a:ea typeface="+mj-ea"/>
                </a:endParaRPr>
              </a:p>
            </p:txBody>
          </p:sp>
        </p:grpSp>
        <p:sp>
          <p:nvSpPr>
            <p:cNvPr id="96" name="Text Box 69">
              <a:extLst>
                <a:ext uri="{FF2B5EF4-FFF2-40B4-BE49-F238E27FC236}">
                  <a16:creationId xmlns:a16="http://schemas.microsoft.com/office/drawing/2014/main" id="{7BB9FA30-30CC-49BB-8FBD-2BC3624FEC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07461" y="1645356"/>
              <a:ext cx="64633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ko-KR" altLang="en-US" b="1" dirty="0">
                  <a:latin typeface="+mj-ea"/>
                  <a:ea typeface="+mj-ea"/>
                </a:rPr>
                <a:t>분석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9152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88AB89-DA06-4C08-A2FC-EB4BD46C1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프로세스 상세</a:t>
            </a: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D6680890-0D42-4626-9BF7-A3AC4E98CA5F}"/>
              </a:ext>
            </a:extLst>
          </p:cNvPr>
          <p:cNvGrpSpPr/>
          <p:nvPr/>
        </p:nvGrpSpPr>
        <p:grpSpPr>
          <a:xfrm>
            <a:off x="292434" y="1165633"/>
            <a:ext cx="2780914" cy="3392475"/>
            <a:chOff x="485775" y="2181225"/>
            <a:chExt cx="2780914" cy="3392475"/>
          </a:xfrm>
        </p:grpSpPr>
        <p:sp>
          <p:nvSpPr>
            <p:cNvPr id="104" name="Rectangle 205">
              <a:extLst>
                <a:ext uri="{FF2B5EF4-FFF2-40B4-BE49-F238E27FC236}">
                  <a16:creationId xmlns:a16="http://schemas.microsoft.com/office/drawing/2014/main" id="{79E1EDB3-8468-4FA1-8DBD-ED2EF57D29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775" y="2181225"/>
              <a:ext cx="2780914" cy="3392475"/>
            </a:xfrm>
            <a:prstGeom prst="rect">
              <a:avLst/>
            </a:prstGeom>
            <a:solidFill>
              <a:srgbClr val="A0B7E6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5" name="Arc 206">
              <a:extLst>
                <a:ext uri="{FF2B5EF4-FFF2-40B4-BE49-F238E27FC236}">
                  <a16:creationId xmlns:a16="http://schemas.microsoft.com/office/drawing/2014/main" id="{3075EC91-AD8F-4526-8468-65FFA39F5C7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90121" y="2260771"/>
              <a:ext cx="833115" cy="57302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DAE3F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DAE3F6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lIns="127115" tIns="63558" rIns="127115" bIns="63558">
              <a:spAutoFit/>
            </a:bodyPr>
            <a:lstStyle/>
            <a:p>
              <a:endParaRPr lang="ko-KR" altLang="en-US"/>
            </a:p>
          </p:txBody>
        </p:sp>
        <p:sp>
          <p:nvSpPr>
            <p:cNvPr id="106" name="AutoShape 207">
              <a:extLst>
                <a:ext uri="{FF2B5EF4-FFF2-40B4-BE49-F238E27FC236}">
                  <a16:creationId xmlns:a16="http://schemas.microsoft.com/office/drawing/2014/main" id="{2BFE4E86-6F46-4077-9C4E-74BC5F303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8641" y="2266663"/>
              <a:ext cx="1830202" cy="3236330"/>
            </a:xfrm>
            <a:prstGeom prst="roundRect">
              <a:avLst>
                <a:gd name="adj" fmla="val 0"/>
              </a:avLst>
            </a:prstGeom>
            <a:solidFill>
              <a:srgbClr val="DAE3F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DAE3F6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lIns="127115" tIns="63558" rIns="127115" bIns="63558">
              <a:spAutoFit/>
            </a:bodyPr>
            <a:lstStyle/>
            <a:p>
              <a:endParaRPr lang="ko-KR" altLang="en-US"/>
            </a:p>
          </p:txBody>
        </p:sp>
        <p:sp>
          <p:nvSpPr>
            <p:cNvPr id="107" name="Rectangle 208">
              <a:extLst>
                <a:ext uri="{FF2B5EF4-FFF2-40B4-BE49-F238E27FC236}">
                  <a16:creationId xmlns:a16="http://schemas.microsoft.com/office/drawing/2014/main" id="{49999F46-64DD-49F6-A07F-66FC21F03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121" y="2777817"/>
              <a:ext cx="1452568" cy="2725175"/>
            </a:xfrm>
            <a:prstGeom prst="rect">
              <a:avLst/>
            </a:prstGeom>
            <a:solidFill>
              <a:srgbClr val="DAE3F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DAE3F6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lIns="127115" tIns="63558" rIns="127115" bIns="63558">
              <a:spAutoFit/>
            </a:bodyPr>
            <a:lstStyle/>
            <a:p>
              <a:endParaRPr lang="ko-KR" altLang="en-US"/>
            </a:p>
          </p:txBody>
        </p:sp>
        <p:grpSp>
          <p:nvGrpSpPr>
            <p:cNvPr id="108" name="Group 213">
              <a:extLst>
                <a:ext uri="{FF2B5EF4-FFF2-40B4-BE49-F238E27FC236}">
                  <a16:creationId xmlns:a16="http://schemas.microsoft.com/office/drawing/2014/main" id="{011B70D5-39D4-42DF-ABF6-771752259A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5588" y="2251932"/>
              <a:ext cx="1891485" cy="290194"/>
              <a:chOff x="306" y="1284"/>
              <a:chExt cx="1122" cy="198"/>
            </a:xfrm>
          </p:grpSpPr>
          <p:grpSp>
            <p:nvGrpSpPr>
              <p:cNvPr id="126" name="Group 214">
                <a:extLst>
                  <a:ext uri="{FF2B5EF4-FFF2-40B4-BE49-F238E27FC236}">
                    <a16:creationId xmlns:a16="http://schemas.microsoft.com/office/drawing/2014/main" id="{B56D4EC4-E528-4FF6-BEF6-0E3E0351A4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6" y="1284"/>
                <a:ext cx="259" cy="198"/>
                <a:chOff x="1788" y="3162"/>
                <a:chExt cx="259" cy="198"/>
              </a:xfrm>
            </p:grpSpPr>
            <p:pic>
              <p:nvPicPr>
                <p:cNvPr id="129" name="Picture 215" descr="C:\1_한진\한진\작업이미지\종합\itled-2.jpg">
                  <a:extLst>
                    <a:ext uri="{FF2B5EF4-FFF2-40B4-BE49-F238E27FC236}">
                      <a16:creationId xmlns:a16="http://schemas.microsoft.com/office/drawing/2014/main" id="{149AD1F0-8B41-4971-A492-9158CFB9B66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88" y="3162"/>
                  <a:ext cx="213" cy="19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30" name="Text Box 216">
                  <a:extLst>
                    <a:ext uri="{FF2B5EF4-FFF2-40B4-BE49-F238E27FC236}">
                      <a16:creationId xmlns:a16="http://schemas.microsoft.com/office/drawing/2014/main" id="{37DC71C0-4AB7-4E96-8F0C-9E03459635F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07" y="3181"/>
                  <a:ext cx="240" cy="178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dist="17961" dir="2700000" algn="ctr" rotWithShape="0">
                    <a:schemeClr val="tx1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 algn="l" latinLnBrk="1">
                    <a:lnSpc>
                      <a:spcPct val="100000"/>
                    </a:lnSpc>
                    <a:spcBef>
                      <a:spcPct val="50000"/>
                    </a:spcBef>
                  </a:pPr>
                  <a:r>
                    <a:rPr lang="en-US" altLang="ko-KR" sz="1100" i="1">
                      <a:solidFill>
                        <a:schemeClr val="bg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1</a:t>
                  </a:r>
                </a:p>
              </p:txBody>
            </p:sp>
          </p:grpSp>
          <p:sp>
            <p:nvSpPr>
              <p:cNvPr id="127" name="Text Box 217">
                <a:extLst>
                  <a:ext uri="{FF2B5EF4-FFF2-40B4-BE49-F238E27FC236}">
                    <a16:creationId xmlns:a16="http://schemas.microsoft.com/office/drawing/2014/main" id="{0D0C5A18-0DEE-4EE6-A17F-C2F9B72465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1" y="1296"/>
                <a:ext cx="261" cy="1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latinLnBrk="1">
                  <a:lnSpc>
                    <a:spcPct val="100000"/>
                  </a:lnSpc>
                </a:pPr>
                <a:r>
                  <a:rPr lang="ko-KR" altLang="en-US" dirty="0"/>
                  <a:t>분석</a:t>
                </a:r>
              </a:p>
            </p:txBody>
          </p:sp>
          <p:sp>
            <p:nvSpPr>
              <p:cNvPr id="128" name="Line 218">
                <a:extLst>
                  <a:ext uri="{FF2B5EF4-FFF2-40B4-BE49-F238E27FC236}">
                    <a16:creationId xmlns:a16="http://schemas.microsoft.com/office/drawing/2014/main" id="{0785832B-5908-4412-993F-302320C7E0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2" y="1426"/>
                <a:ext cx="976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</p:grpSp>
        <p:sp>
          <p:nvSpPr>
            <p:cNvPr id="109" name="Rectangle 235">
              <a:extLst>
                <a:ext uri="{FF2B5EF4-FFF2-40B4-BE49-F238E27FC236}">
                  <a16:creationId xmlns:a16="http://schemas.microsoft.com/office/drawing/2014/main" id="{18FD00DD-1701-43ED-839F-36158C4F7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791" y="3100419"/>
              <a:ext cx="1450912" cy="2106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 latinLnBrk="1">
                <a:lnSpc>
                  <a:spcPct val="100000"/>
                </a:lnSpc>
              </a:pPr>
              <a:r>
                <a: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단계 관리</a:t>
              </a:r>
            </a:p>
          </p:txBody>
        </p:sp>
        <p:sp>
          <p:nvSpPr>
            <p:cNvPr id="110" name="Rectangle 236">
              <a:extLst>
                <a:ext uri="{FF2B5EF4-FFF2-40B4-BE49-F238E27FC236}">
                  <a16:creationId xmlns:a16="http://schemas.microsoft.com/office/drawing/2014/main" id="{D857C783-0B06-4FBD-9999-7433EBAF40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791" y="2606942"/>
              <a:ext cx="1450912" cy="3520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 latinLnBrk="1">
                <a:lnSpc>
                  <a:spcPct val="100000"/>
                </a:lnSpc>
              </a:pPr>
              <a:r>
                <a: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프로젝트 착수</a:t>
              </a:r>
            </a:p>
            <a:p>
              <a:pPr algn="ctr" latinLnBrk="1">
                <a:lnSpc>
                  <a:spcPct val="100000"/>
                </a:lnSpc>
              </a:pPr>
              <a:r>
                <a: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및 계획 수립</a:t>
              </a:r>
            </a:p>
          </p:txBody>
        </p:sp>
        <p:sp>
          <p:nvSpPr>
            <p:cNvPr id="111" name="Rectangle 237">
              <a:extLst>
                <a:ext uri="{FF2B5EF4-FFF2-40B4-BE49-F238E27FC236}">
                  <a16:creationId xmlns:a16="http://schemas.microsoft.com/office/drawing/2014/main" id="{513B9EDB-F115-41BA-9902-1F0D65775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281" y="3524663"/>
              <a:ext cx="1033526" cy="4949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 latinLnBrk="1">
                <a:lnSpc>
                  <a:spcPct val="100000"/>
                </a:lnSpc>
              </a:pPr>
              <a:r>
                <a:rPr lang="ko-KR" altLang="en-US" sz="900" dirty="0" err="1">
                  <a:latin typeface="굴림" panose="020B0600000101010101" pitchFamily="50" charset="-127"/>
                  <a:ea typeface="굴림" panose="020B0600000101010101" pitchFamily="50" charset="-127"/>
                </a:rPr>
                <a:t>아키텍쳐</a:t>
              </a:r>
              <a:r>
                <a: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 검증</a:t>
              </a:r>
            </a:p>
          </p:txBody>
        </p:sp>
        <p:sp>
          <p:nvSpPr>
            <p:cNvPr id="112" name="Rectangle 238">
              <a:extLst>
                <a:ext uri="{FF2B5EF4-FFF2-40B4-BE49-F238E27FC236}">
                  <a16:creationId xmlns:a16="http://schemas.microsoft.com/office/drawing/2014/main" id="{28241E24-0D15-4754-A5E9-62F6884AD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6313" y="3524663"/>
              <a:ext cx="1033526" cy="49495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 latinLnBrk="1">
                <a:lnSpc>
                  <a:spcPct val="100000"/>
                </a:lnSpc>
              </a:pPr>
              <a:r>
                <a: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요구기능과의</a:t>
              </a:r>
            </a:p>
            <a:p>
              <a:pPr algn="ctr" latinLnBrk="1">
                <a:lnSpc>
                  <a:spcPct val="100000"/>
                </a:lnSpc>
              </a:pPr>
              <a:r>
                <a:rPr lang="en-US" altLang="ko-KR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Gap </a:t>
              </a:r>
              <a:r>
                <a: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도출</a:t>
              </a:r>
            </a:p>
          </p:txBody>
        </p:sp>
        <p:sp>
          <p:nvSpPr>
            <p:cNvPr id="113" name="Rectangle 240">
              <a:extLst>
                <a:ext uri="{FF2B5EF4-FFF2-40B4-BE49-F238E27FC236}">
                  <a16:creationId xmlns:a16="http://schemas.microsoft.com/office/drawing/2014/main" id="{4C4C3FB1-B9F8-4D08-864E-642FC8DFD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791" y="4231735"/>
              <a:ext cx="1450912" cy="2106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 latinLnBrk="1">
                <a:lnSpc>
                  <a:spcPct val="100000"/>
                </a:lnSpc>
              </a:pPr>
              <a:r>
                <a: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요구사항 정의</a:t>
              </a:r>
            </a:p>
          </p:txBody>
        </p:sp>
        <p:sp>
          <p:nvSpPr>
            <p:cNvPr id="114" name="Rectangle 241">
              <a:extLst>
                <a:ext uri="{FF2B5EF4-FFF2-40B4-BE49-F238E27FC236}">
                  <a16:creationId xmlns:a16="http://schemas.microsoft.com/office/drawing/2014/main" id="{827CE94C-21E9-44F9-A8B5-7FB773075A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791" y="5223110"/>
              <a:ext cx="1450912" cy="2106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단계 종료 평가</a:t>
              </a:r>
            </a:p>
          </p:txBody>
        </p:sp>
        <p:cxnSp>
          <p:nvCxnSpPr>
            <p:cNvPr id="115" name="AutoShape 242">
              <a:extLst>
                <a:ext uri="{FF2B5EF4-FFF2-40B4-BE49-F238E27FC236}">
                  <a16:creationId xmlns:a16="http://schemas.microsoft.com/office/drawing/2014/main" id="{997CD5CD-DB8C-4EBD-AE38-7BAC13DE3333}"/>
                </a:ext>
              </a:extLst>
            </p:cNvPr>
            <p:cNvCxnSpPr>
              <a:cxnSpLocks noChangeShapeType="1"/>
              <a:stCxn id="110" idx="2"/>
              <a:endCxn id="109" idx="0"/>
            </p:cNvCxnSpPr>
            <p:nvPr/>
          </p:nvCxnSpPr>
          <p:spPr bwMode="auto">
            <a:xfrm>
              <a:off x="1847247" y="2959005"/>
              <a:ext cx="0" cy="14141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16" name="AutoShape 287">
              <a:extLst>
                <a:ext uri="{FF2B5EF4-FFF2-40B4-BE49-F238E27FC236}">
                  <a16:creationId xmlns:a16="http://schemas.microsoft.com/office/drawing/2014/main" id="{5798F0B7-8C90-421D-BD44-62822633D1C3}"/>
                </a:ext>
              </a:extLst>
            </p:cNvPr>
            <p:cNvCxnSpPr>
              <a:cxnSpLocks noChangeShapeType="1"/>
              <a:stCxn id="109" idx="2"/>
              <a:endCxn id="111" idx="0"/>
            </p:cNvCxnSpPr>
            <p:nvPr/>
          </p:nvCxnSpPr>
          <p:spPr bwMode="auto">
            <a:xfrm rot="5400000">
              <a:off x="1436520" y="3115501"/>
              <a:ext cx="213595" cy="606203"/>
            </a:xfrm>
            <a:prstGeom prst="bentConnector3">
              <a:avLst>
                <a:gd name="adj1" fmla="val 49657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17" name="AutoShape 288">
              <a:extLst>
                <a:ext uri="{FF2B5EF4-FFF2-40B4-BE49-F238E27FC236}">
                  <a16:creationId xmlns:a16="http://schemas.microsoft.com/office/drawing/2014/main" id="{040704A9-F6E9-4DF8-BB86-AE4079A99141}"/>
                </a:ext>
              </a:extLst>
            </p:cNvPr>
            <p:cNvCxnSpPr>
              <a:cxnSpLocks noChangeShapeType="1"/>
              <a:stCxn id="109" idx="2"/>
              <a:endCxn id="112" idx="0"/>
            </p:cNvCxnSpPr>
            <p:nvPr/>
          </p:nvCxnSpPr>
          <p:spPr bwMode="auto">
            <a:xfrm rot="16200000" flipH="1">
              <a:off x="2072536" y="3085687"/>
              <a:ext cx="213595" cy="665829"/>
            </a:xfrm>
            <a:prstGeom prst="bentConnector3">
              <a:avLst>
                <a:gd name="adj1" fmla="val 49657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18" name="AutoShape 289">
              <a:extLst>
                <a:ext uri="{FF2B5EF4-FFF2-40B4-BE49-F238E27FC236}">
                  <a16:creationId xmlns:a16="http://schemas.microsoft.com/office/drawing/2014/main" id="{8CD7C0C0-0163-42EA-A1F3-A47C2D2701C3}"/>
                </a:ext>
              </a:extLst>
            </p:cNvPr>
            <p:cNvCxnSpPr>
              <a:cxnSpLocks noChangeShapeType="1"/>
              <a:stCxn id="111" idx="2"/>
              <a:endCxn id="113" idx="0"/>
            </p:cNvCxnSpPr>
            <p:nvPr/>
          </p:nvCxnSpPr>
          <p:spPr bwMode="auto">
            <a:xfrm rot="16200000" flipH="1">
              <a:off x="1438085" y="3822573"/>
              <a:ext cx="212122" cy="606203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19" name="AutoShape 290">
              <a:extLst>
                <a:ext uri="{FF2B5EF4-FFF2-40B4-BE49-F238E27FC236}">
                  <a16:creationId xmlns:a16="http://schemas.microsoft.com/office/drawing/2014/main" id="{9A8585FD-F301-40A6-8B60-DB711BA92EF7}"/>
                </a:ext>
              </a:extLst>
            </p:cNvPr>
            <p:cNvCxnSpPr>
              <a:cxnSpLocks noChangeShapeType="1"/>
              <a:stCxn id="112" idx="2"/>
              <a:endCxn id="113" idx="0"/>
            </p:cNvCxnSpPr>
            <p:nvPr/>
          </p:nvCxnSpPr>
          <p:spPr bwMode="auto">
            <a:xfrm rot="5400000">
              <a:off x="2074101" y="3792760"/>
              <a:ext cx="212122" cy="665829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20" name="Rectangle 292">
              <a:extLst>
                <a:ext uri="{FF2B5EF4-FFF2-40B4-BE49-F238E27FC236}">
                  <a16:creationId xmlns:a16="http://schemas.microsoft.com/office/drawing/2014/main" id="{C25FEE29-C4F7-4265-83A8-791FC5BF9C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779" y="4655979"/>
              <a:ext cx="1192530" cy="21212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논리 모델 구축</a:t>
              </a:r>
            </a:p>
          </p:txBody>
        </p:sp>
        <p:sp>
          <p:nvSpPr>
            <p:cNvPr id="121" name="Rectangle 293">
              <a:extLst>
                <a:ext uri="{FF2B5EF4-FFF2-40B4-BE49-F238E27FC236}">
                  <a16:creationId xmlns:a16="http://schemas.microsoft.com/office/drawing/2014/main" id="{939820EB-47DD-4B58-9BEA-9B2274B2E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6811" y="4655979"/>
              <a:ext cx="1212406" cy="2106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개발 표준 정의</a:t>
              </a:r>
            </a:p>
          </p:txBody>
        </p:sp>
        <p:cxnSp>
          <p:nvCxnSpPr>
            <p:cNvPr id="122" name="AutoShape 295">
              <a:extLst>
                <a:ext uri="{FF2B5EF4-FFF2-40B4-BE49-F238E27FC236}">
                  <a16:creationId xmlns:a16="http://schemas.microsoft.com/office/drawing/2014/main" id="{F8A9EB44-6E27-4FCB-8C00-FE5BA0D6F4D7}"/>
                </a:ext>
              </a:extLst>
            </p:cNvPr>
            <p:cNvCxnSpPr>
              <a:cxnSpLocks noChangeShapeType="1"/>
              <a:stCxn id="113" idx="2"/>
              <a:endCxn id="120" idx="0"/>
            </p:cNvCxnSpPr>
            <p:nvPr/>
          </p:nvCxnSpPr>
          <p:spPr bwMode="auto">
            <a:xfrm rot="5400000">
              <a:off x="1436520" y="4246817"/>
              <a:ext cx="213595" cy="606203"/>
            </a:xfrm>
            <a:prstGeom prst="bentConnector3">
              <a:avLst>
                <a:gd name="adj1" fmla="val 4965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3" name="AutoShape 296">
              <a:extLst>
                <a:ext uri="{FF2B5EF4-FFF2-40B4-BE49-F238E27FC236}">
                  <a16:creationId xmlns:a16="http://schemas.microsoft.com/office/drawing/2014/main" id="{942C2C17-BCE6-4B91-85E8-6D7FDEAB10C2}"/>
                </a:ext>
              </a:extLst>
            </p:cNvPr>
            <p:cNvCxnSpPr>
              <a:cxnSpLocks noChangeShapeType="1"/>
              <a:stCxn id="113" idx="2"/>
              <a:endCxn id="121" idx="0"/>
            </p:cNvCxnSpPr>
            <p:nvPr/>
          </p:nvCxnSpPr>
          <p:spPr bwMode="auto">
            <a:xfrm rot="16200000" flipH="1">
              <a:off x="2077505" y="4212034"/>
              <a:ext cx="213595" cy="675767"/>
            </a:xfrm>
            <a:prstGeom prst="bentConnector3">
              <a:avLst>
                <a:gd name="adj1" fmla="val 4965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4" name="AutoShape 297">
              <a:extLst>
                <a:ext uri="{FF2B5EF4-FFF2-40B4-BE49-F238E27FC236}">
                  <a16:creationId xmlns:a16="http://schemas.microsoft.com/office/drawing/2014/main" id="{C5258984-B7FB-4CE5-BADA-8F8106E38A3B}"/>
                </a:ext>
              </a:extLst>
            </p:cNvPr>
            <p:cNvCxnSpPr>
              <a:cxnSpLocks noChangeShapeType="1"/>
              <a:stCxn id="120" idx="2"/>
              <a:endCxn id="114" idx="0"/>
            </p:cNvCxnSpPr>
            <p:nvPr/>
          </p:nvCxnSpPr>
          <p:spPr bwMode="auto">
            <a:xfrm rot="16200000" flipH="1">
              <a:off x="1365813" y="4743240"/>
              <a:ext cx="355009" cy="606203"/>
            </a:xfrm>
            <a:prstGeom prst="bentConnector3">
              <a:avLst>
                <a:gd name="adj1" fmla="val 49792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25" name="AutoShape 298">
              <a:extLst>
                <a:ext uri="{FF2B5EF4-FFF2-40B4-BE49-F238E27FC236}">
                  <a16:creationId xmlns:a16="http://schemas.microsoft.com/office/drawing/2014/main" id="{5D9A93A5-0181-4A1A-B337-4707588F75DF}"/>
                </a:ext>
              </a:extLst>
            </p:cNvPr>
            <p:cNvCxnSpPr>
              <a:cxnSpLocks noChangeShapeType="1"/>
              <a:stCxn id="121" idx="2"/>
              <a:endCxn id="114" idx="0"/>
            </p:cNvCxnSpPr>
            <p:nvPr/>
          </p:nvCxnSpPr>
          <p:spPr bwMode="auto">
            <a:xfrm rot="5400000">
              <a:off x="2006889" y="4706985"/>
              <a:ext cx="356482" cy="675767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FE6264AB-7454-41C6-B131-D41F0C0B205A}"/>
              </a:ext>
            </a:extLst>
          </p:cNvPr>
          <p:cNvGrpSpPr/>
          <p:nvPr/>
        </p:nvGrpSpPr>
        <p:grpSpPr>
          <a:xfrm>
            <a:off x="3241166" y="1787392"/>
            <a:ext cx="2780914" cy="3392475"/>
            <a:chOff x="3667511" y="2181225"/>
            <a:chExt cx="2780914" cy="3392475"/>
          </a:xfrm>
        </p:grpSpPr>
        <p:sp>
          <p:nvSpPr>
            <p:cNvPr id="132" name="Rectangle 201">
              <a:extLst>
                <a:ext uri="{FF2B5EF4-FFF2-40B4-BE49-F238E27FC236}">
                  <a16:creationId xmlns:a16="http://schemas.microsoft.com/office/drawing/2014/main" id="{E9A85B45-3F7E-4390-A14B-4B0577AD8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7511" y="2181225"/>
              <a:ext cx="2780914" cy="3392475"/>
            </a:xfrm>
            <a:prstGeom prst="rect">
              <a:avLst/>
            </a:prstGeom>
            <a:solidFill>
              <a:srgbClr val="A0B7E6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33" name="Arc 202">
              <a:extLst>
                <a:ext uri="{FF2B5EF4-FFF2-40B4-BE49-F238E27FC236}">
                  <a16:creationId xmlns:a16="http://schemas.microsoft.com/office/drawing/2014/main" id="{9C06A92D-E335-478F-9ED5-0334F891375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71858" y="2260771"/>
              <a:ext cx="833115" cy="57302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DAE3F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DAE3F6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lIns="127115" tIns="63558" rIns="127115" bIns="63558">
              <a:spAutoFit/>
            </a:bodyPr>
            <a:lstStyle/>
            <a:p>
              <a:endParaRPr lang="ko-KR" altLang="en-US"/>
            </a:p>
          </p:txBody>
        </p:sp>
        <p:sp>
          <p:nvSpPr>
            <p:cNvPr id="134" name="AutoShape 203">
              <a:extLst>
                <a:ext uri="{FF2B5EF4-FFF2-40B4-BE49-F238E27FC236}">
                  <a16:creationId xmlns:a16="http://schemas.microsoft.com/office/drawing/2014/main" id="{187C8BFF-E05F-4C06-8546-A9E148139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0377" y="2266663"/>
              <a:ext cx="1830202" cy="3236330"/>
            </a:xfrm>
            <a:prstGeom prst="roundRect">
              <a:avLst>
                <a:gd name="adj" fmla="val 0"/>
              </a:avLst>
            </a:prstGeom>
            <a:solidFill>
              <a:srgbClr val="DAE3F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DAE3F6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lIns="127115" tIns="63558" rIns="127115" bIns="63558">
              <a:spAutoFit/>
            </a:bodyPr>
            <a:lstStyle/>
            <a:p>
              <a:endParaRPr lang="ko-KR" altLang="en-US"/>
            </a:p>
          </p:txBody>
        </p:sp>
        <p:sp>
          <p:nvSpPr>
            <p:cNvPr id="135" name="Rectangle 204">
              <a:extLst>
                <a:ext uri="{FF2B5EF4-FFF2-40B4-BE49-F238E27FC236}">
                  <a16:creationId xmlns:a16="http://schemas.microsoft.com/office/drawing/2014/main" id="{3306836E-4421-447B-A66D-86C3B8E3B7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1858" y="2777817"/>
              <a:ext cx="1452568" cy="2725175"/>
            </a:xfrm>
            <a:prstGeom prst="rect">
              <a:avLst/>
            </a:prstGeom>
            <a:solidFill>
              <a:srgbClr val="DAE3F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DAE3F6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lIns="127115" tIns="63558" rIns="127115" bIns="63558">
              <a:spAutoFit/>
            </a:bodyPr>
            <a:lstStyle/>
            <a:p>
              <a:endParaRPr lang="ko-KR" altLang="en-US"/>
            </a:p>
          </p:txBody>
        </p:sp>
        <p:grpSp>
          <p:nvGrpSpPr>
            <p:cNvPr id="136" name="Group 228">
              <a:extLst>
                <a:ext uri="{FF2B5EF4-FFF2-40B4-BE49-F238E27FC236}">
                  <a16:creationId xmlns:a16="http://schemas.microsoft.com/office/drawing/2014/main" id="{D5F1E0F9-2D5C-4D1E-8F77-D76132531A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2418" y="2251932"/>
              <a:ext cx="1891485" cy="290194"/>
              <a:chOff x="306" y="1284"/>
              <a:chExt cx="1122" cy="198"/>
            </a:xfrm>
          </p:grpSpPr>
          <p:grpSp>
            <p:nvGrpSpPr>
              <p:cNvPr id="151" name="Group 229">
                <a:extLst>
                  <a:ext uri="{FF2B5EF4-FFF2-40B4-BE49-F238E27FC236}">
                    <a16:creationId xmlns:a16="http://schemas.microsoft.com/office/drawing/2014/main" id="{62A9AE56-A429-4D9E-9BF5-828F087CA4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6" y="1284"/>
                <a:ext cx="259" cy="198"/>
                <a:chOff x="1788" y="3162"/>
                <a:chExt cx="259" cy="198"/>
              </a:xfrm>
            </p:grpSpPr>
            <p:pic>
              <p:nvPicPr>
                <p:cNvPr id="154" name="Picture 230" descr="C:\1_한진\한진\작업이미지\종합\itled-2.jpg">
                  <a:extLst>
                    <a:ext uri="{FF2B5EF4-FFF2-40B4-BE49-F238E27FC236}">
                      <a16:creationId xmlns:a16="http://schemas.microsoft.com/office/drawing/2014/main" id="{A22AD9E9-B361-4DF9-9B9B-72EACB11B8F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88" y="3162"/>
                  <a:ext cx="213" cy="19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55" name="Text Box 231">
                  <a:extLst>
                    <a:ext uri="{FF2B5EF4-FFF2-40B4-BE49-F238E27FC236}">
                      <a16:creationId xmlns:a16="http://schemas.microsoft.com/office/drawing/2014/main" id="{5AA4AD78-52FC-46D5-B32D-0758C084834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08" y="3181"/>
                  <a:ext cx="239" cy="178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dist="17961" dir="2700000" algn="ctr" rotWithShape="0">
                    <a:schemeClr val="tx1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 algn="l" latinLnBrk="1">
                    <a:lnSpc>
                      <a:spcPct val="100000"/>
                    </a:lnSpc>
                    <a:spcBef>
                      <a:spcPct val="50000"/>
                    </a:spcBef>
                  </a:pPr>
                  <a:r>
                    <a:rPr lang="en-US" altLang="ko-KR" sz="1100" i="1">
                      <a:solidFill>
                        <a:schemeClr val="bg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2</a:t>
                  </a:r>
                </a:p>
              </p:txBody>
            </p:sp>
          </p:grpSp>
          <p:sp>
            <p:nvSpPr>
              <p:cNvPr id="152" name="Text Box 232">
                <a:extLst>
                  <a:ext uri="{FF2B5EF4-FFF2-40B4-BE49-F238E27FC236}">
                    <a16:creationId xmlns:a16="http://schemas.microsoft.com/office/drawing/2014/main" id="{6C5B5167-A48A-4467-8952-E80A1116D2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1" y="1296"/>
                <a:ext cx="261" cy="1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latinLnBrk="1">
                  <a:lnSpc>
                    <a:spcPct val="100000"/>
                  </a:lnSpc>
                </a:pPr>
                <a:r>
                  <a:rPr lang="ko-KR" altLang="en-US"/>
                  <a:t>설계</a:t>
                </a:r>
              </a:p>
            </p:txBody>
          </p:sp>
          <p:sp>
            <p:nvSpPr>
              <p:cNvPr id="153" name="Line 233">
                <a:extLst>
                  <a:ext uri="{FF2B5EF4-FFF2-40B4-BE49-F238E27FC236}">
                    <a16:creationId xmlns:a16="http://schemas.microsoft.com/office/drawing/2014/main" id="{325A8D1C-53AB-4420-BD43-D40C3BF167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2" y="1426"/>
                <a:ext cx="976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</p:grpSp>
        <p:sp>
          <p:nvSpPr>
            <p:cNvPr id="137" name="Rectangle 247">
              <a:extLst>
                <a:ext uri="{FF2B5EF4-FFF2-40B4-BE49-F238E27FC236}">
                  <a16:creationId xmlns:a16="http://schemas.microsoft.com/office/drawing/2014/main" id="{9BA6C063-AF58-4419-9D2E-D25C8D96ED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1498" y="4090321"/>
              <a:ext cx="1450912" cy="2106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 latinLnBrk="1">
                <a:lnSpc>
                  <a:spcPct val="100000"/>
                </a:lnSpc>
              </a:pPr>
              <a:r>
                <a: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시스템 설계</a:t>
              </a:r>
            </a:p>
          </p:txBody>
        </p:sp>
        <p:cxnSp>
          <p:nvCxnSpPr>
            <p:cNvPr id="138" name="AutoShape 248">
              <a:extLst>
                <a:ext uri="{FF2B5EF4-FFF2-40B4-BE49-F238E27FC236}">
                  <a16:creationId xmlns:a16="http://schemas.microsoft.com/office/drawing/2014/main" id="{8F939574-12BC-4791-B51E-89E6C5E352EF}"/>
                </a:ext>
              </a:extLst>
            </p:cNvPr>
            <p:cNvCxnSpPr>
              <a:cxnSpLocks noChangeShapeType="1"/>
              <a:stCxn id="137" idx="2"/>
              <a:endCxn id="145" idx="0"/>
            </p:cNvCxnSpPr>
            <p:nvPr/>
          </p:nvCxnSpPr>
          <p:spPr bwMode="auto">
            <a:xfrm rot="5400000">
              <a:off x="4575706" y="4146296"/>
              <a:ext cx="355009" cy="665829"/>
            </a:xfrm>
            <a:prstGeom prst="bentConnector3">
              <a:avLst>
                <a:gd name="adj1" fmla="val 49792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39" name="AutoShape 249">
              <a:extLst>
                <a:ext uri="{FF2B5EF4-FFF2-40B4-BE49-F238E27FC236}">
                  <a16:creationId xmlns:a16="http://schemas.microsoft.com/office/drawing/2014/main" id="{526F1349-4906-4E14-A3B1-9C3581469B01}"/>
                </a:ext>
              </a:extLst>
            </p:cNvPr>
            <p:cNvCxnSpPr>
              <a:cxnSpLocks noChangeShapeType="1"/>
              <a:stCxn id="137" idx="2"/>
              <a:endCxn id="146" idx="0"/>
            </p:cNvCxnSpPr>
            <p:nvPr/>
          </p:nvCxnSpPr>
          <p:spPr bwMode="auto">
            <a:xfrm rot="16200000" flipH="1">
              <a:off x="5236658" y="4151265"/>
              <a:ext cx="356482" cy="655892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40" name="AutoShape 250">
              <a:extLst>
                <a:ext uri="{FF2B5EF4-FFF2-40B4-BE49-F238E27FC236}">
                  <a16:creationId xmlns:a16="http://schemas.microsoft.com/office/drawing/2014/main" id="{D7282911-1892-4301-B4A5-26F7E14B6191}"/>
                </a:ext>
              </a:extLst>
            </p:cNvPr>
            <p:cNvCxnSpPr>
              <a:cxnSpLocks noChangeShapeType="1"/>
              <a:stCxn id="145" idx="2"/>
              <a:endCxn id="147" idx="0"/>
            </p:cNvCxnSpPr>
            <p:nvPr/>
          </p:nvCxnSpPr>
          <p:spPr bwMode="auto">
            <a:xfrm rot="16200000" flipH="1">
              <a:off x="4585644" y="4703489"/>
              <a:ext cx="355009" cy="685705"/>
            </a:xfrm>
            <a:prstGeom prst="bentConnector3">
              <a:avLst>
                <a:gd name="adj1" fmla="val 49792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41" name="AutoShape 251">
              <a:extLst>
                <a:ext uri="{FF2B5EF4-FFF2-40B4-BE49-F238E27FC236}">
                  <a16:creationId xmlns:a16="http://schemas.microsoft.com/office/drawing/2014/main" id="{98DAFB31-20DC-4C9A-BA38-F5F305FEA148}"/>
                </a:ext>
              </a:extLst>
            </p:cNvPr>
            <p:cNvCxnSpPr>
              <a:cxnSpLocks noChangeShapeType="1"/>
              <a:stCxn id="146" idx="2"/>
              <a:endCxn id="147" idx="0"/>
            </p:cNvCxnSpPr>
            <p:nvPr/>
          </p:nvCxnSpPr>
          <p:spPr bwMode="auto">
            <a:xfrm rot="5400000">
              <a:off x="5246504" y="4728334"/>
              <a:ext cx="355009" cy="636016"/>
            </a:xfrm>
            <a:prstGeom prst="bentConnector3">
              <a:avLst>
                <a:gd name="adj1" fmla="val 49792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42" name="Rectangle 252">
              <a:extLst>
                <a:ext uri="{FF2B5EF4-FFF2-40B4-BE49-F238E27FC236}">
                  <a16:creationId xmlns:a16="http://schemas.microsoft.com/office/drawing/2014/main" id="{ABEA686D-F35F-441D-84B9-6F855CC73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1498" y="3596843"/>
              <a:ext cx="1450912" cy="2106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이행 프로토타입</a:t>
              </a:r>
            </a:p>
          </p:txBody>
        </p:sp>
        <p:sp>
          <p:nvSpPr>
            <p:cNvPr id="143" name="Rectangle 253">
              <a:extLst>
                <a:ext uri="{FF2B5EF4-FFF2-40B4-BE49-F238E27FC236}">
                  <a16:creationId xmlns:a16="http://schemas.microsoft.com/office/drawing/2014/main" id="{D34E7AD8-7C35-4D3F-8AB2-653669F86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1498" y="3100419"/>
              <a:ext cx="1450912" cy="21212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 latinLnBrk="1">
                <a:lnSpc>
                  <a:spcPct val="100000"/>
                </a:lnSpc>
              </a:pPr>
              <a:r>
                <a:rPr lang="en-US" altLang="ko-KR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Application</a:t>
              </a:r>
              <a:r>
                <a: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 설계</a:t>
              </a:r>
            </a:p>
          </p:txBody>
        </p:sp>
        <p:sp>
          <p:nvSpPr>
            <p:cNvPr id="144" name="Rectangle 254">
              <a:extLst>
                <a:ext uri="{FF2B5EF4-FFF2-40B4-BE49-F238E27FC236}">
                  <a16:creationId xmlns:a16="http://schemas.microsoft.com/office/drawing/2014/main" id="{E7BF30EC-4387-4DAE-B99D-384983BA8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1498" y="2606942"/>
              <a:ext cx="1450912" cy="2106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 latinLnBrk="1">
                <a:lnSpc>
                  <a:spcPct val="100000"/>
                </a:lnSpc>
              </a:pPr>
              <a:r>
                <a: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단계 관리</a:t>
              </a:r>
            </a:p>
          </p:txBody>
        </p:sp>
        <p:sp>
          <p:nvSpPr>
            <p:cNvPr id="145" name="Rectangle 255">
              <a:extLst>
                <a:ext uri="{FF2B5EF4-FFF2-40B4-BE49-F238E27FC236}">
                  <a16:creationId xmlns:a16="http://schemas.microsoft.com/office/drawing/2014/main" id="{9E1AD697-C2A8-4598-A993-F2BC637B4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4859" y="4655979"/>
              <a:ext cx="1192530" cy="21212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데이터 변환 설계</a:t>
              </a:r>
            </a:p>
          </p:txBody>
        </p:sp>
        <p:sp>
          <p:nvSpPr>
            <p:cNvPr id="146" name="Rectangle 256">
              <a:extLst>
                <a:ext uri="{FF2B5EF4-FFF2-40B4-BE49-F238E27FC236}">
                  <a16:creationId xmlns:a16="http://schemas.microsoft.com/office/drawing/2014/main" id="{092DED7B-FD63-4CF0-A713-F3A171687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6393" y="4657452"/>
              <a:ext cx="1132904" cy="2106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 latinLnBrk="1">
                <a:lnSpc>
                  <a:spcPct val="100000"/>
                </a:lnSpc>
              </a:pPr>
              <a:r>
                <a: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테스트 설계</a:t>
              </a:r>
            </a:p>
          </p:txBody>
        </p:sp>
        <p:sp>
          <p:nvSpPr>
            <p:cNvPr id="147" name="Rectangle 257">
              <a:extLst>
                <a:ext uri="{FF2B5EF4-FFF2-40B4-BE49-F238E27FC236}">
                  <a16:creationId xmlns:a16="http://schemas.microsoft.com/office/drawing/2014/main" id="{FC1EA44D-099F-4CD3-809E-28D21B41C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1373" y="5223110"/>
              <a:ext cx="1450912" cy="2106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latinLnBrk="1">
                <a:lnSpc>
                  <a:spcPct val="100000"/>
                </a:lnSpc>
              </a:pPr>
              <a:r>
                <a: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단계 종료 평가</a:t>
              </a:r>
            </a:p>
          </p:txBody>
        </p:sp>
        <p:cxnSp>
          <p:nvCxnSpPr>
            <p:cNvPr id="148" name="AutoShape 258">
              <a:extLst>
                <a:ext uri="{FF2B5EF4-FFF2-40B4-BE49-F238E27FC236}">
                  <a16:creationId xmlns:a16="http://schemas.microsoft.com/office/drawing/2014/main" id="{E20926AE-AB0B-4CF3-9AD4-BA9BD1BCF04E}"/>
                </a:ext>
              </a:extLst>
            </p:cNvPr>
            <p:cNvCxnSpPr>
              <a:cxnSpLocks noChangeShapeType="1"/>
              <a:stCxn id="144" idx="2"/>
              <a:endCxn id="143" idx="0"/>
            </p:cNvCxnSpPr>
            <p:nvPr/>
          </p:nvCxnSpPr>
          <p:spPr bwMode="auto">
            <a:xfrm>
              <a:off x="5086953" y="2817590"/>
              <a:ext cx="0" cy="28282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49" name="AutoShape 259">
              <a:extLst>
                <a:ext uri="{FF2B5EF4-FFF2-40B4-BE49-F238E27FC236}">
                  <a16:creationId xmlns:a16="http://schemas.microsoft.com/office/drawing/2014/main" id="{07258F81-61AA-438F-9920-9908296FB520}"/>
                </a:ext>
              </a:extLst>
            </p:cNvPr>
            <p:cNvCxnSpPr>
              <a:cxnSpLocks noChangeShapeType="1"/>
              <a:stCxn id="143" idx="2"/>
              <a:endCxn id="142" idx="0"/>
            </p:cNvCxnSpPr>
            <p:nvPr/>
          </p:nvCxnSpPr>
          <p:spPr bwMode="auto">
            <a:xfrm>
              <a:off x="5086953" y="3312541"/>
              <a:ext cx="0" cy="28430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50" name="AutoShape 260">
              <a:extLst>
                <a:ext uri="{FF2B5EF4-FFF2-40B4-BE49-F238E27FC236}">
                  <a16:creationId xmlns:a16="http://schemas.microsoft.com/office/drawing/2014/main" id="{2D33C19C-7D23-44DF-AFDF-5C3E8E675A69}"/>
                </a:ext>
              </a:extLst>
            </p:cNvPr>
            <p:cNvCxnSpPr>
              <a:cxnSpLocks noChangeShapeType="1"/>
              <a:stCxn id="142" idx="2"/>
              <a:endCxn id="137" idx="0"/>
            </p:cNvCxnSpPr>
            <p:nvPr/>
          </p:nvCxnSpPr>
          <p:spPr bwMode="auto">
            <a:xfrm>
              <a:off x="5086953" y="3807492"/>
              <a:ext cx="0" cy="28282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</p:grp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2DA02B8F-1602-4D74-B7E6-7585A572E7D2}"/>
              </a:ext>
            </a:extLst>
          </p:cNvPr>
          <p:cNvGrpSpPr/>
          <p:nvPr/>
        </p:nvGrpSpPr>
        <p:grpSpPr>
          <a:xfrm>
            <a:off x="6220083" y="2723364"/>
            <a:ext cx="2780914" cy="3392475"/>
            <a:chOff x="3667511" y="5859475"/>
            <a:chExt cx="2780914" cy="3392475"/>
          </a:xfrm>
        </p:grpSpPr>
        <p:sp>
          <p:nvSpPr>
            <p:cNvPr id="157" name="Rectangle 181">
              <a:extLst>
                <a:ext uri="{FF2B5EF4-FFF2-40B4-BE49-F238E27FC236}">
                  <a16:creationId xmlns:a16="http://schemas.microsoft.com/office/drawing/2014/main" id="{D82DD521-EDD8-4688-9E2D-1ACB74174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7511" y="5859475"/>
              <a:ext cx="2780914" cy="3392475"/>
            </a:xfrm>
            <a:prstGeom prst="rect">
              <a:avLst/>
            </a:prstGeom>
            <a:solidFill>
              <a:srgbClr val="A0B7E6"/>
            </a:soli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58" name="Arc 182">
              <a:extLst>
                <a:ext uri="{FF2B5EF4-FFF2-40B4-BE49-F238E27FC236}">
                  <a16:creationId xmlns:a16="http://schemas.microsoft.com/office/drawing/2014/main" id="{E4E498A8-68F5-409B-A30D-BF6D78CD2D0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71858" y="5939021"/>
              <a:ext cx="833115" cy="573023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rgbClr val="DAE3F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DAE3F6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lIns="127115" tIns="63558" rIns="127115" bIns="63558">
              <a:spAutoFit/>
            </a:bodyPr>
            <a:lstStyle/>
            <a:p>
              <a:endParaRPr lang="ko-KR" altLang="en-US"/>
            </a:p>
          </p:txBody>
        </p:sp>
        <p:sp>
          <p:nvSpPr>
            <p:cNvPr id="159" name="AutoShape 183">
              <a:extLst>
                <a:ext uri="{FF2B5EF4-FFF2-40B4-BE49-F238E27FC236}">
                  <a16:creationId xmlns:a16="http://schemas.microsoft.com/office/drawing/2014/main" id="{67F2A19E-BEF8-405B-B51B-716F614C2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0377" y="5944913"/>
              <a:ext cx="1830202" cy="3236330"/>
            </a:xfrm>
            <a:prstGeom prst="roundRect">
              <a:avLst>
                <a:gd name="adj" fmla="val 0"/>
              </a:avLst>
            </a:prstGeom>
            <a:solidFill>
              <a:srgbClr val="DAE3F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DAE3F6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lIns="127115" tIns="63558" rIns="127115" bIns="63558">
              <a:spAutoFit/>
            </a:bodyPr>
            <a:lstStyle/>
            <a:p>
              <a:endParaRPr lang="ko-KR" altLang="en-US"/>
            </a:p>
          </p:txBody>
        </p:sp>
        <p:sp>
          <p:nvSpPr>
            <p:cNvPr id="160" name="Rectangle 184">
              <a:extLst>
                <a:ext uri="{FF2B5EF4-FFF2-40B4-BE49-F238E27FC236}">
                  <a16:creationId xmlns:a16="http://schemas.microsoft.com/office/drawing/2014/main" id="{7E353751-A183-4CFB-81FB-928A48B63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1858" y="6456067"/>
              <a:ext cx="1452568" cy="2725175"/>
            </a:xfrm>
            <a:prstGeom prst="rect">
              <a:avLst/>
            </a:prstGeom>
            <a:solidFill>
              <a:srgbClr val="DAE3F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DAE3F6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lIns="127115" tIns="63558" rIns="127115" bIns="63558">
              <a:spAutoFit/>
            </a:bodyPr>
            <a:lstStyle/>
            <a:p>
              <a:endParaRPr lang="ko-KR" altLang="en-US"/>
            </a:p>
          </p:txBody>
        </p:sp>
        <p:grpSp>
          <p:nvGrpSpPr>
            <p:cNvPr id="161" name="Group 195">
              <a:extLst>
                <a:ext uri="{FF2B5EF4-FFF2-40B4-BE49-F238E27FC236}">
                  <a16:creationId xmlns:a16="http://schemas.microsoft.com/office/drawing/2014/main" id="{C68D82F6-AC63-42F6-ADC1-130C42164C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82418" y="5930182"/>
              <a:ext cx="1891485" cy="290194"/>
              <a:chOff x="306" y="1284"/>
              <a:chExt cx="1122" cy="198"/>
            </a:xfrm>
          </p:grpSpPr>
          <p:grpSp>
            <p:nvGrpSpPr>
              <p:cNvPr id="172" name="Group 196">
                <a:extLst>
                  <a:ext uri="{FF2B5EF4-FFF2-40B4-BE49-F238E27FC236}">
                    <a16:creationId xmlns:a16="http://schemas.microsoft.com/office/drawing/2014/main" id="{4B91307D-5DCE-4770-B3B4-E5E21A0DCD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6" y="1284"/>
                <a:ext cx="259" cy="198"/>
                <a:chOff x="1788" y="3162"/>
                <a:chExt cx="259" cy="198"/>
              </a:xfrm>
            </p:grpSpPr>
            <p:pic>
              <p:nvPicPr>
                <p:cNvPr id="175" name="Picture 197" descr="C:\1_한진\한진\작업이미지\종합\itled-2.jpg">
                  <a:extLst>
                    <a:ext uri="{FF2B5EF4-FFF2-40B4-BE49-F238E27FC236}">
                      <a16:creationId xmlns:a16="http://schemas.microsoft.com/office/drawing/2014/main" id="{DDC7CA69-406F-4041-9361-80612B89A76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88" y="3162"/>
                  <a:ext cx="213" cy="19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76" name="Text Box 198">
                  <a:extLst>
                    <a:ext uri="{FF2B5EF4-FFF2-40B4-BE49-F238E27FC236}">
                      <a16:creationId xmlns:a16="http://schemas.microsoft.com/office/drawing/2014/main" id="{F6BBBDC7-5D2C-4DA4-8F6B-5E3937633F0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08" y="3180"/>
                  <a:ext cx="239" cy="178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dist="17961" dir="2700000" algn="ctr" rotWithShape="0">
                    <a:schemeClr val="tx1"/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 algn="l" latinLnBrk="1">
                    <a:lnSpc>
                      <a:spcPct val="100000"/>
                    </a:lnSpc>
                    <a:spcBef>
                      <a:spcPct val="50000"/>
                    </a:spcBef>
                  </a:pPr>
                  <a:r>
                    <a:rPr lang="en-US" altLang="ko-KR" sz="1100" i="1">
                      <a:solidFill>
                        <a:schemeClr val="bg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rPr>
                    <a:t>3</a:t>
                  </a:r>
                </a:p>
              </p:txBody>
            </p:sp>
          </p:grpSp>
          <p:sp>
            <p:nvSpPr>
              <p:cNvPr id="173" name="Text Box 199">
                <a:extLst>
                  <a:ext uri="{FF2B5EF4-FFF2-40B4-BE49-F238E27FC236}">
                    <a16:creationId xmlns:a16="http://schemas.microsoft.com/office/drawing/2014/main" id="{E1E32064-C4CC-4DA0-BAFB-CA24FB61D1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1" y="1297"/>
                <a:ext cx="261" cy="1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 latinLnBrk="1">
                  <a:lnSpc>
                    <a:spcPct val="100000"/>
                  </a:lnSpc>
                </a:pPr>
                <a:r>
                  <a:rPr lang="ko-KR" altLang="en-US"/>
                  <a:t>구축</a:t>
                </a:r>
              </a:p>
            </p:txBody>
          </p:sp>
          <p:sp>
            <p:nvSpPr>
              <p:cNvPr id="174" name="Line 200">
                <a:extLst>
                  <a:ext uri="{FF2B5EF4-FFF2-40B4-BE49-F238E27FC236}">
                    <a16:creationId xmlns:a16="http://schemas.microsoft.com/office/drawing/2014/main" id="{3BBB8420-9E21-48C5-9CB2-7EBCF047D7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2" y="1426"/>
                <a:ext cx="976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oval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ko-KR" altLang="en-US"/>
              </a:p>
            </p:txBody>
          </p:sp>
        </p:grpSp>
        <p:cxnSp>
          <p:nvCxnSpPr>
            <p:cNvPr id="162" name="AutoShape 262">
              <a:extLst>
                <a:ext uri="{FF2B5EF4-FFF2-40B4-BE49-F238E27FC236}">
                  <a16:creationId xmlns:a16="http://schemas.microsoft.com/office/drawing/2014/main" id="{9631784E-C43B-4E4C-AB10-58086559BBCE}"/>
                </a:ext>
              </a:extLst>
            </p:cNvPr>
            <p:cNvCxnSpPr>
              <a:cxnSpLocks noChangeShapeType="1"/>
              <a:stCxn id="166" idx="2"/>
              <a:endCxn id="167" idx="0"/>
            </p:cNvCxnSpPr>
            <p:nvPr/>
          </p:nvCxnSpPr>
          <p:spPr bwMode="auto">
            <a:xfrm rot="5400000">
              <a:off x="4400502" y="6514989"/>
              <a:ext cx="707073" cy="665829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63" name="AutoShape 263">
              <a:extLst>
                <a:ext uri="{FF2B5EF4-FFF2-40B4-BE49-F238E27FC236}">
                  <a16:creationId xmlns:a16="http://schemas.microsoft.com/office/drawing/2014/main" id="{6F7654CB-FF73-4013-B73C-25FD04F2073F}"/>
                </a:ext>
              </a:extLst>
            </p:cNvPr>
            <p:cNvCxnSpPr>
              <a:cxnSpLocks noChangeShapeType="1"/>
              <a:stCxn id="166" idx="2"/>
              <a:endCxn id="168" idx="0"/>
            </p:cNvCxnSpPr>
            <p:nvPr/>
          </p:nvCxnSpPr>
          <p:spPr bwMode="auto">
            <a:xfrm rot="16200000" flipH="1">
              <a:off x="5061363" y="6519958"/>
              <a:ext cx="707073" cy="655892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64" name="AutoShape 264">
              <a:extLst>
                <a:ext uri="{FF2B5EF4-FFF2-40B4-BE49-F238E27FC236}">
                  <a16:creationId xmlns:a16="http://schemas.microsoft.com/office/drawing/2014/main" id="{86681304-AE76-4653-A604-18EFC3043CBE}"/>
                </a:ext>
              </a:extLst>
            </p:cNvPr>
            <p:cNvCxnSpPr>
              <a:cxnSpLocks noChangeShapeType="1"/>
              <a:stCxn id="167" idx="2"/>
              <a:endCxn id="170" idx="0"/>
            </p:cNvCxnSpPr>
            <p:nvPr/>
          </p:nvCxnSpPr>
          <p:spPr bwMode="auto">
            <a:xfrm rot="16200000" flipH="1">
              <a:off x="4444229" y="7531779"/>
              <a:ext cx="637838" cy="685705"/>
            </a:xfrm>
            <a:prstGeom prst="bentConnector3">
              <a:avLst>
                <a:gd name="adj1" fmla="val 49884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65" name="AutoShape 265">
              <a:extLst>
                <a:ext uri="{FF2B5EF4-FFF2-40B4-BE49-F238E27FC236}">
                  <a16:creationId xmlns:a16="http://schemas.microsoft.com/office/drawing/2014/main" id="{914C9C98-6480-474F-9BB8-F6EE37D0AD9A}"/>
                </a:ext>
              </a:extLst>
            </p:cNvPr>
            <p:cNvCxnSpPr>
              <a:cxnSpLocks noChangeShapeType="1"/>
              <a:stCxn id="168" idx="2"/>
              <a:endCxn id="170" idx="0"/>
            </p:cNvCxnSpPr>
            <p:nvPr/>
          </p:nvCxnSpPr>
          <p:spPr bwMode="auto">
            <a:xfrm rot="5400000">
              <a:off x="5105181" y="7555151"/>
              <a:ext cx="639311" cy="636016"/>
            </a:xfrm>
            <a:prstGeom prst="bentConnector3">
              <a:avLst>
                <a:gd name="adj1" fmla="val 50000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66" name="Rectangle 267">
              <a:extLst>
                <a:ext uri="{FF2B5EF4-FFF2-40B4-BE49-F238E27FC236}">
                  <a16:creationId xmlns:a16="http://schemas.microsoft.com/office/drawing/2014/main" id="{0B6CEC4C-F18A-4732-9F3C-097C7EE176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1498" y="6283719"/>
              <a:ext cx="1450912" cy="2106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 latinLnBrk="1">
                <a:lnSpc>
                  <a:spcPct val="100000"/>
                </a:lnSpc>
              </a:pPr>
              <a:r>
                <a: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단계 관리</a:t>
              </a:r>
            </a:p>
          </p:txBody>
        </p:sp>
        <p:sp>
          <p:nvSpPr>
            <p:cNvPr id="167" name="Rectangle 268">
              <a:extLst>
                <a:ext uri="{FF2B5EF4-FFF2-40B4-BE49-F238E27FC236}">
                  <a16:creationId xmlns:a16="http://schemas.microsoft.com/office/drawing/2014/main" id="{57E8ADFB-84FC-4155-B569-EC63085F2B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4859" y="7201440"/>
              <a:ext cx="1192530" cy="3535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 latinLnBrk="1">
                <a:lnSpc>
                  <a:spcPct val="100000"/>
                </a:lnSpc>
              </a:pPr>
              <a:r>
                <a: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코딩 및</a:t>
              </a:r>
            </a:p>
            <a:p>
              <a:pPr algn="ctr" latinLnBrk="1">
                <a:lnSpc>
                  <a:spcPct val="100000"/>
                </a:lnSpc>
              </a:pPr>
              <a:r>
                <a:rPr lang="ko-KR" altLang="en-US" sz="900" dirty="0">
                  <a:latin typeface="굴림" panose="020B0600000101010101" pitchFamily="50" charset="-127"/>
                  <a:ea typeface="굴림" panose="020B0600000101010101" pitchFamily="50" charset="-127"/>
                </a:rPr>
                <a:t>단위테스트 준비</a:t>
              </a:r>
            </a:p>
          </p:txBody>
        </p:sp>
        <p:sp>
          <p:nvSpPr>
            <p:cNvPr id="168" name="Rectangle 269">
              <a:extLst>
                <a:ext uri="{FF2B5EF4-FFF2-40B4-BE49-F238E27FC236}">
                  <a16:creationId xmlns:a16="http://schemas.microsoft.com/office/drawing/2014/main" id="{6B270E5E-6381-4F43-AF78-3C3A31FB8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6393" y="7201440"/>
              <a:ext cx="1132904" cy="3520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단위테스트</a:t>
              </a:r>
            </a:p>
            <a:p>
              <a:pPr algn="ctr"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데이터 준비</a:t>
              </a:r>
            </a:p>
          </p:txBody>
        </p:sp>
        <p:sp>
          <p:nvSpPr>
            <p:cNvPr id="169" name="Rectangle 270">
              <a:extLst>
                <a:ext uri="{FF2B5EF4-FFF2-40B4-BE49-F238E27FC236}">
                  <a16:creationId xmlns:a16="http://schemas.microsoft.com/office/drawing/2014/main" id="{2ED30C56-E925-4DAE-8591-A18446235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1373" y="8899887"/>
              <a:ext cx="1450912" cy="2106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단계 종료 평가</a:t>
              </a:r>
            </a:p>
          </p:txBody>
        </p:sp>
        <p:sp>
          <p:nvSpPr>
            <p:cNvPr id="170" name="Rectangle 273">
              <a:extLst>
                <a:ext uri="{FF2B5EF4-FFF2-40B4-BE49-F238E27FC236}">
                  <a16:creationId xmlns:a16="http://schemas.microsoft.com/office/drawing/2014/main" id="{A86BDE39-AE05-4BC4-A66E-09E4D8F193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1373" y="8192814"/>
              <a:ext cx="1450912" cy="2106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 latinLnBrk="1">
                <a:lnSpc>
                  <a:spcPct val="100000"/>
                </a:lnSpc>
              </a:pPr>
              <a:r>
                <a:rPr lang="ko-KR" altLang="en-US" sz="900">
                  <a:latin typeface="굴림" panose="020B0600000101010101" pitchFamily="50" charset="-127"/>
                  <a:ea typeface="굴림" panose="020B0600000101010101" pitchFamily="50" charset="-127"/>
                </a:rPr>
                <a:t>테스트 실시</a:t>
              </a:r>
            </a:p>
          </p:txBody>
        </p:sp>
        <p:cxnSp>
          <p:nvCxnSpPr>
            <p:cNvPr id="171" name="AutoShape 276">
              <a:extLst>
                <a:ext uri="{FF2B5EF4-FFF2-40B4-BE49-F238E27FC236}">
                  <a16:creationId xmlns:a16="http://schemas.microsoft.com/office/drawing/2014/main" id="{91024373-B0B3-47F3-B1ED-BF160FE65A5B}"/>
                </a:ext>
              </a:extLst>
            </p:cNvPr>
            <p:cNvCxnSpPr>
              <a:cxnSpLocks noChangeShapeType="1"/>
              <a:stCxn id="170" idx="2"/>
              <a:endCxn id="169" idx="0"/>
            </p:cNvCxnSpPr>
            <p:nvPr/>
          </p:nvCxnSpPr>
          <p:spPr bwMode="auto">
            <a:xfrm>
              <a:off x="5106829" y="8403463"/>
              <a:ext cx="0" cy="49642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518834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CCA64-0F9D-4C19-A8E3-2AC76FEA3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S/W</a:t>
            </a:r>
            <a:r>
              <a:rPr lang="ko-KR" altLang="en-US" dirty="0"/>
              <a:t> </a:t>
            </a:r>
            <a:r>
              <a:rPr lang="en-US" altLang="ko-KR" dirty="0"/>
              <a:t>V&amp;V</a:t>
            </a:r>
            <a:r>
              <a:rPr lang="ko-KR" altLang="en-US" dirty="0"/>
              <a:t> </a:t>
            </a:r>
            <a:r>
              <a:rPr lang="en-US" altLang="ko-KR" dirty="0"/>
              <a:t>(verification</a:t>
            </a:r>
            <a:r>
              <a:rPr lang="ko-KR" altLang="en-US" dirty="0"/>
              <a:t> </a:t>
            </a:r>
            <a:r>
              <a:rPr lang="en-US" altLang="ko-KR" dirty="0"/>
              <a:t>&amp; Validation)</a:t>
            </a:r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0A35636-DCD5-4DA0-841E-474E933C300E}"/>
              </a:ext>
            </a:extLst>
          </p:cNvPr>
          <p:cNvGrpSpPr/>
          <p:nvPr/>
        </p:nvGrpSpPr>
        <p:grpSpPr>
          <a:xfrm>
            <a:off x="1256991" y="1371118"/>
            <a:ext cx="6476647" cy="4957357"/>
            <a:chOff x="1619603" y="1452968"/>
            <a:chExt cx="5486400" cy="4410075"/>
          </a:xfrm>
        </p:grpSpPr>
        <p:sp>
          <p:nvSpPr>
            <p:cNvPr id="5" name="AutoShape 84">
              <a:extLst>
                <a:ext uri="{FF2B5EF4-FFF2-40B4-BE49-F238E27FC236}">
                  <a16:creationId xmlns:a16="http://schemas.microsoft.com/office/drawing/2014/main" id="{CA7966E9-684A-46AD-A8DD-6EA208991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2803" y="1452968"/>
              <a:ext cx="2743200" cy="4410075"/>
            </a:xfrm>
            <a:prstGeom prst="roundRect">
              <a:avLst>
                <a:gd name="adj" fmla="val 5208"/>
              </a:avLst>
            </a:prstGeom>
            <a:gradFill rotWithShape="0">
              <a:gsLst>
                <a:gs pos="0">
                  <a:schemeClr val="hlink">
                    <a:gamma/>
                    <a:tint val="3922"/>
                    <a:invGamma/>
                  </a:schemeClr>
                </a:gs>
                <a:gs pos="100000">
                  <a:schemeClr val="hlink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2000" b="1">
                <a:latin typeface="+mj-ea"/>
                <a:ea typeface="+mj-ea"/>
              </a:endParaRPr>
            </a:p>
          </p:txBody>
        </p:sp>
        <p:sp>
          <p:nvSpPr>
            <p:cNvPr id="6" name="AutoShape 85">
              <a:extLst>
                <a:ext uri="{FF2B5EF4-FFF2-40B4-BE49-F238E27FC236}">
                  <a16:creationId xmlns:a16="http://schemas.microsoft.com/office/drawing/2014/main" id="{F23B4FE1-3FDA-4687-82FB-2F93BB21E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9603" y="1452968"/>
              <a:ext cx="2743200" cy="4410075"/>
            </a:xfrm>
            <a:prstGeom prst="roundRect">
              <a:avLst>
                <a:gd name="adj" fmla="val 6597"/>
              </a:avLst>
            </a:prstGeom>
            <a:gradFill rotWithShape="0">
              <a:gsLst>
                <a:gs pos="0">
                  <a:srgbClr val="BDDEFF"/>
                </a:gs>
                <a:gs pos="100000">
                  <a:srgbClr val="BDDEFF">
                    <a:gamma/>
                    <a:tint val="0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2000" b="1">
                <a:latin typeface="+mj-ea"/>
                <a:ea typeface="+mj-ea"/>
              </a:endParaRPr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2C1C23FF-8298-4324-A916-486491888B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37553" y="1522825"/>
              <a:ext cx="1450975" cy="363538"/>
              <a:chOff x="2659" y="2861"/>
              <a:chExt cx="1086" cy="229"/>
            </a:xfrm>
          </p:grpSpPr>
          <p:sp>
            <p:nvSpPr>
              <p:cNvPr id="78" name="AutoShape 6">
                <a:extLst>
                  <a:ext uri="{FF2B5EF4-FFF2-40B4-BE49-F238E27FC236}">
                    <a16:creationId xmlns:a16="http://schemas.microsoft.com/office/drawing/2014/main" id="{E2DBE984-36B5-4406-A9EA-B34FBACF3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2659" y="2864"/>
                <a:ext cx="1086" cy="220"/>
              </a:xfrm>
              <a:prstGeom prst="roundRect">
                <a:avLst>
                  <a:gd name="adj" fmla="val 6065"/>
                </a:avLst>
              </a:prstGeom>
              <a:gradFill rotWithShape="0">
                <a:gsLst>
                  <a:gs pos="0">
                    <a:srgbClr val="6C9ED0">
                      <a:gamma/>
                      <a:tint val="9020"/>
                      <a:invGamma/>
                    </a:srgbClr>
                  </a:gs>
                  <a:gs pos="100000">
                    <a:srgbClr val="6C9ED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79" name="AutoShape 7">
                <a:extLst>
                  <a:ext uri="{FF2B5EF4-FFF2-40B4-BE49-F238E27FC236}">
                    <a16:creationId xmlns:a16="http://schemas.microsoft.com/office/drawing/2014/main" id="{8332043F-6917-4044-8EDC-8C1DDCD918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" y="2861"/>
                <a:ext cx="1026" cy="229"/>
              </a:xfrm>
              <a:prstGeom prst="roundRect">
                <a:avLst>
                  <a:gd name="adj" fmla="val 4287"/>
                </a:avLst>
              </a:prstGeom>
              <a:gradFill rotWithShape="0">
                <a:gsLst>
                  <a:gs pos="0">
                    <a:srgbClr val="DFEAF5"/>
                  </a:gs>
                  <a:gs pos="100000">
                    <a:srgbClr val="DFEAF5">
                      <a:gamma/>
                      <a:tint val="9020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>
                <a:prstShdw prst="shdw18" dist="17961" dir="13500000">
                  <a:srgbClr val="DFEAF5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635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</p:grpSp>
        <p:grpSp>
          <p:nvGrpSpPr>
            <p:cNvPr id="8" name="Group 11">
              <a:extLst>
                <a:ext uri="{FF2B5EF4-FFF2-40B4-BE49-F238E27FC236}">
                  <a16:creationId xmlns:a16="http://schemas.microsoft.com/office/drawing/2014/main" id="{9BED3D03-B3BD-49C9-A13C-36260A9B82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7141" y="5524906"/>
              <a:ext cx="1404937" cy="328612"/>
              <a:chOff x="663" y="2243"/>
              <a:chExt cx="1089" cy="196"/>
            </a:xfrm>
          </p:grpSpPr>
          <p:sp>
            <p:nvSpPr>
              <p:cNvPr id="76" name="AutoShape 12">
                <a:extLst>
                  <a:ext uri="{FF2B5EF4-FFF2-40B4-BE49-F238E27FC236}">
                    <a16:creationId xmlns:a16="http://schemas.microsoft.com/office/drawing/2014/main" id="{C894AAB7-555B-4298-A678-FC34D742BF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3" y="2243"/>
                <a:ext cx="1089" cy="196"/>
              </a:xfrm>
              <a:prstGeom prst="roundRect">
                <a:avLst>
                  <a:gd name="adj" fmla="val 48569"/>
                </a:avLst>
              </a:prstGeom>
              <a:gradFill rotWithShape="0">
                <a:gsLst>
                  <a:gs pos="0">
                    <a:srgbClr val="274E9B"/>
                  </a:gs>
                  <a:gs pos="50000">
                    <a:srgbClr val="274E9B">
                      <a:gamma/>
                      <a:tint val="0"/>
                      <a:invGamma/>
                    </a:srgbClr>
                  </a:gs>
                  <a:gs pos="100000">
                    <a:srgbClr val="274E9B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77" name="AutoShape 13">
                <a:extLst>
                  <a:ext uri="{FF2B5EF4-FFF2-40B4-BE49-F238E27FC236}">
                    <a16:creationId xmlns:a16="http://schemas.microsoft.com/office/drawing/2014/main" id="{575C9460-D678-4640-8C61-3CF2E20D3B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1" y="2272"/>
                <a:ext cx="1034" cy="143"/>
              </a:xfrm>
              <a:prstGeom prst="roundRect">
                <a:avLst>
                  <a:gd name="adj" fmla="val 50000"/>
                </a:avLst>
              </a:prstGeom>
              <a:solidFill>
                <a:srgbClr val="C0D0F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</p:grpSp>
        <p:grpSp>
          <p:nvGrpSpPr>
            <p:cNvPr id="9" name="Group 14">
              <a:extLst>
                <a:ext uri="{FF2B5EF4-FFF2-40B4-BE49-F238E27FC236}">
                  <a16:creationId xmlns:a16="http://schemas.microsoft.com/office/drawing/2014/main" id="{2695AA43-8009-46C1-9C0B-519E4E6787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7141" y="3923118"/>
              <a:ext cx="1404937" cy="328613"/>
              <a:chOff x="663" y="2243"/>
              <a:chExt cx="1089" cy="196"/>
            </a:xfrm>
          </p:grpSpPr>
          <p:sp>
            <p:nvSpPr>
              <p:cNvPr id="74" name="AutoShape 15">
                <a:extLst>
                  <a:ext uri="{FF2B5EF4-FFF2-40B4-BE49-F238E27FC236}">
                    <a16:creationId xmlns:a16="http://schemas.microsoft.com/office/drawing/2014/main" id="{5F9ADC87-D9E3-4074-B64A-CEAB1838ED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3" y="2243"/>
                <a:ext cx="1089" cy="196"/>
              </a:xfrm>
              <a:prstGeom prst="roundRect">
                <a:avLst>
                  <a:gd name="adj" fmla="val 48569"/>
                </a:avLst>
              </a:prstGeom>
              <a:gradFill rotWithShape="0">
                <a:gsLst>
                  <a:gs pos="0">
                    <a:srgbClr val="274E9B"/>
                  </a:gs>
                  <a:gs pos="50000">
                    <a:srgbClr val="274E9B">
                      <a:gamma/>
                      <a:tint val="0"/>
                      <a:invGamma/>
                    </a:srgbClr>
                  </a:gs>
                  <a:gs pos="100000">
                    <a:srgbClr val="274E9B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75" name="AutoShape 16">
                <a:extLst>
                  <a:ext uri="{FF2B5EF4-FFF2-40B4-BE49-F238E27FC236}">
                    <a16:creationId xmlns:a16="http://schemas.microsoft.com/office/drawing/2014/main" id="{C0B1ED88-F7BA-420B-956C-1DAB94D70B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1" y="2272"/>
                <a:ext cx="1034" cy="143"/>
              </a:xfrm>
              <a:prstGeom prst="roundRect">
                <a:avLst>
                  <a:gd name="adj" fmla="val 50000"/>
                </a:avLst>
              </a:prstGeom>
              <a:solidFill>
                <a:srgbClr val="C0D0F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</p:grpSp>
        <p:grpSp>
          <p:nvGrpSpPr>
            <p:cNvPr id="10" name="Group 17">
              <a:extLst>
                <a:ext uri="{FF2B5EF4-FFF2-40B4-BE49-F238E27FC236}">
                  <a16:creationId xmlns:a16="http://schemas.microsoft.com/office/drawing/2014/main" id="{7793CA42-E9BD-46F7-8E36-6019976E30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2678" y="2445156"/>
              <a:ext cx="1625600" cy="484187"/>
              <a:chOff x="663" y="2243"/>
              <a:chExt cx="1089" cy="196"/>
            </a:xfrm>
          </p:grpSpPr>
          <p:sp>
            <p:nvSpPr>
              <p:cNvPr id="72" name="AutoShape 18">
                <a:extLst>
                  <a:ext uri="{FF2B5EF4-FFF2-40B4-BE49-F238E27FC236}">
                    <a16:creationId xmlns:a16="http://schemas.microsoft.com/office/drawing/2014/main" id="{AC1B10A4-3E88-41C5-AFC4-566A44E9D6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3" y="2243"/>
                <a:ext cx="1089" cy="196"/>
              </a:xfrm>
              <a:prstGeom prst="roundRect">
                <a:avLst>
                  <a:gd name="adj" fmla="val 48569"/>
                </a:avLst>
              </a:prstGeom>
              <a:gradFill rotWithShape="0">
                <a:gsLst>
                  <a:gs pos="0">
                    <a:srgbClr val="274E9B"/>
                  </a:gs>
                  <a:gs pos="50000">
                    <a:srgbClr val="274E9B">
                      <a:gamma/>
                      <a:tint val="0"/>
                      <a:invGamma/>
                    </a:srgbClr>
                  </a:gs>
                  <a:gs pos="100000">
                    <a:srgbClr val="274E9B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73" name="AutoShape 19">
                <a:extLst>
                  <a:ext uri="{FF2B5EF4-FFF2-40B4-BE49-F238E27FC236}">
                    <a16:creationId xmlns:a16="http://schemas.microsoft.com/office/drawing/2014/main" id="{7EE77322-BC99-463D-BE53-D8A2CB6B22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1" y="2272"/>
                <a:ext cx="1034" cy="143"/>
              </a:xfrm>
              <a:prstGeom prst="roundRect">
                <a:avLst>
                  <a:gd name="adj" fmla="val 50000"/>
                </a:avLst>
              </a:prstGeom>
              <a:solidFill>
                <a:srgbClr val="C0D0F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</p:grpSp>
        <p:grpSp>
          <p:nvGrpSpPr>
            <p:cNvPr id="11" name="Group 20">
              <a:extLst>
                <a:ext uri="{FF2B5EF4-FFF2-40B4-BE49-F238E27FC236}">
                  <a16:creationId xmlns:a16="http://schemas.microsoft.com/office/drawing/2014/main" id="{125FD18D-A855-41CB-8C67-A84385B9C8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1166" y="1941918"/>
              <a:ext cx="1597025" cy="485775"/>
              <a:chOff x="556" y="4195"/>
              <a:chExt cx="876" cy="320"/>
            </a:xfrm>
          </p:grpSpPr>
          <p:sp>
            <p:nvSpPr>
              <p:cNvPr id="70" name="AutoShape 21">
                <a:extLst>
                  <a:ext uri="{FF2B5EF4-FFF2-40B4-BE49-F238E27FC236}">
                    <a16:creationId xmlns:a16="http://schemas.microsoft.com/office/drawing/2014/main" id="{FA6158EC-9E0C-45B2-BB44-12696E4C97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" y="4195"/>
                <a:ext cx="876" cy="320"/>
              </a:xfrm>
              <a:prstGeom prst="roundRect">
                <a:avLst>
                  <a:gd name="adj" fmla="val 0"/>
                </a:avLst>
              </a:prstGeom>
              <a:solidFill>
                <a:srgbClr val="CFDAF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6D92DB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71" name="AutoShape 22">
                <a:extLst>
                  <a:ext uri="{FF2B5EF4-FFF2-40B4-BE49-F238E27FC236}">
                    <a16:creationId xmlns:a16="http://schemas.microsoft.com/office/drawing/2014/main" id="{739C1ED5-316F-45B9-826D-6C793D9592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" y="4213"/>
                <a:ext cx="822" cy="278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rgbClr val="638AD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</p:grpSp>
        <p:grpSp>
          <p:nvGrpSpPr>
            <p:cNvPr id="12" name="Group 23">
              <a:extLst>
                <a:ext uri="{FF2B5EF4-FFF2-40B4-BE49-F238E27FC236}">
                  <a16:creationId xmlns:a16="http://schemas.microsoft.com/office/drawing/2014/main" id="{7E0C15C6-D738-46B3-8F82-DA61003FDF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0053" y="1953031"/>
              <a:ext cx="798513" cy="485775"/>
              <a:chOff x="556" y="4195"/>
              <a:chExt cx="876" cy="320"/>
            </a:xfrm>
          </p:grpSpPr>
          <p:sp>
            <p:nvSpPr>
              <p:cNvPr id="68" name="AutoShape 24">
                <a:extLst>
                  <a:ext uri="{FF2B5EF4-FFF2-40B4-BE49-F238E27FC236}">
                    <a16:creationId xmlns:a16="http://schemas.microsoft.com/office/drawing/2014/main" id="{8265D3D8-4167-4BB1-B1C9-91C7A99860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" y="4195"/>
                <a:ext cx="876" cy="320"/>
              </a:xfrm>
              <a:prstGeom prst="roundRect">
                <a:avLst>
                  <a:gd name="adj" fmla="val 0"/>
                </a:avLst>
              </a:prstGeom>
              <a:solidFill>
                <a:srgbClr val="CFDAF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6D92DB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69" name="AutoShape 25">
                <a:extLst>
                  <a:ext uri="{FF2B5EF4-FFF2-40B4-BE49-F238E27FC236}">
                    <a16:creationId xmlns:a16="http://schemas.microsoft.com/office/drawing/2014/main" id="{F231BB9B-B922-4357-B94F-027E22D96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" y="4213"/>
                <a:ext cx="822" cy="278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rgbClr val="638AD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</p:grpSp>
        <p:grpSp>
          <p:nvGrpSpPr>
            <p:cNvPr id="13" name="Group 26">
              <a:extLst>
                <a:ext uri="{FF2B5EF4-FFF2-40B4-BE49-F238E27FC236}">
                  <a16:creationId xmlns:a16="http://schemas.microsoft.com/office/drawing/2014/main" id="{9EC35FFA-0765-4E93-A4AC-AE3D241428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5841" y="3545293"/>
              <a:ext cx="798512" cy="290513"/>
              <a:chOff x="556" y="4195"/>
              <a:chExt cx="876" cy="320"/>
            </a:xfrm>
          </p:grpSpPr>
          <p:sp>
            <p:nvSpPr>
              <p:cNvPr id="66" name="AutoShape 27">
                <a:extLst>
                  <a:ext uri="{FF2B5EF4-FFF2-40B4-BE49-F238E27FC236}">
                    <a16:creationId xmlns:a16="http://schemas.microsoft.com/office/drawing/2014/main" id="{12A3FF03-68EA-4DB1-BC4A-32F259A642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" y="4195"/>
                <a:ext cx="876" cy="320"/>
              </a:xfrm>
              <a:prstGeom prst="roundRect">
                <a:avLst>
                  <a:gd name="adj" fmla="val 0"/>
                </a:avLst>
              </a:prstGeom>
              <a:solidFill>
                <a:srgbClr val="CFDAF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6D92DB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67" name="AutoShape 28">
                <a:extLst>
                  <a:ext uri="{FF2B5EF4-FFF2-40B4-BE49-F238E27FC236}">
                    <a16:creationId xmlns:a16="http://schemas.microsoft.com/office/drawing/2014/main" id="{42F9AE0C-FE76-4C78-ACFB-152AD8F693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" y="4213"/>
                <a:ext cx="822" cy="278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rgbClr val="638AD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</p:grpSp>
        <p:grpSp>
          <p:nvGrpSpPr>
            <p:cNvPr id="14" name="Group 29">
              <a:extLst>
                <a:ext uri="{FF2B5EF4-FFF2-40B4-BE49-F238E27FC236}">
                  <a16:creationId xmlns:a16="http://schemas.microsoft.com/office/drawing/2014/main" id="{F5C784DD-825A-490F-94E2-F1EEEA3C05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7691" y="3545293"/>
              <a:ext cx="1106487" cy="290513"/>
              <a:chOff x="556" y="4195"/>
              <a:chExt cx="876" cy="320"/>
            </a:xfrm>
          </p:grpSpPr>
          <p:sp>
            <p:nvSpPr>
              <p:cNvPr id="64" name="AutoShape 30">
                <a:extLst>
                  <a:ext uri="{FF2B5EF4-FFF2-40B4-BE49-F238E27FC236}">
                    <a16:creationId xmlns:a16="http://schemas.microsoft.com/office/drawing/2014/main" id="{D13B04BC-5148-4769-B002-BF9923A6BE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" y="4195"/>
                <a:ext cx="876" cy="320"/>
              </a:xfrm>
              <a:prstGeom prst="roundRect">
                <a:avLst>
                  <a:gd name="adj" fmla="val 0"/>
                </a:avLst>
              </a:prstGeom>
              <a:solidFill>
                <a:srgbClr val="CFDAF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6D92DB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65" name="AutoShape 31">
                <a:extLst>
                  <a:ext uri="{FF2B5EF4-FFF2-40B4-BE49-F238E27FC236}">
                    <a16:creationId xmlns:a16="http://schemas.microsoft.com/office/drawing/2014/main" id="{6E02EF61-16DD-4298-91EB-F393EB9218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" y="4213"/>
                <a:ext cx="822" cy="278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rgbClr val="638AD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</p:grpSp>
        <p:grpSp>
          <p:nvGrpSpPr>
            <p:cNvPr id="15" name="Group 32">
              <a:extLst>
                <a:ext uri="{FF2B5EF4-FFF2-40B4-BE49-F238E27FC236}">
                  <a16:creationId xmlns:a16="http://schemas.microsoft.com/office/drawing/2014/main" id="{E069DF41-6C95-4802-A2B4-CE68260E05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69078" y="4572406"/>
              <a:ext cx="798513" cy="290512"/>
              <a:chOff x="556" y="4195"/>
              <a:chExt cx="876" cy="320"/>
            </a:xfrm>
          </p:grpSpPr>
          <p:sp>
            <p:nvSpPr>
              <p:cNvPr id="62" name="AutoShape 33">
                <a:extLst>
                  <a:ext uri="{FF2B5EF4-FFF2-40B4-BE49-F238E27FC236}">
                    <a16:creationId xmlns:a16="http://schemas.microsoft.com/office/drawing/2014/main" id="{03965FF5-BF29-4605-83B9-90A45345E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" y="4195"/>
                <a:ext cx="876" cy="320"/>
              </a:xfrm>
              <a:prstGeom prst="roundRect">
                <a:avLst>
                  <a:gd name="adj" fmla="val 0"/>
                </a:avLst>
              </a:prstGeom>
              <a:solidFill>
                <a:srgbClr val="CFDAF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6D92DB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63" name="AutoShape 34">
                <a:extLst>
                  <a:ext uri="{FF2B5EF4-FFF2-40B4-BE49-F238E27FC236}">
                    <a16:creationId xmlns:a16="http://schemas.microsoft.com/office/drawing/2014/main" id="{954078F9-DCDA-427D-A651-3090131AF5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" y="4213"/>
                <a:ext cx="822" cy="278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rgbClr val="638AD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</p:grpSp>
        <p:grpSp>
          <p:nvGrpSpPr>
            <p:cNvPr id="16" name="Group 35">
              <a:extLst>
                <a:ext uri="{FF2B5EF4-FFF2-40B4-BE49-F238E27FC236}">
                  <a16:creationId xmlns:a16="http://schemas.microsoft.com/office/drawing/2014/main" id="{AB76AA7F-8324-409C-BFC0-7CF91D2A5B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8603" y="4899431"/>
              <a:ext cx="798513" cy="436562"/>
              <a:chOff x="556" y="4195"/>
              <a:chExt cx="876" cy="320"/>
            </a:xfrm>
          </p:grpSpPr>
          <p:sp>
            <p:nvSpPr>
              <p:cNvPr id="60" name="AutoShape 36">
                <a:extLst>
                  <a:ext uri="{FF2B5EF4-FFF2-40B4-BE49-F238E27FC236}">
                    <a16:creationId xmlns:a16="http://schemas.microsoft.com/office/drawing/2014/main" id="{66BBF1DB-BE99-4E20-B878-30E39CC8D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" y="4195"/>
                <a:ext cx="876" cy="320"/>
              </a:xfrm>
              <a:prstGeom prst="roundRect">
                <a:avLst>
                  <a:gd name="adj" fmla="val 0"/>
                </a:avLst>
              </a:prstGeom>
              <a:solidFill>
                <a:srgbClr val="CFDAF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6D92DB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61" name="AutoShape 37">
                <a:extLst>
                  <a:ext uri="{FF2B5EF4-FFF2-40B4-BE49-F238E27FC236}">
                    <a16:creationId xmlns:a16="http://schemas.microsoft.com/office/drawing/2014/main" id="{63442D50-04ED-47BA-8E7F-B1F7CF51F0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" y="4213"/>
                <a:ext cx="822" cy="278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rgbClr val="638AD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</p:grpSp>
        <p:sp>
          <p:nvSpPr>
            <p:cNvPr id="17" name="Line 46">
              <a:extLst>
                <a:ext uri="{FF2B5EF4-FFF2-40B4-BE49-F238E27FC236}">
                  <a16:creationId xmlns:a16="http://schemas.microsoft.com/office/drawing/2014/main" id="{52249907-8A6D-4DD7-A076-B987742E01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07266" y="1875243"/>
              <a:ext cx="1727200" cy="36814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2000" b="1">
                <a:latin typeface="+mj-ea"/>
                <a:ea typeface="+mj-ea"/>
              </a:endParaRPr>
            </a:p>
          </p:txBody>
        </p:sp>
        <p:sp>
          <p:nvSpPr>
            <p:cNvPr id="18" name="Line 47">
              <a:extLst>
                <a:ext uri="{FF2B5EF4-FFF2-40B4-BE49-F238E27FC236}">
                  <a16:creationId xmlns:a16="http://schemas.microsoft.com/office/drawing/2014/main" id="{CFC8648A-9439-41E6-BB78-9620175B36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3166" y="1895881"/>
              <a:ext cx="1727200" cy="3683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2000" b="1">
                <a:latin typeface="+mj-ea"/>
                <a:ea typeface="+mj-ea"/>
              </a:endParaRPr>
            </a:p>
          </p:txBody>
        </p:sp>
        <p:sp>
          <p:nvSpPr>
            <p:cNvPr id="19" name="AutoShape 48">
              <a:extLst>
                <a:ext uri="{FF2B5EF4-FFF2-40B4-BE49-F238E27FC236}">
                  <a16:creationId xmlns:a16="http://schemas.microsoft.com/office/drawing/2014/main" id="{B3E0D1E3-1CE8-4AA9-B581-D2943E73D0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2441" y="1980018"/>
              <a:ext cx="706437" cy="417513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2000" b="1">
                <a:latin typeface="+mj-ea"/>
                <a:ea typeface="+mj-ea"/>
              </a:endParaRPr>
            </a:p>
          </p:txBody>
        </p:sp>
        <p:sp>
          <p:nvSpPr>
            <p:cNvPr id="20" name="Text Box 53">
              <a:extLst>
                <a:ext uri="{FF2B5EF4-FFF2-40B4-BE49-F238E27FC236}">
                  <a16:creationId xmlns:a16="http://schemas.microsoft.com/office/drawing/2014/main" id="{4FFA2992-7DD4-4657-8B19-02B7057F1E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2807" y="4593043"/>
              <a:ext cx="915504" cy="2327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100" b="1" dirty="0">
                  <a:latin typeface="+mj-ea"/>
                  <a:ea typeface="+mj-ea"/>
                </a:rPr>
                <a:t>단위 모듈검토</a:t>
              </a:r>
            </a:p>
          </p:txBody>
        </p:sp>
        <p:sp>
          <p:nvSpPr>
            <p:cNvPr id="21" name="Text Box 54">
              <a:extLst>
                <a:ext uri="{FF2B5EF4-FFF2-40B4-BE49-F238E27FC236}">
                  <a16:creationId xmlns:a16="http://schemas.microsoft.com/office/drawing/2014/main" id="{86B16D6E-27F7-4235-927B-456B04C74F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5158" y="4908956"/>
              <a:ext cx="676512" cy="383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100" b="1">
                  <a:latin typeface="+mj-ea"/>
                  <a:ea typeface="+mj-ea"/>
                </a:rPr>
                <a:t>단위 시험</a:t>
              </a:r>
            </a:p>
            <a:p>
              <a:pPr algn="ctr"/>
              <a:r>
                <a:rPr lang="ko-KR" altLang="en-US" sz="1100" b="1">
                  <a:latin typeface="+mj-ea"/>
                  <a:ea typeface="+mj-ea"/>
                </a:rPr>
                <a:t>검토</a:t>
              </a:r>
            </a:p>
          </p:txBody>
        </p:sp>
        <p:sp>
          <p:nvSpPr>
            <p:cNvPr id="22" name="Text Box 55">
              <a:extLst>
                <a:ext uri="{FF2B5EF4-FFF2-40B4-BE49-F238E27FC236}">
                  <a16:creationId xmlns:a16="http://schemas.microsoft.com/office/drawing/2014/main" id="{5833960D-C827-4974-B47A-6E0DFAF59B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5889" y="5547131"/>
              <a:ext cx="1030927" cy="246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200" b="1">
                  <a:latin typeface="+mj-ea"/>
                  <a:ea typeface="+mj-ea"/>
                </a:rPr>
                <a:t>단위 시험 계획</a:t>
              </a:r>
            </a:p>
          </p:txBody>
        </p:sp>
        <p:sp>
          <p:nvSpPr>
            <p:cNvPr id="23" name="Text Box 56">
              <a:extLst>
                <a:ext uri="{FF2B5EF4-FFF2-40B4-BE49-F238E27FC236}">
                  <a16:creationId xmlns:a16="http://schemas.microsoft.com/office/drawing/2014/main" id="{0F2C0729-A008-4520-A282-E2167F9D23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0016" y="3950106"/>
              <a:ext cx="1098550" cy="246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ko-KR" altLang="en-US" sz="1200" b="1" dirty="0">
                  <a:latin typeface="+mj-ea"/>
                  <a:ea typeface="+mj-ea"/>
                </a:rPr>
                <a:t>통합 시험 계획</a:t>
              </a:r>
            </a:p>
          </p:txBody>
        </p:sp>
        <p:sp>
          <p:nvSpPr>
            <p:cNvPr id="24" name="Text Box 57">
              <a:extLst>
                <a:ext uri="{FF2B5EF4-FFF2-40B4-BE49-F238E27FC236}">
                  <a16:creationId xmlns:a16="http://schemas.microsoft.com/office/drawing/2014/main" id="{A7246A17-2397-4C33-A88F-DE5073CE7C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4028" y="2082724"/>
              <a:ext cx="677870" cy="246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ko-KR" altLang="en-US" sz="1200" b="1" dirty="0">
                  <a:latin typeface="+mj-ea"/>
                  <a:ea typeface="+mj-ea"/>
                </a:rPr>
                <a:t>분석검토</a:t>
              </a:r>
              <a:endParaRPr lang="ko-KR" altLang="en-US" sz="1050" b="1" dirty="0">
                <a:latin typeface="+mj-ea"/>
                <a:ea typeface="+mj-ea"/>
              </a:endParaRPr>
            </a:p>
          </p:txBody>
        </p:sp>
        <p:sp>
          <p:nvSpPr>
            <p:cNvPr id="25" name="Text Box 58">
              <a:extLst>
                <a:ext uri="{FF2B5EF4-FFF2-40B4-BE49-F238E27FC236}">
                  <a16:creationId xmlns:a16="http://schemas.microsoft.com/office/drawing/2014/main" id="{9BE0348B-F90E-4A2E-A4B5-C6E6F53D49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0216" y="2045521"/>
              <a:ext cx="1603375" cy="246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ko-KR" sz="1200" b="1" dirty="0">
                  <a:latin typeface="+mj-ea"/>
                  <a:ea typeface="+mj-ea"/>
                </a:rPr>
                <a:t>Alpha Test</a:t>
              </a:r>
              <a:r>
                <a:rPr lang="ko-KR" altLang="en-US" sz="1200" b="1" dirty="0">
                  <a:latin typeface="+mj-ea"/>
                  <a:ea typeface="+mj-ea"/>
                </a:rPr>
                <a:t> 검토</a:t>
              </a:r>
            </a:p>
          </p:txBody>
        </p:sp>
        <p:sp>
          <p:nvSpPr>
            <p:cNvPr id="26" name="Text Box 59">
              <a:extLst>
                <a:ext uri="{FF2B5EF4-FFF2-40B4-BE49-F238E27FC236}">
                  <a16:creationId xmlns:a16="http://schemas.microsoft.com/office/drawing/2014/main" id="{F966242B-239E-4A94-A0F1-078B3F61CA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6738" y="3548918"/>
              <a:ext cx="676512" cy="2327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ko-KR" altLang="en-US" sz="1100" b="1">
                  <a:latin typeface="+mj-ea"/>
                  <a:ea typeface="+mj-ea"/>
                </a:rPr>
                <a:t>설계 검토</a:t>
              </a:r>
            </a:p>
          </p:txBody>
        </p:sp>
        <p:sp>
          <p:nvSpPr>
            <p:cNvPr id="27" name="Text Box 60">
              <a:extLst>
                <a:ext uri="{FF2B5EF4-FFF2-40B4-BE49-F238E27FC236}">
                  <a16:creationId xmlns:a16="http://schemas.microsoft.com/office/drawing/2014/main" id="{8BD48087-20CE-4B11-99D9-48BF7DC0A3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4137" y="3558443"/>
              <a:ext cx="957600" cy="2327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ko-KR" altLang="en-US" sz="1100" b="1" dirty="0">
                  <a:latin typeface="+mj-ea"/>
                  <a:ea typeface="+mj-ea"/>
                </a:rPr>
                <a:t>통합 시험 검토</a:t>
              </a:r>
            </a:p>
          </p:txBody>
        </p:sp>
        <p:sp>
          <p:nvSpPr>
            <p:cNvPr id="28" name="Line 61">
              <a:extLst>
                <a:ext uri="{FF2B5EF4-FFF2-40B4-BE49-F238E27FC236}">
                  <a16:creationId xmlns:a16="http://schemas.microsoft.com/office/drawing/2014/main" id="{49C4918E-508C-4E83-BAFF-485D954A80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7428" y="5075643"/>
              <a:ext cx="1952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2000" b="1">
                <a:latin typeface="+mj-ea"/>
                <a:ea typeface="+mj-ea"/>
              </a:endParaRPr>
            </a:p>
          </p:txBody>
        </p:sp>
        <p:sp>
          <p:nvSpPr>
            <p:cNvPr id="29" name="Line 62">
              <a:extLst>
                <a:ext uri="{FF2B5EF4-FFF2-40B4-BE49-F238E27FC236}">
                  <a16:creationId xmlns:a16="http://schemas.microsoft.com/office/drawing/2014/main" id="{48E1C946-CD38-4D1E-B669-0A11B3B2E0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6666" y="4742268"/>
              <a:ext cx="3143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2000" b="1">
                <a:latin typeface="+mj-ea"/>
                <a:ea typeface="+mj-ea"/>
              </a:endParaRPr>
            </a:p>
          </p:txBody>
        </p:sp>
        <p:sp>
          <p:nvSpPr>
            <p:cNvPr id="30" name="Line 63">
              <a:extLst>
                <a:ext uri="{FF2B5EF4-FFF2-40B4-BE49-F238E27FC236}">
                  <a16:creationId xmlns:a16="http://schemas.microsoft.com/office/drawing/2014/main" id="{F0D3A180-2107-485E-8917-BD39A89C4A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2341" y="4072343"/>
              <a:ext cx="4191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2000" b="1">
                <a:latin typeface="+mj-ea"/>
                <a:ea typeface="+mj-ea"/>
              </a:endParaRPr>
            </a:p>
          </p:txBody>
        </p:sp>
        <p:sp>
          <p:nvSpPr>
            <p:cNvPr id="31" name="Line 64">
              <a:extLst>
                <a:ext uri="{FF2B5EF4-FFF2-40B4-BE49-F238E27FC236}">
                  <a16:creationId xmlns:a16="http://schemas.microsoft.com/office/drawing/2014/main" id="{1DDE0572-5184-4138-B11A-B9E1CD2A0C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3328" y="4072343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2000" b="1">
                <a:latin typeface="+mj-ea"/>
                <a:ea typeface="+mj-ea"/>
              </a:endParaRPr>
            </a:p>
          </p:txBody>
        </p:sp>
        <p:sp>
          <p:nvSpPr>
            <p:cNvPr id="32" name="Line 65">
              <a:extLst>
                <a:ext uri="{FF2B5EF4-FFF2-40B4-BE49-F238E27FC236}">
                  <a16:creationId xmlns:a16="http://schemas.microsoft.com/office/drawing/2014/main" id="{C14DDF0A-8778-43A9-AC2F-C4BD281C9D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5753" y="2668993"/>
              <a:ext cx="8620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2000" b="1">
                <a:latin typeface="+mj-ea"/>
                <a:ea typeface="+mj-ea"/>
              </a:endParaRPr>
            </a:p>
          </p:txBody>
        </p:sp>
        <p:sp>
          <p:nvSpPr>
            <p:cNvPr id="33" name="Line 66">
              <a:extLst>
                <a:ext uri="{FF2B5EF4-FFF2-40B4-BE49-F238E27FC236}">
                  <a16:creationId xmlns:a16="http://schemas.microsoft.com/office/drawing/2014/main" id="{70E7A2D8-A644-4926-A9D8-D44DFF9CCE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00978" y="2649943"/>
              <a:ext cx="869950" cy="3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2000" b="1">
                <a:latin typeface="+mj-ea"/>
                <a:ea typeface="+mj-ea"/>
              </a:endParaRPr>
            </a:p>
          </p:txBody>
        </p:sp>
        <p:sp>
          <p:nvSpPr>
            <p:cNvPr id="34" name="Line 67">
              <a:extLst>
                <a:ext uri="{FF2B5EF4-FFF2-40B4-BE49-F238E27FC236}">
                  <a16:creationId xmlns:a16="http://schemas.microsoft.com/office/drawing/2014/main" id="{3FB10D51-AE9F-441D-9A8A-AC287DF4F1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7553" y="3662768"/>
              <a:ext cx="3127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2000" b="1">
                <a:latin typeface="+mj-ea"/>
                <a:ea typeface="+mj-ea"/>
              </a:endParaRPr>
            </a:p>
          </p:txBody>
        </p:sp>
        <p:sp>
          <p:nvSpPr>
            <p:cNvPr id="35" name="Line 68">
              <a:extLst>
                <a:ext uri="{FF2B5EF4-FFF2-40B4-BE49-F238E27FC236}">
                  <a16:creationId xmlns:a16="http://schemas.microsoft.com/office/drawing/2014/main" id="{43B81A6E-A3A5-4AA1-830D-024E3551A2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4653" y="3653243"/>
              <a:ext cx="2047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2000" b="1">
                <a:latin typeface="+mj-ea"/>
                <a:ea typeface="+mj-ea"/>
              </a:endParaRPr>
            </a:p>
          </p:txBody>
        </p:sp>
        <p:sp>
          <p:nvSpPr>
            <p:cNvPr id="36" name="Line 69">
              <a:extLst>
                <a:ext uri="{FF2B5EF4-FFF2-40B4-BE49-F238E27FC236}">
                  <a16:creationId xmlns:a16="http://schemas.microsoft.com/office/drawing/2014/main" id="{18070389-FB00-4994-B056-0AAEC5E185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0328" y="2178456"/>
              <a:ext cx="3921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2000" b="1">
                <a:latin typeface="+mj-ea"/>
                <a:ea typeface="+mj-ea"/>
              </a:endParaRPr>
            </a:p>
          </p:txBody>
        </p:sp>
        <p:sp>
          <p:nvSpPr>
            <p:cNvPr id="37" name="Line 70">
              <a:extLst>
                <a:ext uri="{FF2B5EF4-FFF2-40B4-BE49-F238E27FC236}">
                  <a16:creationId xmlns:a16="http://schemas.microsoft.com/office/drawing/2014/main" id="{456A1F75-C23E-47F7-A461-4134B18431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8191" y="2146706"/>
              <a:ext cx="5492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2000" b="1">
                <a:latin typeface="+mj-ea"/>
                <a:ea typeface="+mj-ea"/>
              </a:endParaRPr>
            </a:p>
          </p:txBody>
        </p:sp>
        <p:sp>
          <p:nvSpPr>
            <p:cNvPr id="38" name="Text Box 71">
              <a:extLst>
                <a:ext uri="{FF2B5EF4-FFF2-40B4-BE49-F238E27FC236}">
                  <a16:creationId xmlns:a16="http://schemas.microsoft.com/office/drawing/2014/main" id="{128C7AAD-0CA5-4C9B-A5AA-25FC5E49A7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8807" y="2548760"/>
              <a:ext cx="1411288" cy="246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ko-KR" altLang="en-US" sz="1200" b="1" dirty="0">
                  <a:latin typeface="+mj-ea"/>
                  <a:ea typeface="+mj-ea"/>
                </a:rPr>
                <a:t>시스템 시험 계획</a:t>
              </a:r>
            </a:p>
          </p:txBody>
        </p:sp>
        <p:sp>
          <p:nvSpPr>
            <p:cNvPr id="39" name="Text Box 72">
              <a:extLst>
                <a:ext uri="{FF2B5EF4-FFF2-40B4-BE49-F238E27FC236}">
                  <a16:creationId xmlns:a16="http://schemas.microsoft.com/office/drawing/2014/main" id="{92CADEA9-36C2-4A50-9551-888D33E166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3578" y="1568856"/>
              <a:ext cx="1552575" cy="246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ko-KR" sz="1200" b="1" dirty="0">
                  <a:latin typeface="+mj-ea"/>
                  <a:ea typeface="+mj-ea"/>
                </a:rPr>
                <a:t>Alpha Test</a:t>
              </a:r>
              <a:r>
                <a:rPr lang="ko-KR" altLang="en-US" sz="1200" b="1" dirty="0">
                  <a:latin typeface="+mj-ea"/>
                  <a:ea typeface="+mj-ea"/>
                </a:rPr>
                <a:t> 실행</a:t>
              </a:r>
            </a:p>
          </p:txBody>
        </p:sp>
        <p:grpSp>
          <p:nvGrpSpPr>
            <p:cNvPr id="40" name="Group 74">
              <a:extLst>
                <a:ext uri="{FF2B5EF4-FFF2-40B4-BE49-F238E27FC236}">
                  <a16:creationId xmlns:a16="http://schemas.microsoft.com/office/drawing/2014/main" id="{4A20713C-4468-46EC-BDA2-75BC84EF1C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32741" y="3054762"/>
              <a:ext cx="1296987" cy="363538"/>
              <a:chOff x="2659" y="2861"/>
              <a:chExt cx="1086" cy="229"/>
            </a:xfrm>
          </p:grpSpPr>
          <p:sp>
            <p:nvSpPr>
              <p:cNvPr id="58" name="AutoShape 75">
                <a:extLst>
                  <a:ext uri="{FF2B5EF4-FFF2-40B4-BE49-F238E27FC236}">
                    <a16:creationId xmlns:a16="http://schemas.microsoft.com/office/drawing/2014/main" id="{10872458-AFED-4E0C-82AF-2C3D641BED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2659" y="2864"/>
                <a:ext cx="1086" cy="220"/>
              </a:xfrm>
              <a:prstGeom prst="roundRect">
                <a:avLst>
                  <a:gd name="adj" fmla="val 6065"/>
                </a:avLst>
              </a:prstGeom>
              <a:gradFill rotWithShape="0">
                <a:gsLst>
                  <a:gs pos="0">
                    <a:srgbClr val="6C9ED0">
                      <a:gamma/>
                      <a:tint val="9020"/>
                      <a:invGamma/>
                    </a:srgbClr>
                  </a:gs>
                  <a:gs pos="100000">
                    <a:srgbClr val="6C9ED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59" name="AutoShape 76">
                <a:extLst>
                  <a:ext uri="{FF2B5EF4-FFF2-40B4-BE49-F238E27FC236}">
                    <a16:creationId xmlns:a16="http://schemas.microsoft.com/office/drawing/2014/main" id="{3D03C194-B44D-4417-B049-CD79A53F25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" y="2861"/>
                <a:ext cx="1026" cy="229"/>
              </a:xfrm>
              <a:prstGeom prst="roundRect">
                <a:avLst>
                  <a:gd name="adj" fmla="val 4287"/>
                </a:avLst>
              </a:prstGeom>
              <a:gradFill rotWithShape="0">
                <a:gsLst>
                  <a:gs pos="0">
                    <a:srgbClr val="DFEAF5"/>
                  </a:gs>
                  <a:gs pos="100000">
                    <a:srgbClr val="DFEAF5">
                      <a:gamma/>
                      <a:tint val="9020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>
                <a:prstShdw prst="shdw18" dist="17961" dir="13500000">
                  <a:srgbClr val="DFEAF5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635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</p:grpSp>
        <p:sp>
          <p:nvSpPr>
            <p:cNvPr id="41" name="Text Box 77">
              <a:extLst>
                <a:ext uri="{FF2B5EF4-FFF2-40B4-BE49-F238E27FC236}">
                  <a16:creationId xmlns:a16="http://schemas.microsoft.com/office/drawing/2014/main" id="{5C676B7D-3BF9-4291-A6C2-CF83155EF2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4028" y="3102381"/>
              <a:ext cx="1030927" cy="246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ko-KR" altLang="en-US" sz="1200" b="1" dirty="0">
                  <a:latin typeface="+mj-ea"/>
                  <a:ea typeface="+mj-ea"/>
                </a:rPr>
                <a:t>통합 시험 실행</a:t>
              </a:r>
            </a:p>
          </p:txBody>
        </p:sp>
        <p:grpSp>
          <p:nvGrpSpPr>
            <p:cNvPr id="42" name="Group 78">
              <a:extLst>
                <a:ext uri="{FF2B5EF4-FFF2-40B4-BE49-F238E27FC236}">
                  <a16:creationId xmlns:a16="http://schemas.microsoft.com/office/drawing/2014/main" id="{466B7E4F-4650-415A-9CC5-CC1BECAD88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2828" y="4277137"/>
              <a:ext cx="1296988" cy="363538"/>
              <a:chOff x="2659" y="2861"/>
              <a:chExt cx="1086" cy="229"/>
            </a:xfrm>
          </p:grpSpPr>
          <p:sp>
            <p:nvSpPr>
              <p:cNvPr id="56" name="AutoShape 79">
                <a:extLst>
                  <a:ext uri="{FF2B5EF4-FFF2-40B4-BE49-F238E27FC236}">
                    <a16:creationId xmlns:a16="http://schemas.microsoft.com/office/drawing/2014/main" id="{91BC083B-66BB-4A4E-8367-9492768B58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2659" y="2864"/>
                <a:ext cx="1086" cy="220"/>
              </a:xfrm>
              <a:prstGeom prst="roundRect">
                <a:avLst>
                  <a:gd name="adj" fmla="val 6065"/>
                </a:avLst>
              </a:prstGeom>
              <a:gradFill rotWithShape="0">
                <a:gsLst>
                  <a:gs pos="0">
                    <a:srgbClr val="6C9ED0">
                      <a:gamma/>
                      <a:tint val="9020"/>
                      <a:invGamma/>
                    </a:srgbClr>
                  </a:gs>
                  <a:gs pos="100000">
                    <a:srgbClr val="6C9ED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57" name="AutoShape 80">
                <a:extLst>
                  <a:ext uri="{FF2B5EF4-FFF2-40B4-BE49-F238E27FC236}">
                    <a16:creationId xmlns:a16="http://schemas.microsoft.com/office/drawing/2014/main" id="{92172E2D-4688-4CFF-9A41-4A5E06C62E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" y="2861"/>
                <a:ext cx="1026" cy="229"/>
              </a:xfrm>
              <a:prstGeom prst="roundRect">
                <a:avLst>
                  <a:gd name="adj" fmla="val 4287"/>
                </a:avLst>
              </a:prstGeom>
              <a:gradFill rotWithShape="0">
                <a:gsLst>
                  <a:gs pos="0">
                    <a:srgbClr val="DFEAF5"/>
                  </a:gs>
                  <a:gs pos="100000">
                    <a:srgbClr val="DFEAF5">
                      <a:gamma/>
                      <a:tint val="9020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>
                <a:prstShdw prst="shdw18" dist="17961" dir="13500000">
                  <a:srgbClr val="DFEAF5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635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</p:grpSp>
        <p:sp>
          <p:nvSpPr>
            <p:cNvPr id="43" name="Text Box 81">
              <a:extLst>
                <a:ext uri="{FF2B5EF4-FFF2-40B4-BE49-F238E27FC236}">
                  <a16:creationId xmlns:a16="http://schemas.microsoft.com/office/drawing/2014/main" id="{25D0C9F8-074D-44EA-8835-E13AC99843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1416" y="4323168"/>
              <a:ext cx="1030927" cy="246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ko-KR" altLang="en-US" sz="1200" b="1">
                  <a:latin typeface="+mj-ea"/>
                  <a:ea typeface="+mj-ea"/>
                </a:rPr>
                <a:t>단위 시험 실행</a:t>
              </a:r>
            </a:p>
          </p:txBody>
        </p:sp>
        <p:grpSp>
          <p:nvGrpSpPr>
            <p:cNvPr id="44" name="Group 86">
              <a:extLst>
                <a:ext uri="{FF2B5EF4-FFF2-40B4-BE49-F238E27FC236}">
                  <a16:creationId xmlns:a16="http://schemas.microsoft.com/office/drawing/2014/main" id="{CAB35B70-F933-4E48-91C0-315842AD50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7553" y="1513300"/>
              <a:ext cx="758825" cy="363538"/>
              <a:chOff x="2659" y="2861"/>
              <a:chExt cx="1086" cy="229"/>
            </a:xfrm>
          </p:grpSpPr>
          <p:sp>
            <p:nvSpPr>
              <p:cNvPr id="54" name="AutoShape 87">
                <a:extLst>
                  <a:ext uri="{FF2B5EF4-FFF2-40B4-BE49-F238E27FC236}">
                    <a16:creationId xmlns:a16="http://schemas.microsoft.com/office/drawing/2014/main" id="{873B365F-47EB-4D73-9C62-2A24F065E1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2659" y="2864"/>
                <a:ext cx="1086" cy="220"/>
              </a:xfrm>
              <a:prstGeom prst="roundRect">
                <a:avLst>
                  <a:gd name="adj" fmla="val 6065"/>
                </a:avLst>
              </a:prstGeom>
              <a:gradFill rotWithShape="0">
                <a:gsLst>
                  <a:gs pos="0">
                    <a:srgbClr val="6C9ED0">
                      <a:gamma/>
                      <a:tint val="9020"/>
                      <a:invGamma/>
                    </a:srgbClr>
                  </a:gs>
                  <a:gs pos="100000">
                    <a:srgbClr val="6C9ED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55" name="AutoShape 88">
                <a:extLst>
                  <a:ext uri="{FF2B5EF4-FFF2-40B4-BE49-F238E27FC236}">
                    <a16:creationId xmlns:a16="http://schemas.microsoft.com/office/drawing/2014/main" id="{5CA24963-2BA0-4F52-AC9A-154B3F8038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" y="2861"/>
                <a:ext cx="1026" cy="229"/>
              </a:xfrm>
              <a:prstGeom prst="roundRect">
                <a:avLst>
                  <a:gd name="adj" fmla="val 4287"/>
                </a:avLst>
              </a:prstGeom>
              <a:gradFill rotWithShape="0">
                <a:gsLst>
                  <a:gs pos="0">
                    <a:srgbClr val="DFEAF5"/>
                  </a:gs>
                  <a:gs pos="100000">
                    <a:srgbClr val="DFEAF5">
                      <a:gamma/>
                      <a:tint val="9020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>
                <a:prstShdw prst="shdw18" dist="17961" dir="13500000">
                  <a:srgbClr val="DFEAF5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635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</p:grpSp>
        <p:grpSp>
          <p:nvGrpSpPr>
            <p:cNvPr id="45" name="Group 89">
              <a:extLst>
                <a:ext uri="{FF2B5EF4-FFF2-40B4-BE49-F238E27FC236}">
                  <a16:creationId xmlns:a16="http://schemas.microsoft.com/office/drawing/2014/main" id="{BB7D3E14-779E-439F-B68C-C5FBC8CBBD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0941" y="3130962"/>
              <a:ext cx="1011237" cy="363538"/>
              <a:chOff x="2659" y="2861"/>
              <a:chExt cx="1086" cy="229"/>
            </a:xfrm>
          </p:grpSpPr>
          <p:sp>
            <p:nvSpPr>
              <p:cNvPr id="52" name="AutoShape 90">
                <a:extLst>
                  <a:ext uri="{FF2B5EF4-FFF2-40B4-BE49-F238E27FC236}">
                    <a16:creationId xmlns:a16="http://schemas.microsoft.com/office/drawing/2014/main" id="{04414E28-E988-435C-8A9B-A727982CBD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2659" y="2864"/>
                <a:ext cx="1086" cy="220"/>
              </a:xfrm>
              <a:prstGeom prst="roundRect">
                <a:avLst>
                  <a:gd name="adj" fmla="val 6065"/>
                </a:avLst>
              </a:prstGeom>
              <a:gradFill rotWithShape="0">
                <a:gsLst>
                  <a:gs pos="0">
                    <a:srgbClr val="6C9ED0">
                      <a:gamma/>
                      <a:tint val="9020"/>
                      <a:invGamma/>
                    </a:srgbClr>
                  </a:gs>
                  <a:gs pos="100000">
                    <a:srgbClr val="6C9ED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53" name="AutoShape 91">
                <a:extLst>
                  <a:ext uri="{FF2B5EF4-FFF2-40B4-BE49-F238E27FC236}">
                    <a16:creationId xmlns:a16="http://schemas.microsoft.com/office/drawing/2014/main" id="{0FBE4849-E409-4057-866F-16C2E0BEF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" y="2861"/>
                <a:ext cx="1026" cy="229"/>
              </a:xfrm>
              <a:prstGeom prst="roundRect">
                <a:avLst>
                  <a:gd name="adj" fmla="val 4287"/>
                </a:avLst>
              </a:prstGeom>
              <a:gradFill rotWithShape="0">
                <a:gsLst>
                  <a:gs pos="0">
                    <a:srgbClr val="DFEAF5"/>
                  </a:gs>
                  <a:gs pos="100000">
                    <a:srgbClr val="DFEAF5">
                      <a:gamma/>
                      <a:tint val="9020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>
                <a:prstShdw prst="shdw18" dist="17961" dir="13500000">
                  <a:srgbClr val="DFEAF5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635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</p:grpSp>
        <p:grpSp>
          <p:nvGrpSpPr>
            <p:cNvPr id="46" name="Group 93">
              <a:extLst>
                <a:ext uri="{FF2B5EF4-FFF2-40B4-BE49-F238E27FC236}">
                  <a16:creationId xmlns:a16="http://schemas.microsoft.com/office/drawing/2014/main" id="{11F8282E-5892-4A2D-A823-6091727825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53078" y="4296187"/>
              <a:ext cx="1039813" cy="363538"/>
              <a:chOff x="2659" y="2861"/>
              <a:chExt cx="1086" cy="229"/>
            </a:xfrm>
          </p:grpSpPr>
          <p:sp>
            <p:nvSpPr>
              <p:cNvPr id="50" name="AutoShape 94">
                <a:extLst>
                  <a:ext uri="{FF2B5EF4-FFF2-40B4-BE49-F238E27FC236}">
                    <a16:creationId xmlns:a16="http://schemas.microsoft.com/office/drawing/2014/main" id="{5833735D-4076-48DA-AA7B-AE580FC1B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2659" y="2864"/>
                <a:ext cx="1086" cy="220"/>
              </a:xfrm>
              <a:prstGeom prst="roundRect">
                <a:avLst>
                  <a:gd name="adj" fmla="val 6065"/>
                </a:avLst>
              </a:prstGeom>
              <a:gradFill rotWithShape="0">
                <a:gsLst>
                  <a:gs pos="0">
                    <a:srgbClr val="6C9ED0">
                      <a:gamma/>
                      <a:tint val="9020"/>
                      <a:invGamma/>
                    </a:srgbClr>
                  </a:gs>
                  <a:gs pos="100000">
                    <a:srgbClr val="6C9ED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  <p:sp>
            <p:nvSpPr>
              <p:cNvPr id="51" name="AutoShape 95">
                <a:extLst>
                  <a:ext uri="{FF2B5EF4-FFF2-40B4-BE49-F238E27FC236}">
                    <a16:creationId xmlns:a16="http://schemas.microsoft.com/office/drawing/2014/main" id="{1E237AB7-FDB3-43A7-ADC4-D78A6D7AB5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0" y="2861"/>
                <a:ext cx="1026" cy="229"/>
              </a:xfrm>
              <a:prstGeom prst="roundRect">
                <a:avLst>
                  <a:gd name="adj" fmla="val 4287"/>
                </a:avLst>
              </a:prstGeom>
              <a:gradFill rotWithShape="0">
                <a:gsLst>
                  <a:gs pos="0">
                    <a:srgbClr val="DFEAF5"/>
                  </a:gs>
                  <a:gs pos="100000">
                    <a:srgbClr val="DFEAF5">
                      <a:gamma/>
                      <a:tint val="9020"/>
                      <a:invGamma/>
                    </a:srgbClr>
                  </a:gs>
                </a:gsLst>
                <a:lin ang="5400000" scaled="1"/>
              </a:gradFill>
              <a:ln>
                <a:noFill/>
              </a:ln>
              <a:effectLst>
                <a:prstShdw prst="shdw18" dist="17961" dir="13500000">
                  <a:srgbClr val="DFEAF5">
                    <a:gamma/>
                    <a:shade val="60000"/>
                    <a:invGamma/>
                  </a:srgbClr>
                </a:prstShdw>
              </a:effectLst>
              <a:extLst>
                <a:ext uri="{91240B29-F687-4F45-9708-019B960494DF}">
                  <a14:hiddenLine xmlns:a14="http://schemas.microsoft.com/office/drawing/2010/main" w="635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/>
              <a:p>
                <a:endParaRPr lang="ko-KR" altLang="en-US" sz="2000" b="1">
                  <a:latin typeface="+mj-ea"/>
                  <a:ea typeface="+mj-ea"/>
                </a:endParaRPr>
              </a:p>
            </p:txBody>
          </p:sp>
        </p:grpSp>
        <p:sp>
          <p:nvSpPr>
            <p:cNvPr id="47" name="Text Box 96">
              <a:extLst>
                <a:ext uri="{FF2B5EF4-FFF2-40B4-BE49-F238E27FC236}">
                  <a16:creationId xmlns:a16="http://schemas.microsoft.com/office/drawing/2014/main" id="{233768A9-74D9-4202-8EC3-8F9932B438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6441" y="4342218"/>
              <a:ext cx="509489" cy="246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ko-KR" altLang="en-US" sz="1200" b="1">
                  <a:latin typeface="+mj-ea"/>
                  <a:ea typeface="+mj-ea"/>
                </a:rPr>
                <a:t>개  발</a:t>
              </a:r>
            </a:p>
          </p:txBody>
        </p:sp>
        <p:sp>
          <p:nvSpPr>
            <p:cNvPr id="48" name="Text Box 97">
              <a:extLst>
                <a:ext uri="{FF2B5EF4-FFF2-40B4-BE49-F238E27FC236}">
                  <a16:creationId xmlns:a16="http://schemas.microsoft.com/office/drawing/2014/main" id="{1E72AB49-BAFC-4544-8A6B-230BD44C47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0917" y="3197631"/>
              <a:ext cx="601827" cy="246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ko-KR" altLang="en-US" sz="1200" b="1" dirty="0">
                  <a:latin typeface="+mj-ea"/>
                  <a:ea typeface="+mj-ea"/>
                </a:rPr>
                <a:t>설    계</a:t>
              </a:r>
            </a:p>
          </p:txBody>
        </p:sp>
        <p:sp>
          <p:nvSpPr>
            <p:cNvPr id="49" name="Text Box 98">
              <a:extLst>
                <a:ext uri="{FF2B5EF4-FFF2-40B4-BE49-F238E27FC236}">
                  <a16:creationId xmlns:a16="http://schemas.microsoft.com/office/drawing/2014/main" id="{51E5124B-BA6D-4346-9C4A-2DA2823887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5978" y="1568856"/>
              <a:ext cx="601827" cy="2464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ko-KR" altLang="en-US" sz="1200" b="1" dirty="0">
                  <a:latin typeface="+mj-ea"/>
                  <a:ea typeface="+mj-ea"/>
                </a:rPr>
                <a:t>분    석</a:t>
              </a:r>
            </a:p>
          </p:txBody>
        </p:sp>
      </p:grp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847494AF-C8EF-4476-AA28-451AB709C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101" y="975970"/>
            <a:ext cx="82622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marL="285750" indent="-285750" latinLnBrk="0">
              <a:buFont typeface="Wingdings" panose="05000000000000000000" pitchFamily="2" charset="2"/>
              <a:buChar char="Ø"/>
              <a:defRPr/>
            </a:pPr>
            <a:r>
              <a:rPr kumimoji="0" lang="en-US" altLang="ko-KR" sz="1800" b="1" dirty="0">
                <a:latin typeface="+mj-ea"/>
                <a:ea typeface="+mj-ea"/>
              </a:rPr>
              <a:t>S/W </a:t>
            </a:r>
            <a:r>
              <a:rPr kumimoji="0" lang="ko-KR" altLang="en-US" sz="1800" b="1" dirty="0">
                <a:latin typeface="+mj-ea"/>
                <a:ea typeface="+mj-ea"/>
              </a:rPr>
              <a:t>시험 계획 절차</a:t>
            </a:r>
            <a:r>
              <a:rPr kumimoji="0" lang="en-US" altLang="ko-KR" sz="1800" b="1" dirty="0">
                <a:latin typeface="+mj-ea"/>
                <a:ea typeface="+mj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850659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628804-9A70-4E3E-B2DA-2909C433D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설계 문서 관리 방안</a:t>
            </a: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2D76DE5E-8BD8-4025-997B-11DB539C80A5}"/>
              </a:ext>
            </a:extLst>
          </p:cNvPr>
          <p:cNvGrpSpPr>
            <a:grpSpLocks/>
          </p:cNvGrpSpPr>
          <p:nvPr/>
        </p:nvGrpSpPr>
        <p:grpSpPr bwMode="auto">
          <a:xfrm>
            <a:off x="2073072" y="1760023"/>
            <a:ext cx="4648944" cy="4391789"/>
            <a:chOff x="672" y="2256"/>
            <a:chExt cx="3246" cy="3216"/>
          </a:xfrm>
        </p:grpSpPr>
        <p:sp>
          <p:nvSpPr>
            <p:cNvPr id="5" name="Oval 26">
              <a:extLst>
                <a:ext uri="{FF2B5EF4-FFF2-40B4-BE49-F238E27FC236}">
                  <a16:creationId xmlns:a16="http://schemas.microsoft.com/office/drawing/2014/main" id="{27D11544-B4CE-4AA8-BAA3-5C068CC555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0" y="3352"/>
              <a:ext cx="990" cy="896"/>
            </a:xfrm>
            <a:prstGeom prst="ellipse">
              <a:avLst/>
            </a:prstGeom>
            <a:solidFill>
              <a:srgbClr val="E8EDF8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9CB5E6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6" name="Oval 27">
              <a:extLst>
                <a:ext uri="{FF2B5EF4-FFF2-40B4-BE49-F238E27FC236}">
                  <a16:creationId xmlns:a16="http://schemas.microsoft.com/office/drawing/2014/main" id="{10422E20-19BC-4BE5-A669-284A4B364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304"/>
              <a:ext cx="990" cy="896"/>
            </a:xfrm>
            <a:prstGeom prst="ellipse">
              <a:avLst/>
            </a:prstGeom>
            <a:solidFill>
              <a:srgbClr val="E8EDF8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9CB5E6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7" name="Oval 28">
              <a:extLst>
                <a:ext uri="{FF2B5EF4-FFF2-40B4-BE49-F238E27FC236}">
                  <a16:creationId xmlns:a16="http://schemas.microsoft.com/office/drawing/2014/main" id="{8B8F7130-F6AE-4143-966E-7A6F4D7D7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7" y="2626"/>
              <a:ext cx="990" cy="896"/>
            </a:xfrm>
            <a:prstGeom prst="ellipse">
              <a:avLst/>
            </a:prstGeom>
            <a:solidFill>
              <a:srgbClr val="E8EDF8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9CB5E6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8" name="Oval 29">
              <a:extLst>
                <a:ext uri="{FF2B5EF4-FFF2-40B4-BE49-F238E27FC236}">
                  <a16:creationId xmlns:a16="http://schemas.microsoft.com/office/drawing/2014/main" id="{2D60BE5C-15E9-4792-8836-543FC18E5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304"/>
              <a:ext cx="990" cy="896"/>
            </a:xfrm>
            <a:prstGeom prst="ellipse">
              <a:avLst/>
            </a:prstGeom>
            <a:solidFill>
              <a:srgbClr val="E8EDF8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9CB5E6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9" name="Oval 30">
              <a:extLst>
                <a:ext uri="{FF2B5EF4-FFF2-40B4-BE49-F238E27FC236}">
                  <a16:creationId xmlns:a16="http://schemas.microsoft.com/office/drawing/2014/main" id="{D2B7B7D5-4848-4FBE-AAC8-F16BE81CF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8" y="3376"/>
              <a:ext cx="990" cy="896"/>
            </a:xfrm>
            <a:prstGeom prst="ellipse">
              <a:avLst/>
            </a:prstGeom>
            <a:solidFill>
              <a:srgbClr val="E8EDF8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9CB5E6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10" name="Oval 31">
              <a:extLst>
                <a:ext uri="{FF2B5EF4-FFF2-40B4-BE49-F238E27FC236}">
                  <a16:creationId xmlns:a16="http://schemas.microsoft.com/office/drawing/2014/main" id="{DFD026A6-2C6B-4C6A-8C28-EF79EF849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6" y="4111"/>
              <a:ext cx="990" cy="896"/>
            </a:xfrm>
            <a:prstGeom prst="ellipse">
              <a:avLst/>
            </a:prstGeom>
            <a:solidFill>
              <a:srgbClr val="E8EDF8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9CB5E6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grpSp>
          <p:nvGrpSpPr>
            <p:cNvPr id="11" name="Group 32">
              <a:extLst>
                <a:ext uri="{FF2B5EF4-FFF2-40B4-BE49-F238E27FC236}">
                  <a16:creationId xmlns:a16="http://schemas.microsoft.com/office/drawing/2014/main" id="{FA662A26-4FE9-444C-9219-0FF036512E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7" y="2256"/>
              <a:ext cx="851" cy="766"/>
              <a:chOff x="2880" y="2352"/>
              <a:chExt cx="851" cy="766"/>
            </a:xfrm>
          </p:grpSpPr>
          <p:graphicFrame>
            <p:nvGraphicFramePr>
              <p:cNvPr id="36" name="Object 33">
                <a:extLst>
                  <a:ext uri="{FF2B5EF4-FFF2-40B4-BE49-F238E27FC236}">
                    <a16:creationId xmlns:a16="http://schemas.microsoft.com/office/drawing/2014/main" id="{2C60814A-20FD-4D97-86E6-E5E007B15A4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 flipV="1">
              <a:off x="2880" y="2352"/>
              <a:ext cx="851" cy="7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2" name="Image" r:id="rId3" imgW="4002824" imgH="4002824" progId="Photoshop.Image.4">
                      <p:embed/>
                    </p:oleObj>
                  </mc:Choice>
                  <mc:Fallback>
                    <p:oleObj name="Image" r:id="rId3" imgW="4002824" imgH="4002824" progId="Photoshop.Image.4">
                      <p:embed/>
                      <p:pic>
                        <p:nvPicPr>
                          <p:cNvPr id="54" name="Object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clrChange>
                              <a:clrFrom>
                                <a:srgbClr val="FFFFFF"/>
                              </a:clrFrom>
                              <a:clrTo>
                                <a:srgbClr val="FFFFFF">
                                  <a:alpha val="0"/>
                                </a:srgbClr>
                              </a:clrTo>
                            </a:clrChange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 flipV="1">
                            <a:off x="2880" y="2352"/>
                            <a:ext cx="851" cy="7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7" name="Rectangle 34">
                <a:extLst>
                  <a:ext uri="{FF2B5EF4-FFF2-40B4-BE49-F238E27FC236}">
                    <a16:creationId xmlns:a16="http://schemas.microsoft.com/office/drawing/2014/main" id="{BE10D2E5-4B8E-49D3-B211-72DAC05DB6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5" y="2642"/>
                <a:ext cx="743" cy="2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5715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7145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2860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latinLnBrk="0">
                  <a:lnSpc>
                    <a:spcPct val="120000"/>
                  </a:lnSpc>
                </a:pPr>
                <a:r>
                  <a:rPr lang="ko-KR" altLang="en-US" sz="1100" b="1">
                    <a:latin typeface="+mj-ea"/>
                    <a:ea typeface="+mj-ea"/>
                  </a:rPr>
                  <a:t>시험명세서</a:t>
                </a:r>
              </a:p>
            </p:txBody>
          </p:sp>
        </p:grpSp>
        <p:grpSp>
          <p:nvGrpSpPr>
            <p:cNvPr id="12" name="Group 35">
              <a:extLst>
                <a:ext uri="{FF2B5EF4-FFF2-40B4-BE49-F238E27FC236}">
                  <a16:creationId xmlns:a16="http://schemas.microsoft.com/office/drawing/2014/main" id="{6144E531-ADCF-4322-B776-2C4DA6D390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2256"/>
              <a:ext cx="851" cy="766"/>
              <a:chOff x="912" y="2304"/>
              <a:chExt cx="851" cy="766"/>
            </a:xfrm>
          </p:grpSpPr>
          <p:graphicFrame>
            <p:nvGraphicFramePr>
              <p:cNvPr id="34" name="Object 36">
                <a:extLst>
                  <a:ext uri="{FF2B5EF4-FFF2-40B4-BE49-F238E27FC236}">
                    <a16:creationId xmlns:a16="http://schemas.microsoft.com/office/drawing/2014/main" id="{7DED8D4E-12D2-4BEA-8AFE-135199791CC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 flipV="1">
              <a:off x="912" y="2304"/>
              <a:ext cx="851" cy="7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3" name="Image" r:id="rId5" imgW="4002824" imgH="4002824" progId="Photoshop.Image.4">
                      <p:embed/>
                    </p:oleObj>
                  </mc:Choice>
                  <mc:Fallback>
                    <p:oleObj name="Image" r:id="rId5" imgW="4002824" imgH="4002824" progId="Photoshop.Image.4">
                      <p:embed/>
                      <p:pic>
                        <p:nvPicPr>
                          <p:cNvPr id="52" name="Object 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clrChange>
                              <a:clrFrom>
                                <a:srgbClr val="FFFFFF"/>
                              </a:clrFrom>
                              <a:clrTo>
                                <a:srgbClr val="FFFFFF">
                                  <a:alpha val="0"/>
                                </a:srgbClr>
                              </a:clrTo>
                            </a:clrChange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 flipV="1">
                            <a:off x="912" y="2304"/>
                            <a:ext cx="851" cy="7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" name="Rectangle 37">
                <a:extLst>
                  <a:ext uri="{FF2B5EF4-FFF2-40B4-BE49-F238E27FC236}">
                    <a16:creationId xmlns:a16="http://schemas.microsoft.com/office/drawing/2014/main" id="{4CE4703C-5832-4EB4-AA1E-AF505F819E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" y="2594"/>
                <a:ext cx="743" cy="2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5715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7145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2860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latinLnBrk="0">
                  <a:lnSpc>
                    <a:spcPct val="120000"/>
                  </a:lnSpc>
                </a:pPr>
                <a:r>
                  <a:rPr lang="ko-KR" altLang="en-US" sz="1100" b="1">
                    <a:latin typeface="+mj-ea"/>
                    <a:ea typeface="+mj-ea"/>
                  </a:rPr>
                  <a:t>시험계획서</a:t>
                </a:r>
              </a:p>
            </p:txBody>
          </p:sp>
        </p:grpSp>
        <p:grpSp>
          <p:nvGrpSpPr>
            <p:cNvPr id="13" name="Group 38">
              <a:extLst>
                <a:ext uri="{FF2B5EF4-FFF2-40B4-BE49-F238E27FC236}">
                  <a16:creationId xmlns:a16="http://schemas.microsoft.com/office/drawing/2014/main" id="{55AE32BA-E5FB-447F-A22B-072FA7309E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85" y="2800"/>
              <a:ext cx="851" cy="766"/>
              <a:chOff x="1905" y="2976"/>
              <a:chExt cx="851" cy="766"/>
            </a:xfrm>
          </p:grpSpPr>
          <p:graphicFrame>
            <p:nvGraphicFramePr>
              <p:cNvPr id="32" name="Object 39">
                <a:extLst>
                  <a:ext uri="{FF2B5EF4-FFF2-40B4-BE49-F238E27FC236}">
                    <a16:creationId xmlns:a16="http://schemas.microsoft.com/office/drawing/2014/main" id="{1745C611-135F-4F50-9192-FC29731DCA6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 flipV="1">
              <a:off x="1905" y="2976"/>
              <a:ext cx="851" cy="7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4" name="Image" r:id="rId6" imgW="4002824" imgH="4002824" progId="Photoshop.Image.4">
                      <p:embed/>
                    </p:oleObj>
                  </mc:Choice>
                  <mc:Fallback>
                    <p:oleObj name="Image" r:id="rId6" imgW="4002824" imgH="4002824" progId="Photoshop.Image.4">
                      <p:embed/>
                      <p:pic>
                        <p:nvPicPr>
                          <p:cNvPr id="50" name="Object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clrChange>
                              <a:clrFrom>
                                <a:srgbClr val="FFFFFF"/>
                              </a:clrFrom>
                              <a:clrTo>
                                <a:srgbClr val="FFFFFF">
                                  <a:alpha val="0"/>
                                </a:srgbClr>
                              </a:clrTo>
                            </a:clrChange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 flipV="1">
                            <a:off x="1905" y="2976"/>
                            <a:ext cx="851" cy="7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3" name="Rectangle 40">
                <a:extLst>
                  <a:ext uri="{FF2B5EF4-FFF2-40B4-BE49-F238E27FC236}">
                    <a16:creationId xmlns:a16="http://schemas.microsoft.com/office/drawing/2014/main" id="{692A6549-0A99-4C3B-A2A9-860491876A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0" y="3266"/>
                <a:ext cx="743" cy="2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5715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7145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2860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latinLnBrk="0">
                  <a:lnSpc>
                    <a:spcPct val="120000"/>
                  </a:lnSpc>
                </a:pPr>
                <a:r>
                  <a:rPr lang="ko-KR" altLang="en-US" sz="1100" b="1">
                    <a:latin typeface="+mj-ea"/>
                    <a:ea typeface="+mj-ea"/>
                  </a:rPr>
                  <a:t>시험수행</a:t>
                </a:r>
              </a:p>
            </p:txBody>
          </p:sp>
        </p:grpSp>
        <p:grpSp>
          <p:nvGrpSpPr>
            <p:cNvPr id="14" name="Group 41">
              <a:extLst>
                <a:ext uri="{FF2B5EF4-FFF2-40B4-BE49-F238E27FC236}">
                  <a16:creationId xmlns:a16="http://schemas.microsoft.com/office/drawing/2014/main" id="{15C8A013-AFAE-4FCA-8EDF-36D3DE69FA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3336"/>
              <a:ext cx="851" cy="766"/>
              <a:chOff x="1008" y="3936"/>
              <a:chExt cx="851" cy="766"/>
            </a:xfrm>
          </p:grpSpPr>
          <p:graphicFrame>
            <p:nvGraphicFramePr>
              <p:cNvPr id="30" name="Object 42">
                <a:extLst>
                  <a:ext uri="{FF2B5EF4-FFF2-40B4-BE49-F238E27FC236}">
                    <a16:creationId xmlns:a16="http://schemas.microsoft.com/office/drawing/2014/main" id="{3BC24904-3CC9-40EC-AC51-AB85F23EBBA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 flipV="1">
              <a:off x="1008" y="3936"/>
              <a:ext cx="851" cy="7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5" name="Image" r:id="rId7" imgW="4002824" imgH="4002824" progId="Photoshop.Image.4">
                      <p:embed/>
                    </p:oleObj>
                  </mc:Choice>
                  <mc:Fallback>
                    <p:oleObj name="Image" r:id="rId7" imgW="4002824" imgH="4002824" progId="Photoshop.Image.4">
                      <p:embed/>
                      <p:pic>
                        <p:nvPicPr>
                          <p:cNvPr id="48" name="Object 4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clrChange>
                              <a:clrFrom>
                                <a:srgbClr val="FFFFFF"/>
                              </a:clrFrom>
                              <a:clrTo>
                                <a:srgbClr val="FFFFFF">
                                  <a:alpha val="0"/>
                                </a:srgbClr>
                              </a:clrTo>
                            </a:clrChange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 flipV="1">
                            <a:off x="1008" y="3936"/>
                            <a:ext cx="851" cy="7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1" name="Rectangle 43">
                <a:extLst>
                  <a:ext uri="{FF2B5EF4-FFF2-40B4-BE49-F238E27FC236}">
                    <a16:creationId xmlns:a16="http://schemas.microsoft.com/office/drawing/2014/main" id="{F8A480F7-495D-4015-A271-165E97CA15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3" y="4226"/>
                <a:ext cx="743" cy="2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5715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7145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2860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latinLnBrk="0">
                  <a:lnSpc>
                    <a:spcPct val="120000"/>
                  </a:lnSpc>
                </a:pPr>
                <a:r>
                  <a:rPr lang="ko-KR" altLang="en-US" sz="1100" b="1">
                    <a:latin typeface="+mj-ea"/>
                    <a:ea typeface="+mj-ea"/>
                  </a:rPr>
                  <a:t>시험기록</a:t>
                </a:r>
              </a:p>
            </p:txBody>
          </p:sp>
        </p:grpSp>
        <p:grpSp>
          <p:nvGrpSpPr>
            <p:cNvPr id="15" name="Group 44">
              <a:extLst>
                <a:ext uri="{FF2B5EF4-FFF2-40B4-BE49-F238E27FC236}">
                  <a16:creationId xmlns:a16="http://schemas.microsoft.com/office/drawing/2014/main" id="{03564764-265A-4174-B417-6C70141612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8" y="3352"/>
              <a:ext cx="851" cy="766"/>
              <a:chOff x="2610" y="3312"/>
              <a:chExt cx="851" cy="766"/>
            </a:xfrm>
          </p:grpSpPr>
          <p:graphicFrame>
            <p:nvGraphicFramePr>
              <p:cNvPr id="28" name="Object 45">
                <a:extLst>
                  <a:ext uri="{FF2B5EF4-FFF2-40B4-BE49-F238E27FC236}">
                    <a16:creationId xmlns:a16="http://schemas.microsoft.com/office/drawing/2014/main" id="{D6386AEF-5264-4CCA-87C1-ED95D32BD5D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 flipV="1">
              <a:off x="2610" y="3312"/>
              <a:ext cx="851" cy="7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6" name="Image" r:id="rId8" imgW="4002824" imgH="4002824" progId="Photoshop.Image.4">
                      <p:embed/>
                    </p:oleObj>
                  </mc:Choice>
                  <mc:Fallback>
                    <p:oleObj name="Image" r:id="rId8" imgW="4002824" imgH="4002824" progId="Photoshop.Image.4">
                      <p:embed/>
                      <p:pic>
                        <p:nvPicPr>
                          <p:cNvPr id="46" name="Object 4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clrChange>
                              <a:clrFrom>
                                <a:srgbClr val="FFFFFF"/>
                              </a:clrFrom>
                              <a:clrTo>
                                <a:srgbClr val="FFFFFF">
                                  <a:alpha val="0"/>
                                </a:srgbClr>
                              </a:clrTo>
                            </a:clrChange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 flipV="1">
                            <a:off x="2610" y="3312"/>
                            <a:ext cx="851" cy="7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" name="Rectangle 46">
                <a:extLst>
                  <a:ext uri="{FF2B5EF4-FFF2-40B4-BE49-F238E27FC236}">
                    <a16:creationId xmlns:a16="http://schemas.microsoft.com/office/drawing/2014/main" id="{51C43D30-3335-47F2-AE2B-09DC1C2436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5" y="3602"/>
                <a:ext cx="743" cy="2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5715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7145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2860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latinLnBrk="0">
                  <a:lnSpc>
                    <a:spcPct val="120000"/>
                  </a:lnSpc>
                </a:pPr>
                <a:r>
                  <a:rPr lang="ko-KR" altLang="en-US" sz="1100" b="1">
                    <a:latin typeface="+mj-ea"/>
                    <a:ea typeface="+mj-ea"/>
                  </a:rPr>
                  <a:t>시험기록</a:t>
                </a:r>
              </a:p>
            </p:txBody>
          </p:sp>
        </p:grpSp>
        <p:grpSp>
          <p:nvGrpSpPr>
            <p:cNvPr id="16" name="Group 47">
              <a:extLst>
                <a:ext uri="{FF2B5EF4-FFF2-40B4-BE49-F238E27FC236}">
                  <a16:creationId xmlns:a16="http://schemas.microsoft.com/office/drawing/2014/main" id="{F4E1D080-3EF4-40A3-B080-8336B994F6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87" y="4037"/>
              <a:ext cx="851" cy="766"/>
              <a:chOff x="3216" y="4320"/>
              <a:chExt cx="851" cy="766"/>
            </a:xfrm>
          </p:grpSpPr>
          <p:graphicFrame>
            <p:nvGraphicFramePr>
              <p:cNvPr id="26" name="Object 48">
                <a:extLst>
                  <a:ext uri="{FF2B5EF4-FFF2-40B4-BE49-F238E27FC236}">
                    <a16:creationId xmlns:a16="http://schemas.microsoft.com/office/drawing/2014/main" id="{BC109216-C080-4F99-B2DE-BAE81436A6E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 flipV="1">
              <a:off x="3216" y="4320"/>
              <a:ext cx="851" cy="7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27" name="Image" r:id="rId9" imgW="4002824" imgH="4002824" progId="Photoshop.Image.4">
                      <p:embed/>
                    </p:oleObj>
                  </mc:Choice>
                  <mc:Fallback>
                    <p:oleObj name="Image" r:id="rId9" imgW="4002824" imgH="4002824" progId="Photoshop.Image.4">
                      <p:embed/>
                      <p:pic>
                        <p:nvPicPr>
                          <p:cNvPr id="44" name="Object 4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clrChange>
                              <a:clrFrom>
                                <a:srgbClr val="FFFFFF"/>
                              </a:clrFrom>
                              <a:clrTo>
                                <a:srgbClr val="FFFFFF">
                                  <a:alpha val="0"/>
                                </a:srgbClr>
                              </a:clrTo>
                            </a:clrChange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 flipV="1">
                            <a:off x="3216" y="4320"/>
                            <a:ext cx="851" cy="7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7" name="Rectangle 49">
                <a:extLst>
                  <a:ext uri="{FF2B5EF4-FFF2-40B4-BE49-F238E27FC236}">
                    <a16:creationId xmlns:a16="http://schemas.microsoft.com/office/drawing/2014/main" id="{2CBDFFF9-B47A-4724-8282-DF4593C602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1" y="4610"/>
                <a:ext cx="743" cy="2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5715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7145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286000" defTabSz="762000"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latinLnBrk="0">
                  <a:lnSpc>
                    <a:spcPct val="120000"/>
                  </a:lnSpc>
                </a:pPr>
                <a:r>
                  <a:rPr lang="ko-KR" altLang="en-US" sz="1100" b="1">
                    <a:latin typeface="+mj-ea"/>
                    <a:ea typeface="+mj-ea"/>
                  </a:rPr>
                  <a:t>문제보고서</a:t>
                </a:r>
              </a:p>
            </p:txBody>
          </p:sp>
        </p:grpSp>
        <p:sp>
          <p:nvSpPr>
            <p:cNvPr id="17" name="Freeform 50">
              <a:extLst>
                <a:ext uri="{FF2B5EF4-FFF2-40B4-BE49-F238E27FC236}">
                  <a16:creationId xmlns:a16="http://schemas.microsoft.com/office/drawing/2014/main" id="{74E144AF-1B6B-4B3D-BB5C-1D8D6F887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9" y="4747"/>
              <a:ext cx="635" cy="335"/>
            </a:xfrm>
            <a:custGeom>
              <a:avLst/>
              <a:gdLst>
                <a:gd name="T0" fmla="*/ 135 w 635"/>
                <a:gd name="T1" fmla="*/ 0 h 335"/>
                <a:gd name="T2" fmla="*/ 500 w 635"/>
                <a:gd name="T3" fmla="*/ 0 h 335"/>
                <a:gd name="T4" fmla="*/ 538 w 635"/>
                <a:gd name="T5" fmla="*/ 182 h 335"/>
                <a:gd name="T6" fmla="*/ 634 w 635"/>
                <a:gd name="T7" fmla="*/ 182 h 335"/>
                <a:gd name="T8" fmla="*/ 317 w 635"/>
                <a:gd name="T9" fmla="*/ 334 h 335"/>
                <a:gd name="T10" fmla="*/ 0 w 635"/>
                <a:gd name="T11" fmla="*/ 182 h 335"/>
                <a:gd name="T12" fmla="*/ 96 w 635"/>
                <a:gd name="T13" fmla="*/ 182 h 335"/>
                <a:gd name="T14" fmla="*/ 135 w 635"/>
                <a:gd name="T15" fmla="*/ 0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35" h="335">
                  <a:moveTo>
                    <a:pt x="135" y="0"/>
                  </a:moveTo>
                  <a:lnTo>
                    <a:pt x="500" y="0"/>
                  </a:lnTo>
                  <a:lnTo>
                    <a:pt x="538" y="182"/>
                  </a:lnTo>
                  <a:lnTo>
                    <a:pt x="634" y="182"/>
                  </a:lnTo>
                  <a:lnTo>
                    <a:pt x="317" y="334"/>
                  </a:lnTo>
                  <a:lnTo>
                    <a:pt x="0" y="182"/>
                  </a:lnTo>
                  <a:lnTo>
                    <a:pt x="96" y="182"/>
                  </a:lnTo>
                  <a:lnTo>
                    <a:pt x="135" y="0"/>
                  </a:lnTo>
                </a:path>
              </a:pathLst>
            </a:custGeom>
            <a:gradFill rotWithShape="0">
              <a:gsLst>
                <a:gs pos="0">
                  <a:srgbClr val="0000FF">
                    <a:gamma/>
                    <a:tint val="0"/>
                    <a:invGamma/>
                  </a:srgbClr>
                </a:gs>
                <a:gs pos="100000">
                  <a:srgbClr val="0000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18" name="Freeform 51">
              <a:extLst>
                <a:ext uri="{FF2B5EF4-FFF2-40B4-BE49-F238E27FC236}">
                  <a16:creationId xmlns:a16="http://schemas.microsoft.com/office/drawing/2014/main" id="{D98A5F69-3EF5-4661-AC15-48F9AE62B4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5" y="4923"/>
              <a:ext cx="318" cy="213"/>
            </a:xfrm>
            <a:custGeom>
              <a:avLst/>
              <a:gdLst>
                <a:gd name="T0" fmla="*/ 0 w 318"/>
                <a:gd name="T1" fmla="*/ 0 h 213"/>
                <a:gd name="T2" fmla="*/ 317 w 318"/>
                <a:gd name="T3" fmla="*/ 151 h 213"/>
                <a:gd name="T4" fmla="*/ 317 w 318"/>
                <a:gd name="T5" fmla="*/ 212 h 213"/>
                <a:gd name="T6" fmla="*/ 0 w 318"/>
                <a:gd name="T7" fmla="*/ 45 h 213"/>
                <a:gd name="T8" fmla="*/ 0 w 318"/>
                <a:gd name="T9" fmla="*/ 0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213">
                  <a:moveTo>
                    <a:pt x="0" y="0"/>
                  </a:moveTo>
                  <a:lnTo>
                    <a:pt x="317" y="151"/>
                  </a:lnTo>
                  <a:lnTo>
                    <a:pt x="317" y="212"/>
                  </a:lnTo>
                  <a:lnTo>
                    <a:pt x="0" y="45"/>
                  </a:lnTo>
                  <a:lnTo>
                    <a:pt x="0" y="0"/>
                  </a:lnTo>
                </a:path>
              </a:pathLst>
            </a:cu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19" name="Freeform 52">
              <a:extLst>
                <a:ext uri="{FF2B5EF4-FFF2-40B4-BE49-F238E27FC236}">
                  <a16:creationId xmlns:a16="http://schemas.microsoft.com/office/drawing/2014/main" id="{86E5961E-8350-4A8D-AAB6-F097DE936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2" y="4923"/>
              <a:ext cx="318" cy="213"/>
            </a:xfrm>
            <a:custGeom>
              <a:avLst/>
              <a:gdLst>
                <a:gd name="T0" fmla="*/ 0 w 318"/>
                <a:gd name="T1" fmla="*/ 151 h 213"/>
                <a:gd name="T2" fmla="*/ 0 w 318"/>
                <a:gd name="T3" fmla="*/ 212 h 213"/>
                <a:gd name="T4" fmla="*/ 317 w 318"/>
                <a:gd name="T5" fmla="*/ 45 h 213"/>
                <a:gd name="T6" fmla="*/ 317 w 318"/>
                <a:gd name="T7" fmla="*/ 0 h 213"/>
                <a:gd name="T8" fmla="*/ 0 w 318"/>
                <a:gd name="T9" fmla="*/ 151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8" h="213">
                  <a:moveTo>
                    <a:pt x="0" y="151"/>
                  </a:moveTo>
                  <a:lnTo>
                    <a:pt x="0" y="212"/>
                  </a:lnTo>
                  <a:lnTo>
                    <a:pt x="317" y="45"/>
                  </a:lnTo>
                  <a:lnTo>
                    <a:pt x="317" y="0"/>
                  </a:lnTo>
                  <a:lnTo>
                    <a:pt x="0" y="151"/>
                  </a:lnTo>
                </a:path>
              </a:pathLst>
            </a:custGeom>
            <a:solidFill>
              <a:srgbClr val="00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20" name="Freeform 53">
              <a:extLst>
                <a:ext uri="{FF2B5EF4-FFF2-40B4-BE49-F238E27FC236}">
                  <a16:creationId xmlns:a16="http://schemas.microsoft.com/office/drawing/2014/main" id="{3556C32A-94CB-4359-94B3-2406AA06A93B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2557" y="4165"/>
              <a:ext cx="441" cy="237"/>
            </a:xfrm>
            <a:custGeom>
              <a:avLst/>
              <a:gdLst>
                <a:gd name="T0" fmla="*/ 0 w 623"/>
                <a:gd name="T1" fmla="*/ 0 h 378"/>
                <a:gd name="T2" fmla="*/ 53 w 623"/>
                <a:gd name="T3" fmla="*/ 19 h 378"/>
                <a:gd name="T4" fmla="*/ 98 w 623"/>
                <a:gd name="T5" fmla="*/ 49 h 378"/>
                <a:gd name="T6" fmla="*/ 136 w 623"/>
                <a:gd name="T7" fmla="*/ 86 h 378"/>
                <a:gd name="T8" fmla="*/ 168 w 623"/>
                <a:gd name="T9" fmla="*/ 129 h 378"/>
                <a:gd name="T10" fmla="*/ 197 w 623"/>
                <a:gd name="T11" fmla="*/ 175 h 378"/>
                <a:gd name="T12" fmla="*/ 219 w 623"/>
                <a:gd name="T13" fmla="*/ 220 h 378"/>
                <a:gd name="T14" fmla="*/ 238 w 623"/>
                <a:gd name="T15" fmla="*/ 260 h 378"/>
                <a:gd name="T16" fmla="*/ 254 w 623"/>
                <a:gd name="T17" fmla="*/ 295 h 378"/>
                <a:gd name="T18" fmla="*/ 126 w 623"/>
                <a:gd name="T19" fmla="*/ 365 h 378"/>
                <a:gd name="T20" fmla="*/ 440 w 623"/>
                <a:gd name="T21" fmla="*/ 378 h 378"/>
                <a:gd name="T22" fmla="*/ 623 w 623"/>
                <a:gd name="T23" fmla="*/ 110 h 378"/>
                <a:gd name="T24" fmla="*/ 499 w 623"/>
                <a:gd name="T25" fmla="*/ 167 h 378"/>
                <a:gd name="T26" fmla="*/ 486 w 623"/>
                <a:gd name="T27" fmla="*/ 145 h 378"/>
                <a:gd name="T28" fmla="*/ 473 w 623"/>
                <a:gd name="T29" fmla="*/ 121 h 378"/>
                <a:gd name="T30" fmla="*/ 457 w 623"/>
                <a:gd name="T31" fmla="*/ 96 h 378"/>
                <a:gd name="T32" fmla="*/ 440 w 623"/>
                <a:gd name="T33" fmla="*/ 70 h 378"/>
                <a:gd name="T34" fmla="*/ 420 w 623"/>
                <a:gd name="T35" fmla="*/ 49 h 378"/>
                <a:gd name="T36" fmla="*/ 400 w 623"/>
                <a:gd name="T37" fmla="*/ 30 h 378"/>
                <a:gd name="T38" fmla="*/ 377 w 623"/>
                <a:gd name="T39" fmla="*/ 17 h 378"/>
                <a:gd name="T40" fmla="*/ 353 w 623"/>
                <a:gd name="T41" fmla="*/ 13 h 378"/>
                <a:gd name="T42" fmla="*/ 328 w 623"/>
                <a:gd name="T43" fmla="*/ 11 h 378"/>
                <a:gd name="T44" fmla="*/ 302 w 623"/>
                <a:gd name="T45" fmla="*/ 11 h 378"/>
                <a:gd name="T46" fmla="*/ 273 w 623"/>
                <a:gd name="T47" fmla="*/ 9 h 378"/>
                <a:gd name="T48" fmla="*/ 245 w 623"/>
                <a:gd name="T49" fmla="*/ 8 h 378"/>
                <a:gd name="T50" fmla="*/ 214 w 623"/>
                <a:gd name="T51" fmla="*/ 8 h 378"/>
                <a:gd name="T52" fmla="*/ 186 w 623"/>
                <a:gd name="T53" fmla="*/ 6 h 378"/>
                <a:gd name="T54" fmla="*/ 157 w 623"/>
                <a:gd name="T55" fmla="*/ 6 h 378"/>
                <a:gd name="T56" fmla="*/ 130 w 623"/>
                <a:gd name="T57" fmla="*/ 5 h 378"/>
                <a:gd name="T58" fmla="*/ 102 w 623"/>
                <a:gd name="T59" fmla="*/ 3 h 378"/>
                <a:gd name="T60" fmla="*/ 78 w 623"/>
                <a:gd name="T61" fmla="*/ 3 h 378"/>
                <a:gd name="T62" fmla="*/ 56 w 623"/>
                <a:gd name="T63" fmla="*/ 1 h 378"/>
                <a:gd name="T64" fmla="*/ 37 w 623"/>
                <a:gd name="T65" fmla="*/ 1 h 378"/>
                <a:gd name="T66" fmla="*/ 22 w 623"/>
                <a:gd name="T67" fmla="*/ 0 h 378"/>
                <a:gd name="T68" fmla="*/ 10 w 623"/>
                <a:gd name="T69" fmla="*/ 0 h 378"/>
                <a:gd name="T70" fmla="*/ 3 w 623"/>
                <a:gd name="T71" fmla="*/ 0 h 378"/>
                <a:gd name="T72" fmla="*/ 0 w 623"/>
                <a:gd name="T73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23" h="378">
                  <a:moveTo>
                    <a:pt x="0" y="0"/>
                  </a:moveTo>
                  <a:lnTo>
                    <a:pt x="53" y="19"/>
                  </a:lnTo>
                  <a:lnTo>
                    <a:pt x="98" y="49"/>
                  </a:lnTo>
                  <a:lnTo>
                    <a:pt x="136" y="86"/>
                  </a:lnTo>
                  <a:lnTo>
                    <a:pt x="168" y="129"/>
                  </a:lnTo>
                  <a:lnTo>
                    <a:pt x="197" y="175"/>
                  </a:lnTo>
                  <a:lnTo>
                    <a:pt x="219" y="220"/>
                  </a:lnTo>
                  <a:lnTo>
                    <a:pt x="238" y="260"/>
                  </a:lnTo>
                  <a:lnTo>
                    <a:pt x="254" y="295"/>
                  </a:lnTo>
                  <a:lnTo>
                    <a:pt x="126" y="365"/>
                  </a:lnTo>
                  <a:lnTo>
                    <a:pt x="440" y="378"/>
                  </a:lnTo>
                  <a:lnTo>
                    <a:pt x="623" y="110"/>
                  </a:lnTo>
                  <a:lnTo>
                    <a:pt x="499" y="167"/>
                  </a:lnTo>
                  <a:lnTo>
                    <a:pt x="486" y="145"/>
                  </a:lnTo>
                  <a:lnTo>
                    <a:pt x="473" y="121"/>
                  </a:lnTo>
                  <a:lnTo>
                    <a:pt x="457" y="96"/>
                  </a:lnTo>
                  <a:lnTo>
                    <a:pt x="440" y="70"/>
                  </a:lnTo>
                  <a:lnTo>
                    <a:pt x="420" y="49"/>
                  </a:lnTo>
                  <a:lnTo>
                    <a:pt x="400" y="30"/>
                  </a:lnTo>
                  <a:lnTo>
                    <a:pt x="377" y="17"/>
                  </a:lnTo>
                  <a:lnTo>
                    <a:pt x="353" y="13"/>
                  </a:lnTo>
                  <a:lnTo>
                    <a:pt x="328" y="11"/>
                  </a:lnTo>
                  <a:lnTo>
                    <a:pt x="302" y="11"/>
                  </a:lnTo>
                  <a:lnTo>
                    <a:pt x="273" y="9"/>
                  </a:lnTo>
                  <a:lnTo>
                    <a:pt x="245" y="8"/>
                  </a:lnTo>
                  <a:lnTo>
                    <a:pt x="214" y="8"/>
                  </a:lnTo>
                  <a:lnTo>
                    <a:pt x="186" y="6"/>
                  </a:lnTo>
                  <a:lnTo>
                    <a:pt x="157" y="6"/>
                  </a:lnTo>
                  <a:lnTo>
                    <a:pt x="130" y="5"/>
                  </a:lnTo>
                  <a:lnTo>
                    <a:pt x="102" y="3"/>
                  </a:lnTo>
                  <a:lnTo>
                    <a:pt x="78" y="3"/>
                  </a:lnTo>
                  <a:lnTo>
                    <a:pt x="56" y="1"/>
                  </a:lnTo>
                  <a:lnTo>
                    <a:pt x="37" y="1"/>
                  </a:lnTo>
                  <a:lnTo>
                    <a:pt x="22" y="0"/>
                  </a:lnTo>
                  <a:lnTo>
                    <a:pt x="10" y="0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CDE7"/>
            </a:solidFill>
            <a:ln>
              <a:noFill/>
            </a:ln>
            <a:effectLst>
              <a:outerShdw dist="35921" dir="2700000" algn="ctr" rotWithShape="0">
                <a:srgbClr val="0099CC"/>
              </a:outerShdw>
            </a:effectLst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96B9DC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21" name="AutoShape 54">
              <a:extLst>
                <a:ext uri="{FF2B5EF4-FFF2-40B4-BE49-F238E27FC236}">
                  <a16:creationId xmlns:a16="http://schemas.microsoft.com/office/drawing/2014/main" id="{95F2EA0A-64C3-4A5C-80E5-31FDB6233F6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760" y="5184"/>
              <a:ext cx="1104" cy="288"/>
            </a:xfrm>
            <a:prstGeom prst="bevel">
              <a:avLst>
                <a:gd name="adj" fmla="val 50000"/>
              </a:avLst>
            </a:prstGeom>
            <a:solidFill>
              <a:srgbClr val="00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3485" tIns="46744" rIns="93485" bIns="46744" anchor="ctr"/>
            <a:lstStyle>
              <a:lvl1pPr defTabSz="935038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468313" defTabSz="935038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935038" defTabSz="935038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401763" defTabSz="935038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1868488" defTabSz="935038"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325688" defTabSz="935038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782888" defTabSz="935038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240088" defTabSz="935038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697288" defTabSz="935038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/>
              <a:r>
                <a:rPr lang="ko-KR" altLang="en-US" sz="13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j-ea"/>
                  <a:ea typeface="+mj-ea"/>
                </a:rPr>
                <a:t>결과 보고서</a:t>
              </a:r>
            </a:p>
          </p:txBody>
        </p:sp>
        <p:sp>
          <p:nvSpPr>
            <p:cNvPr id="22" name="Freeform 55">
              <a:extLst>
                <a:ext uri="{FF2B5EF4-FFF2-40B4-BE49-F238E27FC236}">
                  <a16:creationId xmlns:a16="http://schemas.microsoft.com/office/drawing/2014/main" id="{BE2ACE2D-A7C9-4465-A8C3-3C803FB5F02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544" y="2736"/>
              <a:ext cx="441" cy="237"/>
            </a:xfrm>
            <a:custGeom>
              <a:avLst/>
              <a:gdLst>
                <a:gd name="T0" fmla="*/ 0 w 623"/>
                <a:gd name="T1" fmla="*/ 0 h 378"/>
                <a:gd name="T2" fmla="*/ 53 w 623"/>
                <a:gd name="T3" fmla="*/ 19 h 378"/>
                <a:gd name="T4" fmla="*/ 98 w 623"/>
                <a:gd name="T5" fmla="*/ 49 h 378"/>
                <a:gd name="T6" fmla="*/ 136 w 623"/>
                <a:gd name="T7" fmla="*/ 86 h 378"/>
                <a:gd name="T8" fmla="*/ 168 w 623"/>
                <a:gd name="T9" fmla="*/ 129 h 378"/>
                <a:gd name="T10" fmla="*/ 197 w 623"/>
                <a:gd name="T11" fmla="*/ 175 h 378"/>
                <a:gd name="T12" fmla="*/ 219 w 623"/>
                <a:gd name="T13" fmla="*/ 220 h 378"/>
                <a:gd name="T14" fmla="*/ 238 w 623"/>
                <a:gd name="T15" fmla="*/ 260 h 378"/>
                <a:gd name="T16" fmla="*/ 254 w 623"/>
                <a:gd name="T17" fmla="*/ 295 h 378"/>
                <a:gd name="T18" fmla="*/ 126 w 623"/>
                <a:gd name="T19" fmla="*/ 365 h 378"/>
                <a:gd name="T20" fmla="*/ 440 w 623"/>
                <a:gd name="T21" fmla="*/ 378 h 378"/>
                <a:gd name="T22" fmla="*/ 623 w 623"/>
                <a:gd name="T23" fmla="*/ 110 h 378"/>
                <a:gd name="T24" fmla="*/ 499 w 623"/>
                <a:gd name="T25" fmla="*/ 167 h 378"/>
                <a:gd name="T26" fmla="*/ 486 w 623"/>
                <a:gd name="T27" fmla="*/ 145 h 378"/>
                <a:gd name="T28" fmla="*/ 473 w 623"/>
                <a:gd name="T29" fmla="*/ 121 h 378"/>
                <a:gd name="T30" fmla="*/ 457 w 623"/>
                <a:gd name="T31" fmla="*/ 96 h 378"/>
                <a:gd name="T32" fmla="*/ 440 w 623"/>
                <a:gd name="T33" fmla="*/ 70 h 378"/>
                <a:gd name="T34" fmla="*/ 420 w 623"/>
                <a:gd name="T35" fmla="*/ 49 h 378"/>
                <a:gd name="T36" fmla="*/ 400 w 623"/>
                <a:gd name="T37" fmla="*/ 30 h 378"/>
                <a:gd name="T38" fmla="*/ 377 w 623"/>
                <a:gd name="T39" fmla="*/ 17 h 378"/>
                <a:gd name="T40" fmla="*/ 353 w 623"/>
                <a:gd name="T41" fmla="*/ 13 h 378"/>
                <a:gd name="T42" fmla="*/ 328 w 623"/>
                <a:gd name="T43" fmla="*/ 11 h 378"/>
                <a:gd name="T44" fmla="*/ 302 w 623"/>
                <a:gd name="T45" fmla="*/ 11 h 378"/>
                <a:gd name="T46" fmla="*/ 273 w 623"/>
                <a:gd name="T47" fmla="*/ 9 h 378"/>
                <a:gd name="T48" fmla="*/ 245 w 623"/>
                <a:gd name="T49" fmla="*/ 8 h 378"/>
                <a:gd name="T50" fmla="*/ 214 w 623"/>
                <a:gd name="T51" fmla="*/ 8 h 378"/>
                <a:gd name="T52" fmla="*/ 186 w 623"/>
                <a:gd name="T53" fmla="*/ 6 h 378"/>
                <a:gd name="T54" fmla="*/ 157 w 623"/>
                <a:gd name="T55" fmla="*/ 6 h 378"/>
                <a:gd name="T56" fmla="*/ 130 w 623"/>
                <a:gd name="T57" fmla="*/ 5 h 378"/>
                <a:gd name="T58" fmla="*/ 102 w 623"/>
                <a:gd name="T59" fmla="*/ 3 h 378"/>
                <a:gd name="T60" fmla="*/ 78 w 623"/>
                <a:gd name="T61" fmla="*/ 3 h 378"/>
                <a:gd name="T62" fmla="*/ 56 w 623"/>
                <a:gd name="T63" fmla="*/ 1 h 378"/>
                <a:gd name="T64" fmla="*/ 37 w 623"/>
                <a:gd name="T65" fmla="*/ 1 h 378"/>
                <a:gd name="T66" fmla="*/ 22 w 623"/>
                <a:gd name="T67" fmla="*/ 0 h 378"/>
                <a:gd name="T68" fmla="*/ 10 w 623"/>
                <a:gd name="T69" fmla="*/ 0 h 378"/>
                <a:gd name="T70" fmla="*/ 3 w 623"/>
                <a:gd name="T71" fmla="*/ 0 h 378"/>
                <a:gd name="T72" fmla="*/ 0 w 623"/>
                <a:gd name="T73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23" h="378">
                  <a:moveTo>
                    <a:pt x="0" y="0"/>
                  </a:moveTo>
                  <a:lnTo>
                    <a:pt x="53" y="19"/>
                  </a:lnTo>
                  <a:lnTo>
                    <a:pt x="98" y="49"/>
                  </a:lnTo>
                  <a:lnTo>
                    <a:pt x="136" y="86"/>
                  </a:lnTo>
                  <a:lnTo>
                    <a:pt x="168" y="129"/>
                  </a:lnTo>
                  <a:lnTo>
                    <a:pt x="197" y="175"/>
                  </a:lnTo>
                  <a:lnTo>
                    <a:pt x="219" y="220"/>
                  </a:lnTo>
                  <a:lnTo>
                    <a:pt x="238" y="260"/>
                  </a:lnTo>
                  <a:lnTo>
                    <a:pt x="254" y="295"/>
                  </a:lnTo>
                  <a:lnTo>
                    <a:pt x="126" y="365"/>
                  </a:lnTo>
                  <a:lnTo>
                    <a:pt x="440" y="378"/>
                  </a:lnTo>
                  <a:lnTo>
                    <a:pt x="623" y="110"/>
                  </a:lnTo>
                  <a:lnTo>
                    <a:pt x="499" y="167"/>
                  </a:lnTo>
                  <a:lnTo>
                    <a:pt x="486" y="145"/>
                  </a:lnTo>
                  <a:lnTo>
                    <a:pt x="473" y="121"/>
                  </a:lnTo>
                  <a:lnTo>
                    <a:pt x="457" y="96"/>
                  </a:lnTo>
                  <a:lnTo>
                    <a:pt x="440" y="70"/>
                  </a:lnTo>
                  <a:lnTo>
                    <a:pt x="420" y="49"/>
                  </a:lnTo>
                  <a:lnTo>
                    <a:pt x="400" y="30"/>
                  </a:lnTo>
                  <a:lnTo>
                    <a:pt x="377" y="17"/>
                  </a:lnTo>
                  <a:lnTo>
                    <a:pt x="353" y="13"/>
                  </a:lnTo>
                  <a:lnTo>
                    <a:pt x="328" y="11"/>
                  </a:lnTo>
                  <a:lnTo>
                    <a:pt x="302" y="11"/>
                  </a:lnTo>
                  <a:lnTo>
                    <a:pt x="273" y="9"/>
                  </a:lnTo>
                  <a:lnTo>
                    <a:pt x="245" y="8"/>
                  </a:lnTo>
                  <a:lnTo>
                    <a:pt x="214" y="8"/>
                  </a:lnTo>
                  <a:lnTo>
                    <a:pt x="186" y="6"/>
                  </a:lnTo>
                  <a:lnTo>
                    <a:pt x="157" y="6"/>
                  </a:lnTo>
                  <a:lnTo>
                    <a:pt x="130" y="5"/>
                  </a:lnTo>
                  <a:lnTo>
                    <a:pt x="102" y="3"/>
                  </a:lnTo>
                  <a:lnTo>
                    <a:pt x="78" y="3"/>
                  </a:lnTo>
                  <a:lnTo>
                    <a:pt x="56" y="1"/>
                  </a:lnTo>
                  <a:lnTo>
                    <a:pt x="37" y="1"/>
                  </a:lnTo>
                  <a:lnTo>
                    <a:pt x="22" y="0"/>
                  </a:lnTo>
                  <a:lnTo>
                    <a:pt x="10" y="0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CDE7"/>
            </a:solidFill>
            <a:ln>
              <a:noFill/>
            </a:ln>
            <a:effectLst>
              <a:outerShdw dist="35921" dir="2700000" algn="ctr" rotWithShape="0">
                <a:srgbClr val="0099CC"/>
              </a:outerShdw>
            </a:effectLst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96B9DC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23" name="Freeform 56">
              <a:extLst>
                <a:ext uri="{FF2B5EF4-FFF2-40B4-BE49-F238E27FC236}">
                  <a16:creationId xmlns:a16="http://schemas.microsoft.com/office/drawing/2014/main" id="{56E8D0D8-6DC2-461F-A2BD-96F2AA59B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7" y="2736"/>
              <a:ext cx="447" cy="237"/>
            </a:xfrm>
            <a:custGeom>
              <a:avLst/>
              <a:gdLst>
                <a:gd name="T0" fmla="*/ 0 w 623"/>
                <a:gd name="T1" fmla="*/ 0 h 378"/>
                <a:gd name="T2" fmla="*/ 53 w 623"/>
                <a:gd name="T3" fmla="*/ 19 h 378"/>
                <a:gd name="T4" fmla="*/ 98 w 623"/>
                <a:gd name="T5" fmla="*/ 49 h 378"/>
                <a:gd name="T6" fmla="*/ 136 w 623"/>
                <a:gd name="T7" fmla="*/ 86 h 378"/>
                <a:gd name="T8" fmla="*/ 168 w 623"/>
                <a:gd name="T9" fmla="*/ 129 h 378"/>
                <a:gd name="T10" fmla="*/ 197 w 623"/>
                <a:gd name="T11" fmla="*/ 175 h 378"/>
                <a:gd name="T12" fmla="*/ 219 w 623"/>
                <a:gd name="T13" fmla="*/ 220 h 378"/>
                <a:gd name="T14" fmla="*/ 238 w 623"/>
                <a:gd name="T15" fmla="*/ 260 h 378"/>
                <a:gd name="T16" fmla="*/ 254 w 623"/>
                <a:gd name="T17" fmla="*/ 295 h 378"/>
                <a:gd name="T18" fmla="*/ 126 w 623"/>
                <a:gd name="T19" fmla="*/ 365 h 378"/>
                <a:gd name="T20" fmla="*/ 440 w 623"/>
                <a:gd name="T21" fmla="*/ 378 h 378"/>
                <a:gd name="T22" fmla="*/ 623 w 623"/>
                <a:gd name="T23" fmla="*/ 110 h 378"/>
                <a:gd name="T24" fmla="*/ 499 w 623"/>
                <a:gd name="T25" fmla="*/ 167 h 378"/>
                <a:gd name="T26" fmla="*/ 486 w 623"/>
                <a:gd name="T27" fmla="*/ 145 h 378"/>
                <a:gd name="T28" fmla="*/ 473 w 623"/>
                <a:gd name="T29" fmla="*/ 121 h 378"/>
                <a:gd name="T30" fmla="*/ 457 w 623"/>
                <a:gd name="T31" fmla="*/ 96 h 378"/>
                <a:gd name="T32" fmla="*/ 440 w 623"/>
                <a:gd name="T33" fmla="*/ 70 h 378"/>
                <a:gd name="T34" fmla="*/ 420 w 623"/>
                <a:gd name="T35" fmla="*/ 49 h 378"/>
                <a:gd name="T36" fmla="*/ 400 w 623"/>
                <a:gd name="T37" fmla="*/ 30 h 378"/>
                <a:gd name="T38" fmla="*/ 377 w 623"/>
                <a:gd name="T39" fmla="*/ 17 h 378"/>
                <a:gd name="T40" fmla="*/ 353 w 623"/>
                <a:gd name="T41" fmla="*/ 13 h 378"/>
                <a:gd name="T42" fmla="*/ 328 w 623"/>
                <a:gd name="T43" fmla="*/ 11 h 378"/>
                <a:gd name="T44" fmla="*/ 302 w 623"/>
                <a:gd name="T45" fmla="*/ 11 h 378"/>
                <a:gd name="T46" fmla="*/ 273 w 623"/>
                <a:gd name="T47" fmla="*/ 9 h 378"/>
                <a:gd name="T48" fmla="*/ 245 w 623"/>
                <a:gd name="T49" fmla="*/ 8 h 378"/>
                <a:gd name="T50" fmla="*/ 214 w 623"/>
                <a:gd name="T51" fmla="*/ 8 h 378"/>
                <a:gd name="T52" fmla="*/ 186 w 623"/>
                <a:gd name="T53" fmla="*/ 6 h 378"/>
                <a:gd name="T54" fmla="*/ 157 w 623"/>
                <a:gd name="T55" fmla="*/ 6 h 378"/>
                <a:gd name="T56" fmla="*/ 130 w 623"/>
                <a:gd name="T57" fmla="*/ 5 h 378"/>
                <a:gd name="T58" fmla="*/ 102 w 623"/>
                <a:gd name="T59" fmla="*/ 3 h 378"/>
                <a:gd name="T60" fmla="*/ 78 w 623"/>
                <a:gd name="T61" fmla="*/ 3 h 378"/>
                <a:gd name="T62" fmla="*/ 56 w 623"/>
                <a:gd name="T63" fmla="*/ 1 h 378"/>
                <a:gd name="T64" fmla="*/ 37 w 623"/>
                <a:gd name="T65" fmla="*/ 1 h 378"/>
                <a:gd name="T66" fmla="*/ 22 w 623"/>
                <a:gd name="T67" fmla="*/ 0 h 378"/>
                <a:gd name="T68" fmla="*/ 10 w 623"/>
                <a:gd name="T69" fmla="*/ 0 h 378"/>
                <a:gd name="T70" fmla="*/ 3 w 623"/>
                <a:gd name="T71" fmla="*/ 0 h 378"/>
                <a:gd name="T72" fmla="*/ 0 w 623"/>
                <a:gd name="T73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23" h="378">
                  <a:moveTo>
                    <a:pt x="0" y="0"/>
                  </a:moveTo>
                  <a:lnTo>
                    <a:pt x="53" y="19"/>
                  </a:lnTo>
                  <a:lnTo>
                    <a:pt x="98" y="49"/>
                  </a:lnTo>
                  <a:lnTo>
                    <a:pt x="136" y="86"/>
                  </a:lnTo>
                  <a:lnTo>
                    <a:pt x="168" y="129"/>
                  </a:lnTo>
                  <a:lnTo>
                    <a:pt x="197" y="175"/>
                  </a:lnTo>
                  <a:lnTo>
                    <a:pt x="219" y="220"/>
                  </a:lnTo>
                  <a:lnTo>
                    <a:pt x="238" y="260"/>
                  </a:lnTo>
                  <a:lnTo>
                    <a:pt x="254" y="295"/>
                  </a:lnTo>
                  <a:lnTo>
                    <a:pt x="126" y="365"/>
                  </a:lnTo>
                  <a:lnTo>
                    <a:pt x="440" y="378"/>
                  </a:lnTo>
                  <a:lnTo>
                    <a:pt x="623" y="110"/>
                  </a:lnTo>
                  <a:lnTo>
                    <a:pt x="499" y="167"/>
                  </a:lnTo>
                  <a:lnTo>
                    <a:pt x="486" y="145"/>
                  </a:lnTo>
                  <a:lnTo>
                    <a:pt x="473" y="121"/>
                  </a:lnTo>
                  <a:lnTo>
                    <a:pt x="457" y="96"/>
                  </a:lnTo>
                  <a:lnTo>
                    <a:pt x="440" y="70"/>
                  </a:lnTo>
                  <a:lnTo>
                    <a:pt x="420" y="49"/>
                  </a:lnTo>
                  <a:lnTo>
                    <a:pt x="400" y="30"/>
                  </a:lnTo>
                  <a:lnTo>
                    <a:pt x="377" y="17"/>
                  </a:lnTo>
                  <a:lnTo>
                    <a:pt x="353" y="13"/>
                  </a:lnTo>
                  <a:lnTo>
                    <a:pt x="328" y="11"/>
                  </a:lnTo>
                  <a:lnTo>
                    <a:pt x="302" y="11"/>
                  </a:lnTo>
                  <a:lnTo>
                    <a:pt x="273" y="9"/>
                  </a:lnTo>
                  <a:lnTo>
                    <a:pt x="245" y="8"/>
                  </a:lnTo>
                  <a:lnTo>
                    <a:pt x="214" y="8"/>
                  </a:lnTo>
                  <a:lnTo>
                    <a:pt x="186" y="6"/>
                  </a:lnTo>
                  <a:lnTo>
                    <a:pt x="157" y="6"/>
                  </a:lnTo>
                  <a:lnTo>
                    <a:pt x="130" y="5"/>
                  </a:lnTo>
                  <a:lnTo>
                    <a:pt x="102" y="3"/>
                  </a:lnTo>
                  <a:lnTo>
                    <a:pt x="78" y="3"/>
                  </a:lnTo>
                  <a:lnTo>
                    <a:pt x="56" y="1"/>
                  </a:lnTo>
                  <a:lnTo>
                    <a:pt x="37" y="1"/>
                  </a:lnTo>
                  <a:lnTo>
                    <a:pt x="22" y="0"/>
                  </a:lnTo>
                  <a:lnTo>
                    <a:pt x="10" y="0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CDE7"/>
            </a:solidFill>
            <a:ln>
              <a:noFill/>
            </a:ln>
            <a:effectLst>
              <a:outerShdw dist="35921" dir="2700000" algn="ctr" rotWithShape="0">
                <a:srgbClr val="0099CC"/>
              </a:outerShdw>
            </a:effectLst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96B9DC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24" name="Freeform 57">
              <a:extLst>
                <a:ext uri="{FF2B5EF4-FFF2-40B4-BE49-F238E27FC236}">
                  <a16:creationId xmlns:a16="http://schemas.microsoft.com/office/drawing/2014/main" id="{E9411E0F-0715-419C-A967-31A3EBCC9433}"/>
                </a:ext>
              </a:extLst>
            </p:cNvPr>
            <p:cNvSpPr>
              <a:spLocks/>
            </p:cNvSpPr>
            <p:nvPr/>
          </p:nvSpPr>
          <p:spPr bwMode="auto">
            <a:xfrm rot="16200000" flipH="1">
              <a:off x="1589" y="4165"/>
              <a:ext cx="441" cy="237"/>
            </a:xfrm>
            <a:custGeom>
              <a:avLst/>
              <a:gdLst>
                <a:gd name="T0" fmla="*/ 0 w 623"/>
                <a:gd name="T1" fmla="*/ 0 h 378"/>
                <a:gd name="T2" fmla="*/ 53 w 623"/>
                <a:gd name="T3" fmla="*/ 19 h 378"/>
                <a:gd name="T4" fmla="*/ 98 w 623"/>
                <a:gd name="T5" fmla="*/ 49 h 378"/>
                <a:gd name="T6" fmla="*/ 136 w 623"/>
                <a:gd name="T7" fmla="*/ 86 h 378"/>
                <a:gd name="T8" fmla="*/ 168 w 623"/>
                <a:gd name="T9" fmla="*/ 129 h 378"/>
                <a:gd name="T10" fmla="*/ 197 w 623"/>
                <a:gd name="T11" fmla="*/ 175 h 378"/>
                <a:gd name="T12" fmla="*/ 219 w 623"/>
                <a:gd name="T13" fmla="*/ 220 h 378"/>
                <a:gd name="T14" fmla="*/ 238 w 623"/>
                <a:gd name="T15" fmla="*/ 260 h 378"/>
                <a:gd name="T16" fmla="*/ 254 w 623"/>
                <a:gd name="T17" fmla="*/ 295 h 378"/>
                <a:gd name="T18" fmla="*/ 126 w 623"/>
                <a:gd name="T19" fmla="*/ 365 h 378"/>
                <a:gd name="T20" fmla="*/ 440 w 623"/>
                <a:gd name="T21" fmla="*/ 378 h 378"/>
                <a:gd name="T22" fmla="*/ 623 w 623"/>
                <a:gd name="T23" fmla="*/ 110 h 378"/>
                <a:gd name="T24" fmla="*/ 499 w 623"/>
                <a:gd name="T25" fmla="*/ 167 h 378"/>
                <a:gd name="T26" fmla="*/ 486 w 623"/>
                <a:gd name="T27" fmla="*/ 145 h 378"/>
                <a:gd name="T28" fmla="*/ 473 w 623"/>
                <a:gd name="T29" fmla="*/ 121 h 378"/>
                <a:gd name="T30" fmla="*/ 457 w 623"/>
                <a:gd name="T31" fmla="*/ 96 h 378"/>
                <a:gd name="T32" fmla="*/ 440 w 623"/>
                <a:gd name="T33" fmla="*/ 70 h 378"/>
                <a:gd name="T34" fmla="*/ 420 w 623"/>
                <a:gd name="T35" fmla="*/ 49 h 378"/>
                <a:gd name="T36" fmla="*/ 400 w 623"/>
                <a:gd name="T37" fmla="*/ 30 h 378"/>
                <a:gd name="T38" fmla="*/ 377 w 623"/>
                <a:gd name="T39" fmla="*/ 17 h 378"/>
                <a:gd name="T40" fmla="*/ 353 w 623"/>
                <a:gd name="T41" fmla="*/ 13 h 378"/>
                <a:gd name="T42" fmla="*/ 328 w 623"/>
                <a:gd name="T43" fmla="*/ 11 h 378"/>
                <a:gd name="T44" fmla="*/ 302 w 623"/>
                <a:gd name="T45" fmla="*/ 11 h 378"/>
                <a:gd name="T46" fmla="*/ 273 w 623"/>
                <a:gd name="T47" fmla="*/ 9 h 378"/>
                <a:gd name="T48" fmla="*/ 245 w 623"/>
                <a:gd name="T49" fmla="*/ 8 h 378"/>
                <a:gd name="T50" fmla="*/ 214 w 623"/>
                <a:gd name="T51" fmla="*/ 8 h 378"/>
                <a:gd name="T52" fmla="*/ 186 w 623"/>
                <a:gd name="T53" fmla="*/ 6 h 378"/>
                <a:gd name="T54" fmla="*/ 157 w 623"/>
                <a:gd name="T55" fmla="*/ 6 h 378"/>
                <a:gd name="T56" fmla="*/ 130 w 623"/>
                <a:gd name="T57" fmla="*/ 5 h 378"/>
                <a:gd name="T58" fmla="*/ 102 w 623"/>
                <a:gd name="T59" fmla="*/ 3 h 378"/>
                <a:gd name="T60" fmla="*/ 78 w 623"/>
                <a:gd name="T61" fmla="*/ 3 h 378"/>
                <a:gd name="T62" fmla="*/ 56 w 623"/>
                <a:gd name="T63" fmla="*/ 1 h 378"/>
                <a:gd name="T64" fmla="*/ 37 w 623"/>
                <a:gd name="T65" fmla="*/ 1 h 378"/>
                <a:gd name="T66" fmla="*/ 22 w 623"/>
                <a:gd name="T67" fmla="*/ 0 h 378"/>
                <a:gd name="T68" fmla="*/ 10 w 623"/>
                <a:gd name="T69" fmla="*/ 0 h 378"/>
                <a:gd name="T70" fmla="*/ 3 w 623"/>
                <a:gd name="T71" fmla="*/ 0 h 378"/>
                <a:gd name="T72" fmla="*/ 0 w 623"/>
                <a:gd name="T73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23" h="378">
                  <a:moveTo>
                    <a:pt x="0" y="0"/>
                  </a:moveTo>
                  <a:lnTo>
                    <a:pt x="53" y="19"/>
                  </a:lnTo>
                  <a:lnTo>
                    <a:pt x="98" y="49"/>
                  </a:lnTo>
                  <a:lnTo>
                    <a:pt x="136" y="86"/>
                  </a:lnTo>
                  <a:lnTo>
                    <a:pt x="168" y="129"/>
                  </a:lnTo>
                  <a:lnTo>
                    <a:pt x="197" y="175"/>
                  </a:lnTo>
                  <a:lnTo>
                    <a:pt x="219" y="220"/>
                  </a:lnTo>
                  <a:lnTo>
                    <a:pt x="238" y="260"/>
                  </a:lnTo>
                  <a:lnTo>
                    <a:pt x="254" y="295"/>
                  </a:lnTo>
                  <a:lnTo>
                    <a:pt x="126" y="365"/>
                  </a:lnTo>
                  <a:lnTo>
                    <a:pt x="440" y="378"/>
                  </a:lnTo>
                  <a:lnTo>
                    <a:pt x="623" y="110"/>
                  </a:lnTo>
                  <a:lnTo>
                    <a:pt x="499" y="167"/>
                  </a:lnTo>
                  <a:lnTo>
                    <a:pt x="486" y="145"/>
                  </a:lnTo>
                  <a:lnTo>
                    <a:pt x="473" y="121"/>
                  </a:lnTo>
                  <a:lnTo>
                    <a:pt x="457" y="96"/>
                  </a:lnTo>
                  <a:lnTo>
                    <a:pt x="440" y="70"/>
                  </a:lnTo>
                  <a:lnTo>
                    <a:pt x="420" y="49"/>
                  </a:lnTo>
                  <a:lnTo>
                    <a:pt x="400" y="30"/>
                  </a:lnTo>
                  <a:lnTo>
                    <a:pt x="377" y="17"/>
                  </a:lnTo>
                  <a:lnTo>
                    <a:pt x="353" y="13"/>
                  </a:lnTo>
                  <a:lnTo>
                    <a:pt x="328" y="11"/>
                  </a:lnTo>
                  <a:lnTo>
                    <a:pt x="302" y="11"/>
                  </a:lnTo>
                  <a:lnTo>
                    <a:pt x="273" y="9"/>
                  </a:lnTo>
                  <a:lnTo>
                    <a:pt x="245" y="8"/>
                  </a:lnTo>
                  <a:lnTo>
                    <a:pt x="214" y="8"/>
                  </a:lnTo>
                  <a:lnTo>
                    <a:pt x="186" y="6"/>
                  </a:lnTo>
                  <a:lnTo>
                    <a:pt x="157" y="6"/>
                  </a:lnTo>
                  <a:lnTo>
                    <a:pt x="130" y="5"/>
                  </a:lnTo>
                  <a:lnTo>
                    <a:pt x="102" y="3"/>
                  </a:lnTo>
                  <a:lnTo>
                    <a:pt x="78" y="3"/>
                  </a:lnTo>
                  <a:lnTo>
                    <a:pt x="56" y="1"/>
                  </a:lnTo>
                  <a:lnTo>
                    <a:pt x="37" y="1"/>
                  </a:lnTo>
                  <a:lnTo>
                    <a:pt x="22" y="0"/>
                  </a:lnTo>
                  <a:lnTo>
                    <a:pt x="10" y="0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CDE7"/>
            </a:solidFill>
            <a:ln>
              <a:noFill/>
            </a:ln>
            <a:effectLst>
              <a:outerShdw dist="35921" dir="2700000" algn="ctr" rotWithShape="0">
                <a:srgbClr val="0099CC"/>
              </a:outerShdw>
            </a:effectLst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96B9DC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  <p:sp>
          <p:nvSpPr>
            <p:cNvPr id="25" name="Freeform 58">
              <a:extLst>
                <a:ext uri="{FF2B5EF4-FFF2-40B4-BE49-F238E27FC236}">
                  <a16:creationId xmlns:a16="http://schemas.microsoft.com/office/drawing/2014/main" id="{4E4A51B4-3770-471E-9CAF-47877E2104C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96" y="3685"/>
              <a:ext cx="440" cy="270"/>
            </a:xfrm>
            <a:custGeom>
              <a:avLst/>
              <a:gdLst>
                <a:gd name="T0" fmla="*/ 176 w 440"/>
                <a:gd name="T1" fmla="*/ 904 h 904"/>
                <a:gd name="T2" fmla="*/ 84 w 440"/>
                <a:gd name="T3" fmla="*/ 256 h 904"/>
                <a:gd name="T4" fmla="*/ 0 w 440"/>
                <a:gd name="T5" fmla="*/ 256 h 904"/>
                <a:gd name="T6" fmla="*/ 240 w 440"/>
                <a:gd name="T7" fmla="*/ 0 h 904"/>
                <a:gd name="T8" fmla="*/ 440 w 440"/>
                <a:gd name="T9" fmla="*/ 264 h 904"/>
                <a:gd name="T10" fmla="*/ 360 w 440"/>
                <a:gd name="T11" fmla="*/ 256 h 904"/>
                <a:gd name="T12" fmla="*/ 244 w 440"/>
                <a:gd name="T13" fmla="*/ 904 h 904"/>
                <a:gd name="T14" fmla="*/ 176 w 440"/>
                <a:gd name="T15" fmla="*/ 904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0" h="904">
                  <a:moveTo>
                    <a:pt x="176" y="904"/>
                  </a:moveTo>
                  <a:lnTo>
                    <a:pt x="84" y="256"/>
                  </a:lnTo>
                  <a:lnTo>
                    <a:pt x="0" y="256"/>
                  </a:lnTo>
                  <a:lnTo>
                    <a:pt x="240" y="0"/>
                  </a:lnTo>
                  <a:lnTo>
                    <a:pt x="440" y="264"/>
                  </a:lnTo>
                  <a:lnTo>
                    <a:pt x="360" y="256"/>
                  </a:lnTo>
                  <a:lnTo>
                    <a:pt x="244" y="904"/>
                  </a:lnTo>
                  <a:lnTo>
                    <a:pt x="176" y="904"/>
                  </a:lnTo>
                  <a:close/>
                </a:path>
              </a:pathLst>
            </a:custGeom>
            <a:gradFill rotWithShape="0">
              <a:gsLst>
                <a:gs pos="0">
                  <a:srgbClr val="0066FF">
                    <a:gamma/>
                    <a:tint val="0"/>
                    <a:invGamma/>
                  </a:srgbClr>
                </a:gs>
                <a:gs pos="100000">
                  <a:srgbClr val="0066FF"/>
                </a:gs>
              </a:gsLst>
              <a:lin ang="5400000" scaled="1"/>
            </a:gradFill>
            <a:ln>
              <a:noFill/>
            </a:ln>
            <a:effectLst>
              <a:outerShdw dist="12700" dir="16200000" algn="ctr" rotWithShape="0">
                <a:srgbClr val="0066FF"/>
              </a:outerShdw>
            </a:effectLst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ko-KR" altLang="en-US" b="1">
                <a:latin typeface="+mj-ea"/>
                <a:ea typeface="+mj-ea"/>
              </a:endParaRPr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8BDA4A4-0530-4EAA-8539-B2FD39FCA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101" y="1051471"/>
            <a:ext cx="82622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marL="285750" indent="-285750" latinLnBrk="0">
              <a:buFont typeface="Wingdings" panose="05000000000000000000" pitchFamily="2" charset="2"/>
              <a:buChar char="Ø"/>
              <a:defRPr/>
            </a:pPr>
            <a:r>
              <a:rPr kumimoji="0" lang="ko-KR" altLang="en-US" sz="1800" b="1" dirty="0">
                <a:latin typeface="+mj-ea"/>
                <a:ea typeface="+mj-ea"/>
              </a:rPr>
              <a:t>문서화 절차는 계획된 시험계획서와 명세서를 기반으로 시험을 수행하며 이때 발생된 모든 기록은 문제 보고서에 기록</a:t>
            </a:r>
            <a:r>
              <a:rPr kumimoji="0" lang="en-US" altLang="ko-KR" sz="1800" b="1" dirty="0">
                <a:latin typeface="+mj-ea"/>
                <a:ea typeface="+mj-ea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186792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D742DC-435E-4BF3-A315-ECF714577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S/W </a:t>
            </a:r>
            <a:r>
              <a:rPr lang="ko-KR" altLang="en-US" dirty="0"/>
              <a:t>형상관리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8F25C1-5773-4844-951F-04D1ED89B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0" lang="ko-KR" altLang="en-US" sz="1800" b="1" dirty="0">
                <a:solidFill>
                  <a:srgbClr val="222268"/>
                </a:solidFill>
                <a:latin typeface="+mj-ea"/>
                <a:ea typeface="+mj-ea"/>
              </a:rPr>
              <a:t>형상관리</a:t>
            </a:r>
            <a:r>
              <a:rPr kumimoji="0" lang="en-US" altLang="ko-KR" sz="1800" b="1" dirty="0">
                <a:solidFill>
                  <a:srgbClr val="222268"/>
                </a:solidFill>
                <a:latin typeface="+mj-ea"/>
                <a:ea typeface="+mj-ea"/>
              </a:rPr>
              <a:t>(Configuration Management)?</a:t>
            </a:r>
          </a:p>
          <a:p>
            <a:pPr lvl="1"/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형상관리는 품목의 기능적 또는 물리적 특성을 식별하여 문서화하고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, 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그 특성에 대한 변경을 통제하며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, 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도면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․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규격서 등 형상을 식별할 수 있는 문서와 그 제품의 합치여부를 점검하고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, 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형상의 변경을 승인한 경우 그에 따른 이행현황 등의 필요한 정보를 기록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/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유지하는 활동으로서 형상식별 및 문서화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, 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형상통제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, 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형상확인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, </a:t>
            </a:r>
            <a:r>
              <a:rPr lang="ko-KR" altLang="en-US" b="1" dirty="0">
                <a:solidFill>
                  <a:srgbClr val="FF0000"/>
                </a:solidFill>
                <a:latin typeface="+mj-ea"/>
                <a:ea typeface="+mj-ea"/>
              </a:rPr>
              <a:t>형상자료유지로 구분 한다</a:t>
            </a:r>
            <a:r>
              <a:rPr lang="en-US" altLang="ko-KR" b="1" dirty="0">
                <a:solidFill>
                  <a:srgbClr val="FF0000"/>
                </a:solidFill>
                <a:latin typeface="+mj-ea"/>
                <a:ea typeface="+mj-ea"/>
              </a:rPr>
              <a:t>.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3B8DA76-429E-44C5-8009-3FF8A8217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7446" y="5860018"/>
            <a:ext cx="9261446" cy="1101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  <a:cs typeface="+mn-cs"/>
              </a:defRPr>
            </a:lvl9pPr>
          </a:lstStyle>
          <a:p>
            <a:pPr lvl="1">
              <a:lnSpc>
                <a:spcPct val="200000"/>
              </a:lnSpc>
            </a:pPr>
            <a:r>
              <a:rPr lang="ko-KR" altLang="en-US" sz="1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형상관리 정의 </a:t>
            </a:r>
            <a:r>
              <a:rPr lang="en-US" altLang="ko-KR" sz="1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 : </a:t>
            </a:r>
            <a:r>
              <a:rPr lang="en-US" altLang="ko-KR" sz="1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“</a:t>
            </a:r>
            <a:r>
              <a:rPr lang="ko-KR" altLang="en-US" sz="1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무기체계 소프트웨어 개발 및 관리 지침</a:t>
            </a:r>
            <a:r>
              <a:rPr lang="en-US" altLang="ko-KR" sz="18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“ </a:t>
            </a:r>
            <a:r>
              <a:rPr lang="en-US" altLang="ko-KR" sz="1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“ </a:t>
            </a:r>
            <a:r>
              <a:rPr lang="ko-KR" altLang="en-US" sz="1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방위사업청 </a:t>
            </a:r>
            <a:r>
              <a:rPr lang="en-US" altLang="ko-KR" sz="1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2012</a:t>
            </a:r>
            <a:r>
              <a:rPr lang="ko-KR" altLang="en-US" sz="1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년 개정</a:t>
            </a:r>
            <a:r>
              <a:rPr lang="en-US" altLang="ko-KR" sz="1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7781484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Arial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68693</TotalTime>
  <Words>1730</Words>
  <Application>Microsoft Office PowerPoint</Application>
  <PresentationFormat>화면 슬라이드 쇼(4:3)</PresentationFormat>
  <Paragraphs>500</Paragraphs>
  <Slides>21</Slides>
  <Notes>5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9" baseType="lpstr">
      <vt:lpstr>Apple SD Gothic Neo</vt:lpstr>
      <vt:lpstr>굴림</vt:lpstr>
      <vt:lpstr>맑은 고딕</vt:lpstr>
      <vt:lpstr>Arial</vt:lpstr>
      <vt:lpstr>Times New Roman</vt:lpstr>
      <vt:lpstr>Wingdings</vt:lpstr>
      <vt:lpstr>기본 디자인</vt:lpstr>
      <vt:lpstr>Image</vt:lpstr>
      <vt:lpstr>2팀 (Software)  업무현황</vt:lpstr>
      <vt:lpstr>Software Layer</vt:lpstr>
      <vt:lpstr>현황 및 개선방안</vt:lpstr>
      <vt:lpstr>현황 및 개선방안</vt:lpstr>
      <vt:lpstr>현 진행중 Project</vt:lpstr>
      <vt:lpstr>현 진행중 Project</vt:lpstr>
      <vt:lpstr>인력별 업무할당</vt:lpstr>
      <vt:lpstr>인력별 업무할당</vt:lpstr>
      <vt:lpstr>2020.09.24</vt:lpstr>
      <vt:lpstr>W41 – SW 주간 업무</vt:lpstr>
      <vt:lpstr>W42 – SW 주간 업무</vt:lpstr>
      <vt:lpstr>RTEMS Base Memory Map 구성 완료</vt:lpstr>
      <vt:lpstr>RTEMS Base Memory Control – Tech Note</vt:lpstr>
      <vt:lpstr>DTNE AGING TEST</vt:lpstr>
      <vt:lpstr>NAND R/W Performance Test</vt:lpstr>
      <vt:lpstr>SDRAM Performance Test</vt:lpstr>
      <vt:lpstr>S/W 개발 Process</vt:lpstr>
      <vt:lpstr>개발 프로세스 상세</vt:lpstr>
      <vt:lpstr>S/W V&amp;V (verification &amp; Validation)</vt:lpstr>
      <vt:lpstr>설계 문서 관리 방안</vt:lpstr>
      <vt:lpstr>S/W 형상관리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한동인</dc:creator>
  <cp:lastModifiedBy>최 상림</cp:lastModifiedBy>
  <cp:revision>2381</cp:revision>
  <cp:lastPrinted>2019-05-20T07:28:10Z</cp:lastPrinted>
  <dcterms:created xsi:type="dcterms:W3CDTF">1601-01-01T00:00:00Z</dcterms:created>
  <dcterms:modified xsi:type="dcterms:W3CDTF">2020-10-15T01:30:14Z</dcterms:modified>
</cp:coreProperties>
</file>