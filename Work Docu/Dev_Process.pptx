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8" r:id="rId10"/>
    <p:sldId id="267" r:id="rId11"/>
    <p:sldId id="265" r:id="rId12"/>
    <p:sldId id="263" r:id="rId13"/>
    <p:sldId id="2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62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65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91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48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7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33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2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48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97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71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28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_bottom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0081C9"/>
              </a:buCl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81C9"/>
              </a:buCl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81C9"/>
              </a:buCl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81C9"/>
              </a:buCl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81C9"/>
              </a:buCl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87622" y="184556"/>
            <a:ext cx="9996073" cy="787400"/>
          </a:xfrm>
        </p:spPr>
        <p:txBody>
          <a:bodyPr>
            <a:noAutofit/>
          </a:bodyPr>
          <a:lstStyle>
            <a:lvl1pPr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Title</a:t>
            </a:r>
          </a:p>
        </p:txBody>
      </p:sp>
      <p:cxnSp>
        <p:nvCxnSpPr>
          <p:cNvPr id="8" name="Straight Connector 3"/>
          <p:cNvCxnSpPr/>
          <p:nvPr userDrawn="1"/>
        </p:nvCxnSpPr>
        <p:spPr>
          <a:xfrm>
            <a:off x="626533" y="809624"/>
            <a:ext cx="10944000" cy="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030" y="230691"/>
            <a:ext cx="2453525" cy="5211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85771" y="6515103"/>
            <a:ext cx="34248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2015 Intellian Proprietary</a:t>
            </a:r>
            <a:endParaRPr lang="ko-KR" alt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75189" y="6472240"/>
            <a:ext cx="2840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rgbClr val="0081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sz="1400" dirty="0" smtClean="0"/>
              <a:t>Connect with the best</a:t>
            </a:r>
            <a:endParaRPr lang="ko-KR" altLang="en-US" sz="1400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5655734" y="6434816"/>
            <a:ext cx="88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48028D-080F-DF47-B6A5-F918BD58D871}" type="slidenum">
              <a:rPr lang="en-US" sz="120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‹#›</a:t>
            </a:fld>
            <a:endParaRPr lang="en-US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6531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BC2FC-F218-4AB6-990D-0928E75D117E}" type="datetimeFigureOut">
              <a:rPr lang="ko-KR" altLang="en-US" smtClean="0"/>
              <a:t>2020-10-07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4DA10-670B-4047-9680-71D283D7E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1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Relationship Id="rId9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1"/>
          <p:cNvSpPr>
            <a:spLocks noChangeArrowheads="1"/>
          </p:cNvSpPr>
          <p:nvPr/>
        </p:nvSpPr>
        <p:spPr bwMode="auto">
          <a:xfrm>
            <a:off x="275645" y="398960"/>
            <a:ext cx="1066800" cy="457200"/>
          </a:xfrm>
          <a:prstGeom prst="rect">
            <a:avLst/>
          </a:prstGeom>
          <a:gradFill rotWithShape="0">
            <a:gsLst>
              <a:gs pos="0">
                <a:srgbClr val="9999FF">
                  <a:gamma/>
                  <a:tint val="0"/>
                  <a:invGamma/>
                </a:srgbClr>
              </a:gs>
              <a:gs pos="100000">
                <a:srgbClr val="99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" name="Rectangle 192"/>
          <p:cNvSpPr>
            <a:spLocks noChangeArrowheads="1"/>
          </p:cNvSpPr>
          <p:nvPr/>
        </p:nvSpPr>
        <p:spPr bwMode="auto">
          <a:xfrm>
            <a:off x="2104445" y="398960"/>
            <a:ext cx="1295400" cy="457200"/>
          </a:xfrm>
          <a:prstGeom prst="rect">
            <a:avLst/>
          </a:prstGeom>
          <a:gradFill rotWithShape="0">
            <a:gsLst>
              <a:gs pos="0">
                <a:srgbClr val="9999FF">
                  <a:gamma/>
                  <a:tint val="0"/>
                  <a:invGamma/>
                </a:srgbClr>
              </a:gs>
              <a:gs pos="100000">
                <a:srgbClr val="99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" name="Rectangle 193"/>
          <p:cNvSpPr>
            <a:spLocks noChangeArrowheads="1"/>
          </p:cNvSpPr>
          <p:nvPr/>
        </p:nvSpPr>
        <p:spPr bwMode="auto">
          <a:xfrm>
            <a:off x="4695245" y="779960"/>
            <a:ext cx="1295400" cy="381000"/>
          </a:xfrm>
          <a:prstGeom prst="rect">
            <a:avLst/>
          </a:prstGeom>
          <a:gradFill rotWithShape="0">
            <a:gsLst>
              <a:gs pos="0">
                <a:srgbClr val="9999FF">
                  <a:gamma/>
                  <a:tint val="0"/>
                  <a:invGamma/>
                </a:srgbClr>
              </a:gs>
              <a:gs pos="100000">
                <a:srgbClr val="99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" name="Rectangle 194"/>
          <p:cNvSpPr>
            <a:spLocks noChangeArrowheads="1"/>
          </p:cNvSpPr>
          <p:nvPr/>
        </p:nvSpPr>
        <p:spPr bwMode="auto">
          <a:xfrm>
            <a:off x="4695245" y="170360"/>
            <a:ext cx="1295400" cy="381000"/>
          </a:xfrm>
          <a:prstGeom prst="rect">
            <a:avLst/>
          </a:prstGeom>
          <a:gradFill rotWithShape="0">
            <a:gsLst>
              <a:gs pos="0">
                <a:srgbClr val="9999FF">
                  <a:gamma/>
                  <a:tint val="0"/>
                  <a:invGamma/>
                </a:srgbClr>
              </a:gs>
              <a:gs pos="100000">
                <a:srgbClr val="99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195"/>
          <p:cNvSpPr>
            <a:spLocks noChangeShapeType="1"/>
          </p:cNvSpPr>
          <p:nvPr/>
        </p:nvSpPr>
        <p:spPr bwMode="auto">
          <a:xfrm>
            <a:off x="1418645" y="62756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Line 196"/>
          <p:cNvSpPr>
            <a:spLocks noChangeShapeType="1"/>
          </p:cNvSpPr>
          <p:nvPr/>
        </p:nvSpPr>
        <p:spPr bwMode="auto">
          <a:xfrm>
            <a:off x="4161845" y="32276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" name="Line 197"/>
          <p:cNvSpPr>
            <a:spLocks noChangeShapeType="1"/>
          </p:cNvSpPr>
          <p:nvPr/>
        </p:nvSpPr>
        <p:spPr bwMode="auto">
          <a:xfrm>
            <a:off x="4161845" y="93236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198"/>
          <p:cNvSpPr>
            <a:spLocks noChangeShapeType="1"/>
          </p:cNvSpPr>
          <p:nvPr/>
        </p:nvSpPr>
        <p:spPr bwMode="auto">
          <a:xfrm>
            <a:off x="3476045" y="62756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" name="Line 199"/>
          <p:cNvSpPr>
            <a:spLocks noChangeShapeType="1"/>
          </p:cNvSpPr>
          <p:nvPr/>
        </p:nvSpPr>
        <p:spPr bwMode="auto">
          <a:xfrm>
            <a:off x="4161845" y="32276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Text Box 201"/>
          <p:cNvSpPr txBox="1">
            <a:spLocks noChangeArrowheads="1"/>
          </p:cNvSpPr>
          <p:nvPr/>
        </p:nvSpPr>
        <p:spPr bwMode="auto">
          <a:xfrm>
            <a:off x="351845" y="487860"/>
            <a:ext cx="9144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FFFFC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>
              <a:lnSpc>
                <a:spcPct val="100000"/>
              </a:lnSpc>
              <a:spcBef>
                <a:spcPct val="50000"/>
              </a:spcBef>
            </a:pPr>
            <a:r>
              <a:rPr lang="ko-KR" altLang="en-US" sz="1100"/>
              <a:t>현황분석</a:t>
            </a:r>
          </a:p>
        </p:txBody>
      </p:sp>
      <p:sp>
        <p:nvSpPr>
          <p:cNvPr id="16" name="Text Box 203"/>
          <p:cNvSpPr txBox="1">
            <a:spLocks noChangeArrowheads="1"/>
          </p:cNvSpPr>
          <p:nvPr/>
        </p:nvSpPr>
        <p:spPr bwMode="auto">
          <a:xfrm>
            <a:off x="2180645" y="440235"/>
            <a:ext cx="11430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FFFFC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>
              <a:lnSpc>
                <a:spcPct val="100000"/>
              </a:lnSpc>
              <a:spcBef>
                <a:spcPct val="50000"/>
              </a:spcBef>
            </a:pPr>
            <a:r>
              <a:rPr lang="ko-KR" altLang="en-US" sz="1100" dirty="0" smtClean="0"/>
              <a:t>요구사항 </a:t>
            </a:r>
            <a:r>
              <a:rPr lang="ko-KR" altLang="en-US" sz="1100" dirty="0"/>
              <a:t>정의</a:t>
            </a:r>
          </a:p>
        </p:txBody>
      </p:sp>
      <p:sp>
        <p:nvSpPr>
          <p:cNvPr id="18" name="Text Box 205"/>
          <p:cNvSpPr txBox="1">
            <a:spLocks noChangeArrowheads="1"/>
          </p:cNvSpPr>
          <p:nvPr/>
        </p:nvSpPr>
        <p:spPr bwMode="auto">
          <a:xfrm>
            <a:off x="4847645" y="227510"/>
            <a:ext cx="11430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FFFFC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>
              <a:lnSpc>
                <a:spcPct val="100000"/>
              </a:lnSpc>
              <a:spcBef>
                <a:spcPct val="50000"/>
              </a:spcBef>
            </a:pPr>
            <a:r>
              <a:rPr lang="ko-KR" altLang="en-US" sz="1100"/>
              <a:t>논리모델구축</a:t>
            </a:r>
          </a:p>
        </p:txBody>
      </p:sp>
      <p:sp>
        <p:nvSpPr>
          <p:cNvPr id="20" name="Text Box 207"/>
          <p:cNvSpPr txBox="1">
            <a:spLocks noChangeArrowheads="1"/>
          </p:cNvSpPr>
          <p:nvPr/>
        </p:nvSpPr>
        <p:spPr bwMode="auto">
          <a:xfrm>
            <a:off x="4847645" y="837110"/>
            <a:ext cx="11430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rgbClr val="FFFFCC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>
              <a:lnSpc>
                <a:spcPct val="100000"/>
              </a:lnSpc>
              <a:spcBef>
                <a:spcPct val="50000"/>
              </a:spcBef>
            </a:pPr>
            <a:r>
              <a:rPr lang="ko-KR" altLang="en-US" sz="1100"/>
              <a:t>개발표준정의</a:t>
            </a:r>
          </a:p>
        </p:txBody>
      </p:sp>
      <p:sp>
        <p:nvSpPr>
          <p:cNvPr id="21" name="AutoShape 1237"/>
          <p:cNvSpPr>
            <a:spLocks noChangeArrowheads="1"/>
          </p:cNvSpPr>
          <p:nvPr/>
        </p:nvSpPr>
        <p:spPr bwMode="auto">
          <a:xfrm>
            <a:off x="3742745" y="1684696"/>
            <a:ext cx="1295400" cy="371475"/>
          </a:xfrm>
          <a:prstGeom prst="homePlate">
            <a:avLst>
              <a:gd name="adj" fmla="val 45769"/>
            </a:avLst>
          </a:prstGeom>
          <a:gradFill rotWithShape="0">
            <a:gsLst>
              <a:gs pos="0">
                <a:srgbClr val="EEDDFF"/>
              </a:gs>
              <a:gs pos="100000">
                <a:srgbClr val="EEDDFF">
                  <a:gamma/>
                  <a:shade val="80000"/>
                  <a:invGamma/>
                </a:srgbClr>
              </a:gs>
            </a:gsLst>
            <a:lin ang="0" scaled="1"/>
          </a:gradFill>
          <a:ln>
            <a:noFill/>
          </a:ln>
          <a:effectLst/>
          <a:scene3d>
            <a:camera prst="legacyPerspectiveTop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EEDDFF"/>
            </a:extrusionClr>
            <a:contourClr>
              <a:srgbClr val="EEDD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EEDD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latinLnBrk="1">
              <a:lnSpc>
                <a:spcPct val="140000"/>
              </a:lnSpc>
            </a:pPr>
            <a:r>
              <a:rPr lang="ko-KR" altLang="en-US" sz="1200" dirty="0"/>
              <a:t>전개</a:t>
            </a:r>
          </a:p>
        </p:txBody>
      </p:sp>
      <p:sp>
        <p:nvSpPr>
          <p:cNvPr id="22" name="AutoShape 1238"/>
          <p:cNvSpPr>
            <a:spLocks noChangeArrowheads="1"/>
          </p:cNvSpPr>
          <p:nvPr/>
        </p:nvSpPr>
        <p:spPr bwMode="auto">
          <a:xfrm>
            <a:off x="2599745" y="1684696"/>
            <a:ext cx="1295400" cy="371475"/>
          </a:xfrm>
          <a:prstGeom prst="homePlate">
            <a:avLst>
              <a:gd name="adj" fmla="val 45769"/>
            </a:avLst>
          </a:prstGeom>
          <a:gradFill rotWithShape="0">
            <a:gsLst>
              <a:gs pos="0">
                <a:srgbClr val="EEDDFF"/>
              </a:gs>
              <a:gs pos="100000">
                <a:srgbClr val="EEDDFF">
                  <a:gamma/>
                  <a:shade val="80000"/>
                  <a:invGamma/>
                </a:srgbClr>
              </a:gs>
            </a:gsLst>
            <a:lin ang="0" scaled="1"/>
          </a:gradFill>
          <a:ln>
            <a:noFill/>
          </a:ln>
          <a:effectLst/>
          <a:scene3d>
            <a:camera prst="legacyPerspectiveTop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EEDDFF"/>
            </a:extrusionClr>
            <a:contourClr>
              <a:srgbClr val="EEDD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EEDD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latinLnBrk="1">
              <a:lnSpc>
                <a:spcPct val="140000"/>
              </a:lnSpc>
            </a:pPr>
            <a:r>
              <a:rPr lang="ko-KR" altLang="en-US" sz="1200"/>
              <a:t>구축</a:t>
            </a:r>
          </a:p>
        </p:txBody>
      </p:sp>
      <p:sp>
        <p:nvSpPr>
          <p:cNvPr id="23" name="AutoShape 1239"/>
          <p:cNvSpPr>
            <a:spLocks noChangeArrowheads="1"/>
          </p:cNvSpPr>
          <p:nvPr/>
        </p:nvSpPr>
        <p:spPr bwMode="auto">
          <a:xfrm>
            <a:off x="1456745" y="1684696"/>
            <a:ext cx="1295400" cy="371475"/>
          </a:xfrm>
          <a:prstGeom prst="homePlate">
            <a:avLst>
              <a:gd name="adj" fmla="val 45769"/>
            </a:avLst>
          </a:prstGeom>
          <a:gradFill rotWithShape="0">
            <a:gsLst>
              <a:gs pos="0">
                <a:srgbClr val="EEDDFF"/>
              </a:gs>
              <a:gs pos="100000">
                <a:srgbClr val="EEDDFF">
                  <a:gamma/>
                  <a:shade val="80000"/>
                  <a:invGamma/>
                </a:srgbClr>
              </a:gs>
            </a:gsLst>
            <a:lin ang="0" scaled="1"/>
          </a:gradFill>
          <a:ln>
            <a:noFill/>
          </a:ln>
          <a:effectLst/>
          <a:scene3d>
            <a:camera prst="legacyPerspectiveTop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EEDDFF"/>
            </a:extrusionClr>
            <a:contourClr>
              <a:srgbClr val="EEDD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EEDD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latinLnBrk="1">
              <a:lnSpc>
                <a:spcPct val="140000"/>
              </a:lnSpc>
            </a:pPr>
            <a:r>
              <a:rPr lang="ko-KR" altLang="en-US" sz="1200"/>
              <a:t>설계</a:t>
            </a:r>
          </a:p>
        </p:txBody>
      </p:sp>
      <p:sp>
        <p:nvSpPr>
          <p:cNvPr id="24" name="AutoShape 1240"/>
          <p:cNvSpPr>
            <a:spLocks noChangeArrowheads="1"/>
          </p:cNvSpPr>
          <p:nvPr/>
        </p:nvSpPr>
        <p:spPr bwMode="auto">
          <a:xfrm>
            <a:off x="313745" y="1684696"/>
            <a:ext cx="1295400" cy="371475"/>
          </a:xfrm>
          <a:prstGeom prst="homePlate">
            <a:avLst>
              <a:gd name="adj" fmla="val 45769"/>
            </a:avLst>
          </a:prstGeom>
          <a:gradFill rotWithShape="0">
            <a:gsLst>
              <a:gs pos="0">
                <a:srgbClr val="EEDDFF"/>
              </a:gs>
              <a:gs pos="100000">
                <a:srgbClr val="EEDDFF">
                  <a:gamma/>
                  <a:shade val="80000"/>
                  <a:invGamma/>
                </a:srgbClr>
              </a:gs>
            </a:gsLst>
            <a:lin ang="0" scaled="1"/>
          </a:gradFill>
          <a:ln>
            <a:noFill/>
          </a:ln>
          <a:effectLst/>
          <a:scene3d>
            <a:camera prst="legacyPerspectiveTop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EEDDFF"/>
            </a:extrusionClr>
            <a:contourClr>
              <a:srgbClr val="EEDD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EEDD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latinLnBrk="1">
              <a:lnSpc>
                <a:spcPct val="140000"/>
              </a:lnSpc>
            </a:pPr>
            <a:r>
              <a:rPr lang="ko-KR" altLang="en-US" sz="1200" dirty="0"/>
              <a:t>분석</a:t>
            </a:r>
          </a:p>
        </p:txBody>
      </p:sp>
      <p:grpSp>
        <p:nvGrpSpPr>
          <p:cNvPr id="25" name="Group 104"/>
          <p:cNvGrpSpPr>
            <a:grpSpLocks/>
          </p:cNvGrpSpPr>
          <p:nvPr/>
        </p:nvGrpSpPr>
        <p:grpSpPr bwMode="auto">
          <a:xfrm>
            <a:off x="5911132" y="1389560"/>
            <a:ext cx="6029325" cy="5013325"/>
            <a:chOff x="376" y="2807"/>
            <a:chExt cx="3648" cy="2809"/>
          </a:xfrm>
        </p:grpSpPr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376" y="2807"/>
              <a:ext cx="3639" cy="2809"/>
            </a:xfrm>
            <a:prstGeom prst="rect">
              <a:avLst/>
            </a:prstGeom>
            <a:solidFill>
              <a:srgbClr val="C6DE9C"/>
            </a:solidFill>
            <a:ln>
              <a:noFill/>
            </a:ln>
            <a:effectLst>
              <a:prstShdw prst="shdw17" dist="17961" dir="2700000">
                <a:srgbClr val="C6DE9C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2080" y="3457"/>
              <a:ext cx="1896" cy="573"/>
            </a:xfrm>
            <a:prstGeom prst="rect">
              <a:avLst/>
            </a:prstGeom>
            <a:solidFill>
              <a:srgbClr val="E7FAD2"/>
            </a:solidFill>
            <a:ln>
              <a:noFill/>
            </a:ln>
            <a:effectLst>
              <a:prstShdw prst="shdw18" dist="17961" dir="13500000">
                <a:srgbClr val="E7FAD2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2080" y="4075"/>
              <a:ext cx="1896" cy="681"/>
            </a:xfrm>
            <a:prstGeom prst="rect">
              <a:avLst/>
            </a:prstGeom>
            <a:solidFill>
              <a:srgbClr val="E7FAD2"/>
            </a:solidFill>
            <a:ln>
              <a:noFill/>
            </a:ln>
            <a:effectLst>
              <a:prstShdw prst="shdw18" dist="17961" dir="13500000">
                <a:srgbClr val="E7FAD2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080" y="4828"/>
              <a:ext cx="1896" cy="735"/>
            </a:xfrm>
            <a:prstGeom prst="rect">
              <a:avLst/>
            </a:prstGeom>
            <a:solidFill>
              <a:srgbClr val="E7FAD2"/>
            </a:solidFill>
            <a:ln>
              <a:noFill/>
            </a:ln>
            <a:effectLst>
              <a:prstShdw prst="shdw18" dist="17961" dir="13500000">
                <a:srgbClr val="E7FAD2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414" y="2845"/>
              <a:ext cx="1620" cy="27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2080" y="2845"/>
              <a:ext cx="1896" cy="573"/>
            </a:xfrm>
            <a:prstGeom prst="rect">
              <a:avLst/>
            </a:prstGeom>
            <a:solidFill>
              <a:srgbClr val="E7FAD2"/>
            </a:solidFill>
            <a:ln>
              <a:noFill/>
            </a:ln>
            <a:effectLst>
              <a:prstShdw prst="shdw18" dist="17961" dir="13500000">
                <a:srgbClr val="E7FAD2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2" name="Group 17"/>
            <p:cNvGrpSpPr>
              <a:grpSpLocks/>
            </p:cNvGrpSpPr>
            <p:nvPr/>
          </p:nvGrpSpPr>
          <p:grpSpPr bwMode="auto">
            <a:xfrm>
              <a:off x="981" y="5132"/>
              <a:ext cx="751" cy="340"/>
              <a:chOff x="978" y="3456"/>
              <a:chExt cx="1081" cy="227"/>
            </a:xfrm>
          </p:grpSpPr>
          <p:sp>
            <p:nvSpPr>
              <p:cNvPr id="89" name="AutoShape 18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90" name="AutoShape 19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3" name="Group 20"/>
            <p:cNvGrpSpPr>
              <a:grpSpLocks/>
            </p:cNvGrpSpPr>
            <p:nvPr/>
          </p:nvGrpSpPr>
          <p:grpSpPr bwMode="auto">
            <a:xfrm>
              <a:off x="955" y="5107"/>
              <a:ext cx="752" cy="341"/>
              <a:chOff x="978" y="3456"/>
              <a:chExt cx="1081" cy="227"/>
            </a:xfrm>
          </p:grpSpPr>
          <p:sp>
            <p:nvSpPr>
              <p:cNvPr id="87" name="AutoShape 21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8" name="AutoShape 22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4" name="Group 23"/>
            <p:cNvGrpSpPr>
              <a:grpSpLocks/>
            </p:cNvGrpSpPr>
            <p:nvPr/>
          </p:nvGrpSpPr>
          <p:grpSpPr bwMode="auto">
            <a:xfrm>
              <a:off x="980" y="4394"/>
              <a:ext cx="751" cy="341"/>
              <a:chOff x="978" y="3456"/>
              <a:chExt cx="1081" cy="227"/>
            </a:xfrm>
          </p:grpSpPr>
          <p:sp>
            <p:nvSpPr>
              <p:cNvPr id="85" name="AutoShape 24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6" name="AutoShape 25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5" name="Group 26"/>
            <p:cNvGrpSpPr>
              <a:grpSpLocks/>
            </p:cNvGrpSpPr>
            <p:nvPr/>
          </p:nvGrpSpPr>
          <p:grpSpPr bwMode="auto">
            <a:xfrm>
              <a:off x="954" y="4376"/>
              <a:ext cx="752" cy="340"/>
              <a:chOff x="978" y="3456"/>
              <a:chExt cx="1081" cy="227"/>
            </a:xfrm>
          </p:grpSpPr>
          <p:sp>
            <p:nvSpPr>
              <p:cNvPr id="83" name="AutoShape 27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4" name="AutoShape 28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6" name="Group 29"/>
            <p:cNvGrpSpPr>
              <a:grpSpLocks/>
            </p:cNvGrpSpPr>
            <p:nvPr/>
          </p:nvGrpSpPr>
          <p:grpSpPr bwMode="auto">
            <a:xfrm>
              <a:off x="979" y="3662"/>
              <a:ext cx="751" cy="340"/>
              <a:chOff x="978" y="3456"/>
              <a:chExt cx="1081" cy="227"/>
            </a:xfrm>
          </p:grpSpPr>
          <p:sp>
            <p:nvSpPr>
              <p:cNvPr id="81" name="AutoShape 30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2" name="AutoShape 31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7" name="Group 32"/>
            <p:cNvGrpSpPr>
              <a:grpSpLocks/>
            </p:cNvGrpSpPr>
            <p:nvPr/>
          </p:nvGrpSpPr>
          <p:grpSpPr bwMode="auto">
            <a:xfrm>
              <a:off x="953" y="3643"/>
              <a:ext cx="752" cy="341"/>
              <a:chOff x="978" y="3456"/>
              <a:chExt cx="1081" cy="227"/>
            </a:xfrm>
          </p:grpSpPr>
          <p:sp>
            <p:nvSpPr>
              <p:cNvPr id="79" name="AutoShape 33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0" name="AutoShape 34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8" name="Group 39"/>
            <p:cNvGrpSpPr>
              <a:grpSpLocks/>
            </p:cNvGrpSpPr>
            <p:nvPr/>
          </p:nvGrpSpPr>
          <p:grpSpPr bwMode="auto">
            <a:xfrm>
              <a:off x="927" y="3623"/>
              <a:ext cx="752" cy="341"/>
              <a:chOff x="978" y="3456"/>
              <a:chExt cx="1081" cy="227"/>
            </a:xfrm>
          </p:grpSpPr>
          <p:sp>
            <p:nvSpPr>
              <p:cNvPr id="77" name="AutoShape 40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8" name="AutoShape 41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9" name="Group 42"/>
            <p:cNvGrpSpPr>
              <a:grpSpLocks/>
            </p:cNvGrpSpPr>
            <p:nvPr/>
          </p:nvGrpSpPr>
          <p:grpSpPr bwMode="auto">
            <a:xfrm>
              <a:off x="927" y="4359"/>
              <a:ext cx="752" cy="340"/>
              <a:chOff x="978" y="3456"/>
              <a:chExt cx="1081" cy="227"/>
            </a:xfrm>
          </p:grpSpPr>
          <p:sp>
            <p:nvSpPr>
              <p:cNvPr id="75" name="AutoShape 43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6" name="AutoShape 44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40" name="Group 45"/>
            <p:cNvGrpSpPr>
              <a:grpSpLocks/>
            </p:cNvGrpSpPr>
            <p:nvPr/>
          </p:nvGrpSpPr>
          <p:grpSpPr bwMode="auto">
            <a:xfrm>
              <a:off x="927" y="5082"/>
              <a:ext cx="752" cy="341"/>
              <a:chOff x="978" y="3456"/>
              <a:chExt cx="1081" cy="227"/>
            </a:xfrm>
          </p:grpSpPr>
          <p:sp>
            <p:nvSpPr>
              <p:cNvPr id="73" name="AutoShape 46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4" name="AutoShape 47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" name="Text Box 48"/>
            <p:cNvSpPr txBox="1">
              <a:spLocks noChangeArrowheads="1"/>
            </p:cNvSpPr>
            <p:nvPr/>
          </p:nvSpPr>
          <p:spPr bwMode="auto">
            <a:xfrm>
              <a:off x="1141" y="3711"/>
              <a:ext cx="32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en-US" altLang="ko-KR" sz="1200">
                  <a:latin typeface="Arial" panose="020B0604020202020204" pitchFamily="34" charset="0"/>
                </a:rPr>
                <a:t> </a:t>
              </a:r>
              <a:r>
                <a:rPr kumimoji="0" lang="ko-KR" altLang="en-US" sz="1200">
                  <a:latin typeface="Arial" panose="020B0604020202020204" pitchFamily="34" charset="0"/>
                </a:rPr>
                <a:t>설계</a:t>
              </a:r>
            </a:p>
          </p:txBody>
        </p:sp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1154" y="4441"/>
              <a:ext cx="2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1200"/>
                <a:t>구축</a:t>
              </a:r>
            </a:p>
          </p:txBody>
        </p:sp>
        <p:sp>
          <p:nvSpPr>
            <p:cNvPr id="43" name="Text Box 50"/>
            <p:cNvSpPr txBox="1">
              <a:spLocks noChangeArrowheads="1"/>
            </p:cNvSpPr>
            <p:nvPr/>
          </p:nvSpPr>
          <p:spPr bwMode="auto">
            <a:xfrm>
              <a:off x="1166" y="5169"/>
              <a:ext cx="29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1200"/>
                <a:t>전개</a:t>
              </a:r>
            </a:p>
          </p:txBody>
        </p:sp>
        <p:grpSp>
          <p:nvGrpSpPr>
            <p:cNvPr id="44" name="Group 51"/>
            <p:cNvGrpSpPr>
              <a:grpSpLocks/>
            </p:cNvGrpSpPr>
            <p:nvPr/>
          </p:nvGrpSpPr>
          <p:grpSpPr bwMode="auto">
            <a:xfrm>
              <a:off x="920" y="3554"/>
              <a:ext cx="204" cy="191"/>
              <a:chOff x="395" y="1869"/>
              <a:chExt cx="239" cy="227"/>
            </a:xfrm>
          </p:grpSpPr>
          <p:sp>
            <p:nvSpPr>
              <p:cNvPr id="69" name="Freeform 52"/>
              <p:cNvSpPr>
                <a:spLocks/>
              </p:cNvSpPr>
              <p:nvPr/>
            </p:nvSpPr>
            <p:spPr bwMode="auto">
              <a:xfrm>
                <a:off x="475" y="1869"/>
                <a:ext cx="154" cy="175"/>
              </a:xfrm>
              <a:custGeom>
                <a:avLst/>
                <a:gdLst>
                  <a:gd name="T0" fmla="*/ 546 w 1384"/>
                  <a:gd name="T1" fmla="*/ 234 h 1757"/>
                  <a:gd name="T2" fmla="*/ 596 w 1384"/>
                  <a:gd name="T3" fmla="*/ 244 h 1757"/>
                  <a:gd name="T4" fmla="*/ 635 w 1384"/>
                  <a:gd name="T5" fmla="*/ 254 h 1757"/>
                  <a:gd name="T6" fmla="*/ 676 w 1384"/>
                  <a:gd name="T7" fmla="*/ 267 h 1757"/>
                  <a:gd name="T8" fmla="*/ 717 w 1384"/>
                  <a:gd name="T9" fmla="*/ 280 h 1757"/>
                  <a:gd name="T10" fmla="*/ 765 w 1384"/>
                  <a:gd name="T11" fmla="*/ 300 h 1757"/>
                  <a:gd name="T12" fmla="*/ 810 w 1384"/>
                  <a:gd name="T13" fmla="*/ 320 h 1757"/>
                  <a:gd name="T14" fmla="*/ 854 w 1384"/>
                  <a:gd name="T15" fmla="*/ 342 h 1757"/>
                  <a:gd name="T16" fmla="*/ 892 w 1384"/>
                  <a:gd name="T17" fmla="*/ 365 h 1757"/>
                  <a:gd name="T18" fmla="*/ 930 w 1384"/>
                  <a:gd name="T19" fmla="*/ 390 h 1757"/>
                  <a:gd name="T20" fmla="*/ 972 w 1384"/>
                  <a:gd name="T21" fmla="*/ 421 h 1757"/>
                  <a:gd name="T22" fmla="*/ 1009 w 1384"/>
                  <a:gd name="T23" fmla="*/ 448 h 1757"/>
                  <a:gd name="T24" fmla="*/ 1067 w 1384"/>
                  <a:gd name="T25" fmla="*/ 500 h 1757"/>
                  <a:gd name="T26" fmla="*/ 1117 w 1384"/>
                  <a:gd name="T27" fmla="*/ 552 h 1757"/>
                  <a:gd name="T28" fmla="*/ 1157 w 1384"/>
                  <a:gd name="T29" fmla="*/ 600 h 1757"/>
                  <a:gd name="T30" fmla="*/ 1199 w 1384"/>
                  <a:gd name="T31" fmla="*/ 657 h 1757"/>
                  <a:gd name="T32" fmla="*/ 1238 w 1384"/>
                  <a:gd name="T33" fmla="*/ 717 h 1757"/>
                  <a:gd name="T34" fmla="*/ 1272 w 1384"/>
                  <a:gd name="T35" fmla="*/ 777 h 1757"/>
                  <a:gd name="T36" fmla="*/ 1303 w 1384"/>
                  <a:gd name="T37" fmla="*/ 844 h 1757"/>
                  <a:gd name="T38" fmla="*/ 1328 w 1384"/>
                  <a:gd name="T39" fmla="*/ 915 h 1757"/>
                  <a:gd name="T40" fmla="*/ 1354 w 1384"/>
                  <a:gd name="T41" fmla="*/ 1003 h 1757"/>
                  <a:gd name="T42" fmla="*/ 1370 w 1384"/>
                  <a:gd name="T43" fmla="*/ 1089 h 1757"/>
                  <a:gd name="T44" fmla="*/ 1382 w 1384"/>
                  <a:gd name="T45" fmla="*/ 1202 h 1757"/>
                  <a:gd name="T46" fmla="*/ 1382 w 1384"/>
                  <a:gd name="T47" fmla="*/ 1297 h 1757"/>
                  <a:gd name="T48" fmla="*/ 1373 w 1384"/>
                  <a:gd name="T49" fmla="*/ 1385 h 1757"/>
                  <a:gd name="T50" fmla="*/ 1358 w 1384"/>
                  <a:gd name="T51" fmla="*/ 1475 h 1757"/>
                  <a:gd name="T52" fmla="*/ 1330 w 1384"/>
                  <a:gd name="T53" fmla="*/ 1575 h 1757"/>
                  <a:gd name="T54" fmla="*/ 1296 w 1384"/>
                  <a:gd name="T55" fmla="*/ 1667 h 1757"/>
                  <a:gd name="T56" fmla="*/ 1244 w 1384"/>
                  <a:gd name="T57" fmla="*/ 1757 h 1757"/>
                  <a:gd name="T58" fmla="*/ 858 w 1384"/>
                  <a:gd name="T59" fmla="*/ 1474 h 1757"/>
                  <a:gd name="T60" fmla="*/ 884 w 1384"/>
                  <a:gd name="T61" fmla="*/ 1403 h 1757"/>
                  <a:gd name="T62" fmla="*/ 899 w 1384"/>
                  <a:gd name="T63" fmla="*/ 1334 h 1757"/>
                  <a:gd name="T64" fmla="*/ 905 w 1384"/>
                  <a:gd name="T65" fmla="*/ 1269 h 1757"/>
                  <a:gd name="T66" fmla="*/ 903 w 1384"/>
                  <a:gd name="T67" fmla="*/ 1195 h 1757"/>
                  <a:gd name="T68" fmla="*/ 890 w 1384"/>
                  <a:gd name="T69" fmla="*/ 1115 h 1757"/>
                  <a:gd name="T70" fmla="*/ 866 w 1384"/>
                  <a:gd name="T71" fmla="*/ 1042 h 1757"/>
                  <a:gd name="T72" fmla="*/ 835 w 1384"/>
                  <a:gd name="T73" fmla="*/ 978 h 1757"/>
                  <a:gd name="T74" fmla="*/ 806 w 1384"/>
                  <a:gd name="T75" fmla="*/ 933 h 1757"/>
                  <a:gd name="T76" fmla="*/ 774 w 1384"/>
                  <a:gd name="T77" fmla="*/ 893 h 1757"/>
                  <a:gd name="T78" fmla="*/ 740 w 1384"/>
                  <a:gd name="T79" fmla="*/ 856 h 1757"/>
                  <a:gd name="T80" fmla="*/ 704 w 1384"/>
                  <a:gd name="T81" fmla="*/ 822 h 1757"/>
                  <a:gd name="T82" fmla="*/ 657 w 1384"/>
                  <a:gd name="T83" fmla="*/ 791 h 1757"/>
                  <a:gd name="T84" fmla="*/ 618 w 1384"/>
                  <a:gd name="T85" fmla="*/ 766 h 1757"/>
                  <a:gd name="T86" fmla="*/ 569 w 1384"/>
                  <a:gd name="T87" fmla="*/ 742 h 1757"/>
                  <a:gd name="T88" fmla="*/ 528 w 1384"/>
                  <a:gd name="T89" fmla="*/ 727 h 1757"/>
                  <a:gd name="T90" fmla="*/ 467 w 1384"/>
                  <a:gd name="T91" fmla="*/ 714 h 1757"/>
                  <a:gd name="T92" fmla="*/ 406 w 1384"/>
                  <a:gd name="T93" fmla="*/ 709 h 1757"/>
                  <a:gd name="T94" fmla="*/ 389 w 1384"/>
                  <a:gd name="T95" fmla="*/ 964 h 1757"/>
                  <a:gd name="T96" fmla="*/ 388 w 1384"/>
                  <a:gd name="T97" fmla="*/ 0 h 1757"/>
                  <a:gd name="T98" fmla="*/ 409 w 1384"/>
                  <a:gd name="T99" fmla="*/ 221 h 1757"/>
                  <a:gd name="T100" fmla="*/ 471 w 1384"/>
                  <a:gd name="T101" fmla="*/ 224 h 1757"/>
                  <a:gd name="T102" fmla="*/ 527 w 1384"/>
                  <a:gd name="T103" fmla="*/ 230 h 1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84" h="1757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6"/>
                    </a:lnTo>
                    <a:lnTo>
                      <a:pt x="972" y="421"/>
                    </a:lnTo>
                    <a:lnTo>
                      <a:pt x="991" y="436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2"/>
                    </a:lnTo>
                    <a:lnTo>
                      <a:pt x="1384" y="1250"/>
                    </a:lnTo>
                    <a:lnTo>
                      <a:pt x="1382" y="1297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314" y="1622"/>
                    </a:lnTo>
                    <a:lnTo>
                      <a:pt x="1296" y="1667"/>
                    </a:lnTo>
                    <a:lnTo>
                      <a:pt x="1270" y="1712"/>
                    </a:lnTo>
                    <a:lnTo>
                      <a:pt x="1244" y="1757"/>
                    </a:lnTo>
                    <a:lnTo>
                      <a:pt x="836" y="1519"/>
                    </a:lnTo>
                    <a:lnTo>
                      <a:pt x="858" y="1474"/>
                    </a:lnTo>
                    <a:lnTo>
                      <a:pt x="873" y="1440"/>
                    </a:lnTo>
                    <a:lnTo>
                      <a:pt x="884" y="1403"/>
                    </a:lnTo>
                    <a:lnTo>
                      <a:pt x="893" y="1367"/>
                    </a:lnTo>
                    <a:lnTo>
                      <a:pt x="899" y="1334"/>
                    </a:lnTo>
                    <a:lnTo>
                      <a:pt x="902" y="1301"/>
                    </a:lnTo>
                    <a:lnTo>
                      <a:pt x="905" y="1269"/>
                    </a:lnTo>
                    <a:lnTo>
                      <a:pt x="905" y="1235"/>
                    </a:lnTo>
                    <a:lnTo>
                      <a:pt x="903" y="1195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Freeform 53"/>
              <p:cNvSpPr>
                <a:spLocks/>
              </p:cNvSpPr>
              <p:nvPr/>
            </p:nvSpPr>
            <p:spPr bwMode="auto">
              <a:xfrm>
                <a:off x="430" y="1998"/>
                <a:ext cx="204" cy="98"/>
              </a:xfrm>
              <a:custGeom>
                <a:avLst/>
                <a:gdLst>
                  <a:gd name="T0" fmla="*/ 942 w 1836"/>
                  <a:gd name="T1" fmla="*/ 961 h 976"/>
                  <a:gd name="T2" fmla="*/ 992 w 1836"/>
                  <a:gd name="T3" fmla="*/ 951 h 976"/>
                  <a:gd name="T4" fmla="*/ 1031 w 1836"/>
                  <a:gd name="T5" fmla="*/ 942 h 976"/>
                  <a:gd name="T6" fmla="*/ 1073 w 1836"/>
                  <a:gd name="T7" fmla="*/ 930 h 976"/>
                  <a:gd name="T8" fmla="*/ 1113 w 1836"/>
                  <a:gd name="T9" fmla="*/ 915 h 976"/>
                  <a:gd name="T10" fmla="*/ 1161 w 1836"/>
                  <a:gd name="T11" fmla="*/ 896 h 976"/>
                  <a:gd name="T12" fmla="*/ 1207 w 1836"/>
                  <a:gd name="T13" fmla="*/ 876 h 976"/>
                  <a:gd name="T14" fmla="*/ 1251 w 1836"/>
                  <a:gd name="T15" fmla="*/ 854 h 976"/>
                  <a:gd name="T16" fmla="*/ 1288 w 1836"/>
                  <a:gd name="T17" fmla="*/ 830 h 976"/>
                  <a:gd name="T18" fmla="*/ 1326 w 1836"/>
                  <a:gd name="T19" fmla="*/ 806 h 976"/>
                  <a:gd name="T20" fmla="*/ 1368 w 1836"/>
                  <a:gd name="T21" fmla="*/ 776 h 976"/>
                  <a:gd name="T22" fmla="*/ 1404 w 1836"/>
                  <a:gd name="T23" fmla="*/ 748 h 976"/>
                  <a:gd name="T24" fmla="*/ 1459 w 1836"/>
                  <a:gd name="T25" fmla="*/ 702 h 976"/>
                  <a:gd name="T26" fmla="*/ 1513 w 1836"/>
                  <a:gd name="T27" fmla="*/ 644 h 976"/>
                  <a:gd name="T28" fmla="*/ 1553 w 1836"/>
                  <a:gd name="T29" fmla="*/ 596 h 976"/>
                  <a:gd name="T30" fmla="*/ 1596 w 1836"/>
                  <a:gd name="T31" fmla="*/ 541 h 976"/>
                  <a:gd name="T32" fmla="*/ 1638 w 1836"/>
                  <a:gd name="T33" fmla="*/ 477 h 976"/>
                  <a:gd name="T34" fmla="*/ 1642 w 1836"/>
                  <a:gd name="T35" fmla="*/ 0 h 976"/>
                  <a:gd name="T36" fmla="*/ 1226 w 1836"/>
                  <a:gd name="T37" fmla="*/ 234 h 976"/>
                  <a:gd name="T38" fmla="*/ 1189 w 1836"/>
                  <a:gd name="T39" fmla="*/ 282 h 976"/>
                  <a:gd name="T40" fmla="*/ 1151 w 1836"/>
                  <a:gd name="T41" fmla="*/ 325 h 976"/>
                  <a:gd name="T42" fmla="*/ 1118 w 1836"/>
                  <a:gd name="T43" fmla="*/ 359 h 976"/>
                  <a:gd name="T44" fmla="*/ 1078 w 1836"/>
                  <a:gd name="T45" fmla="*/ 390 h 976"/>
                  <a:gd name="T46" fmla="*/ 1032 w 1836"/>
                  <a:gd name="T47" fmla="*/ 421 h 976"/>
                  <a:gd name="T48" fmla="*/ 988 w 1836"/>
                  <a:gd name="T49" fmla="*/ 447 h 976"/>
                  <a:gd name="T50" fmla="*/ 945 w 1836"/>
                  <a:gd name="T51" fmla="*/ 462 h 976"/>
                  <a:gd name="T52" fmla="*/ 893 w 1836"/>
                  <a:gd name="T53" fmla="*/ 478 h 976"/>
                  <a:gd name="T54" fmla="*/ 832 w 1836"/>
                  <a:gd name="T55" fmla="*/ 486 h 976"/>
                  <a:gd name="T56" fmla="*/ 728 w 1836"/>
                  <a:gd name="T57" fmla="*/ 489 h 976"/>
                  <a:gd name="T58" fmla="*/ 642 w 1836"/>
                  <a:gd name="T59" fmla="*/ 473 h 976"/>
                  <a:gd name="T60" fmla="*/ 552 w 1836"/>
                  <a:gd name="T61" fmla="*/ 441 h 976"/>
                  <a:gd name="T62" fmla="*/ 472 w 1836"/>
                  <a:gd name="T63" fmla="*/ 395 h 976"/>
                  <a:gd name="T64" fmla="*/ 0 w 1836"/>
                  <a:gd name="T65" fmla="*/ 617 h 976"/>
                  <a:gd name="T66" fmla="*/ 43 w 1836"/>
                  <a:gd name="T67" fmla="*/ 662 h 976"/>
                  <a:gd name="T68" fmla="*/ 85 w 1836"/>
                  <a:gd name="T69" fmla="*/ 704 h 976"/>
                  <a:gd name="T70" fmla="*/ 131 w 1836"/>
                  <a:gd name="T71" fmla="*/ 745 h 976"/>
                  <a:gd name="T72" fmla="*/ 178 w 1836"/>
                  <a:gd name="T73" fmla="*/ 780 h 976"/>
                  <a:gd name="T74" fmla="*/ 229 w 1836"/>
                  <a:gd name="T75" fmla="*/ 815 h 976"/>
                  <a:gd name="T76" fmla="*/ 280 w 1836"/>
                  <a:gd name="T77" fmla="*/ 846 h 976"/>
                  <a:gd name="T78" fmla="*/ 327 w 1836"/>
                  <a:gd name="T79" fmla="*/ 872 h 976"/>
                  <a:gd name="T80" fmla="*/ 388 w 1836"/>
                  <a:gd name="T81" fmla="*/ 899 h 976"/>
                  <a:gd name="T82" fmla="*/ 447 w 1836"/>
                  <a:gd name="T83" fmla="*/ 922 h 976"/>
                  <a:gd name="T84" fmla="*/ 500 w 1836"/>
                  <a:gd name="T85" fmla="*/ 940 h 976"/>
                  <a:gd name="T86" fmla="*/ 554 w 1836"/>
                  <a:gd name="T87" fmla="*/ 953 h 976"/>
                  <a:gd name="T88" fmla="*/ 617 w 1836"/>
                  <a:gd name="T89" fmla="*/ 965 h 976"/>
                  <a:gd name="T90" fmla="*/ 684 w 1836"/>
                  <a:gd name="T91" fmla="*/ 973 h 976"/>
                  <a:gd name="T92" fmla="*/ 744 w 1836"/>
                  <a:gd name="T93" fmla="*/ 976 h 976"/>
                  <a:gd name="T94" fmla="*/ 806 w 1836"/>
                  <a:gd name="T95" fmla="*/ 975 h 976"/>
                  <a:gd name="T96" fmla="*/ 868 w 1836"/>
                  <a:gd name="T97" fmla="*/ 971 h 976"/>
                  <a:gd name="T98" fmla="*/ 923 w 1836"/>
                  <a:gd name="T99" fmla="*/ 964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36" h="976">
                    <a:moveTo>
                      <a:pt x="923" y="964"/>
                    </a:moveTo>
                    <a:lnTo>
                      <a:pt x="942" y="961"/>
                    </a:lnTo>
                    <a:lnTo>
                      <a:pt x="967" y="957"/>
                    </a:lnTo>
                    <a:lnTo>
                      <a:pt x="992" y="951"/>
                    </a:lnTo>
                    <a:lnTo>
                      <a:pt x="1010" y="947"/>
                    </a:lnTo>
                    <a:lnTo>
                      <a:pt x="1031" y="942"/>
                    </a:lnTo>
                    <a:lnTo>
                      <a:pt x="1052" y="935"/>
                    </a:lnTo>
                    <a:lnTo>
                      <a:pt x="1073" y="930"/>
                    </a:lnTo>
                    <a:lnTo>
                      <a:pt x="1092" y="924"/>
                    </a:lnTo>
                    <a:lnTo>
                      <a:pt x="1113" y="915"/>
                    </a:lnTo>
                    <a:lnTo>
                      <a:pt x="1139" y="906"/>
                    </a:lnTo>
                    <a:lnTo>
                      <a:pt x="1161" y="896"/>
                    </a:lnTo>
                    <a:lnTo>
                      <a:pt x="1183" y="886"/>
                    </a:lnTo>
                    <a:lnTo>
                      <a:pt x="1207" y="876"/>
                    </a:lnTo>
                    <a:lnTo>
                      <a:pt x="1230" y="864"/>
                    </a:lnTo>
                    <a:lnTo>
                      <a:pt x="1251" y="854"/>
                    </a:lnTo>
                    <a:lnTo>
                      <a:pt x="1270" y="841"/>
                    </a:lnTo>
                    <a:lnTo>
                      <a:pt x="1288" y="830"/>
                    </a:lnTo>
                    <a:lnTo>
                      <a:pt x="1306" y="817"/>
                    </a:lnTo>
                    <a:lnTo>
                      <a:pt x="1326" y="806"/>
                    </a:lnTo>
                    <a:lnTo>
                      <a:pt x="1348" y="791"/>
                    </a:lnTo>
                    <a:lnTo>
                      <a:pt x="1368" y="776"/>
                    </a:lnTo>
                    <a:lnTo>
                      <a:pt x="1387" y="761"/>
                    </a:lnTo>
                    <a:lnTo>
                      <a:pt x="1404" y="748"/>
                    </a:lnTo>
                    <a:lnTo>
                      <a:pt x="1433" y="725"/>
                    </a:lnTo>
                    <a:lnTo>
                      <a:pt x="1459" y="702"/>
                    </a:lnTo>
                    <a:lnTo>
                      <a:pt x="1486" y="675"/>
                    </a:lnTo>
                    <a:lnTo>
                      <a:pt x="1513" y="644"/>
                    </a:lnTo>
                    <a:lnTo>
                      <a:pt x="1532" y="622"/>
                    </a:lnTo>
                    <a:lnTo>
                      <a:pt x="1553" y="596"/>
                    </a:lnTo>
                    <a:lnTo>
                      <a:pt x="1576" y="569"/>
                    </a:lnTo>
                    <a:lnTo>
                      <a:pt x="1596" y="541"/>
                    </a:lnTo>
                    <a:lnTo>
                      <a:pt x="1615" y="511"/>
                    </a:lnTo>
                    <a:lnTo>
                      <a:pt x="1638" y="477"/>
                    </a:lnTo>
                    <a:lnTo>
                      <a:pt x="1836" y="594"/>
                    </a:lnTo>
                    <a:lnTo>
                      <a:pt x="1642" y="0"/>
                    </a:lnTo>
                    <a:lnTo>
                      <a:pt x="1014" y="113"/>
                    </a:lnTo>
                    <a:lnTo>
                      <a:pt x="1226" y="234"/>
                    </a:lnTo>
                    <a:lnTo>
                      <a:pt x="1208" y="259"/>
                    </a:lnTo>
                    <a:lnTo>
                      <a:pt x="1189" y="282"/>
                    </a:lnTo>
                    <a:lnTo>
                      <a:pt x="1170" y="304"/>
                    </a:lnTo>
                    <a:lnTo>
                      <a:pt x="1151" y="325"/>
                    </a:lnTo>
                    <a:lnTo>
                      <a:pt x="1135" y="341"/>
                    </a:lnTo>
                    <a:lnTo>
                      <a:pt x="1118" y="359"/>
                    </a:lnTo>
                    <a:lnTo>
                      <a:pt x="1099" y="374"/>
                    </a:lnTo>
                    <a:lnTo>
                      <a:pt x="1078" y="390"/>
                    </a:lnTo>
                    <a:lnTo>
                      <a:pt x="1053" y="407"/>
                    </a:lnTo>
                    <a:lnTo>
                      <a:pt x="1032" y="421"/>
                    </a:lnTo>
                    <a:lnTo>
                      <a:pt x="1014" y="432"/>
                    </a:lnTo>
                    <a:lnTo>
                      <a:pt x="988" y="447"/>
                    </a:lnTo>
                    <a:lnTo>
                      <a:pt x="965" y="456"/>
                    </a:lnTo>
                    <a:lnTo>
                      <a:pt x="945" y="462"/>
                    </a:lnTo>
                    <a:lnTo>
                      <a:pt x="924" y="470"/>
                    </a:lnTo>
                    <a:lnTo>
                      <a:pt x="893" y="478"/>
                    </a:lnTo>
                    <a:lnTo>
                      <a:pt x="863" y="483"/>
                    </a:lnTo>
                    <a:lnTo>
                      <a:pt x="832" y="486"/>
                    </a:lnTo>
                    <a:lnTo>
                      <a:pt x="787" y="488"/>
                    </a:lnTo>
                    <a:lnTo>
                      <a:pt x="728" y="489"/>
                    </a:lnTo>
                    <a:lnTo>
                      <a:pt x="683" y="483"/>
                    </a:lnTo>
                    <a:lnTo>
                      <a:pt x="642" y="473"/>
                    </a:lnTo>
                    <a:lnTo>
                      <a:pt x="594" y="459"/>
                    </a:lnTo>
                    <a:lnTo>
                      <a:pt x="552" y="441"/>
                    </a:lnTo>
                    <a:lnTo>
                      <a:pt x="510" y="420"/>
                    </a:lnTo>
                    <a:lnTo>
                      <a:pt x="472" y="395"/>
                    </a:lnTo>
                    <a:lnTo>
                      <a:pt x="435" y="363"/>
                    </a:lnTo>
                    <a:lnTo>
                      <a:pt x="0" y="617"/>
                    </a:lnTo>
                    <a:lnTo>
                      <a:pt x="18" y="638"/>
                    </a:lnTo>
                    <a:lnTo>
                      <a:pt x="43" y="662"/>
                    </a:lnTo>
                    <a:lnTo>
                      <a:pt x="64" y="683"/>
                    </a:lnTo>
                    <a:lnTo>
                      <a:pt x="85" y="704"/>
                    </a:lnTo>
                    <a:lnTo>
                      <a:pt x="106" y="724"/>
                    </a:lnTo>
                    <a:lnTo>
                      <a:pt x="131" y="745"/>
                    </a:lnTo>
                    <a:lnTo>
                      <a:pt x="154" y="763"/>
                    </a:lnTo>
                    <a:lnTo>
                      <a:pt x="178" y="780"/>
                    </a:lnTo>
                    <a:lnTo>
                      <a:pt x="204" y="797"/>
                    </a:lnTo>
                    <a:lnTo>
                      <a:pt x="229" y="815"/>
                    </a:lnTo>
                    <a:lnTo>
                      <a:pt x="255" y="832"/>
                    </a:lnTo>
                    <a:lnTo>
                      <a:pt x="280" y="846"/>
                    </a:lnTo>
                    <a:lnTo>
                      <a:pt x="304" y="860"/>
                    </a:lnTo>
                    <a:lnTo>
                      <a:pt x="327" y="872"/>
                    </a:lnTo>
                    <a:lnTo>
                      <a:pt x="359" y="886"/>
                    </a:lnTo>
                    <a:lnTo>
                      <a:pt x="388" y="899"/>
                    </a:lnTo>
                    <a:lnTo>
                      <a:pt x="422" y="912"/>
                    </a:lnTo>
                    <a:lnTo>
                      <a:pt x="447" y="922"/>
                    </a:lnTo>
                    <a:lnTo>
                      <a:pt x="471" y="931"/>
                    </a:lnTo>
                    <a:lnTo>
                      <a:pt x="500" y="940"/>
                    </a:lnTo>
                    <a:lnTo>
                      <a:pt x="527" y="947"/>
                    </a:lnTo>
                    <a:lnTo>
                      <a:pt x="554" y="953"/>
                    </a:lnTo>
                    <a:lnTo>
                      <a:pt x="586" y="960"/>
                    </a:lnTo>
                    <a:lnTo>
                      <a:pt x="617" y="965"/>
                    </a:lnTo>
                    <a:lnTo>
                      <a:pt x="650" y="969"/>
                    </a:lnTo>
                    <a:lnTo>
                      <a:pt x="684" y="973"/>
                    </a:lnTo>
                    <a:lnTo>
                      <a:pt x="709" y="974"/>
                    </a:lnTo>
                    <a:lnTo>
                      <a:pt x="744" y="976"/>
                    </a:lnTo>
                    <a:lnTo>
                      <a:pt x="778" y="976"/>
                    </a:lnTo>
                    <a:lnTo>
                      <a:pt x="806" y="975"/>
                    </a:lnTo>
                    <a:lnTo>
                      <a:pt x="835" y="974"/>
                    </a:lnTo>
                    <a:lnTo>
                      <a:pt x="868" y="971"/>
                    </a:lnTo>
                    <a:lnTo>
                      <a:pt x="897" y="967"/>
                    </a:lnTo>
                    <a:lnTo>
                      <a:pt x="923" y="96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Freeform 54"/>
              <p:cNvSpPr>
                <a:spLocks/>
              </p:cNvSpPr>
              <p:nvPr/>
            </p:nvSpPr>
            <p:spPr bwMode="auto">
              <a:xfrm>
                <a:off x="395" y="1892"/>
                <a:ext cx="103" cy="174"/>
              </a:xfrm>
              <a:custGeom>
                <a:avLst/>
                <a:gdLst>
                  <a:gd name="T0" fmla="*/ 911 w 931"/>
                  <a:gd name="T1" fmla="*/ 3 h 1739"/>
                  <a:gd name="T2" fmla="*/ 864 w 931"/>
                  <a:gd name="T3" fmla="*/ 13 h 1739"/>
                  <a:gd name="T4" fmla="*/ 823 w 931"/>
                  <a:gd name="T5" fmla="*/ 23 h 1739"/>
                  <a:gd name="T6" fmla="*/ 782 w 931"/>
                  <a:gd name="T7" fmla="*/ 35 h 1739"/>
                  <a:gd name="T8" fmla="*/ 741 w 931"/>
                  <a:gd name="T9" fmla="*/ 50 h 1739"/>
                  <a:gd name="T10" fmla="*/ 694 w 931"/>
                  <a:gd name="T11" fmla="*/ 69 h 1739"/>
                  <a:gd name="T12" fmla="*/ 649 w 931"/>
                  <a:gd name="T13" fmla="*/ 89 h 1739"/>
                  <a:gd name="T14" fmla="*/ 605 w 931"/>
                  <a:gd name="T15" fmla="*/ 111 h 1739"/>
                  <a:gd name="T16" fmla="*/ 567 w 931"/>
                  <a:gd name="T17" fmla="*/ 135 h 1739"/>
                  <a:gd name="T18" fmla="*/ 529 w 931"/>
                  <a:gd name="T19" fmla="*/ 159 h 1739"/>
                  <a:gd name="T20" fmla="*/ 487 w 931"/>
                  <a:gd name="T21" fmla="*/ 190 h 1739"/>
                  <a:gd name="T22" fmla="*/ 450 w 931"/>
                  <a:gd name="T23" fmla="*/ 218 h 1739"/>
                  <a:gd name="T24" fmla="*/ 391 w 931"/>
                  <a:gd name="T25" fmla="*/ 271 h 1739"/>
                  <a:gd name="T26" fmla="*/ 341 w 931"/>
                  <a:gd name="T27" fmla="*/ 323 h 1739"/>
                  <a:gd name="T28" fmla="*/ 301 w 931"/>
                  <a:gd name="T29" fmla="*/ 371 h 1739"/>
                  <a:gd name="T30" fmla="*/ 259 w 931"/>
                  <a:gd name="T31" fmla="*/ 426 h 1739"/>
                  <a:gd name="T32" fmla="*/ 221 w 931"/>
                  <a:gd name="T33" fmla="*/ 487 h 1739"/>
                  <a:gd name="T34" fmla="*/ 186 w 931"/>
                  <a:gd name="T35" fmla="*/ 546 h 1739"/>
                  <a:gd name="T36" fmla="*/ 157 w 931"/>
                  <a:gd name="T37" fmla="*/ 613 h 1739"/>
                  <a:gd name="T38" fmla="*/ 131 w 931"/>
                  <a:gd name="T39" fmla="*/ 684 h 1739"/>
                  <a:gd name="T40" fmla="*/ 105 w 931"/>
                  <a:gd name="T41" fmla="*/ 772 h 1739"/>
                  <a:gd name="T42" fmla="*/ 89 w 931"/>
                  <a:gd name="T43" fmla="*/ 858 h 1739"/>
                  <a:gd name="T44" fmla="*/ 77 w 931"/>
                  <a:gd name="T45" fmla="*/ 970 h 1739"/>
                  <a:gd name="T46" fmla="*/ 77 w 931"/>
                  <a:gd name="T47" fmla="*/ 1067 h 1739"/>
                  <a:gd name="T48" fmla="*/ 86 w 931"/>
                  <a:gd name="T49" fmla="*/ 1155 h 1739"/>
                  <a:gd name="T50" fmla="*/ 101 w 931"/>
                  <a:gd name="T51" fmla="*/ 1245 h 1739"/>
                  <a:gd name="T52" fmla="*/ 129 w 931"/>
                  <a:gd name="T53" fmla="*/ 1344 h 1739"/>
                  <a:gd name="T54" fmla="*/ 163 w 931"/>
                  <a:gd name="T55" fmla="*/ 1437 h 1739"/>
                  <a:gd name="T56" fmla="*/ 209 w 931"/>
                  <a:gd name="T57" fmla="*/ 1524 h 1739"/>
                  <a:gd name="T58" fmla="*/ 639 w 931"/>
                  <a:gd name="T59" fmla="*/ 1739 h 1739"/>
                  <a:gd name="T60" fmla="*/ 628 w 931"/>
                  <a:gd name="T61" fmla="*/ 1279 h 1739"/>
                  <a:gd name="T62" fmla="*/ 589 w 931"/>
                  <a:gd name="T63" fmla="*/ 1207 h 1739"/>
                  <a:gd name="T64" fmla="*/ 566 w 931"/>
                  <a:gd name="T65" fmla="*/ 1137 h 1739"/>
                  <a:gd name="T66" fmla="*/ 558 w 931"/>
                  <a:gd name="T67" fmla="*/ 1070 h 1739"/>
                  <a:gd name="T68" fmla="*/ 555 w 931"/>
                  <a:gd name="T69" fmla="*/ 1004 h 1739"/>
                  <a:gd name="T70" fmla="*/ 561 w 931"/>
                  <a:gd name="T71" fmla="*/ 927 h 1739"/>
                  <a:gd name="T72" fmla="*/ 579 w 931"/>
                  <a:gd name="T73" fmla="*/ 850 h 1739"/>
                  <a:gd name="T74" fmla="*/ 606 w 931"/>
                  <a:gd name="T75" fmla="*/ 779 h 1739"/>
                  <a:gd name="T76" fmla="*/ 639 w 931"/>
                  <a:gd name="T77" fmla="*/ 722 h 1739"/>
                  <a:gd name="T78" fmla="*/ 668 w 931"/>
                  <a:gd name="T79" fmla="*/ 682 h 1739"/>
                  <a:gd name="T80" fmla="*/ 703 w 931"/>
                  <a:gd name="T81" fmla="*/ 641 h 1739"/>
                  <a:gd name="T82" fmla="*/ 737 w 931"/>
                  <a:gd name="T83" fmla="*/ 607 h 1739"/>
                  <a:gd name="T84" fmla="*/ 776 w 931"/>
                  <a:gd name="T85" fmla="*/ 576 h 1739"/>
                  <a:gd name="T86" fmla="*/ 822 w 931"/>
                  <a:gd name="T87" fmla="*/ 545 h 1739"/>
                  <a:gd name="T88" fmla="*/ 866 w 931"/>
                  <a:gd name="T89" fmla="*/ 519 h 1739"/>
                  <a:gd name="T90" fmla="*/ 931 w 931"/>
                  <a:gd name="T91" fmla="*/ 497 h 1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1" h="1739">
                    <a:moveTo>
                      <a:pt x="931" y="0"/>
                    </a:moveTo>
                    <a:lnTo>
                      <a:pt x="911" y="3"/>
                    </a:lnTo>
                    <a:lnTo>
                      <a:pt x="891" y="6"/>
                    </a:lnTo>
                    <a:lnTo>
                      <a:pt x="864" y="13"/>
                    </a:lnTo>
                    <a:lnTo>
                      <a:pt x="844" y="17"/>
                    </a:lnTo>
                    <a:lnTo>
                      <a:pt x="823" y="23"/>
                    </a:lnTo>
                    <a:lnTo>
                      <a:pt x="803" y="30"/>
                    </a:lnTo>
                    <a:lnTo>
                      <a:pt x="782" y="35"/>
                    </a:lnTo>
                    <a:lnTo>
                      <a:pt x="762" y="41"/>
                    </a:lnTo>
                    <a:lnTo>
                      <a:pt x="741" y="50"/>
                    </a:lnTo>
                    <a:lnTo>
                      <a:pt x="716" y="59"/>
                    </a:lnTo>
                    <a:lnTo>
                      <a:pt x="694" y="69"/>
                    </a:lnTo>
                    <a:lnTo>
                      <a:pt x="672" y="78"/>
                    </a:lnTo>
                    <a:lnTo>
                      <a:pt x="649" y="89"/>
                    </a:lnTo>
                    <a:lnTo>
                      <a:pt x="626" y="101"/>
                    </a:lnTo>
                    <a:lnTo>
                      <a:pt x="605" y="111"/>
                    </a:lnTo>
                    <a:lnTo>
                      <a:pt x="585" y="124"/>
                    </a:lnTo>
                    <a:lnTo>
                      <a:pt x="567" y="135"/>
                    </a:lnTo>
                    <a:lnTo>
                      <a:pt x="549" y="148"/>
                    </a:lnTo>
                    <a:lnTo>
                      <a:pt x="529" y="159"/>
                    </a:lnTo>
                    <a:lnTo>
                      <a:pt x="507" y="174"/>
                    </a:lnTo>
                    <a:lnTo>
                      <a:pt x="487" y="190"/>
                    </a:lnTo>
                    <a:lnTo>
                      <a:pt x="468" y="205"/>
                    </a:lnTo>
                    <a:lnTo>
                      <a:pt x="450" y="218"/>
                    </a:lnTo>
                    <a:lnTo>
                      <a:pt x="421" y="242"/>
                    </a:lnTo>
                    <a:lnTo>
                      <a:pt x="391" y="271"/>
                    </a:lnTo>
                    <a:lnTo>
                      <a:pt x="368" y="292"/>
                    </a:lnTo>
                    <a:lnTo>
                      <a:pt x="341" y="323"/>
                    </a:lnTo>
                    <a:lnTo>
                      <a:pt x="322" y="345"/>
                    </a:lnTo>
                    <a:lnTo>
                      <a:pt x="301" y="371"/>
                    </a:lnTo>
                    <a:lnTo>
                      <a:pt x="278" y="399"/>
                    </a:lnTo>
                    <a:lnTo>
                      <a:pt x="259" y="426"/>
                    </a:lnTo>
                    <a:lnTo>
                      <a:pt x="240" y="457"/>
                    </a:lnTo>
                    <a:lnTo>
                      <a:pt x="221" y="487"/>
                    </a:lnTo>
                    <a:lnTo>
                      <a:pt x="202" y="518"/>
                    </a:lnTo>
                    <a:lnTo>
                      <a:pt x="186" y="546"/>
                    </a:lnTo>
                    <a:lnTo>
                      <a:pt x="171" y="580"/>
                    </a:lnTo>
                    <a:lnTo>
                      <a:pt x="157" y="613"/>
                    </a:lnTo>
                    <a:lnTo>
                      <a:pt x="144" y="647"/>
                    </a:lnTo>
                    <a:lnTo>
                      <a:pt x="131" y="684"/>
                    </a:lnTo>
                    <a:lnTo>
                      <a:pt x="116" y="730"/>
                    </a:lnTo>
                    <a:lnTo>
                      <a:pt x="105" y="772"/>
                    </a:lnTo>
                    <a:lnTo>
                      <a:pt x="95" y="816"/>
                    </a:lnTo>
                    <a:lnTo>
                      <a:pt x="89" y="858"/>
                    </a:lnTo>
                    <a:lnTo>
                      <a:pt x="82" y="908"/>
                    </a:lnTo>
                    <a:lnTo>
                      <a:pt x="77" y="970"/>
                    </a:lnTo>
                    <a:lnTo>
                      <a:pt x="76" y="1019"/>
                    </a:lnTo>
                    <a:lnTo>
                      <a:pt x="77" y="1067"/>
                    </a:lnTo>
                    <a:lnTo>
                      <a:pt x="81" y="1112"/>
                    </a:lnTo>
                    <a:lnTo>
                      <a:pt x="86" y="1155"/>
                    </a:lnTo>
                    <a:lnTo>
                      <a:pt x="92" y="1200"/>
                    </a:lnTo>
                    <a:lnTo>
                      <a:pt x="101" y="1245"/>
                    </a:lnTo>
                    <a:lnTo>
                      <a:pt x="114" y="1294"/>
                    </a:lnTo>
                    <a:lnTo>
                      <a:pt x="129" y="1344"/>
                    </a:lnTo>
                    <a:lnTo>
                      <a:pt x="145" y="1391"/>
                    </a:lnTo>
                    <a:lnTo>
                      <a:pt x="163" y="1437"/>
                    </a:lnTo>
                    <a:lnTo>
                      <a:pt x="184" y="1481"/>
                    </a:lnTo>
                    <a:lnTo>
                      <a:pt x="209" y="1524"/>
                    </a:lnTo>
                    <a:lnTo>
                      <a:pt x="0" y="1644"/>
                    </a:lnTo>
                    <a:lnTo>
                      <a:pt x="639" y="1739"/>
                    </a:lnTo>
                    <a:lnTo>
                      <a:pt x="873" y="1146"/>
                    </a:lnTo>
                    <a:lnTo>
                      <a:pt x="628" y="1279"/>
                    </a:lnTo>
                    <a:lnTo>
                      <a:pt x="604" y="1241"/>
                    </a:lnTo>
                    <a:lnTo>
                      <a:pt x="589" y="1207"/>
                    </a:lnTo>
                    <a:lnTo>
                      <a:pt x="576" y="1172"/>
                    </a:lnTo>
                    <a:lnTo>
                      <a:pt x="566" y="1137"/>
                    </a:lnTo>
                    <a:lnTo>
                      <a:pt x="560" y="1103"/>
                    </a:lnTo>
                    <a:lnTo>
                      <a:pt x="558" y="1070"/>
                    </a:lnTo>
                    <a:lnTo>
                      <a:pt x="555" y="1037"/>
                    </a:lnTo>
                    <a:lnTo>
                      <a:pt x="555" y="1004"/>
                    </a:lnTo>
                    <a:lnTo>
                      <a:pt x="557" y="965"/>
                    </a:lnTo>
                    <a:lnTo>
                      <a:pt x="561" y="927"/>
                    </a:lnTo>
                    <a:lnTo>
                      <a:pt x="569" y="884"/>
                    </a:lnTo>
                    <a:lnTo>
                      <a:pt x="579" y="850"/>
                    </a:lnTo>
                    <a:lnTo>
                      <a:pt x="593" y="812"/>
                    </a:lnTo>
                    <a:lnTo>
                      <a:pt x="606" y="779"/>
                    </a:lnTo>
                    <a:lnTo>
                      <a:pt x="624" y="747"/>
                    </a:lnTo>
                    <a:lnTo>
                      <a:pt x="639" y="722"/>
                    </a:lnTo>
                    <a:lnTo>
                      <a:pt x="653" y="702"/>
                    </a:lnTo>
                    <a:lnTo>
                      <a:pt x="668" y="682"/>
                    </a:lnTo>
                    <a:lnTo>
                      <a:pt x="685" y="662"/>
                    </a:lnTo>
                    <a:lnTo>
                      <a:pt x="703" y="641"/>
                    </a:lnTo>
                    <a:lnTo>
                      <a:pt x="719" y="626"/>
                    </a:lnTo>
                    <a:lnTo>
                      <a:pt x="737" y="607"/>
                    </a:lnTo>
                    <a:lnTo>
                      <a:pt x="754" y="592"/>
                    </a:lnTo>
                    <a:lnTo>
                      <a:pt x="776" y="576"/>
                    </a:lnTo>
                    <a:lnTo>
                      <a:pt x="801" y="559"/>
                    </a:lnTo>
                    <a:lnTo>
                      <a:pt x="822" y="545"/>
                    </a:lnTo>
                    <a:lnTo>
                      <a:pt x="840" y="534"/>
                    </a:lnTo>
                    <a:lnTo>
                      <a:pt x="866" y="519"/>
                    </a:lnTo>
                    <a:lnTo>
                      <a:pt x="891" y="509"/>
                    </a:lnTo>
                    <a:lnTo>
                      <a:pt x="931" y="497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Freeform 55"/>
              <p:cNvSpPr>
                <a:spLocks/>
              </p:cNvSpPr>
              <p:nvPr/>
            </p:nvSpPr>
            <p:spPr bwMode="auto">
              <a:xfrm>
                <a:off x="475" y="1869"/>
                <a:ext cx="154" cy="157"/>
              </a:xfrm>
              <a:custGeom>
                <a:avLst/>
                <a:gdLst>
                  <a:gd name="T0" fmla="*/ 546 w 1384"/>
                  <a:gd name="T1" fmla="*/ 234 h 1575"/>
                  <a:gd name="T2" fmla="*/ 596 w 1384"/>
                  <a:gd name="T3" fmla="*/ 244 h 1575"/>
                  <a:gd name="T4" fmla="*/ 635 w 1384"/>
                  <a:gd name="T5" fmla="*/ 254 h 1575"/>
                  <a:gd name="T6" fmla="*/ 676 w 1384"/>
                  <a:gd name="T7" fmla="*/ 267 h 1575"/>
                  <a:gd name="T8" fmla="*/ 717 w 1384"/>
                  <a:gd name="T9" fmla="*/ 280 h 1575"/>
                  <a:gd name="T10" fmla="*/ 765 w 1384"/>
                  <a:gd name="T11" fmla="*/ 300 h 1575"/>
                  <a:gd name="T12" fmla="*/ 810 w 1384"/>
                  <a:gd name="T13" fmla="*/ 320 h 1575"/>
                  <a:gd name="T14" fmla="*/ 854 w 1384"/>
                  <a:gd name="T15" fmla="*/ 342 h 1575"/>
                  <a:gd name="T16" fmla="*/ 892 w 1384"/>
                  <a:gd name="T17" fmla="*/ 365 h 1575"/>
                  <a:gd name="T18" fmla="*/ 930 w 1384"/>
                  <a:gd name="T19" fmla="*/ 390 h 1575"/>
                  <a:gd name="T20" fmla="*/ 972 w 1384"/>
                  <a:gd name="T21" fmla="*/ 420 h 1575"/>
                  <a:gd name="T22" fmla="*/ 1009 w 1384"/>
                  <a:gd name="T23" fmla="*/ 448 h 1575"/>
                  <a:gd name="T24" fmla="*/ 1067 w 1384"/>
                  <a:gd name="T25" fmla="*/ 500 h 1575"/>
                  <a:gd name="T26" fmla="*/ 1117 w 1384"/>
                  <a:gd name="T27" fmla="*/ 552 h 1575"/>
                  <a:gd name="T28" fmla="*/ 1157 w 1384"/>
                  <a:gd name="T29" fmla="*/ 600 h 1575"/>
                  <a:gd name="T30" fmla="*/ 1199 w 1384"/>
                  <a:gd name="T31" fmla="*/ 657 h 1575"/>
                  <a:gd name="T32" fmla="*/ 1238 w 1384"/>
                  <a:gd name="T33" fmla="*/ 717 h 1575"/>
                  <a:gd name="T34" fmla="*/ 1272 w 1384"/>
                  <a:gd name="T35" fmla="*/ 777 h 1575"/>
                  <a:gd name="T36" fmla="*/ 1303 w 1384"/>
                  <a:gd name="T37" fmla="*/ 844 h 1575"/>
                  <a:gd name="T38" fmla="*/ 1328 w 1384"/>
                  <a:gd name="T39" fmla="*/ 915 h 1575"/>
                  <a:gd name="T40" fmla="*/ 1354 w 1384"/>
                  <a:gd name="T41" fmla="*/ 1003 h 1575"/>
                  <a:gd name="T42" fmla="*/ 1370 w 1384"/>
                  <a:gd name="T43" fmla="*/ 1089 h 1575"/>
                  <a:gd name="T44" fmla="*/ 1382 w 1384"/>
                  <a:gd name="T45" fmla="*/ 1201 h 1575"/>
                  <a:gd name="T46" fmla="*/ 1382 w 1384"/>
                  <a:gd name="T47" fmla="*/ 1296 h 1575"/>
                  <a:gd name="T48" fmla="*/ 1373 w 1384"/>
                  <a:gd name="T49" fmla="*/ 1385 h 1575"/>
                  <a:gd name="T50" fmla="*/ 1358 w 1384"/>
                  <a:gd name="T51" fmla="*/ 1475 h 1575"/>
                  <a:gd name="T52" fmla="*/ 1330 w 1384"/>
                  <a:gd name="T53" fmla="*/ 1575 h 1575"/>
                  <a:gd name="T54" fmla="*/ 894 w 1384"/>
                  <a:gd name="T55" fmla="*/ 1350 h 1575"/>
                  <a:gd name="T56" fmla="*/ 905 w 1384"/>
                  <a:gd name="T57" fmla="*/ 1268 h 1575"/>
                  <a:gd name="T58" fmla="*/ 903 w 1384"/>
                  <a:gd name="T59" fmla="*/ 1194 h 1575"/>
                  <a:gd name="T60" fmla="*/ 890 w 1384"/>
                  <a:gd name="T61" fmla="*/ 1115 h 1575"/>
                  <a:gd name="T62" fmla="*/ 866 w 1384"/>
                  <a:gd name="T63" fmla="*/ 1042 h 1575"/>
                  <a:gd name="T64" fmla="*/ 835 w 1384"/>
                  <a:gd name="T65" fmla="*/ 978 h 1575"/>
                  <a:gd name="T66" fmla="*/ 806 w 1384"/>
                  <a:gd name="T67" fmla="*/ 933 h 1575"/>
                  <a:gd name="T68" fmla="*/ 774 w 1384"/>
                  <a:gd name="T69" fmla="*/ 893 h 1575"/>
                  <a:gd name="T70" fmla="*/ 740 w 1384"/>
                  <a:gd name="T71" fmla="*/ 856 h 1575"/>
                  <a:gd name="T72" fmla="*/ 704 w 1384"/>
                  <a:gd name="T73" fmla="*/ 822 h 1575"/>
                  <a:gd name="T74" fmla="*/ 657 w 1384"/>
                  <a:gd name="T75" fmla="*/ 791 h 1575"/>
                  <a:gd name="T76" fmla="*/ 618 w 1384"/>
                  <a:gd name="T77" fmla="*/ 766 h 1575"/>
                  <a:gd name="T78" fmla="*/ 569 w 1384"/>
                  <a:gd name="T79" fmla="*/ 742 h 1575"/>
                  <a:gd name="T80" fmla="*/ 528 w 1384"/>
                  <a:gd name="T81" fmla="*/ 727 h 1575"/>
                  <a:gd name="T82" fmla="*/ 467 w 1384"/>
                  <a:gd name="T83" fmla="*/ 714 h 1575"/>
                  <a:gd name="T84" fmla="*/ 406 w 1384"/>
                  <a:gd name="T85" fmla="*/ 709 h 1575"/>
                  <a:gd name="T86" fmla="*/ 389 w 1384"/>
                  <a:gd name="T87" fmla="*/ 964 h 1575"/>
                  <a:gd name="T88" fmla="*/ 388 w 1384"/>
                  <a:gd name="T89" fmla="*/ 0 h 1575"/>
                  <a:gd name="T90" fmla="*/ 409 w 1384"/>
                  <a:gd name="T91" fmla="*/ 221 h 1575"/>
                  <a:gd name="T92" fmla="*/ 471 w 1384"/>
                  <a:gd name="T93" fmla="*/ 224 h 1575"/>
                  <a:gd name="T94" fmla="*/ 527 w 1384"/>
                  <a:gd name="T95" fmla="*/ 23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84" h="1575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5"/>
                    </a:lnTo>
                    <a:lnTo>
                      <a:pt x="972" y="420"/>
                    </a:lnTo>
                    <a:lnTo>
                      <a:pt x="991" y="435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1"/>
                    </a:lnTo>
                    <a:lnTo>
                      <a:pt x="1384" y="1249"/>
                    </a:lnTo>
                    <a:lnTo>
                      <a:pt x="1382" y="1296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239" y="1290"/>
                    </a:lnTo>
                    <a:lnTo>
                      <a:pt x="894" y="1350"/>
                    </a:lnTo>
                    <a:lnTo>
                      <a:pt x="902" y="1300"/>
                    </a:lnTo>
                    <a:lnTo>
                      <a:pt x="905" y="1268"/>
                    </a:lnTo>
                    <a:lnTo>
                      <a:pt x="905" y="1234"/>
                    </a:lnTo>
                    <a:lnTo>
                      <a:pt x="903" y="1194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5" name="Group 56"/>
            <p:cNvGrpSpPr>
              <a:grpSpLocks/>
            </p:cNvGrpSpPr>
            <p:nvPr/>
          </p:nvGrpSpPr>
          <p:grpSpPr bwMode="auto">
            <a:xfrm>
              <a:off x="925" y="4304"/>
              <a:ext cx="205" cy="192"/>
              <a:chOff x="395" y="1869"/>
              <a:chExt cx="239" cy="227"/>
            </a:xfrm>
          </p:grpSpPr>
          <p:sp>
            <p:nvSpPr>
              <p:cNvPr id="65" name="Freeform 57"/>
              <p:cNvSpPr>
                <a:spLocks/>
              </p:cNvSpPr>
              <p:nvPr/>
            </p:nvSpPr>
            <p:spPr bwMode="auto">
              <a:xfrm>
                <a:off x="475" y="1869"/>
                <a:ext cx="154" cy="175"/>
              </a:xfrm>
              <a:custGeom>
                <a:avLst/>
                <a:gdLst>
                  <a:gd name="T0" fmla="*/ 546 w 1384"/>
                  <a:gd name="T1" fmla="*/ 234 h 1757"/>
                  <a:gd name="T2" fmla="*/ 596 w 1384"/>
                  <a:gd name="T3" fmla="*/ 244 h 1757"/>
                  <a:gd name="T4" fmla="*/ 635 w 1384"/>
                  <a:gd name="T5" fmla="*/ 254 h 1757"/>
                  <a:gd name="T6" fmla="*/ 676 w 1384"/>
                  <a:gd name="T7" fmla="*/ 267 h 1757"/>
                  <a:gd name="T8" fmla="*/ 717 w 1384"/>
                  <a:gd name="T9" fmla="*/ 280 h 1757"/>
                  <a:gd name="T10" fmla="*/ 765 w 1384"/>
                  <a:gd name="T11" fmla="*/ 300 h 1757"/>
                  <a:gd name="T12" fmla="*/ 810 w 1384"/>
                  <a:gd name="T13" fmla="*/ 320 h 1757"/>
                  <a:gd name="T14" fmla="*/ 854 w 1384"/>
                  <a:gd name="T15" fmla="*/ 342 h 1757"/>
                  <a:gd name="T16" fmla="*/ 892 w 1384"/>
                  <a:gd name="T17" fmla="*/ 365 h 1757"/>
                  <a:gd name="T18" fmla="*/ 930 w 1384"/>
                  <a:gd name="T19" fmla="*/ 390 h 1757"/>
                  <a:gd name="T20" fmla="*/ 972 w 1384"/>
                  <a:gd name="T21" fmla="*/ 421 h 1757"/>
                  <a:gd name="T22" fmla="*/ 1009 w 1384"/>
                  <a:gd name="T23" fmla="*/ 448 h 1757"/>
                  <a:gd name="T24" fmla="*/ 1067 w 1384"/>
                  <a:gd name="T25" fmla="*/ 500 h 1757"/>
                  <a:gd name="T26" fmla="*/ 1117 w 1384"/>
                  <a:gd name="T27" fmla="*/ 552 h 1757"/>
                  <a:gd name="T28" fmla="*/ 1157 w 1384"/>
                  <a:gd name="T29" fmla="*/ 600 h 1757"/>
                  <a:gd name="T30" fmla="*/ 1199 w 1384"/>
                  <a:gd name="T31" fmla="*/ 657 h 1757"/>
                  <a:gd name="T32" fmla="*/ 1238 w 1384"/>
                  <a:gd name="T33" fmla="*/ 717 h 1757"/>
                  <a:gd name="T34" fmla="*/ 1272 w 1384"/>
                  <a:gd name="T35" fmla="*/ 777 h 1757"/>
                  <a:gd name="T36" fmla="*/ 1303 w 1384"/>
                  <a:gd name="T37" fmla="*/ 844 h 1757"/>
                  <a:gd name="T38" fmla="*/ 1328 w 1384"/>
                  <a:gd name="T39" fmla="*/ 915 h 1757"/>
                  <a:gd name="T40" fmla="*/ 1354 w 1384"/>
                  <a:gd name="T41" fmla="*/ 1003 h 1757"/>
                  <a:gd name="T42" fmla="*/ 1370 w 1384"/>
                  <a:gd name="T43" fmla="*/ 1089 h 1757"/>
                  <a:gd name="T44" fmla="*/ 1382 w 1384"/>
                  <a:gd name="T45" fmla="*/ 1202 h 1757"/>
                  <a:gd name="T46" fmla="*/ 1382 w 1384"/>
                  <a:gd name="T47" fmla="*/ 1297 h 1757"/>
                  <a:gd name="T48" fmla="*/ 1373 w 1384"/>
                  <a:gd name="T49" fmla="*/ 1385 h 1757"/>
                  <a:gd name="T50" fmla="*/ 1358 w 1384"/>
                  <a:gd name="T51" fmla="*/ 1475 h 1757"/>
                  <a:gd name="T52" fmla="*/ 1330 w 1384"/>
                  <a:gd name="T53" fmla="*/ 1575 h 1757"/>
                  <a:gd name="T54" fmla="*/ 1296 w 1384"/>
                  <a:gd name="T55" fmla="*/ 1667 h 1757"/>
                  <a:gd name="T56" fmla="*/ 1244 w 1384"/>
                  <a:gd name="T57" fmla="*/ 1757 h 1757"/>
                  <a:gd name="T58" fmla="*/ 858 w 1384"/>
                  <a:gd name="T59" fmla="*/ 1474 h 1757"/>
                  <a:gd name="T60" fmla="*/ 884 w 1384"/>
                  <a:gd name="T61" fmla="*/ 1403 h 1757"/>
                  <a:gd name="T62" fmla="*/ 899 w 1384"/>
                  <a:gd name="T63" fmla="*/ 1334 h 1757"/>
                  <a:gd name="T64" fmla="*/ 905 w 1384"/>
                  <a:gd name="T65" fmla="*/ 1269 h 1757"/>
                  <a:gd name="T66" fmla="*/ 903 w 1384"/>
                  <a:gd name="T67" fmla="*/ 1195 h 1757"/>
                  <a:gd name="T68" fmla="*/ 890 w 1384"/>
                  <a:gd name="T69" fmla="*/ 1115 h 1757"/>
                  <a:gd name="T70" fmla="*/ 866 w 1384"/>
                  <a:gd name="T71" fmla="*/ 1042 h 1757"/>
                  <a:gd name="T72" fmla="*/ 835 w 1384"/>
                  <a:gd name="T73" fmla="*/ 978 h 1757"/>
                  <a:gd name="T74" fmla="*/ 806 w 1384"/>
                  <a:gd name="T75" fmla="*/ 933 h 1757"/>
                  <a:gd name="T76" fmla="*/ 774 w 1384"/>
                  <a:gd name="T77" fmla="*/ 893 h 1757"/>
                  <a:gd name="T78" fmla="*/ 740 w 1384"/>
                  <a:gd name="T79" fmla="*/ 856 h 1757"/>
                  <a:gd name="T80" fmla="*/ 704 w 1384"/>
                  <a:gd name="T81" fmla="*/ 822 h 1757"/>
                  <a:gd name="T82" fmla="*/ 657 w 1384"/>
                  <a:gd name="T83" fmla="*/ 791 h 1757"/>
                  <a:gd name="T84" fmla="*/ 618 w 1384"/>
                  <a:gd name="T85" fmla="*/ 766 h 1757"/>
                  <a:gd name="T86" fmla="*/ 569 w 1384"/>
                  <a:gd name="T87" fmla="*/ 742 h 1757"/>
                  <a:gd name="T88" fmla="*/ 528 w 1384"/>
                  <a:gd name="T89" fmla="*/ 727 h 1757"/>
                  <a:gd name="T90" fmla="*/ 467 w 1384"/>
                  <a:gd name="T91" fmla="*/ 714 h 1757"/>
                  <a:gd name="T92" fmla="*/ 406 w 1384"/>
                  <a:gd name="T93" fmla="*/ 709 h 1757"/>
                  <a:gd name="T94" fmla="*/ 389 w 1384"/>
                  <a:gd name="T95" fmla="*/ 964 h 1757"/>
                  <a:gd name="T96" fmla="*/ 388 w 1384"/>
                  <a:gd name="T97" fmla="*/ 0 h 1757"/>
                  <a:gd name="T98" fmla="*/ 409 w 1384"/>
                  <a:gd name="T99" fmla="*/ 221 h 1757"/>
                  <a:gd name="T100" fmla="*/ 471 w 1384"/>
                  <a:gd name="T101" fmla="*/ 224 h 1757"/>
                  <a:gd name="T102" fmla="*/ 527 w 1384"/>
                  <a:gd name="T103" fmla="*/ 230 h 1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84" h="1757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6"/>
                    </a:lnTo>
                    <a:lnTo>
                      <a:pt x="972" y="421"/>
                    </a:lnTo>
                    <a:lnTo>
                      <a:pt x="991" y="436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2"/>
                    </a:lnTo>
                    <a:lnTo>
                      <a:pt x="1384" y="1250"/>
                    </a:lnTo>
                    <a:lnTo>
                      <a:pt x="1382" y="1297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314" y="1622"/>
                    </a:lnTo>
                    <a:lnTo>
                      <a:pt x="1296" y="1667"/>
                    </a:lnTo>
                    <a:lnTo>
                      <a:pt x="1270" y="1712"/>
                    </a:lnTo>
                    <a:lnTo>
                      <a:pt x="1244" y="1757"/>
                    </a:lnTo>
                    <a:lnTo>
                      <a:pt x="836" y="1519"/>
                    </a:lnTo>
                    <a:lnTo>
                      <a:pt x="858" y="1474"/>
                    </a:lnTo>
                    <a:lnTo>
                      <a:pt x="873" y="1440"/>
                    </a:lnTo>
                    <a:lnTo>
                      <a:pt x="884" y="1403"/>
                    </a:lnTo>
                    <a:lnTo>
                      <a:pt x="893" y="1367"/>
                    </a:lnTo>
                    <a:lnTo>
                      <a:pt x="899" y="1334"/>
                    </a:lnTo>
                    <a:lnTo>
                      <a:pt x="902" y="1301"/>
                    </a:lnTo>
                    <a:lnTo>
                      <a:pt x="905" y="1269"/>
                    </a:lnTo>
                    <a:lnTo>
                      <a:pt x="905" y="1235"/>
                    </a:lnTo>
                    <a:lnTo>
                      <a:pt x="903" y="1195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Freeform 58"/>
              <p:cNvSpPr>
                <a:spLocks/>
              </p:cNvSpPr>
              <p:nvPr/>
            </p:nvSpPr>
            <p:spPr bwMode="auto">
              <a:xfrm>
                <a:off x="430" y="1998"/>
                <a:ext cx="204" cy="98"/>
              </a:xfrm>
              <a:custGeom>
                <a:avLst/>
                <a:gdLst>
                  <a:gd name="T0" fmla="*/ 942 w 1836"/>
                  <a:gd name="T1" fmla="*/ 961 h 976"/>
                  <a:gd name="T2" fmla="*/ 992 w 1836"/>
                  <a:gd name="T3" fmla="*/ 951 h 976"/>
                  <a:gd name="T4" fmla="*/ 1031 w 1836"/>
                  <a:gd name="T5" fmla="*/ 942 h 976"/>
                  <a:gd name="T6" fmla="*/ 1073 w 1836"/>
                  <a:gd name="T7" fmla="*/ 930 h 976"/>
                  <a:gd name="T8" fmla="*/ 1113 w 1836"/>
                  <a:gd name="T9" fmla="*/ 915 h 976"/>
                  <a:gd name="T10" fmla="*/ 1161 w 1836"/>
                  <a:gd name="T11" fmla="*/ 896 h 976"/>
                  <a:gd name="T12" fmla="*/ 1207 w 1836"/>
                  <a:gd name="T13" fmla="*/ 876 h 976"/>
                  <a:gd name="T14" fmla="*/ 1251 w 1836"/>
                  <a:gd name="T15" fmla="*/ 854 h 976"/>
                  <a:gd name="T16" fmla="*/ 1288 w 1836"/>
                  <a:gd name="T17" fmla="*/ 830 h 976"/>
                  <a:gd name="T18" fmla="*/ 1326 w 1836"/>
                  <a:gd name="T19" fmla="*/ 806 h 976"/>
                  <a:gd name="T20" fmla="*/ 1368 w 1836"/>
                  <a:gd name="T21" fmla="*/ 776 h 976"/>
                  <a:gd name="T22" fmla="*/ 1404 w 1836"/>
                  <a:gd name="T23" fmla="*/ 748 h 976"/>
                  <a:gd name="T24" fmla="*/ 1459 w 1836"/>
                  <a:gd name="T25" fmla="*/ 702 h 976"/>
                  <a:gd name="T26" fmla="*/ 1513 w 1836"/>
                  <a:gd name="T27" fmla="*/ 644 h 976"/>
                  <a:gd name="T28" fmla="*/ 1553 w 1836"/>
                  <a:gd name="T29" fmla="*/ 596 h 976"/>
                  <a:gd name="T30" fmla="*/ 1596 w 1836"/>
                  <a:gd name="T31" fmla="*/ 541 h 976"/>
                  <a:gd name="T32" fmla="*/ 1638 w 1836"/>
                  <a:gd name="T33" fmla="*/ 477 h 976"/>
                  <a:gd name="T34" fmla="*/ 1642 w 1836"/>
                  <a:gd name="T35" fmla="*/ 0 h 976"/>
                  <a:gd name="T36" fmla="*/ 1226 w 1836"/>
                  <a:gd name="T37" fmla="*/ 234 h 976"/>
                  <a:gd name="T38" fmla="*/ 1189 w 1836"/>
                  <a:gd name="T39" fmla="*/ 282 h 976"/>
                  <a:gd name="T40" fmla="*/ 1151 w 1836"/>
                  <a:gd name="T41" fmla="*/ 325 h 976"/>
                  <a:gd name="T42" fmla="*/ 1118 w 1836"/>
                  <a:gd name="T43" fmla="*/ 359 h 976"/>
                  <a:gd name="T44" fmla="*/ 1078 w 1836"/>
                  <a:gd name="T45" fmla="*/ 390 h 976"/>
                  <a:gd name="T46" fmla="*/ 1032 w 1836"/>
                  <a:gd name="T47" fmla="*/ 421 h 976"/>
                  <a:gd name="T48" fmla="*/ 988 w 1836"/>
                  <a:gd name="T49" fmla="*/ 447 h 976"/>
                  <a:gd name="T50" fmla="*/ 945 w 1836"/>
                  <a:gd name="T51" fmla="*/ 462 h 976"/>
                  <a:gd name="T52" fmla="*/ 893 w 1836"/>
                  <a:gd name="T53" fmla="*/ 478 h 976"/>
                  <a:gd name="T54" fmla="*/ 832 w 1836"/>
                  <a:gd name="T55" fmla="*/ 486 h 976"/>
                  <a:gd name="T56" fmla="*/ 728 w 1836"/>
                  <a:gd name="T57" fmla="*/ 489 h 976"/>
                  <a:gd name="T58" fmla="*/ 642 w 1836"/>
                  <a:gd name="T59" fmla="*/ 473 h 976"/>
                  <a:gd name="T60" fmla="*/ 552 w 1836"/>
                  <a:gd name="T61" fmla="*/ 441 h 976"/>
                  <a:gd name="T62" fmla="*/ 472 w 1836"/>
                  <a:gd name="T63" fmla="*/ 395 h 976"/>
                  <a:gd name="T64" fmla="*/ 0 w 1836"/>
                  <a:gd name="T65" fmla="*/ 617 h 976"/>
                  <a:gd name="T66" fmla="*/ 43 w 1836"/>
                  <a:gd name="T67" fmla="*/ 662 h 976"/>
                  <a:gd name="T68" fmla="*/ 85 w 1836"/>
                  <a:gd name="T69" fmla="*/ 704 h 976"/>
                  <a:gd name="T70" fmla="*/ 131 w 1836"/>
                  <a:gd name="T71" fmla="*/ 745 h 976"/>
                  <a:gd name="T72" fmla="*/ 178 w 1836"/>
                  <a:gd name="T73" fmla="*/ 780 h 976"/>
                  <a:gd name="T74" fmla="*/ 229 w 1836"/>
                  <a:gd name="T75" fmla="*/ 815 h 976"/>
                  <a:gd name="T76" fmla="*/ 280 w 1836"/>
                  <a:gd name="T77" fmla="*/ 846 h 976"/>
                  <a:gd name="T78" fmla="*/ 327 w 1836"/>
                  <a:gd name="T79" fmla="*/ 872 h 976"/>
                  <a:gd name="T80" fmla="*/ 388 w 1836"/>
                  <a:gd name="T81" fmla="*/ 899 h 976"/>
                  <a:gd name="T82" fmla="*/ 447 w 1836"/>
                  <a:gd name="T83" fmla="*/ 922 h 976"/>
                  <a:gd name="T84" fmla="*/ 500 w 1836"/>
                  <a:gd name="T85" fmla="*/ 940 h 976"/>
                  <a:gd name="T86" fmla="*/ 554 w 1836"/>
                  <a:gd name="T87" fmla="*/ 953 h 976"/>
                  <a:gd name="T88" fmla="*/ 617 w 1836"/>
                  <a:gd name="T89" fmla="*/ 965 h 976"/>
                  <a:gd name="T90" fmla="*/ 684 w 1836"/>
                  <a:gd name="T91" fmla="*/ 973 h 976"/>
                  <a:gd name="T92" fmla="*/ 744 w 1836"/>
                  <a:gd name="T93" fmla="*/ 976 h 976"/>
                  <a:gd name="T94" fmla="*/ 806 w 1836"/>
                  <a:gd name="T95" fmla="*/ 975 h 976"/>
                  <a:gd name="T96" fmla="*/ 868 w 1836"/>
                  <a:gd name="T97" fmla="*/ 971 h 976"/>
                  <a:gd name="T98" fmla="*/ 923 w 1836"/>
                  <a:gd name="T99" fmla="*/ 964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36" h="976">
                    <a:moveTo>
                      <a:pt x="923" y="964"/>
                    </a:moveTo>
                    <a:lnTo>
                      <a:pt x="942" y="961"/>
                    </a:lnTo>
                    <a:lnTo>
                      <a:pt x="967" y="957"/>
                    </a:lnTo>
                    <a:lnTo>
                      <a:pt x="992" y="951"/>
                    </a:lnTo>
                    <a:lnTo>
                      <a:pt x="1010" y="947"/>
                    </a:lnTo>
                    <a:lnTo>
                      <a:pt x="1031" y="942"/>
                    </a:lnTo>
                    <a:lnTo>
                      <a:pt x="1052" y="935"/>
                    </a:lnTo>
                    <a:lnTo>
                      <a:pt x="1073" y="930"/>
                    </a:lnTo>
                    <a:lnTo>
                      <a:pt x="1092" y="924"/>
                    </a:lnTo>
                    <a:lnTo>
                      <a:pt x="1113" y="915"/>
                    </a:lnTo>
                    <a:lnTo>
                      <a:pt x="1139" y="906"/>
                    </a:lnTo>
                    <a:lnTo>
                      <a:pt x="1161" y="896"/>
                    </a:lnTo>
                    <a:lnTo>
                      <a:pt x="1183" y="886"/>
                    </a:lnTo>
                    <a:lnTo>
                      <a:pt x="1207" y="876"/>
                    </a:lnTo>
                    <a:lnTo>
                      <a:pt x="1230" y="864"/>
                    </a:lnTo>
                    <a:lnTo>
                      <a:pt x="1251" y="854"/>
                    </a:lnTo>
                    <a:lnTo>
                      <a:pt x="1270" y="841"/>
                    </a:lnTo>
                    <a:lnTo>
                      <a:pt x="1288" y="830"/>
                    </a:lnTo>
                    <a:lnTo>
                      <a:pt x="1306" y="817"/>
                    </a:lnTo>
                    <a:lnTo>
                      <a:pt x="1326" y="806"/>
                    </a:lnTo>
                    <a:lnTo>
                      <a:pt x="1348" y="791"/>
                    </a:lnTo>
                    <a:lnTo>
                      <a:pt x="1368" y="776"/>
                    </a:lnTo>
                    <a:lnTo>
                      <a:pt x="1387" y="761"/>
                    </a:lnTo>
                    <a:lnTo>
                      <a:pt x="1404" y="748"/>
                    </a:lnTo>
                    <a:lnTo>
                      <a:pt x="1433" y="725"/>
                    </a:lnTo>
                    <a:lnTo>
                      <a:pt x="1459" y="702"/>
                    </a:lnTo>
                    <a:lnTo>
                      <a:pt x="1486" y="675"/>
                    </a:lnTo>
                    <a:lnTo>
                      <a:pt x="1513" y="644"/>
                    </a:lnTo>
                    <a:lnTo>
                      <a:pt x="1532" y="622"/>
                    </a:lnTo>
                    <a:lnTo>
                      <a:pt x="1553" y="596"/>
                    </a:lnTo>
                    <a:lnTo>
                      <a:pt x="1576" y="569"/>
                    </a:lnTo>
                    <a:lnTo>
                      <a:pt x="1596" y="541"/>
                    </a:lnTo>
                    <a:lnTo>
                      <a:pt x="1615" y="511"/>
                    </a:lnTo>
                    <a:lnTo>
                      <a:pt x="1638" y="477"/>
                    </a:lnTo>
                    <a:lnTo>
                      <a:pt x="1836" y="594"/>
                    </a:lnTo>
                    <a:lnTo>
                      <a:pt x="1642" y="0"/>
                    </a:lnTo>
                    <a:lnTo>
                      <a:pt x="1014" y="113"/>
                    </a:lnTo>
                    <a:lnTo>
                      <a:pt x="1226" y="234"/>
                    </a:lnTo>
                    <a:lnTo>
                      <a:pt x="1208" y="259"/>
                    </a:lnTo>
                    <a:lnTo>
                      <a:pt x="1189" y="282"/>
                    </a:lnTo>
                    <a:lnTo>
                      <a:pt x="1170" y="304"/>
                    </a:lnTo>
                    <a:lnTo>
                      <a:pt x="1151" y="325"/>
                    </a:lnTo>
                    <a:lnTo>
                      <a:pt x="1135" y="341"/>
                    </a:lnTo>
                    <a:lnTo>
                      <a:pt x="1118" y="359"/>
                    </a:lnTo>
                    <a:lnTo>
                      <a:pt x="1099" y="374"/>
                    </a:lnTo>
                    <a:lnTo>
                      <a:pt x="1078" y="390"/>
                    </a:lnTo>
                    <a:lnTo>
                      <a:pt x="1053" y="407"/>
                    </a:lnTo>
                    <a:lnTo>
                      <a:pt x="1032" y="421"/>
                    </a:lnTo>
                    <a:lnTo>
                      <a:pt x="1014" y="432"/>
                    </a:lnTo>
                    <a:lnTo>
                      <a:pt x="988" y="447"/>
                    </a:lnTo>
                    <a:lnTo>
                      <a:pt x="965" y="456"/>
                    </a:lnTo>
                    <a:lnTo>
                      <a:pt x="945" y="462"/>
                    </a:lnTo>
                    <a:lnTo>
                      <a:pt x="924" y="470"/>
                    </a:lnTo>
                    <a:lnTo>
                      <a:pt x="893" y="478"/>
                    </a:lnTo>
                    <a:lnTo>
                      <a:pt x="863" y="483"/>
                    </a:lnTo>
                    <a:lnTo>
                      <a:pt x="832" y="486"/>
                    </a:lnTo>
                    <a:lnTo>
                      <a:pt x="787" y="488"/>
                    </a:lnTo>
                    <a:lnTo>
                      <a:pt x="728" y="489"/>
                    </a:lnTo>
                    <a:lnTo>
                      <a:pt x="683" y="483"/>
                    </a:lnTo>
                    <a:lnTo>
                      <a:pt x="642" y="473"/>
                    </a:lnTo>
                    <a:lnTo>
                      <a:pt x="594" y="459"/>
                    </a:lnTo>
                    <a:lnTo>
                      <a:pt x="552" y="441"/>
                    </a:lnTo>
                    <a:lnTo>
                      <a:pt x="510" y="420"/>
                    </a:lnTo>
                    <a:lnTo>
                      <a:pt x="472" y="395"/>
                    </a:lnTo>
                    <a:lnTo>
                      <a:pt x="435" y="363"/>
                    </a:lnTo>
                    <a:lnTo>
                      <a:pt x="0" y="617"/>
                    </a:lnTo>
                    <a:lnTo>
                      <a:pt x="18" y="638"/>
                    </a:lnTo>
                    <a:lnTo>
                      <a:pt x="43" y="662"/>
                    </a:lnTo>
                    <a:lnTo>
                      <a:pt x="64" y="683"/>
                    </a:lnTo>
                    <a:lnTo>
                      <a:pt x="85" y="704"/>
                    </a:lnTo>
                    <a:lnTo>
                      <a:pt x="106" y="724"/>
                    </a:lnTo>
                    <a:lnTo>
                      <a:pt x="131" y="745"/>
                    </a:lnTo>
                    <a:lnTo>
                      <a:pt x="154" y="763"/>
                    </a:lnTo>
                    <a:lnTo>
                      <a:pt x="178" y="780"/>
                    </a:lnTo>
                    <a:lnTo>
                      <a:pt x="204" y="797"/>
                    </a:lnTo>
                    <a:lnTo>
                      <a:pt x="229" y="815"/>
                    </a:lnTo>
                    <a:lnTo>
                      <a:pt x="255" y="832"/>
                    </a:lnTo>
                    <a:lnTo>
                      <a:pt x="280" y="846"/>
                    </a:lnTo>
                    <a:lnTo>
                      <a:pt x="304" y="860"/>
                    </a:lnTo>
                    <a:lnTo>
                      <a:pt x="327" y="872"/>
                    </a:lnTo>
                    <a:lnTo>
                      <a:pt x="359" y="886"/>
                    </a:lnTo>
                    <a:lnTo>
                      <a:pt x="388" y="899"/>
                    </a:lnTo>
                    <a:lnTo>
                      <a:pt x="422" y="912"/>
                    </a:lnTo>
                    <a:lnTo>
                      <a:pt x="447" y="922"/>
                    </a:lnTo>
                    <a:lnTo>
                      <a:pt x="471" y="931"/>
                    </a:lnTo>
                    <a:lnTo>
                      <a:pt x="500" y="940"/>
                    </a:lnTo>
                    <a:lnTo>
                      <a:pt x="527" y="947"/>
                    </a:lnTo>
                    <a:lnTo>
                      <a:pt x="554" y="953"/>
                    </a:lnTo>
                    <a:lnTo>
                      <a:pt x="586" y="960"/>
                    </a:lnTo>
                    <a:lnTo>
                      <a:pt x="617" y="965"/>
                    </a:lnTo>
                    <a:lnTo>
                      <a:pt x="650" y="969"/>
                    </a:lnTo>
                    <a:lnTo>
                      <a:pt x="684" y="973"/>
                    </a:lnTo>
                    <a:lnTo>
                      <a:pt x="709" y="974"/>
                    </a:lnTo>
                    <a:lnTo>
                      <a:pt x="744" y="976"/>
                    </a:lnTo>
                    <a:lnTo>
                      <a:pt x="778" y="976"/>
                    </a:lnTo>
                    <a:lnTo>
                      <a:pt x="806" y="975"/>
                    </a:lnTo>
                    <a:lnTo>
                      <a:pt x="835" y="974"/>
                    </a:lnTo>
                    <a:lnTo>
                      <a:pt x="868" y="971"/>
                    </a:lnTo>
                    <a:lnTo>
                      <a:pt x="897" y="967"/>
                    </a:lnTo>
                    <a:lnTo>
                      <a:pt x="923" y="96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Freeform 59"/>
              <p:cNvSpPr>
                <a:spLocks/>
              </p:cNvSpPr>
              <p:nvPr/>
            </p:nvSpPr>
            <p:spPr bwMode="auto">
              <a:xfrm>
                <a:off x="395" y="1892"/>
                <a:ext cx="103" cy="174"/>
              </a:xfrm>
              <a:custGeom>
                <a:avLst/>
                <a:gdLst>
                  <a:gd name="T0" fmla="*/ 911 w 931"/>
                  <a:gd name="T1" fmla="*/ 3 h 1739"/>
                  <a:gd name="T2" fmla="*/ 864 w 931"/>
                  <a:gd name="T3" fmla="*/ 13 h 1739"/>
                  <a:gd name="T4" fmla="*/ 823 w 931"/>
                  <a:gd name="T5" fmla="*/ 23 h 1739"/>
                  <a:gd name="T6" fmla="*/ 782 w 931"/>
                  <a:gd name="T7" fmla="*/ 35 h 1739"/>
                  <a:gd name="T8" fmla="*/ 741 w 931"/>
                  <a:gd name="T9" fmla="*/ 50 h 1739"/>
                  <a:gd name="T10" fmla="*/ 694 w 931"/>
                  <a:gd name="T11" fmla="*/ 69 h 1739"/>
                  <a:gd name="T12" fmla="*/ 649 w 931"/>
                  <a:gd name="T13" fmla="*/ 89 h 1739"/>
                  <a:gd name="T14" fmla="*/ 605 w 931"/>
                  <a:gd name="T15" fmla="*/ 111 h 1739"/>
                  <a:gd name="T16" fmla="*/ 567 w 931"/>
                  <a:gd name="T17" fmla="*/ 135 h 1739"/>
                  <a:gd name="T18" fmla="*/ 529 w 931"/>
                  <a:gd name="T19" fmla="*/ 159 h 1739"/>
                  <a:gd name="T20" fmla="*/ 487 w 931"/>
                  <a:gd name="T21" fmla="*/ 190 h 1739"/>
                  <a:gd name="T22" fmla="*/ 450 w 931"/>
                  <a:gd name="T23" fmla="*/ 218 h 1739"/>
                  <a:gd name="T24" fmla="*/ 391 w 931"/>
                  <a:gd name="T25" fmla="*/ 271 h 1739"/>
                  <a:gd name="T26" fmla="*/ 341 w 931"/>
                  <a:gd name="T27" fmla="*/ 323 h 1739"/>
                  <a:gd name="T28" fmla="*/ 301 w 931"/>
                  <a:gd name="T29" fmla="*/ 371 h 1739"/>
                  <a:gd name="T30" fmla="*/ 259 w 931"/>
                  <a:gd name="T31" fmla="*/ 426 h 1739"/>
                  <a:gd name="T32" fmla="*/ 221 w 931"/>
                  <a:gd name="T33" fmla="*/ 487 h 1739"/>
                  <a:gd name="T34" fmla="*/ 186 w 931"/>
                  <a:gd name="T35" fmla="*/ 546 h 1739"/>
                  <a:gd name="T36" fmla="*/ 157 w 931"/>
                  <a:gd name="T37" fmla="*/ 613 h 1739"/>
                  <a:gd name="T38" fmla="*/ 131 w 931"/>
                  <a:gd name="T39" fmla="*/ 684 h 1739"/>
                  <a:gd name="T40" fmla="*/ 105 w 931"/>
                  <a:gd name="T41" fmla="*/ 772 h 1739"/>
                  <a:gd name="T42" fmla="*/ 89 w 931"/>
                  <a:gd name="T43" fmla="*/ 858 h 1739"/>
                  <a:gd name="T44" fmla="*/ 77 w 931"/>
                  <a:gd name="T45" fmla="*/ 970 h 1739"/>
                  <a:gd name="T46" fmla="*/ 77 w 931"/>
                  <a:gd name="T47" fmla="*/ 1067 h 1739"/>
                  <a:gd name="T48" fmla="*/ 86 w 931"/>
                  <a:gd name="T49" fmla="*/ 1155 h 1739"/>
                  <a:gd name="T50" fmla="*/ 101 w 931"/>
                  <a:gd name="T51" fmla="*/ 1245 h 1739"/>
                  <a:gd name="T52" fmla="*/ 129 w 931"/>
                  <a:gd name="T53" fmla="*/ 1344 h 1739"/>
                  <a:gd name="T54" fmla="*/ 163 w 931"/>
                  <a:gd name="T55" fmla="*/ 1437 h 1739"/>
                  <a:gd name="T56" fmla="*/ 209 w 931"/>
                  <a:gd name="T57" fmla="*/ 1524 h 1739"/>
                  <a:gd name="T58" fmla="*/ 639 w 931"/>
                  <a:gd name="T59" fmla="*/ 1739 h 1739"/>
                  <a:gd name="T60" fmla="*/ 628 w 931"/>
                  <a:gd name="T61" fmla="*/ 1279 h 1739"/>
                  <a:gd name="T62" fmla="*/ 589 w 931"/>
                  <a:gd name="T63" fmla="*/ 1207 h 1739"/>
                  <a:gd name="T64" fmla="*/ 566 w 931"/>
                  <a:gd name="T65" fmla="*/ 1137 h 1739"/>
                  <a:gd name="T66" fmla="*/ 558 w 931"/>
                  <a:gd name="T67" fmla="*/ 1070 h 1739"/>
                  <a:gd name="T68" fmla="*/ 555 w 931"/>
                  <a:gd name="T69" fmla="*/ 1004 h 1739"/>
                  <a:gd name="T70" fmla="*/ 561 w 931"/>
                  <a:gd name="T71" fmla="*/ 927 h 1739"/>
                  <a:gd name="T72" fmla="*/ 579 w 931"/>
                  <a:gd name="T73" fmla="*/ 850 h 1739"/>
                  <a:gd name="T74" fmla="*/ 606 w 931"/>
                  <a:gd name="T75" fmla="*/ 779 h 1739"/>
                  <a:gd name="T76" fmla="*/ 639 w 931"/>
                  <a:gd name="T77" fmla="*/ 722 h 1739"/>
                  <a:gd name="T78" fmla="*/ 668 w 931"/>
                  <a:gd name="T79" fmla="*/ 682 h 1739"/>
                  <a:gd name="T80" fmla="*/ 703 w 931"/>
                  <a:gd name="T81" fmla="*/ 641 h 1739"/>
                  <a:gd name="T82" fmla="*/ 737 w 931"/>
                  <a:gd name="T83" fmla="*/ 607 h 1739"/>
                  <a:gd name="T84" fmla="*/ 776 w 931"/>
                  <a:gd name="T85" fmla="*/ 576 h 1739"/>
                  <a:gd name="T86" fmla="*/ 822 w 931"/>
                  <a:gd name="T87" fmla="*/ 545 h 1739"/>
                  <a:gd name="T88" fmla="*/ 866 w 931"/>
                  <a:gd name="T89" fmla="*/ 519 h 1739"/>
                  <a:gd name="T90" fmla="*/ 931 w 931"/>
                  <a:gd name="T91" fmla="*/ 497 h 1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1" h="1739">
                    <a:moveTo>
                      <a:pt x="931" y="0"/>
                    </a:moveTo>
                    <a:lnTo>
                      <a:pt x="911" y="3"/>
                    </a:lnTo>
                    <a:lnTo>
                      <a:pt x="891" y="6"/>
                    </a:lnTo>
                    <a:lnTo>
                      <a:pt x="864" y="13"/>
                    </a:lnTo>
                    <a:lnTo>
                      <a:pt x="844" y="17"/>
                    </a:lnTo>
                    <a:lnTo>
                      <a:pt x="823" y="23"/>
                    </a:lnTo>
                    <a:lnTo>
                      <a:pt x="803" y="30"/>
                    </a:lnTo>
                    <a:lnTo>
                      <a:pt x="782" y="35"/>
                    </a:lnTo>
                    <a:lnTo>
                      <a:pt x="762" y="41"/>
                    </a:lnTo>
                    <a:lnTo>
                      <a:pt x="741" y="50"/>
                    </a:lnTo>
                    <a:lnTo>
                      <a:pt x="716" y="59"/>
                    </a:lnTo>
                    <a:lnTo>
                      <a:pt x="694" y="69"/>
                    </a:lnTo>
                    <a:lnTo>
                      <a:pt x="672" y="78"/>
                    </a:lnTo>
                    <a:lnTo>
                      <a:pt x="649" y="89"/>
                    </a:lnTo>
                    <a:lnTo>
                      <a:pt x="626" y="101"/>
                    </a:lnTo>
                    <a:lnTo>
                      <a:pt x="605" y="111"/>
                    </a:lnTo>
                    <a:lnTo>
                      <a:pt x="585" y="124"/>
                    </a:lnTo>
                    <a:lnTo>
                      <a:pt x="567" y="135"/>
                    </a:lnTo>
                    <a:lnTo>
                      <a:pt x="549" y="148"/>
                    </a:lnTo>
                    <a:lnTo>
                      <a:pt x="529" y="159"/>
                    </a:lnTo>
                    <a:lnTo>
                      <a:pt x="507" y="174"/>
                    </a:lnTo>
                    <a:lnTo>
                      <a:pt x="487" y="190"/>
                    </a:lnTo>
                    <a:lnTo>
                      <a:pt x="468" y="205"/>
                    </a:lnTo>
                    <a:lnTo>
                      <a:pt x="450" y="218"/>
                    </a:lnTo>
                    <a:lnTo>
                      <a:pt x="421" y="242"/>
                    </a:lnTo>
                    <a:lnTo>
                      <a:pt x="391" y="271"/>
                    </a:lnTo>
                    <a:lnTo>
                      <a:pt x="368" y="292"/>
                    </a:lnTo>
                    <a:lnTo>
                      <a:pt x="341" y="323"/>
                    </a:lnTo>
                    <a:lnTo>
                      <a:pt x="322" y="345"/>
                    </a:lnTo>
                    <a:lnTo>
                      <a:pt x="301" y="371"/>
                    </a:lnTo>
                    <a:lnTo>
                      <a:pt x="278" y="399"/>
                    </a:lnTo>
                    <a:lnTo>
                      <a:pt x="259" y="426"/>
                    </a:lnTo>
                    <a:lnTo>
                      <a:pt x="240" y="457"/>
                    </a:lnTo>
                    <a:lnTo>
                      <a:pt x="221" y="487"/>
                    </a:lnTo>
                    <a:lnTo>
                      <a:pt x="202" y="518"/>
                    </a:lnTo>
                    <a:lnTo>
                      <a:pt x="186" y="546"/>
                    </a:lnTo>
                    <a:lnTo>
                      <a:pt x="171" y="580"/>
                    </a:lnTo>
                    <a:lnTo>
                      <a:pt x="157" y="613"/>
                    </a:lnTo>
                    <a:lnTo>
                      <a:pt x="144" y="647"/>
                    </a:lnTo>
                    <a:lnTo>
                      <a:pt x="131" y="684"/>
                    </a:lnTo>
                    <a:lnTo>
                      <a:pt x="116" y="730"/>
                    </a:lnTo>
                    <a:lnTo>
                      <a:pt x="105" y="772"/>
                    </a:lnTo>
                    <a:lnTo>
                      <a:pt x="95" y="816"/>
                    </a:lnTo>
                    <a:lnTo>
                      <a:pt x="89" y="858"/>
                    </a:lnTo>
                    <a:lnTo>
                      <a:pt x="82" y="908"/>
                    </a:lnTo>
                    <a:lnTo>
                      <a:pt x="77" y="970"/>
                    </a:lnTo>
                    <a:lnTo>
                      <a:pt x="76" y="1019"/>
                    </a:lnTo>
                    <a:lnTo>
                      <a:pt x="77" y="1067"/>
                    </a:lnTo>
                    <a:lnTo>
                      <a:pt x="81" y="1112"/>
                    </a:lnTo>
                    <a:lnTo>
                      <a:pt x="86" y="1155"/>
                    </a:lnTo>
                    <a:lnTo>
                      <a:pt x="92" y="1200"/>
                    </a:lnTo>
                    <a:lnTo>
                      <a:pt x="101" y="1245"/>
                    </a:lnTo>
                    <a:lnTo>
                      <a:pt x="114" y="1294"/>
                    </a:lnTo>
                    <a:lnTo>
                      <a:pt x="129" y="1344"/>
                    </a:lnTo>
                    <a:lnTo>
                      <a:pt x="145" y="1391"/>
                    </a:lnTo>
                    <a:lnTo>
                      <a:pt x="163" y="1437"/>
                    </a:lnTo>
                    <a:lnTo>
                      <a:pt x="184" y="1481"/>
                    </a:lnTo>
                    <a:lnTo>
                      <a:pt x="209" y="1524"/>
                    </a:lnTo>
                    <a:lnTo>
                      <a:pt x="0" y="1644"/>
                    </a:lnTo>
                    <a:lnTo>
                      <a:pt x="639" y="1739"/>
                    </a:lnTo>
                    <a:lnTo>
                      <a:pt x="873" y="1146"/>
                    </a:lnTo>
                    <a:lnTo>
                      <a:pt x="628" y="1279"/>
                    </a:lnTo>
                    <a:lnTo>
                      <a:pt x="604" y="1241"/>
                    </a:lnTo>
                    <a:lnTo>
                      <a:pt x="589" y="1207"/>
                    </a:lnTo>
                    <a:lnTo>
                      <a:pt x="576" y="1172"/>
                    </a:lnTo>
                    <a:lnTo>
                      <a:pt x="566" y="1137"/>
                    </a:lnTo>
                    <a:lnTo>
                      <a:pt x="560" y="1103"/>
                    </a:lnTo>
                    <a:lnTo>
                      <a:pt x="558" y="1070"/>
                    </a:lnTo>
                    <a:lnTo>
                      <a:pt x="555" y="1037"/>
                    </a:lnTo>
                    <a:lnTo>
                      <a:pt x="555" y="1004"/>
                    </a:lnTo>
                    <a:lnTo>
                      <a:pt x="557" y="965"/>
                    </a:lnTo>
                    <a:lnTo>
                      <a:pt x="561" y="927"/>
                    </a:lnTo>
                    <a:lnTo>
                      <a:pt x="569" y="884"/>
                    </a:lnTo>
                    <a:lnTo>
                      <a:pt x="579" y="850"/>
                    </a:lnTo>
                    <a:lnTo>
                      <a:pt x="593" y="812"/>
                    </a:lnTo>
                    <a:lnTo>
                      <a:pt x="606" y="779"/>
                    </a:lnTo>
                    <a:lnTo>
                      <a:pt x="624" y="747"/>
                    </a:lnTo>
                    <a:lnTo>
                      <a:pt x="639" y="722"/>
                    </a:lnTo>
                    <a:lnTo>
                      <a:pt x="653" y="702"/>
                    </a:lnTo>
                    <a:lnTo>
                      <a:pt x="668" y="682"/>
                    </a:lnTo>
                    <a:lnTo>
                      <a:pt x="685" y="662"/>
                    </a:lnTo>
                    <a:lnTo>
                      <a:pt x="703" y="641"/>
                    </a:lnTo>
                    <a:lnTo>
                      <a:pt x="719" y="626"/>
                    </a:lnTo>
                    <a:lnTo>
                      <a:pt x="737" y="607"/>
                    </a:lnTo>
                    <a:lnTo>
                      <a:pt x="754" y="592"/>
                    </a:lnTo>
                    <a:lnTo>
                      <a:pt x="776" y="576"/>
                    </a:lnTo>
                    <a:lnTo>
                      <a:pt x="801" y="559"/>
                    </a:lnTo>
                    <a:lnTo>
                      <a:pt x="822" y="545"/>
                    </a:lnTo>
                    <a:lnTo>
                      <a:pt x="840" y="534"/>
                    </a:lnTo>
                    <a:lnTo>
                      <a:pt x="866" y="519"/>
                    </a:lnTo>
                    <a:lnTo>
                      <a:pt x="891" y="509"/>
                    </a:lnTo>
                    <a:lnTo>
                      <a:pt x="931" y="497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8" name="Freeform 60"/>
              <p:cNvSpPr>
                <a:spLocks/>
              </p:cNvSpPr>
              <p:nvPr/>
            </p:nvSpPr>
            <p:spPr bwMode="auto">
              <a:xfrm>
                <a:off x="475" y="1869"/>
                <a:ext cx="154" cy="157"/>
              </a:xfrm>
              <a:custGeom>
                <a:avLst/>
                <a:gdLst>
                  <a:gd name="T0" fmla="*/ 546 w 1384"/>
                  <a:gd name="T1" fmla="*/ 234 h 1575"/>
                  <a:gd name="T2" fmla="*/ 596 w 1384"/>
                  <a:gd name="T3" fmla="*/ 244 h 1575"/>
                  <a:gd name="T4" fmla="*/ 635 w 1384"/>
                  <a:gd name="T5" fmla="*/ 254 h 1575"/>
                  <a:gd name="T6" fmla="*/ 676 w 1384"/>
                  <a:gd name="T7" fmla="*/ 267 h 1575"/>
                  <a:gd name="T8" fmla="*/ 717 w 1384"/>
                  <a:gd name="T9" fmla="*/ 280 h 1575"/>
                  <a:gd name="T10" fmla="*/ 765 w 1384"/>
                  <a:gd name="T11" fmla="*/ 300 h 1575"/>
                  <a:gd name="T12" fmla="*/ 810 w 1384"/>
                  <a:gd name="T13" fmla="*/ 320 h 1575"/>
                  <a:gd name="T14" fmla="*/ 854 w 1384"/>
                  <a:gd name="T15" fmla="*/ 342 h 1575"/>
                  <a:gd name="T16" fmla="*/ 892 w 1384"/>
                  <a:gd name="T17" fmla="*/ 365 h 1575"/>
                  <a:gd name="T18" fmla="*/ 930 w 1384"/>
                  <a:gd name="T19" fmla="*/ 390 h 1575"/>
                  <a:gd name="T20" fmla="*/ 972 w 1384"/>
                  <a:gd name="T21" fmla="*/ 420 h 1575"/>
                  <a:gd name="T22" fmla="*/ 1009 w 1384"/>
                  <a:gd name="T23" fmla="*/ 448 h 1575"/>
                  <a:gd name="T24" fmla="*/ 1067 w 1384"/>
                  <a:gd name="T25" fmla="*/ 500 h 1575"/>
                  <a:gd name="T26" fmla="*/ 1117 w 1384"/>
                  <a:gd name="T27" fmla="*/ 552 h 1575"/>
                  <a:gd name="T28" fmla="*/ 1157 w 1384"/>
                  <a:gd name="T29" fmla="*/ 600 h 1575"/>
                  <a:gd name="T30" fmla="*/ 1199 w 1384"/>
                  <a:gd name="T31" fmla="*/ 657 h 1575"/>
                  <a:gd name="T32" fmla="*/ 1238 w 1384"/>
                  <a:gd name="T33" fmla="*/ 717 h 1575"/>
                  <a:gd name="T34" fmla="*/ 1272 w 1384"/>
                  <a:gd name="T35" fmla="*/ 777 h 1575"/>
                  <a:gd name="T36" fmla="*/ 1303 w 1384"/>
                  <a:gd name="T37" fmla="*/ 844 h 1575"/>
                  <a:gd name="T38" fmla="*/ 1328 w 1384"/>
                  <a:gd name="T39" fmla="*/ 915 h 1575"/>
                  <a:gd name="T40" fmla="*/ 1354 w 1384"/>
                  <a:gd name="T41" fmla="*/ 1003 h 1575"/>
                  <a:gd name="T42" fmla="*/ 1370 w 1384"/>
                  <a:gd name="T43" fmla="*/ 1089 h 1575"/>
                  <a:gd name="T44" fmla="*/ 1382 w 1384"/>
                  <a:gd name="T45" fmla="*/ 1201 h 1575"/>
                  <a:gd name="T46" fmla="*/ 1382 w 1384"/>
                  <a:gd name="T47" fmla="*/ 1296 h 1575"/>
                  <a:gd name="T48" fmla="*/ 1373 w 1384"/>
                  <a:gd name="T49" fmla="*/ 1385 h 1575"/>
                  <a:gd name="T50" fmla="*/ 1358 w 1384"/>
                  <a:gd name="T51" fmla="*/ 1475 h 1575"/>
                  <a:gd name="T52" fmla="*/ 1330 w 1384"/>
                  <a:gd name="T53" fmla="*/ 1575 h 1575"/>
                  <a:gd name="T54" fmla="*/ 894 w 1384"/>
                  <a:gd name="T55" fmla="*/ 1350 h 1575"/>
                  <a:gd name="T56" fmla="*/ 905 w 1384"/>
                  <a:gd name="T57" fmla="*/ 1268 h 1575"/>
                  <a:gd name="T58" fmla="*/ 903 w 1384"/>
                  <a:gd name="T59" fmla="*/ 1194 h 1575"/>
                  <a:gd name="T60" fmla="*/ 890 w 1384"/>
                  <a:gd name="T61" fmla="*/ 1115 h 1575"/>
                  <a:gd name="T62" fmla="*/ 866 w 1384"/>
                  <a:gd name="T63" fmla="*/ 1042 h 1575"/>
                  <a:gd name="T64" fmla="*/ 835 w 1384"/>
                  <a:gd name="T65" fmla="*/ 978 h 1575"/>
                  <a:gd name="T66" fmla="*/ 806 w 1384"/>
                  <a:gd name="T67" fmla="*/ 933 h 1575"/>
                  <a:gd name="T68" fmla="*/ 774 w 1384"/>
                  <a:gd name="T69" fmla="*/ 893 h 1575"/>
                  <a:gd name="T70" fmla="*/ 740 w 1384"/>
                  <a:gd name="T71" fmla="*/ 856 h 1575"/>
                  <a:gd name="T72" fmla="*/ 704 w 1384"/>
                  <a:gd name="T73" fmla="*/ 822 h 1575"/>
                  <a:gd name="T74" fmla="*/ 657 w 1384"/>
                  <a:gd name="T75" fmla="*/ 791 h 1575"/>
                  <a:gd name="T76" fmla="*/ 618 w 1384"/>
                  <a:gd name="T77" fmla="*/ 766 h 1575"/>
                  <a:gd name="T78" fmla="*/ 569 w 1384"/>
                  <a:gd name="T79" fmla="*/ 742 h 1575"/>
                  <a:gd name="T80" fmla="*/ 528 w 1384"/>
                  <a:gd name="T81" fmla="*/ 727 h 1575"/>
                  <a:gd name="T82" fmla="*/ 467 w 1384"/>
                  <a:gd name="T83" fmla="*/ 714 h 1575"/>
                  <a:gd name="T84" fmla="*/ 406 w 1384"/>
                  <a:gd name="T85" fmla="*/ 709 h 1575"/>
                  <a:gd name="T86" fmla="*/ 389 w 1384"/>
                  <a:gd name="T87" fmla="*/ 964 h 1575"/>
                  <a:gd name="T88" fmla="*/ 388 w 1384"/>
                  <a:gd name="T89" fmla="*/ 0 h 1575"/>
                  <a:gd name="T90" fmla="*/ 409 w 1384"/>
                  <a:gd name="T91" fmla="*/ 221 h 1575"/>
                  <a:gd name="T92" fmla="*/ 471 w 1384"/>
                  <a:gd name="T93" fmla="*/ 224 h 1575"/>
                  <a:gd name="T94" fmla="*/ 527 w 1384"/>
                  <a:gd name="T95" fmla="*/ 23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84" h="1575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5"/>
                    </a:lnTo>
                    <a:lnTo>
                      <a:pt x="972" y="420"/>
                    </a:lnTo>
                    <a:lnTo>
                      <a:pt x="991" y="435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1"/>
                    </a:lnTo>
                    <a:lnTo>
                      <a:pt x="1384" y="1249"/>
                    </a:lnTo>
                    <a:lnTo>
                      <a:pt x="1382" y="1296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239" y="1290"/>
                    </a:lnTo>
                    <a:lnTo>
                      <a:pt x="894" y="1350"/>
                    </a:lnTo>
                    <a:lnTo>
                      <a:pt x="902" y="1300"/>
                    </a:lnTo>
                    <a:lnTo>
                      <a:pt x="905" y="1268"/>
                    </a:lnTo>
                    <a:lnTo>
                      <a:pt x="905" y="1234"/>
                    </a:lnTo>
                    <a:lnTo>
                      <a:pt x="903" y="1194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6" name="Text Box 66"/>
            <p:cNvSpPr txBox="1">
              <a:spLocks noChangeArrowheads="1"/>
            </p:cNvSpPr>
            <p:nvPr/>
          </p:nvSpPr>
          <p:spPr bwMode="auto">
            <a:xfrm>
              <a:off x="449" y="3699"/>
              <a:ext cx="496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/>
                <a:t>프로토타입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/>
                <a:t>반복</a:t>
              </a:r>
            </a:p>
          </p:txBody>
        </p:sp>
        <p:sp>
          <p:nvSpPr>
            <p:cNvPr id="47" name="Text Box 67"/>
            <p:cNvSpPr txBox="1">
              <a:spLocks noChangeArrowheads="1"/>
            </p:cNvSpPr>
            <p:nvPr/>
          </p:nvSpPr>
          <p:spPr bwMode="auto">
            <a:xfrm>
              <a:off x="509" y="4411"/>
              <a:ext cx="444" cy="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/>
                <a:t>개발 반복</a:t>
              </a:r>
            </a:p>
          </p:txBody>
        </p:sp>
        <p:sp>
          <p:nvSpPr>
            <p:cNvPr id="48" name="Text Box 69"/>
            <p:cNvSpPr txBox="1">
              <a:spLocks noChangeArrowheads="1"/>
            </p:cNvSpPr>
            <p:nvPr/>
          </p:nvSpPr>
          <p:spPr bwMode="auto">
            <a:xfrm>
              <a:off x="2122" y="2894"/>
              <a:ext cx="1902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D357A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5250" indent="-952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374650" indent="-825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현행 업무 및 시스템 분석을 통한 </a:t>
              </a:r>
              <a:r>
                <a:rPr lang="en-US" altLang="ko-KR" sz="1000">
                  <a:latin typeface="굴림" panose="020B0600000101010101" pitchFamily="50" charset="-127"/>
                </a:rPr>
                <a:t>URP </a:t>
              </a:r>
              <a:r>
                <a:rPr lang="ko-KR" altLang="en-US" sz="1000">
                  <a:latin typeface="굴림" panose="020B0600000101010101" pitchFamily="50" charset="-127"/>
                </a:rPr>
                <a:t>솔루션 과의 </a:t>
              </a:r>
              <a:r>
                <a:rPr lang="en-US" altLang="ko-KR" sz="1000">
                  <a:latin typeface="굴림" panose="020B0600000101010101" pitchFamily="50" charset="-127"/>
                </a:rPr>
                <a:t>Gap </a:t>
              </a:r>
              <a:r>
                <a:rPr lang="ko-KR" altLang="en-US" sz="1000">
                  <a:latin typeface="굴림" panose="020B0600000101010101" pitchFamily="50" charset="-127"/>
                </a:rPr>
                <a:t>도출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사용자 요구사항 정의</a:t>
              </a:r>
              <a:r>
                <a:rPr lang="en-US" altLang="ko-KR" sz="1000">
                  <a:latin typeface="굴림" panose="020B0600000101010101" pitchFamily="50" charset="-127"/>
                </a:rPr>
                <a:t>(</a:t>
              </a:r>
              <a:r>
                <a:rPr lang="ko-KR" altLang="en-US" sz="1000">
                  <a:latin typeface="굴림" panose="020B0600000101010101" pitchFamily="50" charset="-127"/>
                </a:rPr>
                <a:t>기능</a:t>
              </a:r>
              <a:r>
                <a:rPr lang="en-US" altLang="ko-KR" sz="1000">
                  <a:latin typeface="굴림" panose="020B0600000101010101" pitchFamily="50" charset="-127"/>
                </a:rPr>
                <a:t>, </a:t>
              </a:r>
              <a:r>
                <a:rPr lang="ko-KR" altLang="en-US" sz="1000">
                  <a:latin typeface="굴림" panose="020B0600000101010101" pitchFamily="50" charset="-127"/>
                </a:rPr>
                <a:t>기술</a:t>
              </a:r>
              <a:r>
                <a:rPr lang="en-US" altLang="ko-KR" sz="1000">
                  <a:latin typeface="굴림" panose="020B0600000101010101" pitchFamily="50" charset="-127"/>
                </a:rPr>
                <a:t>,</a:t>
              </a:r>
              <a:r>
                <a:rPr lang="ko-KR" altLang="en-US" sz="1000">
                  <a:latin typeface="굴림" panose="020B0600000101010101" pitchFamily="50" charset="-127"/>
                </a:rPr>
                <a:t>인터페이스</a:t>
              </a:r>
              <a:r>
                <a:rPr lang="en-US" altLang="ko-KR" sz="1000">
                  <a:latin typeface="굴림" panose="020B0600000101010101" pitchFamily="50" charset="-127"/>
                </a:rPr>
                <a:t>)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논리모델 구축</a:t>
              </a:r>
              <a:r>
                <a:rPr lang="en-US" altLang="ko-KR" sz="1000">
                  <a:latin typeface="굴림" panose="020B0600000101010101" pitchFamily="50" charset="-127"/>
                </a:rPr>
                <a:t>(</a:t>
              </a:r>
              <a:r>
                <a:rPr lang="ko-KR" altLang="en-US" sz="1000">
                  <a:latin typeface="굴림" panose="020B0600000101010101" pitchFamily="50" charset="-127"/>
                </a:rPr>
                <a:t>프로세스 및 데이터 모델링</a:t>
              </a:r>
              <a:r>
                <a:rPr lang="en-US" altLang="ko-KR" sz="1000">
                  <a:latin typeface="굴림" panose="020B0600000101010101" pitchFamily="50" charset="-127"/>
                </a:rPr>
                <a:t>)</a:t>
              </a:r>
            </a:p>
          </p:txBody>
        </p:sp>
        <p:sp>
          <p:nvSpPr>
            <p:cNvPr id="49" name="Text Box 70"/>
            <p:cNvSpPr txBox="1">
              <a:spLocks noChangeArrowheads="1"/>
            </p:cNvSpPr>
            <p:nvPr/>
          </p:nvSpPr>
          <p:spPr bwMode="auto">
            <a:xfrm>
              <a:off x="2122" y="3510"/>
              <a:ext cx="1793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D357A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5250" indent="-952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374650" indent="-825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외부 인터페이스 설계로 시스템간 연계 및 통합 설계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프로토타입 실시로 요구사항 검증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계획된 업무 단위별로 반복적 수행</a:t>
              </a:r>
            </a:p>
          </p:txBody>
        </p:sp>
        <p:sp>
          <p:nvSpPr>
            <p:cNvPr id="50" name="Text Box 71"/>
            <p:cNvSpPr txBox="1">
              <a:spLocks noChangeArrowheads="1"/>
            </p:cNvSpPr>
            <p:nvPr/>
          </p:nvSpPr>
          <p:spPr bwMode="auto">
            <a:xfrm>
              <a:off x="2122" y="4176"/>
              <a:ext cx="1793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D357A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5250" indent="-952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374650" indent="-825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업무 개발 및 시험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개발은 일련의 단위로 반복적 수행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철저한 단위 시험 실시로 표준 준수 및 결함 최소화에 역점</a:t>
              </a:r>
            </a:p>
          </p:txBody>
        </p:sp>
        <p:sp>
          <p:nvSpPr>
            <p:cNvPr id="51" name="Text Box 72"/>
            <p:cNvSpPr txBox="1">
              <a:spLocks noChangeArrowheads="1"/>
            </p:cNvSpPr>
            <p:nvPr/>
          </p:nvSpPr>
          <p:spPr bwMode="auto">
            <a:xfrm>
              <a:off x="2122" y="4952"/>
              <a:ext cx="1793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D357AA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5250" indent="-952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374650" indent="-82550"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 latinLnBrk="1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운영 환경에서 사용할 시스템 전개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운영 환경 준비</a:t>
              </a:r>
              <a:r>
                <a:rPr lang="en-US" altLang="ko-KR" sz="1000">
                  <a:latin typeface="굴림" panose="020B0600000101010101" pitchFamily="50" charset="-127"/>
                </a:rPr>
                <a:t>, </a:t>
              </a:r>
              <a:r>
                <a:rPr lang="ko-KR" altLang="en-US" sz="1000">
                  <a:latin typeface="굴림" panose="020B0600000101010101" pitchFamily="50" charset="-127"/>
                </a:rPr>
                <a:t>시스템 설치</a:t>
              </a:r>
              <a:r>
                <a:rPr lang="en-US" altLang="ko-KR" sz="1000">
                  <a:latin typeface="굴림" panose="020B0600000101010101" pitchFamily="50" charset="-127"/>
                </a:rPr>
                <a:t>, </a:t>
              </a:r>
              <a:r>
                <a:rPr lang="ko-KR" altLang="en-US" sz="1000">
                  <a:latin typeface="굴림" panose="020B0600000101010101" pitchFamily="50" charset="-127"/>
                </a:rPr>
                <a:t>시범 운영 실시로 시스템 유지보수 안정성 확보</a:t>
              </a:r>
            </a:p>
            <a:p>
              <a:pPr algn="just" eaLnBrk="0" latinLnBrk="0" hangingPunct="0">
                <a:buFont typeface="Wingdings" panose="05000000000000000000" pitchFamily="2" charset="2"/>
                <a:buChar char=""/>
              </a:pPr>
              <a:r>
                <a:rPr lang="ko-KR" altLang="en-US" sz="1000">
                  <a:latin typeface="굴림" panose="020B0600000101010101" pitchFamily="50" charset="-127"/>
                </a:rPr>
                <a:t>시스템 및 산출물 인수인계와 시스템 검수</a:t>
              </a:r>
            </a:p>
          </p:txBody>
        </p:sp>
        <p:sp>
          <p:nvSpPr>
            <p:cNvPr id="52" name="AutoShape 73"/>
            <p:cNvSpPr>
              <a:spLocks noChangeArrowheads="1"/>
            </p:cNvSpPr>
            <p:nvPr/>
          </p:nvSpPr>
          <p:spPr bwMode="auto">
            <a:xfrm>
              <a:off x="1135" y="4064"/>
              <a:ext cx="352" cy="23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3" name="AutoShape 74"/>
            <p:cNvSpPr>
              <a:spLocks noChangeArrowheads="1"/>
            </p:cNvSpPr>
            <p:nvPr/>
          </p:nvSpPr>
          <p:spPr bwMode="auto">
            <a:xfrm>
              <a:off x="1135" y="3374"/>
              <a:ext cx="352" cy="23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4" name="AutoShape 75"/>
            <p:cNvSpPr>
              <a:spLocks noChangeArrowheads="1"/>
            </p:cNvSpPr>
            <p:nvPr/>
          </p:nvSpPr>
          <p:spPr bwMode="auto">
            <a:xfrm>
              <a:off x="1135" y="4784"/>
              <a:ext cx="352" cy="23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55" name="Group 87"/>
            <p:cNvGrpSpPr>
              <a:grpSpLocks/>
            </p:cNvGrpSpPr>
            <p:nvPr/>
          </p:nvGrpSpPr>
          <p:grpSpPr bwMode="auto">
            <a:xfrm>
              <a:off x="977" y="2978"/>
              <a:ext cx="751" cy="340"/>
              <a:chOff x="978" y="3456"/>
              <a:chExt cx="1081" cy="227"/>
            </a:xfrm>
          </p:grpSpPr>
          <p:sp>
            <p:nvSpPr>
              <p:cNvPr id="63" name="AutoShape 88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64" name="AutoShape 89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56" name="Group 90"/>
            <p:cNvGrpSpPr>
              <a:grpSpLocks/>
            </p:cNvGrpSpPr>
            <p:nvPr/>
          </p:nvGrpSpPr>
          <p:grpSpPr bwMode="auto">
            <a:xfrm>
              <a:off x="951" y="2953"/>
              <a:ext cx="752" cy="341"/>
              <a:chOff x="978" y="3456"/>
              <a:chExt cx="1081" cy="227"/>
            </a:xfrm>
          </p:grpSpPr>
          <p:sp>
            <p:nvSpPr>
              <p:cNvPr id="61" name="AutoShape 91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62" name="AutoShape 92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57" name="Group 93"/>
            <p:cNvGrpSpPr>
              <a:grpSpLocks/>
            </p:cNvGrpSpPr>
            <p:nvPr/>
          </p:nvGrpSpPr>
          <p:grpSpPr bwMode="auto">
            <a:xfrm>
              <a:off x="924" y="2928"/>
              <a:ext cx="752" cy="341"/>
              <a:chOff x="978" y="3456"/>
              <a:chExt cx="1081" cy="227"/>
            </a:xfrm>
          </p:grpSpPr>
          <p:sp>
            <p:nvSpPr>
              <p:cNvPr id="59" name="AutoShape 94"/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60" name="AutoShape 95"/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8" name="Text Box 96"/>
            <p:cNvSpPr txBox="1">
              <a:spLocks noChangeArrowheads="1"/>
            </p:cNvSpPr>
            <p:nvPr/>
          </p:nvSpPr>
          <p:spPr bwMode="auto">
            <a:xfrm>
              <a:off x="1163" y="3015"/>
              <a:ext cx="29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1200"/>
                <a:t>분석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31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그룹 112"/>
          <p:cNvGrpSpPr/>
          <p:nvPr/>
        </p:nvGrpSpPr>
        <p:grpSpPr>
          <a:xfrm>
            <a:off x="3305124" y="346518"/>
            <a:ext cx="2780914" cy="3392475"/>
            <a:chOff x="3667511" y="2181225"/>
            <a:chExt cx="2780914" cy="3392475"/>
          </a:xfrm>
        </p:grpSpPr>
        <p:sp>
          <p:nvSpPr>
            <p:cNvPr id="15" name="Rectangle 201"/>
            <p:cNvSpPr>
              <a:spLocks noChangeArrowheads="1"/>
            </p:cNvSpPr>
            <p:nvPr/>
          </p:nvSpPr>
          <p:spPr bwMode="auto">
            <a:xfrm>
              <a:off x="3667511" y="218122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Arc 202"/>
            <p:cNvSpPr>
              <a:spLocks/>
            </p:cNvSpPr>
            <p:nvPr/>
          </p:nvSpPr>
          <p:spPr bwMode="auto">
            <a:xfrm flipH="1">
              <a:off x="3771858" y="226077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7" name="AutoShape 203"/>
            <p:cNvSpPr>
              <a:spLocks noChangeArrowheads="1"/>
            </p:cNvSpPr>
            <p:nvPr/>
          </p:nvSpPr>
          <p:spPr bwMode="auto">
            <a:xfrm>
              <a:off x="4540377" y="226666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8" name="Rectangle 204"/>
            <p:cNvSpPr>
              <a:spLocks noChangeArrowheads="1"/>
            </p:cNvSpPr>
            <p:nvPr/>
          </p:nvSpPr>
          <p:spPr bwMode="auto">
            <a:xfrm>
              <a:off x="3771858" y="277781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27" name="Group 228"/>
            <p:cNvGrpSpPr>
              <a:grpSpLocks/>
            </p:cNvGrpSpPr>
            <p:nvPr/>
          </p:nvGrpSpPr>
          <p:grpSpPr bwMode="auto">
            <a:xfrm>
              <a:off x="3682418" y="2251932"/>
              <a:ext cx="1891485" cy="290194"/>
              <a:chOff x="306" y="1284"/>
              <a:chExt cx="1122" cy="198"/>
            </a:xfrm>
          </p:grpSpPr>
          <p:grpSp>
            <p:nvGrpSpPr>
              <p:cNvPr id="83" name="Group 229"/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86" name="Picture 230" descr="C:\1_한진\한진\작업이미지\종합\itled-2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7" name="Text Box 231"/>
                <p:cNvSpPr txBox="1">
                  <a:spLocks noChangeArrowheads="1"/>
                </p:cNvSpPr>
                <p:nvPr/>
              </p:nvSpPr>
              <p:spPr bwMode="auto">
                <a:xfrm>
                  <a:off x="1808" y="3181"/>
                  <a:ext cx="239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2</a:t>
                  </a:r>
                </a:p>
              </p:txBody>
            </p:sp>
          </p:grpSp>
          <p:sp>
            <p:nvSpPr>
              <p:cNvPr id="84" name="Text Box 232"/>
              <p:cNvSpPr txBox="1">
                <a:spLocks noChangeArrowheads="1"/>
              </p:cNvSpPr>
              <p:nvPr/>
            </p:nvSpPr>
            <p:spPr bwMode="auto">
              <a:xfrm>
                <a:off x="461" y="1296"/>
                <a:ext cx="261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/>
                  <a:t>설계</a:t>
                </a:r>
              </a:p>
            </p:txBody>
          </p:sp>
          <p:sp>
            <p:nvSpPr>
              <p:cNvPr id="85" name="Line 233"/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35" name="Rectangle 247"/>
            <p:cNvSpPr>
              <a:spLocks noChangeArrowheads="1"/>
            </p:cNvSpPr>
            <p:nvPr/>
          </p:nvSpPr>
          <p:spPr bwMode="auto">
            <a:xfrm>
              <a:off x="4361498" y="4090321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시스템 설계</a:t>
              </a:r>
            </a:p>
          </p:txBody>
        </p:sp>
        <p:cxnSp>
          <p:nvCxnSpPr>
            <p:cNvPr id="36" name="AutoShape 248"/>
            <p:cNvCxnSpPr>
              <a:cxnSpLocks noChangeShapeType="1"/>
              <a:stCxn id="35" idx="2"/>
              <a:endCxn id="43" idx="0"/>
            </p:cNvCxnSpPr>
            <p:nvPr/>
          </p:nvCxnSpPr>
          <p:spPr bwMode="auto">
            <a:xfrm rot="5400000">
              <a:off x="4575706" y="4146296"/>
              <a:ext cx="355009" cy="665829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249"/>
            <p:cNvCxnSpPr>
              <a:cxnSpLocks noChangeShapeType="1"/>
              <a:stCxn id="35" idx="2"/>
              <a:endCxn id="44" idx="0"/>
            </p:cNvCxnSpPr>
            <p:nvPr/>
          </p:nvCxnSpPr>
          <p:spPr bwMode="auto">
            <a:xfrm rot="16200000" flipH="1">
              <a:off x="5236658" y="4151265"/>
              <a:ext cx="356482" cy="65589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250"/>
            <p:cNvCxnSpPr>
              <a:cxnSpLocks noChangeShapeType="1"/>
              <a:stCxn id="43" idx="2"/>
              <a:endCxn id="45" idx="0"/>
            </p:cNvCxnSpPr>
            <p:nvPr/>
          </p:nvCxnSpPr>
          <p:spPr bwMode="auto">
            <a:xfrm rot="16200000" flipH="1">
              <a:off x="4585644" y="4703489"/>
              <a:ext cx="355009" cy="685705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251"/>
            <p:cNvCxnSpPr>
              <a:cxnSpLocks noChangeShapeType="1"/>
              <a:stCxn id="44" idx="2"/>
              <a:endCxn id="45" idx="0"/>
            </p:cNvCxnSpPr>
            <p:nvPr/>
          </p:nvCxnSpPr>
          <p:spPr bwMode="auto">
            <a:xfrm rot="5400000">
              <a:off x="5246504" y="4728334"/>
              <a:ext cx="355009" cy="636016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40" name="Rectangle 252"/>
            <p:cNvSpPr>
              <a:spLocks noChangeArrowheads="1"/>
            </p:cNvSpPr>
            <p:nvPr/>
          </p:nvSpPr>
          <p:spPr bwMode="auto">
            <a:xfrm>
              <a:off x="4361498" y="3596843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이행 프로토타입</a:t>
              </a:r>
            </a:p>
          </p:txBody>
        </p:sp>
        <p:sp>
          <p:nvSpPr>
            <p:cNvPr id="41" name="Rectangle 253"/>
            <p:cNvSpPr>
              <a:spLocks noChangeArrowheads="1"/>
            </p:cNvSpPr>
            <p:nvPr/>
          </p:nvSpPr>
          <p:spPr bwMode="auto">
            <a:xfrm>
              <a:off x="4361498" y="3100419"/>
              <a:ext cx="1450912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다이얼로그 설계</a:t>
              </a:r>
            </a:p>
          </p:txBody>
        </p:sp>
        <p:sp>
          <p:nvSpPr>
            <p:cNvPr id="42" name="Rectangle 254"/>
            <p:cNvSpPr>
              <a:spLocks noChangeArrowheads="1"/>
            </p:cNvSpPr>
            <p:nvPr/>
          </p:nvSpPr>
          <p:spPr bwMode="auto">
            <a:xfrm>
              <a:off x="4361498" y="2606942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43" name="Rectangle 255"/>
            <p:cNvSpPr>
              <a:spLocks noChangeArrowheads="1"/>
            </p:cNvSpPr>
            <p:nvPr/>
          </p:nvSpPr>
          <p:spPr bwMode="auto">
            <a:xfrm>
              <a:off x="3824859" y="4655979"/>
              <a:ext cx="1192530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 설계</a:t>
              </a:r>
            </a:p>
          </p:txBody>
        </p:sp>
        <p:sp>
          <p:nvSpPr>
            <p:cNvPr id="44" name="Rectangle 256"/>
            <p:cNvSpPr>
              <a:spLocks noChangeArrowheads="1"/>
            </p:cNvSpPr>
            <p:nvPr/>
          </p:nvSpPr>
          <p:spPr bwMode="auto">
            <a:xfrm>
              <a:off x="5176393" y="4657452"/>
              <a:ext cx="1132904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설계</a:t>
              </a:r>
            </a:p>
          </p:txBody>
        </p:sp>
        <p:sp>
          <p:nvSpPr>
            <p:cNvPr id="45" name="Rectangle 257"/>
            <p:cNvSpPr>
              <a:spLocks noChangeArrowheads="1"/>
            </p:cNvSpPr>
            <p:nvPr/>
          </p:nvSpPr>
          <p:spPr bwMode="auto">
            <a:xfrm>
              <a:off x="4381373" y="522311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cxnSp>
          <p:nvCxnSpPr>
            <p:cNvPr id="46" name="AutoShape 258"/>
            <p:cNvCxnSpPr>
              <a:cxnSpLocks noChangeShapeType="1"/>
              <a:stCxn id="42" idx="2"/>
              <a:endCxn id="41" idx="0"/>
            </p:cNvCxnSpPr>
            <p:nvPr/>
          </p:nvCxnSpPr>
          <p:spPr bwMode="auto">
            <a:xfrm>
              <a:off x="5086953" y="2817590"/>
              <a:ext cx="0" cy="2828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259"/>
            <p:cNvCxnSpPr>
              <a:cxnSpLocks noChangeShapeType="1"/>
              <a:stCxn id="41" idx="2"/>
              <a:endCxn id="40" idx="0"/>
            </p:cNvCxnSpPr>
            <p:nvPr/>
          </p:nvCxnSpPr>
          <p:spPr bwMode="auto">
            <a:xfrm>
              <a:off x="5086953" y="3312541"/>
              <a:ext cx="0" cy="2843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260"/>
            <p:cNvCxnSpPr>
              <a:cxnSpLocks noChangeShapeType="1"/>
              <a:stCxn id="40" idx="2"/>
              <a:endCxn id="35" idx="0"/>
            </p:cNvCxnSpPr>
            <p:nvPr/>
          </p:nvCxnSpPr>
          <p:spPr bwMode="auto">
            <a:xfrm>
              <a:off x="5086953" y="3807492"/>
              <a:ext cx="0" cy="2828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115" name="그룹 114"/>
          <p:cNvGrpSpPr/>
          <p:nvPr/>
        </p:nvGrpSpPr>
        <p:grpSpPr>
          <a:xfrm>
            <a:off x="6245175" y="346517"/>
            <a:ext cx="2780914" cy="3392475"/>
            <a:chOff x="3667511" y="5859475"/>
            <a:chExt cx="2780914" cy="3392475"/>
          </a:xfrm>
        </p:grpSpPr>
        <p:sp>
          <p:nvSpPr>
            <p:cNvPr id="5" name="Rectangle 181"/>
            <p:cNvSpPr>
              <a:spLocks noChangeArrowheads="1"/>
            </p:cNvSpPr>
            <p:nvPr/>
          </p:nvSpPr>
          <p:spPr bwMode="auto">
            <a:xfrm>
              <a:off x="3667511" y="585947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" name="Arc 182"/>
            <p:cNvSpPr>
              <a:spLocks/>
            </p:cNvSpPr>
            <p:nvPr/>
          </p:nvSpPr>
          <p:spPr bwMode="auto">
            <a:xfrm flipH="1">
              <a:off x="3771858" y="593902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AutoShape 183"/>
            <p:cNvSpPr>
              <a:spLocks noChangeArrowheads="1"/>
            </p:cNvSpPr>
            <p:nvPr/>
          </p:nvSpPr>
          <p:spPr bwMode="auto">
            <a:xfrm>
              <a:off x="4540377" y="594491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8" name="Rectangle 184"/>
            <p:cNvSpPr>
              <a:spLocks noChangeArrowheads="1"/>
            </p:cNvSpPr>
            <p:nvPr/>
          </p:nvSpPr>
          <p:spPr bwMode="auto">
            <a:xfrm>
              <a:off x="3771858" y="645606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14" name="Group 195"/>
            <p:cNvGrpSpPr>
              <a:grpSpLocks/>
            </p:cNvGrpSpPr>
            <p:nvPr/>
          </p:nvGrpSpPr>
          <p:grpSpPr bwMode="auto">
            <a:xfrm>
              <a:off x="3682418" y="5930182"/>
              <a:ext cx="1891485" cy="290194"/>
              <a:chOff x="306" y="1284"/>
              <a:chExt cx="1122" cy="198"/>
            </a:xfrm>
          </p:grpSpPr>
          <p:grpSp>
            <p:nvGrpSpPr>
              <p:cNvPr id="102" name="Group 196"/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105" name="Picture 197" descr="C:\1_한진\한진\작업이미지\종합\itled-2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6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1808" y="3180"/>
                  <a:ext cx="239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3</a:t>
                  </a:r>
                </a:p>
              </p:txBody>
            </p:sp>
          </p:grpSp>
          <p:sp>
            <p:nvSpPr>
              <p:cNvPr id="103" name="Text Box 199"/>
              <p:cNvSpPr txBox="1">
                <a:spLocks noChangeArrowheads="1"/>
              </p:cNvSpPr>
              <p:nvPr/>
            </p:nvSpPr>
            <p:spPr bwMode="auto">
              <a:xfrm>
                <a:off x="461" y="1297"/>
                <a:ext cx="261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/>
                  <a:t>구축</a:t>
                </a:r>
              </a:p>
            </p:txBody>
          </p:sp>
          <p:sp>
            <p:nvSpPr>
              <p:cNvPr id="104" name="Line 200"/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cxnSp>
          <p:nvCxnSpPr>
            <p:cNvPr id="49" name="AutoShape 262"/>
            <p:cNvCxnSpPr>
              <a:cxnSpLocks noChangeShapeType="1"/>
              <a:stCxn id="53" idx="2"/>
              <a:endCxn id="54" idx="0"/>
            </p:cNvCxnSpPr>
            <p:nvPr/>
          </p:nvCxnSpPr>
          <p:spPr bwMode="auto">
            <a:xfrm rot="5400000">
              <a:off x="4400502" y="6514989"/>
              <a:ext cx="707073" cy="66582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263"/>
            <p:cNvCxnSpPr>
              <a:cxnSpLocks noChangeShapeType="1"/>
              <a:stCxn id="53" idx="2"/>
              <a:endCxn id="55" idx="0"/>
            </p:cNvCxnSpPr>
            <p:nvPr/>
          </p:nvCxnSpPr>
          <p:spPr bwMode="auto">
            <a:xfrm rot="16200000" flipH="1">
              <a:off x="5061363" y="6519958"/>
              <a:ext cx="707073" cy="65589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" name="AutoShape 264"/>
            <p:cNvCxnSpPr>
              <a:cxnSpLocks noChangeShapeType="1"/>
              <a:stCxn id="54" idx="2"/>
              <a:endCxn id="57" idx="0"/>
            </p:cNvCxnSpPr>
            <p:nvPr/>
          </p:nvCxnSpPr>
          <p:spPr bwMode="auto">
            <a:xfrm rot="16200000" flipH="1">
              <a:off x="4444229" y="7531779"/>
              <a:ext cx="637838" cy="685705"/>
            </a:xfrm>
            <a:prstGeom prst="bentConnector3">
              <a:avLst>
                <a:gd name="adj1" fmla="val 4988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265"/>
            <p:cNvCxnSpPr>
              <a:cxnSpLocks noChangeShapeType="1"/>
              <a:stCxn id="55" idx="2"/>
              <a:endCxn id="57" idx="0"/>
            </p:cNvCxnSpPr>
            <p:nvPr/>
          </p:nvCxnSpPr>
          <p:spPr bwMode="auto">
            <a:xfrm rot="5400000">
              <a:off x="5105181" y="7555151"/>
              <a:ext cx="639311" cy="636016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3" name="Rectangle 267"/>
            <p:cNvSpPr>
              <a:spLocks noChangeArrowheads="1"/>
            </p:cNvSpPr>
            <p:nvPr/>
          </p:nvSpPr>
          <p:spPr bwMode="auto">
            <a:xfrm>
              <a:off x="4361498" y="6283719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54" name="Rectangle 268"/>
            <p:cNvSpPr>
              <a:spLocks noChangeArrowheads="1"/>
            </p:cNvSpPr>
            <p:nvPr/>
          </p:nvSpPr>
          <p:spPr bwMode="auto">
            <a:xfrm>
              <a:off x="3824859" y="7201440"/>
              <a:ext cx="1192530" cy="353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코딩 및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단위테스트 준비</a:t>
              </a:r>
            </a:p>
          </p:txBody>
        </p:sp>
        <p:sp>
          <p:nvSpPr>
            <p:cNvPr id="55" name="Rectangle 269"/>
            <p:cNvSpPr>
              <a:spLocks noChangeArrowheads="1"/>
            </p:cNvSpPr>
            <p:nvPr/>
          </p:nvSpPr>
          <p:spPr bwMode="auto">
            <a:xfrm>
              <a:off x="5176393" y="7201440"/>
              <a:ext cx="1132904" cy="352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단위테스트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준비</a:t>
              </a:r>
            </a:p>
          </p:txBody>
        </p:sp>
        <p:sp>
          <p:nvSpPr>
            <p:cNvPr id="56" name="Rectangle 270"/>
            <p:cNvSpPr>
              <a:spLocks noChangeArrowheads="1"/>
            </p:cNvSpPr>
            <p:nvPr/>
          </p:nvSpPr>
          <p:spPr bwMode="auto">
            <a:xfrm>
              <a:off x="4381373" y="8899887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sp>
          <p:nvSpPr>
            <p:cNvPr id="57" name="Rectangle 273"/>
            <p:cNvSpPr>
              <a:spLocks noChangeArrowheads="1"/>
            </p:cNvSpPr>
            <p:nvPr/>
          </p:nvSpPr>
          <p:spPr bwMode="auto">
            <a:xfrm>
              <a:off x="4381373" y="8192814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실시</a:t>
              </a:r>
            </a:p>
          </p:txBody>
        </p:sp>
        <p:cxnSp>
          <p:nvCxnSpPr>
            <p:cNvPr id="58" name="AutoShape 276"/>
            <p:cNvCxnSpPr>
              <a:cxnSpLocks noChangeShapeType="1"/>
              <a:stCxn id="57" idx="2"/>
              <a:endCxn id="56" idx="0"/>
            </p:cNvCxnSpPr>
            <p:nvPr/>
          </p:nvCxnSpPr>
          <p:spPr bwMode="auto">
            <a:xfrm>
              <a:off x="5106829" y="8403463"/>
              <a:ext cx="0" cy="4964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112" name="그룹 111"/>
          <p:cNvGrpSpPr/>
          <p:nvPr/>
        </p:nvGrpSpPr>
        <p:grpSpPr>
          <a:xfrm>
            <a:off x="351157" y="346519"/>
            <a:ext cx="2780914" cy="3392475"/>
            <a:chOff x="485775" y="2181225"/>
            <a:chExt cx="2780914" cy="3392475"/>
          </a:xfrm>
        </p:grpSpPr>
        <p:sp>
          <p:nvSpPr>
            <p:cNvPr id="19" name="Rectangle 205"/>
            <p:cNvSpPr>
              <a:spLocks noChangeArrowheads="1"/>
            </p:cNvSpPr>
            <p:nvPr/>
          </p:nvSpPr>
          <p:spPr bwMode="auto">
            <a:xfrm>
              <a:off x="485775" y="218122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Arc 206"/>
            <p:cNvSpPr>
              <a:spLocks/>
            </p:cNvSpPr>
            <p:nvPr/>
          </p:nvSpPr>
          <p:spPr bwMode="auto">
            <a:xfrm flipH="1">
              <a:off x="590121" y="226077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21" name="AutoShape 207"/>
            <p:cNvSpPr>
              <a:spLocks noChangeArrowheads="1"/>
            </p:cNvSpPr>
            <p:nvPr/>
          </p:nvSpPr>
          <p:spPr bwMode="auto">
            <a:xfrm>
              <a:off x="1358641" y="226666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22" name="Rectangle 208"/>
            <p:cNvSpPr>
              <a:spLocks noChangeArrowheads="1"/>
            </p:cNvSpPr>
            <p:nvPr/>
          </p:nvSpPr>
          <p:spPr bwMode="auto">
            <a:xfrm>
              <a:off x="590121" y="277781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24" name="Group 213"/>
            <p:cNvGrpSpPr>
              <a:grpSpLocks/>
            </p:cNvGrpSpPr>
            <p:nvPr/>
          </p:nvGrpSpPr>
          <p:grpSpPr bwMode="auto">
            <a:xfrm>
              <a:off x="515588" y="2251932"/>
              <a:ext cx="1891485" cy="290194"/>
              <a:chOff x="306" y="1284"/>
              <a:chExt cx="1122" cy="198"/>
            </a:xfrm>
          </p:grpSpPr>
          <p:grpSp>
            <p:nvGrpSpPr>
              <p:cNvPr id="94" name="Group 214"/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97" name="Picture 215" descr="C:\1_한진\한진\작업이미지\종합\itled-2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98" name="Text Box 216"/>
                <p:cNvSpPr txBox="1">
                  <a:spLocks noChangeArrowheads="1"/>
                </p:cNvSpPr>
                <p:nvPr/>
              </p:nvSpPr>
              <p:spPr bwMode="auto">
                <a:xfrm>
                  <a:off x="1807" y="3181"/>
                  <a:ext cx="240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1</a:t>
                  </a:r>
                </a:p>
              </p:txBody>
            </p:sp>
          </p:grpSp>
          <p:sp>
            <p:nvSpPr>
              <p:cNvPr id="95" name="Text Box 217"/>
              <p:cNvSpPr txBox="1">
                <a:spLocks noChangeArrowheads="1"/>
              </p:cNvSpPr>
              <p:nvPr/>
            </p:nvSpPr>
            <p:spPr bwMode="auto">
              <a:xfrm>
                <a:off x="461" y="1296"/>
                <a:ext cx="261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 dirty="0"/>
                  <a:t>분석</a:t>
                </a:r>
              </a:p>
            </p:txBody>
          </p:sp>
          <p:sp>
            <p:nvSpPr>
              <p:cNvPr id="96" name="Line 218"/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28" name="Rectangle 235"/>
            <p:cNvSpPr>
              <a:spLocks noChangeArrowheads="1"/>
            </p:cNvSpPr>
            <p:nvPr/>
          </p:nvSpPr>
          <p:spPr bwMode="auto">
            <a:xfrm>
              <a:off x="1121791" y="3100419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29" name="Rectangle 236"/>
            <p:cNvSpPr>
              <a:spLocks noChangeArrowheads="1"/>
            </p:cNvSpPr>
            <p:nvPr/>
          </p:nvSpPr>
          <p:spPr bwMode="auto">
            <a:xfrm>
              <a:off x="1121791" y="2606942"/>
              <a:ext cx="1450912" cy="352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프로젝트 착수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및 계획 수립</a:t>
              </a:r>
            </a:p>
          </p:txBody>
        </p:sp>
        <p:sp>
          <p:nvSpPr>
            <p:cNvPr id="30" name="Rectangle 237"/>
            <p:cNvSpPr>
              <a:spLocks noChangeArrowheads="1"/>
            </p:cNvSpPr>
            <p:nvPr/>
          </p:nvSpPr>
          <p:spPr bwMode="auto">
            <a:xfrm>
              <a:off x="724281" y="3524663"/>
              <a:ext cx="1033526" cy="494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URP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아키텍쳐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검증</a:t>
              </a:r>
            </a:p>
          </p:txBody>
        </p:sp>
        <p:sp>
          <p:nvSpPr>
            <p:cNvPr id="31" name="Rectangle 238"/>
            <p:cNvSpPr>
              <a:spLocks noChangeArrowheads="1"/>
            </p:cNvSpPr>
            <p:nvPr/>
          </p:nvSpPr>
          <p:spPr bwMode="auto">
            <a:xfrm>
              <a:off x="1996313" y="3524663"/>
              <a:ext cx="1033526" cy="494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업무</a:t>
              </a:r>
              <a:r>
                <a:rPr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/URP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기능과의</a:t>
              </a:r>
            </a:p>
            <a:p>
              <a:pPr latinLnBrk="1">
                <a:lnSpc>
                  <a:spcPct val="100000"/>
                </a:lnSpc>
              </a:pPr>
              <a:r>
                <a:rPr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Gap </a:t>
              </a: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도출</a:t>
              </a:r>
            </a:p>
          </p:txBody>
        </p:sp>
        <p:sp>
          <p:nvSpPr>
            <p:cNvPr id="32" name="Rectangle 240"/>
            <p:cNvSpPr>
              <a:spLocks noChangeArrowheads="1"/>
            </p:cNvSpPr>
            <p:nvPr/>
          </p:nvSpPr>
          <p:spPr bwMode="auto">
            <a:xfrm>
              <a:off x="1121791" y="4231735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사용자 요구사항 정의</a:t>
              </a:r>
            </a:p>
          </p:txBody>
        </p:sp>
        <p:sp>
          <p:nvSpPr>
            <p:cNvPr id="33" name="Rectangle 241"/>
            <p:cNvSpPr>
              <a:spLocks noChangeArrowheads="1"/>
            </p:cNvSpPr>
            <p:nvPr/>
          </p:nvSpPr>
          <p:spPr bwMode="auto">
            <a:xfrm>
              <a:off x="1121791" y="522311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cxnSp>
          <p:nvCxnSpPr>
            <p:cNvPr id="34" name="AutoShape 242"/>
            <p:cNvCxnSpPr>
              <a:cxnSpLocks noChangeShapeType="1"/>
              <a:stCxn id="29" idx="2"/>
              <a:endCxn id="28" idx="0"/>
            </p:cNvCxnSpPr>
            <p:nvPr/>
          </p:nvCxnSpPr>
          <p:spPr bwMode="auto">
            <a:xfrm>
              <a:off x="1847247" y="2959005"/>
              <a:ext cx="0" cy="14141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287"/>
            <p:cNvCxnSpPr>
              <a:cxnSpLocks noChangeShapeType="1"/>
              <a:stCxn id="28" idx="2"/>
              <a:endCxn id="30" idx="0"/>
            </p:cNvCxnSpPr>
            <p:nvPr/>
          </p:nvCxnSpPr>
          <p:spPr bwMode="auto">
            <a:xfrm rot="5400000">
              <a:off x="1436520" y="3115501"/>
              <a:ext cx="213595" cy="606203"/>
            </a:xfrm>
            <a:prstGeom prst="bentConnector3">
              <a:avLst>
                <a:gd name="adj1" fmla="val 4965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288"/>
            <p:cNvCxnSpPr>
              <a:cxnSpLocks noChangeShapeType="1"/>
              <a:stCxn id="28" idx="2"/>
              <a:endCxn id="31" idx="0"/>
            </p:cNvCxnSpPr>
            <p:nvPr/>
          </p:nvCxnSpPr>
          <p:spPr bwMode="auto">
            <a:xfrm rot="16200000" flipH="1">
              <a:off x="2072536" y="3085687"/>
              <a:ext cx="213595" cy="665829"/>
            </a:xfrm>
            <a:prstGeom prst="bentConnector3">
              <a:avLst>
                <a:gd name="adj1" fmla="val 4965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289"/>
            <p:cNvCxnSpPr>
              <a:cxnSpLocks noChangeShapeType="1"/>
              <a:stCxn id="30" idx="2"/>
              <a:endCxn id="32" idx="0"/>
            </p:cNvCxnSpPr>
            <p:nvPr/>
          </p:nvCxnSpPr>
          <p:spPr bwMode="auto">
            <a:xfrm rot="16200000" flipH="1">
              <a:off x="1438085" y="3822573"/>
              <a:ext cx="212122" cy="606203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290"/>
            <p:cNvCxnSpPr>
              <a:cxnSpLocks noChangeShapeType="1"/>
              <a:stCxn id="31" idx="2"/>
              <a:endCxn id="32" idx="0"/>
            </p:cNvCxnSpPr>
            <p:nvPr/>
          </p:nvCxnSpPr>
          <p:spPr bwMode="auto">
            <a:xfrm rot="5400000">
              <a:off x="2074101" y="3792760"/>
              <a:ext cx="212122" cy="66582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3" name="Rectangle 292"/>
            <p:cNvSpPr>
              <a:spLocks noChangeArrowheads="1"/>
            </p:cNvSpPr>
            <p:nvPr/>
          </p:nvSpPr>
          <p:spPr bwMode="auto">
            <a:xfrm>
              <a:off x="644779" y="4655979"/>
              <a:ext cx="1192530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논리 모델 구축</a:t>
              </a:r>
            </a:p>
          </p:txBody>
        </p:sp>
        <p:sp>
          <p:nvSpPr>
            <p:cNvPr id="74" name="Rectangle 293"/>
            <p:cNvSpPr>
              <a:spLocks noChangeArrowheads="1"/>
            </p:cNvSpPr>
            <p:nvPr/>
          </p:nvSpPr>
          <p:spPr bwMode="auto">
            <a:xfrm>
              <a:off x="1916811" y="4655979"/>
              <a:ext cx="1212406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개발 표준 정의</a:t>
              </a:r>
            </a:p>
          </p:txBody>
        </p:sp>
        <p:cxnSp>
          <p:nvCxnSpPr>
            <p:cNvPr id="75" name="AutoShape 295"/>
            <p:cNvCxnSpPr>
              <a:cxnSpLocks noChangeShapeType="1"/>
              <a:stCxn id="32" idx="2"/>
              <a:endCxn id="73" idx="0"/>
            </p:cNvCxnSpPr>
            <p:nvPr/>
          </p:nvCxnSpPr>
          <p:spPr bwMode="auto">
            <a:xfrm rot="5400000">
              <a:off x="1436520" y="4246817"/>
              <a:ext cx="213595" cy="606203"/>
            </a:xfrm>
            <a:prstGeom prst="bentConnector3">
              <a:avLst>
                <a:gd name="adj1" fmla="val 4965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AutoShape 296"/>
            <p:cNvCxnSpPr>
              <a:cxnSpLocks noChangeShapeType="1"/>
              <a:stCxn id="32" idx="2"/>
              <a:endCxn id="74" idx="0"/>
            </p:cNvCxnSpPr>
            <p:nvPr/>
          </p:nvCxnSpPr>
          <p:spPr bwMode="auto">
            <a:xfrm rot="16200000" flipH="1">
              <a:off x="2077505" y="4212034"/>
              <a:ext cx="213595" cy="675767"/>
            </a:xfrm>
            <a:prstGeom prst="bentConnector3">
              <a:avLst>
                <a:gd name="adj1" fmla="val 4965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AutoShape 297"/>
            <p:cNvCxnSpPr>
              <a:cxnSpLocks noChangeShapeType="1"/>
              <a:stCxn id="73" idx="2"/>
              <a:endCxn id="33" idx="0"/>
            </p:cNvCxnSpPr>
            <p:nvPr/>
          </p:nvCxnSpPr>
          <p:spPr bwMode="auto">
            <a:xfrm rot="16200000" flipH="1">
              <a:off x="1365813" y="4743240"/>
              <a:ext cx="355009" cy="606203"/>
            </a:xfrm>
            <a:prstGeom prst="bentConnector3">
              <a:avLst>
                <a:gd name="adj1" fmla="val 4979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AutoShape 298"/>
            <p:cNvCxnSpPr>
              <a:cxnSpLocks noChangeShapeType="1"/>
              <a:stCxn id="74" idx="2"/>
              <a:endCxn id="33" idx="0"/>
            </p:cNvCxnSpPr>
            <p:nvPr/>
          </p:nvCxnSpPr>
          <p:spPr bwMode="auto">
            <a:xfrm rot="5400000">
              <a:off x="2006889" y="4706985"/>
              <a:ext cx="356482" cy="6757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4" name="그룹 113"/>
          <p:cNvGrpSpPr/>
          <p:nvPr/>
        </p:nvGrpSpPr>
        <p:grpSpPr>
          <a:xfrm>
            <a:off x="9178468" y="344307"/>
            <a:ext cx="2780914" cy="3392475"/>
            <a:chOff x="485775" y="5859475"/>
            <a:chExt cx="2780914" cy="3392475"/>
          </a:xfrm>
        </p:grpSpPr>
        <p:sp>
          <p:nvSpPr>
            <p:cNvPr id="9" name="Rectangle 185"/>
            <p:cNvSpPr>
              <a:spLocks noChangeArrowheads="1"/>
            </p:cNvSpPr>
            <p:nvPr/>
          </p:nvSpPr>
          <p:spPr bwMode="auto">
            <a:xfrm>
              <a:off x="485775" y="585947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Arc 186"/>
            <p:cNvSpPr>
              <a:spLocks/>
            </p:cNvSpPr>
            <p:nvPr/>
          </p:nvSpPr>
          <p:spPr bwMode="auto">
            <a:xfrm flipH="1">
              <a:off x="590121" y="593902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1" name="AutoShape 187"/>
            <p:cNvSpPr>
              <a:spLocks noChangeArrowheads="1"/>
            </p:cNvSpPr>
            <p:nvPr/>
          </p:nvSpPr>
          <p:spPr bwMode="auto">
            <a:xfrm>
              <a:off x="1358641" y="594491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2" name="Rectangle 188"/>
            <p:cNvSpPr>
              <a:spLocks noChangeArrowheads="1"/>
            </p:cNvSpPr>
            <p:nvPr/>
          </p:nvSpPr>
          <p:spPr bwMode="auto">
            <a:xfrm>
              <a:off x="590121" y="645606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13" name="Group 189"/>
            <p:cNvGrpSpPr>
              <a:grpSpLocks/>
            </p:cNvGrpSpPr>
            <p:nvPr/>
          </p:nvGrpSpPr>
          <p:grpSpPr bwMode="auto">
            <a:xfrm>
              <a:off x="515588" y="5930182"/>
              <a:ext cx="1891485" cy="290194"/>
              <a:chOff x="306" y="1284"/>
              <a:chExt cx="1122" cy="198"/>
            </a:xfrm>
          </p:grpSpPr>
          <p:grpSp>
            <p:nvGrpSpPr>
              <p:cNvPr id="107" name="Group 190"/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110" name="Picture 191" descr="C:\1_한진\한진\작업이미지\종합\itled-2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1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1807" y="3180"/>
                  <a:ext cx="240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4</a:t>
                  </a:r>
                </a:p>
              </p:txBody>
            </p:sp>
          </p:grpSp>
          <p:sp>
            <p:nvSpPr>
              <p:cNvPr id="108" name="Text Box 193"/>
              <p:cNvSpPr txBox="1">
                <a:spLocks noChangeArrowheads="1"/>
              </p:cNvSpPr>
              <p:nvPr/>
            </p:nvSpPr>
            <p:spPr bwMode="auto">
              <a:xfrm>
                <a:off x="461" y="1297"/>
                <a:ext cx="261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 dirty="0"/>
                  <a:t>전개</a:t>
                </a:r>
              </a:p>
            </p:txBody>
          </p:sp>
          <p:sp>
            <p:nvSpPr>
              <p:cNvPr id="109" name="Line 194"/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cxnSp>
          <p:nvCxnSpPr>
            <p:cNvPr id="59" name="AutoShape 277"/>
            <p:cNvCxnSpPr>
              <a:cxnSpLocks noChangeShapeType="1"/>
              <a:stCxn id="63" idx="2"/>
              <a:endCxn id="64" idx="0"/>
            </p:cNvCxnSpPr>
            <p:nvPr/>
          </p:nvCxnSpPr>
          <p:spPr bwMode="auto">
            <a:xfrm rot="5400000">
              <a:off x="1430979" y="6302867"/>
              <a:ext cx="284302" cy="665829"/>
            </a:xfrm>
            <a:prstGeom prst="bentConnector3">
              <a:avLst>
                <a:gd name="adj1" fmla="val 49741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278"/>
            <p:cNvCxnSpPr>
              <a:cxnSpLocks noChangeShapeType="1"/>
              <a:stCxn id="63" idx="2"/>
              <a:endCxn id="65" idx="0"/>
            </p:cNvCxnSpPr>
            <p:nvPr/>
          </p:nvCxnSpPr>
          <p:spPr bwMode="auto">
            <a:xfrm rot="16200000" flipH="1">
              <a:off x="2066995" y="6332680"/>
              <a:ext cx="284302" cy="606203"/>
            </a:xfrm>
            <a:prstGeom prst="bentConnector3">
              <a:avLst>
                <a:gd name="adj1" fmla="val 49741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279"/>
            <p:cNvCxnSpPr>
              <a:cxnSpLocks noChangeShapeType="1"/>
              <a:stCxn id="79" idx="2"/>
              <a:endCxn id="67" idx="0"/>
            </p:cNvCxnSpPr>
            <p:nvPr/>
          </p:nvCxnSpPr>
          <p:spPr bwMode="auto">
            <a:xfrm rot="16200000" flipH="1">
              <a:off x="1407128" y="7459599"/>
              <a:ext cx="353536" cy="685705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280"/>
            <p:cNvCxnSpPr>
              <a:cxnSpLocks noChangeShapeType="1"/>
              <a:stCxn id="65" idx="2"/>
              <a:endCxn id="67" idx="0"/>
            </p:cNvCxnSpPr>
            <p:nvPr/>
          </p:nvCxnSpPr>
          <p:spPr bwMode="auto">
            <a:xfrm rot="5400000">
              <a:off x="2043144" y="7509288"/>
              <a:ext cx="353536" cy="586327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3" name="Rectangle 281"/>
            <p:cNvSpPr>
              <a:spLocks noChangeArrowheads="1"/>
            </p:cNvSpPr>
            <p:nvPr/>
          </p:nvSpPr>
          <p:spPr bwMode="auto">
            <a:xfrm>
              <a:off x="1181418" y="6282246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64" name="Rectangle 282"/>
            <p:cNvSpPr>
              <a:spLocks noChangeArrowheads="1"/>
            </p:cNvSpPr>
            <p:nvPr/>
          </p:nvSpPr>
          <p:spPr bwMode="auto">
            <a:xfrm>
              <a:off x="724281" y="6777196"/>
              <a:ext cx="1033526" cy="353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시스템 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사용 교육 준비</a:t>
              </a:r>
            </a:p>
          </p:txBody>
        </p:sp>
        <p:sp>
          <p:nvSpPr>
            <p:cNvPr id="65" name="Rectangle 283"/>
            <p:cNvSpPr>
              <a:spLocks noChangeArrowheads="1"/>
            </p:cNvSpPr>
            <p:nvPr/>
          </p:nvSpPr>
          <p:spPr bwMode="auto">
            <a:xfrm>
              <a:off x="1996313" y="6777196"/>
              <a:ext cx="1033526" cy="8484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시스템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설치</a:t>
              </a:r>
            </a:p>
          </p:txBody>
        </p:sp>
        <p:sp>
          <p:nvSpPr>
            <p:cNvPr id="66" name="Rectangle 284"/>
            <p:cNvSpPr>
              <a:spLocks noChangeArrowheads="1"/>
            </p:cNvSpPr>
            <p:nvPr/>
          </p:nvSpPr>
          <p:spPr bwMode="auto">
            <a:xfrm>
              <a:off x="1201293" y="882918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sp>
          <p:nvSpPr>
            <p:cNvPr id="67" name="Rectangle 285"/>
            <p:cNvSpPr>
              <a:spLocks noChangeArrowheads="1"/>
            </p:cNvSpPr>
            <p:nvPr/>
          </p:nvSpPr>
          <p:spPr bwMode="auto">
            <a:xfrm>
              <a:off x="1201293" y="797922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시스템 </a:t>
              </a:r>
              <a:r>
                <a:rPr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Open</a:t>
              </a:r>
            </a:p>
          </p:txBody>
        </p:sp>
        <p:cxnSp>
          <p:nvCxnSpPr>
            <p:cNvPr id="68" name="AutoShape 286"/>
            <p:cNvCxnSpPr>
              <a:cxnSpLocks noChangeShapeType="1"/>
              <a:stCxn id="67" idx="2"/>
              <a:endCxn id="81" idx="0"/>
            </p:cNvCxnSpPr>
            <p:nvPr/>
          </p:nvCxnSpPr>
          <p:spPr bwMode="auto">
            <a:xfrm>
              <a:off x="1926749" y="8189868"/>
              <a:ext cx="0" cy="21359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9" name="Rectangle 299"/>
            <p:cNvSpPr>
              <a:spLocks noChangeArrowheads="1"/>
            </p:cNvSpPr>
            <p:nvPr/>
          </p:nvSpPr>
          <p:spPr bwMode="auto">
            <a:xfrm>
              <a:off x="724281" y="7272147"/>
              <a:ext cx="1033526" cy="353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시스템</a:t>
              </a:r>
            </a:p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전개 준비</a:t>
              </a:r>
            </a:p>
          </p:txBody>
        </p:sp>
        <p:cxnSp>
          <p:nvCxnSpPr>
            <p:cNvPr id="80" name="AutoShape 300"/>
            <p:cNvCxnSpPr>
              <a:cxnSpLocks noChangeShapeType="1"/>
              <a:stCxn id="64" idx="2"/>
              <a:endCxn id="79" idx="0"/>
            </p:cNvCxnSpPr>
            <p:nvPr/>
          </p:nvCxnSpPr>
          <p:spPr bwMode="auto">
            <a:xfrm>
              <a:off x="1241044" y="7130733"/>
              <a:ext cx="0" cy="1414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Rectangle 301"/>
            <p:cNvSpPr>
              <a:spLocks noChangeArrowheads="1"/>
            </p:cNvSpPr>
            <p:nvPr/>
          </p:nvSpPr>
          <p:spPr bwMode="auto">
            <a:xfrm>
              <a:off x="1201293" y="8403463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시범 운영 및 인도</a:t>
              </a:r>
            </a:p>
          </p:txBody>
        </p:sp>
        <p:cxnSp>
          <p:nvCxnSpPr>
            <p:cNvPr id="82" name="AutoShape 302"/>
            <p:cNvCxnSpPr>
              <a:cxnSpLocks noChangeShapeType="1"/>
              <a:stCxn id="81" idx="2"/>
              <a:endCxn id="66" idx="0"/>
            </p:cNvCxnSpPr>
            <p:nvPr/>
          </p:nvCxnSpPr>
          <p:spPr bwMode="auto">
            <a:xfrm>
              <a:off x="1926749" y="8614112"/>
              <a:ext cx="0" cy="2150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8738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0"/>
          <p:cNvSpPr>
            <a:spLocks noChangeArrowheads="1"/>
          </p:cNvSpPr>
          <p:nvPr/>
        </p:nvSpPr>
        <p:spPr bwMode="auto">
          <a:xfrm>
            <a:off x="4086225" y="311199"/>
            <a:ext cx="1774825" cy="1271961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16" name="Text Box 101"/>
          <p:cNvSpPr txBox="1">
            <a:spLocks noChangeArrowheads="1"/>
          </p:cNvSpPr>
          <p:nvPr/>
        </p:nvSpPr>
        <p:spPr bwMode="auto">
          <a:xfrm>
            <a:off x="4029075" y="306436"/>
            <a:ext cx="679450" cy="22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/>
              <a:t>단계 관리</a:t>
            </a:r>
          </a:p>
        </p:txBody>
      </p:sp>
      <p:sp>
        <p:nvSpPr>
          <p:cNvPr id="117" name="Rectangle 102"/>
          <p:cNvSpPr>
            <a:spLocks noChangeArrowheads="1"/>
          </p:cNvSpPr>
          <p:nvPr/>
        </p:nvSpPr>
        <p:spPr bwMode="auto">
          <a:xfrm>
            <a:off x="4117975" y="719307"/>
            <a:ext cx="674688" cy="331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 dirty="0">
                <a:latin typeface="굴림" panose="020B0600000101010101" pitchFamily="50" charset="-127"/>
                <a:ea typeface="굴림" panose="020B0600000101010101" pitchFamily="50" charset="-127"/>
              </a:rPr>
              <a:t>단계</a:t>
            </a:r>
          </a:p>
          <a:p>
            <a:pPr latinLnBrk="1">
              <a:lnSpc>
                <a:spcPct val="100000"/>
              </a:lnSpc>
            </a:pPr>
            <a:r>
              <a:rPr lang="en-US" altLang="ko-KR" sz="700" dirty="0">
                <a:latin typeface="굴림" panose="020B0600000101010101" pitchFamily="50" charset="-127"/>
                <a:ea typeface="굴림" panose="020B0600000101010101" pitchFamily="50" charset="-127"/>
              </a:rPr>
              <a:t>Kick-off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 dirty="0">
                <a:latin typeface="굴림" panose="020B0600000101010101" pitchFamily="50" charset="-127"/>
                <a:ea typeface="굴림" panose="020B0600000101010101" pitchFamily="50" charset="-127"/>
              </a:rPr>
              <a:t>실시</a:t>
            </a:r>
          </a:p>
        </p:txBody>
      </p:sp>
      <p:sp>
        <p:nvSpPr>
          <p:cNvPr id="118" name="Rectangle 103"/>
          <p:cNvSpPr>
            <a:spLocks noChangeArrowheads="1"/>
          </p:cNvSpPr>
          <p:nvPr/>
        </p:nvSpPr>
        <p:spPr bwMode="auto">
          <a:xfrm>
            <a:off x="5121275" y="439825"/>
            <a:ext cx="674688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진척감독</a:t>
            </a:r>
          </a:p>
        </p:txBody>
      </p:sp>
      <p:sp>
        <p:nvSpPr>
          <p:cNvPr id="119" name="Rectangle 104"/>
          <p:cNvSpPr>
            <a:spLocks noChangeArrowheads="1"/>
          </p:cNvSpPr>
          <p:nvPr/>
        </p:nvSpPr>
        <p:spPr bwMode="auto">
          <a:xfrm>
            <a:off x="5121275" y="806645"/>
            <a:ext cx="674688" cy="331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회의 및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업무보고 실시</a:t>
            </a:r>
          </a:p>
        </p:txBody>
      </p:sp>
      <p:sp>
        <p:nvSpPr>
          <p:cNvPr id="120" name="Rectangle 105"/>
          <p:cNvSpPr>
            <a:spLocks noChangeArrowheads="1"/>
          </p:cNvSpPr>
          <p:nvPr/>
        </p:nvSpPr>
        <p:spPr bwMode="auto">
          <a:xfrm>
            <a:off x="5121275" y="1178229"/>
            <a:ext cx="674688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이슈도출 및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해결</a:t>
            </a:r>
          </a:p>
        </p:txBody>
      </p:sp>
      <p:cxnSp>
        <p:nvCxnSpPr>
          <p:cNvPr id="121" name="AutoShape 106"/>
          <p:cNvCxnSpPr>
            <a:cxnSpLocks noChangeShapeType="1"/>
            <a:stCxn id="117" idx="3"/>
            <a:endCxn id="118" idx="1"/>
          </p:cNvCxnSpPr>
          <p:nvPr/>
        </p:nvCxnSpPr>
        <p:spPr bwMode="auto">
          <a:xfrm flipV="1">
            <a:off x="4792663" y="604973"/>
            <a:ext cx="328613" cy="281070"/>
          </a:xfrm>
          <a:prstGeom prst="bentConnector3">
            <a:avLst>
              <a:gd name="adj1" fmla="val 4975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2" name="AutoShape 107"/>
          <p:cNvCxnSpPr>
            <a:cxnSpLocks noChangeShapeType="1"/>
            <a:stCxn id="117" idx="3"/>
            <a:endCxn id="119" idx="1"/>
          </p:cNvCxnSpPr>
          <p:nvPr/>
        </p:nvCxnSpPr>
        <p:spPr bwMode="auto">
          <a:xfrm>
            <a:off x="4792663" y="886043"/>
            <a:ext cx="328613" cy="87338"/>
          </a:xfrm>
          <a:prstGeom prst="bentConnector3">
            <a:avLst>
              <a:gd name="adj1" fmla="val 4975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" name="AutoShape 108"/>
          <p:cNvCxnSpPr>
            <a:cxnSpLocks noChangeShapeType="1"/>
            <a:stCxn id="117" idx="3"/>
            <a:endCxn id="120" idx="1"/>
          </p:cNvCxnSpPr>
          <p:nvPr/>
        </p:nvCxnSpPr>
        <p:spPr bwMode="auto">
          <a:xfrm>
            <a:off x="4792663" y="886043"/>
            <a:ext cx="328613" cy="457334"/>
          </a:xfrm>
          <a:prstGeom prst="bentConnector3">
            <a:avLst>
              <a:gd name="adj1" fmla="val 49755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4" name="Rectangle 119"/>
          <p:cNvSpPr>
            <a:spLocks noChangeArrowheads="1"/>
          </p:cNvSpPr>
          <p:nvPr/>
        </p:nvSpPr>
        <p:spPr bwMode="auto">
          <a:xfrm>
            <a:off x="3987800" y="1880110"/>
            <a:ext cx="1852613" cy="1695948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25" name="Rectangle 120"/>
          <p:cNvSpPr>
            <a:spLocks noChangeArrowheads="1"/>
          </p:cNvSpPr>
          <p:nvPr/>
        </p:nvSpPr>
        <p:spPr bwMode="auto">
          <a:xfrm>
            <a:off x="4146550" y="2169120"/>
            <a:ext cx="676275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기능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요구사항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정의</a:t>
            </a:r>
          </a:p>
        </p:txBody>
      </p:sp>
      <p:sp>
        <p:nvSpPr>
          <p:cNvPr id="126" name="Rectangle 121"/>
          <p:cNvSpPr>
            <a:spLocks noChangeArrowheads="1"/>
          </p:cNvSpPr>
          <p:nvPr/>
        </p:nvSpPr>
        <p:spPr bwMode="auto">
          <a:xfrm>
            <a:off x="5053013" y="2567699"/>
            <a:ext cx="673100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사용자 승인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테스트 기준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정의</a:t>
            </a:r>
          </a:p>
        </p:txBody>
      </p:sp>
      <p:sp>
        <p:nvSpPr>
          <p:cNvPr id="127" name="Rectangle 122"/>
          <p:cNvSpPr>
            <a:spLocks noChangeArrowheads="1"/>
          </p:cNvSpPr>
          <p:nvPr/>
        </p:nvSpPr>
        <p:spPr bwMode="auto">
          <a:xfrm>
            <a:off x="4146550" y="2567699"/>
            <a:ext cx="676275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기술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요구사항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정의</a:t>
            </a:r>
          </a:p>
        </p:txBody>
      </p:sp>
      <p:sp>
        <p:nvSpPr>
          <p:cNvPr id="128" name="Rectangle 123"/>
          <p:cNvSpPr>
            <a:spLocks noChangeArrowheads="1"/>
          </p:cNvSpPr>
          <p:nvPr/>
        </p:nvSpPr>
        <p:spPr bwMode="auto">
          <a:xfrm>
            <a:off x="4144963" y="2974219"/>
            <a:ext cx="676275" cy="3985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인터페이스</a:t>
            </a:r>
            <a:endParaRPr lang="ko-KR" altLang="en-US" sz="7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atinLnBrk="1">
              <a:lnSpc>
                <a:spcPct val="100000"/>
              </a:lnSpc>
            </a:pPr>
            <a:r>
              <a:rPr lang="ko-KR" altLang="en-US" sz="700" dirty="0">
                <a:latin typeface="굴림" panose="020B0600000101010101" pitchFamily="50" charset="-127"/>
                <a:ea typeface="굴림" panose="020B0600000101010101" pitchFamily="50" charset="-127"/>
              </a:rPr>
              <a:t>요구사항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 dirty="0">
                <a:latin typeface="굴림" panose="020B0600000101010101" pitchFamily="50" charset="-127"/>
                <a:ea typeface="굴림" panose="020B0600000101010101" pitchFamily="50" charset="-127"/>
              </a:rPr>
              <a:t>정의</a:t>
            </a:r>
          </a:p>
        </p:txBody>
      </p:sp>
      <p:sp>
        <p:nvSpPr>
          <p:cNvPr id="129" name="Text Box 124"/>
          <p:cNvSpPr txBox="1">
            <a:spLocks noChangeArrowheads="1"/>
          </p:cNvSpPr>
          <p:nvPr/>
        </p:nvSpPr>
        <p:spPr bwMode="auto">
          <a:xfrm>
            <a:off x="3952875" y="1868994"/>
            <a:ext cx="91723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 dirty="0" smtClean="0"/>
              <a:t>요구사항 </a:t>
            </a:r>
            <a:r>
              <a:rPr kumimoji="0" lang="ko-KR" altLang="en-US" sz="900" dirty="0"/>
              <a:t>정의</a:t>
            </a:r>
          </a:p>
        </p:txBody>
      </p:sp>
      <p:cxnSp>
        <p:nvCxnSpPr>
          <p:cNvPr id="130" name="AutoShape 125"/>
          <p:cNvCxnSpPr>
            <a:cxnSpLocks noChangeShapeType="1"/>
            <a:stCxn id="125" idx="3"/>
            <a:endCxn id="126" idx="0"/>
          </p:cNvCxnSpPr>
          <p:nvPr/>
        </p:nvCxnSpPr>
        <p:spPr bwMode="auto">
          <a:xfrm>
            <a:off x="4822825" y="2334268"/>
            <a:ext cx="566738" cy="233431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1" name="AutoShape 126"/>
          <p:cNvCxnSpPr>
            <a:cxnSpLocks noChangeShapeType="1"/>
            <a:stCxn id="128" idx="3"/>
            <a:endCxn id="126" idx="2"/>
          </p:cNvCxnSpPr>
          <p:nvPr/>
        </p:nvCxnSpPr>
        <p:spPr bwMode="auto">
          <a:xfrm flipV="1">
            <a:off x="4821238" y="2897996"/>
            <a:ext cx="568325" cy="274718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2" name="AutoShape 127"/>
          <p:cNvCxnSpPr>
            <a:cxnSpLocks noChangeShapeType="1"/>
            <a:stCxn id="127" idx="3"/>
            <a:endCxn id="126" idx="1"/>
          </p:cNvCxnSpPr>
          <p:nvPr/>
        </p:nvCxnSpPr>
        <p:spPr bwMode="auto">
          <a:xfrm>
            <a:off x="4822825" y="2732848"/>
            <a:ext cx="230188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" name="Rectangle 129"/>
          <p:cNvSpPr>
            <a:spLocks noChangeArrowheads="1"/>
          </p:cNvSpPr>
          <p:nvPr/>
        </p:nvSpPr>
        <p:spPr bwMode="auto">
          <a:xfrm>
            <a:off x="477838" y="4784500"/>
            <a:ext cx="1774825" cy="711409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34" name="Text Box 130"/>
          <p:cNvSpPr txBox="1">
            <a:spLocks noChangeArrowheads="1"/>
          </p:cNvSpPr>
          <p:nvPr/>
        </p:nvSpPr>
        <p:spPr bwMode="auto">
          <a:xfrm>
            <a:off x="417513" y="4803556"/>
            <a:ext cx="944563" cy="22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/>
              <a:t>개발 표준 정의</a:t>
            </a: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55625" y="5090978"/>
            <a:ext cx="674688" cy="2620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시스템 개발</a:t>
            </a:r>
            <a:b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표준 정의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1500188" y="5089390"/>
            <a:ext cx="676275" cy="2636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en-US" altLang="ko-KR" sz="70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개발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표준 교육</a:t>
            </a:r>
          </a:p>
        </p:txBody>
      </p:sp>
      <p:cxnSp>
        <p:nvCxnSpPr>
          <p:cNvPr id="137" name="AutoShape 139"/>
          <p:cNvCxnSpPr>
            <a:cxnSpLocks noChangeShapeType="1"/>
            <a:stCxn id="135" idx="3"/>
            <a:endCxn id="136" idx="1"/>
          </p:cNvCxnSpPr>
          <p:nvPr/>
        </p:nvCxnSpPr>
        <p:spPr bwMode="auto">
          <a:xfrm flipV="1">
            <a:off x="1230313" y="5221191"/>
            <a:ext cx="269875" cy="158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8" name="Rectangle 150"/>
          <p:cNvSpPr>
            <a:spLocks noChangeArrowheads="1"/>
          </p:cNvSpPr>
          <p:nvPr/>
        </p:nvSpPr>
        <p:spPr bwMode="auto">
          <a:xfrm>
            <a:off x="2570163" y="4250944"/>
            <a:ext cx="3317875" cy="882909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39" name="Text Box 151"/>
          <p:cNvSpPr txBox="1">
            <a:spLocks noChangeArrowheads="1"/>
          </p:cNvSpPr>
          <p:nvPr/>
        </p:nvSpPr>
        <p:spPr bwMode="auto">
          <a:xfrm>
            <a:off x="2549525" y="4269999"/>
            <a:ext cx="946150" cy="22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/>
              <a:t>단계 종료 평가</a:t>
            </a:r>
          </a:p>
        </p:txBody>
      </p:sp>
      <p:sp>
        <p:nvSpPr>
          <p:cNvPr id="140" name="Rectangle 152"/>
          <p:cNvSpPr>
            <a:spLocks noChangeArrowheads="1"/>
          </p:cNvSpPr>
          <p:nvPr/>
        </p:nvSpPr>
        <p:spPr bwMode="auto">
          <a:xfrm>
            <a:off x="2646363" y="4573301"/>
            <a:ext cx="674688" cy="25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산출물 검토</a:t>
            </a:r>
          </a:p>
        </p:txBody>
      </p:sp>
      <p:sp>
        <p:nvSpPr>
          <p:cNvPr id="141" name="Rectangle 153"/>
          <p:cNvSpPr>
            <a:spLocks noChangeArrowheads="1"/>
          </p:cNvSpPr>
          <p:nvPr/>
        </p:nvSpPr>
        <p:spPr bwMode="auto">
          <a:xfrm>
            <a:off x="3495675" y="4530426"/>
            <a:ext cx="674688" cy="339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요구사항의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프로세스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도출검토</a:t>
            </a:r>
          </a:p>
        </p:txBody>
      </p:sp>
      <p:sp>
        <p:nvSpPr>
          <p:cNvPr id="142" name="Rectangle 154"/>
          <p:cNvSpPr>
            <a:spLocks noChangeArrowheads="1"/>
          </p:cNvSpPr>
          <p:nvPr/>
        </p:nvSpPr>
        <p:spPr bwMode="auto">
          <a:xfrm>
            <a:off x="4324350" y="4573301"/>
            <a:ext cx="673100" cy="25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프로세스 대비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엔티티 검토</a:t>
            </a:r>
          </a:p>
        </p:txBody>
      </p:sp>
      <p:sp>
        <p:nvSpPr>
          <p:cNvPr id="143" name="Rectangle 155"/>
          <p:cNvSpPr>
            <a:spLocks noChangeArrowheads="1"/>
          </p:cNvSpPr>
          <p:nvPr/>
        </p:nvSpPr>
        <p:spPr bwMode="auto">
          <a:xfrm>
            <a:off x="5148263" y="4573301"/>
            <a:ext cx="674688" cy="25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 계획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검토 및 조정</a:t>
            </a:r>
          </a:p>
        </p:txBody>
      </p:sp>
      <p:sp>
        <p:nvSpPr>
          <p:cNvPr id="144" name="Line 159"/>
          <p:cNvSpPr>
            <a:spLocks noChangeShapeType="1"/>
          </p:cNvSpPr>
          <p:nvPr/>
        </p:nvSpPr>
        <p:spPr bwMode="auto">
          <a:xfrm>
            <a:off x="3932238" y="941622"/>
            <a:ext cx="15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ko-KR" altLang="en-US"/>
          </a:p>
        </p:txBody>
      </p:sp>
      <p:sp>
        <p:nvSpPr>
          <p:cNvPr id="145" name="Rectangle 162"/>
          <p:cNvSpPr>
            <a:spLocks noChangeArrowheads="1"/>
          </p:cNvSpPr>
          <p:nvPr/>
        </p:nvSpPr>
        <p:spPr bwMode="auto">
          <a:xfrm>
            <a:off x="477838" y="3869832"/>
            <a:ext cx="1774825" cy="814627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46" name="Text Box 164"/>
          <p:cNvSpPr txBox="1">
            <a:spLocks noChangeArrowheads="1"/>
          </p:cNvSpPr>
          <p:nvPr/>
        </p:nvSpPr>
        <p:spPr bwMode="auto">
          <a:xfrm>
            <a:off x="417513" y="3888887"/>
            <a:ext cx="944563" cy="22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/>
              <a:t>논리 모델 구축</a:t>
            </a:r>
          </a:p>
        </p:txBody>
      </p:sp>
      <p:sp>
        <p:nvSpPr>
          <p:cNvPr id="148" name="Rectangle 166"/>
          <p:cNvSpPr>
            <a:spLocks noChangeArrowheads="1"/>
          </p:cNvSpPr>
          <p:nvPr/>
        </p:nvSpPr>
        <p:spPr bwMode="auto">
          <a:xfrm>
            <a:off x="671513" y="4166781"/>
            <a:ext cx="1003300" cy="1857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프로세스 모델링</a:t>
            </a:r>
          </a:p>
        </p:txBody>
      </p:sp>
      <p:sp>
        <p:nvSpPr>
          <p:cNvPr id="149" name="Rectangle 177"/>
          <p:cNvSpPr>
            <a:spLocks noChangeArrowheads="1"/>
          </p:cNvSpPr>
          <p:nvPr/>
        </p:nvSpPr>
        <p:spPr bwMode="auto">
          <a:xfrm>
            <a:off x="479425" y="319139"/>
            <a:ext cx="3452813" cy="1264021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50" name="Rectangle 178"/>
          <p:cNvSpPr>
            <a:spLocks noChangeArrowheads="1"/>
          </p:cNvSpPr>
          <p:nvPr/>
        </p:nvSpPr>
        <p:spPr bwMode="auto">
          <a:xfrm>
            <a:off x="1333500" y="747890"/>
            <a:ext cx="674688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활동 및 일정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수립</a:t>
            </a:r>
          </a:p>
        </p:txBody>
      </p:sp>
      <p:sp>
        <p:nvSpPr>
          <p:cNvPr id="151" name="Rectangle 179"/>
          <p:cNvSpPr>
            <a:spLocks noChangeArrowheads="1"/>
          </p:cNvSpPr>
          <p:nvPr/>
        </p:nvSpPr>
        <p:spPr bwMode="auto">
          <a:xfrm>
            <a:off x="536575" y="747890"/>
            <a:ext cx="673100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목표 및 범위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기술</a:t>
            </a:r>
          </a:p>
        </p:txBody>
      </p:sp>
      <p:sp>
        <p:nvSpPr>
          <p:cNvPr id="152" name="Rectangle 180"/>
          <p:cNvSpPr>
            <a:spLocks noChangeArrowheads="1"/>
          </p:cNvSpPr>
          <p:nvPr/>
        </p:nvSpPr>
        <p:spPr bwMode="auto">
          <a:xfrm>
            <a:off x="2259013" y="466820"/>
            <a:ext cx="676275" cy="331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조직 구조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정의</a:t>
            </a:r>
          </a:p>
        </p:txBody>
      </p:sp>
      <p:sp>
        <p:nvSpPr>
          <p:cNvPr id="153" name="Rectangle 181"/>
          <p:cNvSpPr>
            <a:spLocks noChangeArrowheads="1"/>
          </p:cNvSpPr>
          <p:nvPr/>
        </p:nvSpPr>
        <p:spPr bwMode="auto">
          <a:xfrm>
            <a:off x="3159125" y="747890"/>
            <a:ext cx="674688" cy="3302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프로젝트에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대한 합의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도출</a:t>
            </a:r>
          </a:p>
        </p:txBody>
      </p:sp>
      <p:sp>
        <p:nvSpPr>
          <p:cNvPr id="154" name="Rectangle 182"/>
          <p:cNvSpPr>
            <a:spLocks noChangeArrowheads="1"/>
          </p:cNvSpPr>
          <p:nvPr/>
        </p:nvSpPr>
        <p:spPr bwMode="auto">
          <a:xfrm>
            <a:off x="2259013" y="1009905"/>
            <a:ext cx="676275" cy="331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프로젝트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표준 및 절차</a:t>
            </a:r>
          </a:p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수립</a:t>
            </a:r>
          </a:p>
        </p:txBody>
      </p:sp>
      <p:sp>
        <p:nvSpPr>
          <p:cNvPr id="155" name="Text Box 183"/>
          <p:cNvSpPr txBox="1">
            <a:spLocks noChangeArrowheads="1"/>
          </p:cNvSpPr>
          <p:nvPr/>
        </p:nvSpPr>
        <p:spPr bwMode="auto">
          <a:xfrm>
            <a:off x="458788" y="306436"/>
            <a:ext cx="1098550" cy="228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/>
              <a:t>착수 및 계획 수립</a:t>
            </a:r>
          </a:p>
        </p:txBody>
      </p:sp>
      <p:cxnSp>
        <p:nvCxnSpPr>
          <p:cNvPr id="156" name="AutoShape 184"/>
          <p:cNvCxnSpPr>
            <a:cxnSpLocks noChangeShapeType="1"/>
            <a:stCxn id="151" idx="3"/>
            <a:endCxn id="150" idx="1"/>
          </p:cNvCxnSpPr>
          <p:nvPr/>
        </p:nvCxnSpPr>
        <p:spPr bwMode="auto">
          <a:xfrm>
            <a:off x="1209675" y="913039"/>
            <a:ext cx="1238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7" name="AutoShape 185"/>
          <p:cNvCxnSpPr>
            <a:cxnSpLocks noChangeShapeType="1"/>
            <a:stCxn id="150" idx="3"/>
            <a:endCxn id="152" idx="1"/>
          </p:cNvCxnSpPr>
          <p:nvPr/>
        </p:nvCxnSpPr>
        <p:spPr bwMode="auto">
          <a:xfrm flipV="1">
            <a:off x="2008188" y="631969"/>
            <a:ext cx="250825" cy="28107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8" name="AutoShape 186"/>
          <p:cNvCxnSpPr>
            <a:cxnSpLocks noChangeShapeType="1"/>
            <a:stCxn id="150" idx="3"/>
            <a:endCxn id="154" idx="1"/>
          </p:cNvCxnSpPr>
          <p:nvPr/>
        </p:nvCxnSpPr>
        <p:spPr bwMode="auto">
          <a:xfrm>
            <a:off x="2008188" y="913039"/>
            <a:ext cx="250825" cy="26201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9" name="AutoShape 187"/>
          <p:cNvCxnSpPr>
            <a:cxnSpLocks noChangeShapeType="1"/>
            <a:stCxn id="152" idx="3"/>
            <a:endCxn id="153" idx="1"/>
          </p:cNvCxnSpPr>
          <p:nvPr/>
        </p:nvCxnSpPr>
        <p:spPr bwMode="auto">
          <a:xfrm>
            <a:off x="2935288" y="633557"/>
            <a:ext cx="223838" cy="27948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0" name="AutoShape 188"/>
          <p:cNvCxnSpPr>
            <a:cxnSpLocks noChangeShapeType="1"/>
            <a:stCxn id="154" idx="3"/>
            <a:endCxn id="153" idx="1"/>
          </p:cNvCxnSpPr>
          <p:nvPr/>
        </p:nvCxnSpPr>
        <p:spPr bwMode="auto">
          <a:xfrm flipV="1">
            <a:off x="2935288" y="913039"/>
            <a:ext cx="223838" cy="26360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8" name="Rectangle 205"/>
          <p:cNvSpPr>
            <a:spLocks noChangeArrowheads="1"/>
          </p:cNvSpPr>
          <p:nvPr/>
        </p:nvSpPr>
        <p:spPr bwMode="auto">
          <a:xfrm>
            <a:off x="481013" y="1764189"/>
            <a:ext cx="2546350" cy="970247"/>
          </a:xfrm>
          <a:prstGeom prst="rect">
            <a:avLst/>
          </a:prstGeom>
          <a:solidFill>
            <a:srgbClr val="CDE2B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ko-KR" altLang="en-US"/>
          </a:p>
        </p:txBody>
      </p:sp>
      <p:sp>
        <p:nvSpPr>
          <p:cNvPr id="169" name="Text Box 206"/>
          <p:cNvSpPr txBox="1">
            <a:spLocks noChangeArrowheads="1"/>
          </p:cNvSpPr>
          <p:nvPr/>
        </p:nvSpPr>
        <p:spPr bwMode="auto">
          <a:xfrm>
            <a:off x="447675" y="1754661"/>
            <a:ext cx="91723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00000"/>
              </a:lnSpc>
            </a:pPr>
            <a:r>
              <a:rPr kumimoji="0" lang="ko-KR" altLang="en-US" sz="900" dirty="0" err="1" smtClean="0"/>
              <a:t>아키텍쳐</a:t>
            </a:r>
            <a:r>
              <a:rPr kumimoji="0" lang="ko-KR" altLang="en-US" sz="900" dirty="0" smtClean="0"/>
              <a:t> </a:t>
            </a:r>
            <a:r>
              <a:rPr kumimoji="0" lang="ko-KR" altLang="en-US" sz="900" dirty="0"/>
              <a:t>검증</a:t>
            </a:r>
          </a:p>
        </p:txBody>
      </p:sp>
      <p:sp>
        <p:nvSpPr>
          <p:cNvPr id="170" name="Rectangle 207"/>
          <p:cNvSpPr>
            <a:spLocks noChangeArrowheads="1"/>
          </p:cNvSpPr>
          <p:nvPr/>
        </p:nvSpPr>
        <p:spPr bwMode="auto">
          <a:xfrm>
            <a:off x="654050" y="2388259"/>
            <a:ext cx="676275" cy="2636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이행 환경 결정</a:t>
            </a:r>
          </a:p>
        </p:txBody>
      </p:sp>
      <p:sp>
        <p:nvSpPr>
          <p:cNvPr id="171" name="Rectangle 208"/>
          <p:cNvSpPr>
            <a:spLocks noChangeArrowheads="1"/>
          </p:cNvSpPr>
          <p:nvPr/>
        </p:nvSpPr>
        <p:spPr bwMode="auto">
          <a:xfrm>
            <a:off x="647700" y="2011911"/>
            <a:ext cx="674688" cy="2540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시스템 아키텍쳐</a:t>
            </a:r>
            <a:b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sz="700">
                <a:latin typeface="굴림" panose="020B0600000101010101" pitchFamily="50" charset="-127"/>
                <a:ea typeface="굴림" panose="020B0600000101010101" pitchFamily="50" charset="-127"/>
              </a:rPr>
              <a:t>검토</a:t>
            </a:r>
          </a:p>
        </p:txBody>
      </p:sp>
      <p:sp>
        <p:nvSpPr>
          <p:cNvPr id="173" name="Rectangle 212"/>
          <p:cNvSpPr>
            <a:spLocks noChangeArrowheads="1"/>
          </p:cNvSpPr>
          <p:nvPr/>
        </p:nvSpPr>
        <p:spPr bwMode="auto">
          <a:xfrm>
            <a:off x="1976438" y="2234227"/>
            <a:ext cx="674688" cy="1953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latinLnBrk="1">
              <a:lnSpc>
                <a:spcPct val="100000"/>
              </a:lnSpc>
            </a:pPr>
            <a:r>
              <a:rPr lang="ko-KR" altLang="en-US" sz="7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설치</a:t>
            </a:r>
            <a:endParaRPr lang="ko-KR" altLang="en-US" sz="7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174" name="AutoShape 213"/>
          <p:cNvCxnSpPr>
            <a:cxnSpLocks noChangeShapeType="1"/>
            <a:stCxn id="171" idx="3"/>
            <a:endCxn id="170" idx="3"/>
          </p:cNvCxnSpPr>
          <p:nvPr/>
        </p:nvCxnSpPr>
        <p:spPr bwMode="auto">
          <a:xfrm>
            <a:off x="1322388" y="2138949"/>
            <a:ext cx="7938" cy="381112"/>
          </a:xfrm>
          <a:prstGeom prst="bentConnector3">
            <a:avLst>
              <a:gd name="adj1" fmla="val 298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" name="Line 221"/>
          <p:cNvSpPr>
            <a:spLocks noChangeShapeType="1"/>
          </p:cNvSpPr>
          <p:nvPr/>
        </p:nvSpPr>
        <p:spPr bwMode="auto">
          <a:xfrm>
            <a:off x="1562100" y="2337444"/>
            <a:ext cx="385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315" tIns="49158" rIns="98315" bIns="49158">
            <a:spAutoFit/>
          </a:bodyPr>
          <a:lstStyle/>
          <a:p>
            <a:endParaRPr lang="ko-KR" altLang="en-US"/>
          </a:p>
        </p:txBody>
      </p:sp>
      <p:sp>
        <p:nvSpPr>
          <p:cNvPr id="178" name="Line 223"/>
          <p:cNvSpPr>
            <a:spLocks noChangeShapeType="1"/>
          </p:cNvSpPr>
          <p:nvPr/>
        </p:nvSpPr>
        <p:spPr bwMode="auto">
          <a:xfrm>
            <a:off x="3354388" y="2726496"/>
            <a:ext cx="617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315" tIns="49158" rIns="98315" bIns="49158">
            <a:spAutoFit/>
          </a:bodyPr>
          <a:lstStyle/>
          <a:p>
            <a:endParaRPr lang="ko-KR" altLang="en-US"/>
          </a:p>
        </p:txBody>
      </p:sp>
      <p:cxnSp>
        <p:nvCxnSpPr>
          <p:cNvPr id="179" name="AutoShape 224"/>
          <p:cNvCxnSpPr>
            <a:cxnSpLocks noChangeShapeType="1"/>
            <a:stCxn id="115" idx="3"/>
            <a:endCxn id="168" idx="1"/>
          </p:cNvCxnSpPr>
          <p:nvPr/>
        </p:nvCxnSpPr>
        <p:spPr bwMode="auto">
          <a:xfrm flipH="1">
            <a:off x="481013" y="947974"/>
            <a:ext cx="5380038" cy="1302132"/>
          </a:xfrm>
          <a:prstGeom prst="bentConnector5">
            <a:avLst>
              <a:gd name="adj1" fmla="val -1977"/>
              <a:gd name="adj2" fmla="val 55731"/>
              <a:gd name="adj3" fmla="val 102958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AutoShape 226"/>
          <p:cNvCxnSpPr>
            <a:cxnSpLocks noChangeShapeType="1"/>
            <a:stCxn id="140" idx="3"/>
            <a:endCxn id="141" idx="1"/>
          </p:cNvCxnSpPr>
          <p:nvPr/>
        </p:nvCxnSpPr>
        <p:spPr bwMode="auto">
          <a:xfrm flipV="1">
            <a:off x="3321050" y="4700338"/>
            <a:ext cx="174625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2" name="AutoShape 227"/>
          <p:cNvCxnSpPr>
            <a:cxnSpLocks noChangeShapeType="1"/>
            <a:stCxn id="141" idx="3"/>
            <a:endCxn id="142" idx="1"/>
          </p:cNvCxnSpPr>
          <p:nvPr/>
        </p:nvCxnSpPr>
        <p:spPr bwMode="auto">
          <a:xfrm>
            <a:off x="4170363" y="4700338"/>
            <a:ext cx="1539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3" name="AutoShape 228"/>
          <p:cNvCxnSpPr>
            <a:cxnSpLocks noChangeShapeType="1"/>
            <a:stCxn id="142" idx="3"/>
            <a:endCxn id="143" idx="1"/>
          </p:cNvCxnSpPr>
          <p:nvPr/>
        </p:nvCxnSpPr>
        <p:spPr bwMode="auto">
          <a:xfrm>
            <a:off x="4997450" y="4701926"/>
            <a:ext cx="1508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" name="AutoShape 229"/>
          <p:cNvCxnSpPr>
            <a:cxnSpLocks noChangeShapeType="1"/>
            <a:stCxn id="145" idx="3"/>
            <a:endCxn id="133" idx="3"/>
          </p:cNvCxnSpPr>
          <p:nvPr/>
        </p:nvCxnSpPr>
        <p:spPr bwMode="auto">
          <a:xfrm>
            <a:off x="2252663" y="4277939"/>
            <a:ext cx="1588" cy="862266"/>
          </a:xfrm>
          <a:prstGeom prst="bentConnector3">
            <a:avLst>
              <a:gd name="adj1" fmla="val 700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Line 230"/>
          <p:cNvSpPr>
            <a:spLocks noChangeShapeType="1"/>
          </p:cNvSpPr>
          <p:nvPr/>
        </p:nvSpPr>
        <p:spPr bwMode="auto">
          <a:xfrm>
            <a:off x="2351088" y="4708278"/>
            <a:ext cx="2317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315" tIns="49158" rIns="98315" bIns="49158">
            <a:spAutoFit/>
          </a:bodyPr>
          <a:lstStyle/>
          <a:p>
            <a:endParaRPr lang="ko-KR" altLang="en-US"/>
          </a:p>
        </p:txBody>
      </p:sp>
      <p:cxnSp>
        <p:nvCxnSpPr>
          <p:cNvPr id="186" name="AutoShape 231"/>
          <p:cNvCxnSpPr>
            <a:cxnSpLocks noChangeShapeType="1"/>
            <a:stCxn id="124" idx="3"/>
            <a:endCxn id="145" idx="1"/>
          </p:cNvCxnSpPr>
          <p:nvPr/>
        </p:nvCxnSpPr>
        <p:spPr bwMode="auto">
          <a:xfrm flipH="1">
            <a:off x="477838" y="2728084"/>
            <a:ext cx="5362575" cy="1549855"/>
          </a:xfrm>
          <a:prstGeom prst="bentConnector5">
            <a:avLst>
              <a:gd name="adj1" fmla="val -2583"/>
              <a:gd name="adj2" fmla="val 69157"/>
              <a:gd name="adj3" fmla="val 103148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7" name="AutoShape 232"/>
          <p:cNvCxnSpPr>
            <a:cxnSpLocks noChangeShapeType="1"/>
            <a:stCxn id="124" idx="3"/>
            <a:endCxn id="133" idx="1"/>
          </p:cNvCxnSpPr>
          <p:nvPr/>
        </p:nvCxnSpPr>
        <p:spPr bwMode="auto">
          <a:xfrm flipH="1">
            <a:off x="477838" y="2728084"/>
            <a:ext cx="5362575" cy="2412121"/>
          </a:xfrm>
          <a:prstGeom prst="bentConnector5">
            <a:avLst>
              <a:gd name="adj1" fmla="val -2546"/>
              <a:gd name="adj2" fmla="val 44764"/>
              <a:gd name="adj3" fmla="val 103236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5298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1"/>
          <p:cNvGrpSpPr>
            <a:grpSpLocks/>
          </p:cNvGrpSpPr>
          <p:nvPr/>
        </p:nvGrpSpPr>
        <p:grpSpPr bwMode="auto">
          <a:xfrm>
            <a:off x="503196" y="332712"/>
            <a:ext cx="5876925" cy="5707063"/>
            <a:chOff x="332" y="2177"/>
            <a:chExt cx="3702" cy="3594"/>
          </a:xfrm>
        </p:grpSpPr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332" y="2177"/>
              <a:ext cx="3702" cy="3594"/>
              <a:chOff x="369" y="1714"/>
              <a:chExt cx="3573" cy="1556"/>
            </a:xfrm>
          </p:grpSpPr>
          <p:sp>
            <p:nvSpPr>
              <p:cNvPr id="63" name="Freeform 15"/>
              <p:cNvSpPr>
                <a:spLocks/>
              </p:cNvSpPr>
              <p:nvPr/>
            </p:nvSpPr>
            <p:spPr bwMode="auto">
              <a:xfrm flipH="1" flipV="1">
                <a:off x="369" y="1714"/>
                <a:ext cx="3573" cy="1556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1270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64" name="Freeform 16"/>
              <p:cNvSpPr>
                <a:spLocks/>
              </p:cNvSpPr>
              <p:nvPr/>
            </p:nvSpPr>
            <p:spPr bwMode="auto">
              <a:xfrm>
                <a:off x="369" y="1715"/>
                <a:ext cx="3573" cy="1555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7" name="Rectangle 98"/>
            <p:cNvSpPr>
              <a:spLocks noChangeArrowheads="1"/>
            </p:cNvSpPr>
            <p:nvPr/>
          </p:nvSpPr>
          <p:spPr bwMode="auto">
            <a:xfrm>
              <a:off x="2840" y="2316"/>
              <a:ext cx="1034" cy="855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8" name="Text Box 99"/>
            <p:cNvSpPr txBox="1">
              <a:spLocks noChangeArrowheads="1"/>
            </p:cNvSpPr>
            <p:nvPr/>
          </p:nvSpPr>
          <p:spPr bwMode="auto">
            <a:xfrm>
              <a:off x="2966" y="2591"/>
              <a:ext cx="796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외부 인터페이스 설계</a:t>
              </a:r>
            </a:p>
          </p:txBody>
        </p:sp>
        <p:sp>
          <p:nvSpPr>
            <p:cNvPr id="9" name="Text Box 100"/>
            <p:cNvSpPr txBox="1">
              <a:spLocks noChangeArrowheads="1"/>
            </p:cNvSpPr>
            <p:nvPr/>
          </p:nvSpPr>
          <p:spPr bwMode="auto">
            <a:xfrm>
              <a:off x="2812" y="2304"/>
              <a:ext cx="6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 dirty="0"/>
                <a:t>다이얼로그 설계</a:t>
              </a:r>
            </a:p>
          </p:txBody>
        </p:sp>
        <p:sp>
          <p:nvSpPr>
            <p:cNvPr id="10" name="Text Box 101"/>
            <p:cNvSpPr txBox="1">
              <a:spLocks noChangeArrowheads="1"/>
            </p:cNvSpPr>
            <p:nvPr/>
          </p:nvSpPr>
          <p:spPr bwMode="auto">
            <a:xfrm>
              <a:off x="2982" y="2915"/>
              <a:ext cx="758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다이얼로그 설계</a:t>
              </a:r>
            </a:p>
          </p:txBody>
        </p:sp>
        <p:sp>
          <p:nvSpPr>
            <p:cNvPr id="11" name="Rectangle 102"/>
            <p:cNvSpPr>
              <a:spLocks noChangeArrowheads="1"/>
            </p:cNvSpPr>
            <p:nvPr/>
          </p:nvSpPr>
          <p:spPr bwMode="auto">
            <a:xfrm>
              <a:off x="506" y="3301"/>
              <a:ext cx="1653" cy="1056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2" name="Text Box 103"/>
            <p:cNvSpPr txBox="1">
              <a:spLocks noChangeArrowheads="1"/>
            </p:cNvSpPr>
            <p:nvPr/>
          </p:nvSpPr>
          <p:spPr bwMode="auto">
            <a:xfrm>
              <a:off x="662" y="4036"/>
              <a:ext cx="584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데이터베이스</a:t>
              </a:r>
              <a:b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설계</a:t>
              </a:r>
            </a:p>
          </p:txBody>
        </p:sp>
        <p:sp>
          <p:nvSpPr>
            <p:cNvPr id="13" name="Text Box 104"/>
            <p:cNvSpPr txBox="1">
              <a:spLocks noChangeArrowheads="1"/>
            </p:cNvSpPr>
            <p:nvPr/>
          </p:nvSpPr>
          <p:spPr bwMode="auto">
            <a:xfrm>
              <a:off x="660" y="3554"/>
              <a:ext cx="586" cy="1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화면설계</a:t>
              </a:r>
            </a:p>
          </p:txBody>
        </p:sp>
        <p:sp>
          <p:nvSpPr>
            <p:cNvPr id="14" name="Text Box 105"/>
            <p:cNvSpPr txBox="1">
              <a:spLocks noChangeArrowheads="1"/>
            </p:cNvSpPr>
            <p:nvPr/>
          </p:nvSpPr>
          <p:spPr bwMode="auto">
            <a:xfrm>
              <a:off x="662" y="3794"/>
              <a:ext cx="584" cy="1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보고서 설계</a:t>
              </a:r>
            </a:p>
          </p:txBody>
        </p:sp>
        <p:sp>
          <p:nvSpPr>
            <p:cNvPr id="15" name="Text Box 106"/>
            <p:cNvSpPr txBox="1">
              <a:spLocks noChangeArrowheads="1"/>
            </p:cNvSpPr>
            <p:nvPr/>
          </p:nvSpPr>
          <p:spPr bwMode="auto">
            <a:xfrm>
              <a:off x="480" y="3312"/>
              <a:ext cx="6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이행 프로토타입</a:t>
              </a:r>
            </a:p>
          </p:txBody>
        </p:sp>
        <p:sp>
          <p:nvSpPr>
            <p:cNvPr id="16" name="Text Box 107"/>
            <p:cNvSpPr txBox="1">
              <a:spLocks noChangeArrowheads="1"/>
            </p:cNvSpPr>
            <p:nvPr/>
          </p:nvSpPr>
          <p:spPr bwMode="auto">
            <a:xfrm>
              <a:off x="1527" y="3743"/>
              <a:ext cx="576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프로토타입 검토 및 수정</a:t>
              </a:r>
            </a:p>
          </p:txBody>
        </p:sp>
        <p:sp>
          <p:nvSpPr>
            <p:cNvPr id="17" name="Rectangle 108"/>
            <p:cNvSpPr>
              <a:spLocks noChangeArrowheads="1"/>
            </p:cNvSpPr>
            <p:nvPr/>
          </p:nvSpPr>
          <p:spPr bwMode="auto">
            <a:xfrm>
              <a:off x="2322" y="3291"/>
              <a:ext cx="1556" cy="1071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>
              <a:prstShdw prst="shdw17">
                <a:srgbClr val="CDE2B8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8" name="Rectangle 117"/>
            <p:cNvSpPr>
              <a:spLocks noChangeArrowheads="1"/>
            </p:cNvSpPr>
            <p:nvPr/>
          </p:nvSpPr>
          <p:spPr bwMode="auto">
            <a:xfrm>
              <a:off x="515" y="2316"/>
              <a:ext cx="2130" cy="855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pPr eaLnBrk="0" hangingPunct="0">
                <a:lnSpc>
                  <a:spcPct val="100000"/>
                </a:lnSpc>
              </a:pPr>
              <a:endParaRPr kumimoji="0" lang="ko-KR" altLang="ko-KR" sz="800" b="1">
                <a:latin typeface="Verdana" panose="020B060403050404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19" name="Text Box 118"/>
            <p:cNvSpPr txBox="1">
              <a:spLocks noChangeArrowheads="1"/>
            </p:cNvSpPr>
            <p:nvPr/>
          </p:nvSpPr>
          <p:spPr bwMode="auto">
            <a:xfrm>
              <a:off x="684" y="2605"/>
              <a:ext cx="474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단계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Kick </a:t>
              </a:r>
              <a:r>
                <a:rPr kumimoji="0" lang="en-US" altLang="ko-KR" sz="800">
                  <a:latin typeface="Verdana" panose="020B0604030504040204" pitchFamily="34" charset="0"/>
                  <a:ea typeface="굴림" panose="020B0600000101010101" pitchFamily="50" charset="-127"/>
                </a:rPr>
                <a:t>–</a:t>
              </a: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off </a:t>
              </a: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실시</a:t>
              </a:r>
            </a:p>
          </p:txBody>
        </p:sp>
        <p:sp>
          <p:nvSpPr>
            <p:cNvPr id="20" name="Text Box 119"/>
            <p:cNvSpPr txBox="1">
              <a:spLocks noChangeArrowheads="1"/>
            </p:cNvSpPr>
            <p:nvPr/>
          </p:nvSpPr>
          <p:spPr bwMode="auto">
            <a:xfrm>
              <a:off x="1538" y="2400"/>
              <a:ext cx="940" cy="1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프로젝트 진척감독</a:t>
              </a:r>
            </a:p>
          </p:txBody>
        </p:sp>
        <p:sp>
          <p:nvSpPr>
            <p:cNvPr id="21" name="Text Box 120"/>
            <p:cNvSpPr txBox="1">
              <a:spLocks noChangeArrowheads="1"/>
            </p:cNvSpPr>
            <p:nvPr/>
          </p:nvSpPr>
          <p:spPr bwMode="auto">
            <a:xfrm>
              <a:off x="1538" y="2930"/>
              <a:ext cx="940" cy="1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이슈도출 및 해결</a:t>
              </a:r>
            </a:p>
          </p:txBody>
        </p:sp>
        <p:sp>
          <p:nvSpPr>
            <p:cNvPr id="22" name="Text Box 121"/>
            <p:cNvSpPr txBox="1">
              <a:spLocks noChangeArrowheads="1"/>
            </p:cNvSpPr>
            <p:nvPr/>
          </p:nvSpPr>
          <p:spPr bwMode="auto">
            <a:xfrm>
              <a:off x="1538" y="2667"/>
              <a:ext cx="940" cy="1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회의 및 업무보고실시</a:t>
              </a:r>
            </a:p>
          </p:txBody>
        </p:sp>
        <p:sp>
          <p:nvSpPr>
            <p:cNvPr id="23" name="Text Box 129"/>
            <p:cNvSpPr txBox="1">
              <a:spLocks noChangeArrowheads="1"/>
            </p:cNvSpPr>
            <p:nvPr/>
          </p:nvSpPr>
          <p:spPr bwMode="auto">
            <a:xfrm>
              <a:off x="480" y="2304"/>
              <a:ext cx="42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관리</a:t>
              </a:r>
            </a:p>
          </p:txBody>
        </p:sp>
        <p:cxnSp>
          <p:nvCxnSpPr>
            <p:cNvPr id="24" name="AutoShape 132"/>
            <p:cNvCxnSpPr>
              <a:cxnSpLocks noChangeShapeType="1"/>
              <a:stCxn id="18" idx="3"/>
              <a:endCxn id="7" idx="1"/>
            </p:cNvCxnSpPr>
            <p:nvPr/>
          </p:nvCxnSpPr>
          <p:spPr bwMode="auto">
            <a:xfrm>
              <a:off x="2645" y="2744"/>
              <a:ext cx="195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133"/>
            <p:cNvCxnSpPr>
              <a:cxnSpLocks noChangeShapeType="1"/>
              <a:stCxn id="7" idx="3"/>
              <a:endCxn id="11" idx="1"/>
            </p:cNvCxnSpPr>
            <p:nvPr/>
          </p:nvCxnSpPr>
          <p:spPr bwMode="auto">
            <a:xfrm flipH="1">
              <a:off x="506" y="2744"/>
              <a:ext cx="3368" cy="1085"/>
            </a:xfrm>
            <a:prstGeom prst="bentConnector5">
              <a:avLst>
                <a:gd name="adj1" fmla="val -1838"/>
                <a:gd name="adj2" fmla="val 45347"/>
                <a:gd name="adj3" fmla="val 10264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134"/>
            <p:cNvCxnSpPr>
              <a:cxnSpLocks noChangeShapeType="1"/>
              <a:stCxn id="17" idx="3"/>
              <a:endCxn id="43" idx="1"/>
            </p:cNvCxnSpPr>
            <p:nvPr/>
          </p:nvCxnSpPr>
          <p:spPr bwMode="auto">
            <a:xfrm flipH="1">
              <a:off x="506" y="3827"/>
              <a:ext cx="3372" cy="967"/>
            </a:xfrm>
            <a:prstGeom prst="bentConnector5">
              <a:avLst>
                <a:gd name="adj1" fmla="val -1833"/>
                <a:gd name="adj2" fmla="val 62565"/>
                <a:gd name="adj3" fmla="val 10315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135"/>
            <p:cNvCxnSpPr>
              <a:cxnSpLocks noChangeShapeType="1"/>
              <a:stCxn id="17" idx="3"/>
              <a:endCxn id="47" idx="1"/>
            </p:cNvCxnSpPr>
            <p:nvPr/>
          </p:nvCxnSpPr>
          <p:spPr bwMode="auto">
            <a:xfrm flipH="1">
              <a:off x="506" y="3827"/>
              <a:ext cx="3372" cy="1554"/>
            </a:xfrm>
            <a:prstGeom prst="bentConnector5">
              <a:avLst>
                <a:gd name="adj1" fmla="val -1833"/>
                <a:gd name="adj2" fmla="val 38931"/>
                <a:gd name="adj3" fmla="val 10309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Text Box 110"/>
            <p:cNvSpPr txBox="1">
              <a:spLocks noChangeArrowheads="1"/>
            </p:cNvSpPr>
            <p:nvPr/>
          </p:nvSpPr>
          <p:spPr bwMode="auto">
            <a:xfrm>
              <a:off x="2406" y="3604"/>
              <a:ext cx="570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시스템 흐름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설계</a:t>
              </a:r>
            </a:p>
          </p:txBody>
        </p:sp>
        <p:sp>
          <p:nvSpPr>
            <p:cNvPr id="29" name="Text Box 111"/>
            <p:cNvSpPr txBox="1">
              <a:spLocks noChangeArrowheads="1"/>
            </p:cNvSpPr>
            <p:nvPr/>
          </p:nvSpPr>
          <p:spPr bwMode="auto">
            <a:xfrm>
              <a:off x="2402" y="4065"/>
              <a:ext cx="556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공통 모듈 설계</a:t>
              </a:r>
            </a:p>
          </p:txBody>
        </p:sp>
        <p:sp>
          <p:nvSpPr>
            <p:cNvPr id="30" name="Text Box 112"/>
            <p:cNvSpPr txBox="1">
              <a:spLocks noChangeArrowheads="1"/>
            </p:cNvSpPr>
            <p:nvPr/>
          </p:nvSpPr>
          <p:spPr bwMode="auto">
            <a:xfrm>
              <a:off x="2284" y="3312"/>
              <a:ext cx="5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시스템 설계</a:t>
              </a:r>
            </a:p>
          </p:txBody>
        </p:sp>
        <p:sp>
          <p:nvSpPr>
            <p:cNvPr id="31" name="Text Box 114"/>
            <p:cNvSpPr txBox="1">
              <a:spLocks noChangeArrowheads="1"/>
            </p:cNvSpPr>
            <p:nvPr/>
          </p:nvSpPr>
          <p:spPr bwMode="auto">
            <a:xfrm>
              <a:off x="3238" y="3847"/>
              <a:ext cx="561" cy="1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프로그램 설계</a:t>
              </a:r>
            </a:p>
          </p:txBody>
        </p:sp>
        <p:cxnSp>
          <p:nvCxnSpPr>
            <p:cNvPr id="32" name="AutoShape 91"/>
            <p:cNvCxnSpPr>
              <a:cxnSpLocks noChangeShapeType="1"/>
              <a:stCxn id="35" idx="3"/>
              <a:endCxn id="36" idx="1"/>
            </p:cNvCxnSpPr>
            <p:nvPr/>
          </p:nvCxnSpPr>
          <p:spPr bwMode="auto">
            <a:xfrm flipV="1">
              <a:off x="2645" y="5072"/>
              <a:ext cx="83" cy="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92"/>
            <p:cNvCxnSpPr>
              <a:cxnSpLocks noChangeShapeType="1"/>
              <a:stCxn id="36" idx="3"/>
            </p:cNvCxnSpPr>
            <p:nvPr/>
          </p:nvCxnSpPr>
          <p:spPr bwMode="auto">
            <a:xfrm>
              <a:off x="3229" y="5072"/>
              <a:ext cx="7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Rectangle 93"/>
            <p:cNvSpPr>
              <a:spLocks noChangeArrowheads="1"/>
            </p:cNvSpPr>
            <p:nvPr/>
          </p:nvSpPr>
          <p:spPr bwMode="auto">
            <a:xfrm>
              <a:off x="2062" y="4524"/>
              <a:ext cx="1819" cy="1104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35" name="Text Box 94"/>
            <p:cNvSpPr txBox="1">
              <a:spLocks noChangeArrowheads="1"/>
            </p:cNvSpPr>
            <p:nvPr/>
          </p:nvSpPr>
          <p:spPr bwMode="auto">
            <a:xfrm>
              <a:off x="2163" y="5004"/>
              <a:ext cx="482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산출물 검토</a:t>
              </a:r>
            </a:p>
          </p:txBody>
        </p:sp>
        <p:sp>
          <p:nvSpPr>
            <p:cNvPr id="36" name="Text Box 95"/>
            <p:cNvSpPr txBox="1">
              <a:spLocks noChangeArrowheads="1"/>
            </p:cNvSpPr>
            <p:nvPr/>
          </p:nvSpPr>
          <p:spPr bwMode="auto">
            <a:xfrm>
              <a:off x="2728" y="4923"/>
              <a:ext cx="501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요구사항의 설계 반영 검토</a:t>
              </a:r>
            </a:p>
          </p:txBody>
        </p:sp>
        <p:sp>
          <p:nvSpPr>
            <p:cNvPr id="37" name="Text Box 96"/>
            <p:cNvSpPr txBox="1">
              <a:spLocks noChangeArrowheads="1"/>
            </p:cNvSpPr>
            <p:nvPr/>
          </p:nvSpPr>
          <p:spPr bwMode="auto">
            <a:xfrm>
              <a:off x="3291" y="4923"/>
              <a:ext cx="521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프로젝트 계획 검토 및 조정</a:t>
              </a:r>
            </a:p>
          </p:txBody>
        </p:sp>
        <p:sp>
          <p:nvSpPr>
            <p:cNvPr id="38" name="Text Box 97"/>
            <p:cNvSpPr txBox="1">
              <a:spLocks noChangeArrowheads="1"/>
            </p:cNvSpPr>
            <p:nvPr/>
          </p:nvSpPr>
          <p:spPr bwMode="auto">
            <a:xfrm>
              <a:off x="2044" y="4512"/>
              <a:ext cx="59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종료 평가</a:t>
              </a:r>
            </a:p>
          </p:txBody>
        </p:sp>
        <p:cxnSp>
          <p:nvCxnSpPr>
            <p:cNvPr id="39" name="AutoShape 147"/>
            <p:cNvCxnSpPr>
              <a:cxnSpLocks noChangeShapeType="1"/>
              <a:stCxn id="20" idx="1"/>
              <a:endCxn id="21" idx="1"/>
            </p:cNvCxnSpPr>
            <p:nvPr/>
          </p:nvCxnSpPr>
          <p:spPr bwMode="auto">
            <a:xfrm rot="10800000" flipH="1" flipV="1">
              <a:off x="1538" y="2486"/>
              <a:ext cx="1" cy="529"/>
            </a:xfrm>
            <a:prstGeom prst="bentConnector3">
              <a:avLst>
                <a:gd name="adj1" fmla="val -144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48"/>
            <p:cNvCxnSpPr>
              <a:cxnSpLocks noChangeShapeType="1"/>
              <a:stCxn id="19" idx="3"/>
              <a:endCxn id="22" idx="1"/>
            </p:cNvCxnSpPr>
            <p:nvPr/>
          </p:nvCxnSpPr>
          <p:spPr bwMode="auto">
            <a:xfrm flipV="1">
              <a:off x="1158" y="2752"/>
              <a:ext cx="380" cy="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15"/>
            <p:cNvCxnSpPr>
              <a:cxnSpLocks noChangeShapeType="1"/>
              <a:stCxn id="44" idx="3"/>
              <a:endCxn id="46" idx="1"/>
            </p:cNvCxnSpPr>
            <p:nvPr/>
          </p:nvCxnSpPr>
          <p:spPr bwMode="auto">
            <a:xfrm>
              <a:off x="1056" y="4829"/>
              <a:ext cx="13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16"/>
            <p:cNvCxnSpPr>
              <a:cxnSpLocks noChangeShapeType="1"/>
              <a:stCxn id="48" idx="3"/>
              <a:endCxn id="49" idx="1"/>
            </p:cNvCxnSpPr>
            <p:nvPr/>
          </p:nvCxnSpPr>
          <p:spPr bwMode="auto">
            <a:xfrm flipV="1">
              <a:off x="1073" y="5417"/>
              <a:ext cx="13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Rectangle 122"/>
            <p:cNvSpPr>
              <a:spLocks noChangeArrowheads="1"/>
            </p:cNvSpPr>
            <p:nvPr/>
          </p:nvSpPr>
          <p:spPr bwMode="auto">
            <a:xfrm>
              <a:off x="506" y="4502"/>
              <a:ext cx="1323" cy="583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44" name="Text Box 123"/>
            <p:cNvSpPr txBox="1">
              <a:spLocks noChangeArrowheads="1"/>
            </p:cNvSpPr>
            <p:nvPr/>
          </p:nvSpPr>
          <p:spPr bwMode="auto">
            <a:xfrm>
              <a:off x="592" y="4670"/>
              <a:ext cx="464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 계획 수립</a:t>
              </a:r>
            </a:p>
          </p:txBody>
        </p:sp>
        <p:sp>
          <p:nvSpPr>
            <p:cNvPr id="45" name="Text Box 124"/>
            <p:cNvSpPr txBox="1">
              <a:spLocks noChangeArrowheads="1"/>
            </p:cNvSpPr>
            <p:nvPr/>
          </p:nvSpPr>
          <p:spPr bwMode="auto">
            <a:xfrm>
              <a:off x="480" y="4494"/>
              <a:ext cx="66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데이터 변환 설계</a:t>
              </a:r>
            </a:p>
          </p:txBody>
        </p:sp>
        <p:sp>
          <p:nvSpPr>
            <p:cNvPr id="46" name="Text Box 125"/>
            <p:cNvSpPr txBox="1">
              <a:spLocks noChangeArrowheads="1"/>
            </p:cNvSpPr>
            <p:nvPr/>
          </p:nvSpPr>
          <p:spPr bwMode="auto">
            <a:xfrm>
              <a:off x="1187" y="4629"/>
              <a:ext cx="464" cy="3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 규칙 및 로직 정의</a:t>
              </a:r>
            </a:p>
          </p:txBody>
        </p:sp>
        <p:sp>
          <p:nvSpPr>
            <p:cNvPr id="47" name="Rectangle 126"/>
            <p:cNvSpPr>
              <a:spLocks noChangeArrowheads="1"/>
            </p:cNvSpPr>
            <p:nvPr/>
          </p:nvSpPr>
          <p:spPr bwMode="auto">
            <a:xfrm>
              <a:off x="506" y="5134"/>
              <a:ext cx="1323" cy="494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endParaRPr lang="ko-KR" altLang="en-US"/>
            </a:p>
          </p:txBody>
        </p:sp>
        <p:sp>
          <p:nvSpPr>
            <p:cNvPr id="48" name="Text Box 127"/>
            <p:cNvSpPr txBox="1">
              <a:spLocks noChangeArrowheads="1"/>
            </p:cNvSpPr>
            <p:nvPr/>
          </p:nvSpPr>
          <p:spPr bwMode="auto">
            <a:xfrm>
              <a:off x="592" y="5319"/>
              <a:ext cx="481" cy="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테스트 계획 수립</a:t>
              </a:r>
            </a:p>
          </p:txBody>
        </p:sp>
        <p:sp>
          <p:nvSpPr>
            <p:cNvPr id="49" name="Text Box 128"/>
            <p:cNvSpPr txBox="1">
              <a:spLocks noChangeArrowheads="1"/>
            </p:cNvSpPr>
            <p:nvPr/>
          </p:nvSpPr>
          <p:spPr bwMode="auto">
            <a:xfrm>
              <a:off x="1209" y="5282"/>
              <a:ext cx="579" cy="26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통합 및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시스템 테스트 시나리오 작성</a:t>
              </a:r>
            </a:p>
          </p:txBody>
        </p:sp>
        <p:sp>
          <p:nvSpPr>
            <p:cNvPr id="50" name="Rectangle 142"/>
            <p:cNvSpPr>
              <a:spLocks noChangeArrowheads="1"/>
            </p:cNvSpPr>
            <p:nvPr/>
          </p:nvSpPr>
          <p:spPr bwMode="auto">
            <a:xfrm>
              <a:off x="480" y="5136"/>
              <a:ext cx="5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latinLnBrk="1">
                <a:lnSpc>
                  <a:spcPct val="100000"/>
                </a:lnSpc>
              </a:pPr>
              <a:r>
                <a:rPr kumimoji="0" lang="ko-KR" altLang="en-US" sz="900"/>
                <a:t>테스트 설계</a:t>
              </a:r>
            </a:p>
          </p:txBody>
        </p:sp>
        <p:cxnSp>
          <p:nvCxnSpPr>
            <p:cNvPr id="51" name="AutoShape 150"/>
            <p:cNvCxnSpPr>
              <a:cxnSpLocks noChangeShapeType="1"/>
              <a:stCxn id="44" idx="3"/>
              <a:endCxn id="46" idx="1"/>
            </p:cNvCxnSpPr>
            <p:nvPr/>
          </p:nvCxnSpPr>
          <p:spPr bwMode="auto">
            <a:xfrm>
              <a:off x="1056" y="4829"/>
              <a:ext cx="131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156"/>
            <p:cNvCxnSpPr>
              <a:cxnSpLocks noChangeShapeType="1"/>
              <a:stCxn id="13" idx="3"/>
              <a:endCxn id="12" idx="3"/>
            </p:cNvCxnSpPr>
            <p:nvPr/>
          </p:nvCxnSpPr>
          <p:spPr bwMode="auto">
            <a:xfrm>
              <a:off x="1246" y="3617"/>
              <a:ext cx="1" cy="529"/>
            </a:xfrm>
            <a:prstGeom prst="bentConnector3">
              <a:avLst>
                <a:gd name="adj1" fmla="val 144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AutoShape 157"/>
            <p:cNvCxnSpPr>
              <a:cxnSpLocks noChangeShapeType="1"/>
              <a:stCxn id="14" idx="3"/>
              <a:endCxn id="16" idx="1"/>
            </p:cNvCxnSpPr>
            <p:nvPr/>
          </p:nvCxnSpPr>
          <p:spPr bwMode="auto">
            <a:xfrm flipV="1">
              <a:off x="1246" y="3853"/>
              <a:ext cx="281" cy="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158"/>
            <p:cNvCxnSpPr>
              <a:cxnSpLocks noChangeShapeType="1"/>
              <a:stCxn id="28" idx="3"/>
              <a:endCxn id="29" idx="3"/>
            </p:cNvCxnSpPr>
            <p:nvPr/>
          </p:nvCxnSpPr>
          <p:spPr bwMode="auto">
            <a:xfrm flipH="1">
              <a:off x="2958" y="3714"/>
              <a:ext cx="18" cy="384"/>
            </a:xfrm>
            <a:prstGeom prst="bentConnector3">
              <a:avLst>
                <a:gd name="adj1" fmla="val -605884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Line 159"/>
            <p:cNvSpPr>
              <a:spLocks noChangeShapeType="1"/>
            </p:cNvSpPr>
            <p:nvPr/>
          </p:nvSpPr>
          <p:spPr bwMode="auto">
            <a:xfrm>
              <a:off x="3087" y="3920"/>
              <a:ext cx="1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  <p:cxnSp>
          <p:nvCxnSpPr>
            <p:cNvPr id="56" name="AutoShape 161"/>
            <p:cNvCxnSpPr>
              <a:cxnSpLocks noChangeShapeType="1"/>
              <a:stCxn id="8" idx="2"/>
              <a:endCxn id="10" idx="0"/>
            </p:cNvCxnSpPr>
            <p:nvPr/>
          </p:nvCxnSpPr>
          <p:spPr bwMode="auto">
            <a:xfrm flipH="1">
              <a:off x="3361" y="2735"/>
              <a:ext cx="4" cy="18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164"/>
            <p:cNvCxnSpPr>
              <a:cxnSpLocks noChangeShapeType="1"/>
              <a:stCxn id="11" idx="3"/>
              <a:endCxn id="17" idx="1"/>
            </p:cNvCxnSpPr>
            <p:nvPr/>
          </p:nvCxnSpPr>
          <p:spPr bwMode="auto">
            <a:xfrm flipV="1">
              <a:off x="2159" y="3827"/>
              <a:ext cx="163" cy="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165"/>
            <p:cNvCxnSpPr>
              <a:cxnSpLocks noChangeShapeType="1"/>
              <a:stCxn id="35" idx="3"/>
              <a:endCxn id="36" idx="1"/>
            </p:cNvCxnSpPr>
            <p:nvPr/>
          </p:nvCxnSpPr>
          <p:spPr bwMode="auto">
            <a:xfrm flipV="1">
              <a:off x="2645" y="5072"/>
              <a:ext cx="83" cy="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166"/>
            <p:cNvCxnSpPr>
              <a:cxnSpLocks noChangeShapeType="1"/>
              <a:stCxn id="48" idx="3"/>
              <a:endCxn id="49" idx="1"/>
            </p:cNvCxnSpPr>
            <p:nvPr/>
          </p:nvCxnSpPr>
          <p:spPr bwMode="auto">
            <a:xfrm flipV="1">
              <a:off x="1073" y="5417"/>
              <a:ext cx="136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167"/>
            <p:cNvCxnSpPr>
              <a:cxnSpLocks noChangeShapeType="1"/>
              <a:stCxn id="36" idx="3"/>
              <a:endCxn id="37" idx="1"/>
            </p:cNvCxnSpPr>
            <p:nvPr/>
          </p:nvCxnSpPr>
          <p:spPr bwMode="auto">
            <a:xfrm>
              <a:off x="3229" y="5072"/>
              <a:ext cx="6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168"/>
            <p:cNvCxnSpPr>
              <a:cxnSpLocks noChangeShapeType="1"/>
              <a:stCxn id="43" idx="3"/>
              <a:endCxn id="47" idx="3"/>
            </p:cNvCxnSpPr>
            <p:nvPr/>
          </p:nvCxnSpPr>
          <p:spPr bwMode="auto">
            <a:xfrm>
              <a:off x="1829" y="4794"/>
              <a:ext cx="1" cy="587"/>
            </a:xfrm>
            <a:prstGeom prst="bentConnector3">
              <a:avLst>
                <a:gd name="adj1" fmla="val 80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" name="Line 169"/>
            <p:cNvSpPr>
              <a:spLocks noChangeShapeType="1"/>
            </p:cNvSpPr>
            <p:nvPr/>
          </p:nvSpPr>
          <p:spPr bwMode="auto">
            <a:xfrm>
              <a:off x="1916" y="5100"/>
              <a:ext cx="1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235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630417" y="321641"/>
            <a:ext cx="5876925" cy="5722938"/>
            <a:chOff x="332" y="2155"/>
            <a:chExt cx="3702" cy="3604"/>
          </a:xfrm>
        </p:grpSpPr>
        <p:grpSp>
          <p:nvGrpSpPr>
            <p:cNvPr id="5" name="Group 118"/>
            <p:cNvGrpSpPr>
              <a:grpSpLocks/>
            </p:cNvGrpSpPr>
            <p:nvPr/>
          </p:nvGrpSpPr>
          <p:grpSpPr bwMode="auto">
            <a:xfrm>
              <a:off x="332" y="2155"/>
              <a:ext cx="3702" cy="3604"/>
              <a:chOff x="332" y="2035"/>
              <a:chExt cx="3702" cy="3659"/>
            </a:xfrm>
          </p:grpSpPr>
          <p:sp>
            <p:nvSpPr>
              <p:cNvPr id="58" name="Freeform 103"/>
              <p:cNvSpPr>
                <a:spLocks/>
              </p:cNvSpPr>
              <p:nvPr/>
            </p:nvSpPr>
            <p:spPr bwMode="auto">
              <a:xfrm flipH="1" flipV="1">
                <a:off x="332" y="2035"/>
                <a:ext cx="3702" cy="3659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1270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9" name="Freeform 104"/>
              <p:cNvSpPr>
                <a:spLocks/>
              </p:cNvSpPr>
              <p:nvPr/>
            </p:nvSpPr>
            <p:spPr bwMode="auto">
              <a:xfrm>
                <a:off x="332" y="2037"/>
                <a:ext cx="3702" cy="3657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2576" y="3096"/>
              <a:ext cx="1361" cy="1666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ko-KR"/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351" y="3365"/>
              <a:ext cx="528" cy="24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Black Box </a:t>
              </a: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실시</a:t>
              </a:r>
            </a:p>
          </p:txBody>
        </p:sp>
        <p:sp>
          <p:nvSpPr>
            <p:cNvPr id="8" name="Text Box 21"/>
            <p:cNvSpPr txBox="1">
              <a:spLocks noChangeArrowheads="1"/>
            </p:cNvSpPr>
            <p:nvPr/>
          </p:nvSpPr>
          <p:spPr bwMode="auto">
            <a:xfrm>
              <a:off x="2670" y="3362"/>
              <a:ext cx="529" cy="2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White Box </a:t>
              </a: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실시</a:t>
              </a:r>
            </a:p>
          </p:txBody>
        </p:sp>
        <p:sp>
          <p:nvSpPr>
            <p:cNvPr id="9" name="Text Box 22"/>
            <p:cNvSpPr txBox="1">
              <a:spLocks noChangeArrowheads="1"/>
            </p:cNvSpPr>
            <p:nvPr/>
          </p:nvSpPr>
          <p:spPr bwMode="auto">
            <a:xfrm>
              <a:off x="3348" y="3792"/>
              <a:ext cx="528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결과 결함 수정</a:t>
              </a: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2670" y="3787"/>
              <a:ext cx="529" cy="24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/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단위 테스트 종료</a:t>
              </a:r>
            </a:p>
          </p:txBody>
        </p:sp>
        <p:cxnSp>
          <p:nvCxnSpPr>
            <p:cNvPr id="11" name="AutoShape 24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 rot="5400000">
              <a:off x="3523" y="3699"/>
              <a:ext cx="182" cy="3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 Box 30"/>
            <p:cNvSpPr txBox="1">
              <a:spLocks noChangeArrowheads="1"/>
            </p:cNvSpPr>
            <p:nvPr/>
          </p:nvSpPr>
          <p:spPr bwMode="auto">
            <a:xfrm>
              <a:off x="2544" y="3072"/>
              <a:ext cx="113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테스트 실시</a:t>
              </a:r>
            </a:p>
          </p:txBody>
        </p:sp>
        <p:cxnSp>
          <p:nvCxnSpPr>
            <p:cNvPr id="13" name="AutoShape 31"/>
            <p:cNvCxnSpPr>
              <a:cxnSpLocks noChangeShapeType="1"/>
              <a:stCxn id="8" idx="3"/>
              <a:endCxn id="7" idx="1"/>
            </p:cNvCxnSpPr>
            <p:nvPr/>
          </p:nvCxnSpPr>
          <p:spPr bwMode="auto">
            <a:xfrm flipV="1">
              <a:off x="3199" y="3487"/>
              <a:ext cx="152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Rectangle 45"/>
            <p:cNvSpPr>
              <a:spLocks noChangeArrowheads="1"/>
            </p:cNvSpPr>
            <p:nvPr/>
          </p:nvSpPr>
          <p:spPr bwMode="auto">
            <a:xfrm>
              <a:off x="628" y="2277"/>
              <a:ext cx="1507" cy="706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5" name="Text Box 46"/>
            <p:cNvSpPr txBox="1">
              <a:spLocks noChangeArrowheads="1"/>
            </p:cNvSpPr>
            <p:nvPr/>
          </p:nvSpPr>
          <p:spPr bwMode="auto">
            <a:xfrm>
              <a:off x="681" y="2478"/>
              <a:ext cx="433" cy="3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Kick </a:t>
              </a:r>
              <a:r>
                <a:rPr kumimoji="0" lang="en-US" altLang="ko-KR" sz="900">
                  <a:latin typeface="Verdana" panose="020B0604030504040204" pitchFamily="34" charset="0"/>
                  <a:ea typeface="굴림" panose="020B0600000101010101" pitchFamily="50" charset="-127"/>
                </a:rPr>
                <a:t>–</a:t>
              </a: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off </a:t>
              </a: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실시</a:t>
              </a:r>
            </a:p>
          </p:txBody>
        </p:sp>
        <p:sp>
          <p:nvSpPr>
            <p:cNvPr id="16" name="Text Box 47"/>
            <p:cNvSpPr txBox="1">
              <a:spLocks noChangeArrowheads="1"/>
            </p:cNvSpPr>
            <p:nvPr/>
          </p:nvSpPr>
          <p:spPr bwMode="auto">
            <a:xfrm>
              <a:off x="1300" y="2346"/>
              <a:ext cx="764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프로젝트 진척감독</a:t>
              </a:r>
            </a:p>
          </p:txBody>
        </p:sp>
        <p:sp>
          <p:nvSpPr>
            <p:cNvPr id="17" name="Text Box 48"/>
            <p:cNvSpPr txBox="1">
              <a:spLocks noChangeArrowheads="1"/>
            </p:cNvSpPr>
            <p:nvPr/>
          </p:nvSpPr>
          <p:spPr bwMode="auto">
            <a:xfrm>
              <a:off x="1300" y="2776"/>
              <a:ext cx="764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이슈도출 및 해결</a:t>
              </a:r>
            </a:p>
          </p:txBody>
        </p:sp>
        <p:sp>
          <p:nvSpPr>
            <p:cNvPr id="18" name="Text Box 49"/>
            <p:cNvSpPr txBox="1">
              <a:spLocks noChangeArrowheads="1"/>
            </p:cNvSpPr>
            <p:nvPr/>
          </p:nvSpPr>
          <p:spPr bwMode="auto">
            <a:xfrm>
              <a:off x="598" y="2274"/>
              <a:ext cx="42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관리</a:t>
              </a:r>
            </a:p>
          </p:txBody>
        </p:sp>
        <p:sp>
          <p:nvSpPr>
            <p:cNvPr id="19" name="Text Box 50"/>
            <p:cNvSpPr txBox="1">
              <a:spLocks noChangeArrowheads="1"/>
            </p:cNvSpPr>
            <p:nvPr/>
          </p:nvSpPr>
          <p:spPr bwMode="auto">
            <a:xfrm>
              <a:off x="1301" y="2520"/>
              <a:ext cx="763" cy="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회의 및 업무보고실시</a:t>
              </a:r>
            </a:p>
          </p:txBody>
        </p:sp>
        <p:cxnSp>
          <p:nvCxnSpPr>
            <p:cNvPr id="20" name="AutoShape 51"/>
            <p:cNvCxnSpPr>
              <a:cxnSpLocks noChangeShapeType="1"/>
              <a:stCxn id="16" idx="1"/>
              <a:endCxn id="17" idx="1"/>
            </p:cNvCxnSpPr>
            <p:nvPr/>
          </p:nvCxnSpPr>
          <p:spPr bwMode="auto">
            <a:xfrm rot="10800000" flipH="1" flipV="1">
              <a:off x="1300" y="2422"/>
              <a:ext cx="1" cy="430"/>
            </a:xfrm>
            <a:prstGeom prst="bentConnector3">
              <a:avLst>
                <a:gd name="adj1" fmla="val -144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52"/>
            <p:cNvCxnSpPr>
              <a:cxnSpLocks noChangeShapeType="1"/>
              <a:stCxn id="15" idx="3"/>
              <a:endCxn id="19" idx="1"/>
            </p:cNvCxnSpPr>
            <p:nvPr/>
          </p:nvCxnSpPr>
          <p:spPr bwMode="auto">
            <a:xfrm flipV="1">
              <a:off x="1114" y="2639"/>
              <a:ext cx="187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56"/>
            <p:cNvCxnSpPr>
              <a:cxnSpLocks noChangeShapeType="1"/>
              <a:stCxn id="30" idx="3"/>
              <a:endCxn id="28" idx="1"/>
            </p:cNvCxnSpPr>
            <p:nvPr/>
          </p:nvCxnSpPr>
          <p:spPr bwMode="auto">
            <a:xfrm>
              <a:off x="1260" y="3353"/>
              <a:ext cx="146" cy="2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57"/>
            <p:cNvCxnSpPr>
              <a:cxnSpLocks noChangeShapeType="1"/>
              <a:stCxn id="31" idx="3"/>
              <a:endCxn id="28" idx="1"/>
            </p:cNvCxnSpPr>
            <p:nvPr/>
          </p:nvCxnSpPr>
          <p:spPr bwMode="auto">
            <a:xfrm flipV="1">
              <a:off x="1260" y="3628"/>
              <a:ext cx="146" cy="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58"/>
            <p:cNvCxnSpPr>
              <a:cxnSpLocks noChangeShapeType="1"/>
              <a:stCxn id="32" idx="3"/>
              <a:endCxn id="28" idx="1"/>
            </p:cNvCxnSpPr>
            <p:nvPr/>
          </p:nvCxnSpPr>
          <p:spPr bwMode="auto">
            <a:xfrm flipV="1">
              <a:off x="1260" y="3628"/>
              <a:ext cx="146" cy="30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59"/>
            <p:cNvCxnSpPr>
              <a:cxnSpLocks noChangeShapeType="1"/>
              <a:stCxn id="28" idx="3"/>
              <a:endCxn id="29" idx="1"/>
            </p:cNvCxnSpPr>
            <p:nvPr/>
          </p:nvCxnSpPr>
          <p:spPr bwMode="auto">
            <a:xfrm>
              <a:off x="1734" y="3613"/>
              <a:ext cx="11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Rectangle 60"/>
            <p:cNvSpPr>
              <a:spLocks noChangeArrowheads="1"/>
            </p:cNvSpPr>
            <p:nvPr/>
          </p:nvSpPr>
          <p:spPr bwMode="auto">
            <a:xfrm>
              <a:off x="638" y="3092"/>
              <a:ext cx="1740" cy="1033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27" name="Text Box 61"/>
            <p:cNvSpPr txBox="1">
              <a:spLocks noChangeArrowheads="1"/>
            </p:cNvSpPr>
            <p:nvPr/>
          </p:nvSpPr>
          <p:spPr bwMode="auto">
            <a:xfrm>
              <a:off x="604" y="3072"/>
              <a:ext cx="93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코딩 및 단위 테스트 준비</a:t>
              </a:r>
            </a:p>
          </p:txBody>
        </p:sp>
        <p:sp>
          <p:nvSpPr>
            <p:cNvPr id="28" name="Text Box 62"/>
            <p:cNvSpPr txBox="1">
              <a:spLocks noChangeArrowheads="1"/>
            </p:cNvSpPr>
            <p:nvPr/>
          </p:nvSpPr>
          <p:spPr bwMode="auto">
            <a:xfrm>
              <a:off x="1406" y="3365"/>
              <a:ext cx="328" cy="4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프로그램 소스 검사 실시</a:t>
              </a:r>
            </a:p>
          </p:txBody>
        </p:sp>
        <p:sp>
          <p:nvSpPr>
            <p:cNvPr id="29" name="Text Box 63"/>
            <p:cNvSpPr txBox="1">
              <a:spLocks noChangeArrowheads="1"/>
            </p:cNvSpPr>
            <p:nvPr/>
          </p:nvSpPr>
          <p:spPr bwMode="auto">
            <a:xfrm>
              <a:off x="1844" y="3366"/>
              <a:ext cx="419" cy="4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프로그램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소스 검사결과 결함 수정</a:t>
              </a:r>
            </a:p>
          </p:txBody>
        </p:sp>
        <p:sp>
          <p:nvSpPr>
            <p:cNvPr id="30" name="Text Box 64"/>
            <p:cNvSpPr txBox="1">
              <a:spLocks noChangeArrowheads="1"/>
            </p:cNvSpPr>
            <p:nvPr/>
          </p:nvSpPr>
          <p:spPr bwMode="auto">
            <a:xfrm>
              <a:off x="725" y="3236"/>
              <a:ext cx="535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단위 테스트 케이스 작성</a:t>
              </a:r>
            </a:p>
          </p:txBody>
        </p:sp>
        <p:sp>
          <p:nvSpPr>
            <p:cNvPr id="31" name="Text Box 65"/>
            <p:cNvSpPr txBox="1">
              <a:spLocks noChangeArrowheads="1"/>
            </p:cNvSpPr>
            <p:nvPr/>
          </p:nvSpPr>
          <p:spPr bwMode="auto">
            <a:xfrm>
              <a:off x="725" y="3556"/>
              <a:ext cx="535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프로그램 소스 검사 준비</a:t>
              </a:r>
            </a:p>
          </p:txBody>
        </p:sp>
        <p:sp>
          <p:nvSpPr>
            <p:cNvPr id="32" name="Text Box 66"/>
            <p:cNvSpPr txBox="1">
              <a:spLocks noChangeArrowheads="1"/>
            </p:cNvSpPr>
            <p:nvPr/>
          </p:nvSpPr>
          <p:spPr bwMode="auto">
            <a:xfrm>
              <a:off x="725" y="3813"/>
              <a:ext cx="535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어플리케이션 코딩</a:t>
              </a:r>
            </a:p>
          </p:txBody>
        </p:sp>
        <p:sp>
          <p:nvSpPr>
            <p:cNvPr id="33" name="Rectangle 68"/>
            <p:cNvSpPr>
              <a:spLocks noChangeArrowheads="1"/>
            </p:cNvSpPr>
            <p:nvPr/>
          </p:nvSpPr>
          <p:spPr bwMode="auto">
            <a:xfrm>
              <a:off x="646" y="4174"/>
              <a:ext cx="1732" cy="588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34" name="Text Box 69"/>
            <p:cNvSpPr txBox="1">
              <a:spLocks noChangeArrowheads="1"/>
            </p:cNvSpPr>
            <p:nvPr/>
          </p:nvSpPr>
          <p:spPr bwMode="auto">
            <a:xfrm>
              <a:off x="810" y="4306"/>
              <a:ext cx="493" cy="4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 프로그램 개발</a:t>
              </a:r>
            </a:p>
          </p:txBody>
        </p:sp>
        <p:sp>
          <p:nvSpPr>
            <p:cNvPr id="35" name="Text Box 70"/>
            <p:cNvSpPr txBox="1">
              <a:spLocks noChangeArrowheads="1"/>
            </p:cNvSpPr>
            <p:nvPr/>
          </p:nvSpPr>
          <p:spPr bwMode="auto">
            <a:xfrm>
              <a:off x="1692" y="4397"/>
              <a:ext cx="492" cy="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</a:t>
              </a: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(1</a:t>
              </a: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차</a:t>
              </a:r>
              <a:r>
                <a:rPr kumimoji="0" lang="en-US" altLang="ko-KR" sz="900"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  <p:cxnSp>
          <p:nvCxnSpPr>
            <p:cNvPr id="36" name="AutoShape 71"/>
            <p:cNvCxnSpPr>
              <a:cxnSpLocks noChangeShapeType="1"/>
              <a:stCxn id="34" idx="3"/>
              <a:endCxn id="35" idx="1"/>
            </p:cNvCxnSpPr>
            <p:nvPr/>
          </p:nvCxnSpPr>
          <p:spPr bwMode="auto">
            <a:xfrm>
              <a:off x="1303" y="4524"/>
              <a:ext cx="38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624" y="4167"/>
              <a:ext cx="109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단위 테스트 데이터 준비</a:t>
              </a:r>
            </a:p>
          </p:txBody>
        </p:sp>
        <p:cxnSp>
          <p:nvCxnSpPr>
            <p:cNvPr id="38" name="AutoShape 77"/>
            <p:cNvCxnSpPr>
              <a:cxnSpLocks noChangeShapeType="1"/>
              <a:stCxn id="26" idx="3"/>
              <a:endCxn id="33" idx="3"/>
            </p:cNvCxnSpPr>
            <p:nvPr/>
          </p:nvCxnSpPr>
          <p:spPr bwMode="auto">
            <a:xfrm>
              <a:off x="2378" y="3608"/>
              <a:ext cx="1" cy="861"/>
            </a:xfrm>
            <a:prstGeom prst="bentConnector3">
              <a:avLst>
                <a:gd name="adj1" fmla="val 980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81"/>
            <p:cNvCxnSpPr>
              <a:cxnSpLocks noChangeShapeType="1"/>
              <a:stCxn id="9" idx="1"/>
              <a:endCxn id="10" idx="3"/>
            </p:cNvCxnSpPr>
            <p:nvPr/>
          </p:nvCxnSpPr>
          <p:spPr bwMode="auto">
            <a:xfrm flipH="1" flipV="1">
              <a:off x="3199" y="3910"/>
              <a:ext cx="149" cy="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82"/>
            <p:cNvCxnSpPr>
              <a:cxnSpLocks noChangeShapeType="1"/>
              <a:stCxn id="6" idx="3"/>
            </p:cNvCxnSpPr>
            <p:nvPr/>
          </p:nvCxnSpPr>
          <p:spPr bwMode="auto">
            <a:xfrm flipH="1">
              <a:off x="632" y="3929"/>
              <a:ext cx="3305" cy="1479"/>
            </a:xfrm>
            <a:prstGeom prst="bentConnector5">
              <a:avLst>
                <a:gd name="adj1" fmla="val -1718"/>
                <a:gd name="adj2" fmla="val 63296"/>
                <a:gd name="adj3" fmla="val 10441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41" name="Rectangle 83"/>
            <p:cNvSpPr>
              <a:spLocks noChangeArrowheads="1"/>
            </p:cNvSpPr>
            <p:nvPr/>
          </p:nvSpPr>
          <p:spPr bwMode="auto">
            <a:xfrm>
              <a:off x="628" y="5077"/>
              <a:ext cx="3306" cy="584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DE2B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42" name="Text Box 84"/>
            <p:cNvSpPr txBox="1">
              <a:spLocks noChangeArrowheads="1"/>
            </p:cNvSpPr>
            <p:nvPr/>
          </p:nvSpPr>
          <p:spPr bwMode="auto">
            <a:xfrm>
              <a:off x="774" y="5303"/>
              <a:ext cx="500" cy="2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산출물 검토</a:t>
              </a:r>
            </a:p>
          </p:txBody>
        </p:sp>
        <p:sp>
          <p:nvSpPr>
            <p:cNvPr id="43" name="Text Box 85"/>
            <p:cNvSpPr txBox="1">
              <a:spLocks noChangeArrowheads="1"/>
            </p:cNvSpPr>
            <p:nvPr/>
          </p:nvSpPr>
          <p:spPr bwMode="auto">
            <a:xfrm>
              <a:off x="1586" y="5258"/>
              <a:ext cx="501" cy="3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요구사항의 시스템 반영 검토</a:t>
              </a:r>
            </a:p>
          </p:txBody>
        </p:sp>
        <p:sp>
          <p:nvSpPr>
            <p:cNvPr id="44" name="Text Box 86"/>
            <p:cNvSpPr txBox="1">
              <a:spLocks noChangeArrowheads="1"/>
            </p:cNvSpPr>
            <p:nvPr/>
          </p:nvSpPr>
          <p:spPr bwMode="auto">
            <a:xfrm>
              <a:off x="3289" y="5259"/>
              <a:ext cx="499" cy="3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프로젝트 계획 검토 및 조정</a:t>
              </a:r>
            </a:p>
          </p:txBody>
        </p:sp>
        <p:sp>
          <p:nvSpPr>
            <p:cNvPr id="45" name="Text Box 87"/>
            <p:cNvSpPr txBox="1">
              <a:spLocks noChangeArrowheads="1"/>
            </p:cNvSpPr>
            <p:nvPr/>
          </p:nvSpPr>
          <p:spPr bwMode="auto">
            <a:xfrm>
              <a:off x="2460" y="5215"/>
              <a:ext cx="502" cy="4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프로그램 대비 테이블 검토</a:t>
              </a:r>
            </a:p>
          </p:txBody>
        </p:sp>
        <p:sp>
          <p:nvSpPr>
            <p:cNvPr id="46" name="Text Box 88"/>
            <p:cNvSpPr txBox="1">
              <a:spLocks noChangeArrowheads="1"/>
            </p:cNvSpPr>
            <p:nvPr/>
          </p:nvSpPr>
          <p:spPr bwMode="auto">
            <a:xfrm>
              <a:off x="595" y="5069"/>
              <a:ext cx="65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종료 평가</a:t>
              </a:r>
            </a:p>
          </p:txBody>
        </p:sp>
        <p:cxnSp>
          <p:nvCxnSpPr>
            <p:cNvPr id="47" name="AutoShape 89"/>
            <p:cNvCxnSpPr>
              <a:cxnSpLocks noChangeShapeType="1"/>
              <a:stCxn id="42" idx="3"/>
              <a:endCxn id="43" idx="1"/>
            </p:cNvCxnSpPr>
            <p:nvPr/>
          </p:nvCxnSpPr>
          <p:spPr bwMode="auto">
            <a:xfrm>
              <a:off x="1274" y="5428"/>
              <a:ext cx="31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90"/>
            <p:cNvCxnSpPr>
              <a:cxnSpLocks noChangeShapeType="1"/>
              <a:stCxn id="43" idx="3"/>
              <a:endCxn id="45" idx="1"/>
            </p:cNvCxnSpPr>
            <p:nvPr/>
          </p:nvCxnSpPr>
          <p:spPr bwMode="auto">
            <a:xfrm>
              <a:off x="2087" y="5420"/>
              <a:ext cx="373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91"/>
            <p:cNvCxnSpPr>
              <a:cxnSpLocks noChangeShapeType="1"/>
              <a:stCxn id="45" idx="3"/>
              <a:endCxn id="44" idx="1"/>
            </p:cNvCxnSpPr>
            <p:nvPr/>
          </p:nvCxnSpPr>
          <p:spPr bwMode="auto">
            <a:xfrm>
              <a:off x="2962" y="5420"/>
              <a:ext cx="327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0" name="Line 97"/>
            <p:cNvSpPr>
              <a:spLocks noChangeShapeType="1"/>
            </p:cNvSpPr>
            <p:nvPr/>
          </p:nvSpPr>
          <p:spPr bwMode="auto">
            <a:xfrm>
              <a:off x="2476" y="4040"/>
              <a:ext cx="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ko-KR" altLang="en-US"/>
            </a:p>
          </p:txBody>
        </p:sp>
        <p:cxnSp>
          <p:nvCxnSpPr>
            <p:cNvPr id="51" name="AutoShape 105"/>
            <p:cNvCxnSpPr>
              <a:cxnSpLocks noChangeShapeType="1"/>
              <a:stCxn id="30" idx="3"/>
              <a:endCxn id="32" idx="3"/>
            </p:cNvCxnSpPr>
            <p:nvPr/>
          </p:nvCxnSpPr>
          <p:spPr bwMode="auto">
            <a:xfrm>
              <a:off x="1260" y="3353"/>
              <a:ext cx="1" cy="576"/>
            </a:xfrm>
            <a:prstGeom prst="bentConnector3">
              <a:avLst>
                <a:gd name="adj1" fmla="val 62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106"/>
            <p:cNvCxnSpPr>
              <a:cxnSpLocks noChangeShapeType="1"/>
              <a:stCxn id="31" idx="3"/>
              <a:endCxn id="28" idx="1"/>
            </p:cNvCxnSpPr>
            <p:nvPr/>
          </p:nvCxnSpPr>
          <p:spPr bwMode="auto">
            <a:xfrm flipV="1">
              <a:off x="1260" y="3628"/>
              <a:ext cx="146" cy="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AutoShape 107"/>
            <p:cNvCxnSpPr>
              <a:cxnSpLocks noChangeShapeType="1"/>
              <a:stCxn id="28" idx="3"/>
              <a:endCxn id="29" idx="1"/>
            </p:cNvCxnSpPr>
            <p:nvPr/>
          </p:nvCxnSpPr>
          <p:spPr bwMode="auto">
            <a:xfrm>
              <a:off x="1734" y="3613"/>
              <a:ext cx="110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Text Box 109"/>
            <p:cNvSpPr txBox="1">
              <a:spLocks noChangeArrowheads="1"/>
            </p:cNvSpPr>
            <p:nvPr/>
          </p:nvSpPr>
          <p:spPr bwMode="auto">
            <a:xfrm>
              <a:off x="2631" y="4175"/>
              <a:ext cx="612" cy="2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8315" tIns="49158" rIns="98315" bIns="49158">
              <a:spAutoFit/>
            </a:bodyPr>
            <a:lstStyle/>
            <a:p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통합 및 시스템</a:t>
              </a:r>
              <a:b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실시</a:t>
              </a:r>
            </a:p>
          </p:txBody>
        </p:sp>
        <p:cxnSp>
          <p:nvCxnSpPr>
            <p:cNvPr id="55" name="AutoShape 110"/>
            <p:cNvCxnSpPr>
              <a:cxnSpLocks noChangeShapeType="1"/>
              <a:stCxn id="10" idx="2"/>
              <a:endCxn id="54" idx="0"/>
            </p:cNvCxnSpPr>
            <p:nvPr/>
          </p:nvCxnSpPr>
          <p:spPr bwMode="auto">
            <a:xfrm>
              <a:off x="2935" y="4032"/>
              <a:ext cx="2" cy="14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AutoShape 111"/>
            <p:cNvCxnSpPr>
              <a:cxnSpLocks noChangeShapeType="1"/>
              <a:stCxn id="14" idx="3"/>
              <a:endCxn id="26" idx="1"/>
            </p:cNvCxnSpPr>
            <p:nvPr/>
          </p:nvCxnSpPr>
          <p:spPr bwMode="auto">
            <a:xfrm flipH="1">
              <a:off x="638" y="2630"/>
              <a:ext cx="1497" cy="978"/>
            </a:xfrm>
            <a:prstGeom prst="bentConnector5">
              <a:avLst>
                <a:gd name="adj1" fmla="val -9741"/>
                <a:gd name="adj2" fmla="val 41634"/>
                <a:gd name="adj3" fmla="val 109741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113"/>
            <p:cNvCxnSpPr>
              <a:cxnSpLocks noChangeShapeType="1"/>
              <a:stCxn id="14" idx="3"/>
              <a:endCxn id="33" idx="1"/>
            </p:cNvCxnSpPr>
            <p:nvPr/>
          </p:nvCxnSpPr>
          <p:spPr bwMode="auto">
            <a:xfrm flipH="1">
              <a:off x="646" y="2630"/>
              <a:ext cx="1489" cy="1839"/>
            </a:xfrm>
            <a:prstGeom prst="bentConnector5">
              <a:avLst>
                <a:gd name="adj1" fmla="val -9796"/>
                <a:gd name="adj2" fmla="val 22199"/>
                <a:gd name="adj3" fmla="val 110204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0014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5"/>
          <p:cNvGrpSpPr>
            <a:grpSpLocks/>
          </p:cNvGrpSpPr>
          <p:nvPr/>
        </p:nvGrpSpPr>
        <p:grpSpPr bwMode="auto">
          <a:xfrm>
            <a:off x="622480" y="227952"/>
            <a:ext cx="5894387" cy="5837237"/>
            <a:chOff x="327" y="2106"/>
            <a:chExt cx="3713" cy="3676"/>
          </a:xfrm>
        </p:grpSpPr>
        <p:grpSp>
          <p:nvGrpSpPr>
            <p:cNvPr id="5" name="Group 108"/>
            <p:cNvGrpSpPr>
              <a:grpSpLocks/>
            </p:cNvGrpSpPr>
            <p:nvPr/>
          </p:nvGrpSpPr>
          <p:grpSpPr bwMode="auto">
            <a:xfrm>
              <a:off x="327" y="2106"/>
              <a:ext cx="3713" cy="3676"/>
              <a:chOff x="327" y="2106"/>
              <a:chExt cx="3713" cy="3706"/>
            </a:xfrm>
          </p:grpSpPr>
          <p:sp>
            <p:nvSpPr>
              <p:cNvPr id="63" name="Freeform 64"/>
              <p:cNvSpPr>
                <a:spLocks/>
              </p:cNvSpPr>
              <p:nvPr/>
            </p:nvSpPr>
            <p:spPr bwMode="auto">
              <a:xfrm flipH="1" flipV="1">
                <a:off x="327" y="2106"/>
                <a:ext cx="3713" cy="3700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1270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64" name="Freeform 65"/>
              <p:cNvSpPr>
                <a:spLocks/>
              </p:cNvSpPr>
              <p:nvPr/>
            </p:nvSpPr>
            <p:spPr bwMode="auto">
              <a:xfrm>
                <a:off x="327" y="2108"/>
                <a:ext cx="3713" cy="3704"/>
              </a:xfrm>
              <a:custGeom>
                <a:avLst/>
                <a:gdLst>
                  <a:gd name="T0" fmla="*/ 0 w 1044"/>
                  <a:gd name="T1" fmla="*/ 540 h 540"/>
                  <a:gd name="T2" fmla="*/ 0 w 1044"/>
                  <a:gd name="T3" fmla="*/ 0 h 540"/>
                  <a:gd name="T4" fmla="*/ 1044 w 1044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4" h="540">
                    <a:moveTo>
                      <a:pt x="0" y="540"/>
                    </a:moveTo>
                    <a:lnTo>
                      <a:pt x="0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1914" y="2180"/>
              <a:ext cx="1440" cy="636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ko-KR"/>
            </a:p>
          </p:txBody>
        </p:sp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1943" y="2440"/>
              <a:ext cx="597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사용자 사용 교육 계획 수립</a:t>
              </a:r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09" y="2324"/>
              <a:ext cx="597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사용자 매뉴얼 작성</a:t>
              </a:r>
            </a:p>
          </p:txBody>
        </p:sp>
        <p:sp>
          <p:nvSpPr>
            <p:cNvPr id="9" name="Rectangle 21"/>
            <p:cNvSpPr>
              <a:spLocks noChangeArrowheads="1"/>
            </p:cNvSpPr>
            <p:nvPr/>
          </p:nvSpPr>
          <p:spPr bwMode="auto">
            <a:xfrm>
              <a:off x="1914" y="2906"/>
              <a:ext cx="912" cy="954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0" name="Text Box 22"/>
            <p:cNvSpPr txBox="1">
              <a:spLocks noChangeArrowheads="1"/>
            </p:cNvSpPr>
            <p:nvPr/>
          </p:nvSpPr>
          <p:spPr bwMode="auto">
            <a:xfrm>
              <a:off x="2037" y="3044"/>
              <a:ext cx="673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어플리케이션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S/W </a:t>
              </a: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설치</a:t>
              </a:r>
            </a:p>
          </p:txBody>
        </p:sp>
        <p:sp>
          <p:nvSpPr>
            <p:cNvPr id="11" name="Text Box 23"/>
            <p:cNvSpPr txBox="1">
              <a:spLocks noChangeArrowheads="1"/>
            </p:cNvSpPr>
            <p:nvPr/>
          </p:nvSpPr>
          <p:spPr bwMode="auto">
            <a:xfrm>
              <a:off x="1872" y="2889"/>
              <a:ext cx="5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시스템 설치</a:t>
              </a:r>
            </a:p>
          </p:txBody>
        </p:sp>
        <p:sp>
          <p:nvSpPr>
            <p:cNvPr id="12" name="Text Box 24"/>
            <p:cNvSpPr txBox="1">
              <a:spLocks noChangeArrowheads="1"/>
            </p:cNvSpPr>
            <p:nvPr/>
          </p:nvSpPr>
          <p:spPr bwMode="auto">
            <a:xfrm>
              <a:off x="2035" y="3304"/>
              <a:ext cx="673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신규 어플리케이션 전환</a:t>
              </a:r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474" y="4100"/>
              <a:ext cx="1248" cy="481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4" name="Text Box 27"/>
            <p:cNvSpPr txBox="1">
              <a:spLocks noChangeArrowheads="1"/>
            </p:cNvSpPr>
            <p:nvPr/>
          </p:nvSpPr>
          <p:spPr bwMode="auto">
            <a:xfrm>
              <a:off x="496" y="4092"/>
              <a:ext cx="595" cy="144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시스템 </a:t>
              </a:r>
              <a:r>
                <a:rPr kumimoji="0" lang="en-US" altLang="ko-KR" sz="900"/>
                <a:t>Open </a:t>
              </a:r>
            </a:p>
          </p:txBody>
        </p:sp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507" y="4264"/>
              <a:ext cx="54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사용자 승인 테스트 실시</a:t>
              </a:r>
            </a:p>
          </p:txBody>
        </p:sp>
        <p:sp>
          <p:nvSpPr>
            <p:cNvPr id="16" name="Text Box 29"/>
            <p:cNvSpPr txBox="1">
              <a:spLocks noChangeArrowheads="1"/>
            </p:cNvSpPr>
            <p:nvPr/>
          </p:nvSpPr>
          <p:spPr bwMode="auto">
            <a:xfrm>
              <a:off x="1151" y="4302"/>
              <a:ext cx="536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시스템 </a:t>
              </a: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Open</a:t>
              </a:r>
            </a:p>
          </p:txBody>
        </p:sp>
        <p:cxnSp>
          <p:nvCxnSpPr>
            <p:cNvPr id="17" name="AutoShape 30"/>
            <p:cNvCxnSpPr>
              <a:cxnSpLocks noChangeShapeType="1"/>
              <a:stCxn id="15" idx="3"/>
              <a:endCxn id="16" idx="1"/>
            </p:cNvCxnSpPr>
            <p:nvPr/>
          </p:nvCxnSpPr>
          <p:spPr bwMode="auto">
            <a:xfrm>
              <a:off x="1055" y="4374"/>
              <a:ext cx="9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714" y="4785"/>
              <a:ext cx="2928" cy="927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19" name="Text Box 32"/>
            <p:cNvSpPr txBox="1">
              <a:spLocks noChangeArrowheads="1"/>
            </p:cNvSpPr>
            <p:nvPr/>
          </p:nvSpPr>
          <p:spPr bwMode="auto">
            <a:xfrm>
              <a:off x="858" y="5063"/>
              <a:ext cx="637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산출물 검토</a:t>
              </a:r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1756" y="5025"/>
              <a:ext cx="63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프로젝트 범위 검토</a:t>
              </a:r>
            </a:p>
          </p:txBody>
        </p:sp>
        <p:sp>
          <p:nvSpPr>
            <p:cNvPr id="21" name="Text Box 34"/>
            <p:cNvSpPr txBox="1">
              <a:spLocks noChangeArrowheads="1"/>
            </p:cNvSpPr>
            <p:nvPr/>
          </p:nvSpPr>
          <p:spPr bwMode="auto">
            <a:xfrm>
              <a:off x="1146" y="5300"/>
              <a:ext cx="63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프로젝트 종료 보고</a:t>
              </a:r>
            </a:p>
          </p:txBody>
        </p:sp>
        <p:sp>
          <p:nvSpPr>
            <p:cNvPr id="22" name="Text Box 35"/>
            <p:cNvSpPr txBox="1">
              <a:spLocks noChangeArrowheads="1"/>
            </p:cNvSpPr>
            <p:nvPr/>
          </p:nvSpPr>
          <p:spPr bwMode="auto">
            <a:xfrm>
              <a:off x="2668" y="5025"/>
              <a:ext cx="63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산출물 정리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및 수집</a:t>
              </a:r>
            </a:p>
          </p:txBody>
        </p:sp>
        <p:sp>
          <p:nvSpPr>
            <p:cNvPr id="23" name="Text Box 36"/>
            <p:cNvSpPr txBox="1">
              <a:spLocks noChangeArrowheads="1"/>
            </p:cNvSpPr>
            <p:nvPr/>
          </p:nvSpPr>
          <p:spPr bwMode="auto">
            <a:xfrm>
              <a:off x="700" y="4800"/>
              <a:ext cx="59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종료 평가</a:t>
              </a:r>
            </a:p>
          </p:txBody>
        </p:sp>
        <p:cxnSp>
          <p:nvCxnSpPr>
            <p:cNvPr id="24" name="AutoShape 37"/>
            <p:cNvCxnSpPr>
              <a:cxnSpLocks noChangeShapeType="1"/>
              <a:stCxn id="20" idx="3"/>
              <a:endCxn id="22" idx="1"/>
            </p:cNvCxnSpPr>
            <p:nvPr/>
          </p:nvCxnSpPr>
          <p:spPr bwMode="auto">
            <a:xfrm>
              <a:off x="2394" y="5143"/>
              <a:ext cx="274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38"/>
            <p:cNvCxnSpPr>
              <a:cxnSpLocks noChangeShapeType="1"/>
              <a:stCxn id="19" idx="3"/>
              <a:endCxn id="20" idx="1"/>
            </p:cNvCxnSpPr>
            <p:nvPr/>
          </p:nvCxnSpPr>
          <p:spPr bwMode="auto">
            <a:xfrm>
              <a:off x="1495" y="5135"/>
              <a:ext cx="261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Text Box 41"/>
            <p:cNvSpPr txBox="1">
              <a:spLocks noChangeArrowheads="1"/>
            </p:cNvSpPr>
            <p:nvPr/>
          </p:nvSpPr>
          <p:spPr bwMode="auto">
            <a:xfrm>
              <a:off x="1872" y="2172"/>
              <a:ext cx="86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시스템 사용 교육 준비 </a:t>
              </a:r>
            </a:p>
          </p:txBody>
        </p:sp>
        <p:cxnSp>
          <p:nvCxnSpPr>
            <p:cNvPr id="27" name="AutoShape 42"/>
            <p:cNvCxnSpPr>
              <a:cxnSpLocks noChangeShapeType="1"/>
            </p:cNvCxnSpPr>
            <p:nvPr/>
          </p:nvCxnSpPr>
          <p:spPr bwMode="auto">
            <a:xfrm flipH="1">
              <a:off x="2938" y="4112"/>
              <a:ext cx="772" cy="892"/>
            </a:xfrm>
            <a:prstGeom prst="straightConnector1">
              <a:avLst/>
            </a:prstGeom>
            <a:noFill/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folHlink"/>
                  </a:solidFill>
                  <a:round/>
                  <a:headEnd/>
                  <a:tailEnd type="triangle" w="med" len="med"/>
                </a14:hiddenLine>
              </a:ext>
            </a:extLst>
          </p:spPr>
        </p:cxn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378" y="2324"/>
              <a:ext cx="1344" cy="1008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29" name="Text Box 46"/>
            <p:cNvSpPr txBox="1">
              <a:spLocks noChangeArrowheads="1"/>
            </p:cNvSpPr>
            <p:nvPr/>
          </p:nvSpPr>
          <p:spPr bwMode="auto">
            <a:xfrm>
              <a:off x="426" y="2662"/>
              <a:ext cx="480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단계 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Kick </a:t>
              </a:r>
              <a:r>
                <a:rPr kumimoji="0" lang="en-US" altLang="ko-KR" sz="800">
                  <a:latin typeface="Verdana" panose="020B0604030504040204" pitchFamily="34" charset="0"/>
                  <a:ea typeface="굴림" panose="020B0600000101010101" pitchFamily="50" charset="-127"/>
                </a:rPr>
                <a:t>–</a:t>
              </a: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off </a:t>
              </a: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실시</a:t>
              </a:r>
            </a:p>
          </p:txBody>
        </p:sp>
        <p:sp>
          <p:nvSpPr>
            <p:cNvPr id="30" name="Text Box 47"/>
            <p:cNvSpPr txBox="1">
              <a:spLocks noChangeArrowheads="1"/>
            </p:cNvSpPr>
            <p:nvPr/>
          </p:nvSpPr>
          <p:spPr bwMode="auto">
            <a:xfrm>
              <a:off x="1118" y="2391"/>
              <a:ext cx="50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프로젝트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 진척감독</a:t>
              </a:r>
            </a:p>
          </p:txBody>
        </p:sp>
        <p:sp>
          <p:nvSpPr>
            <p:cNvPr id="31" name="Text Box 48"/>
            <p:cNvSpPr txBox="1">
              <a:spLocks noChangeArrowheads="1"/>
            </p:cNvSpPr>
            <p:nvPr/>
          </p:nvSpPr>
          <p:spPr bwMode="auto">
            <a:xfrm>
              <a:off x="1118" y="3016"/>
              <a:ext cx="508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이슈도출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 및 해결</a:t>
              </a:r>
            </a:p>
          </p:txBody>
        </p:sp>
        <p:sp>
          <p:nvSpPr>
            <p:cNvPr id="32" name="Text Box 49"/>
            <p:cNvSpPr txBox="1">
              <a:spLocks noChangeArrowheads="1"/>
            </p:cNvSpPr>
            <p:nvPr/>
          </p:nvSpPr>
          <p:spPr bwMode="auto">
            <a:xfrm>
              <a:off x="340" y="2316"/>
              <a:ext cx="42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단계 관리</a:t>
              </a:r>
            </a:p>
          </p:txBody>
        </p:sp>
        <p:sp>
          <p:nvSpPr>
            <p:cNvPr id="33" name="Text Box 50"/>
            <p:cNvSpPr txBox="1">
              <a:spLocks noChangeArrowheads="1"/>
            </p:cNvSpPr>
            <p:nvPr/>
          </p:nvSpPr>
          <p:spPr bwMode="auto">
            <a:xfrm>
              <a:off x="1122" y="2661"/>
              <a:ext cx="504" cy="2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회의 및 업무보고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실시</a:t>
              </a:r>
            </a:p>
          </p:txBody>
        </p:sp>
        <p:cxnSp>
          <p:nvCxnSpPr>
            <p:cNvPr id="34" name="AutoShape 51"/>
            <p:cNvCxnSpPr>
              <a:cxnSpLocks noChangeShapeType="1"/>
              <a:stCxn id="30" idx="1"/>
              <a:endCxn id="31" idx="1"/>
            </p:cNvCxnSpPr>
            <p:nvPr/>
          </p:nvCxnSpPr>
          <p:spPr bwMode="auto">
            <a:xfrm rot="10800000" flipH="1" flipV="1">
              <a:off x="1118" y="2501"/>
              <a:ext cx="1" cy="625"/>
            </a:xfrm>
            <a:prstGeom prst="bentConnector3">
              <a:avLst>
                <a:gd name="adj1" fmla="val -144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52"/>
            <p:cNvCxnSpPr>
              <a:cxnSpLocks noChangeShapeType="1"/>
              <a:stCxn id="29" idx="3"/>
              <a:endCxn id="33" idx="1"/>
            </p:cNvCxnSpPr>
            <p:nvPr/>
          </p:nvCxnSpPr>
          <p:spPr bwMode="auto">
            <a:xfrm flipV="1">
              <a:off x="906" y="2810"/>
              <a:ext cx="216" cy="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53"/>
            <p:cNvCxnSpPr>
              <a:cxnSpLocks noChangeShapeType="1"/>
              <a:stCxn id="6" idx="1"/>
              <a:endCxn id="9" idx="1"/>
            </p:cNvCxnSpPr>
            <p:nvPr/>
          </p:nvCxnSpPr>
          <p:spPr bwMode="auto">
            <a:xfrm rot="10800000" flipH="1" flipV="1">
              <a:off x="1914" y="2498"/>
              <a:ext cx="1" cy="885"/>
            </a:xfrm>
            <a:prstGeom prst="bentConnector3">
              <a:avLst>
                <a:gd name="adj1" fmla="val -10700005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56"/>
            <p:cNvCxnSpPr>
              <a:cxnSpLocks noChangeShapeType="1"/>
              <a:stCxn id="22" idx="3"/>
              <a:endCxn id="21" idx="3"/>
            </p:cNvCxnSpPr>
            <p:nvPr/>
          </p:nvCxnSpPr>
          <p:spPr bwMode="auto">
            <a:xfrm flipH="1">
              <a:off x="1784" y="5135"/>
              <a:ext cx="1522" cy="275"/>
            </a:xfrm>
            <a:prstGeom prst="bentConnector3">
              <a:avLst>
                <a:gd name="adj1" fmla="val -946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8" name="Text Box 67"/>
            <p:cNvSpPr txBox="1">
              <a:spLocks noChangeArrowheads="1"/>
            </p:cNvSpPr>
            <p:nvPr/>
          </p:nvSpPr>
          <p:spPr bwMode="auto">
            <a:xfrm>
              <a:off x="2709" y="2564"/>
              <a:ext cx="597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운영자 매뉴얼 작성</a:t>
              </a:r>
            </a:p>
          </p:txBody>
        </p:sp>
        <p:cxnSp>
          <p:nvCxnSpPr>
            <p:cNvPr id="39" name="AutoShape 68"/>
            <p:cNvCxnSpPr>
              <a:cxnSpLocks noChangeShapeType="1"/>
              <a:stCxn id="8" idx="1"/>
              <a:endCxn id="38" idx="1"/>
            </p:cNvCxnSpPr>
            <p:nvPr/>
          </p:nvCxnSpPr>
          <p:spPr bwMode="auto">
            <a:xfrm rot="10800000" flipH="1" flipV="1">
              <a:off x="2709" y="2434"/>
              <a:ext cx="1" cy="240"/>
            </a:xfrm>
            <a:prstGeom prst="bentConnector3">
              <a:avLst>
                <a:gd name="adj1" fmla="val -7900005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Line 69"/>
            <p:cNvSpPr>
              <a:spLocks noChangeShapeType="1"/>
            </p:cNvSpPr>
            <p:nvPr/>
          </p:nvSpPr>
          <p:spPr bwMode="auto">
            <a:xfrm>
              <a:off x="2538" y="256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  <p:sp>
          <p:nvSpPr>
            <p:cNvPr id="41" name="Text Box 70"/>
            <p:cNvSpPr txBox="1">
              <a:spLocks noChangeArrowheads="1"/>
            </p:cNvSpPr>
            <p:nvPr/>
          </p:nvSpPr>
          <p:spPr bwMode="auto">
            <a:xfrm>
              <a:off x="2040" y="3567"/>
              <a:ext cx="673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</a:t>
              </a:r>
            </a:p>
            <a:p>
              <a:pPr eaLnBrk="0" hangingPunct="0">
                <a:lnSpc>
                  <a:spcPct val="100000"/>
                </a:lnSpc>
              </a:pP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최종</a:t>
              </a:r>
              <a:r>
                <a:rPr kumimoji="0" lang="en-US" altLang="ko-KR" sz="800"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</a:p>
          </p:txBody>
        </p:sp>
        <p:sp>
          <p:nvSpPr>
            <p:cNvPr id="42" name="Rectangle 71"/>
            <p:cNvSpPr>
              <a:spLocks noChangeArrowheads="1"/>
            </p:cNvSpPr>
            <p:nvPr/>
          </p:nvSpPr>
          <p:spPr bwMode="auto">
            <a:xfrm>
              <a:off x="3141" y="2861"/>
              <a:ext cx="768" cy="765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43" name="Text Box 72"/>
            <p:cNvSpPr txBox="1">
              <a:spLocks noChangeArrowheads="1"/>
            </p:cNvSpPr>
            <p:nvPr/>
          </p:nvSpPr>
          <p:spPr bwMode="auto">
            <a:xfrm>
              <a:off x="3185" y="2999"/>
              <a:ext cx="673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시스템 인수인계 계획수립</a:t>
              </a:r>
            </a:p>
          </p:txBody>
        </p:sp>
        <p:sp>
          <p:nvSpPr>
            <p:cNvPr id="44" name="Text Box 73"/>
            <p:cNvSpPr txBox="1">
              <a:spLocks noChangeArrowheads="1"/>
            </p:cNvSpPr>
            <p:nvPr/>
          </p:nvSpPr>
          <p:spPr bwMode="auto">
            <a:xfrm>
              <a:off x="3120" y="2844"/>
              <a:ext cx="66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시스템 전개 준비</a:t>
              </a:r>
            </a:p>
          </p:txBody>
        </p:sp>
        <p:sp>
          <p:nvSpPr>
            <p:cNvPr id="45" name="Text Box 74"/>
            <p:cNvSpPr txBox="1">
              <a:spLocks noChangeArrowheads="1"/>
            </p:cNvSpPr>
            <p:nvPr/>
          </p:nvSpPr>
          <p:spPr bwMode="auto">
            <a:xfrm>
              <a:off x="3188" y="3242"/>
              <a:ext cx="673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사용자교육실시</a:t>
              </a:r>
            </a:p>
          </p:txBody>
        </p:sp>
        <p:sp>
          <p:nvSpPr>
            <p:cNvPr id="46" name="Text Box 76"/>
            <p:cNvSpPr txBox="1">
              <a:spLocks noChangeArrowheads="1"/>
            </p:cNvSpPr>
            <p:nvPr/>
          </p:nvSpPr>
          <p:spPr bwMode="auto">
            <a:xfrm>
              <a:off x="3188" y="3405"/>
              <a:ext cx="673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운영자교육실시</a:t>
              </a:r>
            </a:p>
          </p:txBody>
        </p:sp>
        <p:cxnSp>
          <p:nvCxnSpPr>
            <p:cNvPr id="47" name="AutoShape 78"/>
            <p:cNvCxnSpPr>
              <a:cxnSpLocks noChangeShapeType="1"/>
              <a:stCxn id="6" idx="3"/>
              <a:endCxn id="44" idx="0"/>
            </p:cNvCxnSpPr>
            <p:nvPr/>
          </p:nvCxnSpPr>
          <p:spPr bwMode="auto">
            <a:xfrm>
              <a:off x="3354" y="2498"/>
              <a:ext cx="100" cy="346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Rectangle 79"/>
            <p:cNvSpPr>
              <a:spLocks noChangeArrowheads="1"/>
            </p:cNvSpPr>
            <p:nvPr/>
          </p:nvSpPr>
          <p:spPr bwMode="auto">
            <a:xfrm>
              <a:off x="1920" y="4003"/>
              <a:ext cx="2064" cy="672"/>
            </a:xfrm>
            <a:prstGeom prst="rect">
              <a:avLst/>
            </a:prstGeom>
            <a:solidFill>
              <a:srgbClr val="CDE2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ctr"/>
            <a:lstStyle/>
            <a:p>
              <a:endParaRPr lang="ko-KR" altLang="en-US"/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1968" y="4204"/>
              <a:ext cx="496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시범 운영 </a:t>
              </a:r>
              <a:b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계획 수립</a:t>
              </a:r>
            </a:p>
          </p:txBody>
        </p:sp>
        <p:sp>
          <p:nvSpPr>
            <p:cNvPr id="50" name="Text Box 81"/>
            <p:cNvSpPr txBox="1">
              <a:spLocks noChangeArrowheads="1"/>
            </p:cNvSpPr>
            <p:nvPr/>
          </p:nvSpPr>
          <p:spPr bwMode="auto">
            <a:xfrm>
              <a:off x="2645" y="4099"/>
              <a:ext cx="619" cy="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시범운영</a:t>
              </a:r>
            </a:p>
          </p:txBody>
        </p:sp>
        <p:sp>
          <p:nvSpPr>
            <p:cNvPr id="51" name="Text Box 83"/>
            <p:cNvSpPr txBox="1">
              <a:spLocks noChangeArrowheads="1"/>
            </p:cNvSpPr>
            <p:nvPr/>
          </p:nvSpPr>
          <p:spPr bwMode="auto">
            <a:xfrm>
              <a:off x="3459" y="4243"/>
              <a:ext cx="333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시스템 인도</a:t>
              </a:r>
            </a:p>
          </p:txBody>
        </p:sp>
        <p:sp>
          <p:nvSpPr>
            <p:cNvPr id="52" name="Text Box 84"/>
            <p:cNvSpPr txBox="1">
              <a:spLocks noChangeArrowheads="1"/>
            </p:cNvSpPr>
            <p:nvPr/>
          </p:nvSpPr>
          <p:spPr bwMode="auto">
            <a:xfrm>
              <a:off x="1900" y="4004"/>
              <a:ext cx="6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DE2B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4" tIns="45711" rIns="91424" bIns="45711" anchor="b">
              <a:spAutoFit/>
            </a:bodyPr>
            <a:lstStyle/>
            <a:p>
              <a:pPr algn="l" eaLnBrk="0" hangingPunct="0">
                <a:lnSpc>
                  <a:spcPct val="100000"/>
                </a:lnSpc>
              </a:pPr>
              <a:r>
                <a:rPr kumimoji="0" lang="ko-KR" altLang="en-US" sz="900"/>
                <a:t>시범 운영 및 인도</a:t>
              </a:r>
            </a:p>
          </p:txBody>
        </p:sp>
        <p:sp>
          <p:nvSpPr>
            <p:cNvPr id="53" name="Text Box 89"/>
            <p:cNvSpPr txBox="1">
              <a:spLocks noChangeArrowheads="1"/>
            </p:cNvSpPr>
            <p:nvPr/>
          </p:nvSpPr>
          <p:spPr bwMode="auto">
            <a:xfrm>
              <a:off x="2659" y="4359"/>
              <a:ext cx="605" cy="2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1" rIns="91424" bIns="45711" anchor="b">
              <a:spAutoFit/>
            </a:bodyPr>
            <a:lstStyle/>
            <a:p>
              <a:pPr eaLnBrk="0" hangingPunct="0">
                <a:lnSpc>
                  <a:spcPct val="100000"/>
                </a:lnSpc>
              </a:pPr>
              <a:r>
                <a:rPr kumimoji="0" lang="ko-KR" altLang="en-US" sz="800">
                  <a:latin typeface="굴림" panose="020B0600000101010101" pitchFamily="50" charset="-127"/>
                  <a:ea typeface="굴림" panose="020B0600000101010101" pitchFamily="50" charset="-127"/>
                </a:rPr>
                <a:t>운영결과 개선사항 조치</a:t>
              </a:r>
            </a:p>
          </p:txBody>
        </p:sp>
        <p:cxnSp>
          <p:nvCxnSpPr>
            <p:cNvPr id="54" name="AutoShape 91"/>
            <p:cNvCxnSpPr>
              <a:cxnSpLocks noChangeShapeType="1"/>
              <a:stCxn id="50" idx="1"/>
              <a:endCxn id="53" idx="1"/>
            </p:cNvCxnSpPr>
            <p:nvPr/>
          </p:nvCxnSpPr>
          <p:spPr bwMode="auto">
            <a:xfrm rot="10800000" flipH="1" flipV="1">
              <a:off x="2645" y="4171"/>
              <a:ext cx="14" cy="298"/>
            </a:xfrm>
            <a:prstGeom prst="bentConnector3">
              <a:avLst>
                <a:gd name="adj1" fmla="val -671431"/>
              </a:avLst>
            </a:prstGeom>
            <a:noFill/>
            <a:ln w="12700">
              <a:solidFill>
                <a:schemeClr val="tx1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Line 92"/>
            <p:cNvSpPr>
              <a:spLocks noChangeShapeType="1"/>
            </p:cNvSpPr>
            <p:nvPr/>
          </p:nvSpPr>
          <p:spPr bwMode="auto">
            <a:xfrm>
              <a:off x="2456" y="4339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  <p:cxnSp>
          <p:nvCxnSpPr>
            <p:cNvPr id="56" name="AutoShape 93"/>
            <p:cNvCxnSpPr>
              <a:cxnSpLocks noChangeShapeType="1"/>
              <a:stCxn id="50" idx="3"/>
              <a:endCxn id="53" idx="3"/>
            </p:cNvCxnSpPr>
            <p:nvPr/>
          </p:nvCxnSpPr>
          <p:spPr bwMode="auto">
            <a:xfrm>
              <a:off x="3264" y="4171"/>
              <a:ext cx="1" cy="298"/>
            </a:xfrm>
            <a:prstGeom prst="bentConnector3">
              <a:avLst>
                <a:gd name="adj1" fmla="val 980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Line 96"/>
            <p:cNvSpPr>
              <a:spLocks noChangeShapeType="1"/>
            </p:cNvSpPr>
            <p:nvPr/>
          </p:nvSpPr>
          <p:spPr bwMode="auto">
            <a:xfrm>
              <a:off x="3356" y="4339"/>
              <a:ext cx="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  <p:cxnSp>
          <p:nvCxnSpPr>
            <p:cNvPr id="58" name="AutoShape 97"/>
            <p:cNvCxnSpPr>
              <a:cxnSpLocks noChangeShapeType="1"/>
              <a:stCxn id="42" idx="3"/>
              <a:endCxn id="13" idx="1"/>
            </p:cNvCxnSpPr>
            <p:nvPr/>
          </p:nvCxnSpPr>
          <p:spPr bwMode="auto">
            <a:xfrm flipH="1">
              <a:off x="474" y="3244"/>
              <a:ext cx="3435" cy="1097"/>
            </a:xfrm>
            <a:prstGeom prst="bentConnector5">
              <a:avLst>
                <a:gd name="adj1" fmla="val -2477"/>
                <a:gd name="adj2" fmla="val 61801"/>
                <a:gd name="adj3" fmla="val 102269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100"/>
            <p:cNvCxnSpPr>
              <a:cxnSpLocks noChangeShapeType="1"/>
              <a:stCxn id="13" idx="3"/>
              <a:endCxn id="48" idx="1"/>
            </p:cNvCxnSpPr>
            <p:nvPr/>
          </p:nvCxnSpPr>
          <p:spPr bwMode="auto">
            <a:xfrm flipV="1">
              <a:off x="1722" y="4339"/>
              <a:ext cx="198" cy="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Line 101"/>
            <p:cNvSpPr>
              <a:spLocks noChangeShapeType="1"/>
            </p:cNvSpPr>
            <p:nvPr/>
          </p:nvSpPr>
          <p:spPr bwMode="auto">
            <a:xfrm>
              <a:off x="1770" y="43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315" tIns="49158" rIns="98315" bIns="49158">
              <a:spAutoFit/>
            </a:bodyPr>
            <a:lstStyle/>
            <a:p>
              <a:endParaRPr lang="ko-KR" altLang="en-US"/>
            </a:p>
          </p:txBody>
        </p:sp>
        <p:cxnSp>
          <p:nvCxnSpPr>
            <p:cNvPr id="61" name="AutoShape 102"/>
            <p:cNvCxnSpPr>
              <a:cxnSpLocks noChangeShapeType="1"/>
              <a:stCxn id="60" idx="1"/>
              <a:endCxn id="18" idx="1"/>
            </p:cNvCxnSpPr>
            <p:nvPr/>
          </p:nvCxnSpPr>
          <p:spPr bwMode="auto">
            <a:xfrm rot="5400000">
              <a:off x="835" y="4315"/>
              <a:ext cx="813" cy="1056"/>
            </a:xfrm>
            <a:prstGeom prst="bentConnector4">
              <a:avLst>
                <a:gd name="adj1" fmla="val 32222"/>
                <a:gd name="adj2" fmla="val 107005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106"/>
            <p:cNvCxnSpPr>
              <a:cxnSpLocks noChangeShapeType="1"/>
            </p:cNvCxnSpPr>
            <p:nvPr/>
          </p:nvCxnSpPr>
          <p:spPr bwMode="auto">
            <a:xfrm>
              <a:off x="1717" y="2880"/>
              <a:ext cx="9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5847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j-ea"/>
              </a:rPr>
              <a:t>Alpha Test </a:t>
            </a:r>
            <a:r>
              <a:rPr lang="ko-KR" altLang="en-US" sz="1600" b="1" dirty="0">
                <a:latin typeface="+mj-ea"/>
              </a:rPr>
              <a:t>진행을 통한 </a:t>
            </a:r>
            <a:r>
              <a:rPr lang="en-US" altLang="ko-KR" sz="1600" b="1" dirty="0">
                <a:latin typeface="+mj-ea"/>
              </a:rPr>
              <a:t>Field </a:t>
            </a:r>
            <a:r>
              <a:rPr lang="ko-KR" altLang="en-US" sz="1600" b="1" dirty="0">
                <a:latin typeface="+mj-ea"/>
              </a:rPr>
              <a:t>환경 검증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j-ea"/>
              </a:rPr>
              <a:t>각 단계 마다 </a:t>
            </a:r>
            <a:r>
              <a:rPr lang="en-US" altLang="ko-KR" sz="1600" b="1" dirty="0">
                <a:latin typeface="+mj-ea"/>
              </a:rPr>
              <a:t>Verification &amp; Validation </a:t>
            </a:r>
            <a:r>
              <a:rPr lang="ko-KR" altLang="en-US" sz="1600" b="1" dirty="0">
                <a:latin typeface="+mj-ea"/>
              </a:rPr>
              <a:t>시행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j-ea"/>
              </a:rPr>
              <a:t>Reliability Analysis </a:t>
            </a:r>
            <a:r>
              <a:rPr lang="ko-KR" altLang="en-US" sz="1600" b="1" dirty="0">
                <a:latin typeface="+mj-ea"/>
              </a:rPr>
              <a:t>기반 </a:t>
            </a:r>
            <a:r>
              <a:rPr lang="en-US" altLang="ko-KR" sz="1600" b="1" dirty="0">
                <a:latin typeface="+mj-ea"/>
              </a:rPr>
              <a:t>Design </a:t>
            </a:r>
            <a:r>
              <a:rPr lang="ko-KR" altLang="en-US" sz="1600" b="1" dirty="0">
                <a:latin typeface="+mj-ea"/>
              </a:rPr>
              <a:t>시행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j-ea"/>
              </a:rPr>
              <a:t>성능 평가 지표 확립 및 검증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94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smtClean="0"/>
              <a:t>프로젝트 개요</a:t>
            </a:r>
            <a:endParaRPr lang="ko-KR" altLang="en-US" dirty="0"/>
          </a:p>
        </p:txBody>
      </p:sp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1847528" y="932082"/>
            <a:ext cx="4896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프로젝트 진행 방안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  <p:sp>
        <p:nvSpPr>
          <p:cNvPr id="29" name="Arc 10"/>
          <p:cNvSpPr>
            <a:spLocks/>
          </p:cNvSpPr>
          <p:nvPr/>
        </p:nvSpPr>
        <p:spPr bwMode="auto">
          <a:xfrm flipV="1">
            <a:off x="2641776" y="1097670"/>
            <a:ext cx="4865688" cy="2152399"/>
          </a:xfrm>
          <a:custGeom>
            <a:avLst/>
            <a:gdLst>
              <a:gd name="G0" fmla="+- 21600 0 0"/>
              <a:gd name="G1" fmla="+- 284 0 0"/>
              <a:gd name="G2" fmla="+- 21600 0 0"/>
              <a:gd name="T0" fmla="*/ 43198 w 43200"/>
              <a:gd name="T1" fmla="*/ 0 h 21884"/>
              <a:gd name="T2" fmla="*/ 2 w 43200"/>
              <a:gd name="T3" fmla="*/ 27 h 21884"/>
              <a:gd name="T4" fmla="*/ 21600 w 43200"/>
              <a:gd name="T5" fmla="*/ 284 h 21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884" fill="none" extrusionOk="0">
                <a:moveTo>
                  <a:pt x="43198" y="-1"/>
                </a:moveTo>
                <a:cubicBezTo>
                  <a:pt x="43199" y="94"/>
                  <a:pt x="43200" y="189"/>
                  <a:pt x="43200" y="284"/>
                </a:cubicBezTo>
                <a:cubicBezTo>
                  <a:pt x="43200" y="12213"/>
                  <a:pt x="33529" y="21884"/>
                  <a:pt x="21600" y="21884"/>
                </a:cubicBezTo>
                <a:cubicBezTo>
                  <a:pt x="9670" y="21884"/>
                  <a:pt x="0" y="12213"/>
                  <a:pt x="0" y="284"/>
                </a:cubicBezTo>
                <a:cubicBezTo>
                  <a:pt x="-1" y="198"/>
                  <a:pt x="0" y="112"/>
                  <a:pt x="1" y="26"/>
                </a:cubicBezTo>
              </a:path>
              <a:path w="43200" h="21884" stroke="0" extrusionOk="0">
                <a:moveTo>
                  <a:pt x="43198" y="-1"/>
                </a:moveTo>
                <a:cubicBezTo>
                  <a:pt x="43199" y="94"/>
                  <a:pt x="43200" y="189"/>
                  <a:pt x="43200" y="284"/>
                </a:cubicBezTo>
                <a:cubicBezTo>
                  <a:pt x="43200" y="12213"/>
                  <a:pt x="33529" y="21884"/>
                  <a:pt x="21600" y="21884"/>
                </a:cubicBezTo>
                <a:cubicBezTo>
                  <a:pt x="9670" y="21884"/>
                  <a:pt x="0" y="12213"/>
                  <a:pt x="0" y="284"/>
                </a:cubicBezTo>
                <a:cubicBezTo>
                  <a:pt x="-1" y="198"/>
                  <a:pt x="0" y="112"/>
                  <a:pt x="1" y="26"/>
                </a:cubicBezTo>
                <a:lnTo>
                  <a:pt x="21600" y="284"/>
                </a:lnTo>
                <a:close/>
              </a:path>
            </a:pathLst>
          </a:custGeom>
          <a:gradFill rotWithShape="0">
            <a:gsLst>
              <a:gs pos="0">
                <a:srgbClr val="A5C5F5"/>
              </a:gs>
              <a:gs pos="100000">
                <a:srgbClr val="A5C5F5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97BFE7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A5C5F5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" name="Arc 11"/>
          <p:cNvSpPr>
            <a:spLocks/>
          </p:cNvSpPr>
          <p:nvPr/>
        </p:nvSpPr>
        <p:spPr bwMode="auto">
          <a:xfrm flipV="1">
            <a:off x="2605263" y="1247257"/>
            <a:ext cx="4940300" cy="2415008"/>
          </a:xfrm>
          <a:custGeom>
            <a:avLst/>
            <a:gdLst>
              <a:gd name="G0" fmla="+- 21600 0 0"/>
              <a:gd name="G1" fmla="+- 284 0 0"/>
              <a:gd name="G2" fmla="+- 21600 0 0"/>
              <a:gd name="T0" fmla="*/ 43198 w 43200"/>
              <a:gd name="T1" fmla="*/ 0 h 21884"/>
              <a:gd name="T2" fmla="*/ 2 w 43200"/>
              <a:gd name="T3" fmla="*/ 27 h 21884"/>
              <a:gd name="T4" fmla="*/ 21600 w 43200"/>
              <a:gd name="T5" fmla="*/ 284 h 21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884" fill="none" extrusionOk="0">
                <a:moveTo>
                  <a:pt x="43198" y="-1"/>
                </a:moveTo>
                <a:cubicBezTo>
                  <a:pt x="43199" y="94"/>
                  <a:pt x="43200" y="189"/>
                  <a:pt x="43200" y="284"/>
                </a:cubicBezTo>
                <a:cubicBezTo>
                  <a:pt x="43200" y="12213"/>
                  <a:pt x="33529" y="21884"/>
                  <a:pt x="21600" y="21884"/>
                </a:cubicBezTo>
                <a:cubicBezTo>
                  <a:pt x="9670" y="21884"/>
                  <a:pt x="0" y="12213"/>
                  <a:pt x="0" y="284"/>
                </a:cubicBezTo>
                <a:cubicBezTo>
                  <a:pt x="-1" y="198"/>
                  <a:pt x="0" y="112"/>
                  <a:pt x="1" y="26"/>
                </a:cubicBezTo>
              </a:path>
              <a:path w="43200" h="21884" stroke="0" extrusionOk="0">
                <a:moveTo>
                  <a:pt x="43198" y="-1"/>
                </a:moveTo>
                <a:cubicBezTo>
                  <a:pt x="43199" y="94"/>
                  <a:pt x="43200" y="189"/>
                  <a:pt x="43200" y="284"/>
                </a:cubicBezTo>
                <a:cubicBezTo>
                  <a:pt x="43200" y="12213"/>
                  <a:pt x="33529" y="21884"/>
                  <a:pt x="21600" y="21884"/>
                </a:cubicBezTo>
                <a:cubicBezTo>
                  <a:pt x="9670" y="21884"/>
                  <a:pt x="0" y="12213"/>
                  <a:pt x="0" y="284"/>
                </a:cubicBezTo>
                <a:cubicBezTo>
                  <a:pt x="-1" y="198"/>
                  <a:pt x="0" y="112"/>
                  <a:pt x="1" y="26"/>
                </a:cubicBezTo>
                <a:lnTo>
                  <a:pt x="21600" y="284"/>
                </a:lnTo>
                <a:close/>
              </a:path>
            </a:pathLst>
          </a:custGeom>
          <a:gradFill rotWithShape="0">
            <a:gsLst>
              <a:gs pos="0">
                <a:srgbClr val="C0D7F8"/>
              </a:gs>
              <a:gs pos="100000">
                <a:srgbClr val="C0D7F8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97BFE7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C0D7F8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2" name="Group 12"/>
          <p:cNvGrpSpPr>
            <a:grpSpLocks/>
          </p:cNvGrpSpPr>
          <p:nvPr/>
        </p:nvGrpSpPr>
        <p:grpSpPr bwMode="auto">
          <a:xfrm flipV="1">
            <a:off x="3354564" y="2400744"/>
            <a:ext cx="3287713" cy="1678705"/>
            <a:chOff x="1279" y="3947"/>
            <a:chExt cx="1875" cy="658"/>
          </a:xfrm>
        </p:grpSpPr>
        <p:sp>
          <p:nvSpPr>
            <p:cNvPr id="63" name="Freeform 13"/>
            <p:cNvSpPr>
              <a:spLocks/>
            </p:cNvSpPr>
            <p:nvPr/>
          </p:nvSpPr>
          <p:spPr bwMode="auto">
            <a:xfrm flipV="1">
              <a:off x="1279" y="3963"/>
              <a:ext cx="1875" cy="642"/>
            </a:xfrm>
            <a:custGeom>
              <a:avLst/>
              <a:gdLst>
                <a:gd name="T0" fmla="*/ 2281 w 2766"/>
                <a:gd name="T1" fmla="*/ 1456 h 2744"/>
                <a:gd name="T2" fmla="*/ 2737 w 2766"/>
                <a:gd name="T3" fmla="*/ 1445 h 2744"/>
                <a:gd name="T4" fmla="*/ 2680 w 2766"/>
                <a:gd name="T5" fmla="*/ 1419 h 2744"/>
                <a:gd name="T6" fmla="*/ 2622 w 2766"/>
                <a:gd name="T7" fmla="*/ 1390 h 2744"/>
                <a:gd name="T8" fmla="*/ 2567 w 2766"/>
                <a:gd name="T9" fmla="*/ 1359 h 2744"/>
                <a:gd name="T10" fmla="*/ 2483 w 2766"/>
                <a:gd name="T11" fmla="*/ 1308 h 2744"/>
                <a:gd name="T12" fmla="*/ 2375 w 2766"/>
                <a:gd name="T13" fmla="*/ 1233 h 2744"/>
                <a:gd name="T14" fmla="*/ 2271 w 2766"/>
                <a:gd name="T15" fmla="*/ 1151 h 2744"/>
                <a:gd name="T16" fmla="*/ 2171 w 2766"/>
                <a:gd name="T17" fmla="*/ 1063 h 2744"/>
                <a:gd name="T18" fmla="*/ 2075 w 2766"/>
                <a:gd name="T19" fmla="*/ 968 h 2744"/>
                <a:gd name="T20" fmla="*/ 1981 w 2766"/>
                <a:gd name="T21" fmla="*/ 870 h 2744"/>
                <a:gd name="T22" fmla="*/ 1893 w 2766"/>
                <a:gd name="T23" fmla="*/ 768 h 2744"/>
                <a:gd name="T24" fmla="*/ 1808 w 2766"/>
                <a:gd name="T25" fmla="*/ 664 h 2744"/>
                <a:gd name="T26" fmla="*/ 1729 w 2766"/>
                <a:gd name="T27" fmla="*/ 558 h 2744"/>
                <a:gd name="T28" fmla="*/ 1654 w 2766"/>
                <a:gd name="T29" fmla="*/ 453 h 2744"/>
                <a:gd name="T30" fmla="*/ 1584 w 2766"/>
                <a:gd name="T31" fmla="*/ 347 h 2744"/>
                <a:gd name="T32" fmla="*/ 1519 w 2766"/>
                <a:gd name="T33" fmla="*/ 244 h 2744"/>
                <a:gd name="T34" fmla="*/ 1461 w 2766"/>
                <a:gd name="T35" fmla="*/ 144 h 2744"/>
                <a:gd name="T36" fmla="*/ 1408 w 2766"/>
                <a:gd name="T37" fmla="*/ 47 h 2744"/>
                <a:gd name="T38" fmla="*/ 1358 w 2766"/>
                <a:gd name="T39" fmla="*/ 47 h 2744"/>
                <a:gd name="T40" fmla="*/ 1305 w 2766"/>
                <a:gd name="T41" fmla="*/ 144 h 2744"/>
                <a:gd name="T42" fmla="*/ 1245 w 2766"/>
                <a:gd name="T43" fmla="*/ 244 h 2744"/>
                <a:gd name="T44" fmla="*/ 1182 w 2766"/>
                <a:gd name="T45" fmla="*/ 347 h 2744"/>
                <a:gd name="T46" fmla="*/ 1112 w 2766"/>
                <a:gd name="T47" fmla="*/ 453 h 2744"/>
                <a:gd name="T48" fmla="*/ 1037 w 2766"/>
                <a:gd name="T49" fmla="*/ 558 h 2744"/>
                <a:gd name="T50" fmla="*/ 958 w 2766"/>
                <a:gd name="T51" fmla="*/ 664 h 2744"/>
                <a:gd name="T52" fmla="*/ 873 w 2766"/>
                <a:gd name="T53" fmla="*/ 768 h 2744"/>
                <a:gd name="T54" fmla="*/ 785 w 2766"/>
                <a:gd name="T55" fmla="*/ 870 h 2744"/>
                <a:gd name="T56" fmla="*/ 693 w 2766"/>
                <a:gd name="T57" fmla="*/ 968 h 2744"/>
                <a:gd name="T58" fmla="*/ 595 w 2766"/>
                <a:gd name="T59" fmla="*/ 1063 h 2744"/>
                <a:gd name="T60" fmla="*/ 495 w 2766"/>
                <a:gd name="T61" fmla="*/ 1151 h 2744"/>
                <a:gd name="T62" fmla="*/ 391 w 2766"/>
                <a:gd name="T63" fmla="*/ 1233 h 2744"/>
                <a:gd name="T64" fmla="*/ 283 w 2766"/>
                <a:gd name="T65" fmla="*/ 1308 h 2744"/>
                <a:gd name="T66" fmla="*/ 199 w 2766"/>
                <a:gd name="T67" fmla="*/ 1359 h 2744"/>
                <a:gd name="T68" fmla="*/ 144 w 2766"/>
                <a:gd name="T69" fmla="*/ 1390 h 2744"/>
                <a:gd name="T70" fmla="*/ 86 w 2766"/>
                <a:gd name="T71" fmla="*/ 1419 h 2744"/>
                <a:gd name="T72" fmla="*/ 29 w 2766"/>
                <a:gd name="T73" fmla="*/ 1445 h 2744"/>
                <a:gd name="T74" fmla="*/ 485 w 2766"/>
                <a:gd name="T75" fmla="*/ 1456 h 2744"/>
                <a:gd name="T76" fmla="*/ 2696 w 2766"/>
                <a:gd name="T77" fmla="*/ 274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766" h="2744">
                  <a:moveTo>
                    <a:pt x="2696" y="2744"/>
                  </a:moveTo>
                  <a:lnTo>
                    <a:pt x="2281" y="1456"/>
                  </a:lnTo>
                  <a:lnTo>
                    <a:pt x="2766" y="1456"/>
                  </a:lnTo>
                  <a:lnTo>
                    <a:pt x="2737" y="1445"/>
                  </a:lnTo>
                  <a:lnTo>
                    <a:pt x="2707" y="1432"/>
                  </a:lnTo>
                  <a:lnTo>
                    <a:pt x="2680" y="1419"/>
                  </a:lnTo>
                  <a:lnTo>
                    <a:pt x="2650" y="1404"/>
                  </a:lnTo>
                  <a:lnTo>
                    <a:pt x="2622" y="1390"/>
                  </a:lnTo>
                  <a:lnTo>
                    <a:pt x="2595" y="1375"/>
                  </a:lnTo>
                  <a:lnTo>
                    <a:pt x="2567" y="1359"/>
                  </a:lnTo>
                  <a:lnTo>
                    <a:pt x="2539" y="1343"/>
                  </a:lnTo>
                  <a:lnTo>
                    <a:pt x="2483" y="1308"/>
                  </a:lnTo>
                  <a:lnTo>
                    <a:pt x="2429" y="1271"/>
                  </a:lnTo>
                  <a:lnTo>
                    <a:pt x="2375" y="1233"/>
                  </a:lnTo>
                  <a:lnTo>
                    <a:pt x="2324" y="1193"/>
                  </a:lnTo>
                  <a:lnTo>
                    <a:pt x="2271" y="1151"/>
                  </a:lnTo>
                  <a:lnTo>
                    <a:pt x="2221" y="1108"/>
                  </a:lnTo>
                  <a:lnTo>
                    <a:pt x="2171" y="1063"/>
                  </a:lnTo>
                  <a:lnTo>
                    <a:pt x="2121" y="1015"/>
                  </a:lnTo>
                  <a:lnTo>
                    <a:pt x="2075" y="968"/>
                  </a:lnTo>
                  <a:lnTo>
                    <a:pt x="2028" y="920"/>
                  </a:lnTo>
                  <a:lnTo>
                    <a:pt x="1981" y="870"/>
                  </a:lnTo>
                  <a:lnTo>
                    <a:pt x="1937" y="820"/>
                  </a:lnTo>
                  <a:lnTo>
                    <a:pt x="1893" y="768"/>
                  </a:lnTo>
                  <a:lnTo>
                    <a:pt x="1850" y="717"/>
                  </a:lnTo>
                  <a:lnTo>
                    <a:pt x="1808" y="664"/>
                  </a:lnTo>
                  <a:lnTo>
                    <a:pt x="1768" y="611"/>
                  </a:lnTo>
                  <a:lnTo>
                    <a:pt x="1729" y="558"/>
                  </a:lnTo>
                  <a:lnTo>
                    <a:pt x="1691" y="506"/>
                  </a:lnTo>
                  <a:lnTo>
                    <a:pt x="1654" y="453"/>
                  </a:lnTo>
                  <a:lnTo>
                    <a:pt x="1619" y="400"/>
                  </a:lnTo>
                  <a:lnTo>
                    <a:pt x="1584" y="347"/>
                  </a:lnTo>
                  <a:lnTo>
                    <a:pt x="1551" y="296"/>
                  </a:lnTo>
                  <a:lnTo>
                    <a:pt x="1519" y="244"/>
                  </a:lnTo>
                  <a:lnTo>
                    <a:pt x="1490" y="194"/>
                  </a:lnTo>
                  <a:lnTo>
                    <a:pt x="1461" y="144"/>
                  </a:lnTo>
                  <a:lnTo>
                    <a:pt x="1433" y="95"/>
                  </a:lnTo>
                  <a:lnTo>
                    <a:pt x="1408" y="47"/>
                  </a:lnTo>
                  <a:lnTo>
                    <a:pt x="1383" y="0"/>
                  </a:lnTo>
                  <a:lnTo>
                    <a:pt x="1358" y="47"/>
                  </a:lnTo>
                  <a:lnTo>
                    <a:pt x="1332" y="95"/>
                  </a:lnTo>
                  <a:lnTo>
                    <a:pt x="1305" y="144"/>
                  </a:lnTo>
                  <a:lnTo>
                    <a:pt x="1276" y="194"/>
                  </a:lnTo>
                  <a:lnTo>
                    <a:pt x="1245" y="244"/>
                  </a:lnTo>
                  <a:lnTo>
                    <a:pt x="1215" y="296"/>
                  </a:lnTo>
                  <a:lnTo>
                    <a:pt x="1182" y="347"/>
                  </a:lnTo>
                  <a:lnTo>
                    <a:pt x="1147" y="400"/>
                  </a:lnTo>
                  <a:lnTo>
                    <a:pt x="1112" y="453"/>
                  </a:lnTo>
                  <a:lnTo>
                    <a:pt x="1075" y="506"/>
                  </a:lnTo>
                  <a:lnTo>
                    <a:pt x="1037" y="558"/>
                  </a:lnTo>
                  <a:lnTo>
                    <a:pt x="998" y="611"/>
                  </a:lnTo>
                  <a:lnTo>
                    <a:pt x="958" y="664"/>
                  </a:lnTo>
                  <a:lnTo>
                    <a:pt x="916" y="717"/>
                  </a:lnTo>
                  <a:lnTo>
                    <a:pt x="873" y="768"/>
                  </a:lnTo>
                  <a:lnTo>
                    <a:pt x="829" y="820"/>
                  </a:lnTo>
                  <a:lnTo>
                    <a:pt x="785" y="870"/>
                  </a:lnTo>
                  <a:lnTo>
                    <a:pt x="740" y="920"/>
                  </a:lnTo>
                  <a:lnTo>
                    <a:pt x="693" y="968"/>
                  </a:lnTo>
                  <a:lnTo>
                    <a:pt x="645" y="1015"/>
                  </a:lnTo>
                  <a:lnTo>
                    <a:pt x="595" y="1063"/>
                  </a:lnTo>
                  <a:lnTo>
                    <a:pt x="545" y="1108"/>
                  </a:lnTo>
                  <a:lnTo>
                    <a:pt x="495" y="1151"/>
                  </a:lnTo>
                  <a:lnTo>
                    <a:pt x="442" y="1193"/>
                  </a:lnTo>
                  <a:lnTo>
                    <a:pt x="391" y="1233"/>
                  </a:lnTo>
                  <a:lnTo>
                    <a:pt x="337" y="1271"/>
                  </a:lnTo>
                  <a:lnTo>
                    <a:pt x="283" y="1308"/>
                  </a:lnTo>
                  <a:lnTo>
                    <a:pt x="227" y="1343"/>
                  </a:lnTo>
                  <a:lnTo>
                    <a:pt x="199" y="1359"/>
                  </a:lnTo>
                  <a:lnTo>
                    <a:pt x="171" y="1375"/>
                  </a:lnTo>
                  <a:lnTo>
                    <a:pt x="144" y="1390"/>
                  </a:lnTo>
                  <a:lnTo>
                    <a:pt x="116" y="1404"/>
                  </a:lnTo>
                  <a:lnTo>
                    <a:pt x="86" y="1419"/>
                  </a:lnTo>
                  <a:lnTo>
                    <a:pt x="59" y="1432"/>
                  </a:lnTo>
                  <a:lnTo>
                    <a:pt x="29" y="1445"/>
                  </a:lnTo>
                  <a:lnTo>
                    <a:pt x="0" y="1456"/>
                  </a:lnTo>
                  <a:lnTo>
                    <a:pt x="485" y="1456"/>
                  </a:lnTo>
                  <a:lnTo>
                    <a:pt x="70" y="2744"/>
                  </a:lnTo>
                  <a:lnTo>
                    <a:pt x="2696" y="2744"/>
                  </a:lnTo>
                  <a:close/>
                </a:path>
              </a:pathLst>
            </a:custGeom>
            <a:gradFill rotWithShape="0">
              <a:gsLst>
                <a:gs pos="0">
                  <a:srgbClr val="47A9C7">
                    <a:gamma/>
                    <a:tint val="20000"/>
                    <a:invGamma/>
                  </a:srgbClr>
                </a:gs>
                <a:gs pos="100000">
                  <a:srgbClr val="47A9C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4" name="Group 14"/>
            <p:cNvGrpSpPr>
              <a:grpSpLocks/>
            </p:cNvGrpSpPr>
            <p:nvPr/>
          </p:nvGrpSpPr>
          <p:grpSpPr bwMode="auto">
            <a:xfrm>
              <a:off x="1279" y="3947"/>
              <a:ext cx="1875" cy="625"/>
              <a:chOff x="1279" y="3947"/>
              <a:chExt cx="1875" cy="625"/>
            </a:xfrm>
          </p:grpSpPr>
          <p:sp>
            <p:nvSpPr>
              <p:cNvPr id="65" name="Freeform 15"/>
              <p:cNvSpPr>
                <a:spLocks/>
              </p:cNvSpPr>
              <p:nvPr/>
            </p:nvSpPr>
            <p:spPr bwMode="auto">
              <a:xfrm flipV="1">
                <a:off x="1279" y="3959"/>
                <a:ext cx="1875" cy="613"/>
              </a:xfrm>
              <a:custGeom>
                <a:avLst/>
                <a:gdLst>
                  <a:gd name="T0" fmla="*/ 2281 w 2766"/>
                  <a:gd name="T1" fmla="*/ 1456 h 2744"/>
                  <a:gd name="T2" fmla="*/ 2737 w 2766"/>
                  <a:gd name="T3" fmla="*/ 1445 h 2744"/>
                  <a:gd name="T4" fmla="*/ 2680 w 2766"/>
                  <a:gd name="T5" fmla="*/ 1419 h 2744"/>
                  <a:gd name="T6" fmla="*/ 2622 w 2766"/>
                  <a:gd name="T7" fmla="*/ 1390 h 2744"/>
                  <a:gd name="T8" fmla="*/ 2567 w 2766"/>
                  <a:gd name="T9" fmla="*/ 1359 h 2744"/>
                  <a:gd name="T10" fmla="*/ 2483 w 2766"/>
                  <a:gd name="T11" fmla="*/ 1308 h 2744"/>
                  <a:gd name="T12" fmla="*/ 2375 w 2766"/>
                  <a:gd name="T13" fmla="*/ 1233 h 2744"/>
                  <a:gd name="T14" fmla="*/ 2271 w 2766"/>
                  <a:gd name="T15" fmla="*/ 1151 h 2744"/>
                  <a:gd name="T16" fmla="*/ 2171 w 2766"/>
                  <a:gd name="T17" fmla="*/ 1063 h 2744"/>
                  <a:gd name="T18" fmla="*/ 2075 w 2766"/>
                  <a:gd name="T19" fmla="*/ 968 h 2744"/>
                  <a:gd name="T20" fmla="*/ 1981 w 2766"/>
                  <a:gd name="T21" fmla="*/ 870 h 2744"/>
                  <a:gd name="T22" fmla="*/ 1893 w 2766"/>
                  <a:gd name="T23" fmla="*/ 768 h 2744"/>
                  <a:gd name="T24" fmla="*/ 1808 w 2766"/>
                  <a:gd name="T25" fmla="*/ 664 h 2744"/>
                  <a:gd name="T26" fmla="*/ 1729 w 2766"/>
                  <a:gd name="T27" fmla="*/ 558 h 2744"/>
                  <a:gd name="T28" fmla="*/ 1654 w 2766"/>
                  <a:gd name="T29" fmla="*/ 453 h 2744"/>
                  <a:gd name="T30" fmla="*/ 1584 w 2766"/>
                  <a:gd name="T31" fmla="*/ 347 h 2744"/>
                  <a:gd name="T32" fmla="*/ 1519 w 2766"/>
                  <a:gd name="T33" fmla="*/ 244 h 2744"/>
                  <a:gd name="T34" fmla="*/ 1461 w 2766"/>
                  <a:gd name="T35" fmla="*/ 144 h 2744"/>
                  <a:gd name="T36" fmla="*/ 1408 w 2766"/>
                  <a:gd name="T37" fmla="*/ 47 h 2744"/>
                  <a:gd name="T38" fmla="*/ 1358 w 2766"/>
                  <a:gd name="T39" fmla="*/ 47 h 2744"/>
                  <a:gd name="T40" fmla="*/ 1305 w 2766"/>
                  <a:gd name="T41" fmla="*/ 144 h 2744"/>
                  <a:gd name="T42" fmla="*/ 1245 w 2766"/>
                  <a:gd name="T43" fmla="*/ 244 h 2744"/>
                  <a:gd name="T44" fmla="*/ 1182 w 2766"/>
                  <a:gd name="T45" fmla="*/ 347 h 2744"/>
                  <a:gd name="T46" fmla="*/ 1112 w 2766"/>
                  <a:gd name="T47" fmla="*/ 453 h 2744"/>
                  <a:gd name="T48" fmla="*/ 1037 w 2766"/>
                  <a:gd name="T49" fmla="*/ 558 h 2744"/>
                  <a:gd name="T50" fmla="*/ 958 w 2766"/>
                  <a:gd name="T51" fmla="*/ 664 h 2744"/>
                  <a:gd name="T52" fmla="*/ 873 w 2766"/>
                  <a:gd name="T53" fmla="*/ 768 h 2744"/>
                  <a:gd name="T54" fmla="*/ 785 w 2766"/>
                  <a:gd name="T55" fmla="*/ 870 h 2744"/>
                  <a:gd name="T56" fmla="*/ 693 w 2766"/>
                  <a:gd name="T57" fmla="*/ 968 h 2744"/>
                  <a:gd name="T58" fmla="*/ 595 w 2766"/>
                  <a:gd name="T59" fmla="*/ 1063 h 2744"/>
                  <a:gd name="T60" fmla="*/ 495 w 2766"/>
                  <a:gd name="T61" fmla="*/ 1151 h 2744"/>
                  <a:gd name="T62" fmla="*/ 391 w 2766"/>
                  <a:gd name="T63" fmla="*/ 1233 h 2744"/>
                  <a:gd name="T64" fmla="*/ 283 w 2766"/>
                  <a:gd name="T65" fmla="*/ 1308 h 2744"/>
                  <a:gd name="T66" fmla="*/ 199 w 2766"/>
                  <a:gd name="T67" fmla="*/ 1359 h 2744"/>
                  <a:gd name="T68" fmla="*/ 144 w 2766"/>
                  <a:gd name="T69" fmla="*/ 1390 h 2744"/>
                  <a:gd name="T70" fmla="*/ 86 w 2766"/>
                  <a:gd name="T71" fmla="*/ 1419 h 2744"/>
                  <a:gd name="T72" fmla="*/ 29 w 2766"/>
                  <a:gd name="T73" fmla="*/ 1445 h 2744"/>
                  <a:gd name="T74" fmla="*/ 485 w 2766"/>
                  <a:gd name="T75" fmla="*/ 1456 h 2744"/>
                  <a:gd name="T76" fmla="*/ 2696 w 2766"/>
                  <a:gd name="T77" fmla="*/ 2744 h 2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66" h="2744">
                    <a:moveTo>
                      <a:pt x="2696" y="2744"/>
                    </a:moveTo>
                    <a:lnTo>
                      <a:pt x="2281" y="1456"/>
                    </a:lnTo>
                    <a:lnTo>
                      <a:pt x="2766" y="1456"/>
                    </a:lnTo>
                    <a:lnTo>
                      <a:pt x="2737" y="1445"/>
                    </a:lnTo>
                    <a:lnTo>
                      <a:pt x="2707" y="1432"/>
                    </a:lnTo>
                    <a:lnTo>
                      <a:pt x="2680" y="1419"/>
                    </a:lnTo>
                    <a:lnTo>
                      <a:pt x="2650" y="1404"/>
                    </a:lnTo>
                    <a:lnTo>
                      <a:pt x="2622" y="1390"/>
                    </a:lnTo>
                    <a:lnTo>
                      <a:pt x="2595" y="1375"/>
                    </a:lnTo>
                    <a:lnTo>
                      <a:pt x="2567" y="1359"/>
                    </a:lnTo>
                    <a:lnTo>
                      <a:pt x="2539" y="1343"/>
                    </a:lnTo>
                    <a:lnTo>
                      <a:pt x="2483" y="1308"/>
                    </a:lnTo>
                    <a:lnTo>
                      <a:pt x="2429" y="1271"/>
                    </a:lnTo>
                    <a:lnTo>
                      <a:pt x="2375" y="1233"/>
                    </a:lnTo>
                    <a:lnTo>
                      <a:pt x="2324" y="1193"/>
                    </a:lnTo>
                    <a:lnTo>
                      <a:pt x="2271" y="1151"/>
                    </a:lnTo>
                    <a:lnTo>
                      <a:pt x="2221" y="1108"/>
                    </a:lnTo>
                    <a:lnTo>
                      <a:pt x="2171" y="1063"/>
                    </a:lnTo>
                    <a:lnTo>
                      <a:pt x="2121" y="1015"/>
                    </a:lnTo>
                    <a:lnTo>
                      <a:pt x="2075" y="968"/>
                    </a:lnTo>
                    <a:lnTo>
                      <a:pt x="2028" y="920"/>
                    </a:lnTo>
                    <a:lnTo>
                      <a:pt x="1981" y="870"/>
                    </a:lnTo>
                    <a:lnTo>
                      <a:pt x="1937" y="820"/>
                    </a:lnTo>
                    <a:lnTo>
                      <a:pt x="1893" y="768"/>
                    </a:lnTo>
                    <a:lnTo>
                      <a:pt x="1850" y="717"/>
                    </a:lnTo>
                    <a:lnTo>
                      <a:pt x="1808" y="664"/>
                    </a:lnTo>
                    <a:lnTo>
                      <a:pt x="1768" y="611"/>
                    </a:lnTo>
                    <a:lnTo>
                      <a:pt x="1729" y="558"/>
                    </a:lnTo>
                    <a:lnTo>
                      <a:pt x="1691" y="506"/>
                    </a:lnTo>
                    <a:lnTo>
                      <a:pt x="1654" y="453"/>
                    </a:lnTo>
                    <a:lnTo>
                      <a:pt x="1619" y="400"/>
                    </a:lnTo>
                    <a:lnTo>
                      <a:pt x="1584" y="347"/>
                    </a:lnTo>
                    <a:lnTo>
                      <a:pt x="1551" y="296"/>
                    </a:lnTo>
                    <a:lnTo>
                      <a:pt x="1519" y="244"/>
                    </a:lnTo>
                    <a:lnTo>
                      <a:pt x="1490" y="194"/>
                    </a:lnTo>
                    <a:lnTo>
                      <a:pt x="1461" y="144"/>
                    </a:lnTo>
                    <a:lnTo>
                      <a:pt x="1433" y="95"/>
                    </a:lnTo>
                    <a:lnTo>
                      <a:pt x="1408" y="47"/>
                    </a:lnTo>
                    <a:lnTo>
                      <a:pt x="1383" y="0"/>
                    </a:lnTo>
                    <a:lnTo>
                      <a:pt x="1358" y="47"/>
                    </a:lnTo>
                    <a:lnTo>
                      <a:pt x="1332" y="95"/>
                    </a:lnTo>
                    <a:lnTo>
                      <a:pt x="1305" y="144"/>
                    </a:lnTo>
                    <a:lnTo>
                      <a:pt x="1276" y="194"/>
                    </a:lnTo>
                    <a:lnTo>
                      <a:pt x="1245" y="244"/>
                    </a:lnTo>
                    <a:lnTo>
                      <a:pt x="1215" y="296"/>
                    </a:lnTo>
                    <a:lnTo>
                      <a:pt x="1182" y="347"/>
                    </a:lnTo>
                    <a:lnTo>
                      <a:pt x="1147" y="400"/>
                    </a:lnTo>
                    <a:lnTo>
                      <a:pt x="1112" y="453"/>
                    </a:lnTo>
                    <a:lnTo>
                      <a:pt x="1075" y="506"/>
                    </a:lnTo>
                    <a:lnTo>
                      <a:pt x="1037" y="558"/>
                    </a:lnTo>
                    <a:lnTo>
                      <a:pt x="998" y="611"/>
                    </a:lnTo>
                    <a:lnTo>
                      <a:pt x="958" y="664"/>
                    </a:lnTo>
                    <a:lnTo>
                      <a:pt x="916" y="717"/>
                    </a:lnTo>
                    <a:lnTo>
                      <a:pt x="873" y="768"/>
                    </a:lnTo>
                    <a:lnTo>
                      <a:pt x="829" y="820"/>
                    </a:lnTo>
                    <a:lnTo>
                      <a:pt x="785" y="870"/>
                    </a:lnTo>
                    <a:lnTo>
                      <a:pt x="740" y="920"/>
                    </a:lnTo>
                    <a:lnTo>
                      <a:pt x="693" y="968"/>
                    </a:lnTo>
                    <a:lnTo>
                      <a:pt x="645" y="1015"/>
                    </a:lnTo>
                    <a:lnTo>
                      <a:pt x="595" y="1063"/>
                    </a:lnTo>
                    <a:lnTo>
                      <a:pt x="545" y="1108"/>
                    </a:lnTo>
                    <a:lnTo>
                      <a:pt x="495" y="1151"/>
                    </a:lnTo>
                    <a:lnTo>
                      <a:pt x="442" y="1193"/>
                    </a:lnTo>
                    <a:lnTo>
                      <a:pt x="391" y="1233"/>
                    </a:lnTo>
                    <a:lnTo>
                      <a:pt x="337" y="1271"/>
                    </a:lnTo>
                    <a:lnTo>
                      <a:pt x="283" y="1308"/>
                    </a:lnTo>
                    <a:lnTo>
                      <a:pt x="227" y="1343"/>
                    </a:lnTo>
                    <a:lnTo>
                      <a:pt x="199" y="1359"/>
                    </a:lnTo>
                    <a:lnTo>
                      <a:pt x="171" y="1375"/>
                    </a:lnTo>
                    <a:lnTo>
                      <a:pt x="144" y="1390"/>
                    </a:lnTo>
                    <a:lnTo>
                      <a:pt x="116" y="1404"/>
                    </a:lnTo>
                    <a:lnTo>
                      <a:pt x="86" y="1419"/>
                    </a:lnTo>
                    <a:lnTo>
                      <a:pt x="59" y="1432"/>
                    </a:lnTo>
                    <a:lnTo>
                      <a:pt x="29" y="1445"/>
                    </a:lnTo>
                    <a:lnTo>
                      <a:pt x="0" y="1456"/>
                    </a:lnTo>
                    <a:lnTo>
                      <a:pt x="485" y="1456"/>
                    </a:lnTo>
                    <a:lnTo>
                      <a:pt x="70" y="2744"/>
                    </a:lnTo>
                    <a:lnTo>
                      <a:pt x="2696" y="27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9B1CD"/>
                  </a:gs>
                  <a:gs pos="100000">
                    <a:srgbClr val="59B1CD">
                      <a:gamma/>
                      <a:tint val="2000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Line 16"/>
              <p:cNvSpPr>
                <a:spLocks noChangeShapeType="1"/>
              </p:cNvSpPr>
              <p:nvPr/>
            </p:nvSpPr>
            <p:spPr bwMode="auto">
              <a:xfrm flipH="1" flipV="1">
                <a:off x="1750" y="3947"/>
                <a:ext cx="196" cy="48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67" name="Line 17"/>
              <p:cNvSpPr>
                <a:spLocks noChangeShapeType="1"/>
              </p:cNvSpPr>
              <p:nvPr/>
            </p:nvSpPr>
            <p:spPr bwMode="auto">
              <a:xfrm flipV="1">
                <a:off x="2465" y="3960"/>
                <a:ext cx="194" cy="4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68" name="Line 18"/>
              <p:cNvSpPr>
                <a:spLocks noChangeShapeType="1"/>
              </p:cNvSpPr>
              <p:nvPr/>
            </p:nvSpPr>
            <p:spPr bwMode="auto">
              <a:xfrm>
                <a:off x="2214" y="3951"/>
                <a:ext cx="0" cy="61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33" name="Freeform 20"/>
          <p:cNvSpPr>
            <a:spLocks/>
          </p:cNvSpPr>
          <p:nvPr/>
        </p:nvSpPr>
        <p:spPr bwMode="auto">
          <a:xfrm>
            <a:off x="6340652" y="3908253"/>
            <a:ext cx="1660525" cy="350700"/>
          </a:xfrm>
          <a:custGeom>
            <a:avLst/>
            <a:gdLst>
              <a:gd name="T0" fmla="*/ 1053 w 1053"/>
              <a:gd name="T1" fmla="*/ 194 h 194"/>
              <a:gd name="T2" fmla="*/ 668 w 1053"/>
              <a:gd name="T3" fmla="*/ 0 h 194"/>
              <a:gd name="T4" fmla="*/ 0 w 1053"/>
              <a:gd name="T5" fmla="*/ 9 h 194"/>
              <a:gd name="T6" fmla="*/ 150 w 1053"/>
              <a:gd name="T7" fmla="*/ 191 h 194"/>
              <a:gd name="T8" fmla="*/ 1053 w 1053"/>
              <a:gd name="T9" fmla="*/ 194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53" h="194">
                <a:moveTo>
                  <a:pt x="1053" y="194"/>
                </a:moveTo>
                <a:lnTo>
                  <a:pt x="668" y="0"/>
                </a:lnTo>
                <a:lnTo>
                  <a:pt x="0" y="9"/>
                </a:lnTo>
                <a:lnTo>
                  <a:pt x="150" y="191"/>
                </a:lnTo>
                <a:lnTo>
                  <a:pt x="1053" y="194"/>
                </a:lnTo>
                <a:close/>
              </a:path>
            </a:pathLst>
          </a:custGeom>
          <a:gradFill rotWithShape="0">
            <a:gsLst>
              <a:gs pos="0">
                <a:srgbClr val="88C7E0">
                  <a:gamma/>
                  <a:tint val="36471"/>
                  <a:invGamma/>
                </a:srgbClr>
              </a:gs>
              <a:gs pos="100000">
                <a:srgbClr val="88C7E0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5" name="Freeform 21"/>
          <p:cNvSpPr>
            <a:spLocks/>
          </p:cNvSpPr>
          <p:nvPr/>
        </p:nvSpPr>
        <p:spPr bwMode="auto">
          <a:xfrm>
            <a:off x="6340652" y="3924874"/>
            <a:ext cx="233363" cy="2267082"/>
          </a:xfrm>
          <a:custGeom>
            <a:avLst/>
            <a:gdLst>
              <a:gd name="T0" fmla="*/ 147 w 148"/>
              <a:gd name="T1" fmla="*/ 1254 h 1254"/>
              <a:gd name="T2" fmla="*/ 42 w 148"/>
              <a:gd name="T3" fmla="*/ 798 h 1254"/>
              <a:gd name="T4" fmla="*/ 0 w 148"/>
              <a:gd name="T5" fmla="*/ 0 h 1254"/>
              <a:gd name="T6" fmla="*/ 148 w 148"/>
              <a:gd name="T7" fmla="*/ 179 h 1254"/>
              <a:gd name="T8" fmla="*/ 147 w 148"/>
              <a:gd name="T9" fmla="*/ 1254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1254">
                <a:moveTo>
                  <a:pt x="147" y="1254"/>
                </a:moveTo>
                <a:lnTo>
                  <a:pt x="42" y="798"/>
                </a:lnTo>
                <a:lnTo>
                  <a:pt x="0" y="0"/>
                </a:lnTo>
                <a:lnTo>
                  <a:pt x="148" y="179"/>
                </a:lnTo>
                <a:lnTo>
                  <a:pt x="147" y="1254"/>
                </a:lnTo>
                <a:close/>
              </a:path>
            </a:pathLst>
          </a:custGeom>
          <a:gradFill rotWithShape="0">
            <a:gsLst>
              <a:gs pos="0">
                <a:srgbClr val="308EB4"/>
              </a:gs>
              <a:gs pos="100000">
                <a:srgbClr val="308EB4">
                  <a:gamma/>
                  <a:tint val="36471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7" name="Rectangle 22"/>
          <p:cNvSpPr>
            <a:spLocks noChangeArrowheads="1"/>
          </p:cNvSpPr>
          <p:nvPr/>
        </p:nvSpPr>
        <p:spPr bwMode="auto">
          <a:xfrm flipH="1">
            <a:off x="6572427" y="4248980"/>
            <a:ext cx="1433513" cy="1936328"/>
          </a:xfrm>
          <a:prstGeom prst="rect">
            <a:avLst/>
          </a:prstGeom>
          <a:gradFill rotWithShape="0">
            <a:gsLst>
              <a:gs pos="0">
                <a:srgbClr val="58AFD2"/>
              </a:gs>
              <a:gs pos="50000">
                <a:srgbClr val="58AFD2">
                  <a:gamma/>
                  <a:tint val="21176"/>
                  <a:invGamma/>
                </a:srgbClr>
              </a:gs>
              <a:gs pos="100000">
                <a:srgbClr val="58AFD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8" name="Rectangle 23"/>
          <p:cNvSpPr>
            <a:spLocks noChangeArrowheads="1"/>
          </p:cNvSpPr>
          <p:nvPr/>
        </p:nvSpPr>
        <p:spPr bwMode="auto">
          <a:xfrm flipH="1">
            <a:off x="6599413" y="4303829"/>
            <a:ext cx="1358900" cy="1816658"/>
          </a:xfrm>
          <a:prstGeom prst="rect">
            <a:avLst/>
          </a:prstGeom>
          <a:solidFill>
            <a:srgbClr val="B4DAE6"/>
          </a:solidFill>
          <a:ln>
            <a:noFill/>
          </a:ln>
          <a:effectLst>
            <a:prstShdw prst="shdw18" dist="17961" dir="13500000">
              <a:srgbClr val="B4DAE6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4986513" y="3916564"/>
            <a:ext cx="1504950" cy="334079"/>
          </a:xfrm>
          <a:custGeom>
            <a:avLst/>
            <a:gdLst>
              <a:gd name="T0" fmla="*/ 954 w 954"/>
              <a:gd name="T1" fmla="*/ 184 h 184"/>
              <a:gd name="T2" fmla="*/ 843 w 954"/>
              <a:gd name="T3" fmla="*/ 0 h 184"/>
              <a:gd name="T4" fmla="*/ 0 w 954"/>
              <a:gd name="T5" fmla="*/ 10 h 184"/>
              <a:gd name="T6" fmla="*/ 54 w 954"/>
              <a:gd name="T7" fmla="*/ 184 h 184"/>
              <a:gd name="T8" fmla="*/ 954 w 954"/>
              <a:gd name="T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4" h="184">
                <a:moveTo>
                  <a:pt x="954" y="184"/>
                </a:moveTo>
                <a:lnTo>
                  <a:pt x="843" y="0"/>
                </a:lnTo>
                <a:lnTo>
                  <a:pt x="0" y="10"/>
                </a:lnTo>
                <a:lnTo>
                  <a:pt x="54" y="184"/>
                </a:lnTo>
                <a:lnTo>
                  <a:pt x="954" y="184"/>
                </a:lnTo>
                <a:close/>
              </a:path>
            </a:pathLst>
          </a:custGeom>
          <a:gradFill rotWithShape="0">
            <a:gsLst>
              <a:gs pos="0">
                <a:srgbClr val="88C7E0">
                  <a:gamma/>
                  <a:tint val="36471"/>
                  <a:invGamma/>
                </a:srgbClr>
              </a:gs>
              <a:gs pos="100000">
                <a:srgbClr val="88C7E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0" name="Freeform 25"/>
          <p:cNvSpPr>
            <a:spLocks/>
          </p:cNvSpPr>
          <p:nvPr/>
        </p:nvSpPr>
        <p:spPr bwMode="auto">
          <a:xfrm>
            <a:off x="4951588" y="3903267"/>
            <a:ext cx="120650" cy="2267082"/>
          </a:xfrm>
          <a:custGeom>
            <a:avLst/>
            <a:gdLst>
              <a:gd name="T0" fmla="*/ 64 w 76"/>
              <a:gd name="T1" fmla="*/ 1254 h 1254"/>
              <a:gd name="T2" fmla="*/ 0 w 76"/>
              <a:gd name="T3" fmla="*/ 822 h 1254"/>
              <a:gd name="T4" fmla="*/ 16 w 76"/>
              <a:gd name="T5" fmla="*/ 0 h 1254"/>
              <a:gd name="T6" fmla="*/ 76 w 76"/>
              <a:gd name="T7" fmla="*/ 180 h 1254"/>
              <a:gd name="T8" fmla="*/ 64 w 76"/>
              <a:gd name="T9" fmla="*/ 1254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" h="1254">
                <a:moveTo>
                  <a:pt x="64" y="1254"/>
                </a:moveTo>
                <a:lnTo>
                  <a:pt x="0" y="822"/>
                </a:lnTo>
                <a:lnTo>
                  <a:pt x="16" y="0"/>
                </a:lnTo>
                <a:lnTo>
                  <a:pt x="76" y="180"/>
                </a:lnTo>
                <a:lnTo>
                  <a:pt x="64" y="1254"/>
                </a:lnTo>
                <a:close/>
              </a:path>
            </a:pathLst>
          </a:custGeom>
          <a:gradFill rotWithShape="0">
            <a:gsLst>
              <a:gs pos="0">
                <a:srgbClr val="308EB4"/>
              </a:gs>
              <a:gs pos="100000">
                <a:srgbClr val="308EB4">
                  <a:gamma/>
                  <a:tint val="36471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1" name="Rectangle 26"/>
          <p:cNvSpPr>
            <a:spLocks noChangeArrowheads="1"/>
          </p:cNvSpPr>
          <p:nvPr/>
        </p:nvSpPr>
        <p:spPr bwMode="auto">
          <a:xfrm flipH="1">
            <a:off x="5054777" y="4248980"/>
            <a:ext cx="1431925" cy="1936328"/>
          </a:xfrm>
          <a:prstGeom prst="rect">
            <a:avLst/>
          </a:prstGeom>
          <a:gradFill rotWithShape="0">
            <a:gsLst>
              <a:gs pos="0">
                <a:srgbClr val="58AFD2"/>
              </a:gs>
              <a:gs pos="50000">
                <a:srgbClr val="58AFD2">
                  <a:gamma/>
                  <a:tint val="21176"/>
                  <a:invGamma/>
                </a:srgbClr>
              </a:gs>
              <a:gs pos="100000">
                <a:srgbClr val="58AFD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2" name="Rectangle 27"/>
          <p:cNvSpPr>
            <a:spLocks noChangeArrowheads="1"/>
          </p:cNvSpPr>
          <p:nvPr/>
        </p:nvSpPr>
        <p:spPr bwMode="auto">
          <a:xfrm flipH="1">
            <a:off x="5080176" y="4303829"/>
            <a:ext cx="1358900" cy="1816658"/>
          </a:xfrm>
          <a:prstGeom prst="rect">
            <a:avLst/>
          </a:prstGeom>
          <a:solidFill>
            <a:srgbClr val="B4DAE6"/>
          </a:solidFill>
          <a:ln>
            <a:noFill/>
          </a:ln>
          <a:effectLst>
            <a:prstShdw prst="shdw18" dist="17961" dir="13500000">
              <a:srgbClr val="B4DAE6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3" name="Freeform 28"/>
          <p:cNvSpPr>
            <a:spLocks/>
          </p:cNvSpPr>
          <p:nvPr/>
        </p:nvSpPr>
        <p:spPr bwMode="auto">
          <a:xfrm>
            <a:off x="2076627" y="3908253"/>
            <a:ext cx="1603375" cy="350700"/>
          </a:xfrm>
          <a:custGeom>
            <a:avLst/>
            <a:gdLst>
              <a:gd name="T0" fmla="*/ 0 w 1017"/>
              <a:gd name="T1" fmla="*/ 194 h 194"/>
              <a:gd name="T2" fmla="*/ 385 w 1017"/>
              <a:gd name="T3" fmla="*/ 0 h 194"/>
              <a:gd name="T4" fmla="*/ 1017 w 1017"/>
              <a:gd name="T5" fmla="*/ 9 h 194"/>
              <a:gd name="T6" fmla="*/ 903 w 1017"/>
              <a:gd name="T7" fmla="*/ 191 h 194"/>
              <a:gd name="T8" fmla="*/ 0 w 1017"/>
              <a:gd name="T9" fmla="*/ 194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7" h="194">
                <a:moveTo>
                  <a:pt x="0" y="194"/>
                </a:moveTo>
                <a:lnTo>
                  <a:pt x="385" y="0"/>
                </a:lnTo>
                <a:lnTo>
                  <a:pt x="1017" y="9"/>
                </a:lnTo>
                <a:lnTo>
                  <a:pt x="903" y="191"/>
                </a:lnTo>
                <a:lnTo>
                  <a:pt x="0" y="194"/>
                </a:lnTo>
                <a:close/>
              </a:path>
            </a:pathLst>
          </a:custGeom>
          <a:gradFill rotWithShape="0">
            <a:gsLst>
              <a:gs pos="0">
                <a:srgbClr val="88C7E0"/>
              </a:gs>
              <a:gs pos="100000">
                <a:srgbClr val="88C7E0">
                  <a:gamma/>
                  <a:tint val="36471"/>
                  <a:invGamma/>
                </a:srgb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4" name="Freeform 29"/>
          <p:cNvSpPr>
            <a:spLocks/>
          </p:cNvSpPr>
          <p:nvPr/>
        </p:nvSpPr>
        <p:spPr bwMode="auto">
          <a:xfrm>
            <a:off x="3502201" y="3924874"/>
            <a:ext cx="177800" cy="2267082"/>
          </a:xfrm>
          <a:custGeom>
            <a:avLst/>
            <a:gdLst>
              <a:gd name="T0" fmla="*/ 1 w 113"/>
              <a:gd name="T1" fmla="*/ 1254 h 1254"/>
              <a:gd name="T2" fmla="*/ 106 w 113"/>
              <a:gd name="T3" fmla="*/ 798 h 1254"/>
              <a:gd name="T4" fmla="*/ 113 w 113"/>
              <a:gd name="T5" fmla="*/ 0 h 1254"/>
              <a:gd name="T6" fmla="*/ 0 w 113"/>
              <a:gd name="T7" fmla="*/ 179 h 1254"/>
              <a:gd name="T8" fmla="*/ 1 w 113"/>
              <a:gd name="T9" fmla="*/ 1254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" h="1254">
                <a:moveTo>
                  <a:pt x="1" y="1254"/>
                </a:moveTo>
                <a:lnTo>
                  <a:pt x="106" y="798"/>
                </a:lnTo>
                <a:lnTo>
                  <a:pt x="113" y="0"/>
                </a:lnTo>
                <a:lnTo>
                  <a:pt x="0" y="179"/>
                </a:lnTo>
                <a:lnTo>
                  <a:pt x="1" y="1254"/>
                </a:lnTo>
                <a:close/>
              </a:path>
            </a:pathLst>
          </a:custGeom>
          <a:gradFill rotWithShape="0">
            <a:gsLst>
              <a:gs pos="0">
                <a:srgbClr val="308EB4">
                  <a:gamma/>
                  <a:tint val="36471"/>
                  <a:invGamma/>
                </a:srgbClr>
              </a:gs>
              <a:gs pos="100000">
                <a:srgbClr val="308EB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5" name="Rectangle 30"/>
          <p:cNvSpPr>
            <a:spLocks noChangeArrowheads="1"/>
          </p:cNvSpPr>
          <p:nvPr/>
        </p:nvSpPr>
        <p:spPr bwMode="auto">
          <a:xfrm>
            <a:off x="2071864" y="4248980"/>
            <a:ext cx="1433513" cy="1936328"/>
          </a:xfrm>
          <a:prstGeom prst="rect">
            <a:avLst/>
          </a:prstGeom>
          <a:gradFill rotWithShape="0">
            <a:gsLst>
              <a:gs pos="0">
                <a:srgbClr val="58AFD2"/>
              </a:gs>
              <a:gs pos="50000">
                <a:srgbClr val="58AFD2">
                  <a:gamma/>
                  <a:tint val="21176"/>
                  <a:invGamma/>
                </a:srgbClr>
              </a:gs>
              <a:gs pos="100000">
                <a:srgbClr val="58AFD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6" name="Rectangle 31"/>
          <p:cNvSpPr>
            <a:spLocks noChangeArrowheads="1"/>
          </p:cNvSpPr>
          <p:nvPr/>
        </p:nvSpPr>
        <p:spPr bwMode="auto">
          <a:xfrm>
            <a:off x="2097263" y="4303829"/>
            <a:ext cx="1358900" cy="1816658"/>
          </a:xfrm>
          <a:prstGeom prst="rect">
            <a:avLst/>
          </a:prstGeom>
          <a:solidFill>
            <a:srgbClr val="B4DAE6"/>
          </a:solidFill>
          <a:ln>
            <a:noFill/>
          </a:ln>
          <a:effectLst>
            <a:prstShdw prst="shdw18" dist="17961" dir="13500000">
              <a:srgbClr val="B4DAE6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7" name="Freeform 32"/>
          <p:cNvSpPr>
            <a:spLocks/>
          </p:cNvSpPr>
          <p:nvPr/>
        </p:nvSpPr>
        <p:spPr bwMode="auto">
          <a:xfrm>
            <a:off x="3557763" y="3916563"/>
            <a:ext cx="1428750" cy="325768"/>
          </a:xfrm>
          <a:custGeom>
            <a:avLst/>
            <a:gdLst>
              <a:gd name="T0" fmla="*/ 0 w 906"/>
              <a:gd name="T1" fmla="*/ 174 h 180"/>
              <a:gd name="T2" fmla="*/ 111 w 906"/>
              <a:gd name="T3" fmla="*/ 0 h 180"/>
              <a:gd name="T4" fmla="*/ 906 w 906"/>
              <a:gd name="T5" fmla="*/ 12 h 180"/>
              <a:gd name="T6" fmla="*/ 906 w 906"/>
              <a:gd name="T7" fmla="*/ 180 h 180"/>
              <a:gd name="T8" fmla="*/ 0 w 906"/>
              <a:gd name="T9" fmla="*/ 174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6" h="180">
                <a:moveTo>
                  <a:pt x="0" y="174"/>
                </a:moveTo>
                <a:lnTo>
                  <a:pt x="111" y="0"/>
                </a:lnTo>
                <a:lnTo>
                  <a:pt x="906" y="12"/>
                </a:lnTo>
                <a:lnTo>
                  <a:pt x="906" y="180"/>
                </a:lnTo>
                <a:lnTo>
                  <a:pt x="0" y="174"/>
                </a:lnTo>
                <a:close/>
              </a:path>
            </a:pathLst>
          </a:custGeom>
          <a:gradFill rotWithShape="0">
            <a:gsLst>
              <a:gs pos="0">
                <a:srgbClr val="88C7E0">
                  <a:gamma/>
                  <a:tint val="36471"/>
                  <a:invGamma/>
                </a:srgbClr>
              </a:gs>
              <a:gs pos="100000">
                <a:srgbClr val="88C7E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8" name="Rectangle 33"/>
          <p:cNvSpPr>
            <a:spLocks noChangeArrowheads="1"/>
          </p:cNvSpPr>
          <p:nvPr/>
        </p:nvSpPr>
        <p:spPr bwMode="auto">
          <a:xfrm>
            <a:off x="3540302" y="4248980"/>
            <a:ext cx="1463675" cy="1936328"/>
          </a:xfrm>
          <a:prstGeom prst="rect">
            <a:avLst/>
          </a:prstGeom>
          <a:gradFill rotWithShape="0">
            <a:gsLst>
              <a:gs pos="0">
                <a:srgbClr val="58AFD2"/>
              </a:gs>
              <a:gs pos="50000">
                <a:srgbClr val="58AFD2">
                  <a:gamma/>
                  <a:tint val="21176"/>
                  <a:invGamma/>
                </a:srgbClr>
              </a:gs>
              <a:gs pos="100000">
                <a:srgbClr val="58AFD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9" name="Rectangle 34"/>
          <p:cNvSpPr>
            <a:spLocks noChangeArrowheads="1"/>
          </p:cNvSpPr>
          <p:nvPr/>
        </p:nvSpPr>
        <p:spPr bwMode="auto">
          <a:xfrm>
            <a:off x="3567289" y="4303829"/>
            <a:ext cx="1389063" cy="1816658"/>
          </a:xfrm>
          <a:prstGeom prst="rect">
            <a:avLst/>
          </a:prstGeom>
          <a:solidFill>
            <a:srgbClr val="B4DAE6"/>
          </a:solidFill>
          <a:ln>
            <a:noFill/>
          </a:ln>
          <a:effectLst>
            <a:prstShdw prst="shdw18" dist="17961" dir="13500000">
              <a:srgbClr val="B4DAE6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0" name="Line 35"/>
          <p:cNvSpPr>
            <a:spLocks noChangeShapeType="1"/>
          </p:cNvSpPr>
          <p:nvPr/>
        </p:nvSpPr>
        <p:spPr bwMode="auto">
          <a:xfrm>
            <a:off x="2136951" y="4727660"/>
            <a:ext cx="1276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/>
          <a:lstStyle/>
          <a:p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51" name="Line 36"/>
          <p:cNvSpPr>
            <a:spLocks noChangeShapeType="1"/>
          </p:cNvSpPr>
          <p:nvPr/>
        </p:nvSpPr>
        <p:spPr bwMode="auto">
          <a:xfrm>
            <a:off x="3616501" y="4727660"/>
            <a:ext cx="130333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/>
          <a:lstStyle/>
          <a:p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52" name="Line 37"/>
          <p:cNvSpPr>
            <a:spLocks noChangeShapeType="1"/>
          </p:cNvSpPr>
          <p:nvPr/>
        </p:nvSpPr>
        <p:spPr bwMode="auto">
          <a:xfrm>
            <a:off x="5134152" y="4727660"/>
            <a:ext cx="1274763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/>
          <a:lstStyle/>
          <a:p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53" name="Line 38"/>
          <p:cNvSpPr>
            <a:spLocks noChangeShapeType="1"/>
          </p:cNvSpPr>
          <p:nvPr/>
        </p:nvSpPr>
        <p:spPr bwMode="auto">
          <a:xfrm>
            <a:off x="6653388" y="4727660"/>
            <a:ext cx="1276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/>
          <a:lstStyle/>
          <a:p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54" name="Text Box 39"/>
          <p:cNvSpPr txBox="1">
            <a:spLocks noChangeArrowheads="1"/>
          </p:cNvSpPr>
          <p:nvPr/>
        </p:nvSpPr>
        <p:spPr bwMode="auto">
          <a:xfrm>
            <a:off x="6832776" y="4327099"/>
            <a:ext cx="908050" cy="36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latin typeface="+mj-ea"/>
                <a:ea typeface="+mj-ea"/>
              </a:rPr>
              <a:t>적용</a:t>
            </a:r>
            <a:endParaRPr kumimoji="1" lang="ko-KR" altLang="en-US" b="1" dirty="0">
              <a:latin typeface="+mj-ea"/>
              <a:ea typeface="+mj-ea"/>
            </a:endParaRPr>
          </a:p>
        </p:txBody>
      </p:sp>
      <p:sp>
        <p:nvSpPr>
          <p:cNvPr id="55" name="Text Box 40"/>
          <p:cNvSpPr txBox="1">
            <a:spLocks noChangeArrowheads="1"/>
          </p:cNvSpPr>
          <p:nvPr/>
        </p:nvSpPr>
        <p:spPr bwMode="auto">
          <a:xfrm>
            <a:off x="3775251" y="4326923"/>
            <a:ext cx="9080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>
                <a:latin typeface="+mj-ea"/>
                <a:ea typeface="+mj-ea"/>
              </a:rPr>
              <a:t>설계</a:t>
            </a:r>
          </a:p>
        </p:txBody>
      </p:sp>
      <p:sp>
        <p:nvSpPr>
          <p:cNvPr id="56" name="Text Box 41"/>
          <p:cNvSpPr txBox="1">
            <a:spLocks noChangeArrowheads="1"/>
          </p:cNvSpPr>
          <p:nvPr/>
        </p:nvSpPr>
        <p:spPr bwMode="auto">
          <a:xfrm>
            <a:off x="5299251" y="4327099"/>
            <a:ext cx="908050" cy="36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latin typeface="+mj-ea"/>
                <a:ea typeface="+mj-ea"/>
              </a:rPr>
              <a:t>시험</a:t>
            </a:r>
            <a:endParaRPr kumimoji="1" lang="ko-KR" altLang="en-US" b="1" dirty="0">
              <a:latin typeface="+mj-ea"/>
              <a:ea typeface="+mj-ea"/>
            </a:endParaRPr>
          </a:p>
        </p:txBody>
      </p:sp>
      <p:sp>
        <p:nvSpPr>
          <p:cNvPr id="57" name="Text Box 42"/>
          <p:cNvSpPr txBox="1">
            <a:spLocks noChangeArrowheads="1"/>
          </p:cNvSpPr>
          <p:nvPr/>
        </p:nvSpPr>
        <p:spPr bwMode="auto">
          <a:xfrm>
            <a:off x="2289351" y="4327099"/>
            <a:ext cx="908050" cy="36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latin typeface="+mj-ea"/>
                <a:ea typeface="+mj-ea"/>
              </a:rPr>
              <a:t>분석</a:t>
            </a: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6697839" y="4885558"/>
            <a:ext cx="1158875" cy="721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DD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7667" tIns="48834" rIns="97667" bIns="48834" anchor="ctr"/>
          <a:lstStyle>
            <a:lvl1pPr marL="95250" indent="-95250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5938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7631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6526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52625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098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670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242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814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사용자 교육</a:t>
            </a:r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관련 부서와 통합 시험 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검토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및 보고</a:t>
            </a:r>
          </a:p>
        </p:txBody>
      </p:sp>
      <p:sp>
        <p:nvSpPr>
          <p:cNvPr id="59" name="Rectangle 44"/>
          <p:cNvSpPr>
            <a:spLocks noChangeArrowheads="1"/>
          </p:cNvSpPr>
          <p:nvPr/>
        </p:nvSpPr>
        <p:spPr bwMode="auto">
          <a:xfrm>
            <a:off x="3538714" y="4784172"/>
            <a:ext cx="1566863" cy="1279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DD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7667" tIns="48834" rIns="97667" bIns="48834" anchor="ctr"/>
          <a:lstStyle>
            <a:lvl1pPr marL="95250" indent="-95250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5938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7631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6526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52625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098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670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242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814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상세 설계</a:t>
            </a:r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단위 시스템 </a:t>
            </a:r>
            <a:r>
              <a:rPr lang="ko-KR" altLang="en-US" sz="1000" dirty="0" err="1">
                <a:solidFill>
                  <a:srgbClr val="000000"/>
                </a:solidFill>
                <a:latin typeface="+mj-ea"/>
                <a:ea typeface="+mj-ea"/>
              </a:rPr>
              <a:t>프로토타입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 제작</a:t>
            </a:r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사양서 작성</a:t>
            </a: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요구사항 </a:t>
            </a:r>
            <a:r>
              <a:rPr lang="ko-KR" altLang="en-US" sz="1000" dirty="0" err="1">
                <a:solidFill>
                  <a:srgbClr val="000000"/>
                </a:solidFill>
                <a:latin typeface="+mj-ea"/>
                <a:ea typeface="+mj-ea"/>
              </a:rPr>
              <a:t>추적성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 검증</a:t>
            </a: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검토 및 보고</a:t>
            </a:r>
          </a:p>
        </p:txBody>
      </p:sp>
      <p:sp>
        <p:nvSpPr>
          <p:cNvPr id="60" name="Rectangle 45"/>
          <p:cNvSpPr>
            <a:spLocks noChangeArrowheads="1"/>
          </p:cNvSpPr>
          <p:nvPr/>
        </p:nvSpPr>
        <p:spPr bwMode="auto">
          <a:xfrm>
            <a:off x="5202413" y="4945393"/>
            <a:ext cx="1112838" cy="88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DD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7667" tIns="48834" rIns="97667" bIns="48834" anchor="ctr"/>
          <a:lstStyle>
            <a:lvl1pPr marL="95250" indent="-95250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5938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7631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6526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52625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098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670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242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814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시스템 시험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인증 시험</a:t>
            </a:r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검토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및 보고</a:t>
            </a:r>
          </a:p>
        </p:txBody>
      </p:sp>
      <p:sp>
        <p:nvSpPr>
          <p:cNvPr id="61" name="Rectangle 46"/>
          <p:cNvSpPr>
            <a:spLocks noChangeArrowheads="1"/>
          </p:cNvSpPr>
          <p:nvPr/>
        </p:nvSpPr>
        <p:spPr bwMode="auto">
          <a:xfrm>
            <a:off x="2090914" y="4945393"/>
            <a:ext cx="1363663" cy="88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DD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7667" tIns="48834" rIns="97667" bIns="48834" anchor="ctr"/>
          <a:lstStyle>
            <a:lvl1pPr marL="95250" indent="-95250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5938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7631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465263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952625" algn="l" defTabSz="976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098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8670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242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781425" defTabSz="9763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요구사항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정의</a:t>
            </a: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사전 설계 및 모델링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latinLnBrk="0" hangingPunct="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"/>
            </a:pP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검토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및 보고</a:t>
            </a:r>
          </a:p>
        </p:txBody>
      </p:sp>
      <p:sp>
        <p:nvSpPr>
          <p:cNvPr id="62" name="Oval 47"/>
          <p:cNvSpPr>
            <a:spLocks noChangeArrowheads="1"/>
          </p:cNvSpPr>
          <p:nvPr/>
        </p:nvSpPr>
        <p:spPr bwMode="auto">
          <a:xfrm>
            <a:off x="4308652" y="1350307"/>
            <a:ext cx="1370013" cy="112024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6E494">
                        <a:gamma/>
                        <a:tint val="12157"/>
                        <a:invGamma/>
                      </a:srgbClr>
                    </a:gs>
                    <a:gs pos="100000">
                      <a:srgbClr val="E6E494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97BFE7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E6E494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2400" b="1" dirty="0">
                <a:latin typeface="+mj-ea"/>
                <a:ea typeface="+mj-ea"/>
              </a:rPr>
              <a:t>적용 </a:t>
            </a:r>
            <a:r>
              <a:rPr kumimoji="1" lang="ko-KR" altLang="en-US" sz="2400" b="1" dirty="0">
                <a:latin typeface="+mj-ea"/>
                <a:ea typeface="+mj-ea"/>
              </a:rPr>
              <a:t>목표 달성</a:t>
            </a:r>
          </a:p>
        </p:txBody>
      </p:sp>
      <p:grpSp>
        <p:nvGrpSpPr>
          <p:cNvPr id="69" name="Group 11"/>
          <p:cNvGrpSpPr>
            <a:grpSpLocks/>
          </p:cNvGrpSpPr>
          <p:nvPr/>
        </p:nvGrpSpPr>
        <p:grpSpPr bwMode="auto">
          <a:xfrm>
            <a:off x="8890876" y="5563306"/>
            <a:ext cx="1228725" cy="628650"/>
            <a:chOff x="978" y="3456"/>
            <a:chExt cx="1081" cy="227"/>
          </a:xfrm>
        </p:grpSpPr>
        <p:sp>
          <p:nvSpPr>
            <p:cNvPr id="70" name="AutoShape 12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1" name="AutoShape 13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72" name="Group 14"/>
          <p:cNvGrpSpPr>
            <a:grpSpLocks/>
          </p:cNvGrpSpPr>
          <p:nvPr/>
        </p:nvGrpSpPr>
        <p:grpSpPr bwMode="auto">
          <a:xfrm>
            <a:off x="8848013" y="5517270"/>
            <a:ext cx="1231900" cy="630237"/>
            <a:chOff x="978" y="3456"/>
            <a:chExt cx="1081" cy="227"/>
          </a:xfrm>
        </p:grpSpPr>
        <p:sp>
          <p:nvSpPr>
            <p:cNvPr id="73" name="AutoShape 15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" name="AutoShape 16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75" name="Group 17"/>
          <p:cNvGrpSpPr>
            <a:grpSpLocks/>
          </p:cNvGrpSpPr>
          <p:nvPr/>
        </p:nvGrpSpPr>
        <p:grpSpPr bwMode="auto">
          <a:xfrm>
            <a:off x="8889289" y="4196470"/>
            <a:ext cx="1228725" cy="631825"/>
            <a:chOff x="978" y="3456"/>
            <a:chExt cx="1081" cy="227"/>
          </a:xfrm>
        </p:grpSpPr>
        <p:sp>
          <p:nvSpPr>
            <p:cNvPr id="76" name="AutoShape 18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7" name="AutoShape 19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78" name="Group 20"/>
          <p:cNvGrpSpPr>
            <a:grpSpLocks/>
          </p:cNvGrpSpPr>
          <p:nvPr/>
        </p:nvGrpSpPr>
        <p:grpSpPr bwMode="auto">
          <a:xfrm>
            <a:off x="8846425" y="4163131"/>
            <a:ext cx="1231900" cy="630238"/>
            <a:chOff x="978" y="3456"/>
            <a:chExt cx="1081" cy="227"/>
          </a:xfrm>
        </p:grpSpPr>
        <p:sp>
          <p:nvSpPr>
            <p:cNvPr id="79" name="AutoShape 21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0" name="AutoShape 22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81" name="Group 23"/>
          <p:cNvGrpSpPr>
            <a:grpSpLocks/>
          </p:cNvGrpSpPr>
          <p:nvPr/>
        </p:nvGrpSpPr>
        <p:grpSpPr bwMode="auto">
          <a:xfrm>
            <a:off x="8887701" y="2842331"/>
            <a:ext cx="1228725" cy="628650"/>
            <a:chOff x="978" y="3456"/>
            <a:chExt cx="1081" cy="227"/>
          </a:xfrm>
        </p:grpSpPr>
        <p:sp>
          <p:nvSpPr>
            <p:cNvPr id="82" name="AutoShape 24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3" name="AutoShape 25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84" name="Group 26"/>
          <p:cNvGrpSpPr>
            <a:grpSpLocks/>
          </p:cNvGrpSpPr>
          <p:nvPr/>
        </p:nvGrpSpPr>
        <p:grpSpPr bwMode="auto">
          <a:xfrm>
            <a:off x="8844838" y="2807406"/>
            <a:ext cx="1231900" cy="630238"/>
            <a:chOff x="978" y="3456"/>
            <a:chExt cx="1081" cy="227"/>
          </a:xfrm>
        </p:grpSpPr>
        <p:sp>
          <p:nvSpPr>
            <p:cNvPr id="85" name="AutoShape 27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6" name="AutoShape 28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87" name="Group 29"/>
          <p:cNvGrpSpPr>
            <a:grpSpLocks/>
          </p:cNvGrpSpPr>
          <p:nvPr/>
        </p:nvGrpSpPr>
        <p:grpSpPr bwMode="auto">
          <a:xfrm>
            <a:off x="8801975" y="2769307"/>
            <a:ext cx="1231900" cy="631825"/>
            <a:chOff x="978" y="3456"/>
            <a:chExt cx="1081" cy="227"/>
          </a:xfrm>
        </p:grpSpPr>
        <p:sp>
          <p:nvSpPr>
            <p:cNvPr id="88" name="AutoShape 30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9" name="AutoShape 31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90" name="Group 32"/>
          <p:cNvGrpSpPr>
            <a:grpSpLocks/>
          </p:cNvGrpSpPr>
          <p:nvPr/>
        </p:nvGrpSpPr>
        <p:grpSpPr bwMode="auto">
          <a:xfrm>
            <a:off x="8801975" y="4131381"/>
            <a:ext cx="1231900" cy="630238"/>
            <a:chOff x="978" y="3456"/>
            <a:chExt cx="1081" cy="227"/>
          </a:xfrm>
        </p:grpSpPr>
        <p:sp>
          <p:nvSpPr>
            <p:cNvPr id="91" name="AutoShape 33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2" name="AutoShape 34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93" name="Group 35"/>
          <p:cNvGrpSpPr>
            <a:grpSpLocks/>
          </p:cNvGrpSpPr>
          <p:nvPr/>
        </p:nvGrpSpPr>
        <p:grpSpPr bwMode="auto">
          <a:xfrm>
            <a:off x="8801975" y="5469645"/>
            <a:ext cx="1231900" cy="631825"/>
            <a:chOff x="978" y="3456"/>
            <a:chExt cx="1081" cy="227"/>
          </a:xfrm>
        </p:grpSpPr>
        <p:sp>
          <p:nvSpPr>
            <p:cNvPr id="94" name="AutoShape 36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5" name="AutoShape 37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96" name="Text Box 38"/>
          <p:cNvSpPr txBox="1">
            <a:spLocks noChangeArrowheads="1"/>
          </p:cNvSpPr>
          <p:nvPr/>
        </p:nvSpPr>
        <p:spPr bwMode="auto">
          <a:xfrm>
            <a:off x="9051502" y="2932819"/>
            <a:ext cx="7280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latin typeface="+mj-ea"/>
                <a:ea typeface="+mj-ea"/>
              </a:rPr>
              <a:t> </a:t>
            </a:r>
            <a:r>
              <a:rPr lang="ko-KR" altLang="en-US" b="1">
                <a:latin typeface="+mj-ea"/>
                <a:ea typeface="+mj-ea"/>
              </a:rPr>
              <a:t>설계</a:t>
            </a:r>
          </a:p>
        </p:txBody>
      </p:sp>
      <p:sp>
        <p:nvSpPr>
          <p:cNvPr id="97" name="Text Box 39"/>
          <p:cNvSpPr txBox="1">
            <a:spLocks noChangeArrowheads="1"/>
          </p:cNvSpPr>
          <p:nvPr/>
        </p:nvSpPr>
        <p:spPr bwMode="auto">
          <a:xfrm>
            <a:off x="9093172" y="4283781"/>
            <a:ext cx="6463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b="1" dirty="0">
                <a:latin typeface="+mj-ea"/>
                <a:ea typeface="+mj-ea"/>
              </a:rPr>
              <a:t>시험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98" name="Text Box 40"/>
          <p:cNvSpPr txBox="1">
            <a:spLocks noChangeArrowheads="1"/>
          </p:cNvSpPr>
          <p:nvPr/>
        </p:nvSpPr>
        <p:spPr bwMode="auto">
          <a:xfrm>
            <a:off x="9112222" y="5631569"/>
            <a:ext cx="6463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b="1" dirty="0">
                <a:latin typeface="+mj-ea"/>
                <a:ea typeface="+mj-ea"/>
              </a:rPr>
              <a:t>적용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99" name="Group 41"/>
          <p:cNvGrpSpPr>
            <a:grpSpLocks/>
          </p:cNvGrpSpPr>
          <p:nvPr/>
        </p:nvGrpSpPr>
        <p:grpSpPr bwMode="auto">
          <a:xfrm>
            <a:off x="8790864" y="2642307"/>
            <a:ext cx="333375" cy="354013"/>
            <a:chOff x="395" y="1869"/>
            <a:chExt cx="239" cy="227"/>
          </a:xfrm>
        </p:grpSpPr>
        <p:sp>
          <p:nvSpPr>
            <p:cNvPr id="100" name="Freeform 42"/>
            <p:cNvSpPr>
              <a:spLocks/>
            </p:cNvSpPr>
            <p:nvPr/>
          </p:nvSpPr>
          <p:spPr bwMode="auto">
            <a:xfrm>
              <a:off x="475" y="1869"/>
              <a:ext cx="154" cy="175"/>
            </a:xfrm>
            <a:custGeom>
              <a:avLst/>
              <a:gdLst>
                <a:gd name="T0" fmla="*/ 546 w 1384"/>
                <a:gd name="T1" fmla="*/ 234 h 1757"/>
                <a:gd name="T2" fmla="*/ 596 w 1384"/>
                <a:gd name="T3" fmla="*/ 244 h 1757"/>
                <a:gd name="T4" fmla="*/ 635 w 1384"/>
                <a:gd name="T5" fmla="*/ 254 h 1757"/>
                <a:gd name="T6" fmla="*/ 676 w 1384"/>
                <a:gd name="T7" fmla="*/ 267 h 1757"/>
                <a:gd name="T8" fmla="*/ 717 w 1384"/>
                <a:gd name="T9" fmla="*/ 280 h 1757"/>
                <a:gd name="T10" fmla="*/ 765 w 1384"/>
                <a:gd name="T11" fmla="*/ 300 h 1757"/>
                <a:gd name="T12" fmla="*/ 810 w 1384"/>
                <a:gd name="T13" fmla="*/ 320 h 1757"/>
                <a:gd name="T14" fmla="*/ 854 w 1384"/>
                <a:gd name="T15" fmla="*/ 342 h 1757"/>
                <a:gd name="T16" fmla="*/ 892 w 1384"/>
                <a:gd name="T17" fmla="*/ 365 h 1757"/>
                <a:gd name="T18" fmla="*/ 930 w 1384"/>
                <a:gd name="T19" fmla="*/ 390 h 1757"/>
                <a:gd name="T20" fmla="*/ 972 w 1384"/>
                <a:gd name="T21" fmla="*/ 421 h 1757"/>
                <a:gd name="T22" fmla="*/ 1009 w 1384"/>
                <a:gd name="T23" fmla="*/ 448 h 1757"/>
                <a:gd name="T24" fmla="*/ 1067 w 1384"/>
                <a:gd name="T25" fmla="*/ 500 h 1757"/>
                <a:gd name="T26" fmla="*/ 1117 w 1384"/>
                <a:gd name="T27" fmla="*/ 552 h 1757"/>
                <a:gd name="T28" fmla="*/ 1157 w 1384"/>
                <a:gd name="T29" fmla="*/ 600 h 1757"/>
                <a:gd name="T30" fmla="*/ 1199 w 1384"/>
                <a:gd name="T31" fmla="*/ 657 h 1757"/>
                <a:gd name="T32" fmla="*/ 1238 w 1384"/>
                <a:gd name="T33" fmla="*/ 717 h 1757"/>
                <a:gd name="T34" fmla="*/ 1272 w 1384"/>
                <a:gd name="T35" fmla="*/ 777 h 1757"/>
                <a:gd name="T36" fmla="*/ 1303 w 1384"/>
                <a:gd name="T37" fmla="*/ 844 h 1757"/>
                <a:gd name="T38" fmla="*/ 1328 w 1384"/>
                <a:gd name="T39" fmla="*/ 915 h 1757"/>
                <a:gd name="T40" fmla="*/ 1354 w 1384"/>
                <a:gd name="T41" fmla="*/ 1003 h 1757"/>
                <a:gd name="T42" fmla="*/ 1370 w 1384"/>
                <a:gd name="T43" fmla="*/ 1089 h 1757"/>
                <a:gd name="T44" fmla="*/ 1382 w 1384"/>
                <a:gd name="T45" fmla="*/ 1202 h 1757"/>
                <a:gd name="T46" fmla="*/ 1382 w 1384"/>
                <a:gd name="T47" fmla="*/ 1297 h 1757"/>
                <a:gd name="T48" fmla="*/ 1373 w 1384"/>
                <a:gd name="T49" fmla="*/ 1385 h 1757"/>
                <a:gd name="T50" fmla="*/ 1358 w 1384"/>
                <a:gd name="T51" fmla="*/ 1475 h 1757"/>
                <a:gd name="T52" fmla="*/ 1330 w 1384"/>
                <a:gd name="T53" fmla="*/ 1575 h 1757"/>
                <a:gd name="T54" fmla="*/ 1296 w 1384"/>
                <a:gd name="T55" fmla="*/ 1667 h 1757"/>
                <a:gd name="T56" fmla="*/ 1244 w 1384"/>
                <a:gd name="T57" fmla="*/ 1757 h 1757"/>
                <a:gd name="T58" fmla="*/ 858 w 1384"/>
                <a:gd name="T59" fmla="*/ 1474 h 1757"/>
                <a:gd name="T60" fmla="*/ 884 w 1384"/>
                <a:gd name="T61" fmla="*/ 1403 h 1757"/>
                <a:gd name="T62" fmla="*/ 899 w 1384"/>
                <a:gd name="T63" fmla="*/ 1334 h 1757"/>
                <a:gd name="T64" fmla="*/ 905 w 1384"/>
                <a:gd name="T65" fmla="*/ 1269 h 1757"/>
                <a:gd name="T66" fmla="*/ 903 w 1384"/>
                <a:gd name="T67" fmla="*/ 1195 h 1757"/>
                <a:gd name="T68" fmla="*/ 890 w 1384"/>
                <a:gd name="T69" fmla="*/ 1115 h 1757"/>
                <a:gd name="T70" fmla="*/ 866 w 1384"/>
                <a:gd name="T71" fmla="*/ 1042 h 1757"/>
                <a:gd name="T72" fmla="*/ 835 w 1384"/>
                <a:gd name="T73" fmla="*/ 978 h 1757"/>
                <a:gd name="T74" fmla="*/ 806 w 1384"/>
                <a:gd name="T75" fmla="*/ 933 h 1757"/>
                <a:gd name="T76" fmla="*/ 774 w 1384"/>
                <a:gd name="T77" fmla="*/ 893 h 1757"/>
                <a:gd name="T78" fmla="*/ 740 w 1384"/>
                <a:gd name="T79" fmla="*/ 856 h 1757"/>
                <a:gd name="T80" fmla="*/ 704 w 1384"/>
                <a:gd name="T81" fmla="*/ 822 h 1757"/>
                <a:gd name="T82" fmla="*/ 657 w 1384"/>
                <a:gd name="T83" fmla="*/ 791 h 1757"/>
                <a:gd name="T84" fmla="*/ 618 w 1384"/>
                <a:gd name="T85" fmla="*/ 766 h 1757"/>
                <a:gd name="T86" fmla="*/ 569 w 1384"/>
                <a:gd name="T87" fmla="*/ 742 h 1757"/>
                <a:gd name="T88" fmla="*/ 528 w 1384"/>
                <a:gd name="T89" fmla="*/ 727 h 1757"/>
                <a:gd name="T90" fmla="*/ 467 w 1384"/>
                <a:gd name="T91" fmla="*/ 714 h 1757"/>
                <a:gd name="T92" fmla="*/ 406 w 1384"/>
                <a:gd name="T93" fmla="*/ 709 h 1757"/>
                <a:gd name="T94" fmla="*/ 389 w 1384"/>
                <a:gd name="T95" fmla="*/ 964 h 1757"/>
                <a:gd name="T96" fmla="*/ 388 w 1384"/>
                <a:gd name="T97" fmla="*/ 0 h 1757"/>
                <a:gd name="T98" fmla="*/ 409 w 1384"/>
                <a:gd name="T99" fmla="*/ 221 h 1757"/>
                <a:gd name="T100" fmla="*/ 471 w 1384"/>
                <a:gd name="T101" fmla="*/ 224 h 1757"/>
                <a:gd name="T102" fmla="*/ 527 w 1384"/>
                <a:gd name="T103" fmla="*/ 230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84" h="1757">
                  <a:moveTo>
                    <a:pt x="527" y="230"/>
                  </a:moveTo>
                  <a:lnTo>
                    <a:pt x="546" y="234"/>
                  </a:lnTo>
                  <a:lnTo>
                    <a:pt x="571" y="238"/>
                  </a:lnTo>
                  <a:lnTo>
                    <a:pt x="596" y="244"/>
                  </a:lnTo>
                  <a:lnTo>
                    <a:pt x="614" y="249"/>
                  </a:lnTo>
                  <a:lnTo>
                    <a:pt x="635" y="254"/>
                  </a:lnTo>
                  <a:lnTo>
                    <a:pt x="655" y="260"/>
                  </a:lnTo>
                  <a:lnTo>
                    <a:pt x="676" y="267"/>
                  </a:lnTo>
                  <a:lnTo>
                    <a:pt x="695" y="272"/>
                  </a:lnTo>
                  <a:lnTo>
                    <a:pt x="717" y="280"/>
                  </a:lnTo>
                  <a:lnTo>
                    <a:pt x="743" y="291"/>
                  </a:lnTo>
                  <a:lnTo>
                    <a:pt x="765" y="300"/>
                  </a:lnTo>
                  <a:lnTo>
                    <a:pt x="786" y="309"/>
                  </a:lnTo>
                  <a:lnTo>
                    <a:pt x="810" y="320"/>
                  </a:lnTo>
                  <a:lnTo>
                    <a:pt x="833" y="331"/>
                  </a:lnTo>
                  <a:lnTo>
                    <a:pt x="854" y="342"/>
                  </a:lnTo>
                  <a:lnTo>
                    <a:pt x="874" y="355"/>
                  </a:lnTo>
                  <a:lnTo>
                    <a:pt x="892" y="365"/>
                  </a:lnTo>
                  <a:lnTo>
                    <a:pt x="910" y="378"/>
                  </a:lnTo>
                  <a:lnTo>
                    <a:pt x="930" y="390"/>
                  </a:lnTo>
                  <a:lnTo>
                    <a:pt x="952" y="406"/>
                  </a:lnTo>
                  <a:lnTo>
                    <a:pt x="972" y="421"/>
                  </a:lnTo>
                  <a:lnTo>
                    <a:pt x="991" y="436"/>
                  </a:lnTo>
                  <a:lnTo>
                    <a:pt x="1009" y="448"/>
                  </a:lnTo>
                  <a:lnTo>
                    <a:pt x="1037" y="473"/>
                  </a:lnTo>
                  <a:lnTo>
                    <a:pt x="1067" y="500"/>
                  </a:lnTo>
                  <a:lnTo>
                    <a:pt x="1090" y="522"/>
                  </a:lnTo>
                  <a:lnTo>
                    <a:pt x="1117" y="552"/>
                  </a:lnTo>
                  <a:lnTo>
                    <a:pt x="1136" y="575"/>
                  </a:lnTo>
                  <a:lnTo>
                    <a:pt x="1157" y="600"/>
                  </a:lnTo>
                  <a:lnTo>
                    <a:pt x="1180" y="629"/>
                  </a:lnTo>
                  <a:lnTo>
                    <a:pt x="1199" y="657"/>
                  </a:lnTo>
                  <a:lnTo>
                    <a:pt x="1218" y="687"/>
                  </a:lnTo>
                  <a:lnTo>
                    <a:pt x="1238" y="717"/>
                  </a:lnTo>
                  <a:lnTo>
                    <a:pt x="1255" y="749"/>
                  </a:lnTo>
                  <a:lnTo>
                    <a:pt x="1272" y="777"/>
                  </a:lnTo>
                  <a:lnTo>
                    <a:pt x="1288" y="811"/>
                  </a:lnTo>
                  <a:lnTo>
                    <a:pt x="1303" y="844"/>
                  </a:lnTo>
                  <a:lnTo>
                    <a:pt x="1315" y="878"/>
                  </a:lnTo>
                  <a:lnTo>
                    <a:pt x="1328" y="915"/>
                  </a:lnTo>
                  <a:lnTo>
                    <a:pt x="1344" y="961"/>
                  </a:lnTo>
                  <a:lnTo>
                    <a:pt x="1354" y="1003"/>
                  </a:lnTo>
                  <a:lnTo>
                    <a:pt x="1365" y="1047"/>
                  </a:lnTo>
                  <a:lnTo>
                    <a:pt x="1370" y="1089"/>
                  </a:lnTo>
                  <a:lnTo>
                    <a:pt x="1377" y="1139"/>
                  </a:lnTo>
                  <a:lnTo>
                    <a:pt x="1382" y="1202"/>
                  </a:lnTo>
                  <a:lnTo>
                    <a:pt x="1384" y="1250"/>
                  </a:lnTo>
                  <a:lnTo>
                    <a:pt x="1382" y="1297"/>
                  </a:lnTo>
                  <a:lnTo>
                    <a:pt x="1378" y="1342"/>
                  </a:lnTo>
                  <a:lnTo>
                    <a:pt x="1373" y="1385"/>
                  </a:lnTo>
                  <a:lnTo>
                    <a:pt x="1368" y="1429"/>
                  </a:lnTo>
                  <a:lnTo>
                    <a:pt x="1358" y="1475"/>
                  </a:lnTo>
                  <a:lnTo>
                    <a:pt x="1346" y="1524"/>
                  </a:lnTo>
                  <a:lnTo>
                    <a:pt x="1330" y="1575"/>
                  </a:lnTo>
                  <a:lnTo>
                    <a:pt x="1314" y="1622"/>
                  </a:lnTo>
                  <a:lnTo>
                    <a:pt x="1296" y="1667"/>
                  </a:lnTo>
                  <a:lnTo>
                    <a:pt x="1270" y="1712"/>
                  </a:lnTo>
                  <a:lnTo>
                    <a:pt x="1244" y="1757"/>
                  </a:lnTo>
                  <a:lnTo>
                    <a:pt x="836" y="1519"/>
                  </a:lnTo>
                  <a:lnTo>
                    <a:pt x="858" y="1474"/>
                  </a:lnTo>
                  <a:lnTo>
                    <a:pt x="873" y="1440"/>
                  </a:lnTo>
                  <a:lnTo>
                    <a:pt x="884" y="1403"/>
                  </a:lnTo>
                  <a:lnTo>
                    <a:pt x="893" y="1367"/>
                  </a:lnTo>
                  <a:lnTo>
                    <a:pt x="899" y="1334"/>
                  </a:lnTo>
                  <a:lnTo>
                    <a:pt x="902" y="1301"/>
                  </a:lnTo>
                  <a:lnTo>
                    <a:pt x="905" y="1269"/>
                  </a:lnTo>
                  <a:lnTo>
                    <a:pt x="905" y="1235"/>
                  </a:lnTo>
                  <a:lnTo>
                    <a:pt x="903" y="1195"/>
                  </a:lnTo>
                  <a:lnTo>
                    <a:pt x="897" y="1157"/>
                  </a:lnTo>
                  <a:lnTo>
                    <a:pt x="890" y="1115"/>
                  </a:lnTo>
                  <a:lnTo>
                    <a:pt x="881" y="1081"/>
                  </a:lnTo>
                  <a:lnTo>
                    <a:pt x="866" y="1042"/>
                  </a:lnTo>
                  <a:lnTo>
                    <a:pt x="852" y="1009"/>
                  </a:lnTo>
                  <a:lnTo>
                    <a:pt x="835" y="978"/>
                  </a:lnTo>
                  <a:lnTo>
                    <a:pt x="821" y="953"/>
                  </a:lnTo>
                  <a:lnTo>
                    <a:pt x="806" y="933"/>
                  </a:lnTo>
                  <a:lnTo>
                    <a:pt x="791" y="913"/>
                  </a:lnTo>
                  <a:lnTo>
                    <a:pt x="774" y="893"/>
                  </a:lnTo>
                  <a:lnTo>
                    <a:pt x="755" y="871"/>
                  </a:lnTo>
                  <a:lnTo>
                    <a:pt x="740" y="856"/>
                  </a:lnTo>
                  <a:lnTo>
                    <a:pt x="722" y="838"/>
                  </a:lnTo>
                  <a:lnTo>
                    <a:pt x="704" y="822"/>
                  </a:lnTo>
                  <a:lnTo>
                    <a:pt x="683" y="806"/>
                  </a:lnTo>
                  <a:lnTo>
                    <a:pt x="657" y="791"/>
                  </a:lnTo>
                  <a:lnTo>
                    <a:pt x="636" y="776"/>
                  </a:lnTo>
                  <a:lnTo>
                    <a:pt x="618" y="766"/>
                  </a:lnTo>
                  <a:lnTo>
                    <a:pt x="592" y="750"/>
                  </a:lnTo>
                  <a:lnTo>
                    <a:pt x="569" y="742"/>
                  </a:lnTo>
                  <a:lnTo>
                    <a:pt x="549" y="734"/>
                  </a:lnTo>
                  <a:lnTo>
                    <a:pt x="528" y="727"/>
                  </a:lnTo>
                  <a:lnTo>
                    <a:pt x="496" y="719"/>
                  </a:lnTo>
                  <a:lnTo>
                    <a:pt x="467" y="714"/>
                  </a:lnTo>
                  <a:lnTo>
                    <a:pt x="436" y="711"/>
                  </a:lnTo>
                  <a:lnTo>
                    <a:pt x="406" y="709"/>
                  </a:lnTo>
                  <a:lnTo>
                    <a:pt x="389" y="708"/>
                  </a:lnTo>
                  <a:lnTo>
                    <a:pt x="389" y="964"/>
                  </a:lnTo>
                  <a:lnTo>
                    <a:pt x="0" y="489"/>
                  </a:lnTo>
                  <a:lnTo>
                    <a:pt x="388" y="0"/>
                  </a:lnTo>
                  <a:lnTo>
                    <a:pt x="388" y="220"/>
                  </a:lnTo>
                  <a:lnTo>
                    <a:pt x="409" y="221"/>
                  </a:lnTo>
                  <a:lnTo>
                    <a:pt x="440" y="222"/>
                  </a:lnTo>
                  <a:lnTo>
                    <a:pt x="471" y="224"/>
                  </a:lnTo>
                  <a:lnTo>
                    <a:pt x="502" y="227"/>
                  </a:lnTo>
                  <a:lnTo>
                    <a:pt x="527" y="23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1" name="Freeform 43"/>
            <p:cNvSpPr>
              <a:spLocks/>
            </p:cNvSpPr>
            <p:nvPr/>
          </p:nvSpPr>
          <p:spPr bwMode="auto">
            <a:xfrm>
              <a:off x="430" y="1998"/>
              <a:ext cx="204" cy="98"/>
            </a:xfrm>
            <a:custGeom>
              <a:avLst/>
              <a:gdLst>
                <a:gd name="T0" fmla="*/ 942 w 1836"/>
                <a:gd name="T1" fmla="*/ 961 h 976"/>
                <a:gd name="T2" fmla="*/ 992 w 1836"/>
                <a:gd name="T3" fmla="*/ 951 h 976"/>
                <a:gd name="T4" fmla="*/ 1031 w 1836"/>
                <a:gd name="T5" fmla="*/ 942 h 976"/>
                <a:gd name="T6" fmla="*/ 1073 w 1836"/>
                <a:gd name="T7" fmla="*/ 930 h 976"/>
                <a:gd name="T8" fmla="*/ 1113 w 1836"/>
                <a:gd name="T9" fmla="*/ 915 h 976"/>
                <a:gd name="T10" fmla="*/ 1161 w 1836"/>
                <a:gd name="T11" fmla="*/ 896 h 976"/>
                <a:gd name="T12" fmla="*/ 1207 w 1836"/>
                <a:gd name="T13" fmla="*/ 876 h 976"/>
                <a:gd name="T14" fmla="*/ 1251 w 1836"/>
                <a:gd name="T15" fmla="*/ 854 h 976"/>
                <a:gd name="T16" fmla="*/ 1288 w 1836"/>
                <a:gd name="T17" fmla="*/ 830 h 976"/>
                <a:gd name="T18" fmla="*/ 1326 w 1836"/>
                <a:gd name="T19" fmla="*/ 806 h 976"/>
                <a:gd name="T20" fmla="*/ 1368 w 1836"/>
                <a:gd name="T21" fmla="*/ 776 h 976"/>
                <a:gd name="T22" fmla="*/ 1404 w 1836"/>
                <a:gd name="T23" fmla="*/ 748 h 976"/>
                <a:gd name="T24" fmla="*/ 1459 w 1836"/>
                <a:gd name="T25" fmla="*/ 702 h 976"/>
                <a:gd name="T26" fmla="*/ 1513 w 1836"/>
                <a:gd name="T27" fmla="*/ 644 h 976"/>
                <a:gd name="T28" fmla="*/ 1553 w 1836"/>
                <a:gd name="T29" fmla="*/ 596 h 976"/>
                <a:gd name="T30" fmla="*/ 1596 w 1836"/>
                <a:gd name="T31" fmla="*/ 541 h 976"/>
                <a:gd name="T32" fmla="*/ 1638 w 1836"/>
                <a:gd name="T33" fmla="*/ 477 h 976"/>
                <a:gd name="T34" fmla="*/ 1642 w 1836"/>
                <a:gd name="T35" fmla="*/ 0 h 976"/>
                <a:gd name="T36" fmla="*/ 1226 w 1836"/>
                <a:gd name="T37" fmla="*/ 234 h 976"/>
                <a:gd name="T38" fmla="*/ 1189 w 1836"/>
                <a:gd name="T39" fmla="*/ 282 h 976"/>
                <a:gd name="T40" fmla="*/ 1151 w 1836"/>
                <a:gd name="T41" fmla="*/ 325 h 976"/>
                <a:gd name="T42" fmla="*/ 1118 w 1836"/>
                <a:gd name="T43" fmla="*/ 359 h 976"/>
                <a:gd name="T44" fmla="*/ 1078 w 1836"/>
                <a:gd name="T45" fmla="*/ 390 h 976"/>
                <a:gd name="T46" fmla="*/ 1032 w 1836"/>
                <a:gd name="T47" fmla="*/ 421 h 976"/>
                <a:gd name="T48" fmla="*/ 988 w 1836"/>
                <a:gd name="T49" fmla="*/ 447 h 976"/>
                <a:gd name="T50" fmla="*/ 945 w 1836"/>
                <a:gd name="T51" fmla="*/ 462 h 976"/>
                <a:gd name="T52" fmla="*/ 893 w 1836"/>
                <a:gd name="T53" fmla="*/ 478 h 976"/>
                <a:gd name="T54" fmla="*/ 832 w 1836"/>
                <a:gd name="T55" fmla="*/ 486 h 976"/>
                <a:gd name="T56" fmla="*/ 728 w 1836"/>
                <a:gd name="T57" fmla="*/ 489 h 976"/>
                <a:gd name="T58" fmla="*/ 642 w 1836"/>
                <a:gd name="T59" fmla="*/ 473 h 976"/>
                <a:gd name="T60" fmla="*/ 552 w 1836"/>
                <a:gd name="T61" fmla="*/ 441 h 976"/>
                <a:gd name="T62" fmla="*/ 472 w 1836"/>
                <a:gd name="T63" fmla="*/ 395 h 976"/>
                <a:gd name="T64" fmla="*/ 0 w 1836"/>
                <a:gd name="T65" fmla="*/ 617 h 976"/>
                <a:gd name="T66" fmla="*/ 43 w 1836"/>
                <a:gd name="T67" fmla="*/ 662 h 976"/>
                <a:gd name="T68" fmla="*/ 85 w 1836"/>
                <a:gd name="T69" fmla="*/ 704 h 976"/>
                <a:gd name="T70" fmla="*/ 131 w 1836"/>
                <a:gd name="T71" fmla="*/ 745 h 976"/>
                <a:gd name="T72" fmla="*/ 178 w 1836"/>
                <a:gd name="T73" fmla="*/ 780 h 976"/>
                <a:gd name="T74" fmla="*/ 229 w 1836"/>
                <a:gd name="T75" fmla="*/ 815 h 976"/>
                <a:gd name="T76" fmla="*/ 280 w 1836"/>
                <a:gd name="T77" fmla="*/ 846 h 976"/>
                <a:gd name="T78" fmla="*/ 327 w 1836"/>
                <a:gd name="T79" fmla="*/ 872 h 976"/>
                <a:gd name="T80" fmla="*/ 388 w 1836"/>
                <a:gd name="T81" fmla="*/ 899 h 976"/>
                <a:gd name="T82" fmla="*/ 447 w 1836"/>
                <a:gd name="T83" fmla="*/ 922 h 976"/>
                <a:gd name="T84" fmla="*/ 500 w 1836"/>
                <a:gd name="T85" fmla="*/ 940 h 976"/>
                <a:gd name="T86" fmla="*/ 554 w 1836"/>
                <a:gd name="T87" fmla="*/ 953 h 976"/>
                <a:gd name="T88" fmla="*/ 617 w 1836"/>
                <a:gd name="T89" fmla="*/ 965 h 976"/>
                <a:gd name="T90" fmla="*/ 684 w 1836"/>
                <a:gd name="T91" fmla="*/ 973 h 976"/>
                <a:gd name="T92" fmla="*/ 744 w 1836"/>
                <a:gd name="T93" fmla="*/ 976 h 976"/>
                <a:gd name="T94" fmla="*/ 806 w 1836"/>
                <a:gd name="T95" fmla="*/ 975 h 976"/>
                <a:gd name="T96" fmla="*/ 868 w 1836"/>
                <a:gd name="T97" fmla="*/ 971 h 976"/>
                <a:gd name="T98" fmla="*/ 923 w 1836"/>
                <a:gd name="T99" fmla="*/ 964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6" h="976">
                  <a:moveTo>
                    <a:pt x="923" y="964"/>
                  </a:moveTo>
                  <a:lnTo>
                    <a:pt x="942" y="961"/>
                  </a:lnTo>
                  <a:lnTo>
                    <a:pt x="967" y="957"/>
                  </a:lnTo>
                  <a:lnTo>
                    <a:pt x="992" y="951"/>
                  </a:lnTo>
                  <a:lnTo>
                    <a:pt x="1010" y="947"/>
                  </a:lnTo>
                  <a:lnTo>
                    <a:pt x="1031" y="942"/>
                  </a:lnTo>
                  <a:lnTo>
                    <a:pt x="1052" y="935"/>
                  </a:lnTo>
                  <a:lnTo>
                    <a:pt x="1073" y="930"/>
                  </a:lnTo>
                  <a:lnTo>
                    <a:pt x="1092" y="924"/>
                  </a:lnTo>
                  <a:lnTo>
                    <a:pt x="1113" y="915"/>
                  </a:lnTo>
                  <a:lnTo>
                    <a:pt x="1139" y="906"/>
                  </a:lnTo>
                  <a:lnTo>
                    <a:pt x="1161" y="896"/>
                  </a:lnTo>
                  <a:lnTo>
                    <a:pt x="1183" y="886"/>
                  </a:lnTo>
                  <a:lnTo>
                    <a:pt x="1207" y="876"/>
                  </a:lnTo>
                  <a:lnTo>
                    <a:pt x="1230" y="864"/>
                  </a:lnTo>
                  <a:lnTo>
                    <a:pt x="1251" y="854"/>
                  </a:lnTo>
                  <a:lnTo>
                    <a:pt x="1270" y="841"/>
                  </a:lnTo>
                  <a:lnTo>
                    <a:pt x="1288" y="830"/>
                  </a:lnTo>
                  <a:lnTo>
                    <a:pt x="1306" y="817"/>
                  </a:lnTo>
                  <a:lnTo>
                    <a:pt x="1326" y="806"/>
                  </a:lnTo>
                  <a:lnTo>
                    <a:pt x="1348" y="791"/>
                  </a:lnTo>
                  <a:lnTo>
                    <a:pt x="1368" y="776"/>
                  </a:lnTo>
                  <a:lnTo>
                    <a:pt x="1387" y="761"/>
                  </a:lnTo>
                  <a:lnTo>
                    <a:pt x="1404" y="748"/>
                  </a:lnTo>
                  <a:lnTo>
                    <a:pt x="1433" y="725"/>
                  </a:lnTo>
                  <a:lnTo>
                    <a:pt x="1459" y="702"/>
                  </a:lnTo>
                  <a:lnTo>
                    <a:pt x="1486" y="675"/>
                  </a:lnTo>
                  <a:lnTo>
                    <a:pt x="1513" y="644"/>
                  </a:lnTo>
                  <a:lnTo>
                    <a:pt x="1532" y="622"/>
                  </a:lnTo>
                  <a:lnTo>
                    <a:pt x="1553" y="596"/>
                  </a:lnTo>
                  <a:lnTo>
                    <a:pt x="1576" y="569"/>
                  </a:lnTo>
                  <a:lnTo>
                    <a:pt x="1596" y="541"/>
                  </a:lnTo>
                  <a:lnTo>
                    <a:pt x="1615" y="511"/>
                  </a:lnTo>
                  <a:lnTo>
                    <a:pt x="1638" y="477"/>
                  </a:lnTo>
                  <a:lnTo>
                    <a:pt x="1836" y="594"/>
                  </a:lnTo>
                  <a:lnTo>
                    <a:pt x="1642" y="0"/>
                  </a:lnTo>
                  <a:lnTo>
                    <a:pt x="1014" y="113"/>
                  </a:lnTo>
                  <a:lnTo>
                    <a:pt x="1226" y="234"/>
                  </a:lnTo>
                  <a:lnTo>
                    <a:pt x="1208" y="259"/>
                  </a:lnTo>
                  <a:lnTo>
                    <a:pt x="1189" y="282"/>
                  </a:lnTo>
                  <a:lnTo>
                    <a:pt x="1170" y="304"/>
                  </a:lnTo>
                  <a:lnTo>
                    <a:pt x="1151" y="325"/>
                  </a:lnTo>
                  <a:lnTo>
                    <a:pt x="1135" y="341"/>
                  </a:lnTo>
                  <a:lnTo>
                    <a:pt x="1118" y="359"/>
                  </a:lnTo>
                  <a:lnTo>
                    <a:pt x="1099" y="374"/>
                  </a:lnTo>
                  <a:lnTo>
                    <a:pt x="1078" y="390"/>
                  </a:lnTo>
                  <a:lnTo>
                    <a:pt x="1053" y="407"/>
                  </a:lnTo>
                  <a:lnTo>
                    <a:pt x="1032" y="421"/>
                  </a:lnTo>
                  <a:lnTo>
                    <a:pt x="1014" y="432"/>
                  </a:lnTo>
                  <a:lnTo>
                    <a:pt x="988" y="447"/>
                  </a:lnTo>
                  <a:lnTo>
                    <a:pt x="965" y="456"/>
                  </a:lnTo>
                  <a:lnTo>
                    <a:pt x="945" y="462"/>
                  </a:lnTo>
                  <a:lnTo>
                    <a:pt x="924" y="470"/>
                  </a:lnTo>
                  <a:lnTo>
                    <a:pt x="893" y="478"/>
                  </a:lnTo>
                  <a:lnTo>
                    <a:pt x="863" y="483"/>
                  </a:lnTo>
                  <a:lnTo>
                    <a:pt x="832" y="486"/>
                  </a:lnTo>
                  <a:lnTo>
                    <a:pt x="787" y="488"/>
                  </a:lnTo>
                  <a:lnTo>
                    <a:pt x="728" y="489"/>
                  </a:lnTo>
                  <a:lnTo>
                    <a:pt x="683" y="483"/>
                  </a:lnTo>
                  <a:lnTo>
                    <a:pt x="642" y="473"/>
                  </a:lnTo>
                  <a:lnTo>
                    <a:pt x="594" y="459"/>
                  </a:lnTo>
                  <a:lnTo>
                    <a:pt x="552" y="441"/>
                  </a:lnTo>
                  <a:lnTo>
                    <a:pt x="510" y="420"/>
                  </a:lnTo>
                  <a:lnTo>
                    <a:pt x="472" y="395"/>
                  </a:lnTo>
                  <a:lnTo>
                    <a:pt x="435" y="363"/>
                  </a:lnTo>
                  <a:lnTo>
                    <a:pt x="0" y="617"/>
                  </a:lnTo>
                  <a:lnTo>
                    <a:pt x="18" y="638"/>
                  </a:lnTo>
                  <a:lnTo>
                    <a:pt x="43" y="662"/>
                  </a:lnTo>
                  <a:lnTo>
                    <a:pt x="64" y="683"/>
                  </a:lnTo>
                  <a:lnTo>
                    <a:pt x="85" y="704"/>
                  </a:lnTo>
                  <a:lnTo>
                    <a:pt x="106" y="724"/>
                  </a:lnTo>
                  <a:lnTo>
                    <a:pt x="131" y="745"/>
                  </a:lnTo>
                  <a:lnTo>
                    <a:pt x="154" y="763"/>
                  </a:lnTo>
                  <a:lnTo>
                    <a:pt x="178" y="780"/>
                  </a:lnTo>
                  <a:lnTo>
                    <a:pt x="204" y="797"/>
                  </a:lnTo>
                  <a:lnTo>
                    <a:pt x="229" y="815"/>
                  </a:lnTo>
                  <a:lnTo>
                    <a:pt x="255" y="832"/>
                  </a:lnTo>
                  <a:lnTo>
                    <a:pt x="280" y="846"/>
                  </a:lnTo>
                  <a:lnTo>
                    <a:pt x="304" y="860"/>
                  </a:lnTo>
                  <a:lnTo>
                    <a:pt x="327" y="872"/>
                  </a:lnTo>
                  <a:lnTo>
                    <a:pt x="359" y="886"/>
                  </a:lnTo>
                  <a:lnTo>
                    <a:pt x="388" y="899"/>
                  </a:lnTo>
                  <a:lnTo>
                    <a:pt x="422" y="912"/>
                  </a:lnTo>
                  <a:lnTo>
                    <a:pt x="447" y="922"/>
                  </a:lnTo>
                  <a:lnTo>
                    <a:pt x="471" y="931"/>
                  </a:lnTo>
                  <a:lnTo>
                    <a:pt x="500" y="940"/>
                  </a:lnTo>
                  <a:lnTo>
                    <a:pt x="527" y="947"/>
                  </a:lnTo>
                  <a:lnTo>
                    <a:pt x="554" y="953"/>
                  </a:lnTo>
                  <a:lnTo>
                    <a:pt x="586" y="960"/>
                  </a:lnTo>
                  <a:lnTo>
                    <a:pt x="617" y="965"/>
                  </a:lnTo>
                  <a:lnTo>
                    <a:pt x="650" y="969"/>
                  </a:lnTo>
                  <a:lnTo>
                    <a:pt x="684" y="973"/>
                  </a:lnTo>
                  <a:lnTo>
                    <a:pt x="709" y="974"/>
                  </a:lnTo>
                  <a:lnTo>
                    <a:pt x="744" y="976"/>
                  </a:lnTo>
                  <a:lnTo>
                    <a:pt x="778" y="976"/>
                  </a:lnTo>
                  <a:lnTo>
                    <a:pt x="806" y="975"/>
                  </a:lnTo>
                  <a:lnTo>
                    <a:pt x="835" y="974"/>
                  </a:lnTo>
                  <a:lnTo>
                    <a:pt x="868" y="971"/>
                  </a:lnTo>
                  <a:lnTo>
                    <a:pt x="897" y="967"/>
                  </a:lnTo>
                  <a:lnTo>
                    <a:pt x="923" y="964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2" name="Freeform 44"/>
            <p:cNvSpPr>
              <a:spLocks/>
            </p:cNvSpPr>
            <p:nvPr/>
          </p:nvSpPr>
          <p:spPr bwMode="auto">
            <a:xfrm>
              <a:off x="395" y="1892"/>
              <a:ext cx="103" cy="174"/>
            </a:xfrm>
            <a:custGeom>
              <a:avLst/>
              <a:gdLst>
                <a:gd name="T0" fmla="*/ 911 w 931"/>
                <a:gd name="T1" fmla="*/ 3 h 1739"/>
                <a:gd name="T2" fmla="*/ 864 w 931"/>
                <a:gd name="T3" fmla="*/ 13 h 1739"/>
                <a:gd name="T4" fmla="*/ 823 w 931"/>
                <a:gd name="T5" fmla="*/ 23 h 1739"/>
                <a:gd name="T6" fmla="*/ 782 w 931"/>
                <a:gd name="T7" fmla="*/ 35 h 1739"/>
                <a:gd name="T8" fmla="*/ 741 w 931"/>
                <a:gd name="T9" fmla="*/ 50 h 1739"/>
                <a:gd name="T10" fmla="*/ 694 w 931"/>
                <a:gd name="T11" fmla="*/ 69 h 1739"/>
                <a:gd name="T12" fmla="*/ 649 w 931"/>
                <a:gd name="T13" fmla="*/ 89 h 1739"/>
                <a:gd name="T14" fmla="*/ 605 w 931"/>
                <a:gd name="T15" fmla="*/ 111 h 1739"/>
                <a:gd name="T16" fmla="*/ 567 w 931"/>
                <a:gd name="T17" fmla="*/ 135 h 1739"/>
                <a:gd name="T18" fmla="*/ 529 w 931"/>
                <a:gd name="T19" fmla="*/ 159 h 1739"/>
                <a:gd name="T20" fmla="*/ 487 w 931"/>
                <a:gd name="T21" fmla="*/ 190 h 1739"/>
                <a:gd name="T22" fmla="*/ 450 w 931"/>
                <a:gd name="T23" fmla="*/ 218 h 1739"/>
                <a:gd name="T24" fmla="*/ 391 w 931"/>
                <a:gd name="T25" fmla="*/ 271 h 1739"/>
                <a:gd name="T26" fmla="*/ 341 w 931"/>
                <a:gd name="T27" fmla="*/ 323 h 1739"/>
                <a:gd name="T28" fmla="*/ 301 w 931"/>
                <a:gd name="T29" fmla="*/ 371 h 1739"/>
                <a:gd name="T30" fmla="*/ 259 w 931"/>
                <a:gd name="T31" fmla="*/ 426 h 1739"/>
                <a:gd name="T32" fmla="*/ 221 w 931"/>
                <a:gd name="T33" fmla="*/ 487 h 1739"/>
                <a:gd name="T34" fmla="*/ 186 w 931"/>
                <a:gd name="T35" fmla="*/ 546 h 1739"/>
                <a:gd name="T36" fmla="*/ 157 w 931"/>
                <a:gd name="T37" fmla="*/ 613 h 1739"/>
                <a:gd name="T38" fmla="*/ 131 w 931"/>
                <a:gd name="T39" fmla="*/ 684 h 1739"/>
                <a:gd name="T40" fmla="*/ 105 w 931"/>
                <a:gd name="T41" fmla="*/ 772 h 1739"/>
                <a:gd name="T42" fmla="*/ 89 w 931"/>
                <a:gd name="T43" fmla="*/ 858 h 1739"/>
                <a:gd name="T44" fmla="*/ 77 w 931"/>
                <a:gd name="T45" fmla="*/ 970 h 1739"/>
                <a:gd name="T46" fmla="*/ 77 w 931"/>
                <a:gd name="T47" fmla="*/ 1067 h 1739"/>
                <a:gd name="T48" fmla="*/ 86 w 931"/>
                <a:gd name="T49" fmla="*/ 1155 h 1739"/>
                <a:gd name="T50" fmla="*/ 101 w 931"/>
                <a:gd name="T51" fmla="*/ 1245 h 1739"/>
                <a:gd name="T52" fmla="*/ 129 w 931"/>
                <a:gd name="T53" fmla="*/ 1344 h 1739"/>
                <a:gd name="T54" fmla="*/ 163 w 931"/>
                <a:gd name="T55" fmla="*/ 1437 h 1739"/>
                <a:gd name="T56" fmla="*/ 209 w 931"/>
                <a:gd name="T57" fmla="*/ 1524 h 1739"/>
                <a:gd name="T58" fmla="*/ 639 w 931"/>
                <a:gd name="T59" fmla="*/ 1739 h 1739"/>
                <a:gd name="T60" fmla="*/ 628 w 931"/>
                <a:gd name="T61" fmla="*/ 1279 h 1739"/>
                <a:gd name="T62" fmla="*/ 589 w 931"/>
                <a:gd name="T63" fmla="*/ 1207 h 1739"/>
                <a:gd name="T64" fmla="*/ 566 w 931"/>
                <a:gd name="T65" fmla="*/ 1137 h 1739"/>
                <a:gd name="T66" fmla="*/ 558 w 931"/>
                <a:gd name="T67" fmla="*/ 1070 h 1739"/>
                <a:gd name="T68" fmla="*/ 555 w 931"/>
                <a:gd name="T69" fmla="*/ 1004 h 1739"/>
                <a:gd name="T70" fmla="*/ 561 w 931"/>
                <a:gd name="T71" fmla="*/ 927 h 1739"/>
                <a:gd name="T72" fmla="*/ 579 w 931"/>
                <a:gd name="T73" fmla="*/ 850 h 1739"/>
                <a:gd name="T74" fmla="*/ 606 w 931"/>
                <a:gd name="T75" fmla="*/ 779 h 1739"/>
                <a:gd name="T76" fmla="*/ 639 w 931"/>
                <a:gd name="T77" fmla="*/ 722 h 1739"/>
                <a:gd name="T78" fmla="*/ 668 w 931"/>
                <a:gd name="T79" fmla="*/ 682 h 1739"/>
                <a:gd name="T80" fmla="*/ 703 w 931"/>
                <a:gd name="T81" fmla="*/ 641 h 1739"/>
                <a:gd name="T82" fmla="*/ 737 w 931"/>
                <a:gd name="T83" fmla="*/ 607 h 1739"/>
                <a:gd name="T84" fmla="*/ 776 w 931"/>
                <a:gd name="T85" fmla="*/ 576 h 1739"/>
                <a:gd name="T86" fmla="*/ 822 w 931"/>
                <a:gd name="T87" fmla="*/ 545 h 1739"/>
                <a:gd name="T88" fmla="*/ 866 w 931"/>
                <a:gd name="T89" fmla="*/ 519 h 1739"/>
                <a:gd name="T90" fmla="*/ 931 w 931"/>
                <a:gd name="T91" fmla="*/ 497 h 1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31" h="1739">
                  <a:moveTo>
                    <a:pt x="931" y="0"/>
                  </a:moveTo>
                  <a:lnTo>
                    <a:pt x="911" y="3"/>
                  </a:lnTo>
                  <a:lnTo>
                    <a:pt x="891" y="6"/>
                  </a:lnTo>
                  <a:lnTo>
                    <a:pt x="864" y="13"/>
                  </a:lnTo>
                  <a:lnTo>
                    <a:pt x="844" y="17"/>
                  </a:lnTo>
                  <a:lnTo>
                    <a:pt x="823" y="23"/>
                  </a:lnTo>
                  <a:lnTo>
                    <a:pt x="803" y="30"/>
                  </a:lnTo>
                  <a:lnTo>
                    <a:pt x="782" y="35"/>
                  </a:lnTo>
                  <a:lnTo>
                    <a:pt x="762" y="41"/>
                  </a:lnTo>
                  <a:lnTo>
                    <a:pt x="741" y="50"/>
                  </a:lnTo>
                  <a:lnTo>
                    <a:pt x="716" y="59"/>
                  </a:lnTo>
                  <a:lnTo>
                    <a:pt x="694" y="69"/>
                  </a:lnTo>
                  <a:lnTo>
                    <a:pt x="672" y="78"/>
                  </a:lnTo>
                  <a:lnTo>
                    <a:pt x="649" y="89"/>
                  </a:lnTo>
                  <a:lnTo>
                    <a:pt x="626" y="101"/>
                  </a:lnTo>
                  <a:lnTo>
                    <a:pt x="605" y="111"/>
                  </a:lnTo>
                  <a:lnTo>
                    <a:pt x="585" y="124"/>
                  </a:lnTo>
                  <a:lnTo>
                    <a:pt x="567" y="135"/>
                  </a:lnTo>
                  <a:lnTo>
                    <a:pt x="549" y="148"/>
                  </a:lnTo>
                  <a:lnTo>
                    <a:pt x="529" y="159"/>
                  </a:lnTo>
                  <a:lnTo>
                    <a:pt x="507" y="174"/>
                  </a:lnTo>
                  <a:lnTo>
                    <a:pt x="487" y="190"/>
                  </a:lnTo>
                  <a:lnTo>
                    <a:pt x="468" y="205"/>
                  </a:lnTo>
                  <a:lnTo>
                    <a:pt x="450" y="218"/>
                  </a:lnTo>
                  <a:lnTo>
                    <a:pt x="421" y="242"/>
                  </a:lnTo>
                  <a:lnTo>
                    <a:pt x="391" y="271"/>
                  </a:lnTo>
                  <a:lnTo>
                    <a:pt x="368" y="292"/>
                  </a:lnTo>
                  <a:lnTo>
                    <a:pt x="341" y="323"/>
                  </a:lnTo>
                  <a:lnTo>
                    <a:pt x="322" y="345"/>
                  </a:lnTo>
                  <a:lnTo>
                    <a:pt x="301" y="371"/>
                  </a:lnTo>
                  <a:lnTo>
                    <a:pt x="278" y="399"/>
                  </a:lnTo>
                  <a:lnTo>
                    <a:pt x="259" y="426"/>
                  </a:lnTo>
                  <a:lnTo>
                    <a:pt x="240" y="457"/>
                  </a:lnTo>
                  <a:lnTo>
                    <a:pt x="221" y="487"/>
                  </a:lnTo>
                  <a:lnTo>
                    <a:pt x="202" y="518"/>
                  </a:lnTo>
                  <a:lnTo>
                    <a:pt x="186" y="546"/>
                  </a:lnTo>
                  <a:lnTo>
                    <a:pt x="171" y="580"/>
                  </a:lnTo>
                  <a:lnTo>
                    <a:pt x="157" y="613"/>
                  </a:lnTo>
                  <a:lnTo>
                    <a:pt x="144" y="647"/>
                  </a:lnTo>
                  <a:lnTo>
                    <a:pt x="131" y="684"/>
                  </a:lnTo>
                  <a:lnTo>
                    <a:pt x="116" y="730"/>
                  </a:lnTo>
                  <a:lnTo>
                    <a:pt x="105" y="772"/>
                  </a:lnTo>
                  <a:lnTo>
                    <a:pt x="95" y="816"/>
                  </a:lnTo>
                  <a:lnTo>
                    <a:pt x="89" y="858"/>
                  </a:lnTo>
                  <a:lnTo>
                    <a:pt x="82" y="908"/>
                  </a:lnTo>
                  <a:lnTo>
                    <a:pt x="77" y="970"/>
                  </a:lnTo>
                  <a:lnTo>
                    <a:pt x="76" y="1019"/>
                  </a:lnTo>
                  <a:lnTo>
                    <a:pt x="77" y="1067"/>
                  </a:lnTo>
                  <a:lnTo>
                    <a:pt x="81" y="1112"/>
                  </a:lnTo>
                  <a:lnTo>
                    <a:pt x="86" y="1155"/>
                  </a:lnTo>
                  <a:lnTo>
                    <a:pt x="92" y="1200"/>
                  </a:lnTo>
                  <a:lnTo>
                    <a:pt x="101" y="1245"/>
                  </a:lnTo>
                  <a:lnTo>
                    <a:pt x="114" y="1294"/>
                  </a:lnTo>
                  <a:lnTo>
                    <a:pt x="129" y="1344"/>
                  </a:lnTo>
                  <a:lnTo>
                    <a:pt x="145" y="1391"/>
                  </a:lnTo>
                  <a:lnTo>
                    <a:pt x="163" y="1437"/>
                  </a:lnTo>
                  <a:lnTo>
                    <a:pt x="184" y="1481"/>
                  </a:lnTo>
                  <a:lnTo>
                    <a:pt x="209" y="1524"/>
                  </a:lnTo>
                  <a:lnTo>
                    <a:pt x="0" y="1644"/>
                  </a:lnTo>
                  <a:lnTo>
                    <a:pt x="639" y="1739"/>
                  </a:lnTo>
                  <a:lnTo>
                    <a:pt x="873" y="1146"/>
                  </a:lnTo>
                  <a:lnTo>
                    <a:pt x="628" y="1279"/>
                  </a:lnTo>
                  <a:lnTo>
                    <a:pt x="604" y="1241"/>
                  </a:lnTo>
                  <a:lnTo>
                    <a:pt x="589" y="1207"/>
                  </a:lnTo>
                  <a:lnTo>
                    <a:pt x="576" y="1172"/>
                  </a:lnTo>
                  <a:lnTo>
                    <a:pt x="566" y="1137"/>
                  </a:lnTo>
                  <a:lnTo>
                    <a:pt x="560" y="1103"/>
                  </a:lnTo>
                  <a:lnTo>
                    <a:pt x="558" y="1070"/>
                  </a:lnTo>
                  <a:lnTo>
                    <a:pt x="555" y="1037"/>
                  </a:lnTo>
                  <a:lnTo>
                    <a:pt x="555" y="1004"/>
                  </a:lnTo>
                  <a:lnTo>
                    <a:pt x="557" y="965"/>
                  </a:lnTo>
                  <a:lnTo>
                    <a:pt x="561" y="927"/>
                  </a:lnTo>
                  <a:lnTo>
                    <a:pt x="569" y="884"/>
                  </a:lnTo>
                  <a:lnTo>
                    <a:pt x="579" y="850"/>
                  </a:lnTo>
                  <a:lnTo>
                    <a:pt x="593" y="812"/>
                  </a:lnTo>
                  <a:lnTo>
                    <a:pt x="606" y="779"/>
                  </a:lnTo>
                  <a:lnTo>
                    <a:pt x="624" y="747"/>
                  </a:lnTo>
                  <a:lnTo>
                    <a:pt x="639" y="722"/>
                  </a:lnTo>
                  <a:lnTo>
                    <a:pt x="653" y="702"/>
                  </a:lnTo>
                  <a:lnTo>
                    <a:pt x="668" y="682"/>
                  </a:lnTo>
                  <a:lnTo>
                    <a:pt x="685" y="662"/>
                  </a:lnTo>
                  <a:lnTo>
                    <a:pt x="703" y="641"/>
                  </a:lnTo>
                  <a:lnTo>
                    <a:pt x="719" y="626"/>
                  </a:lnTo>
                  <a:lnTo>
                    <a:pt x="737" y="607"/>
                  </a:lnTo>
                  <a:lnTo>
                    <a:pt x="754" y="592"/>
                  </a:lnTo>
                  <a:lnTo>
                    <a:pt x="776" y="576"/>
                  </a:lnTo>
                  <a:lnTo>
                    <a:pt x="801" y="559"/>
                  </a:lnTo>
                  <a:lnTo>
                    <a:pt x="822" y="545"/>
                  </a:lnTo>
                  <a:lnTo>
                    <a:pt x="840" y="534"/>
                  </a:lnTo>
                  <a:lnTo>
                    <a:pt x="866" y="519"/>
                  </a:lnTo>
                  <a:lnTo>
                    <a:pt x="891" y="509"/>
                  </a:lnTo>
                  <a:lnTo>
                    <a:pt x="931" y="497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3" name="Freeform 45"/>
            <p:cNvSpPr>
              <a:spLocks/>
            </p:cNvSpPr>
            <p:nvPr/>
          </p:nvSpPr>
          <p:spPr bwMode="auto">
            <a:xfrm>
              <a:off x="475" y="1869"/>
              <a:ext cx="154" cy="157"/>
            </a:xfrm>
            <a:custGeom>
              <a:avLst/>
              <a:gdLst>
                <a:gd name="T0" fmla="*/ 546 w 1384"/>
                <a:gd name="T1" fmla="*/ 234 h 1575"/>
                <a:gd name="T2" fmla="*/ 596 w 1384"/>
                <a:gd name="T3" fmla="*/ 244 h 1575"/>
                <a:gd name="T4" fmla="*/ 635 w 1384"/>
                <a:gd name="T5" fmla="*/ 254 h 1575"/>
                <a:gd name="T6" fmla="*/ 676 w 1384"/>
                <a:gd name="T7" fmla="*/ 267 h 1575"/>
                <a:gd name="T8" fmla="*/ 717 w 1384"/>
                <a:gd name="T9" fmla="*/ 280 h 1575"/>
                <a:gd name="T10" fmla="*/ 765 w 1384"/>
                <a:gd name="T11" fmla="*/ 300 h 1575"/>
                <a:gd name="T12" fmla="*/ 810 w 1384"/>
                <a:gd name="T13" fmla="*/ 320 h 1575"/>
                <a:gd name="T14" fmla="*/ 854 w 1384"/>
                <a:gd name="T15" fmla="*/ 342 h 1575"/>
                <a:gd name="T16" fmla="*/ 892 w 1384"/>
                <a:gd name="T17" fmla="*/ 365 h 1575"/>
                <a:gd name="T18" fmla="*/ 930 w 1384"/>
                <a:gd name="T19" fmla="*/ 390 h 1575"/>
                <a:gd name="T20" fmla="*/ 972 w 1384"/>
                <a:gd name="T21" fmla="*/ 420 h 1575"/>
                <a:gd name="T22" fmla="*/ 1009 w 1384"/>
                <a:gd name="T23" fmla="*/ 448 h 1575"/>
                <a:gd name="T24" fmla="*/ 1067 w 1384"/>
                <a:gd name="T25" fmla="*/ 500 h 1575"/>
                <a:gd name="T26" fmla="*/ 1117 w 1384"/>
                <a:gd name="T27" fmla="*/ 552 h 1575"/>
                <a:gd name="T28" fmla="*/ 1157 w 1384"/>
                <a:gd name="T29" fmla="*/ 600 h 1575"/>
                <a:gd name="T30" fmla="*/ 1199 w 1384"/>
                <a:gd name="T31" fmla="*/ 657 h 1575"/>
                <a:gd name="T32" fmla="*/ 1238 w 1384"/>
                <a:gd name="T33" fmla="*/ 717 h 1575"/>
                <a:gd name="T34" fmla="*/ 1272 w 1384"/>
                <a:gd name="T35" fmla="*/ 777 h 1575"/>
                <a:gd name="T36" fmla="*/ 1303 w 1384"/>
                <a:gd name="T37" fmla="*/ 844 h 1575"/>
                <a:gd name="T38" fmla="*/ 1328 w 1384"/>
                <a:gd name="T39" fmla="*/ 915 h 1575"/>
                <a:gd name="T40" fmla="*/ 1354 w 1384"/>
                <a:gd name="T41" fmla="*/ 1003 h 1575"/>
                <a:gd name="T42" fmla="*/ 1370 w 1384"/>
                <a:gd name="T43" fmla="*/ 1089 h 1575"/>
                <a:gd name="T44" fmla="*/ 1382 w 1384"/>
                <a:gd name="T45" fmla="*/ 1201 h 1575"/>
                <a:gd name="T46" fmla="*/ 1382 w 1384"/>
                <a:gd name="T47" fmla="*/ 1296 h 1575"/>
                <a:gd name="T48" fmla="*/ 1373 w 1384"/>
                <a:gd name="T49" fmla="*/ 1385 h 1575"/>
                <a:gd name="T50" fmla="*/ 1358 w 1384"/>
                <a:gd name="T51" fmla="*/ 1475 h 1575"/>
                <a:gd name="T52" fmla="*/ 1330 w 1384"/>
                <a:gd name="T53" fmla="*/ 1575 h 1575"/>
                <a:gd name="T54" fmla="*/ 894 w 1384"/>
                <a:gd name="T55" fmla="*/ 1350 h 1575"/>
                <a:gd name="T56" fmla="*/ 905 w 1384"/>
                <a:gd name="T57" fmla="*/ 1268 h 1575"/>
                <a:gd name="T58" fmla="*/ 903 w 1384"/>
                <a:gd name="T59" fmla="*/ 1194 h 1575"/>
                <a:gd name="T60" fmla="*/ 890 w 1384"/>
                <a:gd name="T61" fmla="*/ 1115 h 1575"/>
                <a:gd name="T62" fmla="*/ 866 w 1384"/>
                <a:gd name="T63" fmla="*/ 1042 h 1575"/>
                <a:gd name="T64" fmla="*/ 835 w 1384"/>
                <a:gd name="T65" fmla="*/ 978 h 1575"/>
                <a:gd name="T66" fmla="*/ 806 w 1384"/>
                <a:gd name="T67" fmla="*/ 933 h 1575"/>
                <a:gd name="T68" fmla="*/ 774 w 1384"/>
                <a:gd name="T69" fmla="*/ 893 h 1575"/>
                <a:gd name="T70" fmla="*/ 740 w 1384"/>
                <a:gd name="T71" fmla="*/ 856 h 1575"/>
                <a:gd name="T72" fmla="*/ 704 w 1384"/>
                <a:gd name="T73" fmla="*/ 822 h 1575"/>
                <a:gd name="T74" fmla="*/ 657 w 1384"/>
                <a:gd name="T75" fmla="*/ 791 h 1575"/>
                <a:gd name="T76" fmla="*/ 618 w 1384"/>
                <a:gd name="T77" fmla="*/ 766 h 1575"/>
                <a:gd name="T78" fmla="*/ 569 w 1384"/>
                <a:gd name="T79" fmla="*/ 742 h 1575"/>
                <a:gd name="T80" fmla="*/ 528 w 1384"/>
                <a:gd name="T81" fmla="*/ 727 h 1575"/>
                <a:gd name="T82" fmla="*/ 467 w 1384"/>
                <a:gd name="T83" fmla="*/ 714 h 1575"/>
                <a:gd name="T84" fmla="*/ 406 w 1384"/>
                <a:gd name="T85" fmla="*/ 709 h 1575"/>
                <a:gd name="T86" fmla="*/ 389 w 1384"/>
                <a:gd name="T87" fmla="*/ 964 h 1575"/>
                <a:gd name="T88" fmla="*/ 388 w 1384"/>
                <a:gd name="T89" fmla="*/ 0 h 1575"/>
                <a:gd name="T90" fmla="*/ 409 w 1384"/>
                <a:gd name="T91" fmla="*/ 221 h 1575"/>
                <a:gd name="T92" fmla="*/ 471 w 1384"/>
                <a:gd name="T93" fmla="*/ 224 h 1575"/>
                <a:gd name="T94" fmla="*/ 527 w 1384"/>
                <a:gd name="T95" fmla="*/ 230 h 1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84" h="1575">
                  <a:moveTo>
                    <a:pt x="527" y="230"/>
                  </a:moveTo>
                  <a:lnTo>
                    <a:pt x="546" y="234"/>
                  </a:lnTo>
                  <a:lnTo>
                    <a:pt x="571" y="238"/>
                  </a:lnTo>
                  <a:lnTo>
                    <a:pt x="596" y="244"/>
                  </a:lnTo>
                  <a:lnTo>
                    <a:pt x="614" y="249"/>
                  </a:lnTo>
                  <a:lnTo>
                    <a:pt x="635" y="254"/>
                  </a:lnTo>
                  <a:lnTo>
                    <a:pt x="655" y="260"/>
                  </a:lnTo>
                  <a:lnTo>
                    <a:pt x="676" y="267"/>
                  </a:lnTo>
                  <a:lnTo>
                    <a:pt x="695" y="272"/>
                  </a:lnTo>
                  <a:lnTo>
                    <a:pt x="717" y="280"/>
                  </a:lnTo>
                  <a:lnTo>
                    <a:pt x="743" y="291"/>
                  </a:lnTo>
                  <a:lnTo>
                    <a:pt x="765" y="300"/>
                  </a:lnTo>
                  <a:lnTo>
                    <a:pt x="786" y="309"/>
                  </a:lnTo>
                  <a:lnTo>
                    <a:pt x="810" y="320"/>
                  </a:lnTo>
                  <a:lnTo>
                    <a:pt x="833" y="331"/>
                  </a:lnTo>
                  <a:lnTo>
                    <a:pt x="854" y="342"/>
                  </a:lnTo>
                  <a:lnTo>
                    <a:pt x="874" y="355"/>
                  </a:lnTo>
                  <a:lnTo>
                    <a:pt x="892" y="365"/>
                  </a:lnTo>
                  <a:lnTo>
                    <a:pt x="910" y="378"/>
                  </a:lnTo>
                  <a:lnTo>
                    <a:pt x="930" y="390"/>
                  </a:lnTo>
                  <a:lnTo>
                    <a:pt x="952" y="405"/>
                  </a:lnTo>
                  <a:lnTo>
                    <a:pt x="972" y="420"/>
                  </a:lnTo>
                  <a:lnTo>
                    <a:pt x="991" y="435"/>
                  </a:lnTo>
                  <a:lnTo>
                    <a:pt x="1009" y="448"/>
                  </a:lnTo>
                  <a:lnTo>
                    <a:pt x="1037" y="473"/>
                  </a:lnTo>
                  <a:lnTo>
                    <a:pt x="1067" y="500"/>
                  </a:lnTo>
                  <a:lnTo>
                    <a:pt x="1090" y="522"/>
                  </a:lnTo>
                  <a:lnTo>
                    <a:pt x="1117" y="552"/>
                  </a:lnTo>
                  <a:lnTo>
                    <a:pt x="1136" y="575"/>
                  </a:lnTo>
                  <a:lnTo>
                    <a:pt x="1157" y="600"/>
                  </a:lnTo>
                  <a:lnTo>
                    <a:pt x="1180" y="629"/>
                  </a:lnTo>
                  <a:lnTo>
                    <a:pt x="1199" y="657"/>
                  </a:lnTo>
                  <a:lnTo>
                    <a:pt x="1218" y="687"/>
                  </a:lnTo>
                  <a:lnTo>
                    <a:pt x="1238" y="717"/>
                  </a:lnTo>
                  <a:lnTo>
                    <a:pt x="1255" y="749"/>
                  </a:lnTo>
                  <a:lnTo>
                    <a:pt x="1272" y="777"/>
                  </a:lnTo>
                  <a:lnTo>
                    <a:pt x="1288" y="811"/>
                  </a:lnTo>
                  <a:lnTo>
                    <a:pt x="1303" y="844"/>
                  </a:lnTo>
                  <a:lnTo>
                    <a:pt x="1315" y="878"/>
                  </a:lnTo>
                  <a:lnTo>
                    <a:pt x="1328" y="915"/>
                  </a:lnTo>
                  <a:lnTo>
                    <a:pt x="1344" y="961"/>
                  </a:lnTo>
                  <a:lnTo>
                    <a:pt x="1354" y="1003"/>
                  </a:lnTo>
                  <a:lnTo>
                    <a:pt x="1365" y="1047"/>
                  </a:lnTo>
                  <a:lnTo>
                    <a:pt x="1370" y="1089"/>
                  </a:lnTo>
                  <a:lnTo>
                    <a:pt x="1377" y="1139"/>
                  </a:lnTo>
                  <a:lnTo>
                    <a:pt x="1382" y="1201"/>
                  </a:lnTo>
                  <a:lnTo>
                    <a:pt x="1384" y="1249"/>
                  </a:lnTo>
                  <a:lnTo>
                    <a:pt x="1382" y="1296"/>
                  </a:lnTo>
                  <a:lnTo>
                    <a:pt x="1378" y="1342"/>
                  </a:lnTo>
                  <a:lnTo>
                    <a:pt x="1373" y="1385"/>
                  </a:lnTo>
                  <a:lnTo>
                    <a:pt x="1368" y="1429"/>
                  </a:lnTo>
                  <a:lnTo>
                    <a:pt x="1358" y="1475"/>
                  </a:lnTo>
                  <a:lnTo>
                    <a:pt x="1346" y="1524"/>
                  </a:lnTo>
                  <a:lnTo>
                    <a:pt x="1330" y="1575"/>
                  </a:lnTo>
                  <a:lnTo>
                    <a:pt x="1239" y="1290"/>
                  </a:lnTo>
                  <a:lnTo>
                    <a:pt x="894" y="1350"/>
                  </a:lnTo>
                  <a:lnTo>
                    <a:pt x="902" y="1300"/>
                  </a:lnTo>
                  <a:lnTo>
                    <a:pt x="905" y="1268"/>
                  </a:lnTo>
                  <a:lnTo>
                    <a:pt x="905" y="1234"/>
                  </a:lnTo>
                  <a:lnTo>
                    <a:pt x="903" y="1194"/>
                  </a:lnTo>
                  <a:lnTo>
                    <a:pt x="897" y="1157"/>
                  </a:lnTo>
                  <a:lnTo>
                    <a:pt x="890" y="1115"/>
                  </a:lnTo>
                  <a:lnTo>
                    <a:pt x="881" y="1081"/>
                  </a:lnTo>
                  <a:lnTo>
                    <a:pt x="866" y="1042"/>
                  </a:lnTo>
                  <a:lnTo>
                    <a:pt x="852" y="1009"/>
                  </a:lnTo>
                  <a:lnTo>
                    <a:pt x="835" y="978"/>
                  </a:lnTo>
                  <a:lnTo>
                    <a:pt x="821" y="953"/>
                  </a:lnTo>
                  <a:lnTo>
                    <a:pt x="806" y="933"/>
                  </a:lnTo>
                  <a:lnTo>
                    <a:pt x="791" y="913"/>
                  </a:lnTo>
                  <a:lnTo>
                    <a:pt x="774" y="893"/>
                  </a:lnTo>
                  <a:lnTo>
                    <a:pt x="755" y="871"/>
                  </a:lnTo>
                  <a:lnTo>
                    <a:pt x="740" y="856"/>
                  </a:lnTo>
                  <a:lnTo>
                    <a:pt x="722" y="838"/>
                  </a:lnTo>
                  <a:lnTo>
                    <a:pt x="704" y="822"/>
                  </a:lnTo>
                  <a:lnTo>
                    <a:pt x="683" y="806"/>
                  </a:lnTo>
                  <a:lnTo>
                    <a:pt x="657" y="791"/>
                  </a:lnTo>
                  <a:lnTo>
                    <a:pt x="636" y="776"/>
                  </a:lnTo>
                  <a:lnTo>
                    <a:pt x="618" y="766"/>
                  </a:lnTo>
                  <a:lnTo>
                    <a:pt x="592" y="750"/>
                  </a:lnTo>
                  <a:lnTo>
                    <a:pt x="569" y="742"/>
                  </a:lnTo>
                  <a:lnTo>
                    <a:pt x="549" y="734"/>
                  </a:lnTo>
                  <a:lnTo>
                    <a:pt x="528" y="727"/>
                  </a:lnTo>
                  <a:lnTo>
                    <a:pt x="496" y="719"/>
                  </a:lnTo>
                  <a:lnTo>
                    <a:pt x="467" y="714"/>
                  </a:lnTo>
                  <a:lnTo>
                    <a:pt x="436" y="711"/>
                  </a:lnTo>
                  <a:lnTo>
                    <a:pt x="406" y="709"/>
                  </a:lnTo>
                  <a:lnTo>
                    <a:pt x="389" y="708"/>
                  </a:lnTo>
                  <a:lnTo>
                    <a:pt x="389" y="964"/>
                  </a:lnTo>
                  <a:lnTo>
                    <a:pt x="0" y="489"/>
                  </a:lnTo>
                  <a:lnTo>
                    <a:pt x="388" y="0"/>
                  </a:lnTo>
                  <a:lnTo>
                    <a:pt x="388" y="220"/>
                  </a:lnTo>
                  <a:lnTo>
                    <a:pt x="409" y="221"/>
                  </a:lnTo>
                  <a:lnTo>
                    <a:pt x="440" y="222"/>
                  </a:lnTo>
                  <a:lnTo>
                    <a:pt x="471" y="224"/>
                  </a:lnTo>
                  <a:lnTo>
                    <a:pt x="502" y="227"/>
                  </a:lnTo>
                  <a:lnTo>
                    <a:pt x="527" y="23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104" name="Group 46"/>
          <p:cNvGrpSpPr>
            <a:grpSpLocks/>
          </p:cNvGrpSpPr>
          <p:nvPr/>
        </p:nvGrpSpPr>
        <p:grpSpPr bwMode="auto">
          <a:xfrm>
            <a:off x="8798800" y="4029781"/>
            <a:ext cx="336550" cy="355600"/>
            <a:chOff x="395" y="1869"/>
            <a:chExt cx="239" cy="227"/>
          </a:xfrm>
        </p:grpSpPr>
        <p:sp>
          <p:nvSpPr>
            <p:cNvPr id="105" name="Freeform 47"/>
            <p:cNvSpPr>
              <a:spLocks/>
            </p:cNvSpPr>
            <p:nvPr/>
          </p:nvSpPr>
          <p:spPr bwMode="auto">
            <a:xfrm>
              <a:off x="475" y="1869"/>
              <a:ext cx="154" cy="175"/>
            </a:xfrm>
            <a:custGeom>
              <a:avLst/>
              <a:gdLst>
                <a:gd name="T0" fmla="*/ 546 w 1384"/>
                <a:gd name="T1" fmla="*/ 234 h 1757"/>
                <a:gd name="T2" fmla="*/ 596 w 1384"/>
                <a:gd name="T3" fmla="*/ 244 h 1757"/>
                <a:gd name="T4" fmla="*/ 635 w 1384"/>
                <a:gd name="T5" fmla="*/ 254 h 1757"/>
                <a:gd name="T6" fmla="*/ 676 w 1384"/>
                <a:gd name="T7" fmla="*/ 267 h 1757"/>
                <a:gd name="T8" fmla="*/ 717 w 1384"/>
                <a:gd name="T9" fmla="*/ 280 h 1757"/>
                <a:gd name="T10" fmla="*/ 765 w 1384"/>
                <a:gd name="T11" fmla="*/ 300 h 1757"/>
                <a:gd name="T12" fmla="*/ 810 w 1384"/>
                <a:gd name="T13" fmla="*/ 320 h 1757"/>
                <a:gd name="T14" fmla="*/ 854 w 1384"/>
                <a:gd name="T15" fmla="*/ 342 h 1757"/>
                <a:gd name="T16" fmla="*/ 892 w 1384"/>
                <a:gd name="T17" fmla="*/ 365 h 1757"/>
                <a:gd name="T18" fmla="*/ 930 w 1384"/>
                <a:gd name="T19" fmla="*/ 390 h 1757"/>
                <a:gd name="T20" fmla="*/ 972 w 1384"/>
                <a:gd name="T21" fmla="*/ 421 h 1757"/>
                <a:gd name="T22" fmla="*/ 1009 w 1384"/>
                <a:gd name="T23" fmla="*/ 448 h 1757"/>
                <a:gd name="T24" fmla="*/ 1067 w 1384"/>
                <a:gd name="T25" fmla="*/ 500 h 1757"/>
                <a:gd name="T26" fmla="*/ 1117 w 1384"/>
                <a:gd name="T27" fmla="*/ 552 h 1757"/>
                <a:gd name="T28" fmla="*/ 1157 w 1384"/>
                <a:gd name="T29" fmla="*/ 600 h 1757"/>
                <a:gd name="T30" fmla="*/ 1199 w 1384"/>
                <a:gd name="T31" fmla="*/ 657 h 1757"/>
                <a:gd name="T32" fmla="*/ 1238 w 1384"/>
                <a:gd name="T33" fmla="*/ 717 h 1757"/>
                <a:gd name="T34" fmla="*/ 1272 w 1384"/>
                <a:gd name="T35" fmla="*/ 777 h 1757"/>
                <a:gd name="T36" fmla="*/ 1303 w 1384"/>
                <a:gd name="T37" fmla="*/ 844 h 1757"/>
                <a:gd name="T38" fmla="*/ 1328 w 1384"/>
                <a:gd name="T39" fmla="*/ 915 h 1757"/>
                <a:gd name="T40" fmla="*/ 1354 w 1384"/>
                <a:gd name="T41" fmla="*/ 1003 h 1757"/>
                <a:gd name="T42" fmla="*/ 1370 w 1384"/>
                <a:gd name="T43" fmla="*/ 1089 h 1757"/>
                <a:gd name="T44" fmla="*/ 1382 w 1384"/>
                <a:gd name="T45" fmla="*/ 1202 h 1757"/>
                <a:gd name="T46" fmla="*/ 1382 w 1384"/>
                <a:gd name="T47" fmla="*/ 1297 h 1757"/>
                <a:gd name="T48" fmla="*/ 1373 w 1384"/>
                <a:gd name="T49" fmla="*/ 1385 h 1757"/>
                <a:gd name="T50" fmla="*/ 1358 w 1384"/>
                <a:gd name="T51" fmla="*/ 1475 h 1757"/>
                <a:gd name="T52" fmla="*/ 1330 w 1384"/>
                <a:gd name="T53" fmla="*/ 1575 h 1757"/>
                <a:gd name="T54" fmla="*/ 1296 w 1384"/>
                <a:gd name="T55" fmla="*/ 1667 h 1757"/>
                <a:gd name="T56" fmla="*/ 1244 w 1384"/>
                <a:gd name="T57" fmla="*/ 1757 h 1757"/>
                <a:gd name="T58" fmla="*/ 858 w 1384"/>
                <a:gd name="T59" fmla="*/ 1474 h 1757"/>
                <a:gd name="T60" fmla="*/ 884 w 1384"/>
                <a:gd name="T61" fmla="*/ 1403 h 1757"/>
                <a:gd name="T62" fmla="*/ 899 w 1384"/>
                <a:gd name="T63" fmla="*/ 1334 h 1757"/>
                <a:gd name="T64" fmla="*/ 905 w 1384"/>
                <a:gd name="T65" fmla="*/ 1269 h 1757"/>
                <a:gd name="T66" fmla="*/ 903 w 1384"/>
                <a:gd name="T67" fmla="*/ 1195 h 1757"/>
                <a:gd name="T68" fmla="*/ 890 w 1384"/>
                <a:gd name="T69" fmla="*/ 1115 h 1757"/>
                <a:gd name="T70" fmla="*/ 866 w 1384"/>
                <a:gd name="T71" fmla="*/ 1042 h 1757"/>
                <a:gd name="T72" fmla="*/ 835 w 1384"/>
                <a:gd name="T73" fmla="*/ 978 h 1757"/>
                <a:gd name="T74" fmla="*/ 806 w 1384"/>
                <a:gd name="T75" fmla="*/ 933 h 1757"/>
                <a:gd name="T76" fmla="*/ 774 w 1384"/>
                <a:gd name="T77" fmla="*/ 893 h 1757"/>
                <a:gd name="T78" fmla="*/ 740 w 1384"/>
                <a:gd name="T79" fmla="*/ 856 h 1757"/>
                <a:gd name="T80" fmla="*/ 704 w 1384"/>
                <a:gd name="T81" fmla="*/ 822 h 1757"/>
                <a:gd name="T82" fmla="*/ 657 w 1384"/>
                <a:gd name="T83" fmla="*/ 791 h 1757"/>
                <a:gd name="T84" fmla="*/ 618 w 1384"/>
                <a:gd name="T85" fmla="*/ 766 h 1757"/>
                <a:gd name="T86" fmla="*/ 569 w 1384"/>
                <a:gd name="T87" fmla="*/ 742 h 1757"/>
                <a:gd name="T88" fmla="*/ 528 w 1384"/>
                <a:gd name="T89" fmla="*/ 727 h 1757"/>
                <a:gd name="T90" fmla="*/ 467 w 1384"/>
                <a:gd name="T91" fmla="*/ 714 h 1757"/>
                <a:gd name="T92" fmla="*/ 406 w 1384"/>
                <a:gd name="T93" fmla="*/ 709 h 1757"/>
                <a:gd name="T94" fmla="*/ 389 w 1384"/>
                <a:gd name="T95" fmla="*/ 964 h 1757"/>
                <a:gd name="T96" fmla="*/ 388 w 1384"/>
                <a:gd name="T97" fmla="*/ 0 h 1757"/>
                <a:gd name="T98" fmla="*/ 409 w 1384"/>
                <a:gd name="T99" fmla="*/ 221 h 1757"/>
                <a:gd name="T100" fmla="*/ 471 w 1384"/>
                <a:gd name="T101" fmla="*/ 224 h 1757"/>
                <a:gd name="T102" fmla="*/ 527 w 1384"/>
                <a:gd name="T103" fmla="*/ 230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84" h="1757">
                  <a:moveTo>
                    <a:pt x="527" y="230"/>
                  </a:moveTo>
                  <a:lnTo>
                    <a:pt x="546" y="234"/>
                  </a:lnTo>
                  <a:lnTo>
                    <a:pt x="571" y="238"/>
                  </a:lnTo>
                  <a:lnTo>
                    <a:pt x="596" y="244"/>
                  </a:lnTo>
                  <a:lnTo>
                    <a:pt x="614" y="249"/>
                  </a:lnTo>
                  <a:lnTo>
                    <a:pt x="635" y="254"/>
                  </a:lnTo>
                  <a:lnTo>
                    <a:pt x="655" y="260"/>
                  </a:lnTo>
                  <a:lnTo>
                    <a:pt x="676" y="267"/>
                  </a:lnTo>
                  <a:lnTo>
                    <a:pt x="695" y="272"/>
                  </a:lnTo>
                  <a:lnTo>
                    <a:pt x="717" y="280"/>
                  </a:lnTo>
                  <a:lnTo>
                    <a:pt x="743" y="291"/>
                  </a:lnTo>
                  <a:lnTo>
                    <a:pt x="765" y="300"/>
                  </a:lnTo>
                  <a:lnTo>
                    <a:pt x="786" y="309"/>
                  </a:lnTo>
                  <a:lnTo>
                    <a:pt x="810" y="320"/>
                  </a:lnTo>
                  <a:lnTo>
                    <a:pt x="833" y="331"/>
                  </a:lnTo>
                  <a:lnTo>
                    <a:pt x="854" y="342"/>
                  </a:lnTo>
                  <a:lnTo>
                    <a:pt x="874" y="355"/>
                  </a:lnTo>
                  <a:lnTo>
                    <a:pt x="892" y="365"/>
                  </a:lnTo>
                  <a:lnTo>
                    <a:pt x="910" y="378"/>
                  </a:lnTo>
                  <a:lnTo>
                    <a:pt x="930" y="390"/>
                  </a:lnTo>
                  <a:lnTo>
                    <a:pt x="952" y="406"/>
                  </a:lnTo>
                  <a:lnTo>
                    <a:pt x="972" y="421"/>
                  </a:lnTo>
                  <a:lnTo>
                    <a:pt x="991" y="436"/>
                  </a:lnTo>
                  <a:lnTo>
                    <a:pt x="1009" y="448"/>
                  </a:lnTo>
                  <a:lnTo>
                    <a:pt x="1037" y="473"/>
                  </a:lnTo>
                  <a:lnTo>
                    <a:pt x="1067" y="500"/>
                  </a:lnTo>
                  <a:lnTo>
                    <a:pt x="1090" y="522"/>
                  </a:lnTo>
                  <a:lnTo>
                    <a:pt x="1117" y="552"/>
                  </a:lnTo>
                  <a:lnTo>
                    <a:pt x="1136" y="575"/>
                  </a:lnTo>
                  <a:lnTo>
                    <a:pt x="1157" y="600"/>
                  </a:lnTo>
                  <a:lnTo>
                    <a:pt x="1180" y="629"/>
                  </a:lnTo>
                  <a:lnTo>
                    <a:pt x="1199" y="657"/>
                  </a:lnTo>
                  <a:lnTo>
                    <a:pt x="1218" y="687"/>
                  </a:lnTo>
                  <a:lnTo>
                    <a:pt x="1238" y="717"/>
                  </a:lnTo>
                  <a:lnTo>
                    <a:pt x="1255" y="749"/>
                  </a:lnTo>
                  <a:lnTo>
                    <a:pt x="1272" y="777"/>
                  </a:lnTo>
                  <a:lnTo>
                    <a:pt x="1288" y="811"/>
                  </a:lnTo>
                  <a:lnTo>
                    <a:pt x="1303" y="844"/>
                  </a:lnTo>
                  <a:lnTo>
                    <a:pt x="1315" y="878"/>
                  </a:lnTo>
                  <a:lnTo>
                    <a:pt x="1328" y="915"/>
                  </a:lnTo>
                  <a:lnTo>
                    <a:pt x="1344" y="961"/>
                  </a:lnTo>
                  <a:lnTo>
                    <a:pt x="1354" y="1003"/>
                  </a:lnTo>
                  <a:lnTo>
                    <a:pt x="1365" y="1047"/>
                  </a:lnTo>
                  <a:lnTo>
                    <a:pt x="1370" y="1089"/>
                  </a:lnTo>
                  <a:lnTo>
                    <a:pt x="1377" y="1139"/>
                  </a:lnTo>
                  <a:lnTo>
                    <a:pt x="1382" y="1202"/>
                  </a:lnTo>
                  <a:lnTo>
                    <a:pt x="1384" y="1250"/>
                  </a:lnTo>
                  <a:lnTo>
                    <a:pt x="1382" y="1297"/>
                  </a:lnTo>
                  <a:lnTo>
                    <a:pt x="1378" y="1342"/>
                  </a:lnTo>
                  <a:lnTo>
                    <a:pt x="1373" y="1385"/>
                  </a:lnTo>
                  <a:lnTo>
                    <a:pt x="1368" y="1429"/>
                  </a:lnTo>
                  <a:lnTo>
                    <a:pt x="1358" y="1475"/>
                  </a:lnTo>
                  <a:lnTo>
                    <a:pt x="1346" y="1524"/>
                  </a:lnTo>
                  <a:lnTo>
                    <a:pt x="1330" y="1575"/>
                  </a:lnTo>
                  <a:lnTo>
                    <a:pt x="1314" y="1622"/>
                  </a:lnTo>
                  <a:lnTo>
                    <a:pt x="1296" y="1667"/>
                  </a:lnTo>
                  <a:lnTo>
                    <a:pt x="1270" y="1712"/>
                  </a:lnTo>
                  <a:lnTo>
                    <a:pt x="1244" y="1757"/>
                  </a:lnTo>
                  <a:lnTo>
                    <a:pt x="836" y="1519"/>
                  </a:lnTo>
                  <a:lnTo>
                    <a:pt x="858" y="1474"/>
                  </a:lnTo>
                  <a:lnTo>
                    <a:pt x="873" y="1440"/>
                  </a:lnTo>
                  <a:lnTo>
                    <a:pt x="884" y="1403"/>
                  </a:lnTo>
                  <a:lnTo>
                    <a:pt x="893" y="1367"/>
                  </a:lnTo>
                  <a:lnTo>
                    <a:pt x="899" y="1334"/>
                  </a:lnTo>
                  <a:lnTo>
                    <a:pt x="902" y="1301"/>
                  </a:lnTo>
                  <a:lnTo>
                    <a:pt x="905" y="1269"/>
                  </a:lnTo>
                  <a:lnTo>
                    <a:pt x="905" y="1235"/>
                  </a:lnTo>
                  <a:lnTo>
                    <a:pt x="903" y="1195"/>
                  </a:lnTo>
                  <a:lnTo>
                    <a:pt x="897" y="1157"/>
                  </a:lnTo>
                  <a:lnTo>
                    <a:pt x="890" y="1115"/>
                  </a:lnTo>
                  <a:lnTo>
                    <a:pt x="881" y="1081"/>
                  </a:lnTo>
                  <a:lnTo>
                    <a:pt x="866" y="1042"/>
                  </a:lnTo>
                  <a:lnTo>
                    <a:pt x="852" y="1009"/>
                  </a:lnTo>
                  <a:lnTo>
                    <a:pt x="835" y="978"/>
                  </a:lnTo>
                  <a:lnTo>
                    <a:pt x="821" y="953"/>
                  </a:lnTo>
                  <a:lnTo>
                    <a:pt x="806" y="933"/>
                  </a:lnTo>
                  <a:lnTo>
                    <a:pt x="791" y="913"/>
                  </a:lnTo>
                  <a:lnTo>
                    <a:pt x="774" y="893"/>
                  </a:lnTo>
                  <a:lnTo>
                    <a:pt x="755" y="871"/>
                  </a:lnTo>
                  <a:lnTo>
                    <a:pt x="740" y="856"/>
                  </a:lnTo>
                  <a:lnTo>
                    <a:pt x="722" y="838"/>
                  </a:lnTo>
                  <a:lnTo>
                    <a:pt x="704" y="822"/>
                  </a:lnTo>
                  <a:lnTo>
                    <a:pt x="683" y="806"/>
                  </a:lnTo>
                  <a:lnTo>
                    <a:pt x="657" y="791"/>
                  </a:lnTo>
                  <a:lnTo>
                    <a:pt x="636" y="776"/>
                  </a:lnTo>
                  <a:lnTo>
                    <a:pt x="618" y="766"/>
                  </a:lnTo>
                  <a:lnTo>
                    <a:pt x="592" y="750"/>
                  </a:lnTo>
                  <a:lnTo>
                    <a:pt x="569" y="742"/>
                  </a:lnTo>
                  <a:lnTo>
                    <a:pt x="549" y="734"/>
                  </a:lnTo>
                  <a:lnTo>
                    <a:pt x="528" y="727"/>
                  </a:lnTo>
                  <a:lnTo>
                    <a:pt x="496" y="719"/>
                  </a:lnTo>
                  <a:lnTo>
                    <a:pt x="467" y="714"/>
                  </a:lnTo>
                  <a:lnTo>
                    <a:pt x="436" y="711"/>
                  </a:lnTo>
                  <a:lnTo>
                    <a:pt x="406" y="709"/>
                  </a:lnTo>
                  <a:lnTo>
                    <a:pt x="389" y="708"/>
                  </a:lnTo>
                  <a:lnTo>
                    <a:pt x="389" y="964"/>
                  </a:lnTo>
                  <a:lnTo>
                    <a:pt x="0" y="489"/>
                  </a:lnTo>
                  <a:lnTo>
                    <a:pt x="388" y="0"/>
                  </a:lnTo>
                  <a:lnTo>
                    <a:pt x="388" y="220"/>
                  </a:lnTo>
                  <a:lnTo>
                    <a:pt x="409" y="221"/>
                  </a:lnTo>
                  <a:lnTo>
                    <a:pt x="440" y="222"/>
                  </a:lnTo>
                  <a:lnTo>
                    <a:pt x="471" y="224"/>
                  </a:lnTo>
                  <a:lnTo>
                    <a:pt x="502" y="227"/>
                  </a:lnTo>
                  <a:lnTo>
                    <a:pt x="527" y="23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6" name="Freeform 48"/>
            <p:cNvSpPr>
              <a:spLocks/>
            </p:cNvSpPr>
            <p:nvPr/>
          </p:nvSpPr>
          <p:spPr bwMode="auto">
            <a:xfrm>
              <a:off x="430" y="1998"/>
              <a:ext cx="204" cy="98"/>
            </a:xfrm>
            <a:custGeom>
              <a:avLst/>
              <a:gdLst>
                <a:gd name="T0" fmla="*/ 942 w 1836"/>
                <a:gd name="T1" fmla="*/ 961 h 976"/>
                <a:gd name="T2" fmla="*/ 992 w 1836"/>
                <a:gd name="T3" fmla="*/ 951 h 976"/>
                <a:gd name="T4" fmla="*/ 1031 w 1836"/>
                <a:gd name="T5" fmla="*/ 942 h 976"/>
                <a:gd name="T6" fmla="*/ 1073 w 1836"/>
                <a:gd name="T7" fmla="*/ 930 h 976"/>
                <a:gd name="T8" fmla="*/ 1113 w 1836"/>
                <a:gd name="T9" fmla="*/ 915 h 976"/>
                <a:gd name="T10" fmla="*/ 1161 w 1836"/>
                <a:gd name="T11" fmla="*/ 896 h 976"/>
                <a:gd name="T12" fmla="*/ 1207 w 1836"/>
                <a:gd name="T13" fmla="*/ 876 h 976"/>
                <a:gd name="T14" fmla="*/ 1251 w 1836"/>
                <a:gd name="T15" fmla="*/ 854 h 976"/>
                <a:gd name="T16" fmla="*/ 1288 w 1836"/>
                <a:gd name="T17" fmla="*/ 830 h 976"/>
                <a:gd name="T18" fmla="*/ 1326 w 1836"/>
                <a:gd name="T19" fmla="*/ 806 h 976"/>
                <a:gd name="T20" fmla="*/ 1368 w 1836"/>
                <a:gd name="T21" fmla="*/ 776 h 976"/>
                <a:gd name="T22" fmla="*/ 1404 w 1836"/>
                <a:gd name="T23" fmla="*/ 748 h 976"/>
                <a:gd name="T24" fmla="*/ 1459 w 1836"/>
                <a:gd name="T25" fmla="*/ 702 h 976"/>
                <a:gd name="T26" fmla="*/ 1513 w 1836"/>
                <a:gd name="T27" fmla="*/ 644 h 976"/>
                <a:gd name="T28" fmla="*/ 1553 w 1836"/>
                <a:gd name="T29" fmla="*/ 596 h 976"/>
                <a:gd name="T30" fmla="*/ 1596 w 1836"/>
                <a:gd name="T31" fmla="*/ 541 h 976"/>
                <a:gd name="T32" fmla="*/ 1638 w 1836"/>
                <a:gd name="T33" fmla="*/ 477 h 976"/>
                <a:gd name="T34" fmla="*/ 1642 w 1836"/>
                <a:gd name="T35" fmla="*/ 0 h 976"/>
                <a:gd name="T36" fmla="*/ 1226 w 1836"/>
                <a:gd name="T37" fmla="*/ 234 h 976"/>
                <a:gd name="T38" fmla="*/ 1189 w 1836"/>
                <a:gd name="T39" fmla="*/ 282 h 976"/>
                <a:gd name="T40" fmla="*/ 1151 w 1836"/>
                <a:gd name="T41" fmla="*/ 325 h 976"/>
                <a:gd name="T42" fmla="*/ 1118 w 1836"/>
                <a:gd name="T43" fmla="*/ 359 h 976"/>
                <a:gd name="T44" fmla="*/ 1078 w 1836"/>
                <a:gd name="T45" fmla="*/ 390 h 976"/>
                <a:gd name="T46" fmla="*/ 1032 w 1836"/>
                <a:gd name="T47" fmla="*/ 421 h 976"/>
                <a:gd name="T48" fmla="*/ 988 w 1836"/>
                <a:gd name="T49" fmla="*/ 447 h 976"/>
                <a:gd name="T50" fmla="*/ 945 w 1836"/>
                <a:gd name="T51" fmla="*/ 462 h 976"/>
                <a:gd name="T52" fmla="*/ 893 w 1836"/>
                <a:gd name="T53" fmla="*/ 478 h 976"/>
                <a:gd name="T54" fmla="*/ 832 w 1836"/>
                <a:gd name="T55" fmla="*/ 486 h 976"/>
                <a:gd name="T56" fmla="*/ 728 w 1836"/>
                <a:gd name="T57" fmla="*/ 489 h 976"/>
                <a:gd name="T58" fmla="*/ 642 w 1836"/>
                <a:gd name="T59" fmla="*/ 473 h 976"/>
                <a:gd name="T60" fmla="*/ 552 w 1836"/>
                <a:gd name="T61" fmla="*/ 441 h 976"/>
                <a:gd name="T62" fmla="*/ 472 w 1836"/>
                <a:gd name="T63" fmla="*/ 395 h 976"/>
                <a:gd name="T64" fmla="*/ 0 w 1836"/>
                <a:gd name="T65" fmla="*/ 617 h 976"/>
                <a:gd name="T66" fmla="*/ 43 w 1836"/>
                <a:gd name="T67" fmla="*/ 662 h 976"/>
                <a:gd name="T68" fmla="*/ 85 w 1836"/>
                <a:gd name="T69" fmla="*/ 704 h 976"/>
                <a:gd name="T70" fmla="*/ 131 w 1836"/>
                <a:gd name="T71" fmla="*/ 745 h 976"/>
                <a:gd name="T72" fmla="*/ 178 w 1836"/>
                <a:gd name="T73" fmla="*/ 780 h 976"/>
                <a:gd name="T74" fmla="*/ 229 w 1836"/>
                <a:gd name="T75" fmla="*/ 815 h 976"/>
                <a:gd name="T76" fmla="*/ 280 w 1836"/>
                <a:gd name="T77" fmla="*/ 846 h 976"/>
                <a:gd name="T78" fmla="*/ 327 w 1836"/>
                <a:gd name="T79" fmla="*/ 872 h 976"/>
                <a:gd name="T80" fmla="*/ 388 w 1836"/>
                <a:gd name="T81" fmla="*/ 899 h 976"/>
                <a:gd name="T82" fmla="*/ 447 w 1836"/>
                <a:gd name="T83" fmla="*/ 922 h 976"/>
                <a:gd name="T84" fmla="*/ 500 w 1836"/>
                <a:gd name="T85" fmla="*/ 940 h 976"/>
                <a:gd name="T86" fmla="*/ 554 w 1836"/>
                <a:gd name="T87" fmla="*/ 953 h 976"/>
                <a:gd name="T88" fmla="*/ 617 w 1836"/>
                <a:gd name="T89" fmla="*/ 965 h 976"/>
                <a:gd name="T90" fmla="*/ 684 w 1836"/>
                <a:gd name="T91" fmla="*/ 973 h 976"/>
                <a:gd name="T92" fmla="*/ 744 w 1836"/>
                <a:gd name="T93" fmla="*/ 976 h 976"/>
                <a:gd name="T94" fmla="*/ 806 w 1836"/>
                <a:gd name="T95" fmla="*/ 975 h 976"/>
                <a:gd name="T96" fmla="*/ 868 w 1836"/>
                <a:gd name="T97" fmla="*/ 971 h 976"/>
                <a:gd name="T98" fmla="*/ 923 w 1836"/>
                <a:gd name="T99" fmla="*/ 964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6" h="976">
                  <a:moveTo>
                    <a:pt x="923" y="964"/>
                  </a:moveTo>
                  <a:lnTo>
                    <a:pt x="942" y="961"/>
                  </a:lnTo>
                  <a:lnTo>
                    <a:pt x="967" y="957"/>
                  </a:lnTo>
                  <a:lnTo>
                    <a:pt x="992" y="951"/>
                  </a:lnTo>
                  <a:lnTo>
                    <a:pt x="1010" y="947"/>
                  </a:lnTo>
                  <a:lnTo>
                    <a:pt x="1031" y="942"/>
                  </a:lnTo>
                  <a:lnTo>
                    <a:pt x="1052" y="935"/>
                  </a:lnTo>
                  <a:lnTo>
                    <a:pt x="1073" y="930"/>
                  </a:lnTo>
                  <a:lnTo>
                    <a:pt x="1092" y="924"/>
                  </a:lnTo>
                  <a:lnTo>
                    <a:pt x="1113" y="915"/>
                  </a:lnTo>
                  <a:lnTo>
                    <a:pt x="1139" y="906"/>
                  </a:lnTo>
                  <a:lnTo>
                    <a:pt x="1161" y="896"/>
                  </a:lnTo>
                  <a:lnTo>
                    <a:pt x="1183" y="886"/>
                  </a:lnTo>
                  <a:lnTo>
                    <a:pt x="1207" y="876"/>
                  </a:lnTo>
                  <a:lnTo>
                    <a:pt x="1230" y="864"/>
                  </a:lnTo>
                  <a:lnTo>
                    <a:pt x="1251" y="854"/>
                  </a:lnTo>
                  <a:lnTo>
                    <a:pt x="1270" y="841"/>
                  </a:lnTo>
                  <a:lnTo>
                    <a:pt x="1288" y="830"/>
                  </a:lnTo>
                  <a:lnTo>
                    <a:pt x="1306" y="817"/>
                  </a:lnTo>
                  <a:lnTo>
                    <a:pt x="1326" y="806"/>
                  </a:lnTo>
                  <a:lnTo>
                    <a:pt x="1348" y="791"/>
                  </a:lnTo>
                  <a:lnTo>
                    <a:pt x="1368" y="776"/>
                  </a:lnTo>
                  <a:lnTo>
                    <a:pt x="1387" y="761"/>
                  </a:lnTo>
                  <a:lnTo>
                    <a:pt x="1404" y="748"/>
                  </a:lnTo>
                  <a:lnTo>
                    <a:pt x="1433" y="725"/>
                  </a:lnTo>
                  <a:lnTo>
                    <a:pt x="1459" y="702"/>
                  </a:lnTo>
                  <a:lnTo>
                    <a:pt x="1486" y="675"/>
                  </a:lnTo>
                  <a:lnTo>
                    <a:pt x="1513" y="644"/>
                  </a:lnTo>
                  <a:lnTo>
                    <a:pt x="1532" y="622"/>
                  </a:lnTo>
                  <a:lnTo>
                    <a:pt x="1553" y="596"/>
                  </a:lnTo>
                  <a:lnTo>
                    <a:pt x="1576" y="569"/>
                  </a:lnTo>
                  <a:lnTo>
                    <a:pt x="1596" y="541"/>
                  </a:lnTo>
                  <a:lnTo>
                    <a:pt x="1615" y="511"/>
                  </a:lnTo>
                  <a:lnTo>
                    <a:pt x="1638" y="477"/>
                  </a:lnTo>
                  <a:lnTo>
                    <a:pt x="1836" y="594"/>
                  </a:lnTo>
                  <a:lnTo>
                    <a:pt x="1642" y="0"/>
                  </a:lnTo>
                  <a:lnTo>
                    <a:pt x="1014" y="113"/>
                  </a:lnTo>
                  <a:lnTo>
                    <a:pt x="1226" y="234"/>
                  </a:lnTo>
                  <a:lnTo>
                    <a:pt x="1208" y="259"/>
                  </a:lnTo>
                  <a:lnTo>
                    <a:pt x="1189" y="282"/>
                  </a:lnTo>
                  <a:lnTo>
                    <a:pt x="1170" y="304"/>
                  </a:lnTo>
                  <a:lnTo>
                    <a:pt x="1151" y="325"/>
                  </a:lnTo>
                  <a:lnTo>
                    <a:pt x="1135" y="341"/>
                  </a:lnTo>
                  <a:lnTo>
                    <a:pt x="1118" y="359"/>
                  </a:lnTo>
                  <a:lnTo>
                    <a:pt x="1099" y="374"/>
                  </a:lnTo>
                  <a:lnTo>
                    <a:pt x="1078" y="390"/>
                  </a:lnTo>
                  <a:lnTo>
                    <a:pt x="1053" y="407"/>
                  </a:lnTo>
                  <a:lnTo>
                    <a:pt x="1032" y="421"/>
                  </a:lnTo>
                  <a:lnTo>
                    <a:pt x="1014" y="432"/>
                  </a:lnTo>
                  <a:lnTo>
                    <a:pt x="988" y="447"/>
                  </a:lnTo>
                  <a:lnTo>
                    <a:pt x="965" y="456"/>
                  </a:lnTo>
                  <a:lnTo>
                    <a:pt x="945" y="462"/>
                  </a:lnTo>
                  <a:lnTo>
                    <a:pt x="924" y="470"/>
                  </a:lnTo>
                  <a:lnTo>
                    <a:pt x="893" y="478"/>
                  </a:lnTo>
                  <a:lnTo>
                    <a:pt x="863" y="483"/>
                  </a:lnTo>
                  <a:lnTo>
                    <a:pt x="832" y="486"/>
                  </a:lnTo>
                  <a:lnTo>
                    <a:pt x="787" y="488"/>
                  </a:lnTo>
                  <a:lnTo>
                    <a:pt x="728" y="489"/>
                  </a:lnTo>
                  <a:lnTo>
                    <a:pt x="683" y="483"/>
                  </a:lnTo>
                  <a:lnTo>
                    <a:pt x="642" y="473"/>
                  </a:lnTo>
                  <a:lnTo>
                    <a:pt x="594" y="459"/>
                  </a:lnTo>
                  <a:lnTo>
                    <a:pt x="552" y="441"/>
                  </a:lnTo>
                  <a:lnTo>
                    <a:pt x="510" y="420"/>
                  </a:lnTo>
                  <a:lnTo>
                    <a:pt x="472" y="395"/>
                  </a:lnTo>
                  <a:lnTo>
                    <a:pt x="435" y="363"/>
                  </a:lnTo>
                  <a:lnTo>
                    <a:pt x="0" y="617"/>
                  </a:lnTo>
                  <a:lnTo>
                    <a:pt x="18" y="638"/>
                  </a:lnTo>
                  <a:lnTo>
                    <a:pt x="43" y="662"/>
                  </a:lnTo>
                  <a:lnTo>
                    <a:pt x="64" y="683"/>
                  </a:lnTo>
                  <a:lnTo>
                    <a:pt x="85" y="704"/>
                  </a:lnTo>
                  <a:lnTo>
                    <a:pt x="106" y="724"/>
                  </a:lnTo>
                  <a:lnTo>
                    <a:pt x="131" y="745"/>
                  </a:lnTo>
                  <a:lnTo>
                    <a:pt x="154" y="763"/>
                  </a:lnTo>
                  <a:lnTo>
                    <a:pt x="178" y="780"/>
                  </a:lnTo>
                  <a:lnTo>
                    <a:pt x="204" y="797"/>
                  </a:lnTo>
                  <a:lnTo>
                    <a:pt x="229" y="815"/>
                  </a:lnTo>
                  <a:lnTo>
                    <a:pt x="255" y="832"/>
                  </a:lnTo>
                  <a:lnTo>
                    <a:pt x="280" y="846"/>
                  </a:lnTo>
                  <a:lnTo>
                    <a:pt x="304" y="860"/>
                  </a:lnTo>
                  <a:lnTo>
                    <a:pt x="327" y="872"/>
                  </a:lnTo>
                  <a:lnTo>
                    <a:pt x="359" y="886"/>
                  </a:lnTo>
                  <a:lnTo>
                    <a:pt x="388" y="899"/>
                  </a:lnTo>
                  <a:lnTo>
                    <a:pt x="422" y="912"/>
                  </a:lnTo>
                  <a:lnTo>
                    <a:pt x="447" y="922"/>
                  </a:lnTo>
                  <a:lnTo>
                    <a:pt x="471" y="931"/>
                  </a:lnTo>
                  <a:lnTo>
                    <a:pt x="500" y="940"/>
                  </a:lnTo>
                  <a:lnTo>
                    <a:pt x="527" y="947"/>
                  </a:lnTo>
                  <a:lnTo>
                    <a:pt x="554" y="953"/>
                  </a:lnTo>
                  <a:lnTo>
                    <a:pt x="586" y="960"/>
                  </a:lnTo>
                  <a:lnTo>
                    <a:pt x="617" y="965"/>
                  </a:lnTo>
                  <a:lnTo>
                    <a:pt x="650" y="969"/>
                  </a:lnTo>
                  <a:lnTo>
                    <a:pt x="684" y="973"/>
                  </a:lnTo>
                  <a:lnTo>
                    <a:pt x="709" y="974"/>
                  </a:lnTo>
                  <a:lnTo>
                    <a:pt x="744" y="976"/>
                  </a:lnTo>
                  <a:lnTo>
                    <a:pt x="778" y="976"/>
                  </a:lnTo>
                  <a:lnTo>
                    <a:pt x="806" y="975"/>
                  </a:lnTo>
                  <a:lnTo>
                    <a:pt x="835" y="974"/>
                  </a:lnTo>
                  <a:lnTo>
                    <a:pt x="868" y="971"/>
                  </a:lnTo>
                  <a:lnTo>
                    <a:pt x="897" y="967"/>
                  </a:lnTo>
                  <a:lnTo>
                    <a:pt x="923" y="964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7" name="Freeform 49"/>
            <p:cNvSpPr>
              <a:spLocks/>
            </p:cNvSpPr>
            <p:nvPr/>
          </p:nvSpPr>
          <p:spPr bwMode="auto">
            <a:xfrm>
              <a:off x="395" y="1892"/>
              <a:ext cx="103" cy="174"/>
            </a:xfrm>
            <a:custGeom>
              <a:avLst/>
              <a:gdLst>
                <a:gd name="T0" fmla="*/ 911 w 931"/>
                <a:gd name="T1" fmla="*/ 3 h 1739"/>
                <a:gd name="T2" fmla="*/ 864 w 931"/>
                <a:gd name="T3" fmla="*/ 13 h 1739"/>
                <a:gd name="T4" fmla="*/ 823 w 931"/>
                <a:gd name="T5" fmla="*/ 23 h 1739"/>
                <a:gd name="T6" fmla="*/ 782 w 931"/>
                <a:gd name="T7" fmla="*/ 35 h 1739"/>
                <a:gd name="T8" fmla="*/ 741 w 931"/>
                <a:gd name="T9" fmla="*/ 50 h 1739"/>
                <a:gd name="T10" fmla="*/ 694 w 931"/>
                <a:gd name="T11" fmla="*/ 69 h 1739"/>
                <a:gd name="T12" fmla="*/ 649 w 931"/>
                <a:gd name="T13" fmla="*/ 89 h 1739"/>
                <a:gd name="T14" fmla="*/ 605 w 931"/>
                <a:gd name="T15" fmla="*/ 111 h 1739"/>
                <a:gd name="T16" fmla="*/ 567 w 931"/>
                <a:gd name="T17" fmla="*/ 135 h 1739"/>
                <a:gd name="T18" fmla="*/ 529 w 931"/>
                <a:gd name="T19" fmla="*/ 159 h 1739"/>
                <a:gd name="T20" fmla="*/ 487 w 931"/>
                <a:gd name="T21" fmla="*/ 190 h 1739"/>
                <a:gd name="T22" fmla="*/ 450 w 931"/>
                <a:gd name="T23" fmla="*/ 218 h 1739"/>
                <a:gd name="T24" fmla="*/ 391 w 931"/>
                <a:gd name="T25" fmla="*/ 271 h 1739"/>
                <a:gd name="T26" fmla="*/ 341 w 931"/>
                <a:gd name="T27" fmla="*/ 323 h 1739"/>
                <a:gd name="T28" fmla="*/ 301 w 931"/>
                <a:gd name="T29" fmla="*/ 371 h 1739"/>
                <a:gd name="T30" fmla="*/ 259 w 931"/>
                <a:gd name="T31" fmla="*/ 426 h 1739"/>
                <a:gd name="T32" fmla="*/ 221 w 931"/>
                <a:gd name="T33" fmla="*/ 487 h 1739"/>
                <a:gd name="T34" fmla="*/ 186 w 931"/>
                <a:gd name="T35" fmla="*/ 546 h 1739"/>
                <a:gd name="T36" fmla="*/ 157 w 931"/>
                <a:gd name="T37" fmla="*/ 613 h 1739"/>
                <a:gd name="T38" fmla="*/ 131 w 931"/>
                <a:gd name="T39" fmla="*/ 684 h 1739"/>
                <a:gd name="T40" fmla="*/ 105 w 931"/>
                <a:gd name="T41" fmla="*/ 772 h 1739"/>
                <a:gd name="T42" fmla="*/ 89 w 931"/>
                <a:gd name="T43" fmla="*/ 858 h 1739"/>
                <a:gd name="T44" fmla="*/ 77 w 931"/>
                <a:gd name="T45" fmla="*/ 970 h 1739"/>
                <a:gd name="T46" fmla="*/ 77 w 931"/>
                <a:gd name="T47" fmla="*/ 1067 h 1739"/>
                <a:gd name="T48" fmla="*/ 86 w 931"/>
                <a:gd name="T49" fmla="*/ 1155 h 1739"/>
                <a:gd name="T50" fmla="*/ 101 w 931"/>
                <a:gd name="T51" fmla="*/ 1245 h 1739"/>
                <a:gd name="T52" fmla="*/ 129 w 931"/>
                <a:gd name="T53" fmla="*/ 1344 h 1739"/>
                <a:gd name="T54" fmla="*/ 163 w 931"/>
                <a:gd name="T55" fmla="*/ 1437 h 1739"/>
                <a:gd name="T56" fmla="*/ 209 w 931"/>
                <a:gd name="T57" fmla="*/ 1524 h 1739"/>
                <a:gd name="T58" fmla="*/ 639 w 931"/>
                <a:gd name="T59" fmla="*/ 1739 h 1739"/>
                <a:gd name="T60" fmla="*/ 628 w 931"/>
                <a:gd name="T61" fmla="*/ 1279 h 1739"/>
                <a:gd name="T62" fmla="*/ 589 w 931"/>
                <a:gd name="T63" fmla="*/ 1207 h 1739"/>
                <a:gd name="T64" fmla="*/ 566 w 931"/>
                <a:gd name="T65" fmla="*/ 1137 h 1739"/>
                <a:gd name="T66" fmla="*/ 558 w 931"/>
                <a:gd name="T67" fmla="*/ 1070 h 1739"/>
                <a:gd name="T68" fmla="*/ 555 w 931"/>
                <a:gd name="T69" fmla="*/ 1004 h 1739"/>
                <a:gd name="T70" fmla="*/ 561 w 931"/>
                <a:gd name="T71" fmla="*/ 927 h 1739"/>
                <a:gd name="T72" fmla="*/ 579 w 931"/>
                <a:gd name="T73" fmla="*/ 850 h 1739"/>
                <a:gd name="T74" fmla="*/ 606 w 931"/>
                <a:gd name="T75" fmla="*/ 779 h 1739"/>
                <a:gd name="T76" fmla="*/ 639 w 931"/>
                <a:gd name="T77" fmla="*/ 722 h 1739"/>
                <a:gd name="T78" fmla="*/ 668 w 931"/>
                <a:gd name="T79" fmla="*/ 682 h 1739"/>
                <a:gd name="T80" fmla="*/ 703 w 931"/>
                <a:gd name="T81" fmla="*/ 641 h 1739"/>
                <a:gd name="T82" fmla="*/ 737 w 931"/>
                <a:gd name="T83" fmla="*/ 607 h 1739"/>
                <a:gd name="T84" fmla="*/ 776 w 931"/>
                <a:gd name="T85" fmla="*/ 576 h 1739"/>
                <a:gd name="T86" fmla="*/ 822 w 931"/>
                <a:gd name="T87" fmla="*/ 545 h 1739"/>
                <a:gd name="T88" fmla="*/ 866 w 931"/>
                <a:gd name="T89" fmla="*/ 519 h 1739"/>
                <a:gd name="T90" fmla="*/ 931 w 931"/>
                <a:gd name="T91" fmla="*/ 497 h 1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31" h="1739">
                  <a:moveTo>
                    <a:pt x="931" y="0"/>
                  </a:moveTo>
                  <a:lnTo>
                    <a:pt x="911" y="3"/>
                  </a:lnTo>
                  <a:lnTo>
                    <a:pt x="891" y="6"/>
                  </a:lnTo>
                  <a:lnTo>
                    <a:pt x="864" y="13"/>
                  </a:lnTo>
                  <a:lnTo>
                    <a:pt x="844" y="17"/>
                  </a:lnTo>
                  <a:lnTo>
                    <a:pt x="823" y="23"/>
                  </a:lnTo>
                  <a:lnTo>
                    <a:pt x="803" y="30"/>
                  </a:lnTo>
                  <a:lnTo>
                    <a:pt x="782" y="35"/>
                  </a:lnTo>
                  <a:lnTo>
                    <a:pt x="762" y="41"/>
                  </a:lnTo>
                  <a:lnTo>
                    <a:pt x="741" y="50"/>
                  </a:lnTo>
                  <a:lnTo>
                    <a:pt x="716" y="59"/>
                  </a:lnTo>
                  <a:lnTo>
                    <a:pt x="694" y="69"/>
                  </a:lnTo>
                  <a:lnTo>
                    <a:pt x="672" y="78"/>
                  </a:lnTo>
                  <a:lnTo>
                    <a:pt x="649" y="89"/>
                  </a:lnTo>
                  <a:lnTo>
                    <a:pt x="626" y="101"/>
                  </a:lnTo>
                  <a:lnTo>
                    <a:pt x="605" y="111"/>
                  </a:lnTo>
                  <a:lnTo>
                    <a:pt x="585" y="124"/>
                  </a:lnTo>
                  <a:lnTo>
                    <a:pt x="567" y="135"/>
                  </a:lnTo>
                  <a:lnTo>
                    <a:pt x="549" y="148"/>
                  </a:lnTo>
                  <a:lnTo>
                    <a:pt x="529" y="159"/>
                  </a:lnTo>
                  <a:lnTo>
                    <a:pt x="507" y="174"/>
                  </a:lnTo>
                  <a:lnTo>
                    <a:pt x="487" y="190"/>
                  </a:lnTo>
                  <a:lnTo>
                    <a:pt x="468" y="205"/>
                  </a:lnTo>
                  <a:lnTo>
                    <a:pt x="450" y="218"/>
                  </a:lnTo>
                  <a:lnTo>
                    <a:pt x="421" y="242"/>
                  </a:lnTo>
                  <a:lnTo>
                    <a:pt x="391" y="271"/>
                  </a:lnTo>
                  <a:lnTo>
                    <a:pt x="368" y="292"/>
                  </a:lnTo>
                  <a:lnTo>
                    <a:pt x="341" y="323"/>
                  </a:lnTo>
                  <a:lnTo>
                    <a:pt x="322" y="345"/>
                  </a:lnTo>
                  <a:lnTo>
                    <a:pt x="301" y="371"/>
                  </a:lnTo>
                  <a:lnTo>
                    <a:pt x="278" y="399"/>
                  </a:lnTo>
                  <a:lnTo>
                    <a:pt x="259" y="426"/>
                  </a:lnTo>
                  <a:lnTo>
                    <a:pt x="240" y="457"/>
                  </a:lnTo>
                  <a:lnTo>
                    <a:pt x="221" y="487"/>
                  </a:lnTo>
                  <a:lnTo>
                    <a:pt x="202" y="518"/>
                  </a:lnTo>
                  <a:lnTo>
                    <a:pt x="186" y="546"/>
                  </a:lnTo>
                  <a:lnTo>
                    <a:pt x="171" y="580"/>
                  </a:lnTo>
                  <a:lnTo>
                    <a:pt x="157" y="613"/>
                  </a:lnTo>
                  <a:lnTo>
                    <a:pt x="144" y="647"/>
                  </a:lnTo>
                  <a:lnTo>
                    <a:pt x="131" y="684"/>
                  </a:lnTo>
                  <a:lnTo>
                    <a:pt x="116" y="730"/>
                  </a:lnTo>
                  <a:lnTo>
                    <a:pt x="105" y="772"/>
                  </a:lnTo>
                  <a:lnTo>
                    <a:pt x="95" y="816"/>
                  </a:lnTo>
                  <a:lnTo>
                    <a:pt x="89" y="858"/>
                  </a:lnTo>
                  <a:lnTo>
                    <a:pt x="82" y="908"/>
                  </a:lnTo>
                  <a:lnTo>
                    <a:pt x="77" y="970"/>
                  </a:lnTo>
                  <a:lnTo>
                    <a:pt x="76" y="1019"/>
                  </a:lnTo>
                  <a:lnTo>
                    <a:pt x="77" y="1067"/>
                  </a:lnTo>
                  <a:lnTo>
                    <a:pt x="81" y="1112"/>
                  </a:lnTo>
                  <a:lnTo>
                    <a:pt x="86" y="1155"/>
                  </a:lnTo>
                  <a:lnTo>
                    <a:pt x="92" y="1200"/>
                  </a:lnTo>
                  <a:lnTo>
                    <a:pt x="101" y="1245"/>
                  </a:lnTo>
                  <a:lnTo>
                    <a:pt x="114" y="1294"/>
                  </a:lnTo>
                  <a:lnTo>
                    <a:pt x="129" y="1344"/>
                  </a:lnTo>
                  <a:lnTo>
                    <a:pt x="145" y="1391"/>
                  </a:lnTo>
                  <a:lnTo>
                    <a:pt x="163" y="1437"/>
                  </a:lnTo>
                  <a:lnTo>
                    <a:pt x="184" y="1481"/>
                  </a:lnTo>
                  <a:lnTo>
                    <a:pt x="209" y="1524"/>
                  </a:lnTo>
                  <a:lnTo>
                    <a:pt x="0" y="1644"/>
                  </a:lnTo>
                  <a:lnTo>
                    <a:pt x="639" y="1739"/>
                  </a:lnTo>
                  <a:lnTo>
                    <a:pt x="873" y="1146"/>
                  </a:lnTo>
                  <a:lnTo>
                    <a:pt x="628" y="1279"/>
                  </a:lnTo>
                  <a:lnTo>
                    <a:pt x="604" y="1241"/>
                  </a:lnTo>
                  <a:lnTo>
                    <a:pt x="589" y="1207"/>
                  </a:lnTo>
                  <a:lnTo>
                    <a:pt x="576" y="1172"/>
                  </a:lnTo>
                  <a:lnTo>
                    <a:pt x="566" y="1137"/>
                  </a:lnTo>
                  <a:lnTo>
                    <a:pt x="560" y="1103"/>
                  </a:lnTo>
                  <a:lnTo>
                    <a:pt x="558" y="1070"/>
                  </a:lnTo>
                  <a:lnTo>
                    <a:pt x="555" y="1037"/>
                  </a:lnTo>
                  <a:lnTo>
                    <a:pt x="555" y="1004"/>
                  </a:lnTo>
                  <a:lnTo>
                    <a:pt x="557" y="965"/>
                  </a:lnTo>
                  <a:lnTo>
                    <a:pt x="561" y="927"/>
                  </a:lnTo>
                  <a:lnTo>
                    <a:pt x="569" y="884"/>
                  </a:lnTo>
                  <a:lnTo>
                    <a:pt x="579" y="850"/>
                  </a:lnTo>
                  <a:lnTo>
                    <a:pt x="593" y="812"/>
                  </a:lnTo>
                  <a:lnTo>
                    <a:pt x="606" y="779"/>
                  </a:lnTo>
                  <a:lnTo>
                    <a:pt x="624" y="747"/>
                  </a:lnTo>
                  <a:lnTo>
                    <a:pt x="639" y="722"/>
                  </a:lnTo>
                  <a:lnTo>
                    <a:pt x="653" y="702"/>
                  </a:lnTo>
                  <a:lnTo>
                    <a:pt x="668" y="682"/>
                  </a:lnTo>
                  <a:lnTo>
                    <a:pt x="685" y="662"/>
                  </a:lnTo>
                  <a:lnTo>
                    <a:pt x="703" y="641"/>
                  </a:lnTo>
                  <a:lnTo>
                    <a:pt x="719" y="626"/>
                  </a:lnTo>
                  <a:lnTo>
                    <a:pt x="737" y="607"/>
                  </a:lnTo>
                  <a:lnTo>
                    <a:pt x="754" y="592"/>
                  </a:lnTo>
                  <a:lnTo>
                    <a:pt x="776" y="576"/>
                  </a:lnTo>
                  <a:lnTo>
                    <a:pt x="801" y="559"/>
                  </a:lnTo>
                  <a:lnTo>
                    <a:pt x="822" y="545"/>
                  </a:lnTo>
                  <a:lnTo>
                    <a:pt x="840" y="534"/>
                  </a:lnTo>
                  <a:lnTo>
                    <a:pt x="866" y="519"/>
                  </a:lnTo>
                  <a:lnTo>
                    <a:pt x="891" y="509"/>
                  </a:lnTo>
                  <a:lnTo>
                    <a:pt x="931" y="497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8" name="Freeform 50"/>
            <p:cNvSpPr>
              <a:spLocks/>
            </p:cNvSpPr>
            <p:nvPr/>
          </p:nvSpPr>
          <p:spPr bwMode="auto">
            <a:xfrm>
              <a:off x="475" y="1869"/>
              <a:ext cx="154" cy="157"/>
            </a:xfrm>
            <a:custGeom>
              <a:avLst/>
              <a:gdLst>
                <a:gd name="T0" fmla="*/ 546 w 1384"/>
                <a:gd name="T1" fmla="*/ 234 h 1575"/>
                <a:gd name="T2" fmla="*/ 596 w 1384"/>
                <a:gd name="T3" fmla="*/ 244 h 1575"/>
                <a:gd name="T4" fmla="*/ 635 w 1384"/>
                <a:gd name="T5" fmla="*/ 254 h 1575"/>
                <a:gd name="T6" fmla="*/ 676 w 1384"/>
                <a:gd name="T7" fmla="*/ 267 h 1575"/>
                <a:gd name="T8" fmla="*/ 717 w 1384"/>
                <a:gd name="T9" fmla="*/ 280 h 1575"/>
                <a:gd name="T10" fmla="*/ 765 w 1384"/>
                <a:gd name="T11" fmla="*/ 300 h 1575"/>
                <a:gd name="T12" fmla="*/ 810 w 1384"/>
                <a:gd name="T13" fmla="*/ 320 h 1575"/>
                <a:gd name="T14" fmla="*/ 854 w 1384"/>
                <a:gd name="T15" fmla="*/ 342 h 1575"/>
                <a:gd name="T16" fmla="*/ 892 w 1384"/>
                <a:gd name="T17" fmla="*/ 365 h 1575"/>
                <a:gd name="T18" fmla="*/ 930 w 1384"/>
                <a:gd name="T19" fmla="*/ 390 h 1575"/>
                <a:gd name="T20" fmla="*/ 972 w 1384"/>
                <a:gd name="T21" fmla="*/ 420 h 1575"/>
                <a:gd name="T22" fmla="*/ 1009 w 1384"/>
                <a:gd name="T23" fmla="*/ 448 h 1575"/>
                <a:gd name="T24" fmla="*/ 1067 w 1384"/>
                <a:gd name="T25" fmla="*/ 500 h 1575"/>
                <a:gd name="T26" fmla="*/ 1117 w 1384"/>
                <a:gd name="T27" fmla="*/ 552 h 1575"/>
                <a:gd name="T28" fmla="*/ 1157 w 1384"/>
                <a:gd name="T29" fmla="*/ 600 h 1575"/>
                <a:gd name="T30" fmla="*/ 1199 w 1384"/>
                <a:gd name="T31" fmla="*/ 657 h 1575"/>
                <a:gd name="T32" fmla="*/ 1238 w 1384"/>
                <a:gd name="T33" fmla="*/ 717 h 1575"/>
                <a:gd name="T34" fmla="*/ 1272 w 1384"/>
                <a:gd name="T35" fmla="*/ 777 h 1575"/>
                <a:gd name="T36" fmla="*/ 1303 w 1384"/>
                <a:gd name="T37" fmla="*/ 844 h 1575"/>
                <a:gd name="T38" fmla="*/ 1328 w 1384"/>
                <a:gd name="T39" fmla="*/ 915 h 1575"/>
                <a:gd name="T40" fmla="*/ 1354 w 1384"/>
                <a:gd name="T41" fmla="*/ 1003 h 1575"/>
                <a:gd name="T42" fmla="*/ 1370 w 1384"/>
                <a:gd name="T43" fmla="*/ 1089 h 1575"/>
                <a:gd name="T44" fmla="*/ 1382 w 1384"/>
                <a:gd name="T45" fmla="*/ 1201 h 1575"/>
                <a:gd name="T46" fmla="*/ 1382 w 1384"/>
                <a:gd name="T47" fmla="*/ 1296 h 1575"/>
                <a:gd name="T48" fmla="*/ 1373 w 1384"/>
                <a:gd name="T49" fmla="*/ 1385 h 1575"/>
                <a:gd name="T50" fmla="*/ 1358 w 1384"/>
                <a:gd name="T51" fmla="*/ 1475 h 1575"/>
                <a:gd name="T52" fmla="*/ 1330 w 1384"/>
                <a:gd name="T53" fmla="*/ 1575 h 1575"/>
                <a:gd name="T54" fmla="*/ 894 w 1384"/>
                <a:gd name="T55" fmla="*/ 1350 h 1575"/>
                <a:gd name="T56" fmla="*/ 905 w 1384"/>
                <a:gd name="T57" fmla="*/ 1268 h 1575"/>
                <a:gd name="T58" fmla="*/ 903 w 1384"/>
                <a:gd name="T59" fmla="*/ 1194 h 1575"/>
                <a:gd name="T60" fmla="*/ 890 w 1384"/>
                <a:gd name="T61" fmla="*/ 1115 h 1575"/>
                <a:gd name="T62" fmla="*/ 866 w 1384"/>
                <a:gd name="T63" fmla="*/ 1042 h 1575"/>
                <a:gd name="T64" fmla="*/ 835 w 1384"/>
                <a:gd name="T65" fmla="*/ 978 h 1575"/>
                <a:gd name="T66" fmla="*/ 806 w 1384"/>
                <a:gd name="T67" fmla="*/ 933 h 1575"/>
                <a:gd name="T68" fmla="*/ 774 w 1384"/>
                <a:gd name="T69" fmla="*/ 893 h 1575"/>
                <a:gd name="T70" fmla="*/ 740 w 1384"/>
                <a:gd name="T71" fmla="*/ 856 h 1575"/>
                <a:gd name="T72" fmla="*/ 704 w 1384"/>
                <a:gd name="T73" fmla="*/ 822 h 1575"/>
                <a:gd name="T74" fmla="*/ 657 w 1384"/>
                <a:gd name="T75" fmla="*/ 791 h 1575"/>
                <a:gd name="T76" fmla="*/ 618 w 1384"/>
                <a:gd name="T77" fmla="*/ 766 h 1575"/>
                <a:gd name="T78" fmla="*/ 569 w 1384"/>
                <a:gd name="T79" fmla="*/ 742 h 1575"/>
                <a:gd name="T80" fmla="*/ 528 w 1384"/>
                <a:gd name="T81" fmla="*/ 727 h 1575"/>
                <a:gd name="T82" fmla="*/ 467 w 1384"/>
                <a:gd name="T83" fmla="*/ 714 h 1575"/>
                <a:gd name="T84" fmla="*/ 406 w 1384"/>
                <a:gd name="T85" fmla="*/ 709 h 1575"/>
                <a:gd name="T86" fmla="*/ 389 w 1384"/>
                <a:gd name="T87" fmla="*/ 964 h 1575"/>
                <a:gd name="T88" fmla="*/ 388 w 1384"/>
                <a:gd name="T89" fmla="*/ 0 h 1575"/>
                <a:gd name="T90" fmla="*/ 409 w 1384"/>
                <a:gd name="T91" fmla="*/ 221 h 1575"/>
                <a:gd name="T92" fmla="*/ 471 w 1384"/>
                <a:gd name="T93" fmla="*/ 224 h 1575"/>
                <a:gd name="T94" fmla="*/ 527 w 1384"/>
                <a:gd name="T95" fmla="*/ 230 h 1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84" h="1575">
                  <a:moveTo>
                    <a:pt x="527" y="230"/>
                  </a:moveTo>
                  <a:lnTo>
                    <a:pt x="546" y="234"/>
                  </a:lnTo>
                  <a:lnTo>
                    <a:pt x="571" y="238"/>
                  </a:lnTo>
                  <a:lnTo>
                    <a:pt x="596" y="244"/>
                  </a:lnTo>
                  <a:lnTo>
                    <a:pt x="614" y="249"/>
                  </a:lnTo>
                  <a:lnTo>
                    <a:pt x="635" y="254"/>
                  </a:lnTo>
                  <a:lnTo>
                    <a:pt x="655" y="260"/>
                  </a:lnTo>
                  <a:lnTo>
                    <a:pt x="676" y="267"/>
                  </a:lnTo>
                  <a:lnTo>
                    <a:pt x="695" y="272"/>
                  </a:lnTo>
                  <a:lnTo>
                    <a:pt x="717" y="280"/>
                  </a:lnTo>
                  <a:lnTo>
                    <a:pt x="743" y="291"/>
                  </a:lnTo>
                  <a:lnTo>
                    <a:pt x="765" y="300"/>
                  </a:lnTo>
                  <a:lnTo>
                    <a:pt x="786" y="309"/>
                  </a:lnTo>
                  <a:lnTo>
                    <a:pt x="810" y="320"/>
                  </a:lnTo>
                  <a:lnTo>
                    <a:pt x="833" y="331"/>
                  </a:lnTo>
                  <a:lnTo>
                    <a:pt x="854" y="342"/>
                  </a:lnTo>
                  <a:lnTo>
                    <a:pt x="874" y="355"/>
                  </a:lnTo>
                  <a:lnTo>
                    <a:pt x="892" y="365"/>
                  </a:lnTo>
                  <a:lnTo>
                    <a:pt x="910" y="378"/>
                  </a:lnTo>
                  <a:lnTo>
                    <a:pt x="930" y="390"/>
                  </a:lnTo>
                  <a:lnTo>
                    <a:pt x="952" y="405"/>
                  </a:lnTo>
                  <a:lnTo>
                    <a:pt x="972" y="420"/>
                  </a:lnTo>
                  <a:lnTo>
                    <a:pt x="991" y="435"/>
                  </a:lnTo>
                  <a:lnTo>
                    <a:pt x="1009" y="448"/>
                  </a:lnTo>
                  <a:lnTo>
                    <a:pt x="1037" y="473"/>
                  </a:lnTo>
                  <a:lnTo>
                    <a:pt x="1067" y="500"/>
                  </a:lnTo>
                  <a:lnTo>
                    <a:pt x="1090" y="522"/>
                  </a:lnTo>
                  <a:lnTo>
                    <a:pt x="1117" y="552"/>
                  </a:lnTo>
                  <a:lnTo>
                    <a:pt x="1136" y="575"/>
                  </a:lnTo>
                  <a:lnTo>
                    <a:pt x="1157" y="600"/>
                  </a:lnTo>
                  <a:lnTo>
                    <a:pt x="1180" y="629"/>
                  </a:lnTo>
                  <a:lnTo>
                    <a:pt x="1199" y="657"/>
                  </a:lnTo>
                  <a:lnTo>
                    <a:pt x="1218" y="687"/>
                  </a:lnTo>
                  <a:lnTo>
                    <a:pt x="1238" y="717"/>
                  </a:lnTo>
                  <a:lnTo>
                    <a:pt x="1255" y="749"/>
                  </a:lnTo>
                  <a:lnTo>
                    <a:pt x="1272" y="777"/>
                  </a:lnTo>
                  <a:lnTo>
                    <a:pt x="1288" y="811"/>
                  </a:lnTo>
                  <a:lnTo>
                    <a:pt x="1303" y="844"/>
                  </a:lnTo>
                  <a:lnTo>
                    <a:pt x="1315" y="878"/>
                  </a:lnTo>
                  <a:lnTo>
                    <a:pt x="1328" y="915"/>
                  </a:lnTo>
                  <a:lnTo>
                    <a:pt x="1344" y="961"/>
                  </a:lnTo>
                  <a:lnTo>
                    <a:pt x="1354" y="1003"/>
                  </a:lnTo>
                  <a:lnTo>
                    <a:pt x="1365" y="1047"/>
                  </a:lnTo>
                  <a:lnTo>
                    <a:pt x="1370" y="1089"/>
                  </a:lnTo>
                  <a:lnTo>
                    <a:pt x="1377" y="1139"/>
                  </a:lnTo>
                  <a:lnTo>
                    <a:pt x="1382" y="1201"/>
                  </a:lnTo>
                  <a:lnTo>
                    <a:pt x="1384" y="1249"/>
                  </a:lnTo>
                  <a:lnTo>
                    <a:pt x="1382" y="1296"/>
                  </a:lnTo>
                  <a:lnTo>
                    <a:pt x="1378" y="1342"/>
                  </a:lnTo>
                  <a:lnTo>
                    <a:pt x="1373" y="1385"/>
                  </a:lnTo>
                  <a:lnTo>
                    <a:pt x="1368" y="1429"/>
                  </a:lnTo>
                  <a:lnTo>
                    <a:pt x="1358" y="1475"/>
                  </a:lnTo>
                  <a:lnTo>
                    <a:pt x="1346" y="1524"/>
                  </a:lnTo>
                  <a:lnTo>
                    <a:pt x="1330" y="1575"/>
                  </a:lnTo>
                  <a:lnTo>
                    <a:pt x="1239" y="1290"/>
                  </a:lnTo>
                  <a:lnTo>
                    <a:pt x="894" y="1350"/>
                  </a:lnTo>
                  <a:lnTo>
                    <a:pt x="902" y="1300"/>
                  </a:lnTo>
                  <a:lnTo>
                    <a:pt x="905" y="1268"/>
                  </a:lnTo>
                  <a:lnTo>
                    <a:pt x="905" y="1234"/>
                  </a:lnTo>
                  <a:lnTo>
                    <a:pt x="903" y="1194"/>
                  </a:lnTo>
                  <a:lnTo>
                    <a:pt x="897" y="1157"/>
                  </a:lnTo>
                  <a:lnTo>
                    <a:pt x="890" y="1115"/>
                  </a:lnTo>
                  <a:lnTo>
                    <a:pt x="881" y="1081"/>
                  </a:lnTo>
                  <a:lnTo>
                    <a:pt x="866" y="1042"/>
                  </a:lnTo>
                  <a:lnTo>
                    <a:pt x="852" y="1009"/>
                  </a:lnTo>
                  <a:lnTo>
                    <a:pt x="835" y="978"/>
                  </a:lnTo>
                  <a:lnTo>
                    <a:pt x="821" y="953"/>
                  </a:lnTo>
                  <a:lnTo>
                    <a:pt x="806" y="933"/>
                  </a:lnTo>
                  <a:lnTo>
                    <a:pt x="791" y="913"/>
                  </a:lnTo>
                  <a:lnTo>
                    <a:pt x="774" y="893"/>
                  </a:lnTo>
                  <a:lnTo>
                    <a:pt x="755" y="871"/>
                  </a:lnTo>
                  <a:lnTo>
                    <a:pt x="740" y="856"/>
                  </a:lnTo>
                  <a:lnTo>
                    <a:pt x="722" y="838"/>
                  </a:lnTo>
                  <a:lnTo>
                    <a:pt x="704" y="822"/>
                  </a:lnTo>
                  <a:lnTo>
                    <a:pt x="683" y="806"/>
                  </a:lnTo>
                  <a:lnTo>
                    <a:pt x="657" y="791"/>
                  </a:lnTo>
                  <a:lnTo>
                    <a:pt x="636" y="776"/>
                  </a:lnTo>
                  <a:lnTo>
                    <a:pt x="618" y="766"/>
                  </a:lnTo>
                  <a:lnTo>
                    <a:pt x="592" y="750"/>
                  </a:lnTo>
                  <a:lnTo>
                    <a:pt x="569" y="742"/>
                  </a:lnTo>
                  <a:lnTo>
                    <a:pt x="549" y="734"/>
                  </a:lnTo>
                  <a:lnTo>
                    <a:pt x="528" y="727"/>
                  </a:lnTo>
                  <a:lnTo>
                    <a:pt x="496" y="719"/>
                  </a:lnTo>
                  <a:lnTo>
                    <a:pt x="467" y="714"/>
                  </a:lnTo>
                  <a:lnTo>
                    <a:pt x="436" y="711"/>
                  </a:lnTo>
                  <a:lnTo>
                    <a:pt x="406" y="709"/>
                  </a:lnTo>
                  <a:lnTo>
                    <a:pt x="389" y="708"/>
                  </a:lnTo>
                  <a:lnTo>
                    <a:pt x="389" y="964"/>
                  </a:lnTo>
                  <a:lnTo>
                    <a:pt x="0" y="489"/>
                  </a:lnTo>
                  <a:lnTo>
                    <a:pt x="388" y="0"/>
                  </a:lnTo>
                  <a:lnTo>
                    <a:pt x="388" y="220"/>
                  </a:lnTo>
                  <a:lnTo>
                    <a:pt x="409" y="221"/>
                  </a:lnTo>
                  <a:lnTo>
                    <a:pt x="440" y="222"/>
                  </a:lnTo>
                  <a:lnTo>
                    <a:pt x="471" y="224"/>
                  </a:lnTo>
                  <a:lnTo>
                    <a:pt x="502" y="227"/>
                  </a:lnTo>
                  <a:lnTo>
                    <a:pt x="527" y="23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109" name="Text Box 51"/>
          <p:cNvSpPr txBox="1">
            <a:spLocks noChangeArrowheads="1"/>
          </p:cNvSpPr>
          <p:nvPr/>
        </p:nvSpPr>
        <p:spPr bwMode="auto">
          <a:xfrm>
            <a:off x="8026431" y="2910595"/>
            <a:ext cx="79861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dirty="0">
                <a:latin typeface="+mj-ea"/>
                <a:ea typeface="+mj-ea"/>
              </a:rPr>
              <a:t>단위 시험</a:t>
            </a:r>
            <a:endParaRPr lang="ko-KR" altLang="en-US" sz="1100" b="1" dirty="0">
              <a:latin typeface="+mj-ea"/>
              <a:ea typeface="+mj-ea"/>
            </a:endParaRPr>
          </a:p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dirty="0">
                <a:latin typeface="+mj-ea"/>
                <a:ea typeface="+mj-ea"/>
              </a:rPr>
              <a:t>반복</a:t>
            </a:r>
          </a:p>
        </p:txBody>
      </p:sp>
      <p:sp>
        <p:nvSpPr>
          <p:cNvPr id="110" name="Text Box 52"/>
          <p:cNvSpPr txBox="1">
            <a:spLocks noChangeArrowheads="1"/>
          </p:cNvSpPr>
          <p:nvPr/>
        </p:nvSpPr>
        <p:spPr bwMode="auto">
          <a:xfrm>
            <a:off x="8082787" y="4228220"/>
            <a:ext cx="79861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dirty="0">
                <a:latin typeface="+mj-ea"/>
                <a:ea typeface="+mj-ea"/>
              </a:rPr>
              <a:t>개발 </a:t>
            </a:r>
            <a:r>
              <a:rPr lang="ko-KR" altLang="en-US" sz="1100" b="1" dirty="0">
                <a:latin typeface="+mj-ea"/>
                <a:ea typeface="+mj-ea"/>
              </a:rPr>
              <a:t>반복</a:t>
            </a:r>
            <a:endParaRPr lang="en-US" altLang="ko-KR" sz="1100" b="1" dirty="0">
              <a:latin typeface="+mj-ea"/>
              <a:ea typeface="+mj-ea"/>
            </a:endParaRPr>
          </a:p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b="1" dirty="0">
                <a:latin typeface="+mj-ea"/>
                <a:ea typeface="+mj-ea"/>
              </a:rPr>
              <a:t>시험 반복</a:t>
            </a:r>
            <a:endParaRPr lang="ko-KR" altLang="en-US" sz="1100" b="1" dirty="0">
              <a:latin typeface="+mj-ea"/>
              <a:ea typeface="+mj-ea"/>
            </a:endParaRPr>
          </a:p>
        </p:txBody>
      </p:sp>
      <p:sp>
        <p:nvSpPr>
          <p:cNvPr id="111" name="AutoShape 57"/>
          <p:cNvSpPr>
            <a:spLocks noChangeArrowheads="1"/>
          </p:cNvSpPr>
          <p:nvPr/>
        </p:nvSpPr>
        <p:spPr bwMode="auto">
          <a:xfrm>
            <a:off x="9143288" y="3586870"/>
            <a:ext cx="576262" cy="434975"/>
          </a:xfrm>
          <a:prstGeom prst="downArrow">
            <a:avLst>
              <a:gd name="adj1" fmla="val 53593"/>
              <a:gd name="adj2" fmla="val 36597"/>
            </a:avLst>
          </a:prstGeom>
          <a:gradFill rotWithShape="0">
            <a:gsLst>
              <a:gs pos="0">
                <a:srgbClr val="0066CC">
                  <a:gamma/>
                  <a:tint val="0"/>
                  <a:invGamma/>
                </a:srgbClr>
              </a:gs>
              <a:gs pos="100000">
                <a:srgbClr val="0066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2" name="AutoShape 58"/>
          <p:cNvSpPr>
            <a:spLocks noChangeArrowheads="1"/>
          </p:cNvSpPr>
          <p:nvPr/>
        </p:nvSpPr>
        <p:spPr bwMode="auto">
          <a:xfrm>
            <a:off x="9143288" y="2308932"/>
            <a:ext cx="576262" cy="434975"/>
          </a:xfrm>
          <a:prstGeom prst="downArrow">
            <a:avLst>
              <a:gd name="adj1" fmla="val 53593"/>
              <a:gd name="adj2" fmla="val 36597"/>
            </a:avLst>
          </a:prstGeom>
          <a:gradFill rotWithShape="0">
            <a:gsLst>
              <a:gs pos="0">
                <a:srgbClr val="0066CC">
                  <a:gamma/>
                  <a:tint val="0"/>
                  <a:invGamma/>
                </a:srgbClr>
              </a:gs>
              <a:gs pos="100000">
                <a:srgbClr val="0066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3" name="AutoShape 59"/>
          <p:cNvSpPr>
            <a:spLocks noChangeArrowheads="1"/>
          </p:cNvSpPr>
          <p:nvPr/>
        </p:nvSpPr>
        <p:spPr bwMode="auto">
          <a:xfrm>
            <a:off x="9143288" y="4918782"/>
            <a:ext cx="576262" cy="434975"/>
          </a:xfrm>
          <a:prstGeom prst="downArrow">
            <a:avLst>
              <a:gd name="adj1" fmla="val 53593"/>
              <a:gd name="adj2" fmla="val 36597"/>
            </a:avLst>
          </a:prstGeom>
          <a:gradFill rotWithShape="0">
            <a:gsLst>
              <a:gs pos="0">
                <a:srgbClr val="0066CC">
                  <a:gamma/>
                  <a:tint val="0"/>
                  <a:invGamma/>
                </a:srgbClr>
              </a:gs>
              <a:gs pos="100000">
                <a:srgbClr val="0066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114" name="Group 60"/>
          <p:cNvGrpSpPr>
            <a:grpSpLocks/>
          </p:cNvGrpSpPr>
          <p:nvPr/>
        </p:nvGrpSpPr>
        <p:grpSpPr bwMode="auto">
          <a:xfrm>
            <a:off x="8884526" y="1575506"/>
            <a:ext cx="1228725" cy="630238"/>
            <a:chOff x="978" y="3456"/>
            <a:chExt cx="1081" cy="227"/>
          </a:xfrm>
        </p:grpSpPr>
        <p:sp>
          <p:nvSpPr>
            <p:cNvPr id="115" name="AutoShape 61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6" name="AutoShape 62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117" name="Group 63"/>
          <p:cNvGrpSpPr>
            <a:grpSpLocks/>
          </p:cNvGrpSpPr>
          <p:nvPr/>
        </p:nvGrpSpPr>
        <p:grpSpPr bwMode="auto">
          <a:xfrm>
            <a:off x="8841663" y="1529470"/>
            <a:ext cx="1230312" cy="631825"/>
            <a:chOff x="978" y="3456"/>
            <a:chExt cx="1081" cy="227"/>
          </a:xfrm>
        </p:grpSpPr>
        <p:sp>
          <p:nvSpPr>
            <p:cNvPr id="118" name="AutoShape 64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9" name="AutoShape 65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120" name="Group 66"/>
          <p:cNvGrpSpPr>
            <a:grpSpLocks/>
          </p:cNvGrpSpPr>
          <p:nvPr/>
        </p:nvGrpSpPr>
        <p:grpSpPr bwMode="auto">
          <a:xfrm>
            <a:off x="8797213" y="1483432"/>
            <a:ext cx="1231900" cy="631825"/>
            <a:chOff x="978" y="3456"/>
            <a:chExt cx="1081" cy="227"/>
          </a:xfrm>
        </p:grpSpPr>
        <p:sp>
          <p:nvSpPr>
            <p:cNvPr id="121" name="AutoShape 67"/>
            <p:cNvSpPr>
              <a:spLocks noChangeArrowheads="1"/>
            </p:cNvSpPr>
            <p:nvPr/>
          </p:nvSpPr>
          <p:spPr bwMode="auto">
            <a:xfrm>
              <a:off x="978" y="3456"/>
              <a:ext cx="1081" cy="227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7" dist="17961" dir="27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22" name="AutoShape 68"/>
            <p:cNvSpPr>
              <a:spLocks noChangeArrowheads="1"/>
            </p:cNvSpPr>
            <p:nvPr/>
          </p:nvSpPr>
          <p:spPr bwMode="auto">
            <a:xfrm>
              <a:off x="994" y="3465"/>
              <a:ext cx="1049" cy="210"/>
            </a:xfrm>
            <a:prstGeom prst="roundRect">
              <a:avLst>
                <a:gd name="adj" fmla="val 16667"/>
              </a:avLst>
            </a:prstGeom>
            <a:solidFill>
              <a:srgbClr val="FFE161"/>
            </a:solidFill>
            <a:ln>
              <a:noFill/>
            </a:ln>
            <a:effectLst>
              <a:prstShdw prst="shdw18" dist="17961" dir="13500000">
                <a:srgbClr val="FFE161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99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123" name="Text Box 69"/>
          <p:cNvSpPr txBox="1">
            <a:spLocks noChangeArrowheads="1"/>
          </p:cNvSpPr>
          <p:nvPr/>
        </p:nvSpPr>
        <p:spPr bwMode="auto">
          <a:xfrm>
            <a:off x="9107461" y="1645356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b="1" dirty="0">
                <a:latin typeface="+mj-ea"/>
                <a:ea typeface="+mj-ea"/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229839409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개발 품질 </a:t>
            </a:r>
            <a:r>
              <a:rPr lang="ko-KR" altLang="en-US" sz="3200" dirty="0"/>
              <a:t>관리 계획</a:t>
            </a:r>
            <a:endParaRPr lang="ko-KR" altLang="en-US" dirty="0"/>
          </a:p>
        </p:txBody>
      </p:sp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1847528" y="1440083"/>
            <a:ext cx="83632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다음과 같은 전략 및 관리 방안을 토대로 개발 산출물을 작성하여 </a:t>
            </a:r>
            <a:r>
              <a:rPr kumimoji="0" lang="ko-KR" altLang="en-US" sz="1800" b="1" dirty="0">
                <a:solidFill>
                  <a:srgbClr val="FF0000"/>
                </a:solidFill>
                <a:latin typeface="+mj-ea"/>
                <a:ea typeface="+mj-ea"/>
              </a:rPr>
              <a:t>산출물의 일관성</a:t>
            </a: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을 확보 한다</a:t>
            </a:r>
            <a:r>
              <a:rPr kumimoji="0" lang="en-US" altLang="ko-KR" sz="1800" b="1" dirty="0">
                <a:solidFill>
                  <a:srgbClr val="222268"/>
                </a:solidFill>
                <a:latin typeface="+mj-ea"/>
                <a:ea typeface="+mj-ea"/>
              </a:rPr>
              <a:t>. 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2049490" y="2725742"/>
            <a:ext cx="8161310" cy="3167059"/>
            <a:chOff x="525490" y="2090741"/>
            <a:chExt cx="5959475" cy="2097087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525490" y="2090741"/>
              <a:ext cx="5959475" cy="2097087"/>
            </a:xfrm>
            <a:prstGeom prst="roundRect">
              <a:avLst>
                <a:gd name="adj" fmla="val 3181"/>
              </a:avLst>
            </a:prstGeom>
            <a:solidFill>
              <a:srgbClr val="D2EFF0"/>
            </a:solidFill>
            <a:ln w="25400">
              <a:solidFill>
                <a:srgbClr val="5E928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571528" y="2139953"/>
              <a:ext cx="2430462" cy="1998663"/>
            </a:xfrm>
            <a:prstGeom prst="roundRect">
              <a:avLst>
                <a:gd name="adj" fmla="val 3060"/>
              </a:avLst>
            </a:prstGeom>
            <a:solidFill>
              <a:schemeClr val="bg1"/>
            </a:solidFill>
            <a:ln w="6350">
              <a:solidFill>
                <a:srgbClr val="2C898E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3106765" y="2257428"/>
              <a:ext cx="3074988" cy="1681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01600" indent="-101600" algn="l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algn="l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algn="l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algn="l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algn="l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>
                <a:lnSpc>
                  <a:spcPct val="120000"/>
                </a:lnSpc>
                <a:spcBef>
                  <a:spcPct val="5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kumimoji="0" lang="ko-KR" altLang="en-US" sz="1500" dirty="0">
                  <a:latin typeface="+mn-ea"/>
                  <a:ea typeface="+mn-ea"/>
                </a:rPr>
                <a:t>산출물 작성 표준의 내용이 업무 요구사항</a:t>
              </a:r>
              <a:r>
                <a:rPr kumimoji="0" lang="en-US" altLang="ko-KR" sz="1500" dirty="0">
                  <a:latin typeface="+mn-ea"/>
                  <a:ea typeface="+mn-ea"/>
                </a:rPr>
                <a:t>, </a:t>
              </a:r>
              <a:r>
                <a:rPr kumimoji="0" lang="ko-KR" altLang="en-US" sz="1500" dirty="0">
                  <a:latin typeface="+mn-ea"/>
                  <a:ea typeface="+mn-ea"/>
                </a:rPr>
                <a:t>분석 설계사항을 충분히 설명할 수 있도록 그 항목 수    및 내용의 문서화가 </a:t>
              </a:r>
              <a:r>
                <a:rPr kumimoji="0" lang="ko-KR" altLang="en-US" sz="1500" b="1" dirty="0">
                  <a:latin typeface="+mn-ea"/>
                  <a:ea typeface="+mn-ea"/>
                </a:rPr>
                <a:t>충분</a:t>
              </a:r>
              <a:r>
                <a:rPr kumimoji="0" lang="ko-KR" altLang="en-US" sz="1500" dirty="0">
                  <a:latin typeface="+mn-ea"/>
                  <a:ea typeface="+mn-ea"/>
                </a:rPr>
                <a:t>해야 한다</a:t>
              </a:r>
              <a:r>
                <a:rPr kumimoji="0" lang="en-US" altLang="ko-KR" sz="1500" dirty="0">
                  <a:latin typeface="+mn-ea"/>
                  <a:ea typeface="+mn-ea"/>
                </a:rPr>
                <a:t>.</a:t>
              </a:r>
            </a:p>
            <a:p>
              <a:pPr eaLnBrk="1" latinLnBrk="0">
                <a:lnSpc>
                  <a:spcPct val="120000"/>
                </a:lnSpc>
                <a:spcBef>
                  <a:spcPct val="5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kumimoji="0" lang="ko-KR" altLang="en-US" sz="1500" dirty="0">
                  <a:latin typeface="+mn-ea"/>
                  <a:ea typeface="+mn-ea"/>
                </a:rPr>
                <a:t>요구사항에서부터 </a:t>
              </a:r>
              <a:r>
                <a:rPr kumimoji="0" lang="ko-KR" altLang="en-US" sz="1500" dirty="0">
                  <a:latin typeface="+mn-ea"/>
                  <a:ea typeface="+mn-ea"/>
                </a:rPr>
                <a:t>분석 설계 단계의 명세서를 거쳐서 최종의 </a:t>
              </a:r>
              <a:r>
                <a:rPr kumimoji="0" lang="ko-KR" altLang="en-US" sz="1500" dirty="0">
                  <a:latin typeface="+mn-ea"/>
                  <a:ea typeface="+mn-ea"/>
                </a:rPr>
                <a:t>제품에 </a:t>
              </a:r>
              <a:r>
                <a:rPr kumimoji="0" lang="ko-KR" altLang="en-US" sz="1500" dirty="0">
                  <a:latin typeface="+mn-ea"/>
                  <a:ea typeface="+mn-ea"/>
                </a:rPr>
                <a:t>이르기까지 </a:t>
              </a:r>
              <a:r>
                <a:rPr kumimoji="0" lang="ko-KR" altLang="en-US" sz="1500" b="1" dirty="0">
                  <a:latin typeface="+mn-ea"/>
                  <a:ea typeface="+mn-ea"/>
                </a:rPr>
                <a:t>추적</a:t>
              </a:r>
              <a:r>
                <a:rPr kumimoji="0" lang="ko-KR" altLang="en-US" sz="1500" dirty="0">
                  <a:latin typeface="+mn-ea"/>
                  <a:ea typeface="+mn-ea"/>
                </a:rPr>
                <a:t>을 고려해야 한다</a:t>
              </a:r>
              <a:r>
                <a:rPr kumimoji="0" lang="en-US" altLang="ko-KR" sz="1500" dirty="0">
                  <a:latin typeface="+mn-ea"/>
                  <a:ea typeface="+mn-ea"/>
                </a:rPr>
                <a:t>.</a:t>
              </a:r>
            </a:p>
            <a:p>
              <a:pPr eaLnBrk="1" latinLnBrk="0">
                <a:lnSpc>
                  <a:spcPct val="120000"/>
                </a:lnSpc>
                <a:spcBef>
                  <a:spcPct val="5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kumimoji="0" lang="ko-KR" altLang="en-US" sz="1500" dirty="0">
                  <a:latin typeface="+mn-ea"/>
                  <a:ea typeface="+mn-ea"/>
                </a:rPr>
                <a:t>개발된 </a:t>
              </a:r>
              <a:r>
                <a:rPr kumimoji="0" lang="ko-KR" altLang="en-US" sz="1500" dirty="0">
                  <a:latin typeface="+mn-ea"/>
                  <a:ea typeface="+mn-ea"/>
                </a:rPr>
                <a:t>산출물이 항상 최종 개발품과 </a:t>
              </a:r>
              <a:r>
                <a:rPr kumimoji="0" lang="ko-KR" altLang="en-US" sz="1500" b="1" dirty="0">
                  <a:latin typeface="+mn-ea"/>
                  <a:ea typeface="+mn-ea"/>
                </a:rPr>
                <a:t>일치</a:t>
              </a:r>
              <a:r>
                <a:rPr kumimoji="0" lang="ko-KR" altLang="en-US" sz="1500" dirty="0">
                  <a:latin typeface="+mn-ea"/>
                  <a:ea typeface="+mn-ea"/>
                </a:rPr>
                <a:t>해야 한다</a:t>
              </a:r>
              <a:r>
                <a:rPr kumimoji="0" lang="en-US" altLang="ko-KR" sz="1500" dirty="0">
                  <a:latin typeface="+mn-ea"/>
                  <a:ea typeface="+mn-ea"/>
                </a:rPr>
                <a:t>.</a:t>
              </a:r>
            </a:p>
          </p:txBody>
        </p:sp>
        <p:pic>
          <p:nvPicPr>
            <p:cNvPr id="8" name="Picture 90" descr="삼각-3"/>
            <p:cNvPicPr>
              <a:picLocks noChangeAspect="1" noChangeArrowheads="1"/>
            </p:cNvPicPr>
            <p:nvPr/>
          </p:nvPicPr>
          <p:blipFill>
            <a:blip r:embed="rId2">
              <a:lum brigh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53" y="2295528"/>
              <a:ext cx="1931987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91"/>
            <p:cNvSpPr>
              <a:spLocks noChangeArrowheads="1"/>
            </p:cNvSpPr>
            <p:nvPr/>
          </p:nvSpPr>
          <p:spPr bwMode="auto">
            <a:xfrm rot="45813">
              <a:off x="1930428" y="2709355"/>
              <a:ext cx="684212" cy="204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71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714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286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 hangingPunct="0">
                <a:lnSpc>
                  <a:spcPct val="100000"/>
                </a:lnSpc>
              </a:pPr>
              <a:r>
                <a:rPr lang="ko-KR" altLang="en-US" sz="1400" b="1" dirty="0" err="1">
                  <a:latin typeface="+mj-ea"/>
                  <a:ea typeface="+mj-ea"/>
                </a:rPr>
                <a:t>충분성</a:t>
              </a:r>
              <a:endParaRPr lang="ko-KR" altLang="en-US" sz="1400" b="1" dirty="0">
                <a:latin typeface="+mj-ea"/>
                <a:ea typeface="+mj-ea"/>
              </a:endParaRPr>
            </a:p>
          </p:txBody>
        </p:sp>
        <p:sp>
          <p:nvSpPr>
            <p:cNvPr id="10" name="Rectangle 92"/>
            <p:cNvSpPr>
              <a:spLocks noChangeArrowheads="1"/>
            </p:cNvSpPr>
            <p:nvPr/>
          </p:nvSpPr>
          <p:spPr bwMode="auto">
            <a:xfrm>
              <a:off x="893790" y="2681291"/>
              <a:ext cx="685800" cy="204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71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714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286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 hangingPunct="0">
                <a:lnSpc>
                  <a:spcPct val="100000"/>
                </a:lnSpc>
              </a:pPr>
              <a:r>
                <a:rPr lang="ko-KR" altLang="en-US" sz="1400" b="1" dirty="0" err="1">
                  <a:latin typeface="+mj-ea"/>
                  <a:ea typeface="+mj-ea"/>
                </a:rPr>
                <a:t>추적성</a:t>
              </a:r>
              <a:endParaRPr lang="ko-KR" altLang="en-US" sz="1400" b="1" dirty="0">
                <a:latin typeface="+mj-ea"/>
                <a:ea typeface="+mj-ea"/>
              </a:endParaRPr>
            </a:p>
          </p:txBody>
        </p:sp>
        <p:sp>
          <p:nvSpPr>
            <p:cNvPr id="11" name="Rectangle 93"/>
            <p:cNvSpPr>
              <a:spLocks noChangeArrowheads="1"/>
            </p:cNvSpPr>
            <p:nvPr/>
          </p:nvSpPr>
          <p:spPr bwMode="auto">
            <a:xfrm>
              <a:off x="1433540" y="3455991"/>
              <a:ext cx="684213" cy="204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71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714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286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 hangingPunct="0">
                <a:lnSpc>
                  <a:spcPct val="100000"/>
                </a:lnSpc>
              </a:pPr>
              <a:r>
                <a:rPr lang="ko-KR" altLang="en-US" sz="1400" b="1" dirty="0" err="1">
                  <a:latin typeface="+mj-ea"/>
                  <a:ea typeface="+mj-ea"/>
                </a:rPr>
                <a:t>일치성</a:t>
              </a:r>
              <a:endParaRPr lang="ko-KR" altLang="en-US" sz="1400" b="1" dirty="0">
                <a:latin typeface="+mj-ea"/>
                <a:ea typeface="+mj-ea"/>
              </a:endParaRPr>
            </a:p>
          </p:txBody>
        </p:sp>
        <p:sp>
          <p:nvSpPr>
            <p:cNvPr id="12" name="Text Box 94"/>
            <p:cNvSpPr txBox="1">
              <a:spLocks noChangeArrowheads="1"/>
            </p:cNvSpPr>
            <p:nvPr/>
          </p:nvSpPr>
          <p:spPr bwMode="auto">
            <a:xfrm>
              <a:off x="1463965" y="2975391"/>
              <a:ext cx="585265" cy="224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71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7145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286000" algn="l" defTabSz="7620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 hangingPunct="0">
                <a:lnSpc>
                  <a:spcPct val="100000"/>
                </a:lnSpc>
              </a:pPr>
              <a:r>
                <a:rPr lang="ko-KR" altLang="en-US" sz="1600" b="1">
                  <a:latin typeface="+mj-ea"/>
                  <a:ea typeface="+mj-ea"/>
                </a:rPr>
                <a:t>산출물</a:t>
              </a:r>
            </a:p>
          </p:txBody>
        </p:sp>
      </p:grpSp>
      <p:grpSp>
        <p:nvGrpSpPr>
          <p:cNvPr id="13" name="Group 96"/>
          <p:cNvGrpSpPr>
            <a:grpSpLocks/>
          </p:cNvGrpSpPr>
          <p:nvPr/>
        </p:nvGrpSpPr>
        <p:grpSpPr bwMode="auto">
          <a:xfrm>
            <a:off x="2049490" y="2257432"/>
            <a:ext cx="3060700" cy="338138"/>
            <a:chOff x="412" y="1840"/>
            <a:chExt cx="1928" cy="213"/>
          </a:xfrm>
        </p:grpSpPr>
        <p:sp>
          <p:nvSpPr>
            <p:cNvPr id="14" name="Text Box 97"/>
            <p:cNvSpPr txBox="1">
              <a:spLocks noChangeArrowheads="1"/>
            </p:cNvSpPr>
            <p:nvPr/>
          </p:nvSpPr>
          <p:spPr bwMode="auto">
            <a:xfrm>
              <a:off x="474" y="1840"/>
              <a:ext cx="186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None/>
              </a:pPr>
              <a:r>
                <a:rPr kumimoji="1" lang="ko-KR" altLang="en-US" sz="1600" b="1" dirty="0">
                  <a:latin typeface="+mj-ea"/>
                  <a:ea typeface="+mj-ea"/>
                </a:rPr>
                <a:t>문서화 전략</a:t>
              </a:r>
            </a:p>
          </p:txBody>
        </p:sp>
        <p:pic>
          <p:nvPicPr>
            <p:cNvPr id="15" name="Picture 98" descr="l_gree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" y="1891"/>
              <a:ext cx="90" cy="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직사각형 16"/>
          <p:cNvSpPr>
            <a:spLocks noChangeArrowheads="1"/>
          </p:cNvSpPr>
          <p:nvPr/>
        </p:nvSpPr>
        <p:spPr bwMode="auto">
          <a:xfrm>
            <a:off x="1847528" y="932082"/>
            <a:ext cx="4896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Wingdings" panose="05000000000000000000" pitchFamily="2" charset="2"/>
              <a:buChar char="Ø"/>
              <a:defRPr/>
            </a:pP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문서화 전략 및 자료 관리 방안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3200690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 rot="20006563">
            <a:off x="3493086" y="2650738"/>
            <a:ext cx="4876800" cy="2551113"/>
            <a:chOff x="1311" y="3770"/>
            <a:chExt cx="1981" cy="149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auto">
            <a:xfrm flipH="1" flipV="1">
              <a:off x="1311" y="3899"/>
              <a:ext cx="1981" cy="20"/>
            </a:xfrm>
            <a:custGeom>
              <a:avLst/>
              <a:gdLst>
                <a:gd name="G0" fmla="+- 1226 0 0"/>
                <a:gd name="G1" fmla="+- 21600 0 1226"/>
                <a:gd name="G2" fmla="*/ 1226 1 2"/>
                <a:gd name="G3" fmla="+- 21600 0 G2"/>
                <a:gd name="G4" fmla="+/ 1226 21600 2"/>
                <a:gd name="G5" fmla="+/ G1 0 2"/>
                <a:gd name="G6" fmla="*/ 21600 21600 1226"/>
                <a:gd name="G7" fmla="*/ G6 1 2"/>
                <a:gd name="G8" fmla="+- 21600 0 G7"/>
                <a:gd name="G9" fmla="*/ 21600 1 2"/>
                <a:gd name="G10" fmla="+- 1226 0 G9"/>
                <a:gd name="G11" fmla="?: G10 G8 0"/>
                <a:gd name="G12" fmla="?: G10 G7 21600"/>
                <a:gd name="T0" fmla="*/ 20987 w 21600"/>
                <a:gd name="T1" fmla="*/ 10800 h 21600"/>
                <a:gd name="T2" fmla="*/ 10800 w 21600"/>
                <a:gd name="T3" fmla="*/ 21600 h 21600"/>
                <a:gd name="T4" fmla="*/ 613 w 21600"/>
                <a:gd name="T5" fmla="*/ 10800 h 21600"/>
                <a:gd name="T6" fmla="*/ 10800 w 21600"/>
                <a:gd name="T7" fmla="*/ 0 h 21600"/>
                <a:gd name="T8" fmla="*/ 2413 w 21600"/>
                <a:gd name="T9" fmla="*/ 2413 h 21600"/>
                <a:gd name="T10" fmla="*/ 19187 w 21600"/>
                <a:gd name="T11" fmla="*/ 1918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226" y="21600"/>
                  </a:lnTo>
                  <a:lnTo>
                    <a:pt x="2037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9804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" name="AutoShape 9"/>
            <p:cNvSpPr>
              <a:spLocks noChangeArrowheads="1"/>
            </p:cNvSpPr>
            <p:nvPr/>
          </p:nvSpPr>
          <p:spPr bwMode="auto">
            <a:xfrm flipH="1" flipV="1">
              <a:off x="1311" y="3772"/>
              <a:ext cx="1981" cy="130"/>
            </a:xfrm>
            <a:custGeom>
              <a:avLst/>
              <a:gdLst>
                <a:gd name="G0" fmla="+- 5697 0 0"/>
                <a:gd name="G1" fmla="+- 21600 0 5697"/>
                <a:gd name="G2" fmla="*/ 5697 1 2"/>
                <a:gd name="G3" fmla="+- 21600 0 G2"/>
                <a:gd name="G4" fmla="+/ 5697 21600 2"/>
                <a:gd name="G5" fmla="+/ G1 0 2"/>
                <a:gd name="G6" fmla="*/ 21600 21600 5697"/>
                <a:gd name="G7" fmla="*/ G6 1 2"/>
                <a:gd name="G8" fmla="+- 21600 0 G7"/>
                <a:gd name="G9" fmla="*/ 21600 1 2"/>
                <a:gd name="G10" fmla="+- 5697 0 G9"/>
                <a:gd name="G11" fmla="?: G10 G8 0"/>
                <a:gd name="G12" fmla="?: G10 G7 21600"/>
                <a:gd name="T0" fmla="*/ 18751 w 21600"/>
                <a:gd name="T1" fmla="*/ 10800 h 21600"/>
                <a:gd name="T2" fmla="*/ 10800 w 21600"/>
                <a:gd name="T3" fmla="*/ 21600 h 21600"/>
                <a:gd name="T4" fmla="*/ 2849 w 21600"/>
                <a:gd name="T5" fmla="*/ 10800 h 21600"/>
                <a:gd name="T6" fmla="*/ 10800 w 21600"/>
                <a:gd name="T7" fmla="*/ 0 h 21600"/>
                <a:gd name="T8" fmla="*/ 4649 w 21600"/>
                <a:gd name="T9" fmla="*/ 4649 h 21600"/>
                <a:gd name="T10" fmla="*/ 16951 w 21600"/>
                <a:gd name="T11" fmla="*/ 1695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97" y="21600"/>
                  </a:lnTo>
                  <a:lnTo>
                    <a:pt x="15903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7" name="Group 10"/>
            <p:cNvGrpSpPr>
              <a:grpSpLocks/>
            </p:cNvGrpSpPr>
            <p:nvPr/>
          </p:nvGrpSpPr>
          <p:grpSpPr bwMode="auto">
            <a:xfrm>
              <a:off x="1551" y="3770"/>
              <a:ext cx="1531" cy="132"/>
              <a:chOff x="1551" y="3770"/>
              <a:chExt cx="1531" cy="132"/>
            </a:xfrm>
          </p:grpSpPr>
          <p:grpSp>
            <p:nvGrpSpPr>
              <p:cNvPr id="13" name="Group 11"/>
              <p:cNvGrpSpPr>
                <a:grpSpLocks/>
              </p:cNvGrpSpPr>
              <p:nvPr/>
            </p:nvGrpSpPr>
            <p:grpSpPr bwMode="auto">
              <a:xfrm>
                <a:off x="1803" y="3770"/>
                <a:ext cx="483" cy="132"/>
                <a:chOff x="1803" y="3770"/>
                <a:chExt cx="483" cy="132"/>
              </a:xfrm>
            </p:grpSpPr>
            <p:sp>
              <p:nvSpPr>
                <p:cNvPr id="19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803" y="3776"/>
                  <a:ext cx="285" cy="126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2060" y="3770"/>
                  <a:ext cx="150" cy="132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1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2240" y="3776"/>
                  <a:ext cx="46" cy="126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4" name="Line 15"/>
              <p:cNvSpPr>
                <a:spLocks noChangeShapeType="1"/>
              </p:cNvSpPr>
              <p:nvPr/>
            </p:nvSpPr>
            <p:spPr bwMode="auto">
              <a:xfrm>
                <a:off x="2544" y="3776"/>
                <a:ext cx="285" cy="126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5" name="Line 16"/>
              <p:cNvSpPr>
                <a:spLocks noChangeShapeType="1"/>
              </p:cNvSpPr>
              <p:nvPr/>
            </p:nvSpPr>
            <p:spPr bwMode="auto">
              <a:xfrm>
                <a:off x="2422" y="3770"/>
                <a:ext cx="149" cy="132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6" name="Line 17"/>
              <p:cNvSpPr>
                <a:spLocks noChangeShapeType="1"/>
              </p:cNvSpPr>
              <p:nvPr/>
            </p:nvSpPr>
            <p:spPr bwMode="auto">
              <a:xfrm>
                <a:off x="2346" y="3776"/>
                <a:ext cx="46" cy="126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7" name="Line 18"/>
              <p:cNvSpPr>
                <a:spLocks noChangeShapeType="1"/>
              </p:cNvSpPr>
              <p:nvPr/>
            </p:nvSpPr>
            <p:spPr bwMode="auto">
              <a:xfrm flipV="1">
                <a:off x="1551" y="3775"/>
                <a:ext cx="438" cy="127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8" name="Line 19"/>
              <p:cNvSpPr>
                <a:spLocks noChangeShapeType="1"/>
              </p:cNvSpPr>
              <p:nvPr/>
            </p:nvSpPr>
            <p:spPr bwMode="auto">
              <a:xfrm flipH="1" flipV="1">
                <a:off x="2645" y="3775"/>
                <a:ext cx="437" cy="127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1439" y="3794"/>
              <a:ext cx="1727" cy="75"/>
              <a:chOff x="1439" y="3794"/>
              <a:chExt cx="1727" cy="75"/>
            </a:xfrm>
          </p:grpSpPr>
          <p:sp>
            <p:nvSpPr>
              <p:cNvPr id="9" name="Line 21"/>
              <p:cNvSpPr>
                <a:spLocks noChangeShapeType="1"/>
              </p:cNvSpPr>
              <p:nvPr/>
            </p:nvSpPr>
            <p:spPr bwMode="auto">
              <a:xfrm>
                <a:off x="1439" y="3869"/>
                <a:ext cx="1727" cy="0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0" name="Line 22"/>
              <p:cNvSpPr>
                <a:spLocks noChangeShapeType="1"/>
              </p:cNvSpPr>
              <p:nvPr/>
            </p:nvSpPr>
            <p:spPr bwMode="auto">
              <a:xfrm>
                <a:off x="1551" y="3838"/>
                <a:ext cx="1509" cy="0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1" name="Line 23"/>
              <p:cNvSpPr>
                <a:spLocks noChangeShapeType="1"/>
              </p:cNvSpPr>
              <p:nvPr/>
            </p:nvSpPr>
            <p:spPr bwMode="auto">
              <a:xfrm>
                <a:off x="1669" y="3816"/>
                <a:ext cx="1277" cy="0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2" name="Line 24"/>
              <p:cNvSpPr>
                <a:spLocks noChangeShapeType="1"/>
              </p:cNvSpPr>
              <p:nvPr/>
            </p:nvSpPr>
            <p:spPr bwMode="auto">
              <a:xfrm>
                <a:off x="1753" y="3794"/>
                <a:ext cx="1101" cy="0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2" name="Group 25"/>
          <p:cNvGrpSpPr>
            <a:grpSpLocks/>
          </p:cNvGrpSpPr>
          <p:nvPr/>
        </p:nvGrpSpPr>
        <p:grpSpPr bwMode="auto">
          <a:xfrm>
            <a:off x="3616646" y="2036860"/>
            <a:ext cx="4648944" cy="4391789"/>
            <a:chOff x="672" y="2256"/>
            <a:chExt cx="3246" cy="3216"/>
          </a:xfrm>
        </p:grpSpPr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090" y="3352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672" y="2304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1827" y="2626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2928" y="2304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2538" y="3376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66" y="4111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grpSp>
          <p:nvGrpSpPr>
            <p:cNvPr id="29" name="Group 32"/>
            <p:cNvGrpSpPr>
              <a:grpSpLocks/>
            </p:cNvGrpSpPr>
            <p:nvPr/>
          </p:nvGrpSpPr>
          <p:grpSpPr bwMode="auto">
            <a:xfrm>
              <a:off x="2887" y="2256"/>
              <a:ext cx="851" cy="766"/>
              <a:chOff x="2880" y="2352"/>
              <a:chExt cx="851" cy="766"/>
            </a:xfrm>
          </p:grpSpPr>
          <p:graphicFrame>
            <p:nvGraphicFramePr>
              <p:cNvPr id="54" name="Object 33"/>
              <p:cNvGraphicFramePr>
                <a:graphicFrameLocks noChangeAspect="1"/>
              </p:cNvGraphicFramePr>
              <p:nvPr/>
            </p:nvGraphicFramePr>
            <p:xfrm flipV="1">
              <a:off x="2880" y="2352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" name="Image" r:id="rId3" imgW="4002824" imgH="4002824" progId="Photoshop.Image.4">
                      <p:embed/>
                    </p:oleObj>
                  </mc:Choice>
                  <mc:Fallback>
                    <p:oleObj name="Image" r:id="rId3" imgW="4002824" imgH="4002824" progId="Photoshop.Image.4">
                      <p:embed/>
                      <p:pic>
                        <p:nvPicPr>
                          <p:cNvPr id="54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2880" y="2352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Rectangle 34"/>
              <p:cNvSpPr>
                <a:spLocks noChangeArrowheads="1"/>
              </p:cNvSpPr>
              <p:nvPr/>
            </p:nvSpPr>
            <p:spPr bwMode="auto">
              <a:xfrm>
                <a:off x="2925" y="2642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시험명세서</a:t>
                </a:r>
              </a:p>
            </p:txBody>
          </p:sp>
        </p:grpSp>
        <p:grpSp>
          <p:nvGrpSpPr>
            <p:cNvPr id="30" name="Group 35"/>
            <p:cNvGrpSpPr>
              <a:grpSpLocks/>
            </p:cNvGrpSpPr>
            <p:nvPr/>
          </p:nvGrpSpPr>
          <p:grpSpPr bwMode="auto">
            <a:xfrm>
              <a:off x="864" y="2256"/>
              <a:ext cx="851" cy="766"/>
              <a:chOff x="912" y="2304"/>
              <a:chExt cx="851" cy="766"/>
            </a:xfrm>
          </p:grpSpPr>
          <p:graphicFrame>
            <p:nvGraphicFramePr>
              <p:cNvPr id="52" name="Object 36"/>
              <p:cNvGraphicFramePr>
                <a:graphicFrameLocks noChangeAspect="1"/>
              </p:cNvGraphicFramePr>
              <p:nvPr/>
            </p:nvGraphicFramePr>
            <p:xfrm flipV="1">
              <a:off x="912" y="2304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3" name="Image" r:id="rId5" imgW="4002824" imgH="4002824" progId="Photoshop.Image.4">
                      <p:embed/>
                    </p:oleObj>
                  </mc:Choice>
                  <mc:Fallback>
                    <p:oleObj name="Image" r:id="rId5" imgW="4002824" imgH="4002824" progId="Photoshop.Image.4">
                      <p:embed/>
                      <p:pic>
                        <p:nvPicPr>
                          <p:cNvPr id="5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912" y="2304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Rectangle 37"/>
              <p:cNvSpPr>
                <a:spLocks noChangeArrowheads="1"/>
              </p:cNvSpPr>
              <p:nvPr/>
            </p:nvSpPr>
            <p:spPr bwMode="auto">
              <a:xfrm>
                <a:off x="957" y="2594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시험계획서</a:t>
                </a:r>
              </a:p>
            </p:txBody>
          </p:sp>
        </p:grpSp>
        <p:grpSp>
          <p:nvGrpSpPr>
            <p:cNvPr id="31" name="Group 38"/>
            <p:cNvGrpSpPr>
              <a:grpSpLocks/>
            </p:cNvGrpSpPr>
            <p:nvPr/>
          </p:nvGrpSpPr>
          <p:grpSpPr bwMode="auto">
            <a:xfrm>
              <a:off x="1885" y="2800"/>
              <a:ext cx="851" cy="766"/>
              <a:chOff x="1905" y="2976"/>
              <a:chExt cx="851" cy="766"/>
            </a:xfrm>
          </p:grpSpPr>
          <p:graphicFrame>
            <p:nvGraphicFramePr>
              <p:cNvPr id="50" name="Object 39"/>
              <p:cNvGraphicFramePr>
                <a:graphicFrameLocks noChangeAspect="1"/>
              </p:cNvGraphicFramePr>
              <p:nvPr/>
            </p:nvGraphicFramePr>
            <p:xfrm flipV="1">
              <a:off x="1905" y="2976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4" name="Image" r:id="rId6" imgW="4002824" imgH="4002824" progId="Photoshop.Image.4">
                      <p:embed/>
                    </p:oleObj>
                  </mc:Choice>
                  <mc:Fallback>
                    <p:oleObj name="Image" r:id="rId6" imgW="4002824" imgH="4002824" progId="Photoshop.Image.4">
                      <p:embed/>
                      <p:pic>
                        <p:nvPicPr>
                          <p:cNvPr id="5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1905" y="2976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" name="Rectangle 40"/>
              <p:cNvSpPr>
                <a:spLocks noChangeArrowheads="1"/>
              </p:cNvSpPr>
              <p:nvPr/>
            </p:nvSpPr>
            <p:spPr bwMode="auto">
              <a:xfrm>
                <a:off x="1950" y="3266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시험수행</a:t>
                </a:r>
              </a:p>
            </p:txBody>
          </p:sp>
        </p:grpSp>
        <p:grpSp>
          <p:nvGrpSpPr>
            <p:cNvPr id="32" name="Group 41"/>
            <p:cNvGrpSpPr>
              <a:grpSpLocks/>
            </p:cNvGrpSpPr>
            <p:nvPr/>
          </p:nvGrpSpPr>
          <p:grpSpPr bwMode="auto">
            <a:xfrm>
              <a:off x="1296" y="3336"/>
              <a:ext cx="851" cy="766"/>
              <a:chOff x="1008" y="3936"/>
              <a:chExt cx="851" cy="766"/>
            </a:xfrm>
          </p:grpSpPr>
          <p:graphicFrame>
            <p:nvGraphicFramePr>
              <p:cNvPr id="48" name="Object 42"/>
              <p:cNvGraphicFramePr>
                <a:graphicFrameLocks noChangeAspect="1"/>
              </p:cNvGraphicFramePr>
              <p:nvPr/>
            </p:nvGraphicFramePr>
            <p:xfrm flipV="1">
              <a:off x="1008" y="3936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5" name="Image" r:id="rId7" imgW="4002824" imgH="4002824" progId="Photoshop.Image.4">
                      <p:embed/>
                    </p:oleObj>
                  </mc:Choice>
                  <mc:Fallback>
                    <p:oleObj name="Image" r:id="rId7" imgW="4002824" imgH="4002824" progId="Photoshop.Image.4">
                      <p:embed/>
                      <p:pic>
                        <p:nvPicPr>
                          <p:cNvPr id="48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1008" y="3936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Rectangle 43"/>
              <p:cNvSpPr>
                <a:spLocks noChangeArrowheads="1"/>
              </p:cNvSpPr>
              <p:nvPr/>
            </p:nvSpPr>
            <p:spPr bwMode="auto">
              <a:xfrm>
                <a:off x="1053" y="4226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시험기록</a:t>
                </a:r>
              </a:p>
            </p:txBody>
          </p:sp>
        </p:grpSp>
        <p:grpSp>
          <p:nvGrpSpPr>
            <p:cNvPr id="33" name="Group 44"/>
            <p:cNvGrpSpPr>
              <a:grpSpLocks/>
            </p:cNvGrpSpPr>
            <p:nvPr/>
          </p:nvGrpSpPr>
          <p:grpSpPr bwMode="auto">
            <a:xfrm>
              <a:off x="2448" y="3352"/>
              <a:ext cx="851" cy="766"/>
              <a:chOff x="2610" y="3312"/>
              <a:chExt cx="851" cy="766"/>
            </a:xfrm>
          </p:grpSpPr>
          <p:graphicFrame>
            <p:nvGraphicFramePr>
              <p:cNvPr id="46" name="Object 45"/>
              <p:cNvGraphicFramePr>
                <a:graphicFrameLocks noChangeAspect="1"/>
              </p:cNvGraphicFramePr>
              <p:nvPr/>
            </p:nvGraphicFramePr>
            <p:xfrm flipV="1">
              <a:off x="2610" y="3312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6" name="Image" r:id="rId8" imgW="4002824" imgH="4002824" progId="Photoshop.Image.4">
                      <p:embed/>
                    </p:oleObj>
                  </mc:Choice>
                  <mc:Fallback>
                    <p:oleObj name="Image" r:id="rId8" imgW="4002824" imgH="4002824" progId="Photoshop.Image.4">
                      <p:embed/>
                      <p:pic>
                        <p:nvPicPr>
                          <p:cNvPr id="46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2610" y="3312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2655" y="3602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시험기록</a:t>
                </a:r>
              </a:p>
            </p:txBody>
          </p:sp>
        </p:grpSp>
        <p:grpSp>
          <p:nvGrpSpPr>
            <p:cNvPr id="34" name="Group 47"/>
            <p:cNvGrpSpPr>
              <a:grpSpLocks/>
            </p:cNvGrpSpPr>
            <p:nvPr/>
          </p:nvGrpSpPr>
          <p:grpSpPr bwMode="auto">
            <a:xfrm>
              <a:off x="1887" y="4037"/>
              <a:ext cx="851" cy="766"/>
              <a:chOff x="3216" y="4320"/>
              <a:chExt cx="851" cy="766"/>
            </a:xfrm>
          </p:grpSpPr>
          <p:graphicFrame>
            <p:nvGraphicFramePr>
              <p:cNvPr id="44" name="Object 48"/>
              <p:cNvGraphicFramePr>
                <a:graphicFrameLocks noChangeAspect="1"/>
              </p:cNvGraphicFramePr>
              <p:nvPr/>
            </p:nvGraphicFramePr>
            <p:xfrm flipV="1">
              <a:off x="3216" y="4320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7" name="Image" r:id="rId9" imgW="4002824" imgH="4002824" progId="Photoshop.Image.4">
                      <p:embed/>
                    </p:oleObj>
                  </mc:Choice>
                  <mc:Fallback>
                    <p:oleObj name="Image" r:id="rId9" imgW="4002824" imgH="4002824" progId="Photoshop.Image.4">
                      <p:embed/>
                      <p:pic>
                        <p:nvPicPr>
                          <p:cNvPr id="44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3216" y="4320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ectangle 49"/>
              <p:cNvSpPr>
                <a:spLocks noChangeArrowheads="1"/>
              </p:cNvSpPr>
              <p:nvPr/>
            </p:nvSpPr>
            <p:spPr bwMode="auto">
              <a:xfrm>
                <a:off x="3261" y="4610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문제보고서</a:t>
                </a:r>
              </a:p>
            </p:txBody>
          </p:sp>
        </p:grpSp>
        <p:sp>
          <p:nvSpPr>
            <p:cNvPr id="35" name="Freeform 50"/>
            <p:cNvSpPr>
              <a:spLocks/>
            </p:cNvSpPr>
            <p:nvPr/>
          </p:nvSpPr>
          <p:spPr bwMode="auto">
            <a:xfrm>
              <a:off x="1989" y="4747"/>
              <a:ext cx="635" cy="335"/>
            </a:xfrm>
            <a:custGeom>
              <a:avLst/>
              <a:gdLst>
                <a:gd name="T0" fmla="*/ 135 w 635"/>
                <a:gd name="T1" fmla="*/ 0 h 335"/>
                <a:gd name="T2" fmla="*/ 500 w 635"/>
                <a:gd name="T3" fmla="*/ 0 h 335"/>
                <a:gd name="T4" fmla="*/ 538 w 635"/>
                <a:gd name="T5" fmla="*/ 182 h 335"/>
                <a:gd name="T6" fmla="*/ 634 w 635"/>
                <a:gd name="T7" fmla="*/ 182 h 335"/>
                <a:gd name="T8" fmla="*/ 317 w 635"/>
                <a:gd name="T9" fmla="*/ 334 h 335"/>
                <a:gd name="T10" fmla="*/ 0 w 635"/>
                <a:gd name="T11" fmla="*/ 182 h 335"/>
                <a:gd name="T12" fmla="*/ 96 w 635"/>
                <a:gd name="T13" fmla="*/ 182 h 335"/>
                <a:gd name="T14" fmla="*/ 135 w 635"/>
                <a:gd name="T15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5" h="335">
                  <a:moveTo>
                    <a:pt x="135" y="0"/>
                  </a:moveTo>
                  <a:lnTo>
                    <a:pt x="500" y="0"/>
                  </a:lnTo>
                  <a:lnTo>
                    <a:pt x="538" y="182"/>
                  </a:lnTo>
                  <a:lnTo>
                    <a:pt x="634" y="182"/>
                  </a:lnTo>
                  <a:lnTo>
                    <a:pt x="317" y="334"/>
                  </a:lnTo>
                  <a:lnTo>
                    <a:pt x="0" y="182"/>
                  </a:lnTo>
                  <a:lnTo>
                    <a:pt x="96" y="182"/>
                  </a:lnTo>
                  <a:lnTo>
                    <a:pt x="135" y="0"/>
                  </a:lnTo>
                </a:path>
              </a:pathLst>
            </a:custGeom>
            <a:gradFill rotWithShape="0">
              <a:gsLst>
                <a:gs pos="0">
                  <a:srgbClr val="0000FF">
                    <a:gamma/>
                    <a:tint val="0"/>
                    <a:invGamma/>
                  </a:srgbClr>
                </a:gs>
                <a:gs pos="100000">
                  <a:srgbClr val="0000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6" name="Freeform 51"/>
            <p:cNvSpPr>
              <a:spLocks/>
            </p:cNvSpPr>
            <p:nvPr/>
          </p:nvSpPr>
          <p:spPr bwMode="auto">
            <a:xfrm>
              <a:off x="1995" y="4923"/>
              <a:ext cx="318" cy="213"/>
            </a:xfrm>
            <a:custGeom>
              <a:avLst/>
              <a:gdLst>
                <a:gd name="T0" fmla="*/ 0 w 318"/>
                <a:gd name="T1" fmla="*/ 0 h 213"/>
                <a:gd name="T2" fmla="*/ 317 w 318"/>
                <a:gd name="T3" fmla="*/ 151 h 213"/>
                <a:gd name="T4" fmla="*/ 317 w 318"/>
                <a:gd name="T5" fmla="*/ 212 h 213"/>
                <a:gd name="T6" fmla="*/ 0 w 318"/>
                <a:gd name="T7" fmla="*/ 45 h 213"/>
                <a:gd name="T8" fmla="*/ 0 w 318"/>
                <a:gd name="T9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13">
                  <a:moveTo>
                    <a:pt x="0" y="0"/>
                  </a:moveTo>
                  <a:lnTo>
                    <a:pt x="317" y="151"/>
                  </a:lnTo>
                  <a:lnTo>
                    <a:pt x="317" y="212"/>
                  </a:lnTo>
                  <a:lnTo>
                    <a:pt x="0" y="45"/>
                  </a:lnTo>
                  <a:lnTo>
                    <a:pt x="0" y="0"/>
                  </a:lnTo>
                </a:path>
              </a:pathLst>
            </a:cu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7" name="Freeform 52"/>
            <p:cNvSpPr>
              <a:spLocks/>
            </p:cNvSpPr>
            <p:nvPr/>
          </p:nvSpPr>
          <p:spPr bwMode="auto">
            <a:xfrm>
              <a:off x="2312" y="4923"/>
              <a:ext cx="318" cy="213"/>
            </a:xfrm>
            <a:custGeom>
              <a:avLst/>
              <a:gdLst>
                <a:gd name="T0" fmla="*/ 0 w 318"/>
                <a:gd name="T1" fmla="*/ 151 h 213"/>
                <a:gd name="T2" fmla="*/ 0 w 318"/>
                <a:gd name="T3" fmla="*/ 212 h 213"/>
                <a:gd name="T4" fmla="*/ 317 w 318"/>
                <a:gd name="T5" fmla="*/ 45 h 213"/>
                <a:gd name="T6" fmla="*/ 317 w 318"/>
                <a:gd name="T7" fmla="*/ 0 h 213"/>
                <a:gd name="T8" fmla="*/ 0 w 318"/>
                <a:gd name="T9" fmla="*/ 15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13">
                  <a:moveTo>
                    <a:pt x="0" y="151"/>
                  </a:moveTo>
                  <a:lnTo>
                    <a:pt x="0" y="212"/>
                  </a:lnTo>
                  <a:lnTo>
                    <a:pt x="317" y="45"/>
                  </a:lnTo>
                  <a:lnTo>
                    <a:pt x="317" y="0"/>
                  </a:lnTo>
                  <a:lnTo>
                    <a:pt x="0" y="151"/>
                  </a:lnTo>
                </a:path>
              </a:pathLst>
            </a:cu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8" name="Freeform 53"/>
            <p:cNvSpPr>
              <a:spLocks/>
            </p:cNvSpPr>
            <p:nvPr/>
          </p:nvSpPr>
          <p:spPr bwMode="auto">
            <a:xfrm rot="5400000">
              <a:off x="2557" y="4165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9" name="AutoShape 54"/>
            <p:cNvSpPr>
              <a:spLocks noChangeArrowheads="1"/>
            </p:cNvSpPr>
            <p:nvPr/>
          </p:nvSpPr>
          <p:spPr bwMode="gray">
            <a:xfrm>
              <a:off x="1760" y="5184"/>
              <a:ext cx="1104" cy="288"/>
            </a:xfrm>
            <a:prstGeom prst="bevel">
              <a:avLst>
                <a:gd name="adj" fmla="val 50000"/>
              </a:avLst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3485" tIns="46744" rIns="93485" bIns="46744" anchor="ctr"/>
            <a:lstStyle>
              <a:lvl1pPr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468313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35038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01763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868488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3256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7828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2400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6972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  <a:t>결과 보고서</a:t>
              </a:r>
            </a:p>
          </p:txBody>
        </p:sp>
        <p:sp>
          <p:nvSpPr>
            <p:cNvPr id="40" name="Freeform 55"/>
            <p:cNvSpPr>
              <a:spLocks/>
            </p:cNvSpPr>
            <p:nvPr/>
          </p:nvSpPr>
          <p:spPr bwMode="auto">
            <a:xfrm flipH="1">
              <a:off x="2544" y="2736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1" name="Freeform 56"/>
            <p:cNvSpPr>
              <a:spLocks/>
            </p:cNvSpPr>
            <p:nvPr/>
          </p:nvSpPr>
          <p:spPr bwMode="auto">
            <a:xfrm>
              <a:off x="1617" y="2736"/>
              <a:ext cx="447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2" name="Freeform 57"/>
            <p:cNvSpPr>
              <a:spLocks/>
            </p:cNvSpPr>
            <p:nvPr/>
          </p:nvSpPr>
          <p:spPr bwMode="auto">
            <a:xfrm rot="16200000" flipH="1">
              <a:off x="1589" y="4165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43" name="Freeform 58"/>
            <p:cNvSpPr>
              <a:spLocks/>
            </p:cNvSpPr>
            <p:nvPr/>
          </p:nvSpPr>
          <p:spPr bwMode="auto">
            <a:xfrm flipV="1">
              <a:off x="2096" y="3685"/>
              <a:ext cx="440" cy="270"/>
            </a:xfrm>
            <a:custGeom>
              <a:avLst/>
              <a:gdLst>
                <a:gd name="T0" fmla="*/ 176 w 440"/>
                <a:gd name="T1" fmla="*/ 904 h 904"/>
                <a:gd name="T2" fmla="*/ 84 w 440"/>
                <a:gd name="T3" fmla="*/ 256 h 904"/>
                <a:gd name="T4" fmla="*/ 0 w 440"/>
                <a:gd name="T5" fmla="*/ 256 h 904"/>
                <a:gd name="T6" fmla="*/ 240 w 440"/>
                <a:gd name="T7" fmla="*/ 0 h 904"/>
                <a:gd name="T8" fmla="*/ 440 w 440"/>
                <a:gd name="T9" fmla="*/ 264 h 904"/>
                <a:gd name="T10" fmla="*/ 360 w 440"/>
                <a:gd name="T11" fmla="*/ 256 h 904"/>
                <a:gd name="T12" fmla="*/ 244 w 440"/>
                <a:gd name="T13" fmla="*/ 904 h 904"/>
                <a:gd name="T14" fmla="*/ 176 w 440"/>
                <a:gd name="T15" fmla="*/ 904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904">
                  <a:moveTo>
                    <a:pt x="176" y="904"/>
                  </a:moveTo>
                  <a:lnTo>
                    <a:pt x="84" y="256"/>
                  </a:lnTo>
                  <a:lnTo>
                    <a:pt x="0" y="256"/>
                  </a:lnTo>
                  <a:lnTo>
                    <a:pt x="240" y="0"/>
                  </a:lnTo>
                  <a:lnTo>
                    <a:pt x="440" y="264"/>
                  </a:lnTo>
                  <a:lnTo>
                    <a:pt x="360" y="256"/>
                  </a:lnTo>
                  <a:lnTo>
                    <a:pt x="244" y="904"/>
                  </a:lnTo>
                  <a:lnTo>
                    <a:pt x="176" y="904"/>
                  </a:lnTo>
                  <a:close/>
                </a:path>
              </a:pathLst>
            </a:custGeom>
            <a:gradFill rotWithShape="0">
              <a:gsLst>
                <a:gs pos="0">
                  <a:srgbClr val="0066FF">
                    <a:gamma/>
                    <a:tint val="0"/>
                    <a:invGamma/>
                  </a:srgbClr>
                </a:gs>
                <a:gs pos="100000">
                  <a:srgbClr val="0066FF"/>
                </a:gs>
              </a:gsLst>
              <a:lin ang="5400000" scaled="1"/>
            </a:gradFill>
            <a:ln>
              <a:noFill/>
            </a:ln>
            <a:effectLst>
              <a:outerShdw dist="12700" dir="16200000" algn="ctr" rotWithShape="0">
                <a:srgbClr val="0066FF"/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56" name="직사각형 55"/>
          <p:cNvSpPr>
            <a:spLocks noChangeArrowheads="1"/>
          </p:cNvSpPr>
          <p:nvPr/>
        </p:nvSpPr>
        <p:spPr bwMode="auto">
          <a:xfrm>
            <a:off x="1847528" y="932082"/>
            <a:ext cx="4896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문서화 관리 절차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  <p:sp>
        <p:nvSpPr>
          <p:cNvPr id="57" name="직사각형 56"/>
          <p:cNvSpPr>
            <a:spLocks noChangeArrowheads="1"/>
          </p:cNvSpPr>
          <p:nvPr/>
        </p:nvSpPr>
        <p:spPr bwMode="auto">
          <a:xfrm>
            <a:off x="2032797" y="1376891"/>
            <a:ext cx="82622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Wingdings" panose="05000000000000000000" pitchFamily="2" charset="2"/>
              <a:buChar char="Ø"/>
              <a:defRPr/>
            </a:pPr>
            <a:r>
              <a:rPr kumimoji="0" lang="ko-KR" altLang="en-US" sz="1800" b="1" dirty="0">
                <a:latin typeface="+mj-ea"/>
                <a:ea typeface="+mj-ea"/>
              </a:rPr>
              <a:t>문서화 절차는 계획된 시험계획서와 명세서를 기반으로 시험을 수행하며 이때 발생된 모든 기록은 문제 보고서에 기록합니다</a:t>
            </a:r>
            <a:r>
              <a:rPr kumimoji="0" lang="en-US" altLang="ko-KR" sz="1800" b="1" dirty="0">
                <a:latin typeface="+mj-ea"/>
                <a:ea typeface="+mj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918088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213172"/>
              </p:ext>
            </p:extLst>
          </p:nvPr>
        </p:nvGraphicFramePr>
        <p:xfrm>
          <a:off x="615563" y="958932"/>
          <a:ext cx="8237458" cy="30527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88890">
                  <a:extLst>
                    <a:ext uri="{9D8B030D-6E8A-4147-A177-3AD203B41FA5}">
                      <a16:colId xmlns:a16="http://schemas.microsoft.com/office/drawing/2014/main" val="1217477051"/>
                    </a:ext>
                  </a:extLst>
                </a:gridCol>
                <a:gridCol w="1809946">
                  <a:extLst>
                    <a:ext uri="{9D8B030D-6E8A-4147-A177-3AD203B41FA5}">
                      <a16:colId xmlns:a16="http://schemas.microsoft.com/office/drawing/2014/main" val="3139923253"/>
                    </a:ext>
                  </a:extLst>
                </a:gridCol>
                <a:gridCol w="952107">
                  <a:extLst>
                    <a:ext uri="{9D8B030D-6E8A-4147-A177-3AD203B41FA5}">
                      <a16:colId xmlns:a16="http://schemas.microsoft.com/office/drawing/2014/main" val="1727633535"/>
                    </a:ext>
                  </a:extLst>
                </a:gridCol>
                <a:gridCol w="3553906">
                  <a:extLst>
                    <a:ext uri="{9D8B030D-6E8A-4147-A177-3AD203B41FA5}">
                      <a16:colId xmlns:a16="http://schemas.microsoft.com/office/drawing/2014/main" val="1186108010"/>
                    </a:ext>
                  </a:extLst>
                </a:gridCol>
                <a:gridCol w="1032609">
                  <a:extLst>
                    <a:ext uri="{9D8B030D-6E8A-4147-A177-3AD203B41FA5}">
                      <a16:colId xmlns:a16="http://schemas.microsoft.com/office/drawing/2014/main" val="1249937288"/>
                    </a:ext>
                  </a:extLst>
                </a:gridCol>
              </a:tblGrid>
              <a:tr h="46767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  <a:endParaRPr lang="ko-KR" altLang="en-US" sz="1400" b="1" i="0" u="none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i="0" u="none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</a:rPr>
                        <a:t>항목</a:t>
                      </a:r>
                      <a:endParaRPr lang="ko-KR" altLang="en-US" sz="1400" i="0" u="non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i="0" u="none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</a:rPr>
                        <a:t>담당</a:t>
                      </a:r>
                      <a:endParaRPr lang="ko-KR" altLang="en-US" sz="1400" i="0" u="non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u="none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검증 방법</a:t>
                      </a:r>
                      <a:endParaRPr lang="ko-KR" altLang="en-US" sz="1400" b="1" u="none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u="none" kern="1200" dirty="0" smtClean="0">
                          <a:solidFill>
                            <a:schemeClr val="lt1"/>
                          </a:solidFill>
                          <a:latin typeface="+mj-ea"/>
                          <a:ea typeface="+mj-ea"/>
                          <a:cs typeface="+mn-cs"/>
                        </a:rPr>
                        <a:t>비고</a:t>
                      </a:r>
                      <a:endParaRPr lang="ko-KR" altLang="en-US" sz="1400" b="1" u="none" kern="1200" dirty="0">
                        <a:solidFill>
                          <a:schemeClr val="l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098123"/>
                  </a:ext>
                </a:extLst>
              </a:tr>
              <a:tr h="481997"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단위 </a:t>
                      </a:r>
                      <a:endParaRPr lang="en-US" altLang="ko-KR" sz="1200" b="1" kern="100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Test</a:t>
                      </a:r>
                      <a:endParaRPr lang="ko-KR" altLang="ko-KR" sz="1200" b="1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endParaRPr lang="ko-KR" sz="1200" b="1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0480" marT="8255" marB="8255" anchor="ctr"/>
                </a:tc>
                <a:tc>
                  <a:txBody>
                    <a:bodyPr/>
                    <a:lstStyle/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endParaRPr lang="ko-KR" altLang="ko-KR" sz="12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0480" marT="8255" marB="825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965660537"/>
                  </a:ext>
                </a:extLst>
              </a:tr>
              <a:tr h="481997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1200" b="1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200" b="1" kern="100" dirty="0" smtClean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S/W </a:t>
                      </a:r>
                      <a:r>
                        <a:rPr lang="ko-KR" altLang="en-US" sz="1200" b="1" kern="100" dirty="0" smtClean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단위 시험</a:t>
                      </a: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dirty="0" smtClean="0">
                          <a:latin typeface="+mj-ea"/>
                          <a:ea typeface="+mj-ea"/>
                        </a:rPr>
                        <a:t>제어</a:t>
                      </a:r>
                      <a:endParaRPr lang="en-US" altLang="ko-KR" sz="1200" b="1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171450" marR="0" indent="-17145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요구사양서와 제품 </a:t>
                      </a:r>
                      <a:r>
                        <a:rPr lang="ko-KR" altLang="en-US" sz="1200" dirty="0" err="1" smtClean="0">
                          <a:latin typeface="+mj-ea"/>
                          <a:ea typeface="+mj-ea"/>
                        </a:rPr>
                        <a:t>사양서를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 기준으로 시험 항목 식별 후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Test 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진행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marL="171450" marR="0" indent="-17145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각 기능별 정상 동작 유무 확인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2369013598"/>
                  </a:ext>
                </a:extLst>
              </a:tr>
              <a:tr h="481997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1200" b="1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Board </a:t>
                      </a: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검증</a:t>
                      </a:r>
                      <a:endParaRPr lang="ko-KR" altLang="ko-KR" sz="1200" b="1" kern="100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제어</a:t>
                      </a:r>
                      <a:endParaRPr lang="ko-KR" altLang="ko-KR" sz="1200" b="1" kern="1200" dirty="0" smtClean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시험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절차서에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따라 성능 검증 진행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고온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저온에서 정상 동작 확인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Full load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상태에서 정상 동작 확인 및 발열 소자의 최대 온도 확인 </a:t>
                      </a:r>
                      <a:endParaRPr lang="ko-KR" altLang="ko-KR" sz="1200" kern="1200" dirty="0" smtClean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2566993144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81568"/>
              </p:ext>
            </p:extLst>
          </p:nvPr>
        </p:nvGraphicFramePr>
        <p:xfrm>
          <a:off x="615563" y="4011728"/>
          <a:ext cx="8280590" cy="235594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89446">
                  <a:extLst>
                    <a:ext uri="{9D8B030D-6E8A-4147-A177-3AD203B41FA5}">
                      <a16:colId xmlns:a16="http://schemas.microsoft.com/office/drawing/2014/main" val="551296016"/>
                    </a:ext>
                  </a:extLst>
                </a:gridCol>
                <a:gridCol w="1662816">
                  <a:extLst>
                    <a:ext uri="{9D8B030D-6E8A-4147-A177-3AD203B41FA5}">
                      <a16:colId xmlns:a16="http://schemas.microsoft.com/office/drawing/2014/main" val="450754667"/>
                    </a:ext>
                  </a:extLst>
                </a:gridCol>
                <a:gridCol w="802644">
                  <a:extLst>
                    <a:ext uri="{9D8B030D-6E8A-4147-A177-3AD203B41FA5}">
                      <a16:colId xmlns:a16="http://schemas.microsoft.com/office/drawing/2014/main" val="3673796028"/>
                    </a:ext>
                  </a:extLst>
                </a:gridCol>
                <a:gridCol w="3421583">
                  <a:extLst>
                    <a:ext uri="{9D8B030D-6E8A-4147-A177-3AD203B41FA5}">
                      <a16:colId xmlns:a16="http://schemas.microsoft.com/office/drawing/2014/main" val="157793848"/>
                    </a:ext>
                  </a:extLst>
                </a:gridCol>
                <a:gridCol w="1504101">
                  <a:extLst>
                    <a:ext uri="{9D8B030D-6E8A-4147-A177-3AD203B41FA5}">
                      <a16:colId xmlns:a16="http://schemas.microsoft.com/office/drawing/2014/main" val="3922930332"/>
                    </a:ext>
                  </a:extLst>
                </a:gridCol>
              </a:tblGrid>
              <a:tr h="664301"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시스템</a:t>
                      </a:r>
                      <a:endParaRPr lang="en-US" altLang="ko-KR" sz="1200" b="1" kern="100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통합</a:t>
                      </a:r>
                      <a:endParaRPr lang="en-US" altLang="ko-KR" sz="1200" b="1" kern="100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Test</a:t>
                      </a:r>
                      <a:endParaRPr lang="ko-KR" altLang="ko-KR" sz="1200" b="1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제어 성능 </a:t>
                      </a: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Test</a:t>
                      </a:r>
                    </a:p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(H/W, S/W </a:t>
                      </a:r>
                      <a:r>
                        <a:rPr lang="ko-KR" altLang="en-US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통합 </a:t>
                      </a:r>
                      <a:r>
                        <a:rPr lang="en-US" altLang="ko-KR" sz="1200" b="1" kern="1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Times New Roman" panose="02020603050405020304" pitchFamily="18" charset="0"/>
                        </a:rPr>
                        <a:t>Test)</a:t>
                      </a: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200" b="1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제어</a:t>
                      </a:r>
                      <a:endParaRPr lang="ko-KR" sz="1200" b="1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0480" marT="8255" marB="8255" anchor="ctr"/>
                </a:tc>
                <a:tc>
                  <a:txBody>
                    <a:bodyPr/>
                    <a:lstStyle/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제품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Level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에서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Function Check</a:t>
                      </a:r>
                    </a:p>
                    <a:p>
                      <a:pPr marL="171450" lvl="0" indent="-171450" algn="l" defTabSz="4572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Check Procedure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따라 검증 진행</a:t>
                      </a:r>
                      <a:endParaRPr lang="ko-KR" altLang="ko-KR" sz="12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0480" marT="8255" marB="825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2516439187"/>
                  </a:ext>
                </a:extLst>
              </a:tr>
              <a:tr h="2281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Temperature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200" b="1" kern="100" dirty="0" smtClean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(Aging Test)</a:t>
                      </a: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dirty="0" smtClean="0">
                          <a:latin typeface="+mj-ea"/>
                          <a:ea typeface="+mj-ea"/>
                        </a:rPr>
                        <a:t>공통</a:t>
                      </a:r>
                      <a:endParaRPr lang="en-US" altLang="ko-KR" sz="1200" b="1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tc rowSpan="2">
                  <a:txBody>
                    <a:bodyPr/>
                    <a:lstStyle/>
                    <a:p>
                      <a:pPr marL="171450" marR="0" indent="-17145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규격별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Test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진행 중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검증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List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및  </a:t>
                      </a:r>
                      <a:r>
                        <a:rPr lang="en-US" altLang="ko-KR" sz="1200" kern="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Procedure </a:t>
                      </a:r>
                      <a:r>
                        <a:rPr lang="ko-KR" altLang="en-US" sz="1200" kern="100" dirty="0" smtClean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작성</a:t>
                      </a:r>
                      <a:endParaRPr lang="en-US" altLang="ko-KR" sz="1200" kern="100" dirty="0" smtClean="0"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0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00" dirty="0" err="1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팀별</a:t>
                      </a:r>
                      <a:r>
                        <a:rPr lang="ko-KR" altLang="en-US" sz="1200" kern="10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검증 </a:t>
                      </a:r>
                      <a:r>
                        <a:rPr lang="en-US" altLang="ko-KR" sz="1200" kern="10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List </a:t>
                      </a:r>
                      <a:r>
                        <a:rPr lang="ko-KR" altLang="en-US" sz="1200" kern="10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kern="10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Procedure</a:t>
                      </a:r>
                      <a:r>
                        <a:rPr lang="en-US" altLang="ko-KR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검토 및 협의</a:t>
                      </a:r>
                      <a:endParaRPr lang="en-US" altLang="ko-KR" sz="1200" kern="100" baseline="0" dirty="0" smtClean="0"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성능 평가 지표 수립</a:t>
                      </a:r>
                      <a:endParaRPr lang="en-US" altLang="ko-KR" sz="1200" kern="100" baseline="0" dirty="0" smtClean="0"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개발부서 및 품질보증 팀</a:t>
                      </a:r>
                      <a:r>
                        <a:rPr lang="en-US" altLang="ko-KR" sz="1200" kern="100" baseline="0" dirty="0" smtClean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0480" marT="8255" marB="825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100" dirty="0" smtClean="0">
                          <a:latin typeface="+mj-ea"/>
                          <a:ea typeface="+mj-ea"/>
                        </a:rPr>
                        <a:t>외부인증기관 협업 필요 함</a:t>
                      </a:r>
                      <a:r>
                        <a:rPr lang="en-US" altLang="ko-KR" sz="1100" dirty="0" smtClean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788518347"/>
                  </a:ext>
                </a:extLst>
              </a:tr>
              <a:tr h="1056930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ko-KR" altLang="ko-KR" sz="1200" b="1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sz="12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1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tc vMerge="1">
                  <a:txBody>
                    <a:bodyPr/>
                    <a:lstStyle/>
                    <a:p>
                      <a:pPr marL="171450" marR="0" indent="-171450" algn="l" defTabSz="4572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ko-KR" sz="120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100" dirty="0" smtClean="0">
                          <a:latin typeface="+mj-ea"/>
                          <a:ea typeface="+mj-ea"/>
                        </a:rPr>
                        <a:t>온도 </a:t>
                      </a:r>
                      <a:r>
                        <a:rPr lang="ko-KR" altLang="en-US" sz="1100" dirty="0" err="1" smtClean="0">
                          <a:latin typeface="+mj-ea"/>
                          <a:ea typeface="+mj-ea"/>
                        </a:rPr>
                        <a:t>챔버</a:t>
                      </a:r>
                      <a:r>
                        <a:rPr lang="ko-KR" altLang="en-US" sz="1100" dirty="0" smtClean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100" dirty="0" smtClean="0">
                          <a:latin typeface="+mj-ea"/>
                          <a:ea typeface="+mj-ea"/>
                        </a:rPr>
                        <a:t>Test</a:t>
                      </a:r>
                      <a:r>
                        <a:rPr lang="ko-KR" altLang="en-US" sz="1100" dirty="0" smtClean="0">
                          <a:latin typeface="+mj-ea"/>
                          <a:ea typeface="+mj-ea"/>
                        </a:rPr>
                        <a:t>는 </a:t>
                      </a:r>
                      <a:r>
                        <a:rPr lang="en-US" altLang="ko-KR" sz="1100" dirty="0" smtClean="0">
                          <a:latin typeface="+mj-ea"/>
                          <a:ea typeface="+mj-ea"/>
                        </a:rPr>
                        <a:t>Module</a:t>
                      </a:r>
                      <a:r>
                        <a:rPr lang="en-US" altLang="ko-KR" sz="1100" baseline="0" dirty="0" smtClean="0">
                          <a:latin typeface="+mj-ea"/>
                          <a:ea typeface="+mj-ea"/>
                        </a:rPr>
                        <a:t> Test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100" baseline="0" dirty="0" smtClean="0">
                          <a:latin typeface="+mj-ea"/>
                          <a:ea typeface="+mj-ea"/>
                        </a:rPr>
                        <a:t>Aging Room </a:t>
                      </a:r>
                      <a:r>
                        <a:rPr lang="ko-KR" altLang="en-US" sz="1100" baseline="0" dirty="0" smtClean="0">
                          <a:latin typeface="+mj-ea"/>
                          <a:ea typeface="+mj-ea"/>
                        </a:rPr>
                        <a:t>모션 </a:t>
                      </a:r>
                      <a:r>
                        <a:rPr lang="en-US" altLang="ko-KR" sz="1100" baseline="0" dirty="0" smtClean="0">
                          <a:latin typeface="+mj-ea"/>
                          <a:ea typeface="+mj-ea"/>
                        </a:rPr>
                        <a:t>Test(24H)</a:t>
                      </a:r>
                      <a:endParaRPr lang="en-US" altLang="ko-KR" sz="1100" dirty="0" smtClean="0">
                        <a:latin typeface="+mj-ea"/>
                        <a:ea typeface="+mj-ea"/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41605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480164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개발 품질 관리 계획</a:t>
            </a:r>
          </a:p>
        </p:txBody>
      </p:sp>
      <p:grpSp>
        <p:nvGrpSpPr>
          <p:cNvPr id="79" name="그룹 78"/>
          <p:cNvGrpSpPr/>
          <p:nvPr/>
        </p:nvGrpSpPr>
        <p:grpSpPr>
          <a:xfrm>
            <a:off x="2985125" y="1446619"/>
            <a:ext cx="6476647" cy="4957357"/>
            <a:chOff x="1619603" y="1452968"/>
            <a:chExt cx="5486400" cy="4410075"/>
          </a:xfrm>
        </p:grpSpPr>
        <p:sp>
          <p:nvSpPr>
            <p:cNvPr id="4" name="AutoShape 84"/>
            <p:cNvSpPr>
              <a:spLocks noChangeArrowheads="1"/>
            </p:cNvSpPr>
            <p:nvPr/>
          </p:nvSpPr>
          <p:spPr bwMode="auto">
            <a:xfrm>
              <a:off x="4362803" y="1452968"/>
              <a:ext cx="2743200" cy="4410075"/>
            </a:xfrm>
            <a:prstGeom prst="roundRect">
              <a:avLst>
                <a:gd name="adj" fmla="val 5208"/>
              </a:avLst>
            </a:prstGeom>
            <a:gradFill rotWithShape="0">
              <a:gsLst>
                <a:gs pos="0">
                  <a:schemeClr val="hlink">
                    <a:gamma/>
                    <a:tint val="3922"/>
                    <a:invGamma/>
                  </a:schemeClr>
                </a:gs>
                <a:gs pos="100000">
                  <a:schemeClr val="hlink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" name="AutoShape 85"/>
            <p:cNvSpPr>
              <a:spLocks noChangeArrowheads="1"/>
            </p:cNvSpPr>
            <p:nvPr/>
          </p:nvSpPr>
          <p:spPr bwMode="auto">
            <a:xfrm>
              <a:off x="1619603" y="1452968"/>
              <a:ext cx="2743200" cy="4410075"/>
            </a:xfrm>
            <a:prstGeom prst="roundRect">
              <a:avLst>
                <a:gd name="adj" fmla="val 6597"/>
              </a:avLst>
            </a:prstGeom>
            <a:gradFill rotWithShape="0">
              <a:gsLst>
                <a:gs pos="0">
                  <a:srgbClr val="BDDEFF"/>
                </a:gs>
                <a:gs pos="100000">
                  <a:srgbClr val="BDDEFF">
                    <a:gamma/>
                    <a:tint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5537553" y="1522825"/>
              <a:ext cx="1450975" cy="363538"/>
              <a:chOff x="2659" y="2861"/>
              <a:chExt cx="1086" cy="229"/>
            </a:xfrm>
          </p:grpSpPr>
          <p:sp>
            <p:nvSpPr>
              <p:cNvPr id="7" name="AutoShape 6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8" name="AutoShape 7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9" name="Group 11"/>
            <p:cNvGrpSpPr>
              <a:grpSpLocks/>
            </p:cNvGrpSpPr>
            <p:nvPr/>
          </p:nvGrpSpPr>
          <p:grpSpPr bwMode="auto">
            <a:xfrm>
              <a:off x="3507141" y="5524906"/>
              <a:ext cx="1404937" cy="328612"/>
              <a:chOff x="663" y="2243"/>
              <a:chExt cx="1089" cy="196"/>
            </a:xfrm>
          </p:grpSpPr>
          <p:sp>
            <p:nvSpPr>
              <p:cNvPr id="10" name="AutoShape 12"/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1" name="AutoShape 13"/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3507141" y="3923118"/>
              <a:ext cx="1404937" cy="328613"/>
              <a:chOff x="663" y="2243"/>
              <a:chExt cx="1089" cy="196"/>
            </a:xfrm>
          </p:grpSpPr>
          <p:sp>
            <p:nvSpPr>
              <p:cNvPr id="13" name="AutoShape 15"/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4" name="AutoShape 16"/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Group 17"/>
            <p:cNvGrpSpPr>
              <a:grpSpLocks/>
            </p:cNvGrpSpPr>
            <p:nvPr/>
          </p:nvGrpSpPr>
          <p:grpSpPr bwMode="auto">
            <a:xfrm>
              <a:off x="3362678" y="2445156"/>
              <a:ext cx="1625600" cy="484187"/>
              <a:chOff x="663" y="2243"/>
              <a:chExt cx="1089" cy="196"/>
            </a:xfrm>
          </p:grpSpPr>
          <p:sp>
            <p:nvSpPr>
              <p:cNvPr id="16" name="AutoShape 18"/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7" name="AutoShape 19"/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3961166" y="1941918"/>
              <a:ext cx="1597025" cy="485775"/>
              <a:chOff x="556" y="4195"/>
              <a:chExt cx="876" cy="320"/>
            </a:xfrm>
          </p:grpSpPr>
          <p:sp>
            <p:nvSpPr>
              <p:cNvPr id="19" name="AutoShape 21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20" name="AutoShape 22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2680053" y="1953031"/>
              <a:ext cx="798513" cy="485775"/>
              <a:chOff x="556" y="4195"/>
              <a:chExt cx="876" cy="320"/>
            </a:xfrm>
          </p:grpSpPr>
          <p:sp>
            <p:nvSpPr>
              <p:cNvPr id="22" name="AutoShape 24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23" name="AutoShape 25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24" name="Group 26"/>
            <p:cNvGrpSpPr>
              <a:grpSpLocks/>
            </p:cNvGrpSpPr>
            <p:nvPr/>
          </p:nvGrpSpPr>
          <p:grpSpPr bwMode="auto">
            <a:xfrm>
              <a:off x="3265841" y="3545293"/>
              <a:ext cx="798512" cy="290513"/>
              <a:chOff x="556" y="4195"/>
              <a:chExt cx="876" cy="320"/>
            </a:xfrm>
          </p:grpSpPr>
          <p:sp>
            <p:nvSpPr>
              <p:cNvPr id="25" name="AutoShape 27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26" name="AutoShape 28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27" name="Group 29"/>
            <p:cNvGrpSpPr>
              <a:grpSpLocks/>
            </p:cNvGrpSpPr>
            <p:nvPr/>
          </p:nvGrpSpPr>
          <p:grpSpPr bwMode="auto">
            <a:xfrm>
              <a:off x="4097691" y="3545293"/>
              <a:ext cx="1106487" cy="290513"/>
              <a:chOff x="556" y="4195"/>
              <a:chExt cx="876" cy="320"/>
            </a:xfrm>
          </p:grpSpPr>
          <p:sp>
            <p:nvSpPr>
              <p:cNvPr id="28" name="AutoShape 30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29" name="AutoShape 31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30" name="Group 32"/>
            <p:cNvGrpSpPr>
              <a:grpSpLocks/>
            </p:cNvGrpSpPr>
            <p:nvPr/>
          </p:nvGrpSpPr>
          <p:grpSpPr bwMode="auto">
            <a:xfrm>
              <a:off x="3769078" y="4572406"/>
              <a:ext cx="798513" cy="290512"/>
              <a:chOff x="556" y="4195"/>
              <a:chExt cx="876" cy="320"/>
            </a:xfrm>
          </p:grpSpPr>
          <p:sp>
            <p:nvSpPr>
              <p:cNvPr id="31" name="AutoShape 33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32" name="AutoShape 34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33" name="Group 35"/>
            <p:cNvGrpSpPr>
              <a:grpSpLocks/>
            </p:cNvGrpSpPr>
            <p:nvPr/>
          </p:nvGrpSpPr>
          <p:grpSpPr bwMode="auto">
            <a:xfrm>
              <a:off x="3778603" y="4899431"/>
              <a:ext cx="798513" cy="436562"/>
              <a:chOff x="556" y="4195"/>
              <a:chExt cx="876" cy="320"/>
            </a:xfrm>
          </p:grpSpPr>
          <p:sp>
            <p:nvSpPr>
              <p:cNvPr id="34" name="AutoShape 36"/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35" name="AutoShape 37"/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36" name="Line 46"/>
            <p:cNvSpPr>
              <a:spLocks noChangeShapeType="1"/>
            </p:cNvSpPr>
            <p:nvPr/>
          </p:nvSpPr>
          <p:spPr bwMode="auto">
            <a:xfrm flipH="1">
              <a:off x="4507266" y="1875243"/>
              <a:ext cx="1727200" cy="3681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7" name="Line 47"/>
            <p:cNvSpPr>
              <a:spLocks noChangeShapeType="1"/>
            </p:cNvSpPr>
            <p:nvPr/>
          </p:nvSpPr>
          <p:spPr bwMode="auto">
            <a:xfrm>
              <a:off x="2183166" y="1895881"/>
              <a:ext cx="1727200" cy="368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8" name="AutoShape 48"/>
            <p:cNvSpPr>
              <a:spLocks noChangeArrowheads="1"/>
            </p:cNvSpPr>
            <p:nvPr/>
          </p:nvSpPr>
          <p:spPr bwMode="auto">
            <a:xfrm>
              <a:off x="2732441" y="1980018"/>
              <a:ext cx="706437" cy="41751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9" name="Text Box 53"/>
            <p:cNvSpPr txBox="1">
              <a:spLocks noChangeArrowheads="1"/>
            </p:cNvSpPr>
            <p:nvPr/>
          </p:nvSpPr>
          <p:spPr bwMode="auto">
            <a:xfrm>
              <a:off x="3732807" y="4593043"/>
              <a:ext cx="915504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단위 모듈검토</a:t>
              </a:r>
              <a:endParaRPr lang="ko-KR" altLang="en-US" sz="1100" b="1" dirty="0">
                <a:latin typeface="+mj-ea"/>
                <a:ea typeface="+mj-ea"/>
              </a:endParaRPr>
            </a:p>
          </p:txBody>
        </p:sp>
        <p:sp>
          <p:nvSpPr>
            <p:cNvPr id="40" name="Text Box 54"/>
            <p:cNvSpPr txBox="1">
              <a:spLocks noChangeArrowheads="1"/>
            </p:cNvSpPr>
            <p:nvPr/>
          </p:nvSpPr>
          <p:spPr bwMode="auto">
            <a:xfrm>
              <a:off x="3845158" y="4908956"/>
              <a:ext cx="676512" cy="383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>
                  <a:latin typeface="+mj-ea"/>
                  <a:ea typeface="+mj-ea"/>
                </a:rPr>
                <a:t>단위 시험</a:t>
              </a:r>
            </a:p>
            <a:p>
              <a:pPr algn="ctr"/>
              <a:r>
                <a:rPr lang="ko-KR" altLang="en-US" sz="1100" b="1">
                  <a:latin typeface="+mj-ea"/>
                  <a:ea typeface="+mj-ea"/>
                </a:rPr>
                <a:t>검토</a:t>
              </a:r>
            </a:p>
          </p:txBody>
        </p:sp>
        <p:sp>
          <p:nvSpPr>
            <p:cNvPr id="41" name="Text Box 55"/>
            <p:cNvSpPr txBox="1">
              <a:spLocks noChangeArrowheads="1"/>
            </p:cNvSpPr>
            <p:nvPr/>
          </p:nvSpPr>
          <p:spPr bwMode="auto">
            <a:xfrm>
              <a:off x="3675889" y="5547131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>
                  <a:latin typeface="+mj-ea"/>
                  <a:ea typeface="+mj-ea"/>
                </a:rPr>
                <a:t>단위 시험 계획</a:t>
              </a:r>
            </a:p>
          </p:txBody>
        </p:sp>
        <p:sp>
          <p:nvSpPr>
            <p:cNvPr id="42" name="Text Box 56"/>
            <p:cNvSpPr txBox="1">
              <a:spLocks noChangeArrowheads="1"/>
            </p:cNvSpPr>
            <p:nvPr/>
          </p:nvSpPr>
          <p:spPr bwMode="auto">
            <a:xfrm>
              <a:off x="3650016" y="3950106"/>
              <a:ext cx="1098550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통합 시험 계획</a:t>
              </a:r>
            </a:p>
          </p:txBody>
        </p:sp>
        <p:sp>
          <p:nvSpPr>
            <p:cNvPr id="43" name="Text Box 57"/>
            <p:cNvSpPr txBox="1">
              <a:spLocks noChangeArrowheads="1"/>
            </p:cNvSpPr>
            <p:nvPr/>
          </p:nvSpPr>
          <p:spPr bwMode="auto">
            <a:xfrm>
              <a:off x="2734028" y="2082724"/>
              <a:ext cx="677870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분석검토</a:t>
              </a:r>
              <a:endParaRPr lang="ko-KR" altLang="en-US" sz="1050" b="1" dirty="0">
                <a:latin typeface="+mj-ea"/>
                <a:ea typeface="+mj-ea"/>
              </a:endParaRPr>
            </a:p>
          </p:txBody>
        </p:sp>
        <p:sp>
          <p:nvSpPr>
            <p:cNvPr id="44" name="Text Box 58"/>
            <p:cNvSpPr txBox="1">
              <a:spLocks noChangeArrowheads="1"/>
            </p:cNvSpPr>
            <p:nvPr/>
          </p:nvSpPr>
          <p:spPr bwMode="auto">
            <a:xfrm>
              <a:off x="3980216" y="2045521"/>
              <a:ext cx="1603375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ko-KR" sz="1200" b="1" dirty="0">
                  <a:latin typeface="+mj-ea"/>
                  <a:ea typeface="+mj-ea"/>
                </a:rPr>
                <a:t>Alpha Test</a:t>
              </a:r>
              <a:r>
                <a:rPr lang="ko-KR" altLang="en-US" sz="1200" b="1" dirty="0">
                  <a:latin typeface="+mj-ea"/>
                  <a:ea typeface="+mj-ea"/>
                </a:rPr>
                <a:t> </a:t>
              </a:r>
              <a:r>
                <a:rPr lang="ko-KR" altLang="en-US" sz="1200" b="1" dirty="0">
                  <a:latin typeface="+mj-ea"/>
                  <a:ea typeface="+mj-ea"/>
                </a:rPr>
                <a:t>검토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3316738" y="3548918"/>
              <a:ext cx="676512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100" b="1">
                  <a:latin typeface="+mj-ea"/>
                  <a:ea typeface="+mj-ea"/>
                </a:rPr>
                <a:t>설계 검토</a:t>
              </a:r>
            </a:p>
          </p:txBody>
        </p:sp>
        <p:sp>
          <p:nvSpPr>
            <p:cNvPr id="46" name="Text Box 60"/>
            <p:cNvSpPr txBox="1">
              <a:spLocks noChangeArrowheads="1"/>
            </p:cNvSpPr>
            <p:nvPr/>
          </p:nvSpPr>
          <p:spPr bwMode="auto">
            <a:xfrm>
              <a:off x="4104137" y="3558443"/>
              <a:ext cx="957600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100" b="1" dirty="0">
                  <a:latin typeface="+mj-ea"/>
                  <a:ea typeface="+mj-ea"/>
                </a:rPr>
                <a:t>통합 시험 검토</a:t>
              </a:r>
            </a:p>
          </p:txBody>
        </p:sp>
        <p:sp>
          <p:nvSpPr>
            <p:cNvPr id="47" name="Line 61"/>
            <p:cNvSpPr>
              <a:spLocks noChangeShapeType="1"/>
            </p:cNvSpPr>
            <p:nvPr/>
          </p:nvSpPr>
          <p:spPr bwMode="auto">
            <a:xfrm>
              <a:off x="4537428" y="5075643"/>
              <a:ext cx="1952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48" name="Line 62"/>
            <p:cNvSpPr>
              <a:spLocks noChangeShapeType="1"/>
            </p:cNvSpPr>
            <p:nvPr/>
          </p:nvSpPr>
          <p:spPr bwMode="auto">
            <a:xfrm>
              <a:off x="3516666" y="4742268"/>
              <a:ext cx="314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49" name="Line 63"/>
            <p:cNvSpPr>
              <a:spLocks noChangeShapeType="1"/>
            </p:cNvSpPr>
            <p:nvPr/>
          </p:nvSpPr>
          <p:spPr bwMode="auto">
            <a:xfrm>
              <a:off x="3202341" y="4072343"/>
              <a:ext cx="419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0" name="Line 64"/>
            <p:cNvSpPr>
              <a:spLocks noChangeShapeType="1"/>
            </p:cNvSpPr>
            <p:nvPr/>
          </p:nvSpPr>
          <p:spPr bwMode="auto">
            <a:xfrm>
              <a:off x="4753328" y="407234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1" name="Line 65"/>
            <p:cNvSpPr>
              <a:spLocks noChangeShapeType="1"/>
            </p:cNvSpPr>
            <p:nvPr/>
          </p:nvSpPr>
          <p:spPr bwMode="auto">
            <a:xfrm>
              <a:off x="2565753" y="2668993"/>
              <a:ext cx="8620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2" name="Line 66"/>
            <p:cNvSpPr>
              <a:spLocks noChangeShapeType="1"/>
            </p:cNvSpPr>
            <p:nvPr/>
          </p:nvSpPr>
          <p:spPr bwMode="auto">
            <a:xfrm flipV="1">
              <a:off x="5000978" y="2649943"/>
              <a:ext cx="869950" cy="3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3" name="Line 67"/>
            <p:cNvSpPr>
              <a:spLocks noChangeShapeType="1"/>
            </p:cNvSpPr>
            <p:nvPr/>
          </p:nvSpPr>
          <p:spPr bwMode="auto">
            <a:xfrm>
              <a:off x="2997553" y="3662768"/>
              <a:ext cx="312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4" name="Line 68"/>
            <p:cNvSpPr>
              <a:spLocks noChangeShapeType="1"/>
            </p:cNvSpPr>
            <p:nvPr/>
          </p:nvSpPr>
          <p:spPr bwMode="auto">
            <a:xfrm>
              <a:off x="5194653" y="3653243"/>
              <a:ext cx="2047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5" name="Line 69"/>
            <p:cNvSpPr>
              <a:spLocks noChangeShapeType="1"/>
            </p:cNvSpPr>
            <p:nvPr/>
          </p:nvSpPr>
          <p:spPr bwMode="auto">
            <a:xfrm>
              <a:off x="2340328" y="2178456"/>
              <a:ext cx="3921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>
              <a:off x="5558191" y="2146706"/>
              <a:ext cx="549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57" name="Text Box 71"/>
            <p:cNvSpPr txBox="1">
              <a:spLocks noChangeArrowheads="1"/>
            </p:cNvSpPr>
            <p:nvPr/>
          </p:nvSpPr>
          <p:spPr bwMode="auto">
            <a:xfrm>
              <a:off x="3478807" y="2548760"/>
              <a:ext cx="1411288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시스템 </a:t>
              </a:r>
              <a:r>
                <a:rPr lang="ko-KR" altLang="en-US" sz="1200" b="1" dirty="0">
                  <a:latin typeface="+mj-ea"/>
                  <a:ea typeface="+mj-ea"/>
                </a:rPr>
                <a:t>시험 계획</a:t>
              </a:r>
            </a:p>
          </p:txBody>
        </p:sp>
        <p:sp>
          <p:nvSpPr>
            <p:cNvPr id="58" name="Text Box 72"/>
            <p:cNvSpPr txBox="1">
              <a:spLocks noChangeArrowheads="1"/>
            </p:cNvSpPr>
            <p:nvPr/>
          </p:nvSpPr>
          <p:spPr bwMode="auto">
            <a:xfrm>
              <a:off x="5483578" y="1568856"/>
              <a:ext cx="1552575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ko-KR" sz="1200" b="1" dirty="0">
                  <a:latin typeface="+mj-ea"/>
                  <a:ea typeface="+mj-ea"/>
                </a:rPr>
                <a:t>Alpha Test</a:t>
              </a:r>
              <a:r>
                <a:rPr lang="ko-KR" altLang="en-US" sz="1200" b="1" dirty="0">
                  <a:latin typeface="+mj-ea"/>
                  <a:ea typeface="+mj-ea"/>
                </a:rPr>
                <a:t> </a:t>
              </a:r>
              <a:r>
                <a:rPr lang="ko-KR" altLang="en-US" sz="1200" b="1" dirty="0">
                  <a:latin typeface="+mj-ea"/>
                  <a:ea typeface="+mj-ea"/>
                </a:rPr>
                <a:t>실행</a:t>
              </a:r>
            </a:p>
          </p:txBody>
        </p:sp>
        <p:grpSp>
          <p:nvGrpSpPr>
            <p:cNvPr id="59" name="Group 74"/>
            <p:cNvGrpSpPr>
              <a:grpSpLocks/>
            </p:cNvGrpSpPr>
            <p:nvPr/>
          </p:nvGrpSpPr>
          <p:grpSpPr bwMode="auto">
            <a:xfrm>
              <a:off x="5132741" y="3054762"/>
              <a:ext cx="1296987" cy="363538"/>
              <a:chOff x="2659" y="2861"/>
              <a:chExt cx="1086" cy="229"/>
            </a:xfrm>
          </p:grpSpPr>
          <p:sp>
            <p:nvSpPr>
              <p:cNvPr id="60" name="AutoShape 75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1" name="AutoShape 76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62" name="Text Box 77"/>
            <p:cNvSpPr txBox="1">
              <a:spLocks noChangeArrowheads="1"/>
            </p:cNvSpPr>
            <p:nvPr/>
          </p:nvSpPr>
          <p:spPr bwMode="auto">
            <a:xfrm>
              <a:off x="5274028" y="3102381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통합 시험 실행</a:t>
              </a:r>
            </a:p>
          </p:txBody>
        </p:sp>
        <p:grpSp>
          <p:nvGrpSpPr>
            <p:cNvPr id="63" name="Group 78"/>
            <p:cNvGrpSpPr>
              <a:grpSpLocks/>
            </p:cNvGrpSpPr>
            <p:nvPr/>
          </p:nvGrpSpPr>
          <p:grpSpPr bwMode="auto">
            <a:xfrm>
              <a:off x="4562828" y="4277137"/>
              <a:ext cx="1296988" cy="363538"/>
              <a:chOff x="2659" y="2861"/>
              <a:chExt cx="1086" cy="229"/>
            </a:xfrm>
          </p:grpSpPr>
          <p:sp>
            <p:nvSpPr>
              <p:cNvPr id="64" name="AutoShape 79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5" name="AutoShape 80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66" name="Text Box 81"/>
            <p:cNvSpPr txBox="1">
              <a:spLocks noChangeArrowheads="1"/>
            </p:cNvSpPr>
            <p:nvPr/>
          </p:nvSpPr>
          <p:spPr bwMode="auto">
            <a:xfrm>
              <a:off x="4691416" y="4323168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>
                  <a:latin typeface="+mj-ea"/>
                  <a:ea typeface="+mj-ea"/>
                </a:rPr>
                <a:t>단위 시험 실행</a:t>
              </a:r>
            </a:p>
          </p:txBody>
        </p:sp>
        <p:grpSp>
          <p:nvGrpSpPr>
            <p:cNvPr id="67" name="Group 86"/>
            <p:cNvGrpSpPr>
              <a:grpSpLocks/>
            </p:cNvGrpSpPr>
            <p:nvPr/>
          </p:nvGrpSpPr>
          <p:grpSpPr bwMode="auto">
            <a:xfrm>
              <a:off x="1727553" y="1513300"/>
              <a:ext cx="758825" cy="363538"/>
              <a:chOff x="2659" y="2861"/>
              <a:chExt cx="1086" cy="229"/>
            </a:xfrm>
          </p:grpSpPr>
          <p:sp>
            <p:nvSpPr>
              <p:cNvPr id="68" name="AutoShape 87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9" name="AutoShape 88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70" name="Group 89"/>
            <p:cNvGrpSpPr>
              <a:grpSpLocks/>
            </p:cNvGrpSpPr>
            <p:nvPr/>
          </p:nvGrpSpPr>
          <p:grpSpPr bwMode="auto">
            <a:xfrm>
              <a:off x="2160941" y="3130962"/>
              <a:ext cx="1011237" cy="363538"/>
              <a:chOff x="2659" y="2861"/>
              <a:chExt cx="1086" cy="229"/>
            </a:xfrm>
          </p:grpSpPr>
          <p:sp>
            <p:nvSpPr>
              <p:cNvPr id="71" name="AutoShape 90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2" name="AutoShape 91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73" name="Group 93"/>
            <p:cNvGrpSpPr>
              <a:grpSpLocks/>
            </p:cNvGrpSpPr>
            <p:nvPr/>
          </p:nvGrpSpPr>
          <p:grpSpPr bwMode="auto">
            <a:xfrm>
              <a:off x="2753078" y="4296187"/>
              <a:ext cx="1039813" cy="363538"/>
              <a:chOff x="2659" y="2861"/>
              <a:chExt cx="1086" cy="229"/>
            </a:xfrm>
          </p:grpSpPr>
          <p:sp>
            <p:nvSpPr>
              <p:cNvPr id="74" name="AutoShape 94"/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5" name="AutoShape 95"/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76" name="Text Box 96"/>
            <p:cNvSpPr txBox="1">
              <a:spLocks noChangeArrowheads="1"/>
            </p:cNvSpPr>
            <p:nvPr/>
          </p:nvSpPr>
          <p:spPr bwMode="auto">
            <a:xfrm>
              <a:off x="2986441" y="4342218"/>
              <a:ext cx="509489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>
                  <a:latin typeface="+mj-ea"/>
                  <a:ea typeface="+mj-ea"/>
                </a:rPr>
                <a:t>개  발</a:t>
              </a:r>
            </a:p>
          </p:txBody>
        </p:sp>
        <p:sp>
          <p:nvSpPr>
            <p:cNvPr id="77" name="Text Box 97"/>
            <p:cNvSpPr txBox="1">
              <a:spLocks noChangeArrowheads="1"/>
            </p:cNvSpPr>
            <p:nvPr/>
          </p:nvSpPr>
          <p:spPr bwMode="auto">
            <a:xfrm>
              <a:off x="2360917" y="3197631"/>
              <a:ext cx="6018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설    계</a:t>
              </a:r>
            </a:p>
          </p:txBody>
        </p:sp>
        <p:sp>
          <p:nvSpPr>
            <p:cNvPr id="78" name="Text Box 98"/>
            <p:cNvSpPr txBox="1">
              <a:spLocks noChangeArrowheads="1"/>
            </p:cNvSpPr>
            <p:nvPr/>
          </p:nvSpPr>
          <p:spPr bwMode="auto">
            <a:xfrm>
              <a:off x="1825978" y="1568856"/>
              <a:ext cx="6018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분    석</a:t>
              </a:r>
            </a:p>
          </p:txBody>
        </p:sp>
      </p:grpSp>
      <p:sp>
        <p:nvSpPr>
          <p:cNvPr id="81" name="직사각형 80"/>
          <p:cNvSpPr>
            <a:spLocks noChangeArrowheads="1"/>
          </p:cNvSpPr>
          <p:nvPr/>
        </p:nvSpPr>
        <p:spPr bwMode="auto">
          <a:xfrm>
            <a:off x="1847528" y="932082"/>
            <a:ext cx="4896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시스템 시험 계획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16639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en-US" altLang="ko-KR" dirty="0" smtClean="0"/>
              <a:t>. </a:t>
            </a:r>
            <a:r>
              <a:rPr lang="ko-KR" altLang="en-US" smtClean="0"/>
              <a:t>형상관리 계획</a:t>
            </a:r>
            <a:endParaRPr lang="ko-KR" altLang="en-US" dirty="0"/>
          </a:p>
        </p:txBody>
      </p:sp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1847528" y="932082"/>
            <a:ext cx="48965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kumimoji="0" lang="ko-KR" altLang="en-US" sz="1800" b="1">
                <a:solidFill>
                  <a:srgbClr val="222268"/>
                </a:solidFill>
                <a:latin typeface="+mj-ea"/>
                <a:ea typeface="+mj-ea"/>
              </a:rPr>
              <a:t>형상관리</a:t>
            </a:r>
            <a:r>
              <a:rPr kumimoji="0" lang="en-US" altLang="ko-KR" sz="1800" b="1" dirty="0">
                <a:solidFill>
                  <a:srgbClr val="222268"/>
                </a:solidFill>
                <a:latin typeface="+mj-ea"/>
                <a:ea typeface="+mj-ea"/>
              </a:rPr>
              <a:t>(Configuration Management)?</a:t>
            </a:r>
            <a:endParaRPr kumimoji="0" lang="en-US" altLang="ko-KR" sz="1800" b="1" dirty="0">
              <a:solidFill>
                <a:srgbClr val="222268"/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35692" y="1320069"/>
            <a:ext cx="85121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형상관리는 품목의 기능적 또는 물리적 특성을 식별하여 문서화하고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그 특성에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대한 변경을 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통제하며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도면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․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규격서 등 형상을 식별할 수 있는 문서와 그 제품의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합치여부를 점검하고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형상의 변경을 승인한 경우 그에 따른 이행현황 등의 필요한 정보를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기록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유지하는 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활동으로서 형상식별 및 문서화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형상통제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형상확인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형상자료유지로 </a:t>
            </a:r>
            <a:r>
              <a:rPr lang="ko-KR" altLang="en-US" sz="1600" b="1">
                <a:solidFill>
                  <a:srgbClr val="FF0000"/>
                </a:solidFill>
                <a:latin typeface="+mj-ea"/>
                <a:ea typeface="+mj-ea"/>
              </a:rPr>
              <a:t>구분 한다</a:t>
            </a:r>
            <a:endParaRPr lang="en-US" altLang="ko-KR" sz="16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ko-KR" sz="16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200000"/>
              </a:lnSpc>
            </a:pPr>
            <a:r>
              <a:rPr lang="ko-KR" altLang="en-US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형상관리 정의 </a:t>
            </a:r>
            <a:r>
              <a:rPr lang="en-US" altLang="ko-KR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: </a:t>
            </a:r>
            <a:r>
              <a:rPr lang="en-US" altLang="ko-KR" sz="1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</a:t>
            </a:r>
            <a:r>
              <a:rPr lang="ko-KR" altLang="en-US" sz="1600" b="1" i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무기체계 소프트웨어 개발 및 관리 지침</a:t>
            </a:r>
            <a:r>
              <a:rPr lang="en-US" altLang="ko-KR" sz="1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 </a:t>
            </a:r>
            <a:r>
              <a:rPr lang="en-US" altLang="ko-KR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 </a:t>
            </a:r>
            <a:r>
              <a:rPr lang="ko-KR" altLang="en-US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방위사업청 </a:t>
            </a:r>
            <a:r>
              <a:rPr lang="en-US" altLang="ko-KR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2012</a:t>
            </a:r>
            <a:r>
              <a:rPr lang="ko-KR" altLang="en-US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년 개정</a:t>
            </a:r>
            <a:r>
              <a:rPr lang="en-US" altLang="ko-KR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”</a:t>
            </a:r>
          </a:p>
        </p:txBody>
      </p:sp>
      <p:sp>
        <p:nvSpPr>
          <p:cNvPr id="7" name="한쪽 모서리가 둥근 사각형 6"/>
          <p:cNvSpPr/>
          <p:nvPr/>
        </p:nvSpPr>
        <p:spPr>
          <a:xfrm>
            <a:off x="2193565" y="5130583"/>
            <a:ext cx="7804870" cy="715833"/>
          </a:xfrm>
          <a:prstGeom prst="round1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개발 단계에서 발생하는 설계 변경 항목에 대한 관리  방법 및 절차 정의 </a:t>
            </a:r>
          </a:p>
        </p:txBody>
      </p:sp>
    </p:spTree>
    <p:extLst>
      <p:ext uri="{BB962C8B-B14F-4D97-AF65-F5344CB8AC3E}">
        <p14:creationId xmlns:p14="http://schemas.microsoft.com/office/powerpoint/2010/main" val="70760394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1027</Words>
  <Application>Microsoft Office PowerPoint</Application>
  <PresentationFormat>와이드스크린</PresentationFormat>
  <Paragraphs>335</Paragraphs>
  <Slides>13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굴림</vt:lpstr>
      <vt:lpstr>맑은 고딕</vt:lpstr>
      <vt:lpstr>Arial</vt:lpstr>
      <vt:lpstr>Helvetica</vt:lpstr>
      <vt:lpstr>Times New Roman</vt:lpstr>
      <vt:lpstr>Verdana</vt:lpstr>
      <vt:lpstr>Wingdings</vt:lpstr>
      <vt:lpstr>Office 테마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 SangRim</dc:creator>
  <cp:lastModifiedBy>Choi SangRim</cp:lastModifiedBy>
  <cp:revision>4</cp:revision>
  <dcterms:created xsi:type="dcterms:W3CDTF">2020-10-07T11:54:44Z</dcterms:created>
  <dcterms:modified xsi:type="dcterms:W3CDTF">2020-10-07T12:22:15Z</dcterms:modified>
</cp:coreProperties>
</file>