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423" r:id="rId2"/>
    <p:sldId id="795" r:id="rId3"/>
    <p:sldId id="812" r:id="rId4"/>
    <p:sldId id="807" r:id="rId5"/>
    <p:sldId id="813" r:id="rId6"/>
    <p:sldId id="805" r:id="rId7"/>
    <p:sldId id="806" r:id="rId8"/>
    <p:sldId id="811" r:id="rId9"/>
    <p:sldId id="814" r:id="rId10"/>
    <p:sldId id="815" r:id="rId11"/>
    <p:sldId id="729" r:id="rId12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1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00CC66"/>
    <a:srgbClr val="FFCCFF"/>
    <a:srgbClr val="6AA8C1"/>
    <a:srgbClr val="FFCCCC"/>
    <a:srgbClr val="F2F2F2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6370" autoAdjust="0"/>
  </p:normalViewPr>
  <p:slideViewPr>
    <p:cSldViewPr snapToGrid="0">
      <p:cViewPr varScale="1">
        <p:scale>
          <a:sx n="115" d="100"/>
          <a:sy n="115" d="100"/>
        </p:scale>
        <p:origin x="1938" y="108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6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243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188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323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04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063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520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671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873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474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701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886075"/>
            <a:ext cx="7772400" cy="2460476"/>
          </a:xfrm>
        </p:spPr>
        <p:txBody>
          <a:bodyPr/>
          <a:lstStyle/>
          <a:p>
            <a:r>
              <a:rPr lang="en-US" altLang="ko-KR" sz="3600" dirty="0"/>
              <a:t>Weekly Progress Report </a:t>
            </a:r>
            <a:r>
              <a:rPr lang="en-US" altLang="ko-KR" sz="3200" b="0" dirty="0"/>
              <a:t>(WPR_2020.07.02)</a:t>
            </a:r>
            <a:r>
              <a:rPr lang="en-US" altLang="ko-KR" sz="3200" dirty="0"/>
              <a:t/>
            </a:r>
            <a:br>
              <a:rPr lang="en-US" altLang="ko-KR" sz="3200" dirty="0"/>
            </a:b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2400" b="0" dirty="0"/>
              <a:t>’20.07.02</a:t>
            </a:r>
            <a:br>
              <a:rPr lang="en-US" altLang="ko-KR" sz="2400" b="0" dirty="0"/>
            </a:br>
            <a:r>
              <a:rPr lang="en-US" altLang="ko-KR" sz="2400" b="0" dirty="0" err="1"/>
              <a:t>Lumir</a:t>
            </a:r>
            <a:endParaRPr lang="ko-KR" altLang="en-US" sz="24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현황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기술 관련</a:t>
            </a:r>
            <a:endParaRPr lang="en-US" altLang="ko-KR" dirty="0"/>
          </a:p>
          <a:p>
            <a:pPr lvl="1"/>
            <a:r>
              <a:rPr lang="ko-KR" altLang="en-US" dirty="0" err="1"/>
              <a:t>루미르</a:t>
            </a:r>
            <a:r>
              <a:rPr lang="ko-KR" altLang="en-US" dirty="0"/>
              <a:t> 작성 문서 총 </a:t>
            </a:r>
            <a:r>
              <a:rPr lang="en-US" altLang="ko-KR" dirty="0"/>
              <a:t>23</a:t>
            </a:r>
            <a:r>
              <a:rPr lang="ko-KR" altLang="en-US" dirty="0"/>
              <a:t>건 중</a:t>
            </a:r>
            <a:endParaRPr lang="en-US" altLang="ko-KR" dirty="0"/>
          </a:p>
          <a:p>
            <a:pPr lvl="2"/>
            <a:r>
              <a:rPr lang="ko-KR" altLang="en-US" dirty="0"/>
              <a:t>완료 </a:t>
            </a:r>
            <a:r>
              <a:rPr lang="en-US" altLang="ko-KR" dirty="0"/>
              <a:t>14</a:t>
            </a:r>
            <a:r>
              <a:rPr lang="ko-KR" altLang="en-US" dirty="0"/>
              <a:t>건 </a:t>
            </a:r>
            <a:endParaRPr lang="en-US" altLang="ko-KR" dirty="0"/>
          </a:p>
          <a:p>
            <a:pPr lvl="2"/>
            <a:r>
              <a:rPr lang="ko-KR" altLang="en-US" dirty="0"/>
              <a:t>업데이트 필요 </a:t>
            </a:r>
            <a:r>
              <a:rPr lang="en-US" altLang="ko-KR" dirty="0"/>
              <a:t>6</a:t>
            </a:r>
            <a:r>
              <a:rPr lang="ko-KR" altLang="en-US" dirty="0"/>
              <a:t>건</a:t>
            </a:r>
            <a:r>
              <a:rPr lang="en-US" altLang="ko-KR" dirty="0"/>
              <a:t>, </a:t>
            </a:r>
            <a:r>
              <a:rPr lang="ko-KR" altLang="en-US" dirty="0" err="1"/>
              <a:t>미작성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건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00FF"/>
                </a:solidFill>
              </a:rPr>
              <a:t>현 </a:t>
            </a:r>
            <a:r>
              <a:rPr lang="en-US" altLang="ko-KR" dirty="0">
                <a:solidFill>
                  <a:srgbClr val="0000FF"/>
                </a:solidFill>
              </a:rPr>
              <a:t>S/W </a:t>
            </a:r>
            <a:r>
              <a:rPr lang="ko-KR" altLang="en-US" dirty="0">
                <a:solidFill>
                  <a:srgbClr val="0000FF"/>
                </a:solidFill>
              </a:rPr>
              <a:t>이슈 완료 후 작성예정 </a:t>
            </a:r>
            <a:r>
              <a:rPr lang="en-US" altLang="ko-KR" dirty="0">
                <a:solidFill>
                  <a:srgbClr val="0000FF"/>
                </a:solidFill>
              </a:rPr>
              <a:t>(TRR </a:t>
            </a:r>
            <a:r>
              <a:rPr lang="ko-KR" altLang="en-US" dirty="0">
                <a:solidFill>
                  <a:srgbClr val="0000FF"/>
                </a:solidFill>
              </a:rPr>
              <a:t>이전까지</a:t>
            </a:r>
            <a:r>
              <a:rPr lang="en-US" altLang="ko-KR" dirty="0">
                <a:solidFill>
                  <a:srgbClr val="0000FF"/>
                </a:solidFill>
              </a:rPr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CAFE77-F5E5-4047-BD56-D34F351F5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22" y="2291460"/>
            <a:ext cx="8115207" cy="41431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7603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</a:rPr>
              <a:t>Contents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r>
              <a:rPr lang="en-US" altLang="ko-KR" dirty="0"/>
              <a:t>SBC EGSE (Traffic Router) </a:t>
            </a:r>
            <a:r>
              <a:rPr lang="ko-KR" altLang="en-US" dirty="0"/>
              <a:t>레벨 시험결과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latin typeface="맑은 고딕" panose="020B0503020000020004" pitchFamily="50" charset="-127"/>
              </a:rPr>
              <a:t>Simple</a:t>
            </a:r>
            <a:r>
              <a:rPr lang="ko-KR" altLang="en-US" dirty="0">
                <a:latin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</a:rPr>
              <a:t>UDP</a:t>
            </a:r>
            <a:r>
              <a:rPr lang="ko-KR" altLang="en-US" dirty="0">
                <a:latin typeface="맑은 고딕" panose="020B0503020000020004" pitchFamily="50" charset="-127"/>
              </a:rPr>
              <a:t> 기반 </a:t>
            </a:r>
            <a:r>
              <a:rPr lang="en-US" altLang="ko-KR" dirty="0">
                <a:latin typeface="맑은 고딕" panose="020B0503020000020004" pitchFamily="50" charset="-127"/>
              </a:rPr>
              <a:t>Downlink</a:t>
            </a:r>
            <a:r>
              <a:rPr lang="ko-KR" altLang="en-US" dirty="0">
                <a:latin typeface="맑은 고딕" panose="020B0503020000020004" pitchFamily="50" charset="-127"/>
              </a:rPr>
              <a:t> 시험결과</a:t>
            </a:r>
            <a:endParaRPr lang="en-US" altLang="ko-KR" dirty="0">
              <a:latin typeface="맑은 고딕" panose="020B0503020000020004" pitchFamily="50" charset="-127"/>
            </a:endParaRPr>
          </a:p>
          <a:p>
            <a:r>
              <a:rPr lang="en-US" altLang="ko-KR" dirty="0">
                <a:latin typeface="맑은 고딕" panose="020B0503020000020004" pitchFamily="50" charset="-127"/>
              </a:rPr>
              <a:t>MRAM</a:t>
            </a:r>
            <a:r>
              <a:rPr lang="ko-KR" altLang="en-US" dirty="0">
                <a:latin typeface="맑은 고딕" panose="020B0503020000020004" pitchFamily="50" charset="-127"/>
              </a:rPr>
              <a:t> 기반 </a:t>
            </a:r>
            <a:r>
              <a:rPr lang="en-US" altLang="ko-KR" dirty="0">
                <a:latin typeface="맑은 고딕" panose="020B0503020000020004" pitchFamily="50" charset="-127"/>
              </a:rPr>
              <a:t>ION-SBC </a:t>
            </a:r>
            <a:r>
              <a:rPr lang="ko-KR" altLang="en-US" dirty="0">
                <a:latin typeface="맑은 고딕" panose="020B0503020000020004" pitchFamily="50" charset="-127"/>
              </a:rPr>
              <a:t>통합 시험결과</a:t>
            </a:r>
            <a:endParaRPr lang="en-US" altLang="ko-KR" dirty="0">
              <a:latin typeface="맑은 고딕" panose="020B0503020000020004" pitchFamily="50" charset="-127"/>
            </a:endParaRPr>
          </a:p>
          <a:p>
            <a:r>
              <a:rPr lang="en-US" altLang="ko-KR" dirty="0">
                <a:latin typeface="맑은 고딕" panose="020B0503020000020004" pitchFamily="50" charset="-127"/>
              </a:rPr>
              <a:t>NAND</a:t>
            </a:r>
            <a:r>
              <a:rPr lang="ko-KR" altLang="en-US" dirty="0">
                <a:latin typeface="맑은 고딕" panose="020B0503020000020004" pitchFamily="50" charset="-127"/>
              </a:rPr>
              <a:t> 기반 </a:t>
            </a:r>
            <a:r>
              <a:rPr lang="en-US" altLang="ko-KR" dirty="0">
                <a:latin typeface="맑은 고딕" panose="020B0503020000020004" pitchFamily="50" charset="-127"/>
              </a:rPr>
              <a:t>ION-SBC </a:t>
            </a:r>
            <a:r>
              <a:rPr lang="ko-KR" altLang="en-US" dirty="0">
                <a:latin typeface="맑은 고딕" panose="020B0503020000020004" pitchFamily="50" charset="-127"/>
              </a:rPr>
              <a:t>통합 시험계획</a:t>
            </a:r>
            <a:endParaRPr lang="en-US" altLang="ko-KR" dirty="0">
              <a:latin typeface="맑은 고딕" panose="020B0503020000020004" pitchFamily="50" charset="-127"/>
            </a:endParaRPr>
          </a:p>
          <a:p>
            <a:r>
              <a:rPr lang="ko-KR" altLang="en-US" dirty="0">
                <a:latin typeface="맑은 고딕" panose="020B0503020000020004" pitchFamily="50" charset="-127"/>
                <a:sym typeface="Wingdings" panose="05000000000000000000" pitchFamily="2" charset="2"/>
              </a:rPr>
              <a:t>환경시험 일정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4880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</a:rPr>
              <a:t>SBC_EGSE </a:t>
            </a:r>
            <a:r>
              <a:rPr lang="ko-KR" altLang="en-US" dirty="0">
                <a:latin typeface="맑은 고딕" panose="020B0503020000020004" pitchFamily="50" charset="-127"/>
              </a:rPr>
              <a:t>레벨 시험결과</a:t>
            </a:r>
            <a:r>
              <a:rPr lang="en-US" altLang="ko-KR" dirty="0">
                <a:latin typeface="맑은 고딕" panose="020B0503020000020004" pitchFamily="50" charset="-127"/>
              </a:rPr>
              <a:t>(1)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5689456" cy="5191424"/>
          </a:xfrm>
        </p:spPr>
        <p:txBody>
          <a:bodyPr/>
          <a:lstStyle/>
          <a:p>
            <a:r>
              <a:rPr lang="ko-KR" altLang="en-US" dirty="0"/>
              <a:t>시험구성도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시험 결과 </a:t>
            </a:r>
            <a:r>
              <a:rPr lang="en-US" altLang="ko-KR" b="1" dirty="0"/>
              <a:t>: </a:t>
            </a:r>
            <a:r>
              <a:rPr lang="en-US" altLang="ko-KR" b="1" dirty="0">
                <a:solidFill>
                  <a:srgbClr val="0000FF"/>
                </a:solidFill>
              </a:rPr>
              <a:t>USRT </a:t>
            </a:r>
            <a:r>
              <a:rPr lang="en-US" altLang="ko-KR" dirty="0">
                <a:solidFill>
                  <a:srgbClr val="0000FF"/>
                </a:solidFill>
              </a:rPr>
              <a:t>Downlink(A</a:t>
            </a:r>
            <a:r>
              <a:rPr lang="en-US" altLang="ko-KR" b="1" dirty="0">
                <a:solidFill>
                  <a:srgbClr val="0000FF"/>
                </a:solidFill>
                <a:sym typeface="Wingdings" panose="05000000000000000000" pitchFamily="2" charset="2"/>
              </a:rPr>
              <a:t>B </a:t>
            </a:r>
            <a:r>
              <a:rPr lang="en-US" altLang="ko-KR" dirty="0">
                <a:solidFill>
                  <a:srgbClr val="0000FF"/>
                </a:solidFill>
                <a:sym typeface="Wingdings" panose="05000000000000000000" pitchFamily="2" charset="2"/>
              </a:rPr>
              <a:t>Path)</a:t>
            </a:r>
            <a:r>
              <a:rPr lang="ko-KR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 </a:t>
            </a:r>
            <a:r>
              <a:rPr lang="ko-KR" altLang="en-US" b="1" dirty="0">
                <a:solidFill>
                  <a:srgbClr val="0000FF"/>
                </a:solidFill>
                <a:sym typeface="Wingdings" panose="05000000000000000000" pitchFamily="2" charset="2"/>
              </a:rPr>
              <a:t>정상 확인</a:t>
            </a:r>
            <a:endParaRPr lang="en-US" altLang="ko-KR" b="1" dirty="0">
              <a:solidFill>
                <a:srgbClr val="0000FF"/>
              </a:solidFill>
            </a:endParaRPr>
          </a:p>
          <a:p>
            <a:pPr lvl="1"/>
            <a:r>
              <a:rPr lang="en-US" altLang="ko-KR" b="1" dirty="0"/>
              <a:t>SBC_EGSE</a:t>
            </a:r>
            <a:r>
              <a:rPr lang="ko-KR" altLang="en-US" b="1" dirty="0"/>
              <a:t>의 </a:t>
            </a:r>
            <a:r>
              <a:rPr lang="en-US" altLang="ko-KR" b="1" dirty="0"/>
              <a:t>USRT</a:t>
            </a:r>
            <a:r>
              <a:rPr lang="ko-KR" altLang="en-US" b="1" dirty="0" err="1"/>
              <a:t>수신단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en-US" altLang="ko-KR" b="1" dirty="0">
                <a:solidFill>
                  <a:srgbClr val="0000FF"/>
                </a:solidFill>
              </a:rPr>
              <a:t>A</a:t>
            </a:r>
            <a:r>
              <a:rPr lang="ko-KR" altLang="en-US" b="1" dirty="0">
                <a:solidFill>
                  <a:srgbClr val="0000FF"/>
                </a:solidFill>
              </a:rPr>
              <a:t>구간</a:t>
            </a:r>
            <a:r>
              <a:rPr lang="en-US" altLang="ko-KR" b="1" dirty="0"/>
              <a:t>)</a:t>
            </a:r>
          </a:p>
          <a:p>
            <a:pPr lvl="2"/>
            <a:r>
              <a:rPr lang="ko-KR" altLang="en-US" dirty="0"/>
              <a:t>수신데이터 정상 확인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수신속도 </a:t>
            </a:r>
            <a:r>
              <a:rPr lang="en-US" altLang="ko-KR" dirty="0"/>
              <a:t>( 00 Mbps)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4CF6CAB-E15F-477D-835C-0BA8B3D3B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489" y="1321192"/>
            <a:ext cx="6231697" cy="1637348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591B16F6-F183-47F5-8E67-81F25E9343C0}"/>
              </a:ext>
            </a:extLst>
          </p:cNvPr>
          <p:cNvSpPr/>
          <p:nvPr/>
        </p:nvSpPr>
        <p:spPr bwMode="auto">
          <a:xfrm>
            <a:off x="4575980" y="1757136"/>
            <a:ext cx="168323" cy="191234"/>
          </a:xfrm>
          <a:prstGeom prst="ellipse">
            <a:avLst/>
          </a:prstGeom>
          <a:solidFill>
            <a:schemeClr val="tx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A</a:t>
            </a: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58A62D-5FB8-41A4-8196-B3FCD20F9DE7}"/>
              </a:ext>
            </a:extLst>
          </p:cNvPr>
          <p:cNvSpPr/>
          <p:nvPr/>
        </p:nvSpPr>
        <p:spPr bwMode="auto">
          <a:xfrm>
            <a:off x="5522841" y="1757136"/>
            <a:ext cx="168323" cy="191234"/>
          </a:xfrm>
          <a:prstGeom prst="ellipse">
            <a:avLst/>
          </a:prstGeom>
          <a:solidFill>
            <a:schemeClr val="tx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B</a:t>
            </a: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pic>
        <p:nvPicPr>
          <p:cNvPr id="2050" name="그림 1">
            <a:extLst>
              <a:ext uri="{FF2B5EF4-FFF2-40B4-BE49-F238E27FC236}">
                <a16:creationId xmlns:a16="http://schemas.microsoft.com/office/drawing/2014/main" id="{300BA17A-F71F-4172-8697-5088227DFF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3" b="10911"/>
          <a:stretch/>
        </p:blipFill>
        <p:spPr bwMode="auto">
          <a:xfrm>
            <a:off x="1402773" y="4471605"/>
            <a:ext cx="2207202" cy="198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그림 1">
            <a:extLst>
              <a:ext uri="{FF2B5EF4-FFF2-40B4-BE49-F238E27FC236}">
                <a16:creationId xmlns:a16="http://schemas.microsoft.com/office/drawing/2014/main" id="{3AADCFED-531E-48EF-8D6D-90AC015209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817" b="7857"/>
          <a:stretch/>
        </p:blipFill>
        <p:spPr bwMode="auto">
          <a:xfrm>
            <a:off x="5842000" y="4490799"/>
            <a:ext cx="1979159" cy="1883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내용 개체 틀 6">
            <a:extLst>
              <a:ext uri="{FF2B5EF4-FFF2-40B4-BE49-F238E27FC236}">
                <a16:creationId xmlns:a16="http://schemas.microsoft.com/office/drawing/2014/main" id="{B8B1C784-42B3-4314-94EB-FFE96D20E322}"/>
              </a:ext>
            </a:extLst>
          </p:cNvPr>
          <p:cNvSpPr txBox="1">
            <a:spLocks/>
          </p:cNvSpPr>
          <p:nvPr/>
        </p:nvSpPr>
        <p:spPr bwMode="auto">
          <a:xfrm>
            <a:off x="4444548" y="981308"/>
            <a:ext cx="4132716" cy="3162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b="1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538163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2pPr>
            <a:lvl3pPr marL="89693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3pPr>
            <a:lvl4pPr marL="1255713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4pPr>
            <a:lvl5pPr marL="161448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SBC_EGSE</a:t>
            </a:r>
            <a:r>
              <a:rPr lang="ko-KR" altLang="en-US" b="1" dirty="0"/>
              <a:t>의 </a:t>
            </a:r>
            <a:r>
              <a:rPr lang="en-US" altLang="ko-KR" b="1" dirty="0"/>
              <a:t>UDP </a:t>
            </a:r>
            <a:r>
              <a:rPr lang="ko-KR" altLang="en-US" b="1" dirty="0" err="1"/>
              <a:t>전송단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en-US" altLang="ko-KR" b="1" dirty="0">
                <a:solidFill>
                  <a:srgbClr val="0000FF"/>
                </a:solidFill>
              </a:rPr>
              <a:t>B</a:t>
            </a:r>
            <a:r>
              <a:rPr lang="ko-KR" altLang="en-US" b="1" dirty="0">
                <a:solidFill>
                  <a:srgbClr val="0000FF"/>
                </a:solidFill>
              </a:rPr>
              <a:t>구간</a:t>
            </a:r>
            <a:r>
              <a:rPr lang="en-US" altLang="ko-KR" b="1" dirty="0"/>
              <a:t>)</a:t>
            </a:r>
          </a:p>
          <a:p>
            <a:pPr lvl="2"/>
            <a:r>
              <a:rPr lang="ko-KR" altLang="en-US" dirty="0"/>
              <a:t>전송데이터 정상 확인</a:t>
            </a:r>
            <a:endParaRPr lang="en-US" altLang="ko-KR" dirty="0"/>
          </a:p>
          <a:p>
            <a:pPr lvl="2"/>
            <a:r>
              <a:rPr lang="ko-KR" altLang="en-US" dirty="0"/>
              <a:t>전송속도 </a:t>
            </a:r>
            <a:r>
              <a:rPr lang="en-US" altLang="ko-KR" dirty="0"/>
              <a:t>( 00 Mbps)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5979E5B-1A8C-4D48-A557-1539454110E6}"/>
              </a:ext>
            </a:extLst>
          </p:cNvPr>
          <p:cNvSpPr/>
          <p:nvPr/>
        </p:nvSpPr>
        <p:spPr bwMode="auto">
          <a:xfrm>
            <a:off x="5522841" y="2227596"/>
            <a:ext cx="168323" cy="191234"/>
          </a:xfrm>
          <a:prstGeom prst="ellipse">
            <a:avLst/>
          </a:prstGeom>
          <a:solidFill>
            <a:schemeClr val="tx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C</a:t>
            </a: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9C39239-5371-4052-859D-2C01EFBFC843}"/>
              </a:ext>
            </a:extLst>
          </p:cNvPr>
          <p:cNvSpPr/>
          <p:nvPr/>
        </p:nvSpPr>
        <p:spPr bwMode="auto">
          <a:xfrm>
            <a:off x="4578322" y="2253937"/>
            <a:ext cx="168323" cy="191234"/>
          </a:xfrm>
          <a:prstGeom prst="ellipse">
            <a:avLst/>
          </a:prstGeom>
          <a:solidFill>
            <a:schemeClr val="tx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D</a:t>
            </a: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4796949-6039-4EEB-B67E-FA5FC3424D03}"/>
              </a:ext>
            </a:extLst>
          </p:cNvPr>
          <p:cNvSpPr/>
          <p:nvPr/>
        </p:nvSpPr>
        <p:spPr bwMode="auto">
          <a:xfrm>
            <a:off x="3577671" y="1646959"/>
            <a:ext cx="2152916" cy="1054677"/>
          </a:xfrm>
          <a:prstGeom prst="round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5407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</a:rPr>
              <a:t>SBC_EGSE </a:t>
            </a:r>
            <a:r>
              <a:rPr lang="ko-KR" altLang="en-US" dirty="0">
                <a:latin typeface="맑은 고딕" panose="020B0503020000020004" pitchFamily="50" charset="-127"/>
              </a:rPr>
              <a:t>레벨 시험결과</a:t>
            </a:r>
            <a:r>
              <a:rPr lang="en-US" altLang="ko-KR" dirty="0">
                <a:latin typeface="맑은 고딕" panose="020B0503020000020004" pitchFamily="50" charset="-127"/>
              </a:rPr>
              <a:t>(2)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5310188" cy="5191424"/>
          </a:xfrm>
        </p:spPr>
        <p:txBody>
          <a:bodyPr/>
          <a:lstStyle/>
          <a:p>
            <a:r>
              <a:rPr lang="ko-KR" altLang="en-US" b="1" dirty="0"/>
              <a:t>시험 결과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0000FF"/>
                </a:solidFill>
              </a:rPr>
              <a:t>TMTC(C</a:t>
            </a:r>
            <a:r>
              <a:rPr lang="en-US" altLang="ko-KR" dirty="0">
                <a:solidFill>
                  <a:srgbClr val="0000FF"/>
                </a:solidFill>
                <a:sym typeface="Wingdings" panose="05000000000000000000" pitchFamily="2" charset="2"/>
              </a:rPr>
              <a:t> D  Path)</a:t>
            </a:r>
            <a:r>
              <a:rPr lang="ko-KR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구간 </a:t>
            </a:r>
            <a:r>
              <a:rPr lang="en-US" altLang="ko-KR" dirty="0">
                <a:solidFill>
                  <a:srgbClr val="0000FF"/>
                </a:solidFill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정상확인</a:t>
            </a:r>
            <a:endParaRPr lang="en-US" altLang="ko-KR" b="1" dirty="0">
              <a:solidFill>
                <a:srgbClr val="0000FF"/>
              </a:solidFill>
            </a:endParaRPr>
          </a:p>
          <a:p>
            <a:pPr lvl="1"/>
            <a:r>
              <a:rPr lang="en-US" altLang="ko-KR" b="1" dirty="0"/>
              <a:t>SBC_EGSE</a:t>
            </a:r>
            <a:r>
              <a:rPr lang="ko-KR" altLang="en-US" b="1" dirty="0"/>
              <a:t>의 </a:t>
            </a:r>
            <a:r>
              <a:rPr lang="en-US" altLang="ko-KR" b="1" dirty="0"/>
              <a:t>UDP </a:t>
            </a:r>
            <a:r>
              <a:rPr lang="ko-KR" altLang="en-US" b="1" dirty="0" err="1"/>
              <a:t>수신단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en-US" altLang="ko-KR" b="1" dirty="0">
                <a:solidFill>
                  <a:srgbClr val="0000FF"/>
                </a:solidFill>
              </a:rPr>
              <a:t>C </a:t>
            </a:r>
            <a:r>
              <a:rPr lang="ko-KR" altLang="en-US" b="1" dirty="0">
                <a:solidFill>
                  <a:srgbClr val="0000FF"/>
                </a:solidFill>
              </a:rPr>
              <a:t>구간</a:t>
            </a:r>
            <a:r>
              <a:rPr lang="en-US" altLang="ko-KR" b="1" dirty="0"/>
              <a:t>)</a:t>
            </a:r>
          </a:p>
          <a:p>
            <a:pPr lvl="2"/>
            <a:r>
              <a:rPr lang="ko-KR" altLang="en-US" dirty="0"/>
              <a:t>수신데이터 정상 확인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수신속도 </a:t>
            </a:r>
            <a:r>
              <a:rPr lang="en-US" altLang="ko-KR" dirty="0"/>
              <a:t>( 00 Mbps)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2050" name="그림 1">
            <a:extLst>
              <a:ext uri="{FF2B5EF4-FFF2-40B4-BE49-F238E27FC236}">
                <a16:creationId xmlns:a16="http://schemas.microsoft.com/office/drawing/2014/main" id="{300BA17A-F71F-4172-8697-5088227DFF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3" b="10911"/>
          <a:stretch/>
        </p:blipFill>
        <p:spPr bwMode="auto">
          <a:xfrm>
            <a:off x="1219200" y="2509914"/>
            <a:ext cx="2207202" cy="198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그림 1">
            <a:extLst>
              <a:ext uri="{FF2B5EF4-FFF2-40B4-BE49-F238E27FC236}">
                <a16:creationId xmlns:a16="http://schemas.microsoft.com/office/drawing/2014/main" id="{3AADCFED-531E-48EF-8D6D-90AC015209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817" b="7857"/>
          <a:stretch/>
        </p:blipFill>
        <p:spPr bwMode="auto">
          <a:xfrm>
            <a:off x="5658429" y="2509914"/>
            <a:ext cx="1979159" cy="1883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내용 개체 틀 6">
            <a:extLst>
              <a:ext uri="{FF2B5EF4-FFF2-40B4-BE49-F238E27FC236}">
                <a16:creationId xmlns:a16="http://schemas.microsoft.com/office/drawing/2014/main" id="{B8B1C784-42B3-4314-94EB-FFE96D20E322}"/>
              </a:ext>
            </a:extLst>
          </p:cNvPr>
          <p:cNvSpPr txBox="1">
            <a:spLocks/>
          </p:cNvSpPr>
          <p:nvPr/>
        </p:nvSpPr>
        <p:spPr bwMode="auto">
          <a:xfrm>
            <a:off x="4444548" y="981308"/>
            <a:ext cx="4132716" cy="3162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b="1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538163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2pPr>
            <a:lvl3pPr marL="89693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3pPr>
            <a:lvl4pPr marL="1255713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4pPr>
            <a:lvl5pPr marL="161448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SBC_EGSE</a:t>
            </a:r>
            <a:r>
              <a:rPr lang="ko-KR" altLang="en-US" b="1" dirty="0"/>
              <a:t>의 </a:t>
            </a:r>
            <a:r>
              <a:rPr lang="en-US" altLang="ko-KR" b="1" dirty="0"/>
              <a:t>UART </a:t>
            </a:r>
            <a:r>
              <a:rPr lang="ko-KR" altLang="en-US" b="1" dirty="0" err="1"/>
              <a:t>전송단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en-US" altLang="ko-KR" b="1" dirty="0">
                <a:solidFill>
                  <a:srgbClr val="0000FF"/>
                </a:solidFill>
              </a:rPr>
              <a:t>D </a:t>
            </a:r>
            <a:r>
              <a:rPr lang="ko-KR" altLang="en-US" b="1" dirty="0">
                <a:solidFill>
                  <a:srgbClr val="0000FF"/>
                </a:solidFill>
              </a:rPr>
              <a:t>구간</a:t>
            </a:r>
            <a:r>
              <a:rPr lang="en-US" altLang="ko-KR" b="1" dirty="0"/>
              <a:t>)</a:t>
            </a:r>
          </a:p>
          <a:p>
            <a:pPr lvl="2"/>
            <a:r>
              <a:rPr lang="ko-KR" altLang="en-US" dirty="0"/>
              <a:t>전송데이터 정상 확인</a:t>
            </a:r>
            <a:endParaRPr lang="en-US" altLang="ko-KR" dirty="0"/>
          </a:p>
          <a:p>
            <a:pPr lvl="2"/>
            <a:r>
              <a:rPr lang="ko-KR" altLang="en-US" dirty="0"/>
              <a:t>전송속도 </a:t>
            </a:r>
            <a:r>
              <a:rPr lang="en-US" altLang="ko-KR" dirty="0"/>
              <a:t>(115.2 kbps)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22102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</a:rPr>
              <a:t>Simple</a:t>
            </a:r>
            <a:r>
              <a:rPr lang="ko-KR" altLang="en-US" dirty="0">
                <a:latin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</a:rPr>
              <a:t>UDP</a:t>
            </a:r>
            <a:r>
              <a:rPr lang="ko-KR" altLang="en-US" dirty="0">
                <a:latin typeface="맑은 고딕" panose="020B0503020000020004" pitchFamily="50" charset="-127"/>
              </a:rPr>
              <a:t> 기반 </a:t>
            </a:r>
            <a:r>
              <a:rPr lang="en-US" altLang="ko-KR" dirty="0">
                <a:latin typeface="맑은 고딕" panose="020B0503020000020004" pitchFamily="50" charset="-127"/>
              </a:rPr>
              <a:t>Downlink</a:t>
            </a:r>
            <a:r>
              <a:rPr lang="ko-KR" altLang="en-US" dirty="0">
                <a:latin typeface="맑은 고딕" panose="020B0503020000020004" pitchFamily="50" charset="-127"/>
              </a:rPr>
              <a:t> 시험결과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47006" cy="5191424"/>
          </a:xfrm>
        </p:spPr>
        <p:txBody>
          <a:bodyPr/>
          <a:lstStyle/>
          <a:p>
            <a:r>
              <a:rPr lang="ko-KR" altLang="en-US" dirty="0"/>
              <a:t>시험 구성도</a:t>
            </a:r>
            <a:endParaRPr lang="en-US" altLang="ko-KR" dirty="0"/>
          </a:p>
          <a:p>
            <a:pPr lvl="1"/>
            <a:r>
              <a:rPr lang="ko-KR" altLang="en-US" dirty="0"/>
              <a:t>경로</a:t>
            </a:r>
            <a:r>
              <a:rPr lang="en-US" altLang="ko-KR" dirty="0"/>
              <a:t> : </a:t>
            </a:r>
            <a:r>
              <a:rPr lang="en-US" altLang="ko-KR" b="1" dirty="0"/>
              <a:t>DTNPL</a:t>
            </a:r>
            <a:r>
              <a:rPr lang="en-US" altLang="ko-KR" dirty="0"/>
              <a:t>(Simple UDP </a:t>
            </a:r>
            <a:r>
              <a:rPr lang="en-US" altLang="ko-KR" dirty="0">
                <a:sym typeface="Wingdings" panose="05000000000000000000" pitchFamily="2" charset="2"/>
              </a:rPr>
              <a:t> SBC F/W)  </a:t>
            </a:r>
            <a:r>
              <a:rPr lang="en-US" altLang="ko-KR" b="1" dirty="0">
                <a:sym typeface="Wingdings" panose="05000000000000000000" pitchFamily="2" charset="2"/>
              </a:rPr>
              <a:t>SBC_EGSE</a:t>
            </a:r>
            <a:r>
              <a:rPr lang="en-US" altLang="ko-KR" dirty="0"/>
              <a:t>(Traffic Router)</a:t>
            </a:r>
            <a:r>
              <a:rPr lang="en-US" altLang="ko-KR" dirty="0">
                <a:sym typeface="Wingdings" panose="05000000000000000000" pitchFamily="2" charset="2"/>
              </a:rPr>
              <a:t>  </a:t>
            </a:r>
            <a:r>
              <a:rPr lang="en-US" altLang="ko-KR" b="1" dirty="0">
                <a:sym typeface="Wingdings" panose="05000000000000000000" pitchFamily="2" charset="2"/>
              </a:rPr>
              <a:t>ION_EGSE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시험 결과</a:t>
            </a:r>
            <a:endParaRPr lang="en-US" altLang="ko-KR" dirty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데이터 확인 완료 </a:t>
            </a:r>
            <a:r>
              <a:rPr lang="en-US" altLang="ko-KR" dirty="0">
                <a:sym typeface="Wingdings" panose="05000000000000000000" pitchFamily="2" charset="2"/>
              </a:rPr>
              <a:t>: Simple UDP </a:t>
            </a:r>
            <a:r>
              <a:rPr lang="ko-KR" altLang="en-US" dirty="0">
                <a:sym typeface="Wingdings" panose="05000000000000000000" pitchFamily="2" charset="2"/>
              </a:rPr>
              <a:t>데이터가 손실없이 </a:t>
            </a:r>
            <a:r>
              <a:rPr lang="en-US" altLang="ko-KR" dirty="0">
                <a:sym typeface="Wingdings" panose="05000000000000000000" pitchFamily="2" charset="2"/>
              </a:rPr>
              <a:t>ION_EGSE</a:t>
            </a:r>
            <a:r>
              <a:rPr lang="ko-KR" altLang="en-US" dirty="0">
                <a:sym typeface="Wingdings" panose="05000000000000000000" pitchFamily="2" charset="2"/>
              </a:rPr>
              <a:t>까지 전달됨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데이터 전송 속도 확인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en-US" altLang="ko-KR" dirty="0">
                <a:solidFill>
                  <a:srgbClr val="0000FF"/>
                </a:solidFill>
                <a:sym typeface="Wingdings" panose="05000000000000000000" pitchFamily="2" charset="2"/>
              </a:rPr>
              <a:t>Average 656 kbps (Max 800 kbps)</a:t>
            </a:r>
          </a:p>
          <a:p>
            <a:pPr lvl="3"/>
            <a:r>
              <a:rPr lang="ko-KR" altLang="en-US" dirty="0">
                <a:sym typeface="Wingdings" panose="05000000000000000000" pitchFamily="2" charset="2"/>
              </a:rPr>
              <a:t>데이터 전송구간에는 </a:t>
            </a:r>
            <a:r>
              <a:rPr lang="en-US" altLang="ko-KR" dirty="0">
                <a:sym typeface="Wingdings" panose="05000000000000000000" pitchFamily="2" charset="2"/>
              </a:rPr>
              <a:t>2 Mbps</a:t>
            </a:r>
            <a:r>
              <a:rPr lang="ko-KR" altLang="en-US" dirty="0">
                <a:sym typeface="Wingdings" panose="05000000000000000000" pitchFamily="2" charset="2"/>
              </a:rPr>
              <a:t>로 정상 전송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r>
              <a:rPr lang="ko-KR" altLang="en-US" dirty="0">
                <a:sym typeface="Wingdings" panose="05000000000000000000" pitchFamily="2" charset="2"/>
              </a:rPr>
              <a:t>데이터 비전송구간 존재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DTNPL-TRS-001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6190143-9AFB-4D58-8CB2-C2F4111D7C57}"/>
              </a:ext>
            </a:extLst>
          </p:cNvPr>
          <p:cNvSpPr/>
          <p:nvPr/>
        </p:nvSpPr>
        <p:spPr>
          <a:xfrm>
            <a:off x="3458432" y="2189604"/>
            <a:ext cx="2597057" cy="1374004"/>
          </a:xfrm>
          <a:prstGeom prst="round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D7EE8AC-D0E9-45CF-BFD7-F03609ED98F4}"/>
              </a:ext>
            </a:extLst>
          </p:cNvPr>
          <p:cNvSpPr/>
          <p:nvPr/>
        </p:nvSpPr>
        <p:spPr>
          <a:xfrm>
            <a:off x="813971" y="2189603"/>
            <a:ext cx="2331457" cy="1374004"/>
          </a:xfrm>
          <a:prstGeom prst="round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796E92A-A6DB-4CC6-BEA2-80A525C9A7C1}"/>
              </a:ext>
            </a:extLst>
          </p:cNvPr>
          <p:cNvSpPr/>
          <p:nvPr/>
        </p:nvSpPr>
        <p:spPr>
          <a:xfrm>
            <a:off x="7098519" y="2189602"/>
            <a:ext cx="1476180" cy="1374004"/>
          </a:xfrm>
          <a:prstGeom prst="round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Notebook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(Virtual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Machine)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화살표: 왼쪽 34">
            <a:extLst>
              <a:ext uri="{FF2B5EF4-FFF2-40B4-BE49-F238E27FC236}">
                <a16:creationId xmlns:a16="http://schemas.microsoft.com/office/drawing/2014/main" id="{7F78E7FE-A449-478B-AE9B-6A4EB0DB0AC4}"/>
              </a:ext>
            </a:extLst>
          </p:cNvPr>
          <p:cNvSpPr/>
          <p:nvPr/>
        </p:nvSpPr>
        <p:spPr>
          <a:xfrm>
            <a:off x="5895345" y="3199565"/>
            <a:ext cx="1217595" cy="148646"/>
          </a:xfrm>
          <a:prstGeom prst="lef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884554-AEE3-4997-8557-AA903674ADC3}"/>
              </a:ext>
            </a:extLst>
          </p:cNvPr>
          <p:cNvSpPr txBox="1"/>
          <p:nvPr/>
        </p:nvSpPr>
        <p:spPr>
          <a:xfrm>
            <a:off x="6108039" y="2986890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UDP 2114</a:t>
            </a:r>
            <a:endParaRPr kumimoji="0" lang="ko-KR" altLang="en-US" sz="10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9E096A15-5E92-45EB-A545-AD36991640E2}"/>
              </a:ext>
            </a:extLst>
          </p:cNvPr>
          <p:cNvSpPr/>
          <p:nvPr/>
        </p:nvSpPr>
        <p:spPr>
          <a:xfrm>
            <a:off x="2607694" y="2552150"/>
            <a:ext cx="987480" cy="150660"/>
          </a:xfrm>
          <a:prstGeom prst="rightArrow">
            <a:avLst/>
          </a:prstGeom>
          <a:solidFill>
            <a:srgbClr val="FF000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11041C-A318-4E5E-8B96-99B2DD9F657F}"/>
              </a:ext>
            </a:extLst>
          </p:cNvPr>
          <p:cNvSpPr txBox="1"/>
          <p:nvPr/>
        </p:nvSpPr>
        <p:spPr>
          <a:xfrm>
            <a:off x="6108039" y="2394027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UDP 2113</a:t>
            </a:r>
            <a:endParaRPr kumimoji="0" lang="ko-KR" altLang="en-US" sz="10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6994A2-B8A2-44C6-8226-EE6756310ED6}"/>
              </a:ext>
            </a:extLst>
          </p:cNvPr>
          <p:cNvSpPr txBox="1"/>
          <p:nvPr/>
        </p:nvSpPr>
        <p:spPr>
          <a:xfrm>
            <a:off x="3663653" y="1799990"/>
            <a:ext cx="110959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5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USRT@Beagle</a:t>
            </a:r>
            <a:endParaRPr kumimoji="0" lang="en-US" altLang="ko-KR" sz="105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kumimoji="0" lang="en-US" altLang="ko-KR" sz="105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0F0502020204030204"/>
                <a:ea typeface="맑은 고딕" panose="020B0503020000020004" pitchFamily="50" charset="-127"/>
              </a:rPr>
              <a:t>Max 24 Mbps</a:t>
            </a:r>
            <a:r>
              <a:rPr kumimoji="0" lang="en-US" altLang="ko-KR" sz="10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05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79ECC900-BD73-407B-9D96-5024129D6BAB}"/>
              </a:ext>
            </a:extLst>
          </p:cNvPr>
          <p:cNvSpPr/>
          <p:nvPr/>
        </p:nvSpPr>
        <p:spPr>
          <a:xfrm>
            <a:off x="5880924" y="2559109"/>
            <a:ext cx="1217595" cy="148646"/>
          </a:xfrm>
          <a:prstGeom prst="rightArrow">
            <a:avLst/>
          </a:prstGeom>
          <a:solidFill>
            <a:srgbClr val="FF000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화살표: 왼쪽/오른쪽 40">
            <a:extLst>
              <a:ext uri="{FF2B5EF4-FFF2-40B4-BE49-F238E27FC236}">
                <a16:creationId xmlns:a16="http://schemas.microsoft.com/office/drawing/2014/main" id="{8608A21E-47FD-4AC2-99D6-24F6DB651228}"/>
              </a:ext>
            </a:extLst>
          </p:cNvPr>
          <p:cNvSpPr/>
          <p:nvPr/>
        </p:nvSpPr>
        <p:spPr>
          <a:xfrm>
            <a:off x="3027887" y="3222178"/>
            <a:ext cx="1913933" cy="126033"/>
          </a:xfrm>
          <a:prstGeom prst="left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BBE4AB-869D-454C-894C-FCCFF45E39E8}"/>
              </a:ext>
            </a:extLst>
          </p:cNvPr>
          <p:cNvSpPr txBox="1"/>
          <p:nvPr/>
        </p:nvSpPr>
        <p:spPr>
          <a:xfrm>
            <a:off x="3595173" y="2873778"/>
            <a:ext cx="9733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UART</a:t>
            </a:r>
          </a:p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(115,200bps)</a:t>
            </a:r>
            <a:endParaRPr kumimoji="0" lang="ko-KR" altLang="en-US" sz="10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F98E96-5242-4673-BE3E-0CC99485B007}"/>
              </a:ext>
            </a:extLst>
          </p:cNvPr>
          <p:cNvSpPr txBox="1"/>
          <p:nvPr/>
        </p:nvSpPr>
        <p:spPr>
          <a:xfrm>
            <a:off x="4322469" y="3515629"/>
            <a:ext cx="901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2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SBC_EGSE</a:t>
            </a:r>
            <a:endParaRPr kumimoji="0" lang="ko-KR" altLang="en-US" sz="12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7998B2-DF81-4503-8A87-2BED42553630}"/>
              </a:ext>
            </a:extLst>
          </p:cNvPr>
          <p:cNvSpPr txBox="1"/>
          <p:nvPr/>
        </p:nvSpPr>
        <p:spPr>
          <a:xfrm>
            <a:off x="7443308" y="351130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2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ION_EGSE</a:t>
            </a:r>
            <a:endParaRPr kumimoji="0" lang="ko-KR" altLang="en-US" sz="12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FE6525-8560-4A29-B6C9-133A4DB8CE91}"/>
              </a:ext>
            </a:extLst>
          </p:cNvPr>
          <p:cNvSpPr txBox="1"/>
          <p:nvPr/>
        </p:nvSpPr>
        <p:spPr>
          <a:xfrm>
            <a:off x="1584594" y="3511306"/>
            <a:ext cx="578796" cy="2276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2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DTNPL</a:t>
            </a:r>
            <a:endParaRPr kumimoji="0" lang="ko-KR" altLang="en-US" sz="12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8417EA0C-C3DC-47FD-957A-3980C4D63315}"/>
              </a:ext>
            </a:extLst>
          </p:cNvPr>
          <p:cNvSpPr/>
          <p:nvPr/>
        </p:nvSpPr>
        <p:spPr>
          <a:xfrm>
            <a:off x="1039836" y="2349577"/>
            <a:ext cx="804538" cy="618801"/>
          </a:xfrm>
          <a:prstGeom prst="roundRect">
            <a:avLst/>
          </a:prstGeom>
          <a:solidFill>
            <a:srgbClr val="ED7D31">
              <a:lumMod val="40000"/>
              <a:lumOff val="60000"/>
            </a:srgbClr>
          </a:solidFill>
          <a:ln w="571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Simple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kern="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UDP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56336AEF-DD38-4123-ABB7-33B9380FADE4}"/>
              </a:ext>
            </a:extLst>
          </p:cNvPr>
          <p:cNvSpPr/>
          <p:nvPr/>
        </p:nvSpPr>
        <p:spPr>
          <a:xfrm>
            <a:off x="2176091" y="2349578"/>
            <a:ext cx="804539" cy="1050854"/>
          </a:xfrm>
          <a:prstGeom prst="roundRect">
            <a:avLst/>
          </a:prstGeom>
          <a:solidFill>
            <a:srgbClr val="ED7D31">
              <a:lumMod val="40000"/>
              <a:lumOff val="60000"/>
            </a:srgbClr>
          </a:solidFill>
          <a:ln w="12700" cap="flat" cmpd="sng" algn="ctr">
            <a:solidFill>
              <a:srgbClr val="ED7D31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SBC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F/W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화살표: 왼쪽/오른쪽 47">
            <a:extLst>
              <a:ext uri="{FF2B5EF4-FFF2-40B4-BE49-F238E27FC236}">
                <a16:creationId xmlns:a16="http://schemas.microsoft.com/office/drawing/2014/main" id="{36E3BF07-7735-4BCA-B8B6-72BF773BB6A5}"/>
              </a:ext>
            </a:extLst>
          </p:cNvPr>
          <p:cNvSpPr/>
          <p:nvPr/>
        </p:nvSpPr>
        <p:spPr>
          <a:xfrm>
            <a:off x="1844374" y="2562973"/>
            <a:ext cx="331716" cy="151431"/>
          </a:xfrm>
          <a:prstGeom prst="leftRightArrow">
            <a:avLst/>
          </a:prstGeom>
          <a:solidFill>
            <a:srgbClr val="FF000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E6B9638-E4A4-44DC-805C-2FAB96D5D3A1}"/>
              </a:ext>
            </a:extLst>
          </p:cNvPr>
          <p:cNvSpPr/>
          <p:nvPr/>
        </p:nvSpPr>
        <p:spPr>
          <a:xfrm>
            <a:off x="4941820" y="2408096"/>
            <a:ext cx="915686" cy="99233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Traffic Router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S/W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D6E73E-70E7-4941-9AC9-8317FE97E5F3}"/>
              </a:ext>
            </a:extLst>
          </p:cNvPr>
          <p:cNvSpPr txBox="1"/>
          <p:nvPr/>
        </p:nvSpPr>
        <p:spPr>
          <a:xfrm>
            <a:off x="6050875" y="1837125"/>
            <a:ext cx="118333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ETH@ION_EGSE</a:t>
            </a:r>
          </a:p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kumimoji="0" lang="en-US" altLang="ko-KR" sz="105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0F0502020204030204"/>
                <a:ea typeface="맑은 고딕" panose="020B0503020000020004" pitchFamily="50" charset="-127"/>
              </a:rPr>
              <a:t>Max 100 Mbps</a:t>
            </a:r>
            <a:r>
              <a:rPr kumimoji="0" lang="en-US" altLang="ko-KR" sz="10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05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3C238D57-15A0-4E54-8B73-16690D2E8171}"/>
              </a:ext>
            </a:extLst>
          </p:cNvPr>
          <p:cNvSpPr/>
          <p:nvPr/>
        </p:nvSpPr>
        <p:spPr>
          <a:xfrm>
            <a:off x="3966404" y="2539496"/>
            <a:ext cx="987480" cy="150660"/>
          </a:xfrm>
          <a:prstGeom prst="rightArrow">
            <a:avLst/>
          </a:prstGeom>
          <a:solidFill>
            <a:srgbClr val="FF000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745789B-BB94-4C93-A427-4A5B68A8D6FF}"/>
              </a:ext>
            </a:extLst>
          </p:cNvPr>
          <p:cNvSpPr/>
          <p:nvPr/>
        </p:nvSpPr>
        <p:spPr>
          <a:xfrm>
            <a:off x="3629592" y="2408095"/>
            <a:ext cx="830552" cy="424056"/>
          </a:xfrm>
          <a:prstGeom prst="roundRect">
            <a:avLst/>
          </a:prstGeom>
          <a:solidFill>
            <a:srgbClr val="00B05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Beagle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BC75BCE-BF81-48F5-8A18-9A476D5E1C73}"/>
              </a:ext>
            </a:extLst>
          </p:cNvPr>
          <p:cNvSpPr/>
          <p:nvPr/>
        </p:nvSpPr>
        <p:spPr>
          <a:xfrm>
            <a:off x="2713441" y="2364000"/>
            <a:ext cx="267187" cy="512245"/>
          </a:xfrm>
          <a:prstGeom prst="roundRect">
            <a:avLst/>
          </a:prstGeom>
          <a:solidFill>
            <a:srgbClr val="00B05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USRT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C2BEF0-95A1-4007-9642-A723FB476DA7}"/>
              </a:ext>
            </a:extLst>
          </p:cNvPr>
          <p:cNvSpPr txBox="1"/>
          <p:nvPr/>
        </p:nvSpPr>
        <p:spPr>
          <a:xfrm>
            <a:off x="2135532" y="1803515"/>
            <a:ext cx="103586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USRT@SBC</a:t>
            </a:r>
          </a:p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kumimoji="0" lang="en-US" altLang="ko-KR" sz="105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0F0502020204030204"/>
                <a:ea typeface="맑은 고딕" panose="020B0503020000020004" pitchFamily="50" charset="-127"/>
              </a:rPr>
              <a:t>Max 2 Mbps</a:t>
            </a:r>
            <a:r>
              <a:rPr kumimoji="0" lang="en-US" altLang="ko-KR" sz="10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05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2345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</a:rPr>
              <a:t>관련 업데이트 이력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graphicFrame>
        <p:nvGraphicFramePr>
          <p:cNvPr id="29" name="표 3">
            <a:extLst>
              <a:ext uri="{FF2B5EF4-FFF2-40B4-BE49-F238E27FC236}">
                <a16:creationId xmlns:a16="http://schemas.microsoft.com/office/drawing/2014/main" id="{67D97573-83C1-43F2-8C5C-DD93C2526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189985"/>
              </p:ext>
            </p:extLst>
          </p:nvPr>
        </p:nvGraphicFramePr>
        <p:xfrm>
          <a:off x="233362" y="1474496"/>
          <a:ext cx="8819085" cy="41157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1909">
                  <a:extLst>
                    <a:ext uri="{9D8B030D-6E8A-4147-A177-3AD203B41FA5}">
                      <a16:colId xmlns:a16="http://schemas.microsoft.com/office/drawing/2014/main" val="2244330596"/>
                    </a:ext>
                  </a:extLst>
                </a:gridCol>
                <a:gridCol w="5160205">
                  <a:extLst>
                    <a:ext uri="{9D8B030D-6E8A-4147-A177-3AD203B41FA5}">
                      <a16:colId xmlns:a16="http://schemas.microsoft.com/office/drawing/2014/main" val="1900734866"/>
                    </a:ext>
                  </a:extLst>
                </a:gridCol>
                <a:gridCol w="1922374">
                  <a:extLst>
                    <a:ext uri="{9D8B030D-6E8A-4147-A177-3AD203B41FA5}">
                      <a16:colId xmlns:a16="http://schemas.microsoft.com/office/drawing/2014/main" val="3389954720"/>
                    </a:ext>
                  </a:extLst>
                </a:gridCol>
                <a:gridCol w="854597">
                  <a:extLst>
                    <a:ext uri="{9D8B030D-6E8A-4147-A177-3AD203B41FA5}">
                      <a16:colId xmlns:a16="http://schemas.microsoft.com/office/drawing/2014/main" val="555554764"/>
                    </a:ext>
                  </a:extLst>
                </a:gridCol>
              </a:tblGrid>
              <a:tr h="3018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수정내역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910779"/>
                  </a:ext>
                </a:extLst>
              </a:tr>
              <a:tr h="5031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Simple UDP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(1) 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데이터 분석 용이하도록 코드 일부 수정 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증가데이터 형태로 수정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,  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데이터 끝난 후 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End of File 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전송 메시지 삭제 등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803174"/>
                  </a:ext>
                </a:extLst>
              </a:tr>
              <a:tr h="301889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SBC F/W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Both"/>
                        <a:tabLst/>
                        <a:defRPr/>
                      </a:pP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USRT 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제어로직에서 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Enable Control 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신호에 대한 제어오류 수정 등</a:t>
                      </a:r>
                      <a:endParaRPr lang="en-US" altLang="ko-KR" sz="1200" dirty="0">
                        <a:sym typeface="Wingdings" panose="05000000000000000000" pitchFamily="2" charset="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일부데이터 빠짐 현상의 원인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705327"/>
                  </a:ext>
                </a:extLst>
              </a:tr>
              <a:tr h="30188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(2) USRT </a:t>
                      </a:r>
                      <a:r>
                        <a:rPr lang="ko-KR" altLang="en-US" sz="1200" dirty="0" err="1">
                          <a:sym typeface="Wingdings" panose="05000000000000000000" pitchFamily="2" charset="2"/>
                        </a:rPr>
                        <a:t>출력로직에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 디버깅 메시지 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altLang="ko-KR" sz="1200" dirty="0" err="1">
                          <a:sym typeface="Wingdings" panose="05000000000000000000" pitchFamily="2" charset="2"/>
                        </a:rPr>
                        <a:t>printf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 등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삭제 등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출력속도 느림의 원인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152472"/>
                  </a:ext>
                </a:extLst>
              </a:tr>
              <a:tr h="30188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(3) (TRS-001) USRT </a:t>
                      </a:r>
                      <a:r>
                        <a:rPr lang="ko-KR" altLang="en-US" sz="1200" dirty="0" err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비전송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 구간 존재</a:t>
                      </a:r>
                      <a:endParaRPr lang="en-US" altLang="ko-KR" sz="12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 시험진행에는 문제없음</a:t>
                      </a:r>
                      <a:endParaRPr lang="en-US" altLang="ko-KR" sz="11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 별도 논의 필요</a:t>
                      </a:r>
                      <a:endParaRPr lang="en-US" altLang="ko-KR" sz="11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70977"/>
                  </a:ext>
                </a:extLst>
              </a:tr>
              <a:tr h="30188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SBC FPGA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Both"/>
                        <a:tabLst/>
                        <a:defRPr/>
                      </a:pP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USRT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200" dirty="0" err="1">
                          <a:sym typeface="Wingdings" panose="05000000000000000000" pitchFamily="2" charset="2"/>
                        </a:rPr>
                        <a:t>p,r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dirty="0" err="1">
                          <a:sym typeface="Wingdings" panose="05000000000000000000" pitchFamily="2" charset="2"/>
                        </a:rPr>
                        <a:t>동시출력되게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FPGA 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내부 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Pin map 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변경</a:t>
                      </a:r>
                      <a:endParaRPr lang="en-US" altLang="ko-KR" sz="1200" dirty="0">
                        <a:sym typeface="Wingdings" panose="05000000000000000000" pitchFamily="2" charset="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H/W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방식 처리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106519"/>
                  </a:ext>
                </a:extLst>
              </a:tr>
              <a:tr h="30188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(2) NAND Flash</a:t>
                      </a:r>
                      <a:r>
                        <a:rPr lang="ko-KR" altLang="en-US" sz="1200" dirty="0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의 효율적인 제어를 위한 </a:t>
                      </a:r>
                      <a:r>
                        <a:rPr lang="en-US" altLang="ko-KR" sz="1200" dirty="0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Double Buffering </a:t>
                      </a:r>
                      <a:r>
                        <a:rPr lang="ko-KR" altLang="en-US" sz="1200" dirty="0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구조 적용</a:t>
                      </a:r>
                      <a:endParaRPr lang="en-US" altLang="ko-KR" sz="1200" dirty="0">
                        <a:solidFill>
                          <a:srgbClr val="0000FF"/>
                        </a:solidFill>
                        <a:sym typeface="Wingdings" panose="05000000000000000000" pitchFamily="2" charset="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NAND</a:t>
                      </a:r>
                      <a:r>
                        <a:rPr lang="ko-KR" altLang="en-US" sz="1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Access</a:t>
                      </a:r>
                      <a:r>
                        <a:rPr lang="ko-KR" altLang="en-US" sz="1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시간 개선</a:t>
                      </a:r>
                      <a:endParaRPr lang="en-US" altLang="ko-KR" sz="11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1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875890"/>
                  </a:ext>
                </a:extLst>
              </a:tr>
              <a:tr h="30188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SBC_EGSE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(Traffic Router)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(1) Beagle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의 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USRT 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세팅에서 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Slave Chip Enable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을 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LOWHIGH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로 변경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USRT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데이터 캡처 오류의 원인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51870"/>
                  </a:ext>
                </a:extLst>
              </a:tr>
              <a:tr h="40251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 ION_EGSE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UDP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보내는 통신구조 변경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페이지 결과 참고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USRT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Process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UDP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전송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Process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분리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USRT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 데이터와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UDP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전송 데이터의 상호 공유를 위해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Thread-Safe Ring Buffer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출력속도 느림의 원인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656350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ION_EGSE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714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82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</a:rPr>
              <a:t>MRAM</a:t>
            </a:r>
            <a:r>
              <a:rPr lang="ko-KR" altLang="en-US" dirty="0">
                <a:latin typeface="맑은 고딕" panose="020B0503020000020004" pitchFamily="50" charset="-127"/>
              </a:rPr>
              <a:t> 기반 </a:t>
            </a:r>
            <a:r>
              <a:rPr lang="en-US" altLang="ko-KR" dirty="0">
                <a:latin typeface="맑은 고딕" panose="020B0503020000020004" pitchFamily="50" charset="-127"/>
              </a:rPr>
              <a:t>ION-SBC </a:t>
            </a:r>
            <a:r>
              <a:rPr lang="ko-KR" altLang="en-US" dirty="0">
                <a:latin typeface="맑은 고딕" panose="020B0503020000020004" pitchFamily="50" charset="-127"/>
              </a:rPr>
              <a:t>통합 시험결과</a:t>
            </a:r>
            <a:r>
              <a:rPr lang="en-US" altLang="ko-KR" dirty="0">
                <a:latin typeface="맑은 고딕" panose="020B0503020000020004" pitchFamily="50" charset="-127"/>
              </a:rPr>
              <a:t>(1)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81307"/>
            <a:ext cx="8572500" cy="5191424"/>
          </a:xfrm>
        </p:spPr>
        <p:txBody>
          <a:bodyPr/>
          <a:lstStyle/>
          <a:p>
            <a:r>
              <a:rPr lang="ko-KR" altLang="en-US" dirty="0"/>
              <a:t>시험 항목 </a:t>
            </a:r>
            <a:r>
              <a:rPr lang="en-US" altLang="ko-KR" dirty="0"/>
              <a:t>: MRAM</a:t>
            </a:r>
            <a:r>
              <a:rPr lang="ko-KR" altLang="en-US" dirty="0"/>
              <a:t>을 사용한 </a:t>
            </a:r>
            <a:r>
              <a:rPr lang="en-US" altLang="ko-KR" dirty="0"/>
              <a:t>CFDP </a:t>
            </a:r>
            <a:r>
              <a:rPr lang="ko-KR" altLang="en-US" dirty="0"/>
              <a:t>데이터 전송 시험</a:t>
            </a:r>
            <a:endParaRPr lang="en-US" altLang="ko-KR" dirty="0"/>
          </a:p>
          <a:p>
            <a:r>
              <a:rPr lang="ko-KR" altLang="en-US" dirty="0"/>
              <a:t>시험 구성도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시험시</a:t>
            </a:r>
            <a:r>
              <a:rPr lang="ko-KR" altLang="en-US" dirty="0"/>
              <a:t> 사용된 소프트웨어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시험용 이미지 데이터 </a:t>
            </a:r>
            <a:r>
              <a:rPr lang="en-US" altLang="ko-KR" dirty="0"/>
              <a:t>: DTNPL</a:t>
            </a:r>
            <a:r>
              <a:rPr lang="ko-KR" altLang="en-US" dirty="0"/>
              <a:t>의 </a:t>
            </a:r>
            <a:r>
              <a:rPr lang="en-US" altLang="ko-KR" dirty="0"/>
              <a:t>MRAM</a:t>
            </a:r>
            <a:r>
              <a:rPr lang="ko-KR" altLang="en-US" dirty="0"/>
              <a:t>에 저장된 </a:t>
            </a:r>
            <a:r>
              <a:rPr lang="en-US" altLang="ko-KR" dirty="0"/>
              <a:t>650 kB Data</a:t>
            </a:r>
          </a:p>
          <a:p>
            <a:pPr lvl="1"/>
            <a:endParaRPr lang="en-US" altLang="ko-KR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6B8A7AD-5CAA-479E-9453-AC1C0FC3E536}"/>
              </a:ext>
            </a:extLst>
          </p:cNvPr>
          <p:cNvSpPr/>
          <p:nvPr/>
        </p:nvSpPr>
        <p:spPr>
          <a:xfrm>
            <a:off x="3483832" y="1820350"/>
            <a:ext cx="2597057" cy="1379630"/>
          </a:xfrm>
          <a:prstGeom prst="round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5C1CC01-22CC-4C4C-BEAB-5C6190C742A4}"/>
              </a:ext>
            </a:extLst>
          </p:cNvPr>
          <p:cNvSpPr/>
          <p:nvPr/>
        </p:nvSpPr>
        <p:spPr>
          <a:xfrm>
            <a:off x="839371" y="1825975"/>
            <a:ext cx="2331457" cy="1374004"/>
          </a:xfrm>
          <a:prstGeom prst="round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6A99586-A5B3-4F7D-92BA-B561688B8B06}"/>
              </a:ext>
            </a:extLst>
          </p:cNvPr>
          <p:cNvSpPr/>
          <p:nvPr/>
        </p:nvSpPr>
        <p:spPr>
          <a:xfrm>
            <a:off x="7123919" y="1825974"/>
            <a:ext cx="1476180" cy="1374004"/>
          </a:xfrm>
          <a:prstGeom prst="round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Notebook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(Virtual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Machine)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화살표: 왼쪽 17">
            <a:extLst>
              <a:ext uri="{FF2B5EF4-FFF2-40B4-BE49-F238E27FC236}">
                <a16:creationId xmlns:a16="http://schemas.microsoft.com/office/drawing/2014/main" id="{FAEA7EF3-97BC-4E2D-84AE-1EA07EC5A424}"/>
              </a:ext>
            </a:extLst>
          </p:cNvPr>
          <p:cNvSpPr/>
          <p:nvPr/>
        </p:nvSpPr>
        <p:spPr>
          <a:xfrm>
            <a:off x="5890182" y="2835347"/>
            <a:ext cx="1217595" cy="148646"/>
          </a:xfrm>
          <a:prstGeom prst="lef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5E0ADC-C58A-4C53-8A48-00E9DC65288E}"/>
              </a:ext>
            </a:extLst>
          </p:cNvPr>
          <p:cNvSpPr txBox="1"/>
          <p:nvPr/>
        </p:nvSpPr>
        <p:spPr>
          <a:xfrm>
            <a:off x="6133439" y="2623262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UDP 2114</a:t>
            </a:r>
            <a:endParaRPr kumimoji="0" lang="ko-KR" altLang="en-US" sz="10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E43351DF-C5A7-4FAC-90F7-DF428080D1D2}"/>
              </a:ext>
            </a:extLst>
          </p:cNvPr>
          <p:cNvSpPr/>
          <p:nvPr/>
        </p:nvSpPr>
        <p:spPr>
          <a:xfrm>
            <a:off x="2633094" y="2188522"/>
            <a:ext cx="987480" cy="116673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18FB2B-C3B6-49C2-8640-9A2DFA3EAF76}"/>
              </a:ext>
            </a:extLst>
          </p:cNvPr>
          <p:cNvSpPr txBox="1"/>
          <p:nvPr/>
        </p:nvSpPr>
        <p:spPr>
          <a:xfrm>
            <a:off x="6133439" y="2030399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UDP 2113</a:t>
            </a:r>
            <a:endParaRPr kumimoji="0" lang="ko-KR" altLang="en-US" sz="10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A3F15FA3-F0FF-4933-B604-B54D611FE8DD}"/>
              </a:ext>
            </a:extLst>
          </p:cNvPr>
          <p:cNvSpPr/>
          <p:nvPr/>
        </p:nvSpPr>
        <p:spPr>
          <a:xfrm>
            <a:off x="5906324" y="2195481"/>
            <a:ext cx="1217595" cy="148646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2B06DC-23F1-45B3-A5BF-47E879ABC5BD}"/>
              </a:ext>
            </a:extLst>
          </p:cNvPr>
          <p:cNvSpPr txBox="1"/>
          <p:nvPr/>
        </p:nvSpPr>
        <p:spPr>
          <a:xfrm>
            <a:off x="3953283" y="2653391"/>
            <a:ext cx="5261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UART</a:t>
            </a:r>
            <a:endParaRPr kumimoji="0" lang="ko-KR" altLang="en-US" sz="10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6DA97D-6021-4973-A1F4-DBA63147A28B}"/>
              </a:ext>
            </a:extLst>
          </p:cNvPr>
          <p:cNvSpPr txBox="1"/>
          <p:nvPr/>
        </p:nvSpPr>
        <p:spPr>
          <a:xfrm>
            <a:off x="4347869" y="3152001"/>
            <a:ext cx="901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2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SBC_EGSE</a:t>
            </a:r>
            <a:endParaRPr kumimoji="0" lang="ko-KR" altLang="en-US" sz="12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216BE1-39BE-4BEA-9B2E-1DA0A6F1EE91}"/>
              </a:ext>
            </a:extLst>
          </p:cNvPr>
          <p:cNvSpPr txBox="1"/>
          <p:nvPr/>
        </p:nvSpPr>
        <p:spPr>
          <a:xfrm>
            <a:off x="7468708" y="3147678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2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ION_EGSE</a:t>
            </a:r>
            <a:endParaRPr kumimoji="0" lang="ko-KR" altLang="en-US" sz="12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86203E-54C7-4140-A124-583FD846A8FE}"/>
              </a:ext>
            </a:extLst>
          </p:cNvPr>
          <p:cNvSpPr txBox="1"/>
          <p:nvPr/>
        </p:nvSpPr>
        <p:spPr>
          <a:xfrm>
            <a:off x="1714772" y="3147678"/>
            <a:ext cx="578796" cy="2276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2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DTNPL</a:t>
            </a:r>
            <a:endParaRPr kumimoji="0" lang="ko-KR" altLang="en-US" sz="12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4B2E917-69E4-4E42-BBCA-6B6F91EC122D}"/>
              </a:ext>
            </a:extLst>
          </p:cNvPr>
          <p:cNvSpPr/>
          <p:nvPr/>
        </p:nvSpPr>
        <p:spPr>
          <a:xfrm>
            <a:off x="1065236" y="1985950"/>
            <a:ext cx="804538" cy="482574"/>
          </a:xfrm>
          <a:prstGeom prst="roundRect">
            <a:avLst/>
          </a:prstGeom>
          <a:solidFill>
            <a:srgbClr val="ED7D31">
              <a:lumMod val="40000"/>
              <a:lumOff val="60000"/>
            </a:srgbClr>
          </a:solidFill>
          <a:ln w="12700" cap="flat" cmpd="sng" algn="ctr">
            <a:solidFill>
              <a:srgbClr val="ED7D31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ION S/W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B79B8AF-0D76-4937-9F7E-FE3134B75F19}"/>
              </a:ext>
            </a:extLst>
          </p:cNvPr>
          <p:cNvSpPr/>
          <p:nvPr/>
        </p:nvSpPr>
        <p:spPr>
          <a:xfrm>
            <a:off x="2201491" y="1985950"/>
            <a:ext cx="804539" cy="1050854"/>
          </a:xfrm>
          <a:prstGeom prst="roundRect">
            <a:avLst/>
          </a:prstGeom>
          <a:solidFill>
            <a:srgbClr val="ED7D31">
              <a:lumMod val="40000"/>
              <a:lumOff val="60000"/>
            </a:srgbClr>
          </a:solidFill>
          <a:ln w="12700" cap="flat" cmpd="sng" algn="ctr">
            <a:solidFill>
              <a:srgbClr val="ED7D31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SBC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F/W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B9A9C2F-4AA3-4D89-8961-055D1049E90A}"/>
              </a:ext>
            </a:extLst>
          </p:cNvPr>
          <p:cNvSpPr/>
          <p:nvPr/>
        </p:nvSpPr>
        <p:spPr>
          <a:xfrm>
            <a:off x="4967220" y="2044468"/>
            <a:ext cx="939104" cy="99233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Traffic Router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S/W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85D9533F-EAFA-4FE0-A55D-B4D7E16B95B7}"/>
              </a:ext>
            </a:extLst>
          </p:cNvPr>
          <p:cNvSpPr/>
          <p:nvPr/>
        </p:nvSpPr>
        <p:spPr>
          <a:xfrm>
            <a:off x="4508962" y="2204443"/>
            <a:ext cx="470322" cy="100752"/>
          </a:xfrm>
          <a:prstGeom prst="rightArrow">
            <a:avLst>
              <a:gd name="adj1" fmla="val 62644"/>
              <a:gd name="adj2" fmla="val 50000"/>
            </a:avLst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0301166-24E1-4F5C-8CDC-16E183D190D6}"/>
              </a:ext>
            </a:extLst>
          </p:cNvPr>
          <p:cNvSpPr/>
          <p:nvPr/>
        </p:nvSpPr>
        <p:spPr>
          <a:xfrm>
            <a:off x="2852920" y="1993161"/>
            <a:ext cx="223929" cy="46815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USRT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DD3747A-477A-45F2-9C7C-314596143759}"/>
              </a:ext>
            </a:extLst>
          </p:cNvPr>
          <p:cNvSpPr/>
          <p:nvPr/>
        </p:nvSpPr>
        <p:spPr>
          <a:xfrm>
            <a:off x="1065235" y="2675182"/>
            <a:ext cx="804539" cy="472495"/>
          </a:xfrm>
          <a:prstGeom prst="roundRect">
            <a:avLst/>
          </a:prstGeom>
          <a:solidFill>
            <a:srgbClr val="ED7D31">
              <a:lumMod val="40000"/>
              <a:lumOff val="60000"/>
            </a:srgbClr>
          </a:solidFill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MRAM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E858E0D-F886-4AA9-AE0C-2AA22AD32C9C}"/>
              </a:ext>
            </a:extLst>
          </p:cNvPr>
          <p:cNvSpPr/>
          <p:nvPr/>
        </p:nvSpPr>
        <p:spPr>
          <a:xfrm>
            <a:off x="3629086" y="2044467"/>
            <a:ext cx="856458" cy="424056"/>
          </a:xfrm>
          <a:prstGeom prst="round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Beagle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D084992-481E-4FD5-9F62-842D1C3B71B5}"/>
              </a:ext>
            </a:extLst>
          </p:cNvPr>
          <p:cNvSpPr/>
          <p:nvPr/>
        </p:nvSpPr>
        <p:spPr>
          <a:xfrm>
            <a:off x="2856788" y="2560373"/>
            <a:ext cx="223929" cy="46815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UART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화살표: 왼쪽/오른쪽 34">
            <a:extLst>
              <a:ext uri="{FF2B5EF4-FFF2-40B4-BE49-F238E27FC236}">
                <a16:creationId xmlns:a16="http://schemas.microsoft.com/office/drawing/2014/main" id="{E6C8D0C6-D8AC-4EC1-853F-20C35A8E0F0B}"/>
              </a:ext>
            </a:extLst>
          </p:cNvPr>
          <p:cNvSpPr/>
          <p:nvPr/>
        </p:nvSpPr>
        <p:spPr>
          <a:xfrm rot="16200000">
            <a:off x="1383905" y="2485874"/>
            <a:ext cx="213871" cy="164745"/>
          </a:xfrm>
          <a:prstGeom prst="left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화살표: 왼쪽 36">
            <a:extLst>
              <a:ext uri="{FF2B5EF4-FFF2-40B4-BE49-F238E27FC236}">
                <a16:creationId xmlns:a16="http://schemas.microsoft.com/office/drawing/2014/main" id="{FFD2CA6F-B021-487B-92BB-EFCBE9064477}"/>
              </a:ext>
            </a:extLst>
          </p:cNvPr>
          <p:cNvSpPr/>
          <p:nvPr/>
        </p:nvSpPr>
        <p:spPr>
          <a:xfrm>
            <a:off x="3108003" y="2858376"/>
            <a:ext cx="1876553" cy="136619"/>
          </a:xfrm>
          <a:prstGeom prst="lef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화살표: 왼쪽 37">
            <a:extLst>
              <a:ext uri="{FF2B5EF4-FFF2-40B4-BE49-F238E27FC236}">
                <a16:creationId xmlns:a16="http://schemas.microsoft.com/office/drawing/2014/main" id="{6B78F9B9-1EBE-4EB2-A318-08A54DAAD89F}"/>
              </a:ext>
            </a:extLst>
          </p:cNvPr>
          <p:cNvSpPr/>
          <p:nvPr/>
        </p:nvSpPr>
        <p:spPr>
          <a:xfrm>
            <a:off x="1850846" y="2247121"/>
            <a:ext cx="350860" cy="123709"/>
          </a:xfrm>
          <a:prstGeom prst="lef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1" name="표 3">
            <a:extLst>
              <a:ext uri="{FF2B5EF4-FFF2-40B4-BE49-F238E27FC236}">
                <a16:creationId xmlns:a16="http://schemas.microsoft.com/office/drawing/2014/main" id="{B69FA894-BD6E-4DD1-AF70-051BC2B5E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0965"/>
              </p:ext>
            </p:extLst>
          </p:nvPr>
        </p:nvGraphicFramePr>
        <p:xfrm>
          <a:off x="1177443" y="3892562"/>
          <a:ext cx="7133359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6338">
                  <a:extLst>
                    <a:ext uri="{9D8B030D-6E8A-4147-A177-3AD203B41FA5}">
                      <a16:colId xmlns:a16="http://schemas.microsoft.com/office/drawing/2014/main" val="3937530819"/>
                    </a:ext>
                  </a:extLst>
                </a:gridCol>
                <a:gridCol w="2367758">
                  <a:extLst>
                    <a:ext uri="{9D8B030D-6E8A-4147-A177-3AD203B41FA5}">
                      <a16:colId xmlns:a16="http://schemas.microsoft.com/office/drawing/2014/main" val="2244330596"/>
                    </a:ext>
                  </a:extLst>
                </a:gridCol>
                <a:gridCol w="3479263">
                  <a:extLst>
                    <a:ext uri="{9D8B030D-6E8A-4147-A177-3AD203B41FA5}">
                      <a16:colId xmlns:a16="http://schemas.microsoft.com/office/drawing/2014/main" val="1900734866"/>
                    </a:ext>
                  </a:extLst>
                </a:gridCol>
              </a:tblGrid>
              <a:tr h="21687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910779"/>
                  </a:ext>
                </a:extLst>
              </a:tr>
              <a:tr h="22524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SBC S/W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RTEMS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소스 및 바이너리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20200629A_MRAM_SUCCESS.tar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803174"/>
                  </a:ext>
                </a:extLst>
              </a:tr>
              <a:tr h="225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SBC F/W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 및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MakeFile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20200629A_SBC_FW_SUCCESS.bz2 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914461"/>
                  </a:ext>
                </a:extLst>
              </a:tr>
              <a:tr h="225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SBC_EGSE S/W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바이너리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20200629A_DTN_Router_Lumir_SUCCESS.zip 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87298"/>
                  </a:ext>
                </a:extLst>
              </a:tr>
              <a:tr h="225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ION_EGSE S/W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설정파일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ION-EGSE-LTP.zip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50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264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</a:rPr>
              <a:t>MRAM</a:t>
            </a:r>
            <a:r>
              <a:rPr lang="ko-KR" altLang="en-US" dirty="0">
                <a:latin typeface="맑은 고딕" panose="020B0503020000020004" pitchFamily="50" charset="-127"/>
              </a:rPr>
              <a:t> 기반 </a:t>
            </a:r>
            <a:r>
              <a:rPr lang="en-US" altLang="ko-KR" dirty="0">
                <a:latin typeface="맑은 고딕" panose="020B0503020000020004" pitchFamily="50" charset="-127"/>
              </a:rPr>
              <a:t>ION-SBC </a:t>
            </a:r>
            <a:r>
              <a:rPr lang="ko-KR" altLang="en-US" dirty="0">
                <a:latin typeface="맑은 고딕" panose="020B0503020000020004" pitchFamily="50" charset="-127"/>
              </a:rPr>
              <a:t>통합 시험결과</a:t>
            </a:r>
            <a:r>
              <a:rPr lang="en-US" altLang="ko-KR" dirty="0">
                <a:latin typeface="맑은 고딕" panose="020B0503020000020004" pitchFamily="50" charset="-127"/>
              </a:rPr>
              <a:t>(2)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81307"/>
            <a:ext cx="8572500" cy="5191424"/>
          </a:xfrm>
        </p:spPr>
        <p:txBody>
          <a:bodyPr/>
          <a:lstStyle/>
          <a:p>
            <a:r>
              <a:rPr lang="ko-KR" altLang="en-US" dirty="0"/>
              <a:t>시험결과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0000FF"/>
                </a:solidFill>
              </a:rPr>
              <a:t>CFDP </a:t>
            </a:r>
            <a:r>
              <a:rPr lang="ko-KR" altLang="en-US" dirty="0">
                <a:solidFill>
                  <a:srgbClr val="0000FF"/>
                </a:solidFill>
              </a:rPr>
              <a:t>데이터 정상 확인함</a:t>
            </a:r>
            <a:r>
              <a:rPr lang="ko-KR" altLang="en-US" dirty="0"/>
              <a:t> </a:t>
            </a:r>
            <a:r>
              <a:rPr lang="en-US" altLang="ko-KR" dirty="0"/>
              <a:t>(Data</a:t>
            </a:r>
            <a:r>
              <a:rPr lang="ko-KR" altLang="en-US" dirty="0"/>
              <a:t> </a:t>
            </a:r>
            <a:r>
              <a:rPr lang="en-US" altLang="ko-KR" dirty="0"/>
              <a:t>Rate: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Average 656 kbps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ION_EGSE</a:t>
            </a:r>
            <a:r>
              <a:rPr lang="ko-KR" altLang="en-US" dirty="0"/>
              <a:t>에서 데이터 및 </a:t>
            </a:r>
            <a:r>
              <a:rPr lang="en-US" altLang="ko-KR" dirty="0"/>
              <a:t>Through </a:t>
            </a:r>
            <a:r>
              <a:rPr lang="ko-KR" altLang="en-US" dirty="0"/>
              <a:t>확인</a:t>
            </a:r>
            <a:endParaRPr lang="en-US" altLang="ko-KR" dirty="0"/>
          </a:p>
        </p:txBody>
      </p:sp>
      <p:pic>
        <p:nvPicPr>
          <p:cNvPr id="5" name="그림 4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C5740868-1C03-4094-B121-3EBD34EB5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56" y="1728886"/>
            <a:ext cx="7900169" cy="444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63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</a:rPr>
              <a:t>NAND</a:t>
            </a:r>
            <a:r>
              <a:rPr lang="ko-KR" altLang="en-US" dirty="0">
                <a:latin typeface="맑은 고딕" panose="020B0503020000020004" pitchFamily="50" charset="-127"/>
              </a:rPr>
              <a:t> 기반 </a:t>
            </a:r>
            <a:r>
              <a:rPr lang="en-US" altLang="ko-KR" dirty="0">
                <a:latin typeface="맑은 고딕" panose="020B0503020000020004" pitchFamily="50" charset="-127"/>
              </a:rPr>
              <a:t>ION-SBC </a:t>
            </a:r>
            <a:r>
              <a:rPr lang="ko-KR" altLang="en-US" dirty="0">
                <a:latin typeface="맑은 고딕" panose="020B0503020000020004" pitchFamily="50" charset="-127"/>
              </a:rPr>
              <a:t>통합 시험계획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81307"/>
            <a:ext cx="8572500" cy="5191424"/>
          </a:xfrm>
        </p:spPr>
        <p:txBody>
          <a:bodyPr/>
          <a:lstStyle/>
          <a:p>
            <a:r>
              <a:rPr lang="ko-KR" altLang="en-US" dirty="0"/>
              <a:t>준비 사항 </a:t>
            </a:r>
            <a:endParaRPr lang="en-US" altLang="ko-KR" dirty="0"/>
          </a:p>
          <a:p>
            <a:pPr lvl="1"/>
            <a:r>
              <a:rPr lang="en-US" altLang="ko-KR" dirty="0" err="1">
                <a:solidFill>
                  <a:srgbClr val="0000FF"/>
                </a:solidFill>
              </a:rPr>
              <a:t>Lumir</a:t>
            </a:r>
            <a:r>
              <a:rPr lang="en-US" altLang="ko-KR" dirty="0">
                <a:solidFill>
                  <a:srgbClr val="0000FF"/>
                </a:solidFill>
              </a:rPr>
              <a:t> : </a:t>
            </a:r>
            <a:r>
              <a:rPr lang="en-US" altLang="ko-KR" dirty="0" smtClean="0">
                <a:solidFill>
                  <a:srgbClr val="0000FF"/>
                </a:solidFill>
              </a:rPr>
              <a:t>NAND Write</a:t>
            </a:r>
            <a:r>
              <a:rPr lang="ko-KR" altLang="en-US" dirty="0" smtClean="0">
                <a:solidFill>
                  <a:srgbClr val="0000FF"/>
                </a:solidFill>
              </a:rPr>
              <a:t> </a:t>
            </a:r>
            <a:r>
              <a:rPr lang="en-US" altLang="ko-KR" dirty="0" smtClean="0">
                <a:solidFill>
                  <a:srgbClr val="0000FF"/>
                </a:solidFill>
              </a:rPr>
              <a:t>process</a:t>
            </a:r>
            <a:r>
              <a:rPr lang="ko-KR" altLang="en-US" dirty="0" smtClean="0">
                <a:solidFill>
                  <a:srgbClr val="0000FF"/>
                </a:solidFill>
              </a:rPr>
              <a:t>의 정상동작 할 수 있는 </a:t>
            </a:r>
            <a:r>
              <a:rPr lang="en-US" altLang="ko-KR" dirty="0" smtClean="0">
                <a:solidFill>
                  <a:srgbClr val="0000FF"/>
                </a:solidFill>
              </a:rPr>
              <a:t>Wait Time</a:t>
            </a:r>
            <a:r>
              <a:rPr lang="ko-KR" altLang="en-US" dirty="0" smtClean="0">
                <a:solidFill>
                  <a:srgbClr val="0000FF"/>
                </a:solidFill>
              </a:rPr>
              <a:t> 확정 후 시험 </a:t>
            </a:r>
            <a:r>
              <a:rPr lang="en-US" altLang="ko-KR" dirty="0" smtClean="0">
                <a:solidFill>
                  <a:srgbClr val="0000FF"/>
                </a:solidFill>
              </a:rPr>
              <a:t/>
            </a:r>
            <a:br>
              <a:rPr lang="en-US" altLang="ko-KR" dirty="0" smtClean="0">
                <a:solidFill>
                  <a:srgbClr val="0000FF"/>
                </a:solidFill>
              </a:rPr>
            </a:br>
            <a:r>
              <a:rPr lang="en-US" altLang="ko-KR" dirty="0" smtClean="0">
                <a:solidFill>
                  <a:srgbClr val="0000FF"/>
                </a:solidFill>
              </a:rPr>
              <a:t>            NAND to Cache , Cache to NAND Read / Write Time </a:t>
            </a:r>
            <a:r>
              <a:rPr lang="ko-KR" altLang="en-US" dirty="0" smtClean="0">
                <a:solidFill>
                  <a:srgbClr val="0000FF"/>
                </a:solidFill>
              </a:rPr>
              <a:t>측정 </a:t>
            </a:r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/>
          </a:p>
          <a:p>
            <a:r>
              <a:rPr lang="ko-KR" altLang="en-US" dirty="0"/>
              <a:t>시험</a:t>
            </a:r>
            <a:r>
              <a:rPr lang="en-US" altLang="ko-KR" dirty="0"/>
              <a:t> </a:t>
            </a:r>
            <a:r>
              <a:rPr lang="ko-KR" altLang="en-US" dirty="0"/>
              <a:t>계획</a:t>
            </a:r>
            <a:endParaRPr lang="en-US" altLang="ko-KR" dirty="0"/>
          </a:p>
          <a:p>
            <a:pPr lvl="1"/>
            <a:r>
              <a:rPr lang="ko-KR" altLang="en-US" dirty="0"/>
              <a:t>날짜 </a:t>
            </a:r>
            <a:r>
              <a:rPr lang="en-US" altLang="ko-KR" dirty="0"/>
              <a:t>: 7/6(</a:t>
            </a:r>
            <a:r>
              <a:rPr lang="ko-KR" altLang="en-US" dirty="0"/>
              <a:t>월</a:t>
            </a:r>
            <a:r>
              <a:rPr lang="en-US" altLang="ko-KR" dirty="0"/>
              <a:t>) </a:t>
            </a:r>
          </a:p>
          <a:p>
            <a:pPr lvl="1"/>
            <a:r>
              <a:rPr lang="ko-KR" altLang="en-US" dirty="0"/>
              <a:t>장소 </a:t>
            </a:r>
            <a:r>
              <a:rPr lang="en-US" altLang="ko-KR" dirty="0"/>
              <a:t>: </a:t>
            </a:r>
            <a:r>
              <a:rPr lang="en-US" altLang="ko-KR" dirty="0" err="1" smtClean="0"/>
              <a:t>Lumir</a:t>
            </a:r>
            <a:r>
              <a:rPr lang="en-US" altLang="ko-KR" dirty="0" smtClean="0"/>
              <a:t> 6</a:t>
            </a:r>
            <a:r>
              <a:rPr lang="ko-KR" altLang="en-US" dirty="0" smtClean="0"/>
              <a:t>층 </a:t>
            </a:r>
            <a:r>
              <a:rPr lang="en-US" altLang="ko-KR" dirty="0" smtClean="0"/>
              <a:t>LAB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7520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</a:rPr>
              <a:t>기능성능 시험 및 환경시험 일정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graphicFrame>
        <p:nvGraphicFramePr>
          <p:cNvPr id="5" name="표 3">
            <a:extLst>
              <a:ext uri="{FF2B5EF4-FFF2-40B4-BE49-F238E27FC236}">
                <a16:creationId xmlns:a16="http://schemas.microsoft.com/office/drawing/2014/main" id="{4C8EDBDB-889C-40C2-AB58-E69DA49CC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376422"/>
              </p:ext>
            </p:extLst>
          </p:nvPr>
        </p:nvGraphicFramePr>
        <p:xfrm>
          <a:off x="440781" y="1485326"/>
          <a:ext cx="8385633" cy="36857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2771">
                  <a:extLst>
                    <a:ext uri="{9D8B030D-6E8A-4147-A177-3AD203B41FA5}">
                      <a16:colId xmlns:a16="http://schemas.microsoft.com/office/drawing/2014/main" val="2244330596"/>
                    </a:ext>
                  </a:extLst>
                </a:gridCol>
                <a:gridCol w="1094990">
                  <a:extLst>
                    <a:ext uri="{9D8B030D-6E8A-4147-A177-3AD203B41FA5}">
                      <a16:colId xmlns:a16="http://schemas.microsoft.com/office/drawing/2014/main" val="1900734866"/>
                    </a:ext>
                  </a:extLst>
                </a:gridCol>
                <a:gridCol w="1974447">
                  <a:extLst>
                    <a:ext uri="{9D8B030D-6E8A-4147-A177-3AD203B41FA5}">
                      <a16:colId xmlns:a16="http://schemas.microsoft.com/office/drawing/2014/main" val="1607014701"/>
                    </a:ext>
                  </a:extLst>
                </a:gridCol>
                <a:gridCol w="858571">
                  <a:extLst>
                    <a:ext uri="{9D8B030D-6E8A-4147-A177-3AD203B41FA5}">
                      <a16:colId xmlns:a16="http://schemas.microsoft.com/office/drawing/2014/main" val="2048678571"/>
                    </a:ext>
                  </a:extLst>
                </a:gridCol>
                <a:gridCol w="3084854">
                  <a:extLst>
                    <a:ext uri="{9D8B030D-6E8A-4147-A177-3AD203B41FA5}">
                      <a16:colId xmlns:a16="http://schemas.microsoft.com/office/drawing/2014/main" val="3389954720"/>
                    </a:ext>
                  </a:extLst>
                </a:gridCol>
              </a:tblGrid>
              <a:tr h="2671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910779"/>
                  </a:ext>
                </a:extLst>
              </a:tr>
              <a:tr h="42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FM TRR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ETRI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7/10(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FM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 사전시험 결과 수록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803174"/>
                  </a:ext>
                </a:extLst>
              </a:tr>
              <a:tr h="42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Initial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Full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Function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Lumir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7/13(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)~7/14(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days (ETRI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705327"/>
                  </a:ext>
                </a:extLst>
              </a:tr>
              <a:tr h="42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EMC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오송센터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7/15(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~ 7/17(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DTNPL QM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시험이력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차중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시험 이력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892702"/>
                  </a:ext>
                </a:extLst>
              </a:tr>
              <a:tr h="3765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열진공시험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KASI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7/20(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~ 7/24(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DTNPL QM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이력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647367"/>
                  </a:ext>
                </a:extLst>
              </a:tr>
              <a:tr h="3765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진동시험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진주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KTL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7/27(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)~7/28(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차중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시험 이력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68280"/>
                  </a:ext>
                </a:extLst>
              </a:tr>
              <a:tr h="376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Final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Full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Function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Lumir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7/28(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~ 7/29(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days (ETRI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51870"/>
                  </a:ext>
                </a:extLst>
              </a:tr>
              <a:tr h="4452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FM PTR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ETRI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7/30(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714379"/>
                  </a:ext>
                </a:extLst>
              </a:tr>
              <a:tr h="4452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FM PSR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(FM Delivery)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KARI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7/31(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485009"/>
                  </a:ext>
                </a:extLst>
              </a:tr>
            </a:tbl>
          </a:graphicData>
        </a:graphic>
      </p:graphicFrame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AE0747-27F9-4309-95A9-2EB40D052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4" y="981076"/>
            <a:ext cx="8800468" cy="5231038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en-US" altLang="ko-KR" b="0" dirty="0"/>
              <a:t>EMC </a:t>
            </a:r>
            <a:r>
              <a:rPr lang="ko-KR" altLang="en-US" b="0" dirty="0"/>
              <a:t>시험</a:t>
            </a:r>
            <a:r>
              <a:rPr lang="en-US" altLang="ko-KR" b="0" dirty="0"/>
              <a:t>(</a:t>
            </a:r>
            <a:r>
              <a:rPr lang="ko-KR" altLang="en-US" b="0" dirty="0" err="1"/>
              <a:t>오송센터</a:t>
            </a:r>
            <a:r>
              <a:rPr lang="en-US" altLang="ko-KR" b="0" dirty="0"/>
              <a:t>)</a:t>
            </a:r>
            <a:r>
              <a:rPr lang="ko-KR" altLang="en-US" b="0" dirty="0"/>
              <a:t>의 경우 시험날짜 변경가능</a:t>
            </a:r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278030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40936</TotalTime>
  <Words>733</Words>
  <Application>Microsoft Office PowerPoint</Application>
  <PresentationFormat>화면 슬라이드 쇼(4:3)</PresentationFormat>
  <Paragraphs>334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굴림</vt:lpstr>
      <vt:lpstr>맑은 고딕</vt:lpstr>
      <vt:lpstr>바탕체</vt:lpstr>
      <vt:lpstr>Arial</vt:lpstr>
      <vt:lpstr>Arial Black</vt:lpstr>
      <vt:lpstr>Times New Roman</vt:lpstr>
      <vt:lpstr>Wingdings</vt:lpstr>
      <vt:lpstr>기본 디자인</vt:lpstr>
      <vt:lpstr>Weekly Progress Report (WPR_2020.07.02)    ’20.07.02 Lumir</vt:lpstr>
      <vt:lpstr>문서 현황</vt:lpstr>
      <vt:lpstr>Contents</vt:lpstr>
      <vt:lpstr>SBC_EGSE 레벨 시험결과(1)</vt:lpstr>
      <vt:lpstr>SBC_EGSE 레벨 시험결과(2)</vt:lpstr>
      <vt:lpstr>Simple UDP 기반 Downlink 시험결과</vt:lpstr>
      <vt:lpstr>관련 업데이트 이력</vt:lpstr>
      <vt:lpstr>MRAM 기반 ION-SBC 통합 시험결과(1)</vt:lpstr>
      <vt:lpstr>MRAM 기반 ION-SBC 통합 시험결과(2)</vt:lpstr>
      <vt:lpstr>NAND 기반 ION-SBC 통합 시험계획</vt:lpstr>
      <vt:lpstr>기능성능 시험 및 환경시험 일정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O18005</cp:lastModifiedBy>
  <cp:revision>1618</cp:revision>
  <cp:lastPrinted>2017-08-25T09:42:12Z</cp:lastPrinted>
  <dcterms:created xsi:type="dcterms:W3CDTF">1601-01-01T00:00:00Z</dcterms:created>
  <dcterms:modified xsi:type="dcterms:W3CDTF">2020-07-02T04:30:36Z</dcterms:modified>
</cp:coreProperties>
</file>