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423" r:id="rId2"/>
    <p:sldId id="729" r:id="rId3"/>
    <p:sldId id="814" r:id="rId4"/>
    <p:sldId id="815" r:id="rId5"/>
    <p:sldId id="816" r:id="rId6"/>
    <p:sldId id="817" r:id="rId7"/>
    <p:sldId id="818" r:id="rId8"/>
    <p:sldId id="819" r:id="rId9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4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14004" initials="O" lastIdx="1" clrIdx="0">
    <p:extLst>
      <p:ext uri="{19B8F6BF-5375-455C-9EA6-DF929625EA0E}">
        <p15:presenceInfo xmlns:p15="http://schemas.microsoft.com/office/powerpoint/2012/main" userId="O14004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0000"/>
    <a:srgbClr val="0000FF"/>
    <a:srgbClr val="00CC66"/>
    <a:srgbClr val="FFCCFF"/>
    <a:srgbClr val="6AA8C1"/>
    <a:srgbClr val="FFCCCC"/>
    <a:srgbClr val="F2F2F2"/>
    <a:srgbClr val="EFFFB3"/>
    <a:srgbClr val="F7FE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41" autoAdjust="0"/>
    <p:restoredTop sz="96370" autoAdjust="0"/>
  </p:normalViewPr>
  <p:slideViewPr>
    <p:cSldViewPr snapToGrid="0">
      <p:cViewPr varScale="1">
        <p:scale>
          <a:sx n="115" d="100"/>
          <a:sy n="115" d="100"/>
        </p:scale>
        <p:origin x="1938" y="108"/>
      </p:cViewPr>
      <p:guideLst>
        <p:guide orient="horz" pos="2160"/>
        <p:guide pos="4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2610" y="6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0937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6"/>
            <a:ext cx="4984750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CEF302-C0C4-41F5-9E57-DF55FCB3FB84}" type="slidenum">
              <a:rPr lang="ko-KR" altLang="en-US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75593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701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482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524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2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Line 2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lIns="91440" tIns="45720" rIns="91440" bIns="45720"/>
          <a:lstStyle>
            <a:lvl1pPr>
              <a:defRPr sz="3000"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lIns="91440" tIns="45720" rIns="91440" bIns="45720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graphicFrame>
        <p:nvGraphicFramePr>
          <p:cNvPr id="13" name="Group 4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10214106"/>
              </p:ext>
            </p:extLst>
          </p:nvPr>
        </p:nvGraphicFramePr>
        <p:xfrm>
          <a:off x="106128" y="354284"/>
          <a:ext cx="8926360" cy="937827"/>
        </p:xfrm>
        <a:graphic>
          <a:graphicData uri="http://schemas.openxmlformats.org/drawingml/2006/table">
            <a:tbl>
              <a:tblPr/>
              <a:tblGrid>
                <a:gridCol w="981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8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782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ectangle 46"/>
          <p:cNvSpPr>
            <a:spLocks noChangeArrowheads="1"/>
          </p:cNvSpPr>
          <p:nvPr userDrawn="1"/>
        </p:nvSpPr>
        <p:spPr bwMode="auto">
          <a:xfrm>
            <a:off x="84343" y="87726"/>
            <a:ext cx="8948145" cy="27482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lIns="108032" tIns="54016" rIns="108032" bIns="54016" anchor="ctr"/>
          <a:lstStyle>
            <a:lvl1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1pPr>
            <a:lvl2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2pPr>
            <a:lvl3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3pPr>
            <a:lvl4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4pPr>
            <a:lvl5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>
              <a:defRPr/>
            </a:pPr>
            <a:r>
              <a:rPr lang="en-US" altLang="ko-KR" sz="1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Korea </a:t>
            </a:r>
            <a:r>
              <a:rPr lang="en-US" altLang="ko-KR" sz="1600" b="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Lunar Exploration Program - KPLO</a:t>
            </a:r>
            <a:endParaRPr lang="en-US" altLang="ko-KR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5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181" y="396346"/>
            <a:ext cx="862787" cy="864024"/>
          </a:xfrm>
          <a:prstGeom prst="rect">
            <a:avLst/>
          </a:prstGeom>
        </p:spPr>
      </p:pic>
      <p:pic>
        <p:nvPicPr>
          <p:cNvPr id="17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701" y="556035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9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131763"/>
            <a:ext cx="670560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5" name="Text Box 86"/>
          <p:cNvSpPr txBox="1">
            <a:spLocks noChangeArrowheads="1"/>
          </p:cNvSpPr>
          <p:nvPr userDrawn="1"/>
        </p:nvSpPr>
        <p:spPr bwMode="auto">
          <a:xfrm>
            <a:off x="75247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2239622" y="6514041"/>
            <a:ext cx="46536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Confidential,</a:t>
            </a:r>
            <a:r>
              <a:rPr lang="en-US" altLang="ko-KR" sz="1200" b="0" baseline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Distribution Limited</a:t>
            </a:r>
            <a:endParaRPr lang="ko-KR" altLang="en-US" sz="12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94487" y="-23213"/>
            <a:ext cx="862787" cy="864024"/>
          </a:xfrm>
          <a:prstGeom prst="rect">
            <a:avLst/>
          </a:prstGeom>
        </p:spPr>
      </p:pic>
      <p:pic>
        <p:nvPicPr>
          <p:cNvPr id="13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945" y="244061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886075"/>
            <a:ext cx="7772400" cy="2460476"/>
          </a:xfrm>
        </p:spPr>
        <p:txBody>
          <a:bodyPr/>
          <a:lstStyle/>
          <a:p>
            <a:r>
              <a:rPr lang="en-US" altLang="ko-KR" sz="3600" dirty="0"/>
              <a:t>Weekly Progress Report </a:t>
            </a:r>
            <a:r>
              <a:rPr lang="en-US" altLang="ko-KR" sz="3200" b="0" dirty="0"/>
              <a:t>(</a:t>
            </a:r>
            <a:r>
              <a:rPr lang="en-US" altLang="ko-KR" sz="3200" b="0" dirty="0" smtClean="0"/>
              <a:t>WPR_2020.07.30)</a:t>
            </a:r>
            <a:r>
              <a:rPr lang="en-US" altLang="ko-KR" sz="3200" dirty="0"/>
              <a:t/>
            </a:r>
            <a:br>
              <a:rPr lang="en-US" altLang="ko-KR" sz="3200" dirty="0"/>
            </a:br>
            <a:r>
              <a:rPr lang="en-US" altLang="ko-KR" sz="3600" dirty="0"/>
              <a:t/>
            </a:r>
            <a:br>
              <a:rPr lang="en-US" altLang="ko-KR" sz="3600" dirty="0"/>
            </a:br>
            <a:r>
              <a:rPr lang="en-US" altLang="ko-KR" sz="3600" dirty="0"/>
              <a:t/>
            </a:r>
            <a:br>
              <a:rPr lang="en-US" altLang="ko-KR" sz="3600" dirty="0"/>
            </a:br>
            <a:r>
              <a:rPr lang="en-US" altLang="ko-KR" sz="3600" dirty="0"/>
              <a:t/>
            </a:r>
            <a:br>
              <a:rPr lang="en-US" altLang="ko-KR" sz="3600" dirty="0"/>
            </a:br>
            <a:r>
              <a:rPr lang="en-US" altLang="ko-KR" sz="2400" b="0" dirty="0" smtClean="0"/>
              <a:t>’20.07.30</a:t>
            </a:r>
            <a:r>
              <a:rPr lang="en-US" altLang="ko-KR" sz="2400" b="0" dirty="0"/>
              <a:t/>
            </a:r>
            <a:br>
              <a:rPr lang="en-US" altLang="ko-KR" sz="2400" b="0" dirty="0"/>
            </a:br>
            <a:r>
              <a:rPr lang="en-US" altLang="ko-KR" sz="2400" b="0" dirty="0" err="1"/>
              <a:t>Lumir</a:t>
            </a:r>
            <a:endParaRPr lang="ko-KR" altLang="en-US" sz="2400" b="0" dirty="0"/>
          </a:p>
        </p:txBody>
      </p:sp>
      <p:sp>
        <p:nvSpPr>
          <p:cNvPr id="4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DTNPL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07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</a:rPr>
              <a:t>기능성능 시험 및 환경시험 일정</a:t>
            </a:r>
            <a:endParaRPr lang="en-US" altLang="ko-KR" dirty="0">
              <a:latin typeface="맑은 고딕" panose="020B0503020000020004" pitchFamily="50" charset="-127"/>
            </a:endParaRPr>
          </a:p>
        </p:txBody>
      </p:sp>
      <p:graphicFrame>
        <p:nvGraphicFramePr>
          <p:cNvPr id="5" name="표 3">
            <a:extLst>
              <a:ext uri="{FF2B5EF4-FFF2-40B4-BE49-F238E27FC236}">
                <a16:creationId xmlns:a16="http://schemas.microsoft.com/office/drawing/2014/main" id="{4C8EDBDB-889C-40C2-AB58-E69DA49CCF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235311"/>
              </p:ext>
            </p:extLst>
          </p:nvPr>
        </p:nvGraphicFramePr>
        <p:xfrm>
          <a:off x="440781" y="1485326"/>
          <a:ext cx="8385633" cy="36857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2771">
                  <a:extLst>
                    <a:ext uri="{9D8B030D-6E8A-4147-A177-3AD203B41FA5}">
                      <a16:colId xmlns:a16="http://schemas.microsoft.com/office/drawing/2014/main" val="2244330596"/>
                    </a:ext>
                  </a:extLst>
                </a:gridCol>
                <a:gridCol w="1094990">
                  <a:extLst>
                    <a:ext uri="{9D8B030D-6E8A-4147-A177-3AD203B41FA5}">
                      <a16:colId xmlns:a16="http://schemas.microsoft.com/office/drawing/2014/main" val="1900734866"/>
                    </a:ext>
                  </a:extLst>
                </a:gridCol>
                <a:gridCol w="1974447">
                  <a:extLst>
                    <a:ext uri="{9D8B030D-6E8A-4147-A177-3AD203B41FA5}">
                      <a16:colId xmlns:a16="http://schemas.microsoft.com/office/drawing/2014/main" val="1607014701"/>
                    </a:ext>
                  </a:extLst>
                </a:gridCol>
                <a:gridCol w="858571">
                  <a:extLst>
                    <a:ext uri="{9D8B030D-6E8A-4147-A177-3AD203B41FA5}">
                      <a16:colId xmlns:a16="http://schemas.microsoft.com/office/drawing/2014/main" val="2048678571"/>
                    </a:ext>
                  </a:extLst>
                </a:gridCol>
                <a:gridCol w="3084854">
                  <a:extLst>
                    <a:ext uri="{9D8B030D-6E8A-4147-A177-3AD203B41FA5}">
                      <a16:colId xmlns:a16="http://schemas.microsoft.com/office/drawing/2014/main" val="3389954720"/>
                    </a:ext>
                  </a:extLst>
                </a:gridCol>
              </a:tblGrid>
              <a:tr h="2671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예약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910779"/>
                  </a:ext>
                </a:extLst>
              </a:tr>
              <a:tr h="4207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FM TRR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ETRI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7/10(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FM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이용 사전시험 결과 수록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803174"/>
                  </a:ext>
                </a:extLst>
              </a:tr>
              <a:tr h="4207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Initial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Full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Function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Lumir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7/13(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)~7/14(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days (ETRI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입회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705327"/>
                  </a:ext>
                </a:extLst>
              </a:tr>
              <a:tr h="4207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EMC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오송센터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7/15(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~ 7/17(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DTNPL QM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시험이력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차중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시험 이력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892702"/>
                  </a:ext>
                </a:extLst>
              </a:tr>
              <a:tr h="3765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열진공시험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KASI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7/20(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~ 7/24(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DTNPL QM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 이력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647367"/>
                  </a:ext>
                </a:extLst>
              </a:tr>
              <a:tr h="3765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진동시험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진주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KTL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7/27(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)~7/28(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차중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시험 이력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68280"/>
                  </a:ext>
                </a:extLst>
              </a:tr>
              <a:tr h="376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Final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Full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Function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Lumir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days (ETRI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입회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51870"/>
                  </a:ext>
                </a:extLst>
              </a:tr>
              <a:tr h="4452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FM PTR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ETRI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8714379"/>
                  </a:ext>
                </a:extLst>
              </a:tr>
              <a:tr h="4452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FM PSR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(FM Delivery)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KARI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485009"/>
                  </a:ext>
                </a:extLst>
              </a:tr>
            </a:tbl>
          </a:graphicData>
        </a:graphic>
      </p:graphicFrame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AE0747-27F9-4309-95A9-2EB40D052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4" y="5320144"/>
            <a:ext cx="8800468" cy="891969"/>
          </a:xfrm>
        </p:spPr>
        <p:txBody>
          <a:bodyPr/>
          <a:lstStyle/>
          <a:p>
            <a:endParaRPr lang="en-US" altLang="ko-KR" dirty="0"/>
          </a:p>
          <a:p>
            <a:r>
              <a:rPr lang="en-US" altLang="ko-KR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en-US" altLang="ko-KR" b="0" dirty="0"/>
              <a:t>EMC </a:t>
            </a:r>
            <a:r>
              <a:rPr lang="ko-KR" altLang="en-US" b="0" dirty="0"/>
              <a:t>시험</a:t>
            </a:r>
            <a:r>
              <a:rPr lang="en-US" altLang="ko-KR" b="0" dirty="0"/>
              <a:t>(</a:t>
            </a:r>
            <a:r>
              <a:rPr lang="ko-KR" altLang="en-US" b="0" dirty="0" err="1"/>
              <a:t>오송센터</a:t>
            </a:r>
            <a:r>
              <a:rPr lang="en-US" altLang="ko-KR" b="0" dirty="0"/>
              <a:t>)</a:t>
            </a:r>
            <a:r>
              <a:rPr lang="ko-KR" altLang="en-US" b="0" dirty="0"/>
              <a:t>의 경우 시험날짜 변경가능</a:t>
            </a:r>
            <a:endParaRPr lang="en-US" altLang="ko-KR" b="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2780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맑은 고딕" panose="020B0503020000020004" pitchFamily="50" charset="-127"/>
              </a:rPr>
              <a:t>DTNPL SBC F/W </a:t>
            </a:r>
            <a:r>
              <a:rPr lang="ko-KR" altLang="en-US" dirty="0" smtClean="0">
                <a:latin typeface="맑은 고딕" panose="020B0503020000020004" pitchFamily="50" charset="-127"/>
              </a:rPr>
              <a:t>수정 사항</a:t>
            </a:r>
            <a:endParaRPr lang="en-US" altLang="ko-KR" dirty="0">
              <a:latin typeface="맑은 고딕" panose="020B0503020000020004" pitchFamily="50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AE0747-27F9-4309-95A9-2EB40D052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766" y="1186960"/>
            <a:ext cx="8800468" cy="5231038"/>
          </a:xfrm>
        </p:spPr>
        <p:txBody>
          <a:bodyPr/>
          <a:lstStyle/>
          <a:p>
            <a:r>
              <a:rPr lang="en-US" altLang="ko-KR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en-US" altLang="ko-KR" b="0" dirty="0" smtClean="0"/>
              <a:t>SBC F/W Part</a:t>
            </a:r>
            <a:r>
              <a:rPr lang="ko-KR" altLang="en-US" b="0" dirty="0" smtClean="0"/>
              <a:t>의 </a:t>
            </a:r>
            <a:r>
              <a:rPr lang="en-US" altLang="ko-KR" b="0" dirty="0" smtClean="0"/>
              <a:t>Task Call </a:t>
            </a:r>
            <a:r>
              <a:rPr lang="ko-KR" altLang="en-US" b="0" dirty="0" smtClean="0"/>
              <a:t>관계 수정 </a:t>
            </a:r>
            <a:r>
              <a:rPr lang="en-US" altLang="ko-KR" b="0" dirty="0" smtClean="0"/>
              <a:t/>
            </a:r>
            <a:br>
              <a:rPr lang="en-US" altLang="ko-KR" b="0" dirty="0" smtClean="0"/>
            </a:br>
            <a:endParaRPr lang="en-US" altLang="ko-KR" b="0" dirty="0" smtClean="0"/>
          </a:p>
          <a:p>
            <a:r>
              <a:rPr lang="en-US" altLang="ko-KR" b="0" dirty="0" smtClean="0"/>
              <a:t>Task</a:t>
            </a:r>
            <a:r>
              <a:rPr lang="ko-KR" altLang="en-US" b="0" dirty="0" smtClean="0"/>
              <a:t>와 </a:t>
            </a:r>
            <a:r>
              <a:rPr lang="en-US" altLang="ko-KR" b="0" dirty="0" smtClean="0"/>
              <a:t>Task </a:t>
            </a:r>
            <a:r>
              <a:rPr lang="ko-KR" altLang="en-US" b="0" dirty="0" smtClean="0"/>
              <a:t>간 </a:t>
            </a:r>
            <a:r>
              <a:rPr lang="en-US" altLang="ko-KR" b="0" dirty="0" smtClean="0"/>
              <a:t>Data Share</a:t>
            </a:r>
            <a:r>
              <a:rPr lang="ko-KR" altLang="en-US" b="0" dirty="0" smtClean="0"/>
              <a:t>를</a:t>
            </a:r>
            <a:r>
              <a:rPr lang="en-US" altLang="ko-KR" b="0" dirty="0" smtClean="0"/>
              <a:t> </a:t>
            </a:r>
            <a:r>
              <a:rPr lang="ko-KR" altLang="en-US" b="0" dirty="0" smtClean="0"/>
              <a:t>위해서 </a:t>
            </a:r>
            <a:r>
              <a:rPr lang="en-US" altLang="ko-KR" b="0" dirty="0" smtClean="0"/>
              <a:t>Message Queue</a:t>
            </a:r>
            <a:r>
              <a:rPr lang="ko-KR" altLang="en-US" b="0" dirty="0" smtClean="0"/>
              <a:t>를 이용 데이터 </a:t>
            </a:r>
            <a:r>
              <a:rPr lang="en-US" altLang="ko-KR" b="0" dirty="0" smtClean="0"/>
              <a:t>Share </a:t>
            </a:r>
            <a:r>
              <a:rPr lang="ko-KR" altLang="en-US" b="0" dirty="0" smtClean="0"/>
              <a:t>구조로 변경</a:t>
            </a:r>
            <a:endParaRPr lang="en-US" altLang="ko-KR" b="0" dirty="0" smtClean="0"/>
          </a:p>
          <a:p>
            <a:endParaRPr lang="en-US" altLang="ko-KR" b="0" dirty="0"/>
          </a:p>
          <a:p>
            <a:r>
              <a:rPr lang="ko-KR" altLang="en-US" b="0" dirty="0" smtClean="0"/>
              <a:t>위 사항은 </a:t>
            </a:r>
            <a:r>
              <a:rPr lang="en-US" altLang="ko-KR" b="0" dirty="0" smtClean="0"/>
              <a:t>DTNPL </a:t>
            </a:r>
            <a:r>
              <a:rPr lang="ko-KR" altLang="en-US" b="0" dirty="0" smtClean="0"/>
              <a:t>내의 </a:t>
            </a:r>
            <a:r>
              <a:rPr lang="en-US" altLang="ko-KR" b="0" dirty="0" smtClean="0"/>
              <a:t>ION S/W</a:t>
            </a:r>
            <a:r>
              <a:rPr lang="ko-KR" altLang="en-US" b="0" dirty="0" smtClean="0"/>
              <a:t>에서 수신된 데이터는 </a:t>
            </a:r>
            <a:r>
              <a:rPr lang="en-US" altLang="ko-KR" b="0" dirty="0" smtClean="0"/>
              <a:t>USART </a:t>
            </a:r>
            <a:r>
              <a:rPr lang="ko-KR" altLang="en-US" b="0" dirty="0" smtClean="0"/>
              <a:t>전송을 위한 </a:t>
            </a:r>
            <a:r>
              <a:rPr lang="en-US" altLang="ko-KR" b="0" dirty="0" smtClean="0"/>
              <a:t>Message Queue</a:t>
            </a:r>
            <a:r>
              <a:rPr lang="ko-KR" altLang="en-US" b="0" dirty="0" smtClean="0"/>
              <a:t>에 내용을 </a:t>
            </a:r>
            <a:r>
              <a:rPr lang="en-US" altLang="ko-KR" b="0" dirty="0" smtClean="0"/>
              <a:t>Stacking . </a:t>
            </a:r>
            <a:br>
              <a:rPr lang="en-US" altLang="ko-KR" b="0" dirty="0" smtClean="0"/>
            </a:br>
            <a:r>
              <a:rPr lang="en-US" altLang="ko-KR" b="0" dirty="0" smtClean="0"/>
              <a:t>- USART Task </a:t>
            </a:r>
            <a:r>
              <a:rPr lang="ko-KR" altLang="en-US" b="0" dirty="0" smtClean="0"/>
              <a:t>에서는 </a:t>
            </a:r>
            <a:r>
              <a:rPr lang="en-US" altLang="ko-KR" b="0" dirty="0" smtClean="0"/>
              <a:t>Message Queue</a:t>
            </a:r>
            <a:r>
              <a:rPr lang="ko-KR" altLang="en-US" b="0" dirty="0" smtClean="0"/>
              <a:t>의</a:t>
            </a:r>
            <a:r>
              <a:rPr lang="en-US" altLang="ko-KR" b="0" dirty="0" smtClean="0"/>
              <a:t> </a:t>
            </a:r>
            <a:r>
              <a:rPr lang="ko-KR" altLang="en-US" b="0" dirty="0" smtClean="0"/>
              <a:t>내용을 확인해 </a:t>
            </a:r>
            <a:r>
              <a:rPr lang="en-US" altLang="ko-KR" b="0" dirty="0" smtClean="0"/>
              <a:t>USART </a:t>
            </a:r>
            <a:r>
              <a:rPr lang="ko-KR" altLang="en-US" b="0" dirty="0" err="1" smtClean="0"/>
              <a:t>전송만을</a:t>
            </a:r>
            <a:r>
              <a:rPr lang="ko-KR" altLang="en-US" b="0" dirty="0" smtClean="0"/>
              <a:t> 담당하게 하여 전송 지연을 최소화 함</a:t>
            </a:r>
            <a:r>
              <a:rPr lang="en-US" altLang="ko-KR" b="0" dirty="0" smtClean="0"/>
              <a:t>. </a:t>
            </a:r>
          </a:p>
          <a:p>
            <a:r>
              <a:rPr lang="ko-KR" altLang="en-US" b="0" dirty="0" smtClean="0"/>
              <a:t>각 </a:t>
            </a:r>
            <a:r>
              <a:rPr lang="en-US" altLang="ko-KR" b="0" dirty="0" smtClean="0"/>
              <a:t>Task </a:t>
            </a:r>
            <a:r>
              <a:rPr lang="ko-KR" altLang="en-US" b="0" dirty="0" smtClean="0"/>
              <a:t>의 </a:t>
            </a:r>
            <a:r>
              <a:rPr lang="en-US" altLang="ko-KR" b="0" dirty="0" smtClean="0"/>
              <a:t>Stack Size </a:t>
            </a:r>
            <a:r>
              <a:rPr lang="ko-KR" altLang="en-US" b="0" dirty="0" smtClean="0"/>
              <a:t>조정 </a:t>
            </a:r>
            <a:r>
              <a:rPr lang="en-US" altLang="ko-KR" b="0" dirty="0" smtClean="0"/>
              <a:t/>
            </a:r>
            <a:br>
              <a:rPr lang="en-US" altLang="ko-KR" b="0" dirty="0" smtClean="0"/>
            </a:br>
            <a:r>
              <a:rPr lang="en-US" altLang="ko-KR" b="0" dirty="0" smtClean="0"/>
              <a:t>- Stack </a:t>
            </a:r>
            <a:r>
              <a:rPr lang="ko-KR" altLang="en-US" b="0" dirty="0" smtClean="0"/>
              <a:t>사용량 모니터링을 통해서 최적화된 </a:t>
            </a:r>
            <a:r>
              <a:rPr lang="en-US" altLang="ko-KR" b="0" dirty="0" smtClean="0"/>
              <a:t>Stack size</a:t>
            </a:r>
            <a:r>
              <a:rPr lang="ko-KR" altLang="en-US" b="0" dirty="0" smtClean="0"/>
              <a:t>로 추후 수정</a:t>
            </a:r>
            <a:endParaRPr lang="en-US" altLang="ko-KR" b="0" dirty="0" smtClean="0"/>
          </a:p>
          <a:p>
            <a:r>
              <a:rPr lang="en-US" altLang="ko-KR" b="0" dirty="0" smtClean="0"/>
              <a:t>Message Queue </a:t>
            </a:r>
            <a:r>
              <a:rPr lang="ko-KR" altLang="en-US" b="0" dirty="0" smtClean="0"/>
              <a:t>의 </a:t>
            </a:r>
            <a:r>
              <a:rPr lang="en-US" altLang="ko-KR" b="0" dirty="0" smtClean="0"/>
              <a:t>Queue Size </a:t>
            </a:r>
            <a:r>
              <a:rPr lang="ko-KR" altLang="en-US" b="0" dirty="0" smtClean="0"/>
              <a:t>수정</a:t>
            </a:r>
            <a:r>
              <a:rPr lang="en-US" altLang="ko-KR" b="0" dirty="0" smtClean="0"/>
              <a:t/>
            </a:r>
            <a:br>
              <a:rPr lang="en-US" altLang="ko-KR" b="0" dirty="0" smtClean="0"/>
            </a:br>
            <a:r>
              <a:rPr lang="en-US" altLang="ko-KR" b="0" dirty="0" smtClean="0"/>
              <a:t>- DATALINK Packe</a:t>
            </a:r>
            <a:r>
              <a:rPr lang="en-US" altLang="ko-KR" b="0" dirty="0" smtClean="0"/>
              <a:t>t Queue Size 64K</a:t>
            </a:r>
          </a:p>
          <a:p>
            <a:r>
              <a:rPr lang="en-US" altLang="ko-KR" b="0" dirty="0" smtClean="0"/>
              <a:t>Heartbeat Task </a:t>
            </a:r>
            <a:br>
              <a:rPr lang="en-US" altLang="ko-KR" b="0" dirty="0" smtClean="0"/>
            </a:br>
            <a:r>
              <a:rPr lang="en-US" altLang="ko-KR" b="0" dirty="0" smtClean="0"/>
              <a:t>- Status </a:t>
            </a:r>
            <a:r>
              <a:rPr lang="ko-KR" altLang="en-US" b="0" dirty="0" smtClean="0"/>
              <a:t>상태 알려 주는 </a:t>
            </a:r>
            <a:r>
              <a:rPr lang="en-US" altLang="ko-KR" b="0" dirty="0" smtClean="0"/>
              <a:t>GPIO </a:t>
            </a:r>
            <a:r>
              <a:rPr lang="ko-KR" altLang="en-US" b="0" dirty="0" smtClean="0"/>
              <a:t>신호 </a:t>
            </a:r>
            <a:r>
              <a:rPr lang="en-US" altLang="ko-KR" b="0" dirty="0" smtClean="0"/>
              <a:t>Toggle</a:t>
            </a:r>
            <a:endParaRPr lang="en-US" altLang="ko-KR" b="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6901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맑은 고딕" panose="020B0503020000020004" pitchFamily="50" charset="-127"/>
              </a:rPr>
              <a:t>DTNPL SBC F/W </a:t>
            </a:r>
            <a:r>
              <a:rPr lang="ko-KR" altLang="en-US" dirty="0" smtClean="0">
                <a:latin typeface="맑은 고딕" panose="020B0503020000020004" pitchFamily="50" charset="-127"/>
              </a:rPr>
              <a:t>수정 사항 </a:t>
            </a:r>
            <a:r>
              <a:rPr lang="en-US" altLang="ko-KR" dirty="0" smtClean="0">
                <a:latin typeface="맑은 고딕" panose="020B0503020000020004" pitchFamily="50" charset="-127"/>
              </a:rPr>
              <a:t>( Task</a:t>
            </a:r>
            <a:r>
              <a:rPr lang="ko-KR" altLang="en-US" dirty="0" smtClean="0">
                <a:latin typeface="맑은 고딕" panose="020B0503020000020004" pitchFamily="50" charset="-127"/>
              </a:rPr>
              <a:t> 구조</a:t>
            </a:r>
            <a:r>
              <a:rPr lang="en-US" altLang="ko-KR" dirty="0" smtClean="0">
                <a:latin typeface="맑은 고딕" panose="020B0503020000020004" pitchFamily="50" charset="-127"/>
              </a:rPr>
              <a:t>)</a:t>
            </a:r>
            <a:endParaRPr lang="en-US" altLang="ko-KR" dirty="0">
              <a:latin typeface="맑은 고딕" panose="020B0503020000020004" pitchFamily="50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AE0747-27F9-4309-95A9-2EB40D052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766" y="1186960"/>
            <a:ext cx="8800468" cy="5231038"/>
          </a:xfrm>
        </p:spPr>
        <p:txBody>
          <a:bodyPr/>
          <a:lstStyle/>
          <a:p>
            <a:r>
              <a:rPr lang="en-US" altLang="ko-KR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en-US" altLang="ko-KR" b="0" dirty="0" smtClean="0"/>
              <a:t>SBC F/W Part</a:t>
            </a:r>
            <a:r>
              <a:rPr lang="ko-KR" altLang="en-US" b="0" dirty="0" smtClean="0"/>
              <a:t>의 </a:t>
            </a:r>
            <a:r>
              <a:rPr lang="en-US" altLang="ko-KR" b="0" dirty="0" smtClean="0"/>
              <a:t>Task Call </a:t>
            </a:r>
            <a:r>
              <a:rPr lang="ko-KR" altLang="en-US" b="0" dirty="0" smtClean="0"/>
              <a:t>관계 수정  </a:t>
            </a:r>
            <a:r>
              <a:rPr lang="en-US" altLang="ko-KR" b="0" dirty="0" smtClean="0"/>
              <a:t>( </a:t>
            </a:r>
            <a:r>
              <a:rPr lang="ko-KR" altLang="en-US" b="0" dirty="0" smtClean="0"/>
              <a:t>기본 동작 확인 완료 </a:t>
            </a:r>
            <a:r>
              <a:rPr lang="en-US" altLang="ko-KR" b="0" dirty="0" smtClean="0"/>
              <a:t>– 20/07/29)</a:t>
            </a:r>
            <a:br>
              <a:rPr lang="en-US" altLang="ko-KR" b="0" dirty="0" smtClean="0"/>
            </a:br>
            <a:r>
              <a:rPr lang="en-US" altLang="ko-KR" b="0" dirty="0" smtClean="0"/>
              <a:t/>
            </a:r>
            <a:br>
              <a:rPr lang="en-US" altLang="ko-KR" b="0" dirty="0" smtClean="0"/>
            </a:b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  <p:sp>
        <p:nvSpPr>
          <p:cNvPr id="10" name="직사각형 9"/>
          <p:cNvSpPr/>
          <p:nvPr/>
        </p:nvSpPr>
        <p:spPr bwMode="auto">
          <a:xfrm>
            <a:off x="1246909" y="2485504"/>
            <a:ext cx="1296786" cy="457200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MQ1</a:t>
            </a:r>
            <a:endParaRPr kumimoji="1" lang="ko-KR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2543695" y="2485504"/>
            <a:ext cx="1296786" cy="457200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MQ2</a:t>
            </a:r>
            <a:endParaRPr kumimoji="1" lang="ko-KR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3870974" y="2485504"/>
            <a:ext cx="1296786" cy="457200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MQ3</a:t>
            </a:r>
            <a:endParaRPr kumimoji="1" lang="ko-KR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6479793" y="2485503"/>
            <a:ext cx="1296786" cy="457200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MQn</a:t>
            </a:r>
            <a:endParaRPr kumimoji="1" lang="ko-KR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5198253" y="2485503"/>
            <a:ext cx="1296786" cy="457200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…</a:t>
            </a:r>
            <a:endParaRPr kumimoji="1" lang="ko-KR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5" name="직사각형 14"/>
          <p:cNvSpPr/>
          <p:nvPr/>
        </p:nvSpPr>
        <p:spPr bwMode="auto">
          <a:xfrm>
            <a:off x="598515" y="1679544"/>
            <a:ext cx="2833286" cy="457200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800" dirty="0" smtClean="0"/>
              <a:t>UDP Rx Task (5ms)</a:t>
            </a:r>
            <a:endParaRPr kumimoji="1" lang="ko-KR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598514" y="3291464"/>
            <a:ext cx="2452257" cy="457200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800" dirty="0" smtClean="0"/>
              <a:t>USART </a:t>
            </a:r>
            <a:r>
              <a:rPr lang="en-US" altLang="ko-KR" sz="1800" dirty="0" err="1" smtClean="0"/>
              <a:t>Tx</a:t>
            </a:r>
            <a:r>
              <a:rPr lang="en-US" altLang="ko-KR" sz="1800" dirty="0" smtClean="0"/>
              <a:t> Task(5ms)</a:t>
            </a:r>
            <a:endParaRPr kumimoji="1" lang="ko-KR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17" name="직선 화살표 연결선 16"/>
          <p:cNvCxnSpPr>
            <a:stCxn id="15" idx="2"/>
            <a:endCxn id="13" idx="0"/>
          </p:cNvCxnSpPr>
          <p:nvPr/>
        </p:nvCxnSpPr>
        <p:spPr bwMode="auto">
          <a:xfrm>
            <a:off x="2015158" y="2136744"/>
            <a:ext cx="5113028" cy="348759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ysDot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직선 화살표 연결선 17"/>
          <p:cNvCxnSpPr>
            <a:stCxn id="10" idx="2"/>
            <a:endCxn id="16" idx="0"/>
          </p:cNvCxnSpPr>
          <p:nvPr/>
        </p:nvCxnSpPr>
        <p:spPr bwMode="auto">
          <a:xfrm flipH="1">
            <a:off x="1824643" y="2942704"/>
            <a:ext cx="70659" cy="34876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직사각형 18"/>
          <p:cNvSpPr/>
          <p:nvPr/>
        </p:nvSpPr>
        <p:spPr bwMode="auto">
          <a:xfrm>
            <a:off x="3431801" y="3291464"/>
            <a:ext cx="2611552" cy="457200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Space Packet </a:t>
            </a:r>
            <a:r>
              <a:rPr kumimoji="1" lang="en-US" altLang="ko-K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SEND</a:t>
            </a:r>
            <a:endParaRPr kumimoji="1" lang="ko-KR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cxnSp>
        <p:nvCxnSpPr>
          <p:cNvPr id="20" name="직선 화살표 연결선 19"/>
          <p:cNvCxnSpPr>
            <a:stCxn id="16" idx="3"/>
            <a:endCxn id="19" idx="1"/>
          </p:cNvCxnSpPr>
          <p:nvPr/>
        </p:nvCxnSpPr>
        <p:spPr bwMode="auto">
          <a:xfrm>
            <a:off x="3050771" y="3520064"/>
            <a:ext cx="381030" cy="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직사각형 27"/>
          <p:cNvSpPr/>
          <p:nvPr/>
        </p:nvSpPr>
        <p:spPr bwMode="auto">
          <a:xfrm>
            <a:off x="1219200" y="5108463"/>
            <a:ext cx="1296786" cy="457200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MQ1</a:t>
            </a:r>
            <a:endParaRPr kumimoji="1" lang="ko-KR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9" name="직사각형 28"/>
          <p:cNvSpPr/>
          <p:nvPr/>
        </p:nvSpPr>
        <p:spPr bwMode="auto">
          <a:xfrm>
            <a:off x="2515986" y="5108463"/>
            <a:ext cx="1296786" cy="457200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MQ2</a:t>
            </a:r>
            <a:endParaRPr kumimoji="1" lang="ko-KR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3843265" y="5108463"/>
            <a:ext cx="1296786" cy="457200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MQ3</a:t>
            </a:r>
            <a:endParaRPr kumimoji="1" lang="ko-KR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 bwMode="auto">
          <a:xfrm>
            <a:off x="6452084" y="5108462"/>
            <a:ext cx="1296786" cy="457200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MQn</a:t>
            </a:r>
            <a:endParaRPr kumimoji="1" lang="ko-KR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32" name="직사각형 31"/>
          <p:cNvSpPr/>
          <p:nvPr/>
        </p:nvSpPr>
        <p:spPr bwMode="auto">
          <a:xfrm>
            <a:off x="5170544" y="5108462"/>
            <a:ext cx="1296786" cy="457200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…</a:t>
            </a:r>
            <a:endParaRPr kumimoji="1" lang="ko-KR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 bwMode="auto">
          <a:xfrm>
            <a:off x="598513" y="5929374"/>
            <a:ext cx="2452257" cy="457200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800" dirty="0" smtClean="0"/>
              <a:t>UART Rx Task (100ms)</a:t>
            </a:r>
            <a:endParaRPr kumimoji="1" lang="ko-KR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38" name="직선 화살표 연결선 37"/>
          <p:cNvCxnSpPr>
            <a:stCxn id="36" idx="0"/>
            <a:endCxn id="31" idx="2"/>
          </p:cNvCxnSpPr>
          <p:nvPr/>
        </p:nvCxnSpPr>
        <p:spPr bwMode="auto">
          <a:xfrm flipV="1">
            <a:off x="1824642" y="5565662"/>
            <a:ext cx="5275835" cy="36371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ysDot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직사각형 39"/>
          <p:cNvSpPr/>
          <p:nvPr/>
        </p:nvSpPr>
        <p:spPr bwMode="auto">
          <a:xfrm>
            <a:off x="598512" y="4304175"/>
            <a:ext cx="2833289" cy="457200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800" dirty="0" smtClean="0"/>
              <a:t>Telemetry Task (100ms)</a:t>
            </a:r>
            <a:endParaRPr kumimoji="1" lang="ko-KR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42" name="직선 화살표 연결선 41"/>
          <p:cNvCxnSpPr>
            <a:stCxn id="28" idx="0"/>
            <a:endCxn id="40" idx="2"/>
          </p:cNvCxnSpPr>
          <p:nvPr/>
        </p:nvCxnSpPr>
        <p:spPr bwMode="auto">
          <a:xfrm flipV="1">
            <a:off x="1867593" y="4761375"/>
            <a:ext cx="147564" cy="34708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" name="직사각형 46"/>
          <p:cNvSpPr/>
          <p:nvPr/>
        </p:nvSpPr>
        <p:spPr bwMode="auto">
          <a:xfrm>
            <a:off x="3329245" y="5929374"/>
            <a:ext cx="2452257" cy="457200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UART Rx Buffer</a:t>
            </a:r>
            <a:endParaRPr kumimoji="1" lang="ko-KR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48" name="직사각형 47"/>
          <p:cNvSpPr/>
          <p:nvPr/>
        </p:nvSpPr>
        <p:spPr bwMode="auto">
          <a:xfrm>
            <a:off x="6032988" y="5923456"/>
            <a:ext cx="2452257" cy="457200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UART Rx IRQ</a:t>
            </a:r>
            <a:endParaRPr kumimoji="1" lang="ko-KR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cxnSp>
        <p:nvCxnSpPr>
          <p:cNvPr id="50" name="직선 화살표 연결선 49"/>
          <p:cNvCxnSpPr>
            <a:stCxn id="55" idx="1"/>
            <a:endCxn id="15" idx="3"/>
          </p:cNvCxnSpPr>
          <p:nvPr/>
        </p:nvCxnSpPr>
        <p:spPr bwMode="auto">
          <a:xfrm flipH="1" flipV="1">
            <a:off x="3431801" y="1908144"/>
            <a:ext cx="697572" cy="532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" name="직선 화살표 연결선 51"/>
          <p:cNvCxnSpPr>
            <a:stCxn id="48" idx="1"/>
            <a:endCxn id="47" idx="3"/>
          </p:cNvCxnSpPr>
          <p:nvPr/>
        </p:nvCxnSpPr>
        <p:spPr bwMode="auto">
          <a:xfrm flipH="1">
            <a:off x="5781502" y="6152056"/>
            <a:ext cx="251486" cy="591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직사각형 53"/>
          <p:cNvSpPr/>
          <p:nvPr/>
        </p:nvSpPr>
        <p:spPr bwMode="auto">
          <a:xfrm>
            <a:off x="5490576" y="4520687"/>
            <a:ext cx="2452257" cy="457200"/>
          </a:xfrm>
          <a:prstGeom prst="rect">
            <a:avLst/>
          </a:prstGeom>
          <a:solidFill>
            <a:srgbClr val="FFFF00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ION UDP Rx</a:t>
            </a:r>
            <a:endParaRPr kumimoji="1" lang="ko-KR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55" name="직사각형 54"/>
          <p:cNvSpPr/>
          <p:nvPr/>
        </p:nvSpPr>
        <p:spPr bwMode="auto">
          <a:xfrm>
            <a:off x="4129373" y="1684866"/>
            <a:ext cx="2452257" cy="457200"/>
          </a:xfrm>
          <a:prstGeom prst="rect">
            <a:avLst/>
          </a:prstGeom>
          <a:solidFill>
            <a:srgbClr val="FFFF00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ION UDP </a:t>
            </a:r>
            <a:r>
              <a:rPr lang="en-US" altLang="ko-KR" dirty="0" err="1" smtClean="0"/>
              <a:t>Tx</a:t>
            </a:r>
            <a:endParaRPr kumimoji="1" lang="ko-KR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cxnSp>
        <p:nvCxnSpPr>
          <p:cNvPr id="58" name="직선 화살표 연결선 57"/>
          <p:cNvCxnSpPr>
            <a:endCxn id="54" idx="1"/>
          </p:cNvCxnSpPr>
          <p:nvPr/>
        </p:nvCxnSpPr>
        <p:spPr bwMode="auto">
          <a:xfrm>
            <a:off x="3476989" y="4631750"/>
            <a:ext cx="2013587" cy="117537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5" name="직사각형 64"/>
          <p:cNvSpPr/>
          <p:nvPr/>
        </p:nvSpPr>
        <p:spPr bwMode="auto">
          <a:xfrm>
            <a:off x="6906845" y="1679544"/>
            <a:ext cx="2064733" cy="457199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800" dirty="0" smtClean="0"/>
              <a:t>Heartbeat Task (2</a:t>
            </a:r>
            <a:r>
              <a:rPr lang="en-US" altLang="ko-KR" sz="1800" dirty="0" smtClean="0"/>
              <a:t>s)</a:t>
            </a:r>
            <a:endParaRPr kumimoji="1" lang="ko-KR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6" name="직사각형 65"/>
          <p:cNvSpPr/>
          <p:nvPr/>
        </p:nvSpPr>
        <p:spPr bwMode="auto">
          <a:xfrm>
            <a:off x="6906845" y="3291465"/>
            <a:ext cx="2064733" cy="457199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800" dirty="0" err="1" smtClean="0"/>
              <a:t>sbc_</a:t>
            </a:r>
            <a:r>
              <a:rPr lang="en-US" altLang="ko-KR" sz="1800" dirty="0" err="1" smtClean="0"/>
              <a:t>main</a:t>
            </a:r>
            <a:r>
              <a:rPr lang="en-US" altLang="ko-KR" sz="1800" dirty="0" smtClean="0"/>
              <a:t> Task (1</a:t>
            </a:r>
            <a:r>
              <a:rPr lang="en-US" altLang="ko-KR" sz="1800" dirty="0" smtClean="0"/>
              <a:t>s)</a:t>
            </a:r>
            <a:endParaRPr kumimoji="1" lang="ko-KR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5490576" y="3945743"/>
            <a:ext cx="2452257" cy="457200"/>
          </a:xfrm>
          <a:prstGeom prst="rect">
            <a:avLst/>
          </a:prstGeom>
          <a:solidFill>
            <a:srgbClr val="92D050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UART </a:t>
            </a:r>
            <a:r>
              <a:rPr lang="en-US" altLang="ko-KR" dirty="0" err="1" smtClean="0"/>
              <a:t>Tx</a:t>
            </a:r>
            <a:endParaRPr kumimoji="1" lang="ko-KR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cxnSp>
        <p:nvCxnSpPr>
          <p:cNvPr id="80" name="직선 화살표 연결선 79"/>
          <p:cNvCxnSpPr/>
          <p:nvPr/>
        </p:nvCxnSpPr>
        <p:spPr bwMode="auto">
          <a:xfrm flipV="1">
            <a:off x="3476989" y="4174343"/>
            <a:ext cx="2013587" cy="270681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2" name="TextBox 81"/>
          <p:cNvSpPr txBox="1"/>
          <p:nvPr/>
        </p:nvSpPr>
        <p:spPr>
          <a:xfrm>
            <a:off x="3877452" y="4639106"/>
            <a:ext cx="787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Script 2</a:t>
            </a:r>
            <a:endParaRPr lang="ko-KR" altLang="en-US" sz="1200" dirty="0"/>
          </a:p>
        </p:txBody>
      </p:sp>
      <p:sp>
        <p:nvSpPr>
          <p:cNvPr id="86" name="TextBox 85"/>
          <p:cNvSpPr txBox="1"/>
          <p:nvPr/>
        </p:nvSpPr>
        <p:spPr>
          <a:xfrm>
            <a:off x="3985517" y="4041354"/>
            <a:ext cx="787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SOH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55602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맑은 고딕" panose="020B0503020000020004" pitchFamily="50" charset="-127"/>
              </a:rPr>
              <a:t>USART Transmission Timing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84639" y="942022"/>
            <a:ext cx="8666162" cy="5248275"/>
          </a:xfrm>
        </p:spPr>
        <p:txBody>
          <a:bodyPr/>
          <a:lstStyle/>
          <a:p>
            <a:r>
              <a:rPr lang="en-US" altLang="ko-KR" dirty="0" smtClean="0"/>
              <a:t>Timing 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 bwMode="auto">
          <a:xfrm>
            <a:off x="601286" y="2131426"/>
            <a:ext cx="1147158" cy="457200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 smtClean="0"/>
              <a:t>UDP Rx Task</a:t>
            </a:r>
            <a:endParaRPr kumimoji="1" lang="ko-KR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7" name="직선 연결선 6"/>
          <p:cNvCxnSpPr/>
          <p:nvPr/>
        </p:nvCxnSpPr>
        <p:spPr bwMode="auto">
          <a:xfrm>
            <a:off x="598516" y="3158836"/>
            <a:ext cx="8038408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직선 연결선 8"/>
          <p:cNvCxnSpPr/>
          <p:nvPr/>
        </p:nvCxnSpPr>
        <p:spPr bwMode="auto">
          <a:xfrm>
            <a:off x="598516" y="2826327"/>
            <a:ext cx="0" cy="739833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직선 연결선 9"/>
          <p:cNvCxnSpPr/>
          <p:nvPr/>
        </p:nvCxnSpPr>
        <p:spPr bwMode="auto">
          <a:xfrm>
            <a:off x="1745674" y="2826327"/>
            <a:ext cx="0" cy="332509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직선 연결선 11"/>
          <p:cNvCxnSpPr/>
          <p:nvPr/>
        </p:nvCxnSpPr>
        <p:spPr bwMode="auto">
          <a:xfrm>
            <a:off x="2917766" y="2826327"/>
            <a:ext cx="0" cy="332509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직선 연결선 12"/>
          <p:cNvCxnSpPr/>
          <p:nvPr/>
        </p:nvCxnSpPr>
        <p:spPr bwMode="auto">
          <a:xfrm>
            <a:off x="4111788" y="2838982"/>
            <a:ext cx="0" cy="332509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직선 연결선 13"/>
          <p:cNvCxnSpPr/>
          <p:nvPr/>
        </p:nvCxnSpPr>
        <p:spPr bwMode="auto">
          <a:xfrm>
            <a:off x="5283880" y="2838982"/>
            <a:ext cx="0" cy="332509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직선 연결선 14"/>
          <p:cNvCxnSpPr/>
          <p:nvPr/>
        </p:nvCxnSpPr>
        <p:spPr bwMode="auto">
          <a:xfrm>
            <a:off x="6533801" y="2838982"/>
            <a:ext cx="0" cy="332509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직선 연결선 15"/>
          <p:cNvCxnSpPr/>
          <p:nvPr/>
        </p:nvCxnSpPr>
        <p:spPr bwMode="auto">
          <a:xfrm>
            <a:off x="7722521" y="2826327"/>
            <a:ext cx="0" cy="332509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TextBox 17"/>
          <p:cNvSpPr txBox="1"/>
          <p:nvPr/>
        </p:nvSpPr>
        <p:spPr>
          <a:xfrm>
            <a:off x="855207" y="2852845"/>
            <a:ext cx="5838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/>
              <a:t>5ms</a:t>
            </a:r>
            <a:endParaRPr lang="ko-KR" altLang="en-US" sz="1000" b="1" dirty="0"/>
          </a:p>
        </p:txBody>
      </p:sp>
      <p:sp>
        <p:nvSpPr>
          <p:cNvPr id="30" name="직사각형 29"/>
          <p:cNvSpPr/>
          <p:nvPr/>
        </p:nvSpPr>
        <p:spPr bwMode="auto">
          <a:xfrm>
            <a:off x="1770608" y="3809806"/>
            <a:ext cx="1147158" cy="457200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 smtClean="0"/>
              <a:t>USART Task</a:t>
            </a:r>
            <a:endParaRPr kumimoji="1" lang="ko-KR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36" name="직선 연결선 35"/>
          <p:cNvCxnSpPr/>
          <p:nvPr/>
        </p:nvCxnSpPr>
        <p:spPr bwMode="auto">
          <a:xfrm flipV="1">
            <a:off x="598516" y="2588626"/>
            <a:ext cx="0" cy="2642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직선 연결선 36"/>
          <p:cNvCxnSpPr/>
          <p:nvPr/>
        </p:nvCxnSpPr>
        <p:spPr bwMode="auto">
          <a:xfrm flipV="1">
            <a:off x="598516" y="2588627"/>
            <a:ext cx="1147158" cy="26421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직선 연결선 38"/>
          <p:cNvCxnSpPr/>
          <p:nvPr/>
        </p:nvCxnSpPr>
        <p:spPr bwMode="auto">
          <a:xfrm flipH="1" flipV="1">
            <a:off x="1745674" y="3158837"/>
            <a:ext cx="24934" cy="63434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직선 연결선 40"/>
          <p:cNvCxnSpPr/>
          <p:nvPr/>
        </p:nvCxnSpPr>
        <p:spPr bwMode="auto">
          <a:xfrm flipH="1" flipV="1">
            <a:off x="1777918" y="3218607"/>
            <a:ext cx="1147158" cy="57266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직사각형 44"/>
          <p:cNvSpPr/>
          <p:nvPr/>
        </p:nvSpPr>
        <p:spPr bwMode="auto">
          <a:xfrm>
            <a:off x="1785466" y="2120932"/>
            <a:ext cx="1147158" cy="457200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 smtClean="0"/>
              <a:t>UDP Rx Task</a:t>
            </a:r>
            <a:endParaRPr kumimoji="1" lang="ko-KR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46" name="직선 연결선 45"/>
          <p:cNvCxnSpPr/>
          <p:nvPr/>
        </p:nvCxnSpPr>
        <p:spPr bwMode="auto">
          <a:xfrm flipV="1">
            <a:off x="1782696" y="2578132"/>
            <a:ext cx="0" cy="2642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직선 연결선 46"/>
          <p:cNvCxnSpPr/>
          <p:nvPr/>
        </p:nvCxnSpPr>
        <p:spPr bwMode="auto">
          <a:xfrm flipV="1">
            <a:off x="1782696" y="2578133"/>
            <a:ext cx="1147158" cy="26421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" name="직사각형 47"/>
          <p:cNvSpPr/>
          <p:nvPr/>
        </p:nvSpPr>
        <p:spPr bwMode="auto">
          <a:xfrm>
            <a:off x="2957558" y="2120932"/>
            <a:ext cx="1147158" cy="457200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 smtClean="0"/>
              <a:t>UDP Rx Task</a:t>
            </a:r>
            <a:endParaRPr kumimoji="1" lang="ko-KR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49" name="직선 연결선 48"/>
          <p:cNvCxnSpPr/>
          <p:nvPr/>
        </p:nvCxnSpPr>
        <p:spPr bwMode="auto">
          <a:xfrm flipV="1">
            <a:off x="2954788" y="2578132"/>
            <a:ext cx="0" cy="2642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직선 연결선 49"/>
          <p:cNvCxnSpPr/>
          <p:nvPr/>
        </p:nvCxnSpPr>
        <p:spPr bwMode="auto">
          <a:xfrm flipV="1">
            <a:off x="2954788" y="2578133"/>
            <a:ext cx="1147158" cy="26421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" name="TextBox 51"/>
          <p:cNvSpPr txBox="1"/>
          <p:nvPr/>
        </p:nvSpPr>
        <p:spPr>
          <a:xfrm>
            <a:off x="4245530" y="2044977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……</a:t>
            </a:r>
            <a:endParaRPr lang="ko-KR" altLang="en-US" dirty="0"/>
          </a:p>
        </p:txBody>
      </p:sp>
      <p:sp>
        <p:nvSpPr>
          <p:cNvPr id="53" name="직사각형 52"/>
          <p:cNvSpPr/>
          <p:nvPr/>
        </p:nvSpPr>
        <p:spPr bwMode="auto">
          <a:xfrm>
            <a:off x="2957320" y="3805834"/>
            <a:ext cx="1147158" cy="457200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en-US" altLang="ko-KR" sz="1400" dirty="0"/>
              <a:t>USART Task</a:t>
            </a:r>
            <a:endParaRPr lang="ko-KR" altLang="en-US" sz="1400" dirty="0"/>
          </a:p>
        </p:txBody>
      </p:sp>
      <p:cxnSp>
        <p:nvCxnSpPr>
          <p:cNvPr id="54" name="직선 연결선 53"/>
          <p:cNvCxnSpPr/>
          <p:nvPr/>
        </p:nvCxnSpPr>
        <p:spPr bwMode="auto">
          <a:xfrm flipH="1" flipV="1">
            <a:off x="2932386" y="3171491"/>
            <a:ext cx="24934" cy="63434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직선 연결선 54"/>
          <p:cNvCxnSpPr/>
          <p:nvPr/>
        </p:nvCxnSpPr>
        <p:spPr bwMode="auto">
          <a:xfrm flipH="1" flipV="1">
            <a:off x="2964630" y="3231261"/>
            <a:ext cx="1147158" cy="57266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" name="직사각형 55"/>
          <p:cNvSpPr/>
          <p:nvPr/>
        </p:nvSpPr>
        <p:spPr bwMode="auto">
          <a:xfrm>
            <a:off x="4136722" y="3805834"/>
            <a:ext cx="1147158" cy="457200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en-US" altLang="ko-KR" sz="1400" dirty="0"/>
              <a:t>USART Task</a:t>
            </a:r>
            <a:endParaRPr lang="ko-KR" altLang="en-US" sz="1400" dirty="0"/>
          </a:p>
        </p:txBody>
      </p:sp>
      <p:cxnSp>
        <p:nvCxnSpPr>
          <p:cNvPr id="57" name="직선 연결선 56"/>
          <p:cNvCxnSpPr/>
          <p:nvPr/>
        </p:nvCxnSpPr>
        <p:spPr bwMode="auto">
          <a:xfrm flipH="1" flipV="1">
            <a:off x="4111788" y="3171491"/>
            <a:ext cx="24934" cy="63434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직선 연결선 57"/>
          <p:cNvCxnSpPr/>
          <p:nvPr/>
        </p:nvCxnSpPr>
        <p:spPr bwMode="auto">
          <a:xfrm flipH="1" flipV="1">
            <a:off x="4144032" y="3231261"/>
            <a:ext cx="1147158" cy="57266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TextBox 58"/>
          <p:cNvSpPr txBox="1"/>
          <p:nvPr/>
        </p:nvSpPr>
        <p:spPr>
          <a:xfrm>
            <a:off x="5524317" y="3807940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……</a:t>
            </a:r>
            <a:endParaRPr lang="ko-KR" altLang="en-US" dirty="0"/>
          </a:p>
        </p:txBody>
      </p:sp>
      <p:cxnSp>
        <p:nvCxnSpPr>
          <p:cNvPr id="60" name="직선 연결선 59"/>
          <p:cNvCxnSpPr/>
          <p:nvPr/>
        </p:nvCxnSpPr>
        <p:spPr bwMode="auto">
          <a:xfrm>
            <a:off x="683526" y="5494712"/>
            <a:ext cx="8038408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" name="직사각형 60"/>
          <p:cNvSpPr/>
          <p:nvPr/>
        </p:nvSpPr>
        <p:spPr bwMode="auto">
          <a:xfrm>
            <a:off x="1745674" y="5122096"/>
            <a:ext cx="640079" cy="340821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62" name="직사각형 61"/>
          <p:cNvSpPr/>
          <p:nvPr/>
        </p:nvSpPr>
        <p:spPr bwMode="auto">
          <a:xfrm>
            <a:off x="2925076" y="5122095"/>
            <a:ext cx="640079" cy="340821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405533" y="4774266"/>
            <a:ext cx="5838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/>
              <a:t>&lt; 5ms</a:t>
            </a:r>
            <a:endParaRPr lang="ko-KR" altLang="en-US" sz="1000" b="1" dirty="0"/>
          </a:p>
        </p:txBody>
      </p:sp>
      <p:sp>
        <p:nvSpPr>
          <p:cNvPr id="64" name="직사각형 63"/>
          <p:cNvSpPr/>
          <p:nvPr/>
        </p:nvSpPr>
        <p:spPr bwMode="auto">
          <a:xfrm>
            <a:off x="4107244" y="5122094"/>
            <a:ext cx="640079" cy="340821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565155" y="4789379"/>
            <a:ext cx="5838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/>
              <a:t>&lt; 5ms</a:t>
            </a:r>
            <a:endParaRPr lang="ko-KR" altLang="en-US" sz="1000" b="1" dirty="0"/>
          </a:p>
        </p:txBody>
      </p:sp>
      <p:cxnSp>
        <p:nvCxnSpPr>
          <p:cNvPr id="67" name="직선 연결선 66"/>
          <p:cNvCxnSpPr/>
          <p:nvPr/>
        </p:nvCxnSpPr>
        <p:spPr bwMode="auto">
          <a:xfrm>
            <a:off x="1859276" y="5122094"/>
            <a:ext cx="0" cy="34082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직선 연결선 67"/>
          <p:cNvCxnSpPr/>
          <p:nvPr/>
        </p:nvCxnSpPr>
        <p:spPr bwMode="auto">
          <a:xfrm>
            <a:off x="1828797" y="5149799"/>
            <a:ext cx="0" cy="34082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직선 연결선 68"/>
          <p:cNvCxnSpPr/>
          <p:nvPr/>
        </p:nvCxnSpPr>
        <p:spPr bwMode="auto">
          <a:xfrm>
            <a:off x="1972884" y="5119318"/>
            <a:ext cx="0" cy="34082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직선 연결선 69"/>
          <p:cNvCxnSpPr/>
          <p:nvPr/>
        </p:nvCxnSpPr>
        <p:spPr bwMode="auto">
          <a:xfrm>
            <a:off x="1997823" y="5135942"/>
            <a:ext cx="0" cy="34082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직선 연결선 70"/>
          <p:cNvCxnSpPr/>
          <p:nvPr/>
        </p:nvCxnSpPr>
        <p:spPr bwMode="auto">
          <a:xfrm>
            <a:off x="2022762" y="5111007"/>
            <a:ext cx="0" cy="34082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324891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Update Source List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38919" y="915101"/>
            <a:ext cx="8666162" cy="5248275"/>
          </a:xfrm>
        </p:spPr>
        <p:txBody>
          <a:bodyPr/>
          <a:lstStyle/>
          <a:p>
            <a:r>
              <a:rPr lang="en-US" altLang="ko-KR" dirty="0" err="1" smtClean="0"/>
              <a:t>Lumir</a:t>
            </a:r>
            <a:r>
              <a:rPr lang="ko-KR" altLang="en-US" dirty="0" smtClean="0"/>
              <a:t>에 작성된 </a:t>
            </a:r>
            <a:r>
              <a:rPr lang="en-US" altLang="ko-KR" dirty="0" smtClean="0"/>
              <a:t>Source</a:t>
            </a:r>
            <a:r>
              <a:rPr lang="ko-KR" altLang="en-US" dirty="0" smtClean="0"/>
              <a:t>는</a:t>
            </a:r>
            <a:r>
              <a:rPr lang="en-US" altLang="ko-KR" dirty="0" smtClean="0"/>
              <a:t> File Name</a:t>
            </a:r>
            <a:r>
              <a:rPr lang="ko-KR" altLang="en-US" dirty="0" smtClean="0"/>
              <a:t>이 </a:t>
            </a:r>
            <a:r>
              <a:rPr lang="en-US" altLang="ko-KR" dirty="0" err="1" smtClean="0"/>
              <a:t>sbc</a:t>
            </a:r>
            <a:r>
              <a:rPr lang="en-US" altLang="ko-KR" dirty="0" smtClean="0"/>
              <a:t>_ </a:t>
            </a:r>
            <a:r>
              <a:rPr lang="ko-KR" altLang="en-US" dirty="0" smtClean="0"/>
              <a:t>로</a:t>
            </a:r>
            <a:r>
              <a:rPr lang="en-US" altLang="ko-KR" dirty="0" smtClean="0"/>
              <a:t> </a:t>
            </a:r>
            <a:r>
              <a:rPr lang="ko-KR" altLang="en-US" dirty="0" smtClean="0"/>
              <a:t>시작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en-US" altLang="ko-KR" dirty="0" err="1" smtClean="0"/>
              <a:t>sbc_fw.c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  </a:t>
            </a:r>
            <a:r>
              <a:rPr lang="en-US" altLang="ko-KR" dirty="0" err="1" smtClean="0"/>
              <a:t>sbc_ringbuffer.c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</a:t>
            </a:r>
            <a:r>
              <a:rPr lang="en-US" altLang="ko-KR" dirty="0" err="1" smtClean="0"/>
              <a:t>sbc_filter.c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</a:t>
            </a:r>
            <a:r>
              <a:rPr lang="en-US" altLang="ko-KR" dirty="0" err="1" smtClean="0"/>
              <a:t>sbc_crc_ccitt.c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</a:t>
            </a:r>
            <a:r>
              <a:rPr lang="en-US" altLang="ko-KR" dirty="0" err="1" smtClean="0"/>
              <a:t>sbc_spi.c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en-US" altLang="ko-KR" dirty="0" err="1" smtClean="0"/>
              <a:t>global.h</a:t>
            </a:r>
            <a:r>
              <a:rPr lang="en-US" altLang="ko-KR" dirty="0" smtClean="0"/>
              <a:t>   : </a:t>
            </a:r>
            <a:r>
              <a:rPr lang="ko-KR" altLang="en-US" dirty="0" smtClean="0"/>
              <a:t>전역 </a:t>
            </a:r>
            <a:r>
              <a:rPr lang="en-US" altLang="ko-KR" dirty="0" smtClean="0"/>
              <a:t>define </a:t>
            </a:r>
            <a:r>
              <a:rPr lang="ko-KR" altLang="en-US" dirty="0" smtClean="0"/>
              <a:t>내용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</a:t>
            </a:r>
            <a:r>
              <a:rPr lang="en-US" altLang="ko-KR" dirty="0" err="1" smtClean="0"/>
              <a:t>version.h</a:t>
            </a:r>
            <a:r>
              <a:rPr lang="en-US" altLang="ko-KR" dirty="0" smtClean="0"/>
              <a:t> : F/W version</a:t>
            </a:r>
            <a:r>
              <a:rPr lang="ko-KR" altLang="en-US" dirty="0" smtClean="0"/>
              <a:t> 정보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</a:t>
            </a:r>
            <a:r>
              <a:rPr lang="en-US" altLang="ko-KR" dirty="0" err="1" smtClean="0"/>
              <a:t>device.h</a:t>
            </a:r>
            <a:r>
              <a:rPr lang="en-US" altLang="ko-KR" dirty="0" smtClean="0"/>
              <a:t>   : HW Revision </a:t>
            </a:r>
            <a:r>
              <a:rPr lang="ko-KR" altLang="en-US" dirty="0" smtClean="0"/>
              <a:t>정보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err="1" smtClean="0"/>
              <a:t>Makefile</a:t>
            </a:r>
            <a:r>
              <a:rPr lang="en-US" altLang="ko-KR" dirty="0" smtClean="0"/>
              <a:t> </a:t>
            </a:r>
            <a:r>
              <a:rPr lang="ko-KR" altLang="en-US" dirty="0" smtClean="0"/>
              <a:t>수정 내용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en-US" altLang="ko-KR" dirty="0" err="1" smtClean="0"/>
              <a:t>Lumir</a:t>
            </a:r>
            <a:r>
              <a:rPr lang="ko-KR" altLang="en-US" dirty="0" smtClean="0"/>
              <a:t>에서 작업한 내용은 </a:t>
            </a:r>
            <a:r>
              <a:rPr lang="en-US" altLang="ko-KR" dirty="0" smtClean="0"/>
              <a:t>SBCSOURCE</a:t>
            </a:r>
            <a:r>
              <a:rPr lang="ko-KR" altLang="en-US" dirty="0" smtClean="0"/>
              <a:t>로 별도 정의함</a:t>
            </a:r>
            <a:r>
              <a:rPr lang="en-US" altLang="ko-KR" dirty="0" smtClean="0"/>
              <a:t>. </a:t>
            </a:r>
            <a:br>
              <a:rPr lang="en-US" altLang="ko-KR" dirty="0" smtClean="0"/>
            </a:b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68" y="5100369"/>
            <a:ext cx="3057952" cy="136226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68" y="4644313"/>
            <a:ext cx="7062698" cy="313595"/>
          </a:xfrm>
          <a:prstGeom prst="rect">
            <a:avLst/>
          </a:prstGeom>
        </p:spPr>
      </p:pic>
      <p:cxnSp>
        <p:nvCxnSpPr>
          <p:cNvPr id="7" name="직선 화살표 연결선 6"/>
          <p:cNvCxnSpPr>
            <a:endCxn id="8" idx="2"/>
          </p:cNvCxnSpPr>
          <p:nvPr/>
        </p:nvCxnSpPr>
        <p:spPr bwMode="auto">
          <a:xfrm flipV="1">
            <a:off x="3648721" y="4987635"/>
            <a:ext cx="3618845" cy="756829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직사각형 7"/>
          <p:cNvSpPr/>
          <p:nvPr/>
        </p:nvSpPr>
        <p:spPr bwMode="auto">
          <a:xfrm>
            <a:off x="6845857" y="4611060"/>
            <a:ext cx="843418" cy="37657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ysDot"/>
            <a:round/>
            <a:headEnd type="none" w="sm" len="sm"/>
            <a:tailEnd type="none" w="sm" len="sm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3926" y="5648831"/>
            <a:ext cx="2762636" cy="724001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 bwMode="auto">
          <a:xfrm>
            <a:off x="5102423" y="5902036"/>
            <a:ext cx="2653351" cy="261340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ysDot"/>
            <a:round/>
            <a:headEnd type="none" w="sm" len="sm"/>
            <a:tailEnd type="none" w="sm" len="sm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3431" y="1264529"/>
            <a:ext cx="2601650" cy="2483776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2576" y="1264529"/>
            <a:ext cx="2447506" cy="789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611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공통 사용 </a:t>
            </a:r>
            <a:r>
              <a:rPr lang="en-US" altLang="ko-KR" dirty="0" smtClean="0"/>
              <a:t>File</a:t>
            </a:r>
            <a:r>
              <a:rPr lang="ko-KR" altLang="en-US" dirty="0" smtClean="0"/>
              <a:t>의 수정 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5174" y="972762"/>
            <a:ext cx="8666162" cy="5509130"/>
          </a:xfrm>
        </p:spPr>
        <p:txBody>
          <a:bodyPr/>
          <a:lstStyle/>
          <a:p>
            <a:r>
              <a:rPr lang="en-US" altLang="ko-KR" sz="1600" dirty="0" err="1" smtClean="0"/>
              <a:t>Initrtems.c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정형화 함</a:t>
            </a:r>
            <a:r>
              <a:rPr lang="en-US" altLang="ko-KR" sz="1600" dirty="0" smtClean="0"/>
              <a:t>. </a:t>
            </a:r>
            <a:br>
              <a:rPr lang="en-US" altLang="ko-KR" sz="1600" dirty="0" smtClean="0"/>
            </a:br>
            <a:r>
              <a:rPr lang="en-US" altLang="ko-KR" sz="1600" dirty="0" smtClean="0"/>
              <a:t>- </a:t>
            </a:r>
            <a:r>
              <a:rPr lang="ko-KR" altLang="en-US" sz="1600" dirty="0" smtClean="0"/>
              <a:t>모든</a:t>
            </a:r>
            <a:r>
              <a:rPr lang="en-US" altLang="ko-KR" sz="1600" dirty="0" smtClean="0"/>
              <a:t> Task</a:t>
            </a:r>
            <a:r>
              <a:rPr lang="ko-KR" altLang="en-US" sz="1600" dirty="0" smtClean="0"/>
              <a:t>는 </a:t>
            </a:r>
            <a:r>
              <a:rPr lang="en-US" altLang="ko-KR" sz="1600" dirty="0" err="1" smtClean="0"/>
              <a:t>Initrtems</a:t>
            </a:r>
            <a:r>
              <a:rPr lang="ko-KR" altLang="en-US" sz="1600" dirty="0" smtClean="0"/>
              <a:t>의 </a:t>
            </a:r>
            <a:r>
              <a:rPr lang="en-US" altLang="ko-KR" sz="1600" dirty="0" err="1" smtClean="0"/>
              <a:t>Init</a:t>
            </a:r>
            <a:r>
              <a:rPr lang="ko-KR" altLang="en-US" sz="1600" dirty="0" smtClean="0"/>
              <a:t>에서 생성 및 시작되게 수정</a:t>
            </a:r>
            <a:r>
              <a:rPr lang="en-US" altLang="ko-KR" sz="1600" dirty="0" smtClean="0"/>
              <a:t>. </a:t>
            </a:r>
            <a:br>
              <a:rPr lang="en-US" altLang="ko-KR" sz="1600" dirty="0" smtClean="0"/>
            </a:br>
            <a:r>
              <a:rPr lang="en-US" altLang="ko-KR" sz="1600" dirty="0" smtClean="0"/>
              <a:t>- Device Driver</a:t>
            </a:r>
            <a:r>
              <a:rPr lang="ko-KR" altLang="en-US" sz="1600" dirty="0" smtClean="0"/>
              <a:t>의 </a:t>
            </a:r>
            <a:r>
              <a:rPr lang="en-US" altLang="ko-KR" sz="1600" dirty="0" smtClean="0"/>
              <a:t>Initialize</a:t>
            </a:r>
            <a:r>
              <a:rPr lang="ko-KR" altLang="en-US" sz="1600" dirty="0" smtClean="0"/>
              <a:t>도 </a:t>
            </a:r>
            <a:r>
              <a:rPr lang="en-US" altLang="ko-KR" sz="1600" dirty="0" err="1" smtClean="0"/>
              <a:t>Init</a:t>
            </a:r>
            <a:r>
              <a:rPr lang="ko-KR" altLang="en-US" sz="1600" dirty="0" smtClean="0"/>
              <a:t>에서 실행하게 수정 함</a:t>
            </a:r>
            <a:r>
              <a:rPr lang="en-US" altLang="ko-KR" sz="1600" dirty="0" smtClean="0"/>
              <a:t>. </a:t>
            </a:r>
            <a:br>
              <a:rPr lang="en-US" altLang="ko-KR" sz="1600" dirty="0" smtClean="0"/>
            </a:br>
            <a:r>
              <a:rPr lang="en-US" altLang="ko-KR" sz="1600" dirty="0" smtClean="0"/>
              <a:t>- HY</a:t>
            </a:r>
            <a:r>
              <a:rPr lang="ko-KR" altLang="en-US" sz="1600" dirty="0" smtClean="0"/>
              <a:t>에서 작업 내용은 별도의 모듈을 만들어 </a:t>
            </a:r>
            <a:r>
              <a:rPr lang="en-US" altLang="ko-KR" sz="1600" dirty="0" err="1" smtClean="0"/>
              <a:t>initrtems</a:t>
            </a:r>
            <a:r>
              <a:rPr lang="ko-KR" altLang="en-US" sz="1600" dirty="0" smtClean="0"/>
              <a:t>내에서는 단일 함수 하나만 호출 할 수 있도록 작업이 필요함</a:t>
            </a:r>
            <a:r>
              <a:rPr lang="en-US" altLang="ko-KR" sz="1600" dirty="0" smtClean="0"/>
              <a:t>. – </a:t>
            </a:r>
            <a:r>
              <a:rPr lang="ko-KR" altLang="en-US" sz="1600" dirty="0" smtClean="0"/>
              <a:t>공용 기능 이외에는 여기서 구현 하지 않는다</a:t>
            </a:r>
            <a:r>
              <a:rPr lang="en-US" altLang="ko-KR" sz="1600" dirty="0" smtClean="0"/>
              <a:t>. </a:t>
            </a:r>
            <a:endParaRPr lang="ko-KR" altLang="en-US" sz="16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74" y="2290151"/>
            <a:ext cx="4318115" cy="295829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910" y="2265212"/>
            <a:ext cx="4541193" cy="295829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174" y="5258578"/>
            <a:ext cx="4318115" cy="122331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8910" y="5250498"/>
            <a:ext cx="2945919" cy="125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271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Image Partitioning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166861" y="1064202"/>
            <a:ext cx="8666162" cy="5248275"/>
          </a:xfrm>
        </p:spPr>
        <p:txBody>
          <a:bodyPr/>
          <a:lstStyle/>
          <a:p>
            <a:r>
              <a:rPr lang="en-US" altLang="ko-KR" dirty="0" smtClean="0"/>
              <a:t>U-boot  + DTNPL F/W + DTNPL Recovery F/W</a:t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 bwMode="auto">
          <a:xfrm>
            <a:off x="473826" y="1438099"/>
            <a:ext cx="3624350" cy="872837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U-boot ( 500KB</a:t>
            </a:r>
            <a:r>
              <a:rPr kumimoji="1" lang="en-US" altLang="ko-KR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 )</a:t>
            </a:r>
            <a:endParaRPr kumimoji="1" lang="ko-KR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473826" y="2310936"/>
            <a:ext cx="3624350" cy="1787236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Primary Application ( 3.5MB)</a:t>
            </a:r>
            <a:endParaRPr kumimoji="1" lang="ko-KR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473826" y="4098172"/>
            <a:ext cx="3624350" cy="1787236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Secondary</a:t>
            </a:r>
            <a:r>
              <a:rPr kumimoji="1" lang="en-US" altLang="ko-KR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 Application (3.5MB)</a:t>
            </a:r>
            <a:endParaRPr kumimoji="1" lang="ko-KR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476580" y="5885408"/>
            <a:ext cx="3624350" cy="310083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Reserved</a:t>
            </a:r>
            <a:r>
              <a:rPr kumimoji="1" lang="en-US" altLang="ko-KR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 </a:t>
            </a:r>
            <a:r>
              <a:rPr kumimoji="1" lang="en-US" altLang="ko-KR" sz="2400" b="0" i="0" u="none" strike="noStrike" cap="none" normalizeH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( 500</a:t>
            </a:r>
            <a:r>
              <a:rPr lang="en-US" altLang="ko-KR" smtClean="0"/>
              <a:t>KB</a:t>
            </a:r>
            <a:r>
              <a:rPr lang="en-US" altLang="ko-KR" dirty="0" smtClean="0"/>
              <a:t>)</a:t>
            </a:r>
            <a:endParaRPr kumimoji="1" lang="ko-KR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3059084" y="3823855"/>
            <a:ext cx="1039092" cy="274317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CRC(4B)</a:t>
            </a:r>
            <a:endParaRPr kumimoji="1" lang="ko-KR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2019992" y="3823854"/>
            <a:ext cx="1039092" cy="274317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F/W</a:t>
            </a:r>
            <a:r>
              <a:rPr kumimoji="1" lang="en-US" altLang="ko-KR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 Ver. (2B)</a:t>
            </a:r>
            <a:endParaRPr kumimoji="1" lang="ko-KR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3059084" y="5597235"/>
            <a:ext cx="1039092" cy="274317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CRC(4B)</a:t>
            </a:r>
            <a:endParaRPr kumimoji="1" lang="ko-KR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2019992" y="5597234"/>
            <a:ext cx="1039092" cy="274317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F/W</a:t>
            </a:r>
            <a:r>
              <a:rPr kumimoji="1" lang="en-US" altLang="ko-KR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 Ver. (2B)</a:t>
            </a:r>
            <a:endParaRPr kumimoji="1" lang="ko-KR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cxnSp>
        <p:nvCxnSpPr>
          <p:cNvPr id="16" name="직선 화살표 연결선 15"/>
          <p:cNvCxnSpPr/>
          <p:nvPr/>
        </p:nvCxnSpPr>
        <p:spPr bwMode="auto">
          <a:xfrm flipH="1">
            <a:off x="4098176" y="1730486"/>
            <a:ext cx="789708" cy="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직선 화살표 연결선 16"/>
          <p:cNvCxnSpPr/>
          <p:nvPr/>
        </p:nvCxnSpPr>
        <p:spPr bwMode="auto">
          <a:xfrm flipH="1">
            <a:off x="4112000" y="3374964"/>
            <a:ext cx="789708" cy="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직선 화살표 연결선 17"/>
          <p:cNvCxnSpPr/>
          <p:nvPr/>
        </p:nvCxnSpPr>
        <p:spPr bwMode="auto">
          <a:xfrm flipH="1">
            <a:off x="4105088" y="6040449"/>
            <a:ext cx="789708" cy="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TextBox 18"/>
          <p:cNvSpPr txBox="1"/>
          <p:nvPr/>
        </p:nvSpPr>
        <p:spPr>
          <a:xfrm>
            <a:off x="4934681" y="5809616"/>
            <a:ext cx="3968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중요 </a:t>
            </a:r>
            <a:r>
              <a:rPr lang="en-US" altLang="ko-KR" sz="1200" dirty="0" smtClean="0"/>
              <a:t>Parameter</a:t>
            </a:r>
            <a:r>
              <a:rPr lang="ko-KR" altLang="en-US" sz="1200" dirty="0" smtClean="0"/>
              <a:t> 저장 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en-US" altLang="ko-KR" sz="1200" dirty="0" smtClean="0"/>
              <a:t>(Booting , Power On/off count, </a:t>
            </a:r>
            <a:r>
              <a:rPr lang="ko-KR" altLang="en-US" sz="1200" dirty="0" smtClean="0"/>
              <a:t>부품 수명 </a:t>
            </a:r>
            <a:r>
              <a:rPr lang="en-US" altLang="ko-KR" sz="1200" dirty="0" smtClean="0"/>
              <a:t>Inventory etc…)</a:t>
            </a:r>
            <a:endParaRPr lang="ko-KR" altLang="en-US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4894796" y="1438099"/>
            <a:ext cx="39682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F/W </a:t>
            </a:r>
            <a:r>
              <a:rPr lang="ko-KR" altLang="en-US" sz="1200" dirty="0" smtClean="0"/>
              <a:t>무결성 검사 후 </a:t>
            </a:r>
            <a:r>
              <a:rPr lang="en-US" altLang="ko-KR" sz="1200" dirty="0" smtClean="0"/>
              <a:t>Application </a:t>
            </a:r>
            <a:r>
              <a:rPr lang="ko-KR" altLang="en-US" sz="1200" dirty="0" smtClean="0"/>
              <a:t>영역으로 </a:t>
            </a:r>
            <a:r>
              <a:rPr lang="en-US" altLang="ko-KR" sz="1200" dirty="0" smtClean="0"/>
              <a:t>Jump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F/W Version Check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비정상적으로 종료 되었다 </a:t>
            </a:r>
            <a:r>
              <a:rPr lang="en-US" altLang="ko-KR" sz="1200" dirty="0" smtClean="0"/>
              <a:t>boot up </a:t>
            </a:r>
            <a:r>
              <a:rPr lang="ko-KR" altLang="en-US" sz="1200" dirty="0" smtClean="0"/>
              <a:t>되었는지 확인</a:t>
            </a:r>
            <a:endParaRPr lang="en-US" altLang="ko-KR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Live F/W Update  ( </a:t>
            </a:r>
            <a:r>
              <a:rPr lang="ko-KR" altLang="en-US" sz="1200" dirty="0" smtClean="0"/>
              <a:t>필요 하면 적용 </a:t>
            </a:r>
            <a:r>
              <a:rPr lang="en-US" altLang="ko-KR" sz="1200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Primary App</a:t>
            </a:r>
            <a:r>
              <a:rPr lang="ko-KR" altLang="en-US" sz="1200" dirty="0" smtClean="0"/>
              <a:t>이 </a:t>
            </a:r>
            <a:r>
              <a:rPr lang="en-US" altLang="ko-KR" sz="1200" dirty="0" smtClean="0"/>
              <a:t>Crash</a:t>
            </a:r>
            <a:r>
              <a:rPr lang="ko-KR" altLang="en-US" sz="1200" dirty="0" smtClean="0"/>
              <a:t>되었으면 </a:t>
            </a:r>
            <a:r>
              <a:rPr lang="en-US" altLang="ko-KR" sz="1200" dirty="0" smtClean="0"/>
              <a:t>Secondary</a:t>
            </a:r>
            <a:r>
              <a:rPr lang="ko-KR" altLang="en-US" sz="1200" dirty="0" smtClean="0"/>
              <a:t>로 </a:t>
            </a:r>
            <a:r>
              <a:rPr lang="en-US" altLang="ko-KR" sz="1200" dirty="0" smtClean="0"/>
              <a:t>Application Jump </a:t>
            </a:r>
            <a:endParaRPr lang="en-US" altLang="ko-K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Image </a:t>
            </a:r>
            <a:r>
              <a:rPr lang="ko-KR" altLang="en-US" sz="1200" dirty="0" smtClean="0"/>
              <a:t>복구</a:t>
            </a:r>
            <a:endParaRPr lang="en-US" altLang="ko-KR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 smtClean="0"/>
          </a:p>
        </p:txBody>
      </p:sp>
      <p:sp>
        <p:nvSpPr>
          <p:cNvPr id="22" name="TextBox 21"/>
          <p:cNvSpPr txBox="1"/>
          <p:nvPr/>
        </p:nvSpPr>
        <p:spPr>
          <a:xfrm>
            <a:off x="4901708" y="3059080"/>
            <a:ext cx="3968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Diagnosis </a:t>
            </a:r>
            <a:r>
              <a:rPr lang="ko-KR" altLang="en-US" sz="1200" dirty="0" smtClean="0"/>
              <a:t>기능이 필요한지 </a:t>
            </a:r>
            <a:r>
              <a:rPr lang="en-US" altLang="ko-KR" sz="1200" dirty="0" smtClean="0"/>
              <a:t>?</a:t>
            </a:r>
            <a:br>
              <a:rPr lang="en-US" altLang="ko-KR" sz="1200" dirty="0" smtClean="0"/>
            </a:br>
            <a:r>
              <a:rPr lang="en-US" altLang="ko-KR" sz="1200" dirty="0" smtClean="0"/>
              <a:t>- </a:t>
            </a:r>
            <a:r>
              <a:rPr lang="ko-KR" altLang="en-US" sz="1200" dirty="0" smtClean="0"/>
              <a:t>필요 하다면 어떻게 검증 할 지</a:t>
            </a:r>
            <a:r>
              <a:rPr lang="en-US" altLang="ko-KR" sz="1200" dirty="0" smtClean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사용하지 않는 영역은 모두</a:t>
            </a:r>
            <a:r>
              <a:rPr lang="en-US" altLang="ko-KR" sz="1200" dirty="0"/>
              <a:t> </a:t>
            </a:r>
            <a:r>
              <a:rPr lang="en-US" altLang="ko-KR" sz="1200" dirty="0" smtClean="0"/>
              <a:t>0xFF</a:t>
            </a:r>
            <a:r>
              <a:rPr lang="ko-KR" altLang="en-US" sz="1200" dirty="0" smtClean="0"/>
              <a:t>로 처리 함</a:t>
            </a:r>
            <a:r>
              <a:rPr lang="en-US" altLang="ko-KR" sz="1200" dirty="0" smtClean="0"/>
              <a:t>. </a:t>
            </a:r>
            <a:br>
              <a:rPr lang="en-US" altLang="ko-KR" sz="1200" dirty="0" smtClean="0"/>
            </a:br>
            <a:r>
              <a:rPr lang="ko-KR" altLang="en-US" sz="1200" dirty="0" smtClean="0"/>
              <a:t>실 사용 프로그램 </a:t>
            </a:r>
            <a:r>
              <a:rPr lang="en-US" altLang="ko-KR" sz="1200" dirty="0" smtClean="0"/>
              <a:t>1.7MB -1.8MB</a:t>
            </a:r>
            <a:r>
              <a:rPr lang="ko-KR" altLang="en-US" sz="1200" dirty="0" smtClean="0"/>
              <a:t>는 </a:t>
            </a:r>
            <a:r>
              <a:rPr lang="en-US" altLang="ko-KR" sz="1200" dirty="0" smtClean="0"/>
              <a:t>0xFF </a:t>
            </a:r>
            <a:r>
              <a:rPr lang="ko-KR" altLang="en-US" sz="1200" dirty="0" smtClean="0"/>
              <a:t>처리</a:t>
            </a:r>
            <a:endParaRPr lang="en-US" altLang="ko-KR" sz="1200" dirty="0" smtClean="0"/>
          </a:p>
        </p:txBody>
      </p:sp>
    </p:spTree>
    <p:extLst>
      <p:ext uri="{BB962C8B-B14F-4D97-AF65-F5344CB8AC3E}">
        <p14:creationId xmlns:p14="http://schemas.microsoft.com/office/powerpoint/2010/main" val="1880988321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41085</TotalTime>
  <Words>374</Words>
  <Application>Microsoft Office PowerPoint</Application>
  <PresentationFormat>화면 슬라이드 쇼(4:3)</PresentationFormat>
  <Paragraphs>154</Paragraphs>
  <Slides>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굴림</vt:lpstr>
      <vt:lpstr>맑은 고딕</vt:lpstr>
      <vt:lpstr>바탕체</vt:lpstr>
      <vt:lpstr>Arial</vt:lpstr>
      <vt:lpstr>Arial Black</vt:lpstr>
      <vt:lpstr>Times New Roman</vt:lpstr>
      <vt:lpstr>Wingdings</vt:lpstr>
      <vt:lpstr>기본 디자인</vt:lpstr>
      <vt:lpstr>Weekly Progress Report (WPR_2020.07.30)    ’20.07.30 Lumir</vt:lpstr>
      <vt:lpstr>기능성능 시험 및 환경시험 일정</vt:lpstr>
      <vt:lpstr>DTNPL SBC F/W 수정 사항</vt:lpstr>
      <vt:lpstr>DTNPL SBC F/W 수정 사항 ( Task 구조)</vt:lpstr>
      <vt:lpstr>USART Transmission Timing</vt:lpstr>
      <vt:lpstr>Update Source List</vt:lpstr>
      <vt:lpstr>공통 사용 File의 수정 사항</vt:lpstr>
      <vt:lpstr>Image Partitioning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한동인</dc:creator>
  <cp:lastModifiedBy>O18005</cp:lastModifiedBy>
  <cp:revision>1638</cp:revision>
  <cp:lastPrinted>2017-08-25T09:42:12Z</cp:lastPrinted>
  <dcterms:created xsi:type="dcterms:W3CDTF">1601-01-01T00:00:00Z</dcterms:created>
  <dcterms:modified xsi:type="dcterms:W3CDTF">2020-07-29T10:05:23Z</dcterms:modified>
</cp:coreProperties>
</file>