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1209" r:id="rId2"/>
    <p:sldId id="1353" r:id="rId3"/>
    <p:sldId id="1354" r:id="rId4"/>
    <p:sldId id="1377" r:id="rId5"/>
    <p:sldId id="1355" r:id="rId6"/>
    <p:sldId id="1356" r:id="rId7"/>
    <p:sldId id="1357" r:id="rId8"/>
    <p:sldId id="1372" r:id="rId9"/>
    <p:sldId id="1359" r:id="rId10"/>
    <p:sldId id="1361" r:id="rId11"/>
    <p:sldId id="1363" r:id="rId12"/>
    <p:sldId id="1371" r:id="rId13"/>
    <p:sldId id="1364" r:id="rId14"/>
    <p:sldId id="1365" r:id="rId15"/>
    <p:sldId id="1367" r:id="rId16"/>
    <p:sldId id="1368" r:id="rId17"/>
    <p:sldId id="1369" r:id="rId18"/>
    <p:sldId id="1373" r:id="rId19"/>
    <p:sldId id="1374" r:id="rId20"/>
    <p:sldId id="1375" r:id="rId21"/>
    <p:sldId id="1401" r:id="rId22"/>
    <p:sldId id="1407" r:id="rId23"/>
    <p:sldId id="1408" r:id="rId24"/>
    <p:sldId id="1405" r:id="rId25"/>
    <p:sldId id="1406" r:id="rId26"/>
    <p:sldId id="1402" r:id="rId27"/>
    <p:sldId id="1404" r:id="rId28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DA5"/>
    <a:srgbClr val="000338"/>
    <a:srgbClr val="FFFFFF"/>
    <a:srgbClr val="E2EFD9"/>
    <a:srgbClr val="E6EEF7"/>
    <a:srgbClr val="DBDBDB"/>
    <a:srgbClr val="F2F2F2"/>
    <a:srgbClr val="63686C"/>
    <a:srgbClr val="6C7174"/>
    <a:srgbClr val="EFFF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98" autoAdjust="0"/>
    <p:restoredTop sz="96362" autoAdjust="0"/>
  </p:normalViewPr>
  <p:slideViewPr>
    <p:cSldViewPr snapToGrid="0">
      <p:cViewPr varScale="1">
        <p:scale>
          <a:sx n="106" d="100"/>
          <a:sy n="106" d="100"/>
        </p:scale>
        <p:origin x="102" y="120"/>
      </p:cViewPr>
      <p:guideLst>
        <p:guide orient="horz" pos="2160"/>
        <p:guide pos="3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2400" y="6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4" y="4714878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3006090" y="622300"/>
            <a:ext cx="5570220" cy="1470025"/>
          </a:xfrm>
        </p:spPr>
        <p:txBody>
          <a:bodyPr lIns="91440" tIns="45720" rIns="91440" bIns="45720"/>
          <a:lstStyle>
            <a:lvl1pPr>
              <a:defRPr sz="3000">
                <a:latin typeface="+mj-lt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3006090" y="3886200"/>
            <a:ext cx="4766310" cy="1752600"/>
          </a:xfrm>
        </p:spPr>
        <p:txBody>
          <a:bodyPr lIns="91440" tIns="45720" rIns="91440" bIns="45720" anchor="ctr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sp>
        <p:nvSpPr>
          <p:cNvPr id="23" name="Line 84"/>
          <p:cNvSpPr>
            <a:spLocks noChangeShapeType="1"/>
          </p:cNvSpPr>
          <p:nvPr userDrawn="1"/>
        </p:nvSpPr>
        <p:spPr bwMode="auto">
          <a:xfrm>
            <a:off x="230696" y="6842760"/>
            <a:ext cx="8913303" cy="0"/>
          </a:xfrm>
          <a:prstGeom prst="line">
            <a:avLst/>
          </a:prstGeom>
          <a:noFill/>
          <a:ln w="25400">
            <a:solidFill>
              <a:srgbClr val="000338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22921" y="6415804"/>
            <a:ext cx="1203521" cy="36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B5C1B240-8930-4347-9EDB-DB33EF9CA4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054CD70C-7F67-4367-9FDF-206008AB28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DCE243E3-F0B5-437D-ADC4-C0F1BFD669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1E4831DA-CFB9-4C15-9A7C-5CCA7DDD4A0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EF079343-1D4C-4350-8921-D61C8EBC77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FE64E568-A02E-4C51-8193-5D7193BC921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31763"/>
            <a:ext cx="86868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6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gradFill flip="none" rotWithShape="1">
              <a:gsLst>
                <a:gs pos="0">
                  <a:schemeClr val="accent6"/>
                </a:gs>
                <a:gs pos="50000">
                  <a:schemeClr val="accent6">
                    <a:lumMod val="22000"/>
                    <a:lumOff val="78000"/>
                  </a:schemeClr>
                </a:gs>
                <a:gs pos="100000">
                  <a:srgbClr val="7030A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26963" y="6519864"/>
            <a:ext cx="1028295" cy="311142"/>
          </a:xfrm>
          <a:prstGeom prst="rect">
            <a:avLst/>
          </a:prstGeom>
        </p:spPr>
      </p:pic>
      <p:sp>
        <p:nvSpPr>
          <p:cNvPr id="11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  <a:cs typeface="Arial" panose="020B0604020202020204" pitchFamily="34" charset="0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  <a:cs typeface="Arial" panose="020B0604020202020204" pitchFamily="34" charset="0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722906" y="1958975"/>
            <a:ext cx="6137910" cy="1594121"/>
          </a:xfrm>
        </p:spPr>
        <p:txBody>
          <a:bodyPr/>
          <a:lstStyle/>
          <a:p>
            <a:pPr algn="ctr"/>
            <a:r>
              <a:rPr lang="en-US" altLang="ko-KR" sz="2800" dirty="0"/>
              <a:t>K7PE </a:t>
            </a:r>
            <a:r>
              <a:rPr lang="ko-KR" altLang="en-US" sz="2800" dirty="0"/>
              <a:t>및 </a:t>
            </a:r>
            <a:r>
              <a:rPr lang="en-US" altLang="ko-KR" sz="2800" dirty="0"/>
              <a:t>25PE </a:t>
            </a:r>
            <a:r>
              <a:rPr lang="ko-KR" altLang="en-US" sz="2800" dirty="0"/>
              <a:t>프로젝트</a:t>
            </a:r>
            <a:br>
              <a:rPr lang="en-US" altLang="ko-KR" sz="2800" dirty="0"/>
            </a:br>
            <a:r>
              <a:rPr lang="ko-KR" altLang="en-US" sz="2800" dirty="0"/>
              <a:t>인수인계자료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722906" y="5094514"/>
            <a:ext cx="6137910" cy="907558"/>
          </a:xfrm>
        </p:spPr>
        <p:txBody>
          <a:bodyPr/>
          <a:lstStyle/>
          <a:p>
            <a:r>
              <a:rPr lang="en-US" altLang="ko-KR" sz="2000" dirty="0"/>
              <a:t>2019. 01. 14</a:t>
            </a:r>
          </a:p>
        </p:txBody>
      </p:sp>
    </p:spTree>
    <p:extLst>
      <p:ext uri="{BB962C8B-B14F-4D97-AF65-F5344CB8AC3E}">
        <p14:creationId xmlns:p14="http://schemas.microsoft.com/office/powerpoint/2010/main" val="313676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63454-BA6F-429F-B0C1-0DDEEC6F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A9F1EE-D202-4CD7-8AAE-E32CFB558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altLang="ko-KR" dirty="0"/>
              <a:t>K7PE</a:t>
            </a:r>
          </a:p>
          <a:p>
            <a:pPr marL="342900" indent="-342900">
              <a:buAutoNum type="arabicPeriod"/>
            </a:pPr>
            <a:r>
              <a:rPr lang="en-US" altLang="ko-KR" dirty="0"/>
              <a:t>25PE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6601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K7PE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1.0 </a:t>
            </a:r>
            <a:r>
              <a:rPr lang="ko-KR" altLang="en-US" dirty="0"/>
              <a:t>프로젝트 상태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1.1 PCTS S/W</a:t>
            </a:r>
          </a:p>
          <a:p>
            <a:pPr lvl="1">
              <a:buFontTx/>
              <a:buChar char="-"/>
            </a:pPr>
            <a:r>
              <a:rPr lang="ko-KR" altLang="en-US" dirty="0"/>
              <a:t>소프트웨어의 목적 및 방법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소스 코드 위치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개발 언어</a:t>
            </a:r>
            <a:r>
              <a:rPr lang="en-US" altLang="ko-KR" dirty="0"/>
              <a:t>, </a:t>
            </a:r>
            <a:r>
              <a:rPr lang="ko-KR" altLang="en-US" dirty="0"/>
              <a:t>동작 환경</a:t>
            </a:r>
            <a:r>
              <a:rPr lang="en-US" altLang="ko-KR" dirty="0"/>
              <a:t>,</a:t>
            </a:r>
            <a:r>
              <a:rPr lang="ko-KR" altLang="en-US" dirty="0"/>
              <a:t> 빌드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버전 이력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동작 화면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1.2 SAS S/W</a:t>
            </a:r>
          </a:p>
          <a:p>
            <a:pPr lvl="1">
              <a:buFontTx/>
              <a:buChar char="-"/>
            </a:pPr>
            <a:r>
              <a:rPr lang="ko-KR" altLang="en-US" dirty="0"/>
              <a:t>위와 동일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1.3 VU F/W</a:t>
            </a:r>
          </a:p>
          <a:p>
            <a:pPr lvl="1">
              <a:buFontTx/>
              <a:buChar char="-"/>
            </a:pPr>
            <a:r>
              <a:rPr lang="ko-KR" altLang="en-US" dirty="0"/>
              <a:t>위와 동일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1.4 VU S/W</a:t>
            </a:r>
          </a:p>
          <a:p>
            <a:pPr lvl="1">
              <a:buFontTx/>
              <a:buChar char="-"/>
            </a:pPr>
            <a:r>
              <a:rPr lang="ko-KR" altLang="en-US" dirty="0"/>
              <a:t>위와 동일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1.5 DB</a:t>
            </a:r>
          </a:p>
          <a:p>
            <a:pPr lvl="1">
              <a:buFontTx/>
              <a:buChar char="-"/>
            </a:pPr>
            <a:r>
              <a:rPr lang="ko-KR" altLang="en-US" dirty="0"/>
              <a:t>파일 위치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버전 이력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1.6 </a:t>
            </a:r>
            <a:r>
              <a:rPr lang="ko-KR" altLang="en-US" dirty="0"/>
              <a:t>향후 예상 업무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83070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1.0 K7PE –</a:t>
            </a:r>
            <a:r>
              <a:rPr lang="ko-KR" altLang="en-US" dirty="0"/>
              <a:t> 프로젝트 상태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1600" dirty="0"/>
              <a:t>개발 및 납품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항우연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r>
              <a:rPr lang="en-US" altLang="ko-KR" sz="1600" dirty="0"/>
              <a:t>: CLOSE</a:t>
            </a:r>
          </a:p>
          <a:p>
            <a:pPr lvl="1">
              <a:buFontTx/>
              <a:buChar char="-"/>
            </a:pPr>
            <a:r>
              <a:rPr lang="en-US" altLang="ko-KR" dirty="0"/>
              <a:t>PCTS ETB/FM</a:t>
            </a:r>
          </a:p>
          <a:p>
            <a:pPr lvl="1">
              <a:buFontTx/>
              <a:buChar char="-"/>
            </a:pPr>
            <a:r>
              <a:rPr lang="en-US" altLang="ko-KR" dirty="0"/>
              <a:t>VU ETB/FM</a:t>
            </a:r>
          </a:p>
          <a:p>
            <a:pPr lvl="1">
              <a:buFontTx/>
              <a:buChar char="-"/>
            </a:pPr>
            <a:r>
              <a:rPr lang="en-US" altLang="ko-KR" dirty="0"/>
              <a:t>SAS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유지 보수 </a:t>
            </a:r>
            <a:r>
              <a:rPr lang="en-US" altLang="ko-KR" sz="1600" dirty="0"/>
              <a:t>: </a:t>
            </a:r>
            <a:r>
              <a:rPr lang="en-US" altLang="ko-KR" sz="1600" dirty="0">
                <a:solidFill>
                  <a:srgbClr val="00B050"/>
                </a:solidFill>
              </a:rPr>
              <a:t>OPEN</a:t>
            </a:r>
            <a:r>
              <a:rPr lang="en-US" altLang="ko-KR" sz="1600" dirty="0"/>
              <a:t> (K7 </a:t>
            </a:r>
            <a:r>
              <a:rPr lang="ko-KR" altLang="en-US" sz="1600" dirty="0"/>
              <a:t>발사 전까지</a:t>
            </a:r>
            <a:r>
              <a:rPr lang="en-US" altLang="ko-KR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08291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K7PE –</a:t>
            </a:r>
            <a:r>
              <a:rPr lang="ko-KR" altLang="en-US" dirty="0"/>
              <a:t> </a:t>
            </a:r>
            <a:r>
              <a:rPr lang="en-US" altLang="ko-KR" dirty="0"/>
              <a:t>PCTS S/W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소프트웨어의 목적 및 방법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sz="1600" b="0" dirty="0"/>
              <a:t>7</a:t>
            </a:r>
            <a:r>
              <a:rPr lang="ko-KR" altLang="en-US" sz="1600" b="0" dirty="0"/>
              <a:t>호 위성의 전원 공급</a:t>
            </a:r>
            <a:r>
              <a:rPr lang="en-US" altLang="ko-KR" sz="1600" b="0" dirty="0"/>
              <a:t>, TLM </a:t>
            </a:r>
            <a:r>
              <a:rPr lang="ko-KR" altLang="en-US" sz="1600" b="0" dirty="0"/>
              <a:t>측정</a:t>
            </a:r>
            <a:r>
              <a:rPr lang="en-US" altLang="ko-KR" sz="1600" b="0" dirty="0"/>
              <a:t>(</a:t>
            </a:r>
            <a:r>
              <a:rPr lang="ko-KR" altLang="en-US" sz="1600" b="0" dirty="0"/>
              <a:t>전압 및 펄스</a:t>
            </a:r>
            <a:r>
              <a:rPr lang="en-US" altLang="ko-KR" sz="1600" b="0" dirty="0"/>
              <a:t>), CMD </a:t>
            </a:r>
            <a:r>
              <a:rPr lang="ko-KR" altLang="en-US" sz="1600" b="0" dirty="0"/>
              <a:t>인가</a:t>
            </a:r>
            <a:r>
              <a:rPr lang="en-US" altLang="ko-KR" sz="1600" b="0" dirty="0"/>
              <a:t>(</a:t>
            </a:r>
            <a:r>
              <a:rPr lang="ko-KR" altLang="en-US" sz="1600" b="0" dirty="0"/>
              <a:t>펄스 및 </a:t>
            </a:r>
            <a:r>
              <a:rPr lang="en-US" altLang="ko-KR" sz="1600" b="0" dirty="0"/>
              <a:t>UART)</a:t>
            </a:r>
          </a:p>
          <a:p>
            <a:pPr>
              <a:buFontTx/>
              <a:buChar char="-"/>
            </a:pPr>
            <a:r>
              <a:rPr lang="ko-KR" altLang="en-US" sz="1600" b="0" dirty="0"/>
              <a:t>파워 서플라이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릴레이</a:t>
            </a:r>
            <a:r>
              <a:rPr lang="en-US" altLang="ko-KR" sz="1600" b="0" dirty="0"/>
              <a:t>, MUX, DMM, DO, AI, … </a:t>
            </a:r>
            <a:r>
              <a:rPr lang="ko-KR" altLang="en-US" sz="1600" b="0" dirty="0"/>
              <a:t>이용</a:t>
            </a:r>
            <a:endParaRPr lang="en-US" altLang="ko-KR" sz="1600" b="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B. </a:t>
            </a:r>
            <a:r>
              <a:rPr lang="ko-KR" altLang="en-US" dirty="0"/>
              <a:t>소스 코드 위치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sz="1600" b="0" dirty="0"/>
              <a:t>C:\Users\Lenovo\Desktop\C\K7PE\PCTS\Source\Working\trunk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7A5C2E-41AE-4783-8E97-A09457126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24" y="3043102"/>
            <a:ext cx="72009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42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K7PE –</a:t>
            </a:r>
            <a:r>
              <a:rPr lang="ko-KR" altLang="en-US" dirty="0"/>
              <a:t> </a:t>
            </a:r>
            <a:r>
              <a:rPr lang="en-US" altLang="ko-KR" dirty="0"/>
              <a:t>PCTS S/W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C. </a:t>
            </a:r>
            <a:r>
              <a:rPr lang="ko-KR" altLang="en-US" dirty="0"/>
              <a:t>개발 언어</a:t>
            </a:r>
            <a:r>
              <a:rPr lang="en-US" altLang="ko-KR" dirty="0"/>
              <a:t>, </a:t>
            </a:r>
            <a:r>
              <a:rPr lang="ko-KR" altLang="en-US" dirty="0"/>
              <a:t>동작 환경</a:t>
            </a:r>
            <a:r>
              <a:rPr lang="en-US" altLang="ko-KR" dirty="0"/>
              <a:t>,</a:t>
            </a:r>
            <a:r>
              <a:rPr lang="ko-KR" altLang="en-US" dirty="0"/>
              <a:t> 빌드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sz="1600" b="0" dirty="0"/>
              <a:t>개발 언어 </a:t>
            </a:r>
            <a:r>
              <a:rPr lang="en-US" altLang="ko-KR" sz="1600" b="0" dirty="0"/>
              <a:t>: </a:t>
            </a:r>
            <a:r>
              <a:rPr lang="ko-KR" altLang="en-US" sz="1600" b="0" dirty="0" err="1"/>
              <a:t>랩뷰</a:t>
            </a:r>
            <a:r>
              <a:rPr lang="ko-KR" altLang="en-US" sz="1600" b="0" dirty="0"/>
              <a:t> </a:t>
            </a:r>
            <a:r>
              <a:rPr lang="en-US" altLang="ko-KR" sz="1600" b="0" dirty="0"/>
              <a:t>2018 32</a:t>
            </a:r>
            <a:r>
              <a:rPr lang="ko-KR" altLang="en-US" sz="1600" b="0" dirty="0"/>
              <a:t>비트</a:t>
            </a:r>
            <a:endParaRPr lang="en-US" altLang="ko-KR" sz="1600" b="0" dirty="0"/>
          </a:p>
          <a:p>
            <a:pPr>
              <a:buFontTx/>
              <a:buChar char="-"/>
            </a:pPr>
            <a:r>
              <a:rPr lang="ko-KR" altLang="en-US" sz="1600" b="0" dirty="0"/>
              <a:t>동작 환경 </a:t>
            </a:r>
            <a:r>
              <a:rPr lang="en-US" altLang="ko-KR" sz="1600" b="0" dirty="0"/>
              <a:t>: </a:t>
            </a:r>
            <a:r>
              <a:rPr lang="ko-KR" altLang="en-US" sz="1600" b="0" dirty="0" err="1"/>
              <a:t>랩뷰</a:t>
            </a:r>
            <a:r>
              <a:rPr lang="ko-KR" altLang="en-US" sz="1600" b="0" dirty="0"/>
              <a:t> </a:t>
            </a:r>
            <a:r>
              <a:rPr lang="en-US" altLang="ko-KR" sz="1600" b="0" dirty="0"/>
              <a:t>2018 </a:t>
            </a:r>
            <a:r>
              <a:rPr lang="ko-KR" altLang="en-US" sz="1600" b="0" dirty="0"/>
              <a:t>런타임 엔진</a:t>
            </a:r>
            <a:endParaRPr lang="en-US" altLang="ko-KR" sz="1600" b="0" dirty="0"/>
          </a:p>
          <a:p>
            <a:pPr>
              <a:buFontTx/>
              <a:buChar char="-"/>
            </a:pPr>
            <a:r>
              <a:rPr lang="ko-KR" altLang="en-US" sz="1600" b="0" dirty="0"/>
              <a:t>빌드</a:t>
            </a:r>
            <a:endParaRPr lang="en-US" altLang="ko-KR" sz="1600" b="0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E92794D-F16C-4AB6-9639-D0E0DD8CD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85" y="2381250"/>
            <a:ext cx="3228975" cy="3848100"/>
          </a:xfrm>
          <a:prstGeom prst="rect">
            <a:avLst/>
          </a:prstGeom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F916250C-0B66-43E1-B1D8-F2F7D4A9D85E}"/>
              </a:ext>
            </a:extLst>
          </p:cNvPr>
          <p:cNvSpPr/>
          <p:nvPr/>
        </p:nvSpPr>
        <p:spPr bwMode="auto">
          <a:xfrm>
            <a:off x="3931987" y="3429000"/>
            <a:ext cx="257856" cy="424543"/>
          </a:xfrm>
          <a:prstGeom prst="rightArrow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7862F0-C9FE-4979-9A87-948DABE1D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444" y="2386012"/>
            <a:ext cx="363855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515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K7PE –</a:t>
            </a:r>
            <a:r>
              <a:rPr lang="ko-KR" altLang="en-US" dirty="0"/>
              <a:t> </a:t>
            </a:r>
            <a:r>
              <a:rPr lang="en-US" altLang="ko-KR" dirty="0"/>
              <a:t>PCTS S/W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D. </a:t>
            </a:r>
            <a:r>
              <a:rPr lang="ko-KR" altLang="en-US" dirty="0"/>
              <a:t>버전 이력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BB5DA7-C9E1-4642-994A-68DDF53392A5}"/>
              </a:ext>
            </a:extLst>
          </p:cNvPr>
          <p:cNvSpPr txBox="1"/>
          <p:nvPr/>
        </p:nvSpPr>
        <p:spPr>
          <a:xfrm>
            <a:off x="1429402" y="1383915"/>
            <a:ext cx="1372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SVN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로그 참고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2F4AD8-9D37-485D-B6C8-856C593C9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493" y="1691692"/>
            <a:ext cx="6323014" cy="463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69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K7PE –</a:t>
            </a:r>
            <a:r>
              <a:rPr lang="ko-KR" altLang="en-US" dirty="0"/>
              <a:t> </a:t>
            </a:r>
            <a:r>
              <a:rPr lang="en-US" altLang="ko-KR" dirty="0"/>
              <a:t>PCTS S/W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D. </a:t>
            </a:r>
            <a:r>
              <a:rPr lang="ko-KR" altLang="en-US" dirty="0"/>
              <a:t>동작 화면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5E4F195-2D5E-4D18-B9F6-F71C059779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28681" y="1358945"/>
            <a:ext cx="6475526" cy="508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716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K7PE –</a:t>
            </a:r>
            <a:r>
              <a:rPr lang="ko-KR" altLang="en-US" dirty="0"/>
              <a:t> </a:t>
            </a:r>
            <a:r>
              <a:rPr lang="en-US" altLang="ko-KR" dirty="0"/>
              <a:t>SAS S/W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소프트웨어의 목적 및 방법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sz="1600" b="0" dirty="0"/>
              <a:t>7</a:t>
            </a:r>
            <a:r>
              <a:rPr lang="ko-KR" altLang="en-US" sz="1600" b="0" dirty="0"/>
              <a:t>호 위성의 태양 </a:t>
            </a:r>
            <a:r>
              <a:rPr lang="ko-KR" altLang="en-US" sz="1600" b="0" dirty="0" err="1"/>
              <a:t>전지판</a:t>
            </a:r>
            <a:r>
              <a:rPr lang="ko-KR" altLang="en-US" sz="1600" b="0" dirty="0"/>
              <a:t> 모사</a:t>
            </a:r>
            <a:endParaRPr lang="en-US" altLang="ko-KR" sz="1600" b="0" dirty="0"/>
          </a:p>
          <a:p>
            <a:pPr>
              <a:buFontTx/>
              <a:buChar char="-"/>
            </a:pPr>
            <a:r>
              <a:rPr lang="en-US" altLang="ko-KR" sz="1600" b="0" dirty="0" err="1"/>
              <a:t>TerraSAS</a:t>
            </a:r>
            <a:r>
              <a:rPr lang="en-US" altLang="ko-KR" sz="1600" b="0" dirty="0"/>
              <a:t> </a:t>
            </a:r>
            <a:r>
              <a:rPr lang="ko-KR" altLang="en-US" sz="1600" b="0" dirty="0"/>
              <a:t>이용</a:t>
            </a:r>
            <a:endParaRPr lang="en-US" altLang="ko-KR" sz="1600" b="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B. </a:t>
            </a:r>
            <a:r>
              <a:rPr lang="ko-KR" altLang="en-US" dirty="0"/>
              <a:t>소스 코드 위치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sz="1600" b="0" dirty="0"/>
              <a:t>C:\Users\Lenovo\Desktop\C\K7PE\SAS\Source\Working\trunk\LumirSAS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FCAF94-8382-4E62-ACDA-6CA729E3A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52" y="3133452"/>
            <a:ext cx="741045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6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K7PE –</a:t>
            </a:r>
            <a:r>
              <a:rPr lang="ko-KR" altLang="en-US" dirty="0"/>
              <a:t> </a:t>
            </a:r>
            <a:r>
              <a:rPr lang="en-US" altLang="ko-KR" dirty="0"/>
              <a:t>SAS S/W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C. </a:t>
            </a:r>
            <a:r>
              <a:rPr lang="ko-KR" altLang="en-US" dirty="0"/>
              <a:t>개발 언어</a:t>
            </a:r>
            <a:r>
              <a:rPr lang="en-US" altLang="ko-KR" dirty="0"/>
              <a:t>, </a:t>
            </a:r>
            <a:r>
              <a:rPr lang="ko-KR" altLang="en-US" dirty="0"/>
              <a:t>동작 환경</a:t>
            </a:r>
            <a:r>
              <a:rPr lang="en-US" altLang="ko-KR" dirty="0"/>
              <a:t>,</a:t>
            </a:r>
            <a:r>
              <a:rPr lang="ko-KR" altLang="en-US" dirty="0"/>
              <a:t> 빌드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sz="1600" b="0" dirty="0"/>
              <a:t>개발 언어 </a:t>
            </a:r>
            <a:r>
              <a:rPr lang="en-US" altLang="ko-KR" sz="1600" b="0" dirty="0"/>
              <a:t>: C#, </a:t>
            </a:r>
            <a:r>
              <a:rPr lang="ko-KR" altLang="en-US" sz="1600" b="0" dirty="0"/>
              <a:t>일부 </a:t>
            </a:r>
            <a:r>
              <a:rPr lang="en-US" altLang="ko-KR" sz="1600" b="0" dirty="0"/>
              <a:t>VB / VS 2015 Pro.</a:t>
            </a:r>
          </a:p>
          <a:p>
            <a:pPr>
              <a:buFontTx/>
              <a:buChar char="-"/>
            </a:pPr>
            <a:r>
              <a:rPr lang="ko-KR" altLang="en-US" sz="1600" b="0" dirty="0"/>
              <a:t>동작 환경 </a:t>
            </a:r>
            <a:r>
              <a:rPr lang="en-US" altLang="ko-KR" sz="1600" b="0" dirty="0"/>
              <a:t>: .NET Framework 4.5 </a:t>
            </a:r>
          </a:p>
          <a:p>
            <a:pPr>
              <a:buFontTx/>
              <a:buChar char="-"/>
            </a:pPr>
            <a:r>
              <a:rPr lang="ko-KR" altLang="en-US" sz="1600" b="0" dirty="0"/>
              <a:t>빌드</a:t>
            </a:r>
            <a:endParaRPr lang="en-US" altLang="ko-KR" sz="1600" b="0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C7E2CA-2935-4DDF-A6DC-1649FB4C6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56890"/>
            <a:ext cx="4211304" cy="41153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52E9E89-DD4D-4C54-9753-48C022AA9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854" y="2256890"/>
            <a:ext cx="3838590" cy="2452261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2F420BA-78D2-41A6-94F1-6613F7ED2CC9}"/>
              </a:ext>
            </a:extLst>
          </p:cNvPr>
          <p:cNvSpPr/>
          <p:nvPr/>
        </p:nvSpPr>
        <p:spPr bwMode="auto">
          <a:xfrm>
            <a:off x="4606451" y="3163388"/>
            <a:ext cx="257856" cy="424543"/>
          </a:xfrm>
          <a:prstGeom prst="rightArrow">
            <a:avLst/>
          </a:prstGeom>
          <a:solidFill>
            <a:schemeClr val="accent1"/>
          </a:solidFill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4958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K7PE –</a:t>
            </a:r>
            <a:r>
              <a:rPr lang="ko-KR" altLang="en-US" dirty="0"/>
              <a:t> </a:t>
            </a:r>
            <a:r>
              <a:rPr lang="en-US" altLang="ko-KR" dirty="0"/>
              <a:t>SAS S/W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D. </a:t>
            </a:r>
            <a:r>
              <a:rPr lang="ko-KR" altLang="en-US" dirty="0"/>
              <a:t>버전 이력</a:t>
            </a:r>
            <a:endParaRPr lang="en-US" altLang="ko-KR" sz="1600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6C7094-888F-4644-86E0-0EBDD4C29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10" y="1702814"/>
            <a:ext cx="7093580" cy="47264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183E49-2A05-4290-B951-E5D40A42882F}"/>
              </a:ext>
            </a:extLst>
          </p:cNvPr>
          <p:cNvSpPr txBox="1"/>
          <p:nvPr/>
        </p:nvSpPr>
        <p:spPr>
          <a:xfrm>
            <a:off x="1025210" y="1395037"/>
            <a:ext cx="3752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SVN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로그 참고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.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마지막 업데이트는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19.10.23 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7221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1.2 K7PE –</a:t>
            </a:r>
            <a:r>
              <a:rPr lang="ko-KR" altLang="en-US" dirty="0"/>
              <a:t> </a:t>
            </a:r>
            <a:r>
              <a:rPr lang="en-US" altLang="ko-KR" dirty="0"/>
              <a:t>SAS S/W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E. </a:t>
            </a:r>
            <a:r>
              <a:rPr lang="ko-KR" altLang="en-US" dirty="0"/>
              <a:t>동작 화면</a:t>
            </a:r>
            <a:endParaRPr lang="en-US" altLang="ko-KR" sz="1600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0765D04-AEA0-418E-9E43-DA9EFC9E07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03361" y="1434238"/>
            <a:ext cx="5768295" cy="499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116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K7PE –</a:t>
            </a:r>
            <a:r>
              <a:rPr lang="ko-KR" altLang="en-US" dirty="0"/>
              <a:t> </a:t>
            </a:r>
            <a:r>
              <a:rPr lang="en-US" altLang="ko-KR" dirty="0"/>
              <a:t>VU F/W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소프트웨어의 목적 및 방법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sz="1600" b="0" dirty="0"/>
              <a:t>PCTS </a:t>
            </a:r>
            <a:r>
              <a:rPr lang="ko-KR" altLang="ko-KR" sz="1600" b="0" dirty="0"/>
              <a:t>기능 시험</a:t>
            </a:r>
            <a:endParaRPr lang="en-US" altLang="ko-KR" sz="1600" b="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B. </a:t>
            </a:r>
            <a:r>
              <a:rPr lang="ko-KR" altLang="en-US" dirty="0"/>
              <a:t>소스 코드 위치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sz="1600" b="0" dirty="0"/>
              <a:t>C:\Users\Lenovo\Desktop\C\K7PE\VU\Source\Working\trunk\FW</a:t>
            </a:r>
          </a:p>
          <a:p>
            <a:pPr marL="0" indent="0">
              <a:buNone/>
            </a:pPr>
            <a:endParaRPr lang="en-US" altLang="ko-KR" sz="1600" b="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B5F2D62-0CEF-4FC2-AC83-6F71ECD91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00" y="2800894"/>
            <a:ext cx="5934075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254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K7PE –</a:t>
            </a:r>
            <a:r>
              <a:rPr lang="ko-KR" altLang="en-US" dirty="0"/>
              <a:t> </a:t>
            </a:r>
            <a:r>
              <a:rPr lang="en-US" altLang="ko-KR" dirty="0"/>
              <a:t>VU F/W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C. </a:t>
            </a:r>
            <a:r>
              <a:rPr lang="ko-KR" altLang="en-US" dirty="0"/>
              <a:t>개발 언어</a:t>
            </a:r>
            <a:r>
              <a:rPr lang="en-US" altLang="ko-KR" dirty="0"/>
              <a:t>, </a:t>
            </a:r>
            <a:r>
              <a:rPr lang="ko-KR" altLang="en-US" dirty="0"/>
              <a:t>동작 환경</a:t>
            </a:r>
            <a:r>
              <a:rPr lang="en-US" altLang="ko-KR" dirty="0"/>
              <a:t>, </a:t>
            </a:r>
            <a:r>
              <a:rPr lang="ko-KR" altLang="en-US" dirty="0"/>
              <a:t>빌드 및 다운로드 방법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sz="1600" b="0" dirty="0"/>
              <a:t>개발 언어 </a:t>
            </a:r>
            <a:r>
              <a:rPr lang="en-US" altLang="ko-KR" sz="1600" b="0" dirty="0"/>
              <a:t>: C, Keil </a:t>
            </a:r>
            <a:r>
              <a:rPr lang="en-US" altLang="ko-KR" sz="1600" b="0" dirty="0" err="1"/>
              <a:t>uVision</a:t>
            </a:r>
            <a:r>
              <a:rPr lang="en-US" altLang="ko-KR" sz="1600" b="0" dirty="0"/>
              <a:t> 5</a:t>
            </a:r>
          </a:p>
          <a:p>
            <a:pPr>
              <a:buFontTx/>
              <a:buChar char="-"/>
            </a:pPr>
            <a:r>
              <a:rPr lang="ko-KR" altLang="en-US" sz="1600" b="0" dirty="0"/>
              <a:t>동작 환경 </a:t>
            </a:r>
            <a:r>
              <a:rPr lang="en-US" altLang="ko-KR" sz="1600" b="0" dirty="0"/>
              <a:t>: </a:t>
            </a:r>
            <a:r>
              <a:rPr lang="en-US" altLang="ko-KR" sz="1600" b="0" dirty="0" err="1"/>
              <a:t>FreeRTOS</a:t>
            </a:r>
            <a:r>
              <a:rPr lang="en-US" altLang="ko-KR" sz="1600" b="0" dirty="0"/>
              <a:t>, STM32F4 </a:t>
            </a:r>
            <a:r>
              <a:rPr lang="en-US" altLang="ko-KR" sz="1600" b="0" dirty="0" err="1"/>
              <a:t>Ev.Kit</a:t>
            </a:r>
            <a:endParaRPr lang="en-US" altLang="ko-KR" sz="1600" b="0" dirty="0"/>
          </a:p>
          <a:p>
            <a:pPr>
              <a:buFontTx/>
              <a:buChar char="-"/>
            </a:pPr>
            <a:r>
              <a:rPr lang="ko-KR" altLang="en-US" sz="1600" b="0" dirty="0"/>
              <a:t>빌드 및 다운로드 방법</a:t>
            </a:r>
            <a:endParaRPr lang="en-US" altLang="ko-KR" sz="1600" b="0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F1BEC5-6702-46BE-8686-9699003F2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40914"/>
            <a:ext cx="4217804" cy="368756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BFCEF85-330B-4B16-9C44-F2B9B43A9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1" y="2340914"/>
            <a:ext cx="4189330" cy="368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704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1.3 K7PE –</a:t>
            </a:r>
            <a:r>
              <a:rPr lang="ko-KR" altLang="en-US" dirty="0"/>
              <a:t> </a:t>
            </a:r>
            <a:r>
              <a:rPr lang="en-US" altLang="ko-KR" dirty="0"/>
              <a:t>VU F/W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D. </a:t>
            </a:r>
            <a:r>
              <a:rPr lang="ko-KR" altLang="en-US" dirty="0"/>
              <a:t>버전 이력</a:t>
            </a:r>
            <a:endParaRPr lang="en-US" altLang="ko-KR" sz="1600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183E49-2A05-4290-B951-E5D40A42882F}"/>
              </a:ext>
            </a:extLst>
          </p:cNvPr>
          <p:cNvSpPr txBox="1"/>
          <p:nvPr/>
        </p:nvSpPr>
        <p:spPr>
          <a:xfrm>
            <a:off x="1025210" y="1426646"/>
            <a:ext cx="3752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SVN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로그 참고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.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마지막 업데이트는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19.08.22 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189B5A-88CD-47D2-909F-D4EFF3EAC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10" y="1734423"/>
            <a:ext cx="6960550" cy="463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193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K7PE –</a:t>
            </a:r>
            <a:r>
              <a:rPr lang="ko-KR" altLang="en-US" dirty="0"/>
              <a:t> </a:t>
            </a:r>
            <a:r>
              <a:rPr lang="en-US" altLang="ko-KR" dirty="0"/>
              <a:t>VU S/W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소프트웨어의 목적 및 방법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sz="1600" b="0" dirty="0"/>
              <a:t>VU </a:t>
            </a:r>
            <a:r>
              <a:rPr lang="ko-KR" altLang="en-US" sz="1600" b="0" dirty="0"/>
              <a:t>모니터링 및 제어</a:t>
            </a:r>
            <a:endParaRPr lang="en-US" altLang="ko-KR" sz="1600" b="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B. </a:t>
            </a:r>
            <a:r>
              <a:rPr lang="ko-KR" altLang="en-US" dirty="0"/>
              <a:t>소스 코드 위치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sz="1600" b="0" dirty="0"/>
              <a:t>C:\Users\Lenovo\Desktop\C\K7PE\VU\Source\Working\trunk\VIEWER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F408C35-0CEE-4B34-B4D1-EAD6DE266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37" y="2815318"/>
            <a:ext cx="599122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610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K7PE –</a:t>
            </a:r>
            <a:r>
              <a:rPr lang="ko-KR" altLang="en-US" dirty="0"/>
              <a:t> </a:t>
            </a:r>
            <a:r>
              <a:rPr lang="en-US" altLang="ko-KR" dirty="0"/>
              <a:t>VU S/W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C. </a:t>
            </a:r>
            <a:r>
              <a:rPr lang="ko-KR" altLang="en-US" dirty="0"/>
              <a:t>개발 언어</a:t>
            </a:r>
            <a:r>
              <a:rPr lang="en-US" altLang="ko-KR" dirty="0"/>
              <a:t>, </a:t>
            </a:r>
            <a:r>
              <a:rPr lang="ko-KR" altLang="en-US" dirty="0"/>
              <a:t>동작 환경</a:t>
            </a:r>
            <a:r>
              <a:rPr lang="en-US" altLang="ko-KR" dirty="0"/>
              <a:t>, </a:t>
            </a:r>
            <a:r>
              <a:rPr lang="ko-KR" altLang="en-US" dirty="0"/>
              <a:t>빌드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sz="1600" b="0" dirty="0"/>
              <a:t>개발 언어 </a:t>
            </a:r>
            <a:r>
              <a:rPr lang="en-US" altLang="ko-KR" sz="1600" b="0" dirty="0"/>
              <a:t>: </a:t>
            </a:r>
            <a:r>
              <a:rPr lang="ko-KR" altLang="en-US" sz="1600" b="0" dirty="0" err="1"/>
              <a:t>랩뷰</a:t>
            </a:r>
            <a:r>
              <a:rPr lang="ko-KR" altLang="en-US" sz="1600" b="0" dirty="0"/>
              <a:t> </a:t>
            </a:r>
            <a:r>
              <a:rPr lang="en-US" altLang="ko-KR" sz="1600" b="0" dirty="0"/>
              <a:t>2018 32</a:t>
            </a:r>
            <a:r>
              <a:rPr lang="ko-KR" altLang="en-US" sz="1600" b="0" dirty="0"/>
              <a:t>비트</a:t>
            </a:r>
            <a:endParaRPr lang="en-US" altLang="ko-KR" sz="1600" b="0" dirty="0"/>
          </a:p>
          <a:p>
            <a:pPr>
              <a:buFontTx/>
              <a:buChar char="-"/>
            </a:pPr>
            <a:r>
              <a:rPr lang="ko-KR" altLang="en-US" sz="1600" b="0" dirty="0"/>
              <a:t>동작 환경 </a:t>
            </a:r>
            <a:r>
              <a:rPr lang="en-US" altLang="ko-KR" sz="1600" b="0" dirty="0"/>
              <a:t>: </a:t>
            </a:r>
            <a:r>
              <a:rPr lang="ko-KR" altLang="en-US" sz="1600" b="0" dirty="0" err="1"/>
              <a:t>랩뷰</a:t>
            </a:r>
            <a:r>
              <a:rPr lang="ko-KR" altLang="en-US" sz="1600" b="0" dirty="0"/>
              <a:t> </a:t>
            </a:r>
            <a:r>
              <a:rPr lang="en-US" altLang="ko-KR" sz="1600" b="0" dirty="0"/>
              <a:t>2018 </a:t>
            </a:r>
            <a:r>
              <a:rPr lang="ko-KR" altLang="en-US" sz="1600" b="0" dirty="0"/>
              <a:t>런타임 엔진</a:t>
            </a:r>
            <a:endParaRPr lang="en-US" altLang="ko-KR" sz="1600" b="0" dirty="0"/>
          </a:p>
          <a:p>
            <a:pPr>
              <a:buFontTx/>
              <a:buChar char="-"/>
            </a:pPr>
            <a:r>
              <a:rPr lang="ko-KR" altLang="en-US" sz="1600" b="0" dirty="0"/>
              <a:t>빌드 </a:t>
            </a:r>
            <a:r>
              <a:rPr lang="en-US" altLang="ko-KR" sz="1600" b="0" dirty="0"/>
              <a:t>: </a:t>
            </a:r>
            <a:r>
              <a:rPr lang="ko-KR" altLang="en-US" sz="1600" b="0" dirty="0"/>
              <a:t>빈 프로젝트 만들고 </a:t>
            </a:r>
            <a:r>
              <a:rPr lang="en-US" altLang="ko-KR" sz="1600" b="0" dirty="0"/>
              <a:t>VU.vi</a:t>
            </a:r>
            <a:r>
              <a:rPr lang="ko-KR" altLang="en-US" sz="1600" b="0" dirty="0"/>
              <a:t> 추가하여 </a:t>
            </a:r>
            <a:r>
              <a:rPr lang="en-US" altLang="ko-KR" sz="1600" b="0" dirty="0"/>
              <a:t>App. </a:t>
            </a:r>
            <a:r>
              <a:rPr lang="ko-KR" altLang="en-US" sz="1600" b="0" dirty="0"/>
              <a:t>빌드 수행</a:t>
            </a:r>
            <a:endParaRPr lang="en-US" altLang="ko-KR" sz="1600" b="0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dirty="0"/>
              <a:t>D. </a:t>
            </a:r>
            <a:r>
              <a:rPr lang="ko-KR" altLang="en-US" dirty="0"/>
              <a:t>버전 이력</a:t>
            </a:r>
            <a:endParaRPr lang="en-US" altLang="ko-KR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DA36C48-FBB5-4948-B0CC-84814DF09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674" y="3137769"/>
            <a:ext cx="4998136" cy="3330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D33235-6B5D-4CF0-8E87-FDC925984B3F}"/>
              </a:ext>
            </a:extLst>
          </p:cNvPr>
          <p:cNvSpPr txBox="1"/>
          <p:nvPr/>
        </p:nvSpPr>
        <p:spPr>
          <a:xfrm>
            <a:off x="1802674" y="2829992"/>
            <a:ext cx="3752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SVN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로그 참고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.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마지막 업데이트는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19.01.17 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0624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1.4 K7PE –</a:t>
            </a:r>
            <a:r>
              <a:rPr lang="ko-KR" altLang="en-US" dirty="0"/>
              <a:t> </a:t>
            </a:r>
            <a:r>
              <a:rPr lang="en-US" altLang="ko-KR" dirty="0"/>
              <a:t>VU S/W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E. </a:t>
            </a:r>
            <a:r>
              <a:rPr lang="ko-KR" altLang="en-US" dirty="0"/>
              <a:t>동작 화면</a:t>
            </a:r>
            <a:endParaRPr lang="en-US" altLang="ko-KR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7AED67-53AD-4466-8681-3626605C1AA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118" y="1359761"/>
            <a:ext cx="3218952" cy="49305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0128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 K7PE –</a:t>
            </a:r>
            <a:r>
              <a:rPr lang="ko-KR" altLang="en-US" dirty="0"/>
              <a:t> </a:t>
            </a:r>
            <a:r>
              <a:rPr lang="en-US" altLang="ko-KR" dirty="0"/>
              <a:t>DB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파일 위치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sz="1600" b="0" dirty="0"/>
              <a:t>C:\Users\Lenovo\Desktop\C\K7PE\DB\</a:t>
            </a:r>
            <a:r>
              <a:rPr lang="ko-KR" altLang="en-US" sz="1600" b="0" dirty="0"/>
              <a:t>배포</a:t>
            </a:r>
            <a:endParaRPr lang="en-US" altLang="ko-KR" sz="1600" b="0" dirty="0"/>
          </a:p>
          <a:p>
            <a:pPr marL="0" indent="0">
              <a:buNone/>
            </a:pPr>
            <a:endParaRPr lang="en-US" altLang="ko-KR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1257BB-D78E-4AE8-A211-0FF4C365D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92" y="1814240"/>
            <a:ext cx="551497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63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1.5 K7PE –</a:t>
            </a:r>
            <a:r>
              <a:rPr lang="ko-KR" altLang="en-US" dirty="0"/>
              <a:t> </a:t>
            </a:r>
            <a:r>
              <a:rPr lang="en-US" altLang="ko-KR" dirty="0"/>
              <a:t>DB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B. </a:t>
            </a:r>
            <a:r>
              <a:rPr lang="ko-KR" altLang="en-US" dirty="0"/>
              <a:t>버전 이력</a:t>
            </a:r>
            <a:endParaRPr lang="en-US" altLang="ko-KR" dirty="0"/>
          </a:p>
          <a:p>
            <a:pPr marL="0" indent="0">
              <a:buNone/>
            </a:pPr>
            <a:endParaRPr lang="en-US" altLang="ko-KR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1BD5EC-EC69-44B2-A6F5-E9A619622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531" y="1712321"/>
            <a:ext cx="6992975" cy="46599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7FB9C4-A5F1-4862-8805-86141C094C5A}"/>
              </a:ext>
            </a:extLst>
          </p:cNvPr>
          <p:cNvSpPr txBox="1"/>
          <p:nvPr/>
        </p:nvSpPr>
        <p:spPr>
          <a:xfrm>
            <a:off x="1149531" y="1404544"/>
            <a:ext cx="24785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DB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배포 이력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.xlsx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파일 참고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1228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1.6 K7PE –</a:t>
            </a:r>
            <a:r>
              <a:rPr lang="ko-KR" altLang="en-US" dirty="0"/>
              <a:t> 향후 예상 업무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A. PCTS</a:t>
            </a:r>
            <a:r>
              <a:rPr lang="ko-KR" altLang="en-US" dirty="0"/>
              <a:t> 소프트웨어 유지 보수 계획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7B86A985-A75C-4ABA-BFA6-119ED8C270E8}"/>
              </a:ext>
            </a:extLst>
          </p:cNvPr>
          <p:cNvSpPr/>
          <p:nvPr/>
        </p:nvSpPr>
        <p:spPr>
          <a:xfrm>
            <a:off x="7057435" y="2051428"/>
            <a:ext cx="1592271" cy="1711944"/>
          </a:xfrm>
          <a:prstGeom prst="rect">
            <a:avLst/>
          </a:prstGeom>
          <a:solidFill>
            <a:srgbClr val="70AD47">
              <a:lumMod val="40000"/>
              <a:lumOff val="60000"/>
              <a:alpha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ETB/FM 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공용</a:t>
            </a:r>
            <a:endParaRPr kumimoji="0" lang="en-US" altLang="ko-KR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60C2214E-DB52-47C5-B02E-A1E7BDEC603E}"/>
              </a:ext>
            </a:extLst>
          </p:cNvPr>
          <p:cNvSpPr/>
          <p:nvPr/>
        </p:nvSpPr>
        <p:spPr>
          <a:xfrm>
            <a:off x="687087" y="2051429"/>
            <a:ext cx="6385570" cy="881532"/>
          </a:xfrm>
          <a:prstGeom prst="rect">
            <a:avLst/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ETB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Only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4501C447-12F2-4656-A01E-337832598382}"/>
              </a:ext>
            </a:extLst>
          </p:cNvPr>
          <p:cNvSpPr/>
          <p:nvPr/>
        </p:nvSpPr>
        <p:spPr>
          <a:xfrm>
            <a:off x="683920" y="2927996"/>
            <a:ext cx="6381126" cy="835376"/>
          </a:xfrm>
          <a:prstGeom prst="rect">
            <a:avLst/>
          </a:prstGeom>
          <a:solidFill>
            <a:srgbClr val="FFC000">
              <a:lumMod val="40000"/>
              <a:lumOff val="60000"/>
              <a:alpha val="75000"/>
            </a:srgbClr>
          </a:solidFill>
          <a:ln>
            <a:noFill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FM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Only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9FB32C3B-B761-46EE-BAAC-04985208D805}"/>
              </a:ext>
            </a:extLst>
          </p:cNvPr>
          <p:cNvSpPr/>
          <p:nvPr/>
        </p:nvSpPr>
        <p:spPr>
          <a:xfrm>
            <a:off x="2791926" y="3034501"/>
            <a:ext cx="1044579" cy="432000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AIT V1.0.6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LV V0.0.9</a:t>
            </a: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BA74D7C3-415D-4929-A882-BCFE7B5E3961}"/>
              </a:ext>
            </a:extLst>
          </p:cNvPr>
          <p:cNvSpPr/>
          <p:nvPr/>
        </p:nvSpPr>
        <p:spPr>
          <a:xfrm>
            <a:off x="1418090" y="2181265"/>
            <a:ext cx="720000" cy="432000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V1.0.5</a:t>
            </a:r>
          </a:p>
        </p:txBody>
      </p:sp>
      <p:cxnSp>
        <p:nvCxnSpPr>
          <p:cNvPr id="112" name="연결선: 구부러짐 111">
            <a:extLst>
              <a:ext uri="{FF2B5EF4-FFF2-40B4-BE49-F238E27FC236}">
                <a16:creationId xmlns:a16="http://schemas.microsoft.com/office/drawing/2014/main" id="{8D0E265F-DBD0-4439-98DC-2BA9FC945264}"/>
              </a:ext>
            </a:extLst>
          </p:cNvPr>
          <p:cNvCxnSpPr>
            <a:cxnSpLocks/>
            <a:stCxn id="111" idx="2"/>
            <a:endCxn id="110" idx="1"/>
          </p:cNvCxnSpPr>
          <p:nvPr/>
        </p:nvCxnSpPr>
        <p:spPr>
          <a:xfrm rot="16200000" flipH="1">
            <a:off x="1966390" y="2424965"/>
            <a:ext cx="637236" cy="1013836"/>
          </a:xfrm>
          <a:prstGeom prst="curvedConnector2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3" name="연결선: 구부러짐 112">
            <a:extLst>
              <a:ext uri="{FF2B5EF4-FFF2-40B4-BE49-F238E27FC236}">
                <a16:creationId xmlns:a16="http://schemas.microsoft.com/office/drawing/2014/main" id="{FAAC1875-D57D-4767-90CF-AD2F1FCD1D13}"/>
              </a:ext>
            </a:extLst>
          </p:cNvPr>
          <p:cNvCxnSpPr>
            <a:cxnSpLocks/>
            <a:stCxn id="111" idx="3"/>
            <a:endCxn id="129" idx="1"/>
          </p:cNvCxnSpPr>
          <p:nvPr/>
        </p:nvCxnSpPr>
        <p:spPr>
          <a:xfrm>
            <a:off x="2138090" y="2397265"/>
            <a:ext cx="2139250" cy="12700"/>
          </a:xfrm>
          <a:prstGeom prst="curvedConnector3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4027DDBC-DBE4-4B67-97E9-4D09E66515B9}"/>
              </a:ext>
            </a:extLst>
          </p:cNvPr>
          <p:cNvGrpSpPr/>
          <p:nvPr/>
        </p:nvGrpSpPr>
        <p:grpSpPr>
          <a:xfrm>
            <a:off x="980864" y="1563583"/>
            <a:ext cx="861133" cy="2287777"/>
            <a:chOff x="444198" y="589055"/>
            <a:chExt cx="861133" cy="2287777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00F2DB-8AEE-41D8-B306-861AD0134071}"/>
                </a:ext>
              </a:extLst>
            </p:cNvPr>
            <p:cNvSpPr txBox="1"/>
            <p:nvPr/>
          </p:nvSpPr>
          <p:spPr>
            <a:xfrm>
              <a:off x="444198" y="589055"/>
              <a:ext cx="861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19.07.30</a:t>
              </a: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F0DAB80F-B004-424D-AD9B-91BC06407BD2}"/>
                </a:ext>
              </a:extLst>
            </p:cNvPr>
            <p:cNvCxnSpPr>
              <a:cxnSpLocks/>
              <a:stCxn id="115" idx="2"/>
            </p:cNvCxnSpPr>
            <p:nvPr/>
          </p:nvCxnSpPr>
          <p:spPr>
            <a:xfrm flipH="1">
              <a:off x="874764" y="896832"/>
              <a:ext cx="1" cy="1980000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4DFE97DB-82B8-4C38-95F4-6F52234287A3}"/>
              </a:ext>
            </a:extLst>
          </p:cNvPr>
          <p:cNvSpPr txBox="1"/>
          <p:nvPr/>
        </p:nvSpPr>
        <p:spPr>
          <a:xfrm>
            <a:off x="2764005" y="2035452"/>
            <a:ext cx="1378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DB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변경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(CMD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타입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CMD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체크 루틴 보완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8" name="연결선: 구부러짐 117">
            <a:extLst>
              <a:ext uri="{FF2B5EF4-FFF2-40B4-BE49-F238E27FC236}">
                <a16:creationId xmlns:a16="http://schemas.microsoft.com/office/drawing/2014/main" id="{5F6EF618-6F7B-4DD9-8079-24647EC7A1DE}"/>
              </a:ext>
            </a:extLst>
          </p:cNvPr>
          <p:cNvCxnSpPr>
            <a:cxnSpLocks/>
            <a:stCxn id="129" idx="3"/>
            <a:endCxn id="119" idx="1"/>
          </p:cNvCxnSpPr>
          <p:nvPr/>
        </p:nvCxnSpPr>
        <p:spPr>
          <a:xfrm>
            <a:off x="4997340" y="2397265"/>
            <a:ext cx="656804" cy="853236"/>
          </a:xfrm>
          <a:prstGeom prst="curved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F00C8FEE-0507-4AE1-865D-7F6AE2BCB183}"/>
              </a:ext>
            </a:extLst>
          </p:cNvPr>
          <p:cNvSpPr/>
          <p:nvPr/>
        </p:nvSpPr>
        <p:spPr>
          <a:xfrm>
            <a:off x="5654144" y="3034501"/>
            <a:ext cx="1080000" cy="432000"/>
          </a:xfrm>
          <a:prstGeom prst="roundRect">
            <a:avLst/>
          </a:prstGeom>
          <a:solidFill>
            <a:srgbClr val="FFC00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AIT V1.0.6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LV V0.0.9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16439684-5178-4055-AC01-6EAE59014601}"/>
              </a:ext>
            </a:extLst>
          </p:cNvPr>
          <p:cNvSpPr/>
          <p:nvPr/>
        </p:nvSpPr>
        <p:spPr>
          <a:xfrm>
            <a:off x="7069329" y="2654482"/>
            <a:ext cx="1080000" cy="432000"/>
          </a:xfrm>
          <a:prstGeom prst="roundRect">
            <a:avLst/>
          </a:prstGeom>
          <a:solidFill>
            <a:srgbClr val="70AD47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AIT V1.0.7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LV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V1.0.0</a:t>
            </a:r>
          </a:p>
        </p:txBody>
      </p:sp>
      <p:cxnSp>
        <p:nvCxnSpPr>
          <p:cNvPr id="121" name="연결선: 구부러짐 120">
            <a:extLst>
              <a:ext uri="{FF2B5EF4-FFF2-40B4-BE49-F238E27FC236}">
                <a16:creationId xmlns:a16="http://schemas.microsoft.com/office/drawing/2014/main" id="{B17B3459-70F5-4F51-AF2F-6FF702459B75}"/>
              </a:ext>
            </a:extLst>
          </p:cNvPr>
          <p:cNvCxnSpPr>
            <a:cxnSpLocks/>
            <a:stCxn id="119" idx="3"/>
            <a:endCxn id="120" idx="1"/>
          </p:cNvCxnSpPr>
          <p:nvPr/>
        </p:nvCxnSpPr>
        <p:spPr>
          <a:xfrm flipV="1">
            <a:off x="6734144" y="2870482"/>
            <a:ext cx="335185" cy="380019"/>
          </a:xfrm>
          <a:prstGeom prst="curved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2" name="연결선: 구부러짐 121">
            <a:extLst>
              <a:ext uri="{FF2B5EF4-FFF2-40B4-BE49-F238E27FC236}">
                <a16:creationId xmlns:a16="http://schemas.microsoft.com/office/drawing/2014/main" id="{C2FA8560-ECBB-4142-9320-952AF9E40F09}"/>
              </a:ext>
            </a:extLst>
          </p:cNvPr>
          <p:cNvCxnSpPr>
            <a:cxnSpLocks/>
            <a:stCxn id="129" idx="3"/>
            <a:endCxn id="120" idx="1"/>
          </p:cNvCxnSpPr>
          <p:nvPr/>
        </p:nvCxnSpPr>
        <p:spPr>
          <a:xfrm>
            <a:off x="4997340" y="2397265"/>
            <a:ext cx="2071989" cy="473217"/>
          </a:xfrm>
          <a:prstGeom prst="curved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142A96B5-6FA8-4A48-9460-9A58EFD04319}"/>
              </a:ext>
            </a:extLst>
          </p:cNvPr>
          <p:cNvGrpSpPr/>
          <p:nvPr/>
        </p:nvGrpSpPr>
        <p:grpSpPr>
          <a:xfrm>
            <a:off x="2346410" y="1563583"/>
            <a:ext cx="861133" cy="2287777"/>
            <a:chOff x="1733544" y="589055"/>
            <a:chExt cx="861133" cy="2287777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C094BA0D-92B3-4D48-AF0F-F615D7E9A725}"/>
                </a:ext>
              </a:extLst>
            </p:cNvPr>
            <p:cNvSpPr txBox="1"/>
            <p:nvPr/>
          </p:nvSpPr>
          <p:spPr>
            <a:xfrm>
              <a:off x="1733544" y="589055"/>
              <a:ext cx="861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19.09.18</a:t>
              </a:r>
            </a:p>
          </p:txBody>
        </p: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73EB17A-128A-440F-9672-4F425562FEE8}"/>
                </a:ext>
              </a:extLst>
            </p:cNvPr>
            <p:cNvCxnSpPr>
              <a:cxnSpLocks/>
              <a:stCxn id="124" idx="2"/>
            </p:cNvCxnSpPr>
            <p:nvPr/>
          </p:nvCxnSpPr>
          <p:spPr>
            <a:xfrm>
              <a:off x="2164111" y="896832"/>
              <a:ext cx="0" cy="1980000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682C9F29-BCB7-45A6-8F0D-D5E7734274BA}"/>
              </a:ext>
            </a:extLst>
          </p:cNvPr>
          <p:cNvGrpSpPr/>
          <p:nvPr/>
        </p:nvGrpSpPr>
        <p:grpSpPr>
          <a:xfrm>
            <a:off x="3828885" y="1563583"/>
            <a:ext cx="861133" cy="2287777"/>
            <a:chOff x="3254119" y="589055"/>
            <a:chExt cx="861133" cy="2287777"/>
          </a:xfrm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A92957C7-7DC4-4AEA-886A-A1D1F810F168}"/>
                </a:ext>
              </a:extLst>
            </p:cNvPr>
            <p:cNvSpPr txBox="1"/>
            <p:nvPr/>
          </p:nvSpPr>
          <p:spPr>
            <a:xfrm>
              <a:off x="3254119" y="589055"/>
              <a:ext cx="861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19.10.08</a:t>
              </a:r>
            </a:p>
          </p:txBody>
        </p: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64A7787B-F628-4789-8244-2D0037432E36}"/>
                </a:ext>
              </a:extLst>
            </p:cNvPr>
            <p:cNvCxnSpPr>
              <a:cxnSpLocks/>
              <a:stCxn id="127" idx="2"/>
            </p:cNvCxnSpPr>
            <p:nvPr/>
          </p:nvCxnSpPr>
          <p:spPr>
            <a:xfrm flipH="1">
              <a:off x="3684685" y="896832"/>
              <a:ext cx="1" cy="1980000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ECFB5233-0102-4014-9BE5-51F449D55865}"/>
              </a:ext>
            </a:extLst>
          </p:cNvPr>
          <p:cNvSpPr/>
          <p:nvPr/>
        </p:nvSpPr>
        <p:spPr>
          <a:xfrm>
            <a:off x="4277340" y="2181265"/>
            <a:ext cx="720000" cy="432000"/>
          </a:xfrm>
          <a:prstGeom prst="round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V1.0.6</a:t>
            </a: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8EBBCB3D-D2E4-4F9F-B2F8-A6ABBAEFFEA4}"/>
              </a:ext>
            </a:extLst>
          </p:cNvPr>
          <p:cNvGrpSpPr/>
          <p:nvPr/>
        </p:nvGrpSpPr>
        <p:grpSpPr>
          <a:xfrm>
            <a:off x="6793175" y="1563583"/>
            <a:ext cx="543739" cy="2287777"/>
            <a:chOff x="6370809" y="552493"/>
            <a:chExt cx="543739" cy="2287777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A97F946-6A7B-4B10-A7B1-19917ADDC045}"/>
                </a:ext>
              </a:extLst>
            </p:cNvPr>
            <p:cNvSpPr txBox="1"/>
            <p:nvPr/>
          </p:nvSpPr>
          <p:spPr>
            <a:xfrm>
              <a:off x="6370809" y="55249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향후</a:t>
              </a: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0A3CBD4F-9BC9-444F-8B3A-7D895783FD00}"/>
                </a:ext>
              </a:extLst>
            </p:cNvPr>
            <p:cNvCxnSpPr>
              <a:cxnSpLocks/>
              <a:stCxn id="131" idx="2"/>
            </p:cNvCxnSpPr>
            <p:nvPr/>
          </p:nvCxnSpPr>
          <p:spPr>
            <a:xfrm flipH="1">
              <a:off x="6635069" y="860270"/>
              <a:ext cx="7610" cy="1980000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4FA3E9B2-19BC-458F-885D-978DECB191C1}"/>
              </a:ext>
            </a:extLst>
          </p:cNvPr>
          <p:cNvSpPr txBox="1"/>
          <p:nvPr/>
        </p:nvSpPr>
        <p:spPr>
          <a:xfrm>
            <a:off x="228600" y="4179997"/>
            <a:ext cx="8639829" cy="738664"/>
          </a:xfrm>
          <a:prstGeom prst="rect">
            <a:avLst/>
          </a:prstGeom>
          <a:solidFill>
            <a:sysClr val="window" lastClr="FFFFFF">
              <a:lumMod val="75000"/>
            </a:sysClr>
          </a:solidFill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현재 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ETB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소프트웨어 버전은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V1.0.6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현재 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FM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소프트웨어는 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ETB 10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월 업데이트 내용이 누락된 상태여서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AIT V1.0.6_FM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준비하였음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ETB/FM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공용으로 사용 가능한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AIT V1.0.7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도 준비하였고</a:t>
            </a: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향후 적절한 시점에 적용 필요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7E97887-3918-478F-B5FD-BF7EBC3BAABB}"/>
              </a:ext>
            </a:extLst>
          </p:cNvPr>
          <p:cNvSpPr txBox="1"/>
          <p:nvPr/>
        </p:nvSpPr>
        <p:spPr>
          <a:xfrm>
            <a:off x="2871703" y="5214004"/>
            <a:ext cx="57780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참고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ETB/FM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차이점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A. PLTS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파워 서플라이 통신 방식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 IP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주소 및 포트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명령 구분 문자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(\r ↔ \r\n)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B. CMTS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파워 서플라이 모델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전류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설정값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쿼리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(CURR?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↔ CURR:LIM?)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C.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피커링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 카드 식별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ID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D.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AI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 와이어링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B2163-3539-42CC-AE7E-891B165B449E}"/>
              </a:ext>
            </a:extLst>
          </p:cNvPr>
          <p:cNvSpPr txBox="1"/>
          <p:nvPr/>
        </p:nvSpPr>
        <p:spPr>
          <a:xfrm>
            <a:off x="4272678" y="2602339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Trunk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Rev. 13</a:t>
            </a:r>
            <a:endParaRPr kumimoji="1" lang="ko-KR" altLang="en-US" sz="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45A0F85-4158-461A-BB51-DF60287B5581}"/>
              </a:ext>
            </a:extLst>
          </p:cNvPr>
          <p:cNvSpPr txBox="1"/>
          <p:nvPr/>
        </p:nvSpPr>
        <p:spPr>
          <a:xfrm>
            <a:off x="2808464" y="3448897"/>
            <a:ext cx="530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Branch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190918</a:t>
            </a:r>
            <a:endParaRPr kumimoji="1" lang="ko-KR" altLang="en-US" sz="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3A0F7E7-3900-4E1B-BC08-64C00259F046}"/>
              </a:ext>
            </a:extLst>
          </p:cNvPr>
          <p:cNvSpPr txBox="1"/>
          <p:nvPr/>
        </p:nvSpPr>
        <p:spPr>
          <a:xfrm>
            <a:off x="5658373" y="3444847"/>
            <a:ext cx="5309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Branch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200114</a:t>
            </a:r>
            <a:endParaRPr kumimoji="1" lang="ko-KR" altLang="en-US" sz="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DE0B0878-809D-4582-B50C-7124424FF356}"/>
              </a:ext>
            </a:extLst>
          </p:cNvPr>
          <p:cNvGrpSpPr/>
          <p:nvPr/>
        </p:nvGrpSpPr>
        <p:grpSpPr>
          <a:xfrm>
            <a:off x="5215583" y="1380489"/>
            <a:ext cx="861133" cy="2470871"/>
            <a:chOff x="5092542" y="422944"/>
            <a:chExt cx="861133" cy="2633703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8A162E05-1491-4CF9-8616-CD20C9C05382}"/>
                </a:ext>
              </a:extLst>
            </p:cNvPr>
            <p:cNvSpPr txBox="1"/>
            <p:nvPr/>
          </p:nvSpPr>
          <p:spPr>
            <a:xfrm>
              <a:off x="5092542" y="422944"/>
              <a:ext cx="86113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현재</a:t>
              </a:r>
              <a:endPara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20.01.14</a:t>
              </a:r>
            </a:p>
          </p:txBody>
        </p: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95EA3549-8D9C-427C-AEB8-FF86D2234B92}"/>
                </a:ext>
              </a:extLst>
            </p:cNvPr>
            <p:cNvCxnSpPr>
              <a:cxnSpLocks/>
              <a:stCxn id="141" idx="2"/>
            </p:cNvCxnSpPr>
            <p:nvPr/>
          </p:nvCxnSpPr>
          <p:spPr>
            <a:xfrm>
              <a:off x="5523109" y="946164"/>
              <a:ext cx="1703" cy="2110483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dash"/>
              <a:miter lim="800000"/>
            </a:ln>
            <a:effectLst/>
          </p:spPr>
        </p:cxn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E364A19F-155F-4A37-9F27-BAD59FE7DCD9}"/>
              </a:ext>
            </a:extLst>
          </p:cNvPr>
          <p:cNvSpPr txBox="1"/>
          <p:nvPr/>
        </p:nvSpPr>
        <p:spPr>
          <a:xfrm>
            <a:off x="7075403" y="3071658"/>
            <a:ext cx="540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Trunk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Rev. 14</a:t>
            </a:r>
            <a:endParaRPr kumimoji="1" lang="ko-KR" altLang="en-US" sz="8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686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1.6 K7PE –</a:t>
            </a:r>
            <a:r>
              <a:rPr lang="ko-KR" altLang="en-US" dirty="0"/>
              <a:t> 향후 예상 업무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B. </a:t>
            </a:r>
            <a:r>
              <a:rPr lang="ko-KR" altLang="en-US" dirty="0"/>
              <a:t>배터리 충전 알고리즘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sz="1600" b="0" dirty="0"/>
              <a:t>목적 </a:t>
            </a:r>
            <a:r>
              <a:rPr lang="en-US" altLang="ko-KR" sz="1600" b="0" dirty="0"/>
              <a:t>: </a:t>
            </a:r>
            <a:r>
              <a:rPr lang="ko-KR" altLang="en-US" sz="1600" b="0" dirty="0"/>
              <a:t>체계에서 배터리 충전 알고리즘이 확정되면</a:t>
            </a:r>
            <a:r>
              <a:rPr lang="en-US" altLang="ko-KR" sz="1600" b="0" dirty="0"/>
              <a:t>, PCTS LV </a:t>
            </a:r>
            <a:r>
              <a:rPr lang="ko-KR" altLang="en-US" sz="1600" b="0" dirty="0"/>
              <a:t>소프트웨어에 해당 기능을 구현할 필요가 있음</a:t>
            </a:r>
            <a:endParaRPr lang="en-US" altLang="ko-KR" sz="1600" b="0" dirty="0"/>
          </a:p>
          <a:p>
            <a:pPr>
              <a:buFontTx/>
              <a:buChar char="-"/>
            </a:pPr>
            <a:r>
              <a:rPr lang="ko-KR" altLang="en-US" sz="1600" b="0" dirty="0"/>
              <a:t>현재 준비된 사항</a:t>
            </a:r>
            <a:endParaRPr lang="en-US" altLang="ko-KR" sz="1600" b="0" dirty="0"/>
          </a:p>
          <a:p>
            <a:pPr marL="0" indent="0">
              <a:buNone/>
            </a:pPr>
            <a:endParaRPr lang="en-US" altLang="ko-KR" sz="1600" b="0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5E0A42-6034-4ABF-ADE4-1AB60A7F7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219" y="2487866"/>
            <a:ext cx="5292662" cy="3979218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E11E7F5-FF3D-45F7-B2CD-666BEFC570FA}"/>
              </a:ext>
            </a:extLst>
          </p:cNvPr>
          <p:cNvSpPr txBox="1"/>
          <p:nvPr/>
        </p:nvSpPr>
        <p:spPr>
          <a:xfrm>
            <a:off x="1377219" y="2180089"/>
            <a:ext cx="6782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Script Run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에서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 HBIONCHG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가 수행되면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아래와 같이 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Charge UI Sample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화면이 뜸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.</a:t>
            </a:r>
            <a:endParaRPr kumimoji="1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5819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1.6 K7PE –</a:t>
            </a:r>
            <a:r>
              <a:rPr lang="ko-KR" altLang="en-US" dirty="0"/>
              <a:t> 향후 예상 업무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B. </a:t>
            </a:r>
            <a:r>
              <a:rPr lang="ko-KR" altLang="en-US" dirty="0"/>
              <a:t>배터리 충전 알고리즘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sz="1600" b="0" dirty="0"/>
              <a:t>향후 구현할 사항</a:t>
            </a:r>
            <a:endParaRPr lang="en-US" altLang="ko-KR" sz="1600" b="0" dirty="0"/>
          </a:p>
          <a:p>
            <a:pPr marL="0" indent="0">
              <a:buNone/>
            </a:pPr>
            <a:endParaRPr lang="en-US" altLang="ko-KR" sz="1600" b="0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AE7B53-9813-4ABF-8A75-1DDDAB1EA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471" y="2075151"/>
            <a:ext cx="4486275" cy="3686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670CC4-67C2-4443-846A-1A7A9368D482}"/>
              </a:ext>
            </a:extLst>
          </p:cNvPr>
          <p:cNvSpPr txBox="1"/>
          <p:nvPr/>
        </p:nvSpPr>
        <p:spPr>
          <a:xfrm>
            <a:off x="1419994" y="1713056"/>
            <a:ext cx="6984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ea typeface="맑은 고딕" panose="020B0503020000020004" pitchFamily="50" charset="-127"/>
              </a:rPr>
              <a:t>K7PE\PCTS\Source\Working\trunk\SCRIPT </a:t>
            </a:r>
            <a:r>
              <a:rPr lang="ko-KR" altLang="en-US" sz="1400" dirty="0">
                <a:latin typeface="Arial" panose="020B0604020202020204" pitchFamily="34" charset="0"/>
                <a:ea typeface="맑은 고딕" panose="020B0503020000020004" pitchFamily="50" charset="-127"/>
              </a:rPr>
              <a:t>폴더 안에 </a:t>
            </a:r>
            <a:r>
              <a:rPr lang="en-US" altLang="ko-KR" sz="1400" dirty="0">
                <a:latin typeface="Arial" panose="020B0604020202020204" pitchFamily="34" charset="0"/>
                <a:ea typeface="맑은 고딕" panose="020B0503020000020004" pitchFamily="50" charset="-127"/>
              </a:rPr>
              <a:t>Charge UI Sample.vi</a:t>
            </a:r>
            <a:r>
              <a:rPr lang="ko-KR" altLang="en-US" sz="1400" dirty="0">
                <a:latin typeface="Arial" panose="020B0604020202020204" pitchFamily="34" charset="0"/>
                <a:ea typeface="맑은 고딕" panose="020B0503020000020004" pitchFamily="50" charset="-127"/>
              </a:rPr>
              <a:t> 변경 필요</a:t>
            </a:r>
            <a:endParaRPr lang="en-US" altLang="ko-KR" sz="1400" dirty="0"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2051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25PE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2.0 </a:t>
            </a:r>
            <a:r>
              <a:rPr lang="ko-KR" altLang="en-US" dirty="0"/>
              <a:t>프로젝트 상태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2.1 </a:t>
            </a:r>
            <a:r>
              <a:rPr lang="ko-KR" altLang="en-US" dirty="0"/>
              <a:t>향후 예상 업무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679873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2.0 K7PE –</a:t>
            </a:r>
            <a:r>
              <a:rPr lang="ko-KR" altLang="en-US" dirty="0"/>
              <a:t> 프로젝트 상태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1600" dirty="0"/>
              <a:t>개발 및 납품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항우연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en-US" altLang="ko-KR" sz="1600" dirty="0">
                <a:solidFill>
                  <a:schemeClr val="accent1"/>
                </a:solidFill>
              </a:rPr>
              <a:t>OPEN</a:t>
            </a:r>
          </a:p>
          <a:p>
            <a:pPr lvl="1">
              <a:buFontTx/>
              <a:buChar char="-"/>
            </a:pPr>
            <a:r>
              <a:rPr lang="en-US" altLang="ko-KR" dirty="0"/>
              <a:t>PCTS</a:t>
            </a:r>
          </a:p>
          <a:p>
            <a:pPr lvl="1">
              <a:buFontTx/>
              <a:buChar char="-"/>
            </a:pPr>
            <a:r>
              <a:rPr lang="en-US" altLang="ko-KR" dirty="0"/>
              <a:t>VU</a:t>
            </a:r>
          </a:p>
          <a:p>
            <a:pPr lvl="1">
              <a:buFontTx/>
              <a:buChar char="-"/>
            </a:pPr>
            <a:r>
              <a:rPr lang="en-US" altLang="ko-KR" dirty="0"/>
              <a:t>SAS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유지 보수 </a:t>
            </a:r>
            <a:r>
              <a:rPr lang="en-US" altLang="ko-KR" sz="1600" dirty="0"/>
              <a:t>: </a:t>
            </a:r>
            <a:r>
              <a:rPr lang="en-US" altLang="ko-KR" sz="1600" dirty="0">
                <a:solidFill>
                  <a:schemeClr val="accent4"/>
                </a:solidFill>
              </a:rPr>
              <a:t>OPEN</a:t>
            </a:r>
          </a:p>
        </p:txBody>
      </p:sp>
    </p:spTree>
    <p:extLst>
      <p:ext uri="{BB962C8B-B14F-4D97-AF65-F5344CB8AC3E}">
        <p14:creationId xmlns:p14="http://schemas.microsoft.com/office/powerpoint/2010/main" val="9244573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25PE –</a:t>
            </a:r>
            <a:r>
              <a:rPr lang="ko-KR" altLang="en-US" dirty="0"/>
              <a:t> 향후 예상 업무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A. PCTS</a:t>
            </a:r>
            <a:r>
              <a:rPr lang="ko-KR" altLang="en-US" dirty="0"/>
              <a:t> 장비 </a:t>
            </a:r>
            <a:r>
              <a:rPr lang="en-US" altLang="ko-KR" dirty="0"/>
              <a:t>– IP </a:t>
            </a:r>
            <a:r>
              <a:rPr lang="ko-KR" altLang="en-US" dirty="0"/>
              <a:t>설정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sz="1600" b="0" dirty="0"/>
              <a:t>각각의 장비들의 메뉴</a:t>
            </a:r>
            <a:r>
              <a:rPr lang="en-US" altLang="ko-KR" sz="1600" b="0" dirty="0"/>
              <a:t> </a:t>
            </a:r>
            <a:r>
              <a:rPr lang="ko-KR" altLang="en-US" sz="1600" b="0" dirty="0"/>
              <a:t>이용</a:t>
            </a:r>
            <a:endParaRPr lang="en-US" altLang="ko-KR" sz="1600" b="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31EE84-A84B-4E86-A1C3-C082F5469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04" y="1760194"/>
            <a:ext cx="448627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935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25PE –</a:t>
            </a:r>
            <a:r>
              <a:rPr lang="ko-KR" altLang="en-US" dirty="0"/>
              <a:t> 향후 예상 업무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15B66E95-C908-4617-A3A4-4493A6295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B. PCTS</a:t>
            </a:r>
            <a:r>
              <a:rPr lang="ko-KR" altLang="en-US" dirty="0"/>
              <a:t> 장비 </a:t>
            </a:r>
            <a:r>
              <a:rPr lang="en-US" altLang="ko-KR" dirty="0"/>
              <a:t>– PXI </a:t>
            </a:r>
            <a:r>
              <a:rPr lang="ko-KR" altLang="en-US" dirty="0"/>
              <a:t>카드 </a:t>
            </a:r>
            <a:r>
              <a:rPr lang="en-US" altLang="ko-KR" dirty="0"/>
              <a:t>ID </a:t>
            </a:r>
            <a:r>
              <a:rPr lang="ko-KR" altLang="en-US" dirty="0"/>
              <a:t>설정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sz="1600" b="0" dirty="0"/>
              <a:t>NI MAX</a:t>
            </a:r>
            <a:r>
              <a:rPr lang="ko-KR" altLang="en-US" sz="1600" b="0" dirty="0"/>
              <a:t> 메뉴 중</a:t>
            </a:r>
            <a:r>
              <a:rPr lang="en-US" altLang="ko-KR" sz="1600" b="0" dirty="0"/>
              <a:t>,</a:t>
            </a:r>
            <a:r>
              <a:rPr lang="ko-KR" altLang="en-US" sz="1600" b="0" dirty="0"/>
              <a:t> 이름 바꾸기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5EF98F-7B8F-4512-826A-92337E9C0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695" y="1811866"/>
            <a:ext cx="4192828" cy="195894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7FBC27D-E4B0-419F-AE14-CF96999F1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11866"/>
            <a:ext cx="4570384" cy="280870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ED455B2-F744-4D0E-938B-A55052FD6232}"/>
              </a:ext>
            </a:extLst>
          </p:cNvPr>
          <p:cNvSpPr/>
          <p:nvPr/>
        </p:nvSpPr>
        <p:spPr bwMode="auto">
          <a:xfrm>
            <a:off x="2513792" y="1898468"/>
            <a:ext cx="2285192" cy="2808709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5704732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400" dirty="0" err="1" smtClean="0">
            <a:latin typeface="Arial" panose="020B0604020202020204" pitchFamily="34" charset="0"/>
            <a:ea typeface="맑은 고딕" panose="020B0503020000020004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43805</TotalTime>
  <Words>897</Words>
  <Application>Microsoft Office PowerPoint</Application>
  <PresentationFormat>화면 슬라이드 쇼(4:3)</PresentationFormat>
  <Paragraphs>164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3" baseType="lpstr">
      <vt:lpstr>굴림</vt:lpstr>
      <vt:lpstr>맑은 고딕</vt:lpstr>
      <vt:lpstr>Arial</vt:lpstr>
      <vt:lpstr>Times New Roman</vt:lpstr>
      <vt:lpstr>Wingdings</vt:lpstr>
      <vt:lpstr>기본 디자인</vt:lpstr>
      <vt:lpstr>K7PE 및 25PE 프로젝트 인수인계자료</vt:lpstr>
      <vt:lpstr>Contents</vt:lpstr>
      <vt:lpstr>1. K7PE</vt:lpstr>
      <vt:lpstr>1.0 K7PE – 프로젝트 상태</vt:lpstr>
      <vt:lpstr>1.1 K7PE – PCTS S/W</vt:lpstr>
      <vt:lpstr>1.1 K7PE – PCTS S/W</vt:lpstr>
      <vt:lpstr>1.1 K7PE – PCTS S/W</vt:lpstr>
      <vt:lpstr>1.1 K7PE – PCTS S/W</vt:lpstr>
      <vt:lpstr>1.2 K7PE – SAS S/W</vt:lpstr>
      <vt:lpstr>1.2 K7PE – SAS S/W</vt:lpstr>
      <vt:lpstr>1.2 K7PE – SAS S/W</vt:lpstr>
      <vt:lpstr>1.2 K7PE – SAS S/W</vt:lpstr>
      <vt:lpstr>1.3 K7PE – VU F/W</vt:lpstr>
      <vt:lpstr>1.3 K7PE – VU F/W</vt:lpstr>
      <vt:lpstr>1.3 K7PE – VU F/W</vt:lpstr>
      <vt:lpstr>1.4 K7PE – VU S/W</vt:lpstr>
      <vt:lpstr>1.4 K7PE – VU S/W</vt:lpstr>
      <vt:lpstr>1.4 K7PE – VU S/W</vt:lpstr>
      <vt:lpstr>1.5 K7PE – DB</vt:lpstr>
      <vt:lpstr>1.5 K7PE – DB</vt:lpstr>
      <vt:lpstr>1.6 K7PE – 향후 예상 업무</vt:lpstr>
      <vt:lpstr>1.6 K7PE – 향후 예상 업무</vt:lpstr>
      <vt:lpstr>1.6 K7PE – 향후 예상 업무</vt:lpstr>
      <vt:lpstr>2. 25PE</vt:lpstr>
      <vt:lpstr>2.0 K7PE – 프로젝트 상태</vt:lpstr>
      <vt:lpstr>2.1 25PE – 향후 예상 업무</vt:lpstr>
      <vt:lpstr>2.1 25PE – 향후 예상 업무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남명용</dc:creator>
  <cp:lastModifiedBy>Lenovo</cp:lastModifiedBy>
  <cp:revision>2155</cp:revision>
  <cp:lastPrinted>2018-02-26T11:54:17Z</cp:lastPrinted>
  <dcterms:created xsi:type="dcterms:W3CDTF">1601-01-01T00:00:00Z</dcterms:created>
  <dcterms:modified xsi:type="dcterms:W3CDTF">2020-01-13T19:03:49Z</dcterms:modified>
</cp:coreProperties>
</file>