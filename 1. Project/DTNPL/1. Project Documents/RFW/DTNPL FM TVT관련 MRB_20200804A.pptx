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209" r:id="rId2"/>
    <p:sldId id="1359" r:id="rId3"/>
    <p:sldId id="1362" r:id="rId4"/>
    <p:sldId id="1357" r:id="rId5"/>
    <p:sldId id="1360" r:id="rId6"/>
    <p:sldId id="1358" r:id="rId7"/>
    <p:sldId id="1363" r:id="rId8"/>
    <p:sldId id="1367" r:id="rId9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18002" initials="O" lastIdx="1" clrIdx="0">
    <p:extLst>
      <p:ext uri="{19B8F6BF-5375-455C-9EA6-DF929625EA0E}">
        <p15:presenceInfo xmlns:p15="http://schemas.microsoft.com/office/powerpoint/2012/main" userId="O1800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6DA5"/>
    <a:srgbClr val="FFFFFF"/>
    <a:srgbClr val="000338"/>
    <a:srgbClr val="E2EFD9"/>
    <a:srgbClr val="E6EEF7"/>
    <a:srgbClr val="DBDBDB"/>
    <a:srgbClr val="F2F2F2"/>
    <a:srgbClr val="63686C"/>
    <a:srgbClr val="6C7174"/>
    <a:srgbClr val="EFFF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6362" autoAdjust="0"/>
  </p:normalViewPr>
  <p:slideViewPr>
    <p:cSldViewPr snapToGrid="0">
      <p:cViewPr varScale="1">
        <p:scale>
          <a:sx n="98" d="100"/>
          <a:sy n="98" d="100"/>
        </p:scale>
        <p:origin x="1293" y="60"/>
      </p:cViewPr>
      <p:guideLst>
        <p:guide orient="horz" pos="2160"/>
        <p:guide pos="3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2400" y="6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4" y="4714878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3006090" y="622300"/>
            <a:ext cx="5570220" cy="1470025"/>
          </a:xfrm>
        </p:spPr>
        <p:txBody>
          <a:bodyPr lIns="91440" tIns="45720" rIns="91440" bIns="45720"/>
          <a:lstStyle>
            <a:lvl1pPr>
              <a:defRPr sz="3000">
                <a:latin typeface="+mj-lt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3006090" y="3886200"/>
            <a:ext cx="4766310" cy="1752600"/>
          </a:xfrm>
        </p:spPr>
        <p:txBody>
          <a:bodyPr lIns="91440" tIns="45720" rIns="91440" bIns="45720" anchor="ctr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pic>
        <p:nvPicPr>
          <p:cNvPr id="21" name="그림 2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9915" y="6510338"/>
            <a:ext cx="947582" cy="276225"/>
          </a:xfrm>
          <a:prstGeom prst="rect">
            <a:avLst/>
          </a:prstGeom>
        </p:spPr>
      </p:pic>
      <p:sp>
        <p:nvSpPr>
          <p:cNvPr id="23" name="Line 84"/>
          <p:cNvSpPr>
            <a:spLocks noChangeShapeType="1"/>
          </p:cNvSpPr>
          <p:nvPr userDrawn="1"/>
        </p:nvSpPr>
        <p:spPr bwMode="auto">
          <a:xfrm>
            <a:off x="230696" y="6842760"/>
            <a:ext cx="8913303" cy="0"/>
          </a:xfrm>
          <a:prstGeom prst="line">
            <a:avLst/>
          </a:prstGeom>
          <a:noFill/>
          <a:ln w="25400">
            <a:solidFill>
              <a:srgbClr val="000338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B5C1B240-8930-4347-9EDB-DB33EF9CA4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054CD70C-7F67-4367-9FDF-206008AB28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DCE243E3-F0B5-437D-ADC4-C0F1BFD669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1E4831DA-CFB9-4C15-9A7C-5CCA7DDD4A0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EF079343-1D4C-4350-8921-D61C8EBC77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FE64E568-A02E-4C51-8193-5D7193BC921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31763"/>
            <a:ext cx="698754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38290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  <a:cs typeface="Arial" panose="020B060402020202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9915" y="6510338"/>
            <a:ext cx="947582" cy="276225"/>
          </a:xfrm>
          <a:prstGeom prst="rect">
            <a:avLst/>
          </a:prstGeom>
        </p:spPr>
      </p:pic>
      <p:sp>
        <p:nvSpPr>
          <p:cNvPr id="16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gradFill flip="none" rotWithShape="1">
              <a:gsLst>
                <a:gs pos="0">
                  <a:schemeClr val="accent6"/>
                </a:gs>
                <a:gs pos="50000">
                  <a:schemeClr val="accent6">
                    <a:lumMod val="22000"/>
                    <a:lumOff val="78000"/>
                  </a:schemeClr>
                </a:gs>
                <a:gs pos="100000">
                  <a:srgbClr val="7030A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445488" y="1958975"/>
            <a:ext cx="6415328" cy="1594121"/>
          </a:xfrm>
        </p:spPr>
        <p:txBody>
          <a:bodyPr/>
          <a:lstStyle/>
          <a:p>
            <a:pPr algn="ctr"/>
            <a:r>
              <a:rPr lang="en-US" altLang="ko-KR" sz="3600" dirty="0"/>
              <a:t>DTNPL FM</a:t>
            </a:r>
            <a:br>
              <a:rPr lang="en-US" altLang="ko-KR" sz="3600" dirty="0"/>
            </a:br>
            <a:r>
              <a:rPr lang="en-US" altLang="ko-KR" sz="3600" dirty="0"/>
              <a:t>Thermal Vacuum Test </a:t>
            </a:r>
            <a:br>
              <a:rPr lang="en-US" altLang="ko-KR" sz="3600" dirty="0"/>
            </a:br>
            <a:br>
              <a:rPr lang="en-US" altLang="ko-KR" sz="3600" dirty="0"/>
            </a:br>
            <a:r>
              <a:rPr lang="en-US" altLang="ko-KR" sz="3600" dirty="0"/>
              <a:t>Material</a:t>
            </a:r>
            <a:r>
              <a:rPr lang="ko-KR" altLang="en-US" sz="3600" dirty="0"/>
              <a:t> </a:t>
            </a:r>
            <a:r>
              <a:rPr lang="en-US" altLang="ko-KR" sz="3600" dirty="0"/>
              <a:t>Review</a:t>
            </a:r>
            <a:r>
              <a:rPr lang="ko-KR" altLang="en-US" sz="3600" dirty="0"/>
              <a:t> </a:t>
            </a:r>
            <a:r>
              <a:rPr lang="en-US" altLang="ko-KR" sz="3600" dirty="0"/>
              <a:t>Board(MRB)</a:t>
            </a:r>
            <a:endParaRPr lang="ko-KR" altLang="en-US" sz="24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6727" y="5094514"/>
            <a:ext cx="7090519" cy="907558"/>
          </a:xfrm>
        </p:spPr>
        <p:txBody>
          <a:bodyPr/>
          <a:lstStyle/>
          <a:p>
            <a:r>
              <a:rPr lang="en-US" altLang="ko-KR" dirty="0"/>
              <a:t>2020. 07. 23</a:t>
            </a:r>
          </a:p>
        </p:txBody>
      </p:sp>
    </p:spTree>
    <p:extLst>
      <p:ext uri="{BB962C8B-B14F-4D97-AF65-F5344CB8AC3E}">
        <p14:creationId xmlns:p14="http://schemas.microsoft.com/office/powerpoint/2010/main" val="313676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66721-5703-45E8-A079-14DFCC5C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1763"/>
            <a:ext cx="8633354" cy="706437"/>
          </a:xfrm>
        </p:spPr>
        <p:txBody>
          <a:bodyPr/>
          <a:lstStyle/>
          <a:p>
            <a:pPr algn="ctr"/>
            <a:r>
              <a:rPr lang="en-US" altLang="ko-KR" dirty="0"/>
              <a:t>Description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3D9B71-FF26-4592-B0D9-1E6EFD2D3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Location of Thermal Sensors </a:t>
            </a:r>
          </a:p>
          <a:p>
            <a:pPr lvl="1"/>
            <a:r>
              <a:rPr lang="en-US" altLang="ko-KR" dirty="0"/>
              <a:t>Control Temperature (@Base Plate) </a:t>
            </a:r>
          </a:p>
          <a:p>
            <a:pPr lvl="2"/>
            <a:r>
              <a:rPr lang="en-US" altLang="ko-KR" dirty="0">
                <a:solidFill>
                  <a:srgbClr val="FF0000"/>
                </a:solidFill>
              </a:rPr>
              <a:t>C1 (Ch 2-2) : Main</a:t>
            </a:r>
          </a:p>
          <a:p>
            <a:pPr lvl="2"/>
            <a:r>
              <a:rPr lang="en-US" altLang="ko-KR" dirty="0"/>
              <a:t>C2 (Ch2-3) : Optional</a:t>
            </a:r>
          </a:p>
          <a:p>
            <a:pPr lvl="1"/>
            <a:r>
              <a:rPr lang="en-US" altLang="ko-KR" dirty="0"/>
              <a:t>Measurement Temperature : </a:t>
            </a:r>
          </a:p>
          <a:p>
            <a:pPr lvl="2"/>
            <a:r>
              <a:rPr lang="en-US" altLang="ko-KR" dirty="0"/>
              <a:t>T1 (Ch 2-4)</a:t>
            </a:r>
          </a:p>
          <a:p>
            <a:pPr lvl="2"/>
            <a:r>
              <a:rPr lang="en-US" altLang="ko-KR" dirty="0"/>
              <a:t>T2 (Ch 2-5)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612F2D-6E16-4418-9944-FF132DCC18AF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91"/>
          <a:stretch/>
        </p:blipFill>
        <p:spPr bwMode="auto">
          <a:xfrm>
            <a:off x="2669087" y="2353116"/>
            <a:ext cx="5998573" cy="373275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C72896-009E-4004-A486-51EA62349EB5}"/>
              </a:ext>
            </a:extLst>
          </p:cNvPr>
          <p:cNvSpPr txBox="1"/>
          <p:nvPr/>
        </p:nvSpPr>
        <p:spPr>
          <a:xfrm>
            <a:off x="3301482" y="3250418"/>
            <a:ext cx="1010151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dirty="0">
                <a:latin typeface="+mn-lt"/>
              </a:rPr>
              <a:t>Ch 2-2</a:t>
            </a:r>
            <a:endParaRPr lang="ko-KR" altLang="en-US" sz="18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9BB89-94C6-4761-8F97-73975BC34C11}"/>
              </a:ext>
            </a:extLst>
          </p:cNvPr>
          <p:cNvSpPr txBox="1"/>
          <p:nvPr/>
        </p:nvSpPr>
        <p:spPr>
          <a:xfrm>
            <a:off x="7585208" y="2691320"/>
            <a:ext cx="1010151" cy="36933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dirty="0">
                <a:latin typeface="+mn-lt"/>
              </a:rPr>
              <a:t>Ch 2-3</a:t>
            </a:r>
            <a:endParaRPr lang="ko-KR" altLang="en-US" sz="18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D48AF-442F-43FB-A996-837D2D2C6AC2}"/>
              </a:ext>
            </a:extLst>
          </p:cNvPr>
          <p:cNvSpPr txBox="1"/>
          <p:nvPr/>
        </p:nvSpPr>
        <p:spPr>
          <a:xfrm>
            <a:off x="5740374" y="2287963"/>
            <a:ext cx="1010151" cy="36933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dirty="0">
                <a:latin typeface="+mn-lt"/>
              </a:rPr>
              <a:t>Ch 2-4</a:t>
            </a:r>
            <a:endParaRPr lang="ko-KR" altLang="en-US" sz="18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99A6A3-34BC-42BC-9095-0EE08297D89E}"/>
              </a:ext>
            </a:extLst>
          </p:cNvPr>
          <p:cNvSpPr txBox="1"/>
          <p:nvPr/>
        </p:nvSpPr>
        <p:spPr>
          <a:xfrm>
            <a:off x="7851803" y="5275555"/>
            <a:ext cx="1010151" cy="369332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dirty="0">
                <a:latin typeface="+mn-lt"/>
              </a:rPr>
              <a:t>Ch 2-5</a:t>
            </a:r>
            <a:endParaRPr lang="ko-KR" alt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0368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087EEC-9C5E-45E0-8FC2-D9CE0EB24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1763"/>
            <a:ext cx="8666162" cy="706437"/>
          </a:xfrm>
        </p:spPr>
        <p:txBody>
          <a:bodyPr/>
          <a:lstStyle/>
          <a:p>
            <a:pPr algn="ctr"/>
            <a:r>
              <a:rPr lang="en-US" altLang="ko-KR" dirty="0"/>
              <a:t>Description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987B45D-2CB3-4E1E-A45E-30B1D8DF0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TV Test </a:t>
            </a:r>
            <a:r>
              <a:rPr lang="ko-KR" altLang="en-US" dirty="0"/>
              <a:t>온도 조건</a:t>
            </a:r>
            <a:endParaRPr lang="en-US" altLang="ko-KR" dirty="0"/>
          </a:p>
          <a:p>
            <a:pPr lvl="1"/>
            <a:r>
              <a:rPr lang="en-US" altLang="ko-KR" dirty="0"/>
              <a:t>Environmental Design and Test Specification (KPLO-SP-320-002)</a:t>
            </a:r>
          </a:p>
          <a:p>
            <a:pPr lvl="1"/>
            <a:endParaRPr lang="ko-KR" altLang="en-US" dirty="0"/>
          </a:p>
        </p:txBody>
      </p:sp>
      <p:pic>
        <p:nvPicPr>
          <p:cNvPr id="7" name="내용 개체 틀 4">
            <a:extLst>
              <a:ext uri="{FF2B5EF4-FFF2-40B4-BE49-F238E27FC236}">
                <a16:creationId xmlns:a16="http://schemas.microsoft.com/office/drawing/2014/main" id="{92C8DB96-5ACB-4507-B6E7-76D5975D0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9868" y="1733550"/>
            <a:ext cx="5855376" cy="463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87BC61C-CFA2-4E91-A2E2-ABB19C32644A}"/>
              </a:ext>
            </a:extLst>
          </p:cNvPr>
          <p:cNvSpPr/>
          <p:nvPr/>
        </p:nvSpPr>
        <p:spPr bwMode="auto">
          <a:xfrm>
            <a:off x="2133600" y="2962275"/>
            <a:ext cx="5267325" cy="276225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9178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63454-BA6F-429F-B0C1-0DDEEC6F1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1763"/>
            <a:ext cx="8666162" cy="706437"/>
          </a:xfrm>
        </p:spPr>
        <p:txBody>
          <a:bodyPr/>
          <a:lstStyle/>
          <a:p>
            <a:pPr algn="ctr"/>
            <a:r>
              <a:rPr lang="en-US" altLang="ko-KR" dirty="0"/>
              <a:t>Description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9F1EE-D202-4CD7-8AAE-E32CFB55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70" name="내용 개체 틀 2">
            <a:extLst>
              <a:ext uri="{FF2B5EF4-FFF2-40B4-BE49-F238E27FC236}">
                <a16:creationId xmlns:a16="http://schemas.microsoft.com/office/drawing/2014/main" id="{949C0CFB-F144-417D-BF23-1FC363DACBB6}"/>
              </a:ext>
            </a:extLst>
          </p:cNvPr>
          <p:cNvSpPr txBox="1">
            <a:spLocks/>
          </p:cNvSpPr>
          <p:nvPr/>
        </p:nvSpPr>
        <p:spPr bwMode="auto">
          <a:xfrm>
            <a:off x="228600" y="981075"/>
            <a:ext cx="8666162" cy="538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b="1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  <a:lvl2pPr marL="538163" indent="-1905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2pPr>
            <a:lvl3pPr marL="89693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3pPr>
            <a:lvl4pPr marL="1255713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4pPr>
            <a:lvl5pPr marL="161448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TV Test </a:t>
            </a:r>
            <a:r>
              <a:rPr lang="ko-KR" altLang="en-US" sz="1800" dirty="0"/>
              <a:t>온도 조건</a:t>
            </a:r>
            <a:endParaRPr lang="en-US" altLang="ko-KR" sz="1800" dirty="0"/>
          </a:p>
          <a:p>
            <a:pPr lvl="1"/>
            <a:r>
              <a:rPr lang="en-US" altLang="ko-KR" dirty="0"/>
              <a:t>Environmental Design and Test Specification (KPLO-SP-320-002)</a:t>
            </a:r>
          </a:p>
          <a:p>
            <a:pPr lvl="1"/>
            <a:r>
              <a:rPr lang="en-US" altLang="ko-KR" dirty="0"/>
              <a:t>3.1.2 Temperature Extremes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5E1CAB-41F8-4DE8-922F-DC793D97D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451" y="1879323"/>
            <a:ext cx="4869949" cy="345177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62D1999-08E9-4E5E-8C98-14CC03219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38" y="2085006"/>
            <a:ext cx="3181794" cy="11483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FDAAEA4-79E6-4845-913D-5E99741F07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725" y="3113975"/>
            <a:ext cx="1948487" cy="63005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8BD8494-5EC3-4043-B943-3EFED49D8A4A}"/>
              </a:ext>
            </a:extLst>
          </p:cNvPr>
          <p:cNvSpPr/>
          <p:nvPr/>
        </p:nvSpPr>
        <p:spPr bwMode="auto">
          <a:xfrm>
            <a:off x="1212724" y="2333897"/>
            <a:ext cx="1887729" cy="54965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5D7379-1AA5-4A3C-915F-D6DE3780DAFB}"/>
              </a:ext>
            </a:extLst>
          </p:cNvPr>
          <p:cNvSpPr/>
          <p:nvPr/>
        </p:nvSpPr>
        <p:spPr bwMode="auto">
          <a:xfrm>
            <a:off x="6610931" y="2496454"/>
            <a:ext cx="270461" cy="216976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0E74F0-CCAA-43DB-ABCD-CAB0508ECC75}"/>
              </a:ext>
            </a:extLst>
          </p:cNvPr>
          <p:cNvSpPr/>
          <p:nvPr/>
        </p:nvSpPr>
        <p:spPr bwMode="auto">
          <a:xfrm>
            <a:off x="6665512" y="4354316"/>
            <a:ext cx="270461" cy="216976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9438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67869-5CD8-4921-B17D-9B6646392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1763"/>
            <a:ext cx="8666162" cy="706437"/>
          </a:xfrm>
        </p:spPr>
        <p:txBody>
          <a:bodyPr/>
          <a:lstStyle/>
          <a:p>
            <a:pPr algn="ctr"/>
            <a:r>
              <a:rPr lang="en-US" altLang="ko-KR" dirty="0"/>
              <a:t>Description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38D333-1A05-4B4C-A524-9AEBA3F0E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TV Test Temperature Cycling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2BE514F-495B-4257-BC5D-7DF281B7F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59" y="1459714"/>
            <a:ext cx="5337565" cy="491251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0A7FC06-1FCC-4AB3-AD73-E8B2A30C3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115" y="1930873"/>
            <a:ext cx="3456593" cy="14981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7FF731-35FA-441E-B583-7B98FE73CDE2}"/>
              </a:ext>
            </a:extLst>
          </p:cNvPr>
          <p:cNvSpPr txBox="1"/>
          <p:nvPr/>
        </p:nvSpPr>
        <p:spPr>
          <a:xfrm>
            <a:off x="201498" y="2292380"/>
            <a:ext cx="705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+55ºC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0929E2-2C95-4437-AC5C-1702F691BBD5}"/>
              </a:ext>
            </a:extLst>
          </p:cNvPr>
          <p:cNvSpPr txBox="1"/>
          <p:nvPr/>
        </p:nvSpPr>
        <p:spPr>
          <a:xfrm>
            <a:off x="201497" y="3580532"/>
            <a:ext cx="659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-25ºC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F85D32-5B59-4C12-AA62-750B76C37A4F}"/>
              </a:ext>
            </a:extLst>
          </p:cNvPr>
          <p:cNvSpPr txBox="1"/>
          <p:nvPr/>
        </p:nvSpPr>
        <p:spPr>
          <a:xfrm>
            <a:off x="178253" y="1877536"/>
            <a:ext cx="705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+70ºC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A50F15-96B3-49B8-AD57-337690ECB6F3}"/>
              </a:ext>
            </a:extLst>
          </p:cNvPr>
          <p:cNvSpPr txBox="1"/>
          <p:nvPr/>
        </p:nvSpPr>
        <p:spPr>
          <a:xfrm>
            <a:off x="230652" y="4164653"/>
            <a:ext cx="659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-35ºC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C5394B-9627-4007-8185-E50DEDB2C613}"/>
              </a:ext>
            </a:extLst>
          </p:cNvPr>
          <p:cNvSpPr txBox="1"/>
          <p:nvPr/>
        </p:nvSpPr>
        <p:spPr>
          <a:xfrm>
            <a:off x="211543" y="3892684"/>
            <a:ext cx="659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-30ºC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99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77565-EBE4-4C92-BF3D-8D0C50605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1763"/>
            <a:ext cx="8666162" cy="706437"/>
          </a:xfrm>
        </p:spPr>
        <p:txBody>
          <a:bodyPr/>
          <a:lstStyle/>
          <a:p>
            <a:pPr algn="ctr"/>
            <a:r>
              <a:rPr lang="en-US" altLang="ko-KR" dirty="0"/>
              <a:t>DTNE-NCR-014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E7DF527-0081-486B-9B9F-4BA6B271D0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현상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1</a:t>
                </a:r>
                <a:r>
                  <a:rPr lang="en-US" altLang="ko-KR" baseline="30000" dirty="0"/>
                  <a:t>st</a:t>
                </a:r>
                <a:r>
                  <a:rPr lang="en-US" altLang="ko-KR" dirty="0"/>
                  <a:t> Cold Soak </a:t>
                </a:r>
                <a:r>
                  <a:rPr lang="ko-KR" altLang="en-US" dirty="0"/>
                  <a:t>온도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EV Spec </a:t>
                </a:r>
                <a:r>
                  <a:rPr lang="ko-KR" altLang="en-US" dirty="0"/>
                  <a:t>대비 더 낮게 </a:t>
                </a:r>
                <a:r>
                  <a:rPr lang="ko-KR" altLang="en-US" dirty="0" err="1"/>
                  <a:t>내려감</a:t>
                </a:r>
                <a:r>
                  <a:rPr lang="ko-KR" altLang="en-US" dirty="0"/>
                  <a:t> </a:t>
                </a:r>
                <a:endParaRPr lang="en-US" altLang="ko-KR" dirty="0">
                  <a:latin typeface="맑은 고딕" panose="020B0503020000020004" pitchFamily="50" charset="-127"/>
                </a:endParaRPr>
              </a:p>
              <a:p>
                <a:pPr lvl="2"/>
                <a:r>
                  <a:rPr lang="en-US" altLang="ko-KR" dirty="0">
                    <a:latin typeface="맑은 고딕" panose="020B0503020000020004" pitchFamily="50" charset="-127"/>
                  </a:rPr>
                  <a:t>S/B  : </a:t>
                </a:r>
                <a:r>
                  <a:rPr lang="en-US" altLang="ko-KR" dirty="0"/>
                  <a:t>-35 ºC</a:t>
                </a:r>
              </a:p>
              <a:p>
                <a:pPr lvl="2"/>
                <a:r>
                  <a:rPr lang="en-US" altLang="ko-KR" dirty="0">
                    <a:latin typeface="맑은 고딕" panose="020B0503020000020004" pitchFamily="50" charset="-127"/>
                  </a:rPr>
                  <a:t>Was</a:t>
                </a:r>
                <a:r>
                  <a:rPr lang="ko-KR" altLang="en-US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dirty="0">
                    <a:latin typeface="맑은 고딕" panose="020B0503020000020004" pitchFamily="50" charset="-127"/>
                  </a:rPr>
                  <a:t>:</a:t>
                </a:r>
                <a:r>
                  <a:rPr lang="ko-KR" altLang="en-US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dirty="0"/>
                  <a:t>-39 </a:t>
                </a:r>
                <a:r>
                  <a:rPr lang="ko-KR" altLang="en-US" dirty="0"/>
                  <a:t>℃</a:t>
                </a:r>
                <a:endParaRPr lang="en-US" altLang="ko-KR" dirty="0"/>
              </a:p>
              <a:p>
                <a:r>
                  <a:rPr lang="ko-KR" altLang="en-US" dirty="0"/>
                  <a:t>경과요약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2020.07.21 09:03 (</a:t>
                </a:r>
                <a:r>
                  <a:rPr lang="ko-KR" altLang="en-US" dirty="0"/>
                  <a:t>이상현상 확인</a:t>
                </a:r>
                <a:r>
                  <a:rPr lang="en-US" altLang="ko-KR" dirty="0"/>
                  <a:t>)</a:t>
                </a:r>
              </a:p>
              <a:p>
                <a:pPr lvl="2"/>
                <a:r>
                  <a:rPr lang="en-US" altLang="ko-KR" dirty="0"/>
                  <a:t>1</a:t>
                </a:r>
                <a:r>
                  <a:rPr lang="en-US" altLang="ko-KR" baseline="30000" dirty="0"/>
                  <a:t>st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Cold Soak </a:t>
                </a:r>
                <a:r>
                  <a:rPr lang="ko-KR" altLang="en-US" dirty="0"/>
                  <a:t>온도가 </a:t>
                </a:r>
                <a:r>
                  <a:rPr lang="en-US" altLang="ko-KR" dirty="0"/>
                  <a:t>-35 ºC </a:t>
                </a:r>
                <a:r>
                  <a:rPr lang="ko-KR" altLang="en-US" dirty="0"/>
                  <a:t>보다 더 낮은 온도인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233.26K (-39</a:t>
                </a:r>
                <a:r>
                  <a:rPr lang="en-US" altLang="ko-KR" dirty="0">
                    <a:solidFill>
                      <a:srgbClr val="FF0000"/>
                    </a:solidFill>
                    <a:latin typeface="맑은 고딕" panose="020B0503020000020004" pitchFamily="50" charset="-127"/>
                  </a:rPr>
                  <a:t>℃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)</a:t>
                </a:r>
                <a:r>
                  <a:rPr lang="ko-KR" altLang="en-US" dirty="0"/>
                  <a:t>까지 내려간 것을 </a:t>
                </a:r>
                <a:r>
                  <a:rPr lang="ko-KR" altLang="en-US" dirty="0" err="1"/>
                  <a:t>루미르</a:t>
                </a:r>
                <a:r>
                  <a:rPr lang="en-US" altLang="ko-KR" dirty="0"/>
                  <a:t> Test Operator</a:t>
                </a:r>
                <a:r>
                  <a:rPr lang="ko-KR" altLang="en-US" dirty="0"/>
                  <a:t>가 발견 및 </a:t>
                </a:r>
                <a:r>
                  <a:rPr lang="en-US" altLang="ko-KR" dirty="0"/>
                  <a:t>KASI Chamber Operator</a:t>
                </a:r>
                <a:r>
                  <a:rPr lang="ko-KR" altLang="en-US" dirty="0"/>
                  <a:t>에게 전달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2020.07.21 09:47 (</a:t>
                </a:r>
                <a:r>
                  <a:rPr lang="ko-KR" altLang="en-US" dirty="0"/>
                  <a:t>조치</a:t>
                </a:r>
                <a:r>
                  <a:rPr lang="en-US" altLang="ko-KR" dirty="0"/>
                  <a:t>)</a:t>
                </a:r>
              </a:p>
              <a:p>
                <a:pPr lvl="2"/>
                <a:r>
                  <a:rPr lang="en-US" altLang="ko-KR" dirty="0"/>
                  <a:t>KASI Chamber Operator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-35 </a:t>
                </a:r>
                <a:r>
                  <a:rPr lang="en-US" altLang="ko-KR" dirty="0">
                    <a:latin typeface="맑은 고딕" panose="020B0503020000020004" pitchFamily="50" charset="-127"/>
                  </a:rPr>
                  <a:t>℃</a:t>
                </a:r>
                <a:r>
                  <a:rPr lang="ko-KR" altLang="en-US" dirty="0">
                    <a:latin typeface="맑은 고딕" panose="020B0503020000020004" pitchFamily="50" charset="-127"/>
                  </a:rPr>
                  <a:t>로 올리도록 조치</a:t>
                </a:r>
                <a:endParaRPr lang="en-US" altLang="ko-KR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E7DF527-0081-486B-9B9F-4BA6B271D0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2" t="-6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그룹 6">
            <a:extLst>
              <a:ext uri="{FF2B5EF4-FFF2-40B4-BE49-F238E27FC236}">
                <a16:creationId xmlns:a16="http://schemas.microsoft.com/office/drawing/2014/main" id="{8401BCF9-8918-4669-91DC-C01CFEB4E07F}"/>
              </a:ext>
            </a:extLst>
          </p:cNvPr>
          <p:cNvGrpSpPr/>
          <p:nvPr/>
        </p:nvGrpSpPr>
        <p:grpSpPr>
          <a:xfrm>
            <a:off x="2505031" y="4219000"/>
            <a:ext cx="3985082" cy="2010350"/>
            <a:chOff x="1932925" y="2960104"/>
            <a:chExt cx="5318479" cy="326924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DC55716-D4A8-4ABA-B962-EEDA95693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32925" y="2960104"/>
              <a:ext cx="5190889" cy="3269246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F84BDA4-440D-471E-A77C-CC555DB71116}"/>
                </a:ext>
              </a:extLst>
            </p:cNvPr>
            <p:cNvSpPr/>
            <p:nvPr/>
          </p:nvSpPr>
          <p:spPr bwMode="auto">
            <a:xfrm>
              <a:off x="6323653" y="3992020"/>
              <a:ext cx="927751" cy="295027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B53138D-77A8-4BF7-9E83-068DC734556A}"/>
              </a:ext>
            </a:extLst>
          </p:cNvPr>
          <p:cNvSpPr txBox="1"/>
          <p:nvPr/>
        </p:nvSpPr>
        <p:spPr>
          <a:xfrm>
            <a:off x="3159997" y="6229350"/>
            <a:ext cx="2985622" cy="26161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233.26K (-39 </a:t>
            </a:r>
            <a:r>
              <a:rPr lang="en-US" altLang="ko-KR" sz="1100" dirty="0">
                <a:latin typeface="맑은 고딕" panose="020B0503020000020004" pitchFamily="50" charset="-127"/>
              </a:rPr>
              <a:t>℃</a:t>
            </a:r>
            <a:r>
              <a:rPr lang="en-US" altLang="ko-KR" sz="1100" dirty="0"/>
              <a:t>)</a:t>
            </a:r>
            <a:r>
              <a:rPr lang="ko-KR" altLang="en-US" sz="1100" dirty="0"/>
              <a:t>시의 </a:t>
            </a:r>
            <a:r>
              <a:rPr lang="en-US" altLang="ko-KR" sz="1100" dirty="0"/>
              <a:t>Chamber </a:t>
            </a:r>
            <a:r>
              <a:rPr lang="ko-KR" altLang="en-US" sz="1100" dirty="0"/>
              <a:t>상황</a:t>
            </a:r>
            <a:endParaRPr lang="en-US" altLang="ko-KR" sz="1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2646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67869-5CD8-4921-B17D-9B6646392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Issue #1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38D333-1A05-4B4C-A524-9AEBA3F0E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Root</a:t>
            </a:r>
            <a:r>
              <a:rPr lang="ko-KR" altLang="en-US" dirty="0"/>
              <a:t> </a:t>
            </a:r>
            <a:r>
              <a:rPr lang="en-US" altLang="ko-KR" dirty="0"/>
              <a:t>Cause</a:t>
            </a:r>
          </a:p>
          <a:p>
            <a:pPr lvl="1"/>
            <a:r>
              <a:rPr lang="en-US" altLang="ko-KR" dirty="0"/>
              <a:t>KASI Chamber Operator</a:t>
            </a:r>
            <a:r>
              <a:rPr lang="ko-KR" altLang="en-US" dirty="0"/>
              <a:t>의 챔버 </a:t>
            </a:r>
            <a:r>
              <a:rPr lang="en-US" altLang="ko-KR" dirty="0"/>
              <a:t>Control </a:t>
            </a:r>
            <a:r>
              <a:rPr lang="ko-KR" altLang="en-US" dirty="0"/>
              <a:t>미흡</a:t>
            </a:r>
            <a:endParaRPr lang="en-US" altLang="ko-KR" dirty="0"/>
          </a:p>
          <a:p>
            <a:r>
              <a:rPr lang="ko-KR" altLang="en-US" dirty="0" err="1"/>
              <a:t>영향성</a:t>
            </a:r>
            <a:r>
              <a:rPr lang="ko-KR" altLang="en-US" dirty="0"/>
              <a:t> 분석</a:t>
            </a:r>
            <a:endParaRPr lang="en-US" altLang="ko-KR" dirty="0"/>
          </a:p>
          <a:p>
            <a:pPr lvl="1"/>
            <a:r>
              <a:rPr lang="ko-KR" altLang="en-US" dirty="0"/>
              <a:t>해당 시험은 </a:t>
            </a:r>
            <a:r>
              <a:rPr lang="en-US" altLang="ko-KR" dirty="0"/>
              <a:t>DTNPL</a:t>
            </a:r>
            <a:r>
              <a:rPr lang="ko-KR" altLang="en-US" dirty="0"/>
              <a:t>이 </a:t>
            </a:r>
            <a:r>
              <a:rPr lang="en-US" altLang="ko-KR" dirty="0"/>
              <a:t>OFF</a:t>
            </a:r>
            <a:r>
              <a:rPr lang="ko-KR" altLang="en-US" dirty="0"/>
              <a:t>된 상태에서 기준 대비 </a:t>
            </a:r>
            <a:r>
              <a:rPr lang="en-US" altLang="ko-KR" dirty="0"/>
              <a:t>4</a:t>
            </a:r>
            <a:r>
              <a:rPr lang="ko-KR" altLang="en-US" dirty="0">
                <a:latin typeface="맑은 고딕" panose="020B0503020000020004" pitchFamily="50" charset="-127"/>
              </a:rPr>
              <a:t>℃ 더 </a:t>
            </a:r>
            <a:r>
              <a:rPr lang="en-US" altLang="ko-KR" dirty="0">
                <a:latin typeface="맑은 고딕" panose="020B0503020000020004" pitchFamily="50" charset="-127"/>
              </a:rPr>
              <a:t>Cold </a:t>
            </a:r>
            <a:r>
              <a:rPr lang="ko-KR" altLang="en-US" dirty="0">
                <a:latin typeface="맑은 고딕" panose="020B0503020000020004" pitchFamily="50" charset="-127"/>
              </a:rPr>
              <a:t>충격을 주었으나 </a:t>
            </a:r>
            <a:r>
              <a:rPr lang="en-US" altLang="ko-KR" dirty="0">
                <a:latin typeface="맑은 고딕" panose="020B0503020000020004" pitchFamily="50" charset="-127"/>
              </a:rPr>
              <a:t>H/W</a:t>
            </a:r>
            <a:r>
              <a:rPr lang="ko-KR" altLang="en-US" dirty="0">
                <a:latin typeface="맑은 고딕" panose="020B0503020000020004" pitchFamily="50" charset="-127"/>
              </a:rPr>
              <a:t>에 문제가 생기지는 않았을 것으로 판단함 </a:t>
            </a:r>
            <a:endParaRPr lang="en-US" altLang="ko-KR" dirty="0">
              <a:latin typeface="맑은 고딕" panose="020B0503020000020004" pitchFamily="50" charset="-127"/>
            </a:endParaRPr>
          </a:p>
          <a:p>
            <a:pPr lvl="1"/>
            <a:r>
              <a:rPr lang="ko-KR" altLang="en-US" dirty="0">
                <a:latin typeface="맑은 고딕" panose="020B0503020000020004" pitchFamily="50" charset="-127"/>
              </a:rPr>
              <a:t>사용하는 부품의 </a:t>
            </a:r>
            <a:r>
              <a:rPr lang="en-US" altLang="ko-KR" dirty="0">
                <a:latin typeface="맑은 고딕" panose="020B0503020000020004" pitchFamily="50" charset="-127"/>
              </a:rPr>
              <a:t>Storage Temperate</a:t>
            </a:r>
            <a:r>
              <a:rPr lang="ko-KR" altLang="en-US" dirty="0">
                <a:latin typeface="맑은 고딕" panose="020B0503020000020004" pitchFamily="50" charset="-127"/>
              </a:rPr>
              <a:t>의</a:t>
            </a:r>
            <a:r>
              <a:rPr lang="en-US" altLang="ko-KR" dirty="0">
                <a:latin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</a:rPr>
              <a:t>경우 마진이 많음 </a:t>
            </a:r>
            <a:r>
              <a:rPr lang="en-US" altLang="ko-KR" dirty="0">
                <a:latin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</a:rPr>
              <a:t>별첨 참고</a:t>
            </a:r>
            <a:r>
              <a:rPr lang="en-US" altLang="ko-KR" dirty="0">
                <a:latin typeface="맑은 고딕" panose="020B0503020000020004" pitchFamily="50" charset="-127"/>
              </a:rPr>
              <a:t>)</a:t>
            </a:r>
          </a:p>
          <a:p>
            <a:r>
              <a:rPr lang="ko-KR" altLang="en-US" dirty="0">
                <a:latin typeface="맑은 고딕" panose="020B0503020000020004" pitchFamily="50" charset="-127"/>
              </a:rPr>
              <a:t>결론</a:t>
            </a:r>
            <a:endParaRPr lang="en-US" altLang="ko-KR" dirty="0">
              <a:latin typeface="맑은 고딕" panose="020B0503020000020004" pitchFamily="50" charset="-127"/>
            </a:endParaRPr>
          </a:p>
          <a:p>
            <a:pPr lvl="1"/>
            <a:r>
              <a:rPr lang="ko-KR" altLang="en-US" dirty="0" err="1">
                <a:latin typeface="맑은 고딕" panose="020B0503020000020004" pitchFamily="50" charset="-127"/>
              </a:rPr>
              <a:t>열진공시험을</a:t>
            </a:r>
            <a:r>
              <a:rPr lang="ko-KR" altLang="en-US" dirty="0">
                <a:latin typeface="맑은 고딕" panose="020B0503020000020004" pitchFamily="50" charset="-127"/>
              </a:rPr>
              <a:t> 계속 진행하는 것으로 협의함</a:t>
            </a:r>
            <a:endParaRPr lang="en-US" altLang="ko-KR" dirty="0">
              <a:latin typeface="맑은 고딕" panose="020B0503020000020004" pitchFamily="50" charset="-127"/>
            </a:endParaRPr>
          </a:p>
          <a:p>
            <a:pPr lvl="1"/>
            <a:r>
              <a:rPr lang="en-US" altLang="ko-KR" dirty="0">
                <a:latin typeface="맑은 고딕" panose="020B0503020000020004" pitchFamily="50" charset="-127"/>
              </a:rPr>
              <a:t>KASI Chamber Operator</a:t>
            </a:r>
            <a:r>
              <a:rPr lang="ko-KR" altLang="en-US" dirty="0">
                <a:latin typeface="맑은 고딕" panose="020B0503020000020004" pitchFamily="50" charset="-127"/>
              </a:rPr>
              <a:t>에게 주의를 줌</a:t>
            </a:r>
            <a:endParaRPr lang="en-US" altLang="ko-KR" dirty="0">
              <a:latin typeface="맑은 고딕" panose="020B0503020000020004" pitchFamily="50" charset="-127"/>
            </a:endParaRP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348744F-E879-488F-9FDC-1B7784073C9D}"/>
              </a:ext>
            </a:extLst>
          </p:cNvPr>
          <p:cNvGrpSpPr/>
          <p:nvPr/>
        </p:nvGrpSpPr>
        <p:grpSpPr>
          <a:xfrm>
            <a:off x="2765113" y="3776684"/>
            <a:ext cx="5966344" cy="2684854"/>
            <a:chOff x="139207" y="1459714"/>
            <a:chExt cx="8873501" cy="491251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2BE514F-495B-4257-BC5D-7DF281B7F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259" y="1459714"/>
              <a:ext cx="5337565" cy="491251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B0A7FC06-1FCC-4AB3-AD73-E8B2A30C3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6115" y="1930873"/>
              <a:ext cx="3456593" cy="149812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E7FF731-35FA-441E-B583-7B98FE73CDE2}"/>
                </a:ext>
              </a:extLst>
            </p:cNvPr>
            <p:cNvSpPr txBox="1"/>
            <p:nvPr/>
          </p:nvSpPr>
          <p:spPr>
            <a:xfrm>
              <a:off x="139207" y="2238140"/>
              <a:ext cx="808681" cy="47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rgbClr val="FF0000"/>
                  </a:solidFill>
                </a:rPr>
                <a:t>+55ºC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90929E2-2C95-4437-AC5C-1702F691BBD5}"/>
                </a:ext>
              </a:extLst>
            </p:cNvPr>
            <p:cNvSpPr txBox="1"/>
            <p:nvPr/>
          </p:nvSpPr>
          <p:spPr>
            <a:xfrm>
              <a:off x="189273" y="3532368"/>
              <a:ext cx="758615" cy="47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rgbClr val="FF0000"/>
                  </a:solidFill>
                </a:rPr>
                <a:t>-25ºC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F85D32-5B59-4C12-AA62-750B76C37A4F}"/>
                </a:ext>
              </a:extLst>
            </p:cNvPr>
            <p:cNvSpPr txBox="1"/>
            <p:nvPr/>
          </p:nvSpPr>
          <p:spPr>
            <a:xfrm>
              <a:off x="139207" y="1841083"/>
              <a:ext cx="808681" cy="47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rgbClr val="FF0000"/>
                  </a:solidFill>
                </a:rPr>
                <a:t>+70ºC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7A50F15-96B3-49B8-AD57-337690ECB6F3}"/>
                </a:ext>
              </a:extLst>
            </p:cNvPr>
            <p:cNvSpPr txBox="1"/>
            <p:nvPr/>
          </p:nvSpPr>
          <p:spPr>
            <a:xfrm>
              <a:off x="201496" y="4164653"/>
              <a:ext cx="775304" cy="47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solidFill>
                    <a:srgbClr val="FF0000"/>
                  </a:solidFill>
                </a:rPr>
                <a:t>-35ºC</a:t>
              </a:r>
              <a:endParaRPr lang="ko-KR" altLang="en-US" sz="1100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8C5394B-9627-4007-8185-E50DEDB2C613}"/>
                </a:ext>
              </a:extLst>
            </p:cNvPr>
            <p:cNvSpPr txBox="1"/>
            <p:nvPr/>
          </p:nvSpPr>
          <p:spPr>
            <a:xfrm>
              <a:off x="201496" y="3848512"/>
              <a:ext cx="758615" cy="47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rgbClr val="FF0000"/>
                  </a:solidFill>
                </a:rPr>
                <a:t>-30ºC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E93CCF3E-640D-4AF0-9791-3EDE8CC15127}"/>
                </a:ext>
              </a:extLst>
            </p:cNvPr>
            <p:cNvSpPr/>
            <p:nvPr/>
          </p:nvSpPr>
          <p:spPr bwMode="auto">
            <a:xfrm>
              <a:off x="1956391" y="4231238"/>
              <a:ext cx="455074" cy="458383"/>
            </a:xfrm>
            <a:prstGeom prst="ellips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4DB77E0-CF16-4316-921F-051F9BC1C7C5}"/>
              </a:ext>
            </a:extLst>
          </p:cNvPr>
          <p:cNvSpPr txBox="1"/>
          <p:nvPr/>
        </p:nvSpPr>
        <p:spPr>
          <a:xfrm>
            <a:off x="1305657" y="5358696"/>
            <a:ext cx="1943653" cy="43088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lt"/>
              </a:rPr>
              <a:t>-35</a:t>
            </a:r>
            <a:r>
              <a:rPr lang="ko-KR" altLang="en-US" sz="1100" dirty="0">
                <a:latin typeface="+mn-lt"/>
              </a:rPr>
              <a:t> ℃ 이어야 하나 </a:t>
            </a:r>
            <a:endParaRPr lang="en-US" altLang="ko-KR" sz="1100" dirty="0">
              <a:latin typeface="+mn-lt"/>
            </a:endParaRPr>
          </a:p>
          <a:p>
            <a:r>
              <a:rPr lang="en-US" altLang="ko-KR" sz="1100" dirty="0">
                <a:latin typeface="+mn-lt"/>
              </a:rPr>
              <a:t>-39.89</a:t>
            </a:r>
            <a:r>
              <a:rPr lang="ko-KR" altLang="en-US" sz="1100" dirty="0">
                <a:latin typeface="+mn-lt"/>
              </a:rPr>
              <a:t>℃ 로 </a:t>
            </a:r>
            <a:r>
              <a:rPr lang="en-US" altLang="ko-KR" sz="1100" dirty="0">
                <a:latin typeface="+mn-lt"/>
              </a:rPr>
              <a:t>Cold Soak</a:t>
            </a:r>
          </a:p>
        </p:txBody>
      </p:sp>
    </p:spTree>
    <p:extLst>
      <p:ext uri="{BB962C8B-B14F-4D97-AF65-F5344CB8AC3E}">
        <p14:creationId xmlns:p14="http://schemas.microsoft.com/office/powerpoint/2010/main" val="2883917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531E1F-7F95-47AC-9389-D6764436D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1763"/>
            <a:ext cx="8666162" cy="706437"/>
          </a:xfrm>
        </p:spPr>
        <p:txBody>
          <a:bodyPr/>
          <a:lstStyle/>
          <a:p>
            <a:pPr algn="ctr"/>
            <a:r>
              <a:rPr lang="en-US" altLang="ko-KR" dirty="0"/>
              <a:t>(</a:t>
            </a:r>
            <a:r>
              <a:rPr lang="ko-KR" altLang="en-US" dirty="0"/>
              <a:t>별첨</a:t>
            </a:r>
            <a:r>
              <a:rPr lang="en-US" altLang="ko-KR" dirty="0"/>
              <a:t>) DTNPL FM</a:t>
            </a:r>
            <a:r>
              <a:rPr lang="ko-KR" altLang="en-US" dirty="0"/>
              <a:t> 부품의 </a:t>
            </a:r>
            <a:r>
              <a:rPr lang="en-US" altLang="ko-KR" dirty="0"/>
              <a:t>Storage Temperature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8AC7A8-CE32-419D-9763-2323FEB18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480685"/>
          </a:xfrm>
        </p:spPr>
        <p:txBody>
          <a:bodyPr/>
          <a:lstStyle/>
          <a:p>
            <a:r>
              <a:rPr lang="ko-KR" altLang="en-US" dirty="0"/>
              <a:t>사용하는 부품 </a:t>
            </a:r>
            <a:r>
              <a:rPr lang="en-US" altLang="ko-KR" dirty="0"/>
              <a:t>15</a:t>
            </a:r>
            <a:r>
              <a:rPr lang="ko-KR" altLang="en-US" dirty="0"/>
              <a:t>종 모두 </a:t>
            </a:r>
            <a:r>
              <a:rPr lang="en-US" altLang="ko-KR" dirty="0"/>
              <a:t>Storage Temperature</a:t>
            </a:r>
            <a:r>
              <a:rPr lang="ko-KR" altLang="en-US" dirty="0"/>
              <a:t>가 </a:t>
            </a:r>
            <a:r>
              <a:rPr lang="en-US" altLang="ko-KR" dirty="0"/>
              <a:t>-55</a:t>
            </a:r>
            <a:r>
              <a:rPr lang="ko-KR" altLang="en-US" dirty="0"/>
              <a:t> ℃까지는 가능함</a:t>
            </a:r>
            <a:endParaRPr lang="en-US" altLang="ko-KR" dirty="0"/>
          </a:p>
          <a:p>
            <a:pPr lvl="1"/>
            <a:r>
              <a:rPr lang="ko-KR" altLang="en-US" dirty="0"/>
              <a:t>수행되었던 </a:t>
            </a:r>
            <a:r>
              <a:rPr lang="en-US" altLang="ko-KR" dirty="0"/>
              <a:t>1</a:t>
            </a:r>
            <a:r>
              <a:rPr lang="en-US" altLang="ko-KR" baseline="30000" dirty="0"/>
              <a:t>st</a:t>
            </a:r>
            <a:r>
              <a:rPr lang="en-US" altLang="ko-KR" dirty="0"/>
              <a:t> Cold Soak </a:t>
            </a:r>
            <a:r>
              <a:rPr lang="ko-KR" altLang="en-US" dirty="0"/>
              <a:t>온도인 </a:t>
            </a:r>
            <a:r>
              <a:rPr lang="en-US" altLang="ko-KR" dirty="0"/>
              <a:t>-39</a:t>
            </a:r>
            <a:r>
              <a:rPr lang="ko-KR" altLang="en-US" dirty="0"/>
              <a:t>℃에서 부품의 </a:t>
            </a:r>
            <a:r>
              <a:rPr lang="en-US" altLang="ko-KR" dirty="0"/>
              <a:t>Damage </a:t>
            </a:r>
            <a:r>
              <a:rPr lang="ko-KR" altLang="en-US" dirty="0"/>
              <a:t>없음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4009FC1-305F-4220-9C29-1D36C800B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338368"/>
              </p:ext>
            </p:extLst>
          </p:nvPr>
        </p:nvGraphicFramePr>
        <p:xfrm>
          <a:off x="367218" y="1872225"/>
          <a:ext cx="8409563" cy="43936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3433">
                  <a:extLst>
                    <a:ext uri="{9D8B030D-6E8A-4147-A177-3AD203B41FA5}">
                      <a16:colId xmlns:a16="http://schemas.microsoft.com/office/drawing/2014/main" val="980959579"/>
                    </a:ext>
                  </a:extLst>
                </a:gridCol>
                <a:gridCol w="976369">
                  <a:extLst>
                    <a:ext uri="{9D8B030D-6E8A-4147-A177-3AD203B41FA5}">
                      <a16:colId xmlns:a16="http://schemas.microsoft.com/office/drawing/2014/main" val="1349306153"/>
                    </a:ext>
                  </a:extLst>
                </a:gridCol>
                <a:gridCol w="2864195">
                  <a:extLst>
                    <a:ext uri="{9D8B030D-6E8A-4147-A177-3AD203B41FA5}">
                      <a16:colId xmlns:a16="http://schemas.microsoft.com/office/drawing/2014/main" val="1557058143"/>
                    </a:ext>
                  </a:extLst>
                </a:gridCol>
                <a:gridCol w="908993">
                  <a:extLst>
                    <a:ext uri="{9D8B030D-6E8A-4147-A177-3AD203B41FA5}">
                      <a16:colId xmlns:a16="http://schemas.microsoft.com/office/drawing/2014/main" val="1555505842"/>
                    </a:ext>
                  </a:extLst>
                </a:gridCol>
                <a:gridCol w="925842">
                  <a:extLst>
                    <a:ext uri="{9D8B030D-6E8A-4147-A177-3AD203B41FA5}">
                      <a16:colId xmlns:a16="http://schemas.microsoft.com/office/drawing/2014/main" val="2694986725"/>
                    </a:ext>
                  </a:extLst>
                </a:gridCol>
                <a:gridCol w="923996">
                  <a:extLst>
                    <a:ext uri="{9D8B030D-6E8A-4147-A177-3AD203B41FA5}">
                      <a16:colId xmlns:a16="http://schemas.microsoft.com/office/drawing/2014/main" val="316240414"/>
                    </a:ext>
                  </a:extLst>
                </a:gridCol>
                <a:gridCol w="676072">
                  <a:extLst>
                    <a:ext uri="{9D8B030D-6E8A-4147-A177-3AD203B41FA5}">
                      <a16:colId xmlns:a16="http://schemas.microsoft.com/office/drawing/2014/main" val="2108002465"/>
                    </a:ext>
                  </a:extLst>
                </a:gridCol>
                <a:gridCol w="690663">
                  <a:extLst>
                    <a:ext uri="{9D8B030D-6E8A-4147-A177-3AD203B41FA5}">
                      <a16:colId xmlns:a16="http://schemas.microsoft.com/office/drawing/2014/main" val="2814733001"/>
                    </a:ext>
                  </a:extLst>
                </a:gridCol>
              </a:tblGrid>
              <a:tr h="558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Item No.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Part Number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>
                          <a:effectLst/>
                        </a:rPr>
                        <a:t>(FM)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Function Characteristics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Generic Procurement Specification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Detail Procurement Specification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Manufacturer/ </a:t>
                      </a:r>
                    </a:p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Country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Quality Level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>
                          <a:effectLst/>
                        </a:rPr>
                        <a:t>(FM)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Storage </a:t>
                      </a:r>
                    </a:p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Temperature</a:t>
                      </a:r>
                    </a:p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Range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045104"/>
                  </a:ext>
                </a:extLst>
              </a:tr>
              <a:tr h="2542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3DFN32G08VS4704 MS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 dirty="0">
                          <a:effectLst/>
                        </a:rPr>
                        <a:t>IC, Module, NAND Flash, 32Gbit (4G x 16), 3.3V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MIL-PRF-38535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3DPA-6800-1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3D PLUS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Class V.eq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-65~150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758197"/>
                  </a:ext>
                </a:extLst>
              </a:tr>
              <a:tr h="2469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2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3DSD2G40VS5493 SS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IC, Module, Memory, SDRAM, 2Gbit, 3.3V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MIL-PRF-38535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3DPA-4760-3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3D PLUS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Class V.eq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-55~150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242641"/>
                  </a:ext>
                </a:extLst>
              </a:tr>
              <a:tr h="2469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3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3DMR64M08VS4476 SS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IC, Module, Memory, MRAM, 3.3V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MIL-PRF-38535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 dirty="0">
                          <a:effectLst/>
                        </a:rPr>
                        <a:t>3DPA-4620-03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3D PLUS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Class V.eq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>
                          <a:effectLst/>
                        </a:rPr>
                        <a:t>-55~125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343263"/>
                  </a:ext>
                </a:extLst>
              </a:tr>
              <a:tr h="2469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4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 dirty="0">
                          <a:effectLst/>
                        </a:rPr>
                        <a:t>5962R0722701VFA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IC, Linear, 12-Bit A/D Converter, 8-Channel, 50kSPS to 1MSPS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MIL-PRF-38535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 dirty="0">
                          <a:effectLst/>
                        </a:rPr>
                        <a:t>MIL-PRF-38535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Texas Instrument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QML V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>
                          <a:effectLst/>
                        </a:rPr>
                        <a:t>-65~150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831354"/>
                  </a:ext>
                </a:extLst>
              </a:tr>
              <a:tr h="2469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5962F07A0501VXC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IC, Linear, QUAD HIGH SPEED DIFFERENTIAL RS422 LINE DRIVER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MIL-PRF-38535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MIL-PRF-38535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 dirty="0">
                          <a:effectLst/>
                        </a:rPr>
                        <a:t>Honeywell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QML V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-65~150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045228"/>
                  </a:ext>
                </a:extLst>
              </a:tr>
              <a:tr h="2469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6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5962F07A0401VXC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IC, Linear, QUAD HIGH SPEED DIFFERENTIAL RS422 LINE RECEIVER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MIL-PRF-38535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MIL-PRF-38535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 dirty="0">
                          <a:effectLst/>
                        </a:rPr>
                        <a:t>Honeywell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QML V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-65~150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632243"/>
                  </a:ext>
                </a:extLst>
              </a:tr>
              <a:tr h="2469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7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3DLV3302VS1619 MS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IC, Linear, Dual LVDS Driver and Receiver, 3.3V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MIL-PRF-38535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MIL-PRF-38535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3D PLUS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QML V.eq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-65~150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522058"/>
                  </a:ext>
                </a:extLst>
              </a:tr>
              <a:tr h="2469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8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5962R8551401VPA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IC, Linear, Precision voltage refence, 5V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MIL-PRF-38535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MIL-PRF-38535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 dirty="0">
                          <a:effectLst/>
                        </a:rPr>
                        <a:t>Analog Devices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QML V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>
                          <a:effectLst/>
                        </a:rPr>
                        <a:t>-65~150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466013"/>
                  </a:ext>
                </a:extLst>
              </a:tr>
              <a:tr h="2469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9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5962R9950402VDA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IC, Linear, Quad Operational amplifier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MIL-PRF-38535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MIL-PRF-38535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Texas Instrument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QML V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>
                          <a:effectLst/>
                        </a:rPr>
                        <a:t>-65~150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537977"/>
                  </a:ext>
                </a:extLst>
              </a:tr>
              <a:tr h="2469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10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MSK5063HRH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Hybrid, Linear, RAD HARD, Positive Voltage Regulator, ADJ, 10A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MIL-PRF-38535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8218.1 Rev.B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MSK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Class H.eq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-65~150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7241"/>
                  </a:ext>
                </a:extLst>
              </a:tr>
              <a:tr h="2469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11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5962R1320202VXC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Hybrid, Linear, RAD HARD, Positive Voltage Regulator, ADJ, 3A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MIL-PRF-38535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MIL-PRF-38535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Texas Instrument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Class K.eq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-55~150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156375"/>
                  </a:ext>
                </a:extLst>
              </a:tr>
              <a:tr h="2469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12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3DPM0168-2-SS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Latch-Up Current Limiter, 2A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MIL-STD-883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MIL-STD-883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3D PLUS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Class K.eq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-55~150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091197"/>
                  </a:ext>
                </a:extLst>
              </a:tr>
              <a:tr h="2469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13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5962-1620801QXF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IC, Digital, FPGA, RT4G, Radiation Tolerant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MIL-STD-883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WP0194, MIL-STD-883/VQC-12-024083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MICROSEMI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MIL-STD-883B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-55~125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015123"/>
                  </a:ext>
                </a:extLst>
              </a:tr>
              <a:tr h="37045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14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XE64S-L43-40.000MHz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Hybrid, Crystal Oscillator, Class-2, 40MHz, 3.3V, HC/ACMOS Sq Wave Output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MIL-PRF-55310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OS-68338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XSIS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 dirty="0">
                          <a:effectLst/>
                        </a:rPr>
                        <a:t>Class </a:t>
                      </a:r>
                      <a:r>
                        <a:rPr lang="en-US" sz="600" u="none" strike="noStrike" dirty="0" err="1">
                          <a:effectLst/>
                        </a:rPr>
                        <a:t>S.eq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-55~125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604444"/>
                  </a:ext>
                </a:extLst>
              </a:tr>
              <a:tr h="2469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u="none" strike="noStrike">
                          <a:effectLst/>
                        </a:rPr>
                        <a:t>15</a:t>
                      </a:r>
                      <a:endParaRPr lang="en-US" altLang="ko-KR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JANS2N2222AUB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 dirty="0">
                          <a:effectLst/>
                        </a:rPr>
                        <a:t>NPN Silicon Switching Transistor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MIL-PRF-19500/255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MIL-PRF-19500/255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>
                          <a:effectLst/>
                        </a:rPr>
                        <a:t>Microsemi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u="none" strike="noStrike" dirty="0">
                          <a:effectLst/>
                        </a:rPr>
                        <a:t>JANS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</a:rPr>
                        <a:t>-65~200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394" marR="7394" marT="73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561393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6D117547-D757-49C0-AA20-2634E539D85F}"/>
              </a:ext>
            </a:extLst>
          </p:cNvPr>
          <p:cNvSpPr/>
          <p:nvPr/>
        </p:nvSpPr>
        <p:spPr bwMode="auto">
          <a:xfrm>
            <a:off x="8073995" y="1872226"/>
            <a:ext cx="702786" cy="439364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2497808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46217</TotalTime>
  <Words>672</Words>
  <Application>Microsoft Office PowerPoint</Application>
  <PresentationFormat>화면 슬라이드 쇼(4:3)</PresentationFormat>
  <Paragraphs>199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굴림</vt:lpstr>
      <vt:lpstr>맑은 고딕</vt:lpstr>
      <vt:lpstr>Arial</vt:lpstr>
      <vt:lpstr>Arial Narrow</vt:lpstr>
      <vt:lpstr>Cambria Math</vt:lpstr>
      <vt:lpstr>Times New Roman</vt:lpstr>
      <vt:lpstr>Wingdings</vt:lpstr>
      <vt:lpstr>기본 디자인</vt:lpstr>
      <vt:lpstr>DTNPL FM Thermal Vacuum Test   Material Review Board(MRB)</vt:lpstr>
      <vt:lpstr>Description</vt:lpstr>
      <vt:lpstr>Description</vt:lpstr>
      <vt:lpstr>Description</vt:lpstr>
      <vt:lpstr>Description</vt:lpstr>
      <vt:lpstr>DTNE-NCR-014</vt:lpstr>
      <vt:lpstr>Issue #1</vt:lpstr>
      <vt:lpstr>(별첨) DTNPL FM 부품의 Storage Temperature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오 대수</cp:lastModifiedBy>
  <cp:revision>1896</cp:revision>
  <cp:lastPrinted>2018-02-26T11:54:17Z</cp:lastPrinted>
  <dcterms:created xsi:type="dcterms:W3CDTF">1601-01-01T00:00:00Z</dcterms:created>
  <dcterms:modified xsi:type="dcterms:W3CDTF">2020-08-05T04:34:22Z</dcterms:modified>
</cp:coreProperties>
</file>