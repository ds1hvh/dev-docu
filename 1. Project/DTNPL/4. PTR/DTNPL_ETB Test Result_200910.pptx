
<file path=[Content_Types].xml><?xml version="1.0" encoding="utf-8"?>
<Types xmlns="http://schemas.openxmlformats.org/package/2006/content-types"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423" r:id="rId2"/>
    <p:sldId id="770" r:id="rId3"/>
    <p:sldId id="772" r:id="rId4"/>
    <p:sldId id="774" r:id="rId5"/>
    <p:sldId id="439" r:id="rId6"/>
    <p:sldId id="686" r:id="rId7"/>
    <p:sldId id="757" r:id="rId8"/>
  </p:sldIdLst>
  <p:sldSz cx="9144000" cy="6858000" type="screen4x3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47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F2F2F2"/>
    <a:srgbClr val="FFCCCC"/>
    <a:srgbClr val="FFCCFF"/>
    <a:srgbClr val="6AA8C1"/>
    <a:srgbClr val="00CC66"/>
    <a:srgbClr val="EFFFB3"/>
    <a:srgbClr val="F7FEB4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29" autoAdjust="0"/>
    <p:restoredTop sz="94333" autoAdjust="0"/>
  </p:normalViewPr>
  <p:slideViewPr>
    <p:cSldViewPr snapToGrid="0">
      <p:cViewPr varScale="1">
        <p:scale>
          <a:sx n="115" d="100"/>
          <a:sy n="115" d="100"/>
        </p:scale>
        <p:origin x="1104" y="108"/>
      </p:cViewPr>
      <p:guideLst>
        <p:guide orient="horz" pos="2183"/>
        <p:guide pos="476"/>
      </p:guideLst>
    </p:cSldViewPr>
  </p:slideViewPr>
  <p:outlineViewPr>
    <p:cViewPr>
      <p:scale>
        <a:sx n="33" d="100"/>
        <a:sy n="33" d="100"/>
      </p:scale>
      <p:origin x="0" y="-1386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4014" y="8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5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6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7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0D0299D-B60A-4896-8397-6469664CBFF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85985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4538"/>
            <a:ext cx="4960937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4876"/>
            <a:ext cx="4984750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9CEF302-C0C4-41F5-9E57-DF55FCB3FB8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87763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CEF302-C0C4-41F5-9E57-DF55FCB3FB84}" type="slidenum">
              <a:rPr lang="ko-KR" altLang="en-US" smtClean="0"/>
              <a:pPr>
                <a:defRPr/>
              </a:pPr>
              <a:t>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75593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736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7369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6041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3792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2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" name="Line 2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398" name="Rectangle 38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lIns="91440" tIns="45720" rIns="91440" bIns="45720"/>
          <a:lstStyle>
            <a:lvl1pPr>
              <a:defRPr sz="3000"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altLang="ko-KR" noProof="0" dirty="0"/>
              <a:t>Arial Black 30 font &amp; Bold</a:t>
            </a:r>
          </a:p>
        </p:txBody>
      </p:sp>
      <p:sp>
        <p:nvSpPr>
          <p:cNvPr id="15399" name="Rectangle 3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lIns="91440" tIns="45720" rIns="91440" bIns="45720"/>
          <a:lstStyle>
            <a:lvl1pPr marL="0" indent="0" algn="ctr">
              <a:buFontTx/>
              <a:buNone/>
              <a:defRPr sz="2400"/>
            </a:lvl1pPr>
          </a:lstStyle>
          <a:p>
            <a:pPr lvl="0"/>
            <a:r>
              <a:rPr lang="en-US" altLang="ko-KR" noProof="0" dirty="0"/>
              <a:t>Arial 24 font &amp; Bold</a:t>
            </a:r>
          </a:p>
        </p:txBody>
      </p:sp>
      <p:graphicFrame>
        <p:nvGraphicFramePr>
          <p:cNvPr id="13" name="Group 4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10214106"/>
              </p:ext>
            </p:extLst>
          </p:nvPr>
        </p:nvGraphicFramePr>
        <p:xfrm>
          <a:off x="106128" y="354284"/>
          <a:ext cx="8926360" cy="937827"/>
        </p:xfrm>
        <a:graphic>
          <a:graphicData uri="http://schemas.openxmlformats.org/drawingml/2006/table">
            <a:tbl>
              <a:tblPr/>
              <a:tblGrid>
                <a:gridCol w="981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8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6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782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Rectangle 46"/>
          <p:cNvSpPr>
            <a:spLocks noChangeArrowheads="1"/>
          </p:cNvSpPr>
          <p:nvPr userDrawn="1"/>
        </p:nvSpPr>
        <p:spPr bwMode="auto">
          <a:xfrm>
            <a:off x="84343" y="87726"/>
            <a:ext cx="8948145" cy="27482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extLst/>
        </p:spPr>
        <p:txBody>
          <a:bodyPr lIns="108032" tIns="54016" rIns="108032" bIns="54016" anchor="ctr"/>
          <a:lstStyle>
            <a:lvl1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1pPr>
            <a:lvl2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2pPr>
            <a:lvl3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3pPr>
            <a:lvl4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4pPr>
            <a:lvl5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9pPr>
          </a:lstStyle>
          <a:p>
            <a:pPr algn="l" eaLnBrk="1" latinLnBrk="1" hangingPunct="1">
              <a:defRPr/>
            </a:pPr>
            <a:r>
              <a:rPr lang="en-US" altLang="ko-KR" sz="16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Korea </a:t>
            </a:r>
            <a:r>
              <a:rPr lang="en-US" altLang="ko-KR" sz="1600" b="0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Lunar Exploration Program - KPLO</a:t>
            </a:r>
            <a:endParaRPr lang="en-US" altLang="ko-KR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15" name="텍스트 개체 틀 22"/>
          <p:cNvSpPr>
            <a:spLocks noGrp="1"/>
          </p:cNvSpPr>
          <p:nvPr>
            <p:ph type="body" sz="quarter" idx="11" hasCustomPrompt="1"/>
          </p:nvPr>
        </p:nvSpPr>
        <p:spPr>
          <a:xfrm>
            <a:off x="1081968" y="443989"/>
            <a:ext cx="6397102" cy="707344"/>
          </a:xfrm>
        </p:spPr>
        <p:txBody>
          <a:bodyPr anchor="ctr">
            <a:noAutofit/>
          </a:bodyPr>
          <a:lstStyle>
            <a:lvl1pPr marL="190500" marR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 lang="ko-KR" altLang="en-US" sz="4000" b="1" kern="1200" dirty="0">
                <a:solidFill>
                  <a:srgbClr val="C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190500" marR="0" lvl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3300" dirty="0">
                <a:solidFill>
                  <a:schemeClr val="tx1"/>
                </a:solidFill>
              </a:rPr>
              <a:t>KPLO DTN</a:t>
            </a:r>
            <a:endParaRPr lang="ko-KR" altLang="en-US" sz="3300" dirty="0">
              <a:solidFill>
                <a:schemeClr val="tx1"/>
              </a:solidFill>
            </a:endParaRPr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9181" y="396346"/>
            <a:ext cx="862787" cy="864024"/>
          </a:xfrm>
          <a:prstGeom prst="rect">
            <a:avLst/>
          </a:prstGeom>
        </p:spPr>
      </p:pic>
      <p:pic>
        <p:nvPicPr>
          <p:cNvPr id="17" name="Picture 2" descr="F:\업무\ETRI활동\행정문서\CIS\새CI\signature_4.w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2701" y="556035"/>
            <a:ext cx="1262699" cy="45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510338"/>
            <a:ext cx="947582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1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1600"/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503634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B5C1B240-8930-4347-9EDB-DB33EF9CA41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54712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33363" y="981075"/>
            <a:ext cx="4256087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1850" y="981075"/>
            <a:ext cx="4257675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58955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054CD70C-7F67-4367-9FDF-206008AB283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9" name="날짜 개체 틀 8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2343138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DCE243E3-F0B5-437D-ADC4-C0F1BFD6693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3918881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1E4831DA-CFB9-4C15-9A7C-5CCA7DDD4A0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1529777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48721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EF079343-1D4C-4350-8921-D61C8EBC773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342660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705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34175" y="131763"/>
            <a:ext cx="2165350" cy="60975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33363" y="131763"/>
            <a:ext cx="6348412" cy="60975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FE64E568-A02E-4C51-8193-5D7193BC921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날짜 개체 틀 5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3193557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8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7" name="Line 8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9" name="Line 89"/>
          <p:cNvSpPr>
            <a:spLocks noChangeShapeType="1"/>
          </p:cNvSpPr>
          <p:nvPr userDrawn="1"/>
        </p:nvSpPr>
        <p:spPr bwMode="auto">
          <a:xfrm flipV="1">
            <a:off x="228600" y="876300"/>
            <a:ext cx="8686800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32" name="Rectangle 93"/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131763"/>
            <a:ext cx="6705600" cy="70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24 font &amp; bold</a:t>
            </a:r>
          </a:p>
        </p:txBody>
      </p:sp>
      <p:sp>
        <p:nvSpPr>
          <p:cNvPr id="1033" name="Rectangle 9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3363" y="981075"/>
            <a:ext cx="8666162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18 font &amp; bold</a:t>
            </a:r>
          </a:p>
          <a:p>
            <a:pPr lvl="1"/>
            <a:r>
              <a:rPr lang="en-US" altLang="ko-KR" dirty="0"/>
              <a:t>Arial 16 font &amp; bold</a:t>
            </a:r>
            <a:endParaRPr lang="ko-KR" altLang="en-US"/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5" name="Text Box 86"/>
          <p:cNvSpPr txBox="1">
            <a:spLocks noChangeArrowheads="1"/>
          </p:cNvSpPr>
          <p:nvPr userDrawn="1"/>
        </p:nvSpPr>
        <p:spPr bwMode="auto">
          <a:xfrm>
            <a:off x="7524750" y="6510338"/>
            <a:ext cx="14859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accent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en-US" altLang="ko-KR" sz="1200" b="0" dirty="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rPr>
              <a:t>01 - </a:t>
            </a:r>
            <a:fld id="{BD253322-42C0-4748-AAA5-F0068379097A}" type="slidenum">
              <a:rPr lang="en-US" altLang="ko-KR" sz="1200" b="0" smtClean="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rPr>
              <a:pPr algn="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ko-KR" sz="1200" b="0" dirty="0">
              <a:solidFill>
                <a:schemeClr val="tx1"/>
              </a:solidFill>
              <a:latin typeface="Arial" panose="020B0604020202020204" pitchFamily="34" charset="0"/>
              <a:ea typeface="바탕체" panose="02030609000101010101" pitchFamily="17" charset="-127"/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2239622" y="6514041"/>
            <a:ext cx="465364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  <a:latin typeface="+mn-lt"/>
              </a:rPr>
              <a:t>Confidential,</a:t>
            </a:r>
            <a:r>
              <a:rPr lang="en-US" altLang="ko-KR" sz="1200" b="0" baseline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+mn-lt"/>
              </a:rPr>
              <a:t>Distribution Limited</a:t>
            </a:r>
            <a:endParaRPr lang="ko-KR" altLang="en-US" sz="1200" b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94487" y="-23213"/>
            <a:ext cx="862787" cy="864024"/>
          </a:xfrm>
          <a:prstGeom prst="rect">
            <a:avLst/>
          </a:prstGeom>
        </p:spPr>
      </p:pic>
      <p:pic>
        <p:nvPicPr>
          <p:cNvPr id="13" name="Picture 2" descr="F:\업무\ETRI활동\행정문서\CIS\새CI\signature_4.wmf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1945" y="244061"/>
            <a:ext cx="1262699" cy="45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510338"/>
            <a:ext cx="947582" cy="2762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5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2400" b="1" kern="1200" baseline="0">
          <a:solidFill>
            <a:schemeClr val="tx2"/>
          </a:solidFill>
          <a:latin typeface="Arial" panose="020B0604020202020204" pitchFamily="34" charset="0"/>
          <a:ea typeface="맑은 고딕" panose="020B0503020000020004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9pPr>
    </p:titleStyle>
    <p:bodyStyle>
      <a:lvl1pPr marL="190500" indent="-190500" algn="l" rtl="0" eaLnBrk="0" fontAlgn="base" latinLnBrk="1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b="1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1pPr>
      <a:lvl2pPr marL="538163" indent="-1905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2pPr>
      <a:lvl3pPr marL="896938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3pPr>
      <a:lvl4pPr marL="125571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4pPr>
      <a:lvl5pPr marL="1614488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416175"/>
            <a:ext cx="7772400" cy="1470025"/>
          </a:xfrm>
        </p:spPr>
        <p:txBody>
          <a:bodyPr/>
          <a:lstStyle/>
          <a:p>
            <a:r>
              <a:rPr lang="en-US" altLang="ko-KR" sz="3600" dirty="0"/>
              <a:t>DTNPL </a:t>
            </a:r>
            <a:br>
              <a:rPr lang="en-US" altLang="ko-KR" sz="3600" dirty="0"/>
            </a:br>
            <a:r>
              <a:rPr lang="en-US" altLang="ko-KR" sz="3600" dirty="0" smtClean="0"/>
              <a:t>ETB</a:t>
            </a:r>
            <a:endParaRPr lang="ko-KR" altLang="en-US" sz="3600" dirty="0"/>
          </a:p>
        </p:txBody>
      </p:sp>
      <p:sp>
        <p:nvSpPr>
          <p:cNvPr id="4" name="텍스트 개체 틀 22"/>
          <p:cNvSpPr>
            <a:spLocks noGrp="1"/>
          </p:cNvSpPr>
          <p:nvPr>
            <p:ph type="body" sz="quarter" idx="11" hasCustomPrompt="1"/>
          </p:nvPr>
        </p:nvSpPr>
        <p:spPr>
          <a:xfrm>
            <a:off x="1081968" y="443989"/>
            <a:ext cx="6397102" cy="707344"/>
          </a:xfrm>
        </p:spPr>
        <p:txBody>
          <a:bodyPr anchor="ctr">
            <a:noAutofit/>
          </a:bodyPr>
          <a:lstStyle>
            <a:lvl1pPr marL="190500" marR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 lang="ko-KR" altLang="en-US" sz="4000" b="1" kern="1200" dirty="0">
                <a:solidFill>
                  <a:srgbClr val="C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190500" marR="0" lvl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3300" dirty="0">
                <a:solidFill>
                  <a:schemeClr val="tx1"/>
                </a:solidFill>
              </a:rPr>
              <a:t>KPLO DTNPL</a:t>
            </a:r>
            <a:endParaRPr lang="ko-KR" altLang="en-US" sz="3300" dirty="0">
              <a:solidFill>
                <a:schemeClr val="tx1"/>
              </a:solidFill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EB5FB45F-0F85-41ED-99E6-6CC765103E0C}"/>
              </a:ext>
            </a:extLst>
          </p:cNvPr>
          <p:cNvSpPr txBox="1">
            <a:spLocks/>
          </p:cNvSpPr>
          <p:nvPr/>
        </p:nvSpPr>
        <p:spPr bwMode="auto">
          <a:xfrm>
            <a:off x="685800" y="4463415"/>
            <a:ext cx="7772400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000" b="1" kern="1200" baseline="0">
                <a:solidFill>
                  <a:schemeClr val="tx2"/>
                </a:solidFill>
                <a:latin typeface="Arial Black" panose="020B0A04020102020204" pitchFamily="34" charset="0"/>
                <a:ea typeface="맑은 고딕" panose="020B0503020000020004" pitchFamily="50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2800" dirty="0" smtClean="0"/>
              <a:t>20.09.10 ~ 11 </a:t>
            </a:r>
            <a:endParaRPr lang="en-US" altLang="ko-KR" sz="2800" dirty="0"/>
          </a:p>
          <a:p>
            <a:r>
              <a:rPr lang="en-US" altLang="ko-KR" sz="2800" dirty="0" err="1"/>
              <a:t>Lumir</a:t>
            </a:r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1873070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DTNPL-ETB </a:t>
            </a:r>
            <a:r>
              <a:rPr lang="en-US" altLang="ko-KR" dirty="0" smtClean="0"/>
              <a:t>(‘20.09.10 ~ 11)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46232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idx="1"/>
          </p:nvPr>
        </p:nvSpPr>
        <p:spPr>
          <a:xfrm>
            <a:off x="252413" y="2857500"/>
            <a:ext cx="8615362" cy="1114425"/>
          </a:xfrm>
          <a:solidFill>
            <a:schemeClr val="accent6">
              <a:lumMod val="20000"/>
              <a:lumOff val="80000"/>
              <a:alpha val="31764"/>
            </a:schemeClr>
          </a:solidFill>
        </p:spPr>
        <p:txBody>
          <a:bodyPr anchor="ctr" anchorCtr="1"/>
          <a:lstStyle/>
          <a:p>
            <a:pPr>
              <a:buFontTx/>
              <a:buNone/>
            </a:pPr>
            <a:r>
              <a:rPr lang="en-US" altLang="ko-KR" sz="2400" dirty="0" smtClean="0"/>
              <a:t>DTNPL- ETB (‘20.09.10 ~ 11)</a:t>
            </a:r>
            <a:endParaRPr lang="en-US" altLang="ko-KR" sz="2400" dirty="0"/>
          </a:p>
        </p:txBody>
      </p:sp>
      <p:sp>
        <p:nvSpPr>
          <p:cNvPr id="24579" name="Line 3"/>
          <p:cNvSpPr>
            <a:spLocks noChangeShapeType="1"/>
          </p:cNvSpPr>
          <p:nvPr/>
        </p:nvSpPr>
        <p:spPr bwMode="auto">
          <a:xfrm>
            <a:off x="247650" y="2855913"/>
            <a:ext cx="8636000" cy="0"/>
          </a:xfrm>
          <a:prstGeom prst="line">
            <a:avLst/>
          </a:prstGeom>
          <a:noFill/>
          <a:ln w="28575">
            <a:solidFill>
              <a:schemeClr val="accent6">
                <a:lumMod val="60000"/>
                <a:lumOff val="40000"/>
              </a:scheme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4580" name="Line 4"/>
          <p:cNvSpPr>
            <a:spLocks noChangeShapeType="1"/>
          </p:cNvSpPr>
          <p:nvPr/>
        </p:nvSpPr>
        <p:spPr bwMode="auto">
          <a:xfrm>
            <a:off x="247650" y="3959225"/>
            <a:ext cx="8636000" cy="0"/>
          </a:xfrm>
          <a:prstGeom prst="line">
            <a:avLst/>
          </a:prstGeom>
          <a:noFill/>
          <a:ln w="28575">
            <a:solidFill>
              <a:schemeClr val="accent6">
                <a:lumMod val="60000"/>
                <a:lumOff val="40000"/>
              </a:scheme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7431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Test Item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5102" y="981075"/>
            <a:ext cx="4602684" cy="524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131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Test Overview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시험목적</a:t>
            </a:r>
            <a:endParaRPr lang="en-US" altLang="ko-KR" dirty="0"/>
          </a:p>
          <a:p>
            <a:pPr lvl="1"/>
            <a:r>
              <a:rPr lang="en-US" altLang="ko-KR" dirty="0" smtClean="0"/>
              <a:t>ETB </a:t>
            </a:r>
            <a:r>
              <a:rPr lang="ko-KR" altLang="en-US" dirty="0" smtClean="0"/>
              <a:t>진행</a:t>
            </a:r>
            <a:r>
              <a:rPr lang="en-US" altLang="ko-KR" dirty="0" smtClean="0"/>
              <a:t> </a:t>
            </a:r>
            <a:endParaRPr lang="en-US" altLang="ko-KR" dirty="0"/>
          </a:p>
          <a:p>
            <a:r>
              <a:rPr lang="ko-KR" altLang="en-US" dirty="0"/>
              <a:t>시험항목</a:t>
            </a:r>
            <a:endParaRPr lang="en-US" altLang="ko-KR" dirty="0"/>
          </a:p>
          <a:p>
            <a:pPr lvl="1"/>
            <a:r>
              <a:rPr lang="en-US" altLang="ko-KR" dirty="0" smtClean="0"/>
              <a:t>DTN010 ~ DTN</a:t>
            </a:r>
            <a:r>
              <a:rPr lang="ko-KR" altLang="en-US" dirty="0" smtClean="0"/>
              <a:t> </a:t>
            </a:r>
            <a:r>
              <a:rPr lang="en-US" altLang="ko-KR" dirty="0" smtClean="0"/>
              <a:t>090 </a:t>
            </a:r>
            <a:r>
              <a:rPr lang="ko-KR" altLang="en-US" dirty="0" smtClean="0"/>
              <a:t>항목의 시험 진행</a:t>
            </a:r>
            <a:endParaRPr lang="en-US" altLang="ko-KR" dirty="0"/>
          </a:p>
          <a:p>
            <a:r>
              <a:rPr lang="ko-KR" altLang="en-US" dirty="0" err="1" smtClean="0"/>
              <a:t>시험절차</a:t>
            </a:r>
            <a:endParaRPr lang="en-US" altLang="ko-KR" dirty="0"/>
          </a:p>
          <a:p>
            <a:pPr lvl="1"/>
            <a:r>
              <a:rPr lang="en-US" altLang="ko-KR" dirty="0" smtClean="0"/>
              <a:t>KPLO-D0-550-212 </a:t>
            </a:r>
            <a:endParaRPr lang="en-US" altLang="ko-KR" dirty="0"/>
          </a:p>
          <a:p>
            <a:r>
              <a:rPr lang="ko-KR" altLang="en-US" dirty="0"/>
              <a:t>시험결과 확인 방안</a:t>
            </a:r>
            <a:endParaRPr lang="en-US" altLang="ko-KR" dirty="0"/>
          </a:p>
          <a:p>
            <a:pPr lvl="1"/>
            <a:r>
              <a:rPr lang="en-US" altLang="ko-KR" dirty="0" smtClean="0"/>
              <a:t>ITOS</a:t>
            </a:r>
            <a:r>
              <a:rPr lang="ko-KR" altLang="en-US" dirty="0" smtClean="0"/>
              <a:t>에 저장된 </a:t>
            </a:r>
            <a:r>
              <a:rPr lang="en-US" altLang="ko-KR" dirty="0" smtClean="0"/>
              <a:t>Log</a:t>
            </a:r>
            <a:r>
              <a:rPr lang="ko-KR" altLang="en-US" dirty="0" smtClean="0"/>
              <a:t>를 확인하여 정상 동작 확인</a:t>
            </a:r>
            <a:endParaRPr lang="en-US" altLang="ko-KR" dirty="0"/>
          </a:p>
          <a:p>
            <a:r>
              <a:rPr lang="ko-KR" altLang="en-US" dirty="0" smtClean="0"/>
              <a:t>시험장소</a:t>
            </a:r>
            <a:endParaRPr lang="en-US" altLang="ko-KR" dirty="0"/>
          </a:p>
          <a:p>
            <a:pPr lvl="1"/>
            <a:r>
              <a:rPr lang="en-US" altLang="ko-KR" dirty="0" smtClean="0"/>
              <a:t>KARI</a:t>
            </a:r>
            <a:r>
              <a:rPr lang="ko-KR" altLang="en-US" dirty="0" smtClean="0"/>
              <a:t> </a:t>
            </a:r>
            <a:r>
              <a:rPr lang="en-US" altLang="ko-KR" dirty="0" smtClean="0"/>
              <a:t>ETB Room</a:t>
            </a:r>
            <a:endParaRPr lang="en-US" altLang="ko-KR" dirty="0"/>
          </a:p>
          <a:p>
            <a:r>
              <a:rPr lang="ko-KR" altLang="en-US" dirty="0"/>
              <a:t>시험날짜</a:t>
            </a:r>
            <a:endParaRPr lang="en-US" altLang="ko-KR" dirty="0"/>
          </a:p>
          <a:p>
            <a:pPr lvl="1"/>
            <a:r>
              <a:rPr lang="en-US" altLang="ko-KR" dirty="0" smtClean="0"/>
              <a:t>2020.09.10 ~11</a:t>
            </a:r>
          </a:p>
          <a:p>
            <a:r>
              <a:rPr lang="ko-KR" altLang="en-US" dirty="0" smtClean="0"/>
              <a:t>시험 결과 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KARI</a:t>
            </a:r>
            <a:r>
              <a:rPr lang="ko-KR" altLang="en-US" dirty="0" smtClean="0"/>
              <a:t>의 준비 문제로 인하여 </a:t>
            </a:r>
            <a:r>
              <a:rPr lang="en-US" altLang="ko-KR" dirty="0" smtClean="0"/>
              <a:t>DTN 060 ~ DTN090 </a:t>
            </a:r>
            <a:r>
              <a:rPr lang="ko-KR" altLang="en-US" dirty="0" smtClean="0"/>
              <a:t>시험은 진행을 하지 못 함</a:t>
            </a:r>
            <a:r>
              <a:rPr lang="en-US" altLang="ko-KR" dirty="0" smtClean="0"/>
              <a:t>. </a:t>
            </a:r>
            <a:br>
              <a:rPr lang="en-US" altLang="ko-KR" dirty="0" smtClean="0"/>
            </a:b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8703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Test</a:t>
            </a:r>
            <a:r>
              <a:rPr lang="ko-KR" altLang="en-US" dirty="0"/>
              <a:t> </a:t>
            </a:r>
            <a:r>
              <a:rPr lang="en-US" altLang="ko-KR" dirty="0"/>
              <a:t>Setup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Test</a:t>
            </a:r>
            <a:r>
              <a:rPr lang="ko-KR" altLang="en-US" dirty="0"/>
              <a:t> </a:t>
            </a:r>
            <a:r>
              <a:rPr lang="en-US" altLang="ko-KR" dirty="0"/>
              <a:t>Setup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DTNPL Version</a:t>
            </a:r>
          </a:p>
        </p:txBody>
      </p:sp>
      <p:graphicFrame>
        <p:nvGraphicFramePr>
          <p:cNvPr id="8" name="Group 414">
            <a:extLst>
              <a:ext uri="{FF2B5EF4-FFF2-40B4-BE49-F238E27FC236}">
                <a16:creationId xmlns:a16="http://schemas.microsoft.com/office/drawing/2014/main" id="{FCCF8639-55AF-4952-A966-7E7F33C491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25458"/>
              </p:ext>
            </p:extLst>
          </p:nvPr>
        </p:nvGraphicFramePr>
        <p:xfrm>
          <a:off x="674174" y="4932947"/>
          <a:ext cx="7863435" cy="1482594"/>
        </p:xfrm>
        <a:graphic>
          <a:graphicData uri="http://schemas.openxmlformats.org/drawingml/2006/table">
            <a:tbl>
              <a:tblPr/>
              <a:tblGrid>
                <a:gridCol w="877121">
                  <a:extLst>
                    <a:ext uri="{9D8B030D-6E8A-4147-A177-3AD203B41FA5}">
                      <a16:colId xmlns:a16="http://schemas.microsoft.com/office/drawing/2014/main" val="110075323"/>
                    </a:ext>
                  </a:extLst>
                </a:gridCol>
                <a:gridCol w="899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2597">
                  <a:extLst>
                    <a:ext uri="{9D8B030D-6E8A-4147-A177-3AD203B41FA5}">
                      <a16:colId xmlns:a16="http://schemas.microsoft.com/office/drawing/2014/main" val="3197022534"/>
                    </a:ext>
                  </a:extLst>
                </a:gridCol>
                <a:gridCol w="20443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9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709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Component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000" b="1" i="0" u="none" strike="noStrike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Version</a:t>
                      </a:r>
                      <a:endParaRPr lang="ko-KR" altLang="en-US" sz="1000" b="1" i="0" u="none" strike="noStrike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Remark</a:t>
                      </a:r>
                      <a:endParaRPr lang="ko-KR" altLang="en-US" sz="900" b="1" i="0" u="none" strike="noStrike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015061"/>
                  </a:ext>
                </a:extLst>
              </a:tr>
              <a:tr h="247099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DTNPL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굴림"/>
                          <a:cs typeface="+mn-cs"/>
                        </a:rPr>
                        <a:t>S/W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/>
                        <a:ea typeface="굴림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굴림"/>
                          <a:cs typeface="+mn-cs"/>
                        </a:rPr>
                        <a:t>ION Application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/>
                        <a:ea typeface="굴림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굴림"/>
                          <a:cs typeface="+mn-cs"/>
                        </a:rPr>
                        <a:t>Ver 3.6.0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09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/>
                        <a:ea typeface="굴림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굴림"/>
                          <a:cs typeface="+mn-cs"/>
                        </a:rPr>
                        <a:t>SBC Firmware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/>
                        <a:ea typeface="굴림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굴림"/>
                          <a:cs typeface="+mn-cs"/>
                        </a:rPr>
                        <a:t>Ver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굴림"/>
                          <a:cs typeface="+mn-cs"/>
                        </a:rPr>
                        <a:t>  </a:t>
                      </a:r>
                      <a:r>
                        <a:rPr lang="en-US" altLang="ko-KR" sz="1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굴림"/>
                          <a:cs typeface="+mn-cs"/>
                        </a:rPr>
                        <a:t>0.4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/>
                        <a:ea typeface="굴림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09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RTEMS OS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RTEMS Ver 4.11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000" b="0" i="0" u="none" strike="noStrike" kern="1200" dirty="0">
                        <a:solidFill>
                          <a:srgbClr val="0000FF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865370"/>
                  </a:ext>
                </a:extLst>
              </a:tr>
              <a:tr h="24709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H/W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FPGA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Ver 0.1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000" b="0" i="0" u="none" strike="noStrike" kern="1200" dirty="0">
                        <a:solidFill>
                          <a:srgbClr val="0000FF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684793"/>
                  </a:ext>
                </a:extLst>
              </a:tr>
              <a:tr h="24709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SBC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EM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000" b="0" i="0" u="none" strike="noStrike" kern="1200" dirty="0">
                        <a:solidFill>
                          <a:srgbClr val="0000FF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2370690"/>
                  </a:ext>
                </a:extLst>
              </a:tr>
            </a:tbl>
          </a:graphicData>
        </a:graphic>
      </p:graphicFrame>
      <p:pic>
        <p:nvPicPr>
          <p:cNvPr id="6" name="내용 개체 틀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017306" y="1359154"/>
            <a:ext cx="5423188" cy="314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36546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Test Result Summary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Test </a:t>
            </a:r>
            <a:r>
              <a:rPr lang="en-US" altLang="ko-KR" dirty="0" smtClean="0"/>
              <a:t>Result ( 9</a:t>
            </a:r>
            <a:r>
              <a:rPr lang="ko-KR" altLang="en-US" dirty="0" smtClean="0"/>
              <a:t>개의 항목 중 </a:t>
            </a:r>
            <a:r>
              <a:rPr lang="en-US" altLang="ko-KR" dirty="0" smtClean="0"/>
              <a:t>5</a:t>
            </a:r>
            <a:r>
              <a:rPr lang="ko-KR" altLang="en-US" dirty="0" smtClean="0"/>
              <a:t>개 항목 시험 완료</a:t>
            </a:r>
            <a:r>
              <a:rPr lang="en-US" altLang="ko-KR" dirty="0" smtClean="0"/>
              <a:t>)</a:t>
            </a:r>
            <a:endParaRPr lang="en-US" altLang="ko-KR" dirty="0"/>
          </a:p>
          <a:p>
            <a:pPr lvl="1"/>
            <a:r>
              <a:rPr lang="en-US" altLang="ko-KR" dirty="0" smtClean="0"/>
              <a:t>DTN010</a:t>
            </a:r>
          </a:p>
          <a:p>
            <a:pPr lvl="2"/>
            <a:r>
              <a:rPr lang="en-US" altLang="ko-KR" dirty="0" smtClean="0"/>
              <a:t>SOH Telemetry </a:t>
            </a:r>
          </a:p>
          <a:p>
            <a:pPr lvl="2"/>
            <a:r>
              <a:rPr lang="en-US" altLang="ko-KR" dirty="0" smtClean="0"/>
              <a:t>Procedure : DTNPL-ETB-01 / </a:t>
            </a:r>
            <a:r>
              <a:rPr lang="ko-KR" altLang="en-US" dirty="0" smtClean="0"/>
              <a:t>정상 동작 확인 완료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DTN020</a:t>
            </a:r>
            <a:endParaRPr lang="en-US" altLang="ko-KR" dirty="0"/>
          </a:p>
          <a:p>
            <a:pPr lvl="2"/>
            <a:r>
              <a:rPr lang="en-US" altLang="ko-KR" dirty="0" smtClean="0"/>
              <a:t>Bi Level Telemetry</a:t>
            </a:r>
          </a:p>
          <a:p>
            <a:pPr lvl="2"/>
            <a:r>
              <a:rPr lang="en-US" altLang="ko-KR" dirty="0" smtClean="0"/>
              <a:t>Procedure : DTNPL-ETB-02</a:t>
            </a:r>
            <a:r>
              <a:rPr lang="en-US" altLang="ko-KR" dirty="0"/>
              <a:t> / </a:t>
            </a:r>
            <a:r>
              <a:rPr lang="ko-KR" altLang="en-US" dirty="0"/>
              <a:t>정상 동작 확인 완료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DTN030</a:t>
            </a:r>
          </a:p>
          <a:p>
            <a:pPr lvl="2"/>
            <a:r>
              <a:rPr lang="en-US" altLang="ko-KR" dirty="0" smtClean="0"/>
              <a:t>Bi-Level Command </a:t>
            </a:r>
          </a:p>
          <a:p>
            <a:pPr lvl="2"/>
            <a:r>
              <a:rPr lang="en-US" altLang="ko-KR" dirty="0" smtClean="0"/>
              <a:t>Procedure : DTNPL-ETB-03</a:t>
            </a:r>
            <a:r>
              <a:rPr lang="en-US" altLang="ko-KR" dirty="0"/>
              <a:t> / </a:t>
            </a:r>
            <a:r>
              <a:rPr lang="ko-KR" altLang="en-US" dirty="0"/>
              <a:t>정상 동작 확인 완료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DTN040 </a:t>
            </a:r>
          </a:p>
          <a:p>
            <a:pPr lvl="2"/>
            <a:r>
              <a:rPr lang="en-US" altLang="ko-KR" dirty="0" smtClean="0"/>
              <a:t>BPM Single Trip</a:t>
            </a:r>
          </a:p>
          <a:p>
            <a:pPr lvl="2"/>
            <a:r>
              <a:rPr lang="en-US" altLang="ko-KR" dirty="0" smtClean="0"/>
              <a:t>Procedure : DTNPL-ETB-04</a:t>
            </a:r>
            <a:r>
              <a:rPr lang="en-US" altLang="ko-KR" dirty="0"/>
              <a:t> / </a:t>
            </a:r>
            <a:r>
              <a:rPr lang="ko-KR" altLang="en-US" dirty="0"/>
              <a:t>정상 동작 확인 완료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DTN050</a:t>
            </a:r>
          </a:p>
          <a:p>
            <a:pPr lvl="2"/>
            <a:r>
              <a:rPr lang="en-US" altLang="ko-KR" dirty="0" smtClean="0"/>
              <a:t>CFDP Single Trip</a:t>
            </a:r>
          </a:p>
          <a:p>
            <a:pPr lvl="2"/>
            <a:r>
              <a:rPr lang="en-US" altLang="ko-KR" dirty="0" smtClean="0"/>
              <a:t>Procedure : DTNPL-ETB-05</a:t>
            </a:r>
            <a:r>
              <a:rPr lang="en-US" altLang="ko-KR" dirty="0"/>
              <a:t> / </a:t>
            </a:r>
            <a:r>
              <a:rPr lang="ko-KR" altLang="en-US" dirty="0"/>
              <a:t>정상 동작 확인 </a:t>
            </a:r>
            <a:r>
              <a:rPr lang="ko-KR" altLang="en-US" dirty="0" smtClean="0"/>
              <a:t>완료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DTN060 ~ 090</a:t>
            </a:r>
          </a:p>
          <a:p>
            <a:pPr lvl="2"/>
            <a:r>
              <a:rPr lang="en-US" altLang="ko-KR" dirty="0" smtClean="0"/>
              <a:t>KARI ETB </a:t>
            </a:r>
            <a:r>
              <a:rPr lang="ko-KR" altLang="en-US" dirty="0" smtClean="0"/>
              <a:t>준비 문제로</a:t>
            </a:r>
            <a:r>
              <a:rPr lang="ko-KR" altLang="en-US" dirty="0" smtClean="0"/>
              <a:t> 시험 진행하지 않음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25033288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Arial"/>
        <a:ea typeface="굴림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22028</TotalTime>
  <Words>191</Words>
  <Application>Microsoft Office PowerPoint</Application>
  <PresentationFormat>화면 슬라이드 쇼(4:3)</PresentationFormat>
  <Paragraphs>85</Paragraphs>
  <Slides>7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굴림</vt:lpstr>
      <vt:lpstr>맑은 고딕</vt:lpstr>
      <vt:lpstr>바탕체</vt:lpstr>
      <vt:lpstr>Arial</vt:lpstr>
      <vt:lpstr>Arial Black</vt:lpstr>
      <vt:lpstr>Times New Roman</vt:lpstr>
      <vt:lpstr>Wingdings</vt:lpstr>
      <vt:lpstr>기본 디자인</vt:lpstr>
      <vt:lpstr>DTNPL  ETB</vt:lpstr>
      <vt:lpstr>Contents</vt:lpstr>
      <vt:lpstr>PowerPoint 프레젠테이션</vt:lpstr>
      <vt:lpstr>Test Item</vt:lpstr>
      <vt:lpstr>Test Overview</vt:lpstr>
      <vt:lpstr>Test Setup</vt:lpstr>
      <vt:lpstr>Test Result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한동인</dc:creator>
  <cp:lastModifiedBy>O18005</cp:lastModifiedBy>
  <cp:revision>1004</cp:revision>
  <cp:lastPrinted>2018-06-29T03:45:39Z</cp:lastPrinted>
  <dcterms:created xsi:type="dcterms:W3CDTF">1601-01-01T00:00:00Z</dcterms:created>
  <dcterms:modified xsi:type="dcterms:W3CDTF">2020-09-14T02:19:34Z</dcterms:modified>
</cp:coreProperties>
</file>