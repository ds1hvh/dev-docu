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23" r:id="rId2"/>
    <p:sldId id="1102" r:id="rId3"/>
    <p:sldId id="1107" r:id="rId4"/>
    <p:sldId id="1109" r:id="rId5"/>
    <p:sldId id="1113" r:id="rId6"/>
    <p:sldId id="1116" r:id="rId7"/>
    <p:sldId id="1112" r:id="rId8"/>
    <p:sldId id="1114" r:id="rId9"/>
    <p:sldId id="1115" r:id="rId10"/>
    <p:sldId id="1117" r:id="rId11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5" d="100"/>
          <a:sy n="115" d="100"/>
        </p:scale>
        <p:origin x="1938" y="10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7000" y="2886075"/>
            <a:ext cx="8928100" cy="2460476"/>
          </a:xfrm>
        </p:spPr>
        <p:txBody>
          <a:bodyPr/>
          <a:lstStyle/>
          <a:p>
            <a:r>
              <a:rPr lang="en-US" altLang="ko-KR" sz="3200" dirty="0"/>
              <a:t>DTNPL</a:t>
            </a:r>
            <a:r>
              <a:rPr lang="en-US" altLang="ko-KR" sz="3200" dirty="0">
                <a:sym typeface="Wingdings" panose="05000000000000000000" pitchFamily="2" charset="2"/>
              </a:rPr>
              <a:t></a:t>
            </a:r>
            <a:r>
              <a:rPr lang="en-US" altLang="ko-KR" sz="3200" dirty="0"/>
              <a:t>PDHU </a:t>
            </a:r>
            <a:r>
              <a:rPr lang="ko-KR" altLang="en-US" sz="3200" dirty="0"/>
              <a:t>데이터 전송 </a:t>
            </a:r>
            <a:r>
              <a:rPr lang="en-US" altLang="ko-KR" sz="3200" dirty="0"/>
              <a:t>Budget </a:t>
            </a:r>
            <a:r>
              <a:rPr lang="ko-KR" altLang="en-US" sz="3200" dirty="0"/>
              <a:t>관련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200" dirty="0"/>
              <a:t>USRT I/F</a:t>
            </a:r>
            <a:r>
              <a:rPr lang="ko-KR" altLang="en-US" sz="3200" dirty="0"/>
              <a:t>의 속도변경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200" dirty="0"/>
              <a:t>Material Review Board(MRB)</a:t>
            </a:r>
            <a:br>
              <a:rPr lang="en-US" altLang="ko-KR" sz="3200" dirty="0"/>
            </a:b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2000" b="0" dirty="0"/>
              <a:t>’20.09.01</a:t>
            </a:r>
            <a:br>
              <a:rPr lang="en-US" altLang="ko-KR" sz="2000" b="0" dirty="0"/>
            </a:br>
            <a:r>
              <a:rPr lang="en-US" altLang="ko-KR" sz="2000" b="0" dirty="0" err="1"/>
              <a:t>Lumir</a:t>
            </a:r>
            <a:endParaRPr lang="ko-KR" altLang="en-US" sz="20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현상</a:t>
            </a:r>
            <a:r>
              <a:rPr lang="en-US" altLang="ko-KR" dirty="0"/>
              <a:t> </a:t>
            </a:r>
            <a:r>
              <a:rPr lang="ko-KR" altLang="en-US" dirty="0"/>
              <a:t>및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2" y="981075"/>
            <a:ext cx="8796337" cy="5427282"/>
          </a:xfrm>
        </p:spPr>
        <p:txBody>
          <a:bodyPr/>
          <a:lstStyle/>
          <a:p>
            <a:r>
              <a:rPr lang="ko-KR" altLang="en-US" dirty="0"/>
              <a:t>현상</a:t>
            </a:r>
            <a:endParaRPr lang="en-US" altLang="ko-KR" dirty="0"/>
          </a:p>
          <a:p>
            <a:pPr lvl="1"/>
            <a:r>
              <a:rPr lang="en-US" altLang="ko-KR" dirty="0"/>
              <a:t>DTNPL</a:t>
            </a:r>
            <a:r>
              <a:rPr lang="en-US" altLang="ko-KR" dirty="0">
                <a:sym typeface="Wingdings" panose="05000000000000000000" pitchFamily="2" charset="2"/>
              </a:rPr>
              <a:t>PDHU</a:t>
            </a:r>
            <a:r>
              <a:rPr lang="ko-KR" altLang="en-US" dirty="0">
                <a:sym typeface="Wingdings" panose="05000000000000000000" pitchFamily="2" charset="2"/>
              </a:rPr>
              <a:t>간 데이터 전송 </a:t>
            </a:r>
            <a:r>
              <a:rPr lang="en-US" altLang="ko-KR" dirty="0">
                <a:sym typeface="Wingdings" panose="05000000000000000000" pitchFamily="2" charset="2"/>
              </a:rPr>
              <a:t>Budget (USRT</a:t>
            </a:r>
            <a:r>
              <a:rPr lang="en-US" altLang="ko-KR" dirty="0"/>
              <a:t> I/F</a:t>
            </a:r>
            <a:r>
              <a:rPr lang="ko-KR" altLang="en-US" dirty="0"/>
              <a:t>의 </a:t>
            </a:r>
            <a:r>
              <a:rPr lang="en-US" altLang="ko-KR" dirty="0"/>
              <a:t>Bandwidth)</a:t>
            </a:r>
          </a:p>
          <a:p>
            <a:pPr lvl="2"/>
            <a:r>
              <a:rPr lang="en-US" altLang="ko-KR" dirty="0"/>
              <a:t>S/B: ≤ 2 Mbps</a:t>
            </a:r>
          </a:p>
          <a:p>
            <a:pPr lvl="2"/>
            <a:r>
              <a:rPr lang="en-US" altLang="ko-KR" dirty="0"/>
              <a:t>Is : 820 kbps </a:t>
            </a:r>
            <a:r>
              <a:rPr lang="ko-KR" altLang="en-US" dirty="0"/>
              <a:t>수준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분석</a:t>
            </a:r>
            <a:endParaRPr lang="en-US" altLang="ko-KR" dirty="0"/>
          </a:p>
          <a:p>
            <a:pPr lvl="1"/>
            <a:r>
              <a:rPr lang="en-US" altLang="ko-KR" dirty="0"/>
              <a:t>DTNPL</a:t>
            </a:r>
            <a:r>
              <a:rPr lang="en-US" altLang="ko-KR" dirty="0">
                <a:sym typeface="Wingdings" panose="05000000000000000000" pitchFamily="2" charset="2"/>
              </a:rPr>
              <a:t>PDHU</a:t>
            </a:r>
            <a:r>
              <a:rPr lang="ko-KR" altLang="en-US" dirty="0">
                <a:sym typeface="Wingdings" panose="05000000000000000000" pitchFamily="2" charset="2"/>
              </a:rPr>
              <a:t>간 </a:t>
            </a:r>
            <a:r>
              <a:rPr lang="en-US" altLang="ko-KR" dirty="0">
                <a:sym typeface="Wingdings" panose="05000000000000000000" pitchFamily="2" charset="2"/>
              </a:rPr>
              <a:t>USRT</a:t>
            </a:r>
            <a:r>
              <a:rPr lang="ko-KR" altLang="en-US" dirty="0">
                <a:sym typeface="Wingdings" panose="05000000000000000000" pitchFamily="2" charset="2"/>
              </a:rPr>
              <a:t>로 데이터 전송시의 속도는 </a:t>
            </a:r>
            <a:r>
              <a:rPr lang="en-US" altLang="ko-KR" dirty="0">
                <a:sym typeface="Wingdings" panose="05000000000000000000" pitchFamily="2" charset="2"/>
              </a:rPr>
              <a:t>2 MHz</a:t>
            </a:r>
            <a:r>
              <a:rPr lang="ko-KR" altLang="en-US" dirty="0">
                <a:sym typeface="Wingdings" panose="05000000000000000000" pitchFamily="2" charset="2"/>
              </a:rPr>
              <a:t>로 일정하나 데이터를 보내지 않는 </a:t>
            </a:r>
            <a:r>
              <a:rPr lang="en-US" altLang="ko-KR" dirty="0">
                <a:sym typeface="Wingdings" panose="05000000000000000000" pitchFamily="2" charset="2"/>
              </a:rPr>
              <a:t>Idle</a:t>
            </a:r>
            <a:r>
              <a:rPr lang="ko-KR" altLang="en-US" dirty="0">
                <a:sym typeface="Wingdings" panose="05000000000000000000" pitchFamily="2" charset="2"/>
              </a:rPr>
              <a:t>구간이 상대적으로 많아 </a:t>
            </a:r>
            <a:r>
              <a:rPr lang="en-US" altLang="ko-KR" dirty="0">
                <a:sym typeface="Wingdings" panose="05000000000000000000" pitchFamily="2" charset="2"/>
              </a:rPr>
              <a:t>Bandwidth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820 kbps </a:t>
            </a:r>
            <a:r>
              <a:rPr lang="ko-KR" altLang="en-US" dirty="0">
                <a:sym typeface="Wingdings" panose="05000000000000000000" pitchFamily="2" charset="2"/>
              </a:rPr>
              <a:t>으로 </a:t>
            </a:r>
            <a:r>
              <a:rPr lang="en-US" altLang="ko-KR" dirty="0">
                <a:sym typeface="Wingdings" panose="05000000000000000000" pitchFamily="2" charset="2"/>
              </a:rPr>
              <a:t>Budget </a:t>
            </a:r>
            <a:r>
              <a:rPr lang="ko-KR" altLang="en-US" dirty="0">
                <a:sym typeface="Wingdings" panose="05000000000000000000" pitchFamily="2" charset="2"/>
              </a:rPr>
              <a:t>대비 절반 수준임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DTNPL</a:t>
            </a:r>
            <a:r>
              <a:rPr lang="ko-KR" altLang="en-US" dirty="0">
                <a:sym typeface="Wingdings" panose="05000000000000000000" pitchFamily="2" charset="2"/>
              </a:rPr>
              <a:t>에 할당된 </a:t>
            </a:r>
            <a:r>
              <a:rPr lang="en-US" altLang="ko-KR" dirty="0">
                <a:sym typeface="Wingdings" panose="05000000000000000000" pitchFamily="2" charset="2"/>
              </a:rPr>
              <a:t>Bandwidth</a:t>
            </a:r>
            <a:r>
              <a:rPr lang="ko-KR" altLang="en-US" dirty="0">
                <a:sym typeface="Wingdings" panose="05000000000000000000" pitchFamily="2" charset="2"/>
              </a:rPr>
              <a:t>의 절반 수준만 사용되고 있으므로 위성운용시 </a:t>
            </a:r>
            <a:r>
              <a:rPr lang="en-US" altLang="ko-KR" dirty="0">
                <a:sym typeface="Wingdings" panose="05000000000000000000" pitchFamily="2" charset="2"/>
              </a:rPr>
              <a:t>DTNPL </a:t>
            </a:r>
            <a:r>
              <a:rPr lang="ko-KR" altLang="en-US" dirty="0">
                <a:sym typeface="Wingdings" panose="05000000000000000000" pitchFamily="2" charset="2"/>
              </a:rPr>
              <a:t>데이터 확보양이 목표 대비 절반임</a:t>
            </a:r>
            <a:endParaRPr lang="en-US" altLang="ko-KR" dirty="0"/>
          </a:p>
          <a:p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256D9CA-7C2C-42C9-AE62-CBC7D8153651}"/>
              </a:ext>
            </a:extLst>
          </p:cNvPr>
          <p:cNvCxnSpPr/>
          <p:nvPr/>
        </p:nvCxnSpPr>
        <p:spPr bwMode="auto">
          <a:xfrm>
            <a:off x="2412937" y="5065366"/>
            <a:ext cx="47832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588F08B-9AB3-4352-917D-94EC4C064D82}"/>
              </a:ext>
            </a:extLst>
          </p:cNvPr>
          <p:cNvCxnSpPr/>
          <p:nvPr/>
        </p:nvCxnSpPr>
        <p:spPr bwMode="auto">
          <a:xfrm flipV="1">
            <a:off x="2412937" y="4312737"/>
            <a:ext cx="0" cy="75263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D90092-E788-478E-8705-22DFFE49B332}"/>
              </a:ext>
            </a:extLst>
          </p:cNvPr>
          <p:cNvSpPr txBox="1"/>
          <p:nvPr/>
        </p:nvSpPr>
        <p:spPr>
          <a:xfrm>
            <a:off x="7172383" y="4887523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57D39-240E-47E8-AC5B-8E060AE190F1}"/>
              </a:ext>
            </a:extLst>
          </p:cNvPr>
          <p:cNvSpPr txBox="1"/>
          <p:nvPr/>
        </p:nvSpPr>
        <p:spPr>
          <a:xfrm>
            <a:off x="1728511" y="3971777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전송속도 </a:t>
            </a:r>
            <a:r>
              <a:rPr lang="en-US" altLang="ko-KR" sz="1400" dirty="0">
                <a:latin typeface="+mj-lt"/>
              </a:rPr>
              <a:t>(Hz)</a:t>
            </a:r>
            <a:endParaRPr lang="ko-KR" altLang="en-US" dirty="0">
              <a:latin typeface="+mj-lt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4C8E5B-45B6-439C-AB3E-7082AC63C13C}"/>
              </a:ext>
            </a:extLst>
          </p:cNvPr>
          <p:cNvSpPr/>
          <p:nvPr/>
        </p:nvSpPr>
        <p:spPr bwMode="auto">
          <a:xfrm>
            <a:off x="2412937" y="4693286"/>
            <a:ext cx="1350485" cy="372079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D3B27-6BD4-40E4-AD75-EAE9528324E7}"/>
              </a:ext>
            </a:extLst>
          </p:cNvPr>
          <p:cNvSpPr txBox="1"/>
          <p:nvPr/>
        </p:nvSpPr>
        <p:spPr>
          <a:xfrm>
            <a:off x="2486091" y="5065365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FF"/>
                </a:solidFill>
              </a:rPr>
              <a:t>DTNPL</a:t>
            </a:r>
            <a:r>
              <a:rPr lang="en-US" altLang="ko-KR" sz="1100" b="1" dirty="0">
                <a:solidFill>
                  <a:srgbClr val="0000FF"/>
                </a:solidFill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b="1" dirty="0">
                <a:solidFill>
                  <a:srgbClr val="0000FF"/>
                </a:solidFill>
                <a:sym typeface="Wingdings" panose="05000000000000000000" pitchFamily="2" charset="2"/>
              </a:rPr>
              <a:t>USRT </a:t>
            </a:r>
            <a:r>
              <a:rPr lang="ko-KR" altLang="en-US" sz="1100" b="1" dirty="0">
                <a:solidFill>
                  <a:srgbClr val="0000FF"/>
                </a:solidFill>
                <a:sym typeface="Wingdings" panose="05000000000000000000" pitchFamily="2" charset="2"/>
              </a:rPr>
              <a:t>전송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65E7EA-FFC8-4A9B-93D8-30A2DCD463B7}"/>
              </a:ext>
            </a:extLst>
          </p:cNvPr>
          <p:cNvSpPr txBox="1"/>
          <p:nvPr/>
        </p:nvSpPr>
        <p:spPr>
          <a:xfrm>
            <a:off x="1834935" y="4583654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+mn-lt"/>
              </a:rPr>
              <a:t>2 MHz</a:t>
            </a:r>
            <a:endParaRPr lang="ko-KR" altLang="en-US" sz="1800" b="1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4013B-18BF-4783-9F5A-5CC3B5C5FE6E}"/>
              </a:ext>
            </a:extLst>
          </p:cNvPr>
          <p:cNvSpPr txBox="1"/>
          <p:nvPr/>
        </p:nvSpPr>
        <p:spPr>
          <a:xfrm>
            <a:off x="4085842" y="4760565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rgbClr val="0000FF"/>
                </a:solidFill>
              </a:rPr>
              <a:t>Idle </a:t>
            </a:r>
            <a:r>
              <a:rPr lang="ko-KR" altLang="en-US" sz="1050" b="1" dirty="0">
                <a:solidFill>
                  <a:srgbClr val="0000FF"/>
                </a:solidFill>
              </a:rPr>
              <a:t>구간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FA50A5-63FA-460C-AC69-1530C4338DF0}"/>
              </a:ext>
            </a:extLst>
          </p:cNvPr>
          <p:cNvSpPr/>
          <p:nvPr/>
        </p:nvSpPr>
        <p:spPr bwMode="auto">
          <a:xfrm>
            <a:off x="4959285" y="4693286"/>
            <a:ext cx="1350485" cy="372079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E9E100-C885-4B71-90F7-3C4A97D1F640}"/>
              </a:ext>
            </a:extLst>
          </p:cNvPr>
          <p:cNvSpPr txBox="1"/>
          <p:nvPr/>
        </p:nvSpPr>
        <p:spPr>
          <a:xfrm>
            <a:off x="5032439" y="5065365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FF"/>
                </a:solidFill>
              </a:rPr>
              <a:t>DTNPL</a:t>
            </a:r>
            <a:r>
              <a:rPr lang="en-US" altLang="ko-KR" sz="1100" dirty="0">
                <a:solidFill>
                  <a:srgbClr val="0000FF"/>
                </a:solidFill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dirty="0">
                <a:solidFill>
                  <a:srgbClr val="0000FF"/>
                </a:solidFill>
                <a:sym typeface="Wingdings" panose="05000000000000000000" pitchFamily="2" charset="2"/>
              </a:rPr>
              <a:t>USRT </a:t>
            </a:r>
            <a:r>
              <a:rPr lang="ko-KR" altLang="en-US" sz="1100" dirty="0">
                <a:solidFill>
                  <a:srgbClr val="0000FF"/>
                </a:solidFill>
                <a:sym typeface="Wingdings" panose="05000000000000000000" pitchFamily="2" charset="2"/>
              </a:rPr>
              <a:t>전송</a:t>
            </a:r>
            <a:endParaRPr lang="ko-KR" altLang="en-US" sz="1800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61CDD-F5E1-4432-AFA8-790AC0CC5E13}"/>
              </a:ext>
            </a:extLst>
          </p:cNvPr>
          <p:cNvSpPr txBox="1"/>
          <p:nvPr/>
        </p:nvSpPr>
        <p:spPr>
          <a:xfrm>
            <a:off x="2472933" y="5479099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4.096 </a:t>
            </a:r>
            <a:r>
              <a:rPr lang="en-US" altLang="ko-KR" sz="1050" b="1" dirty="0" err="1"/>
              <a:t>ms</a:t>
            </a:r>
            <a:r>
              <a:rPr lang="en-US" altLang="ko-KR" sz="1050" b="1" dirty="0"/>
              <a:t> (1 kB data)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12DC5-C748-4194-8C5A-A9E82A71D563}"/>
              </a:ext>
            </a:extLst>
          </p:cNvPr>
          <p:cNvSpPr txBox="1"/>
          <p:nvPr/>
        </p:nvSpPr>
        <p:spPr>
          <a:xfrm>
            <a:off x="4193788" y="5479099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6 </a:t>
            </a:r>
            <a:r>
              <a:rPr lang="en-US" altLang="ko-KR" sz="1050" b="1" dirty="0" err="1"/>
              <a:t>ms</a:t>
            </a:r>
            <a:endParaRPr lang="ko-KR" altLang="en-US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A719E5-C946-4764-BCB3-964A63AC698A}"/>
              </a:ext>
            </a:extLst>
          </p:cNvPr>
          <p:cNvSpPr txBox="1"/>
          <p:nvPr/>
        </p:nvSpPr>
        <p:spPr>
          <a:xfrm>
            <a:off x="5000930" y="5480602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4.096 </a:t>
            </a:r>
            <a:r>
              <a:rPr lang="en-US" altLang="ko-KR" sz="1050" dirty="0" err="1"/>
              <a:t>ms</a:t>
            </a:r>
            <a:r>
              <a:rPr lang="en-US" altLang="ko-KR" sz="1050" dirty="0"/>
              <a:t> (1 kB data)</a:t>
            </a:r>
            <a:endParaRPr lang="ko-KR" altLang="en-US" sz="16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828B5E5-990C-40E2-9C4C-14D14D4D25A6}"/>
              </a:ext>
            </a:extLst>
          </p:cNvPr>
          <p:cNvCxnSpPr/>
          <p:nvPr/>
        </p:nvCxnSpPr>
        <p:spPr bwMode="auto">
          <a:xfrm flipV="1">
            <a:off x="4959285" y="4312737"/>
            <a:ext cx="0" cy="1043591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020C8ED-F5D7-4FC6-800D-753E5725E249}"/>
              </a:ext>
            </a:extLst>
          </p:cNvPr>
          <p:cNvSpPr txBox="1"/>
          <p:nvPr/>
        </p:nvSpPr>
        <p:spPr>
          <a:xfrm>
            <a:off x="2003900" y="5885137"/>
            <a:ext cx="337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</a:rPr>
              <a:t>DTNPL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PDHU </a:t>
            </a:r>
            <a:r>
              <a:rPr lang="ko-KR" altLang="en-US" sz="1400" dirty="0">
                <a:latin typeface="+mj-lt"/>
                <a:sym typeface="Wingdings" panose="05000000000000000000" pitchFamily="2" charset="2"/>
              </a:rPr>
              <a:t>데이터 전송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 Bandwidth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820 kbps 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(2 Mbps x 41%)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0180B8B-5A64-45A5-AB6D-23A5B4A7BB5F}"/>
              </a:ext>
            </a:extLst>
          </p:cNvPr>
          <p:cNvGrpSpPr/>
          <p:nvPr/>
        </p:nvGrpSpPr>
        <p:grpSpPr>
          <a:xfrm>
            <a:off x="6506705" y="4865756"/>
            <a:ext cx="426786" cy="45721"/>
            <a:chOff x="6085290" y="4917047"/>
            <a:chExt cx="426786" cy="45721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19F2226-C38F-430D-BB9E-8DF9F2B63B35}"/>
                </a:ext>
              </a:extLst>
            </p:cNvPr>
            <p:cNvSpPr/>
            <p:nvPr/>
          </p:nvSpPr>
          <p:spPr bwMode="auto">
            <a:xfrm flipH="1">
              <a:off x="6085290" y="4917049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85C293E6-5CD9-4781-931A-72C392FA75B4}"/>
                </a:ext>
              </a:extLst>
            </p:cNvPr>
            <p:cNvSpPr/>
            <p:nvPr/>
          </p:nvSpPr>
          <p:spPr bwMode="auto">
            <a:xfrm flipH="1">
              <a:off x="6273241" y="491704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57A02F2-9EB6-4DF4-8CD5-240F6D11DDFC}"/>
                </a:ext>
              </a:extLst>
            </p:cNvPr>
            <p:cNvSpPr/>
            <p:nvPr/>
          </p:nvSpPr>
          <p:spPr bwMode="auto">
            <a:xfrm flipH="1">
              <a:off x="6466357" y="4917047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718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 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ko-KR" altLang="en-US" dirty="0"/>
              <a:t>의 데이터 전송 </a:t>
            </a:r>
            <a:r>
              <a:rPr lang="en-US" altLang="ko-KR" dirty="0"/>
              <a:t>Budget </a:t>
            </a:r>
            <a:r>
              <a:rPr lang="ko-KR" altLang="en-US" dirty="0"/>
              <a:t>향상 방안 </a:t>
            </a:r>
            <a:r>
              <a:rPr lang="en-US" altLang="ko-KR" b="0" dirty="0"/>
              <a:t>(</a:t>
            </a:r>
            <a:r>
              <a:rPr lang="ko-KR" altLang="en-US" b="0" dirty="0"/>
              <a:t>최대 </a:t>
            </a:r>
            <a:r>
              <a:rPr lang="en-US" altLang="ko-KR" b="0" dirty="0"/>
              <a:t>: ≤ 2 Mbps)</a:t>
            </a:r>
          </a:p>
          <a:p>
            <a:pPr lvl="1"/>
            <a:r>
              <a:rPr lang="en-US" altLang="ko-KR" b="0" dirty="0"/>
              <a:t>1</a:t>
            </a:r>
            <a:r>
              <a:rPr lang="ko-KR" altLang="en-US" b="0" dirty="0"/>
              <a:t>안으로 제안함</a:t>
            </a:r>
            <a:endParaRPr lang="en-US" altLang="ko-KR" b="0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marL="347663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sz="700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B2ADD300-5EDB-422D-B6AC-FF4ADBB29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71278"/>
              </p:ext>
            </p:extLst>
          </p:nvPr>
        </p:nvGraphicFramePr>
        <p:xfrm>
          <a:off x="238919" y="1617717"/>
          <a:ext cx="8655049" cy="3804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210">
                  <a:extLst>
                    <a:ext uri="{9D8B030D-6E8A-4147-A177-3AD203B41FA5}">
                      <a16:colId xmlns:a16="http://schemas.microsoft.com/office/drawing/2014/main" val="4158506609"/>
                    </a:ext>
                  </a:extLst>
                </a:gridCol>
                <a:gridCol w="1480940">
                  <a:extLst>
                    <a:ext uri="{9D8B030D-6E8A-4147-A177-3AD203B41FA5}">
                      <a16:colId xmlns:a16="http://schemas.microsoft.com/office/drawing/2014/main" val="2237319355"/>
                    </a:ext>
                  </a:extLst>
                </a:gridCol>
                <a:gridCol w="3252787">
                  <a:extLst>
                    <a:ext uri="{9D8B030D-6E8A-4147-A177-3AD203B41FA5}">
                      <a16:colId xmlns:a16="http://schemas.microsoft.com/office/drawing/2014/main" val="827798606"/>
                    </a:ext>
                  </a:extLst>
                </a:gridCol>
                <a:gridCol w="649862">
                  <a:extLst>
                    <a:ext uri="{9D8B030D-6E8A-4147-A177-3AD203B41FA5}">
                      <a16:colId xmlns:a16="http://schemas.microsoft.com/office/drawing/2014/main" val="3580963193"/>
                    </a:ext>
                  </a:extLst>
                </a:gridCol>
                <a:gridCol w="647126">
                  <a:extLst>
                    <a:ext uri="{9D8B030D-6E8A-4147-A177-3AD203B41FA5}">
                      <a16:colId xmlns:a16="http://schemas.microsoft.com/office/drawing/2014/main" val="3186951225"/>
                    </a:ext>
                  </a:extLst>
                </a:gridCol>
                <a:gridCol w="2270124">
                  <a:extLst>
                    <a:ext uri="{9D8B030D-6E8A-4147-A177-3AD203B41FA5}">
                      <a16:colId xmlns:a16="http://schemas.microsoft.com/office/drawing/2014/main" val="3280224082"/>
                    </a:ext>
                  </a:extLst>
                </a:gridCol>
              </a:tblGrid>
              <a:tr h="201389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영향성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173780"/>
                  </a:ext>
                </a:extLst>
              </a:tr>
              <a:tr h="321805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  <a:endParaRPr lang="en-US" altLang="ko-KR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난이도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검토의견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46242"/>
                  </a:ext>
                </a:extLst>
              </a:tr>
              <a:tr h="9238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PDHU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전송 클럭을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증가시키는 방안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구조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- 2 Mbps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전송클럭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Budget: 820 kbps)</a:t>
                      </a:r>
                    </a:p>
                    <a:p>
                      <a:pPr algn="l" latinLnBrk="1"/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개선검토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- 4 Mbps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전송클럭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Budget: 1.64 Mbps)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(DTNPL) S/W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속도 세팅 변경만으로 가능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(PDHU) USRT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속도를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높여서 동작 가능함 확인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(EGSE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특성상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클럭 생성이 어려워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상향해서 시험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0767126"/>
                  </a:ext>
                </a:extLst>
              </a:tr>
              <a:tr h="6348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PDHU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단위 전송 패킷을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 kB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에서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2 kB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로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증가시키는 방안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 S/W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패킷구조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 S/W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 F/W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간의 데이터 전달 구조를 변경하는 방안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OOOO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1753461"/>
                  </a:ext>
                </a:extLst>
              </a:tr>
              <a:tr h="6348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DTNPL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간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데이터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전송 시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Interval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시간을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줄이는 방안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구조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ION S/W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SBC F/W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이용한 패킷 전달시에 발생되는 시간이 물리적으로 소요가 되며 그 시간 구간에서는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데이터 전송이 안됨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개선검토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ION S/W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SBC F/W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이용한 패킷 전달시에 발생되는 시간 최소화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OOOO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16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16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1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DTNPLPDHU</a:t>
            </a:r>
            <a:r>
              <a:rPr lang="ko-KR" altLang="en-US" dirty="0">
                <a:sym typeface="Wingdings" panose="05000000000000000000" pitchFamily="2" charset="2"/>
              </a:rPr>
              <a:t>간 전송 클럭을 증가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DTNPLPDHU</a:t>
            </a:r>
            <a:r>
              <a:rPr lang="ko-KR" altLang="en-US" dirty="0">
                <a:sym typeface="Wingdings" panose="05000000000000000000" pitchFamily="2" charset="2"/>
              </a:rPr>
              <a:t>간 </a:t>
            </a:r>
            <a:r>
              <a:rPr lang="en-US" altLang="ko-KR" dirty="0">
                <a:sym typeface="Wingdings" panose="05000000000000000000" pitchFamily="2" charset="2"/>
              </a:rPr>
              <a:t>USRT </a:t>
            </a:r>
            <a:r>
              <a:rPr lang="ko-KR" altLang="en-US" dirty="0">
                <a:sym typeface="Wingdings" panose="05000000000000000000" pitchFamily="2" charset="2"/>
              </a:rPr>
              <a:t>데이터 전송시의 속도를 </a:t>
            </a:r>
            <a:r>
              <a:rPr lang="en-US" altLang="ko-KR" b="1" dirty="0">
                <a:sym typeface="Wingdings" panose="05000000000000000000" pitchFamily="2" charset="2"/>
              </a:rPr>
              <a:t>2 MHz</a:t>
            </a:r>
            <a:r>
              <a:rPr lang="ko-KR" altLang="en-US" b="1" dirty="0">
                <a:sym typeface="Wingdings" panose="05000000000000000000" pitchFamily="2" charset="2"/>
              </a:rPr>
              <a:t>에서 </a:t>
            </a:r>
            <a:r>
              <a:rPr lang="en-US" altLang="ko-KR" b="1" dirty="0">
                <a:sym typeface="Wingdings" panose="05000000000000000000" pitchFamily="2" charset="2"/>
              </a:rPr>
              <a:t>4 MHz</a:t>
            </a:r>
            <a:r>
              <a:rPr lang="ko-KR" altLang="en-US" b="1" dirty="0">
                <a:sym typeface="Wingdings" panose="05000000000000000000" pitchFamily="2" charset="2"/>
              </a:rPr>
              <a:t>로 변경</a:t>
            </a:r>
            <a:r>
              <a:rPr lang="ko-KR" altLang="en-US" dirty="0">
                <a:sym typeface="Wingdings" panose="05000000000000000000" pitchFamily="2" charset="2"/>
              </a:rPr>
              <a:t>하면 </a:t>
            </a:r>
            <a:r>
              <a:rPr lang="en-US" altLang="ko-KR" dirty="0">
                <a:sym typeface="Wingdings" panose="05000000000000000000" pitchFamily="2" charset="2"/>
              </a:rPr>
              <a:t>1.64 Mbps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Bandwidth</a:t>
            </a:r>
            <a:r>
              <a:rPr lang="ko-KR" altLang="en-US" dirty="0">
                <a:sym typeface="Wingdings" panose="05000000000000000000" pitchFamily="2" charset="2"/>
              </a:rPr>
              <a:t>로 데이터 전송 가능함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9C6619A-CAAF-47AE-AB0E-921404F14093}"/>
              </a:ext>
            </a:extLst>
          </p:cNvPr>
          <p:cNvCxnSpPr/>
          <p:nvPr/>
        </p:nvCxnSpPr>
        <p:spPr bwMode="auto">
          <a:xfrm>
            <a:off x="3896758" y="3343273"/>
            <a:ext cx="47832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C6ABDA4-7F40-4782-B5A8-D1511C6AB039}"/>
              </a:ext>
            </a:extLst>
          </p:cNvPr>
          <p:cNvCxnSpPr/>
          <p:nvPr/>
        </p:nvCxnSpPr>
        <p:spPr bwMode="auto">
          <a:xfrm flipV="1">
            <a:off x="3896758" y="2590644"/>
            <a:ext cx="0" cy="75263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E34066-064E-4ABF-8404-89407CA37069}"/>
              </a:ext>
            </a:extLst>
          </p:cNvPr>
          <p:cNvSpPr txBox="1"/>
          <p:nvPr/>
        </p:nvSpPr>
        <p:spPr>
          <a:xfrm>
            <a:off x="8656204" y="3165430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E6A85-70DE-4955-A3A2-E9F775335903}"/>
              </a:ext>
            </a:extLst>
          </p:cNvPr>
          <p:cNvSpPr txBox="1"/>
          <p:nvPr/>
        </p:nvSpPr>
        <p:spPr>
          <a:xfrm>
            <a:off x="3212332" y="2249684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전송속도 </a:t>
            </a:r>
            <a:r>
              <a:rPr lang="en-US" altLang="ko-KR" sz="1400" dirty="0">
                <a:latin typeface="+mj-lt"/>
              </a:rPr>
              <a:t>(Hz)</a:t>
            </a:r>
            <a:endParaRPr lang="ko-KR" altLang="en-US" dirty="0"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AE88E5-E786-46CA-A3CD-CEBD2B20F376}"/>
              </a:ext>
            </a:extLst>
          </p:cNvPr>
          <p:cNvSpPr/>
          <p:nvPr/>
        </p:nvSpPr>
        <p:spPr bwMode="auto">
          <a:xfrm>
            <a:off x="3896758" y="2971193"/>
            <a:ext cx="1350485" cy="372079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C01D6-C141-4F04-AE89-150A470EE2ED}"/>
              </a:ext>
            </a:extLst>
          </p:cNvPr>
          <p:cNvSpPr txBox="1"/>
          <p:nvPr/>
        </p:nvSpPr>
        <p:spPr>
          <a:xfrm>
            <a:off x="3969912" y="3343272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DTNPL</a:t>
            </a:r>
            <a:r>
              <a:rPr lang="en-US" altLang="ko-KR" sz="11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b="1" dirty="0">
                <a:sym typeface="Wingdings" panose="05000000000000000000" pitchFamily="2" charset="2"/>
              </a:rPr>
              <a:t>USRT </a:t>
            </a:r>
            <a:r>
              <a:rPr lang="ko-KR" altLang="en-US" sz="1100" b="1" dirty="0">
                <a:sym typeface="Wingdings" panose="05000000000000000000" pitchFamily="2" charset="2"/>
              </a:rPr>
              <a:t>전송</a:t>
            </a:r>
            <a:endParaRPr lang="ko-KR" altLang="en-US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7B769-780F-40F9-B3D2-3143B13A7015}"/>
              </a:ext>
            </a:extLst>
          </p:cNvPr>
          <p:cNvSpPr txBox="1"/>
          <p:nvPr/>
        </p:nvSpPr>
        <p:spPr>
          <a:xfrm>
            <a:off x="3318756" y="2843432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+mn-lt"/>
              </a:rPr>
              <a:t>2 MHz</a:t>
            </a:r>
            <a:endParaRPr lang="ko-KR" altLang="en-US" sz="18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ABE1E-8F0F-4DF4-91E5-3193B3C9567F}"/>
              </a:ext>
            </a:extLst>
          </p:cNvPr>
          <p:cNvSpPr txBox="1"/>
          <p:nvPr/>
        </p:nvSpPr>
        <p:spPr>
          <a:xfrm>
            <a:off x="5569663" y="3038472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Idle </a:t>
            </a:r>
            <a:r>
              <a:rPr lang="ko-KR" altLang="en-US" sz="1050" b="1" dirty="0"/>
              <a:t>구간</a:t>
            </a:r>
            <a:endParaRPr lang="ko-KR" altLang="en-US" sz="16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361E0D-1268-4EF4-8E24-4E210A825325}"/>
              </a:ext>
            </a:extLst>
          </p:cNvPr>
          <p:cNvSpPr/>
          <p:nvPr/>
        </p:nvSpPr>
        <p:spPr bwMode="auto">
          <a:xfrm>
            <a:off x="6443106" y="2971193"/>
            <a:ext cx="1350485" cy="372079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655AA-CC1C-4A46-8AAB-1E758D38552A}"/>
              </a:ext>
            </a:extLst>
          </p:cNvPr>
          <p:cNvSpPr txBox="1"/>
          <p:nvPr/>
        </p:nvSpPr>
        <p:spPr>
          <a:xfrm>
            <a:off x="6516260" y="3343272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DTNPL</a:t>
            </a:r>
            <a:r>
              <a:rPr lang="en-US" altLang="ko-KR" sz="1100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dirty="0">
                <a:sym typeface="Wingdings" panose="05000000000000000000" pitchFamily="2" charset="2"/>
              </a:rPr>
              <a:t>USRT </a:t>
            </a:r>
            <a:r>
              <a:rPr lang="ko-KR" altLang="en-US" sz="1100" dirty="0">
                <a:sym typeface="Wingdings" panose="05000000000000000000" pitchFamily="2" charset="2"/>
              </a:rPr>
              <a:t>전송</a:t>
            </a:r>
            <a:endParaRPr lang="ko-KR" alt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06D5EA-59E5-4C17-ADF3-168E04CC891A}"/>
              </a:ext>
            </a:extLst>
          </p:cNvPr>
          <p:cNvSpPr txBox="1"/>
          <p:nvPr/>
        </p:nvSpPr>
        <p:spPr>
          <a:xfrm>
            <a:off x="3956754" y="3757006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4.096 </a:t>
            </a:r>
            <a:r>
              <a:rPr lang="en-US" altLang="ko-KR" sz="1050" b="1" dirty="0" err="1"/>
              <a:t>ms</a:t>
            </a:r>
            <a:r>
              <a:rPr lang="en-US" altLang="ko-KR" sz="1050" b="1" dirty="0"/>
              <a:t> (</a:t>
            </a:r>
            <a:r>
              <a:rPr lang="en-US" altLang="ko-KR" sz="1050" b="1" dirty="0">
                <a:solidFill>
                  <a:srgbClr val="FF0000"/>
                </a:solidFill>
              </a:rPr>
              <a:t>1 kB data</a:t>
            </a:r>
            <a:r>
              <a:rPr lang="en-US" altLang="ko-KR" sz="1050" b="1" dirty="0"/>
              <a:t>)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22F5B5-63FD-4E47-A7FD-72B70D67B904}"/>
              </a:ext>
            </a:extLst>
          </p:cNvPr>
          <p:cNvSpPr txBox="1"/>
          <p:nvPr/>
        </p:nvSpPr>
        <p:spPr>
          <a:xfrm>
            <a:off x="5677609" y="3757006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6 </a:t>
            </a:r>
            <a:r>
              <a:rPr lang="en-US" altLang="ko-KR" sz="1050" b="1" dirty="0" err="1"/>
              <a:t>ms</a:t>
            </a:r>
            <a:endParaRPr lang="ko-KR" altLang="en-US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D4849-9143-452B-9300-26B58D278A27}"/>
              </a:ext>
            </a:extLst>
          </p:cNvPr>
          <p:cNvSpPr txBox="1"/>
          <p:nvPr/>
        </p:nvSpPr>
        <p:spPr>
          <a:xfrm>
            <a:off x="6484751" y="3758509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4.096 </a:t>
            </a:r>
            <a:r>
              <a:rPr lang="en-US" altLang="ko-KR" sz="1050" dirty="0" err="1"/>
              <a:t>ms</a:t>
            </a:r>
            <a:r>
              <a:rPr lang="en-US" altLang="ko-KR" sz="1050" dirty="0"/>
              <a:t> (1 kB data)</a:t>
            </a:r>
            <a:endParaRPr lang="ko-KR" altLang="en-US" sz="16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35A8700-84F4-4581-AB4B-093D8163832C}"/>
              </a:ext>
            </a:extLst>
          </p:cNvPr>
          <p:cNvCxnSpPr/>
          <p:nvPr/>
        </p:nvCxnSpPr>
        <p:spPr bwMode="auto">
          <a:xfrm flipV="1">
            <a:off x="6443106" y="2590644"/>
            <a:ext cx="0" cy="1043591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E0BB25-BF4E-430C-88B2-254B5E03FBB5}"/>
              </a:ext>
            </a:extLst>
          </p:cNvPr>
          <p:cNvSpPr txBox="1"/>
          <p:nvPr/>
        </p:nvSpPr>
        <p:spPr>
          <a:xfrm>
            <a:off x="559268" y="2295851"/>
            <a:ext cx="2126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</a:rPr>
              <a:t>DTNPL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PDHU </a:t>
            </a:r>
          </a:p>
          <a:p>
            <a:pPr algn="ctr"/>
            <a:r>
              <a:rPr lang="ko-KR" altLang="en-US" sz="1400" dirty="0">
                <a:latin typeface="+mj-lt"/>
                <a:sym typeface="Wingdings" panose="05000000000000000000" pitchFamily="2" charset="2"/>
              </a:rPr>
              <a:t>데이터 전송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 Bandwidth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578DA3A-D596-44A2-B019-20335D4CCF25}"/>
              </a:ext>
            </a:extLst>
          </p:cNvPr>
          <p:cNvGrpSpPr/>
          <p:nvPr/>
        </p:nvGrpSpPr>
        <p:grpSpPr>
          <a:xfrm>
            <a:off x="7990526" y="3143663"/>
            <a:ext cx="426786" cy="45721"/>
            <a:chOff x="6085290" y="4917047"/>
            <a:chExt cx="426786" cy="45721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F7699D7-DB23-496E-BF61-7E7DA31040DF}"/>
                </a:ext>
              </a:extLst>
            </p:cNvPr>
            <p:cNvSpPr/>
            <p:nvPr/>
          </p:nvSpPr>
          <p:spPr bwMode="auto">
            <a:xfrm flipH="1">
              <a:off x="6085290" y="4917049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93D1A1A-C40A-4FD1-8134-84A4CF6A2AAB}"/>
                </a:ext>
              </a:extLst>
            </p:cNvPr>
            <p:cNvSpPr/>
            <p:nvPr/>
          </p:nvSpPr>
          <p:spPr bwMode="auto">
            <a:xfrm flipH="1">
              <a:off x="6273241" y="491704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AD2F7DB-57D8-49BB-B04C-DD474722A9F9}"/>
                </a:ext>
              </a:extLst>
            </p:cNvPr>
            <p:cNvSpPr/>
            <p:nvPr/>
          </p:nvSpPr>
          <p:spPr bwMode="auto">
            <a:xfrm flipH="1">
              <a:off x="6466357" y="4917047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FA9A5C2-75C6-4298-B618-67370DE4E343}"/>
              </a:ext>
            </a:extLst>
          </p:cNvPr>
          <p:cNvCxnSpPr/>
          <p:nvPr/>
        </p:nvCxnSpPr>
        <p:spPr bwMode="auto">
          <a:xfrm>
            <a:off x="3944546" y="5566181"/>
            <a:ext cx="47832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2562B79-7481-4C37-B496-6A555D75CE76}"/>
              </a:ext>
            </a:extLst>
          </p:cNvPr>
          <p:cNvCxnSpPr/>
          <p:nvPr/>
        </p:nvCxnSpPr>
        <p:spPr bwMode="auto">
          <a:xfrm flipV="1">
            <a:off x="3944546" y="4813552"/>
            <a:ext cx="0" cy="75263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669F00-0762-4C08-8B9A-7A7C5E2A8F41}"/>
              </a:ext>
            </a:extLst>
          </p:cNvPr>
          <p:cNvSpPr txBox="1"/>
          <p:nvPr/>
        </p:nvSpPr>
        <p:spPr>
          <a:xfrm>
            <a:off x="8703992" y="5388338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439684-3B0E-4FBD-AC7F-F8207EA9B399}"/>
              </a:ext>
            </a:extLst>
          </p:cNvPr>
          <p:cNvSpPr txBox="1"/>
          <p:nvPr/>
        </p:nvSpPr>
        <p:spPr>
          <a:xfrm>
            <a:off x="3260120" y="4472592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전송속도 </a:t>
            </a:r>
            <a:r>
              <a:rPr lang="en-US" altLang="ko-KR" sz="1400" dirty="0">
                <a:latin typeface="+mj-lt"/>
              </a:rPr>
              <a:t>(Hz)</a:t>
            </a:r>
            <a:endParaRPr lang="ko-KR" altLang="en-US" dirty="0">
              <a:latin typeface="+mj-l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21C69-FAE4-4AA0-A7AD-C8D45D69D430}"/>
              </a:ext>
            </a:extLst>
          </p:cNvPr>
          <p:cNvSpPr/>
          <p:nvPr/>
        </p:nvSpPr>
        <p:spPr bwMode="auto">
          <a:xfrm>
            <a:off x="3944546" y="4976215"/>
            <a:ext cx="1350485" cy="589966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A9C4A4-04D5-4E68-B5F5-30951FC1A0F5}"/>
              </a:ext>
            </a:extLst>
          </p:cNvPr>
          <p:cNvSpPr txBox="1"/>
          <p:nvPr/>
        </p:nvSpPr>
        <p:spPr>
          <a:xfrm>
            <a:off x="4017700" y="5566180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DTNPL</a:t>
            </a:r>
            <a:r>
              <a:rPr lang="en-US" altLang="ko-KR" sz="11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b="1" dirty="0">
                <a:sym typeface="Wingdings" panose="05000000000000000000" pitchFamily="2" charset="2"/>
              </a:rPr>
              <a:t>USRT </a:t>
            </a:r>
            <a:r>
              <a:rPr lang="ko-KR" altLang="en-US" sz="1100" b="1" dirty="0">
                <a:sym typeface="Wingdings" panose="05000000000000000000" pitchFamily="2" charset="2"/>
              </a:rPr>
              <a:t>전송</a:t>
            </a:r>
            <a:endParaRPr lang="ko-KR" altLang="en-US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B903D-3D57-4F14-9099-341D6D5D636B}"/>
              </a:ext>
            </a:extLst>
          </p:cNvPr>
          <p:cNvSpPr txBox="1"/>
          <p:nvPr/>
        </p:nvSpPr>
        <p:spPr>
          <a:xfrm>
            <a:off x="3378083" y="4845409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+mn-lt"/>
              </a:rPr>
              <a:t>4 MHz</a:t>
            </a:r>
            <a:endParaRPr lang="ko-KR" altLang="en-US" sz="18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02FB6B-918B-4632-956A-6F099E033E22}"/>
              </a:ext>
            </a:extLst>
          </p:cNvPr>
          <p:cNvSpPr txBox="1"/>
          <p:nvPr/>
        </p:nvSpPr>
        <p:spPr>
          <a:xfrm>
            <a:off x="5617451" y="5261380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Idle </a:t>
            </a:r>
            <a:r>
              <a:rPr lang="ko-KR" altLang="en-US" sz="1050" b="1" dirty="0"/>
              <a:t>구간</a:t>
            </a:r>
            <a:endParaRPr lang="ko-KR" altLang="en-US" sz="16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7390E81-F155-4685-AC2A-EA25C965CF62}"/>
              </a:ext>
            </a:extLst>
          </p:cNvPr>
          <p:cNvSpPr/>
          <p:nvPr/>
        </p:nvSpPr>
        <p:spPr bwMode="auto">
          <a:xfrm>
            <a:off x="6490894" y="4976215"/>
            <a:ext cx="1350485" cy="589965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E7A916-DCB8-4A9E-B4FA-F5F04A27B9DF}"/>
              </a:ext>
            </a:extLst>
          </p:cNvPr>
          <p:cNvSpPr txBox="1"/>
          <p:nvPr/>
        </p:nvSpPr>
        <p:spPr>
          <a:xfrm>
            <a:off x="6564048" y="5566180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DTNPL</a:t>
            </a:r>
            <a:r>
              <a:rPr lang="en-US" altLang="ko-KR" sz="1100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100" dirty="0">
                <a:sym typeface="Wingdings" panose="05000000000000000000" pitchFamily="2" charset="2"/>
              </a:rPr>
              <a:t>USRT </a:t>
            </a:r>
            <a:r>
              <a:rPr lang="ko-KR" altLang="en-US" sz="1100" dirty="0">
                <a:sym typeface="Wingdings" panose="05000000000000000000" pitchFamily="2" charset="2"/>
              </a:rPr>
              <a:t>전송</a:t>
            </a:r>
            <a:endParaRPr lang="ko-KR" alt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D68D7-A8B6-4CA0-907E-8CE9443A472C}"/>
              </a:ext>
            </a:extLst>
          </p:cNvPr>
          <p:cNvSpPr txBox="1"/>
          <p:nvPr/>
        </p:nvSpPr>
        <p:spPr>
          <a:xfrm>
            <a:off x="4004542" y="5979914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4.096 </a:t>
            </a:r>
            <a:r>
              <a:rPr lang="en-US" altLang="ko-KR" sz="1050" b="1" dirty="0" err="1"/>
              <a:t>ms</a:t>
            </a:r>
            <a:r>
              <a:rPr lang="en-US" altLang="ko-KR" sz="1050" b="1" dirty="0"/>
              <a:t> (</a:t>
            </a:r>
            <a:r>
              <a:rPr lang="en-US" altLang="ko-KR" sz="1050" b="1" dirty="0">
                <a:solidFill>
                  <a:srgbClr val="FF0000"/>
                </a:solidFill>
              </a:rPr>
              <a:t>2 kB data</a:t>
            </a:r>
            <a:r>
              <a:rPr lang="en-US" altLang="ko-KR" sz="105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FB4B45-B2A4-48BB-81F0-796C6DB99816}"/>
              </a:ext>
            </a:extLst>
          </p:cNvPr>
          <p:cNvSpPr txBox="1"/>
          <p:nvPr/>
        </p:nvSpPr>
        <p:spPr>
          <a:xfrm>
            <a:off x="5725397" y="5979914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b="1" dirty="0"/>
              <a:t>6 </a:t>
            </a:r>
            <a:r>
              <a:rPr lang="en-US" altLang="ko-KR" sz="1050" b="1" dirty="0" err="1"/>
              <a:t>ms</a:t>
            </a:r>
            <a:endParaRPr lang="ko-KR" altLang="en-US" sz="1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6F0475-7D7D-4419-A8BC-D4B8CA1F15B9}"/>
              </a:ext>
            </a:extLst>
          </p:cNvPr>
          <p:cNvSpPr txBox="1"/>
          <p:nvPr/>
        </p:nvSpPr>
        <p:spPr>
          <a:xfrm>
            <a:off x="6532539" y="5981417"/>
            <a:ext cx="1364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4.096 </a:t>
            </a:r>
            <a:r>
              <a:rPr lang="en-US" altLang="ko-KR" sz="1050" dirty="0" err="1"/>
              <a:t>ms</a:t>
            </a:r>
            <a:r>
              <a:rPr lang="en-US" altLang="ko-KR" sz="1050" dirty="0"/>
              <a:t> (1 kB data)</a:t>
            </a:r>
            <a:endParaRPr lang="ko-KR" altLang="en-US" sz="16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0C24262-7319-4F9E-8033-18F908F5F5CE}"/>
              </a:ext>
            </a:extLst>
          </p:cNvPr>
          <p:cNvCxnSpPr/>
          <p:nvPr/>
        </p:nvCxnSpPr>
        <p:spPr bwMode="auto">
          <a:xfrm flipV="1">
            <a:off x="6490894" y="4813552"/>
            <a:ext cx="0" cy="1043591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7E1B7DC-715B-4B7A-83FA-8F07484C4280}"/>
              </a:ext>
            </a:extLst>
          </p:cNvPr>
          <p:cNvGrpSpPr/>
          <p:nvPr/>
        </p:nvGrpSpPr>
        <p:grpSpPr>
          <a:xfrm>
            <a:off x="8038314" y="5366571"/>
            <a:ext cx="426786" cy="45721"/>
            <a:chOff x="6085290" y="4917047"/>
            <a:chExt cx="426786" cy="45721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EF8855C-21EB-4A28-ABBB-17DDAC2D4A4C}"/>
                </a:ext>
              </a:extLst>
            </p:cNvPr>
            <p:cNvSpPr/>
            <p:nvPr/>
          </p:nvSpPr>
          <p:spPr bwMode="auto">
            <a:xfrm flipH="1">
              <a:off x="6085290" y="4917049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FBE3CA7-CCFF-4671-AFB6-68F515BAF658}"/>
                </a:ext>
              </a:extLst>
            </p:cNvPr>
            <p:cNvSpPr/>
            <p:nvPr/>
          </p:nvSpPr>
          <p:spPr bwMode="auto">
            <a:xfrm flipH="1">
              <a:off x="6273241" y="491704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BB17BDD-0383-43D4-A5D3-82A4B8E0136D}"/>
                </a:ext>
              </a:extLst>
            </p:cNvPr>
            <p:cNvSpPr/>
            <p:nvPr/>
          </p:nvSpPr>
          <p:spPr bwMode="auto">
            <a:xfrm flipH="1">
              <a:off x="6466357" y="4917047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886220A-9E5D-4CB1-8AA8-63F138ADB684}"/>
              </a:ext>
            </a:extLst>
          </p:cNvPr>
          <p:cNvSpPr txBox="1"/>
          <p:nvPr/>
        </p:nvSpPr>
        <p:spPr>
          <a:xfrm>
            <a:off x="111335" y="3417725"/>
            <a:ext cx="3022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현재</a:t>
            </a:r>
            <a:r>
              <a:rPr lang="en-US" altLang="ko-KR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) 820 kbps 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+mj-lt"/>
                <a:sym typeface="Wingdings" panose="05000000000000000000" pitchFamily="2" charset="2"/>
              </a:rPr>
              <a:t>2 Mbps 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x 41%)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CD94C6-4029-40E2-87BC-C378A6050820}"/>
              </a:ext>
            </a:extLst>
          </p:cNvPr>
          <p:cNvSpPr txBox="1"/>
          <p:nvPr/>
        </p:nvSpPr>
        <p:spPr>
          <a:xfrm>
            <a:off x="227832" y="5412291"/>
            <a:ext cx="3022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개선</a:t>
            </a:r>
            <a:r>
              <a:rPr lang="en-US" altLang="ko-KR" sz="14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) 1.64 Mbps 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+mj-lt"/>
                <a:sym typeface="Wingdings" panose="05000000000000000000" pitchFamily="2" charset="2"/>
              </a:rPr>
              <a:t>4 Mbps </a:t>
            </a:r>
            <a:r>
              <a:rPr lang="en-US" altLang="ko-KR" sz="1400" dirty="0">
                <a:latin typeface="+mj-lt"/>
                <a:sym typeface="Wingdings" panose="05000000000000000000" pitchFamily="2" charset="2"/>
              </a:rPr>
              <a:t>x 41%)</a:t>
            </a: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CA31B878-FBD9-49C7-9669-B32AD66A99A9}"/>
              </a:ext>
            </a:extLst>
          </p:cNvPr>
          <p:cNvSpPr/>
          <p:nvPr/>
        </p:nvSpPr>
        <p:spPr bwMode="auto">
          <a:xfrm>
            <a:off x="1396052" y="4324156"/>
            <a:ext cx="453158" cy="3578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255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1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DTNPLPDHU</a:t>
            </a:r>
            <a:r>
              <a:rPr lang="ko-KR" altLang="en-US" dirty="0">
                <a:sym typeface="Wingdings" panose="05000000000000000000" pitchFamily="2" charset="2"/>
              </a:rPr>
              <a:t>간 전송 클럭을 증가 </a:t>
            </a:r>
            <a:r>
              <a:rPr lang="en-US" altLang="ko-KR" dirty="0">
                <a:sym typeface="Wingdings" panose="05000000000000000000" pitchFamily="2" charset="2"/>
              </a:rPr>
              <a:t>(Cont’d)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기술 및 일정상의 </a:t>
            </a:r>
            <a:r>
              <a:rPr lang="en-US" altLang="ko-KR" dirty="0">
                <a:sym typeface="Wingdings" panose="05000000000000000000" pitchFamily="2" charset="2"/>
              </a:rPr>
              <a:t>Risk</a:t>
            </a:r>
            <a:r>
              <a:rPr lang="ko-KR" altLang="en-US" dirty="0">
                <a:sym typeface="Wingdings" panose="05000000000000000000" pitchFamily="2" charset="2"/>
              </a:rPr>
              <a:t>가 가장 적음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(DTNPL) S/W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USRT </a:t>
            </a:r>
            <a:r>
              <a:rPr lang="ko-KR" altLang="en-US" dirty="0">
                <a:sym typeface="Wingdings" panose="05000000000000000000" pitchFamily="2" charset="2"/>
              </a:rPr>
              <a:t>속도 세팅 변경만으로 가능 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(PDHU) USRT</a:t>
            </a:r>
            <a:r>
              <a:rPr lang="ko-KR" altLang="en-US" dirty="0">
                <a:sym typeface="Wingdings" panose="05000000000000000000" pitchFamily="2" charset="2"/>
              </a:rPr>
              <a:t>속도를 </a:t>
            </a:r>
            <a:r>
              <a:rPr lang="en-US" altLang="ko-KR" dirty="0">
                <a:sym typeface="Wingdings" panose="05000000000000000000" pitchFamily="2" charset="2"/>
              </a:rPr>
              <a:t>5 MHz</a:t>
            </a:r>
            <a:r>
              <a:rPr lang="ko-KR" altLang="en-US" dirty="0">
                <a:sym typeface="Wingdings" panose="05000000000000000000" pitchFamily="2" charset="2"/>
              </a:rPr>
              <a:t>로 높여서 동작 가능함 확인됨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EGSE </a:t>
            </a:r>
            <a:r>
              <a:rPr lang="ko-KR" altLang="en-US" dirty="0">
                <a:sym typeface="Wingdings" panose="05000000000000000000" pitchFamily="2" charset="2"/>
              </a:rPr>
              <a:t>특성상 </a:t>
            </a:r>
            <a:r>
              <a:rPr lang="en-US" altLang="ko-KR" dirty="0">
                <a:sym typeface="Wingdings" panose="05000000000000000000" pitchFamily="2" charset="2"/>
              </a:rPr>
              <a:t>4 MHz</a:t>
            </a:r>
            <a:r>
              <a:rPr lang="ko-KR" altLang="en-US" dirty="0">
                <a:sym typeface="Wingdings" panose="05000000000000000000" pitchFamily="2" charset="2"/>
              </a:rPr>
              <a:t>클럭 생성이 어려워 </a:t>
            </a:r>
            <a:r>
              <a:rPr lang="en-US" altLang="ko-KR" dirty="0">
                <a:sym typeface="Wingdings" panose="05000000000000000000" pitchFamily="2" charset="2"/>
              </a:rPr>
              <a:t>5 MHz</a:t>
            </a:r>
            <a:r>
              <a:rPr lang="ko-KR" altLang="en-US" dirty="0">
                <a:sym typeface="Wingdings" panose="05000000000000000000" pitchFamily="2" charset="2"/>
              </a:rPr>
              <a:t>로 상향해서 시험수행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668338" lvl="2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9433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2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PDHU</a:t>
            </a:r>
            <a:r>
              <a:rPr lang="ko-KR" altLang="en-US" dirty="0"/>
              <a:t>간 단위 전송 패킷을 </a:t>
            </a:r>
            <a:r>
              <a:rPr lang="en-US" altLang="ko-KR" dirty="0"/>
              <a:t>1 kB</a:t>
            </a:r>
            <a:r>
              <a:rPr lang="ko-KR" altLang="en-US" dirty="0"/>
              <a:t>에서 </a:t>
            </a:r>
            <a:r>
              <a:rPr lang="en-US" altLang="ko-KR" dirty="0"/>
              <a:t>2 kB</a:t>
            </a:r>
            <a:r>
              <a:rPr lang="ko-KR" altLang="en-US" dirty="0"/>
              <a:t>로 증가시키는 방안</a:t>
            </a:r>
            <a:endParaRPr lang="en-US" altLang="ko-KR" dirty="0"/>
          </a:p>
          <a:p>
            <a:pPr lvl="1"/>
            <a:r>
              <a:rPr lang="en-US" altLang="ko-KR" dirty="0"/>
              <a:t>OOOO</a:t>
            </a:r>
          </a:p>
          <a:p>
            <a:pPr lvl="1"/>
            <a:r>
              <a:rPr lang="en-US" altLang="ko-KR" dirty="0"/>
              <a:t>OOO</a:t>
            </a:r>
          </a:p>
          <a:p>
            <a:pPr lvl="1"/>
            <a:r>
              <a:rPr lang="en-US" altLang="ko-KR" dirty="0"/>
              <a:t>OOO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663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3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DTNPL</a:t>
            </a:r>
            <a:r>
              <a:rPr lang="ko-KR" altLang="en-US" dirty="0"/>
              <a:t>간 데이터 전송 시 </a:t>
            </a:r>
            <a:r>
              <a:rPr lang="en-US" altLang="ko-KR" dirty="0"/>
              <a:t>Interval </a:t>
            </a:r>
            <a:r>
              <a:rPr lang="ko-KR" altLang="en-US" dirty="0"/>
              <a:t>시간을 줄이는 방안</a:t>
            </a:r>
          </a:p>
          <a:p>
            <a:pPr lvl="1"/>
            <a:r>
              <a:rPr lang="ko-KR" altLang="en-US" dirty="0"/>
              <a:t>현 구조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ION S/W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SBC F/W</a:t>
            </a:r>
            <a:r>
              <a:rPr lang="ko-KR" altLang="en-US" dirty="0"/>
              <a:t>간 </a:t>
            </a:r>
            <a:r>
              <a:rPr lang="en-US" altLang="ko-KR" dirty="0"/>
              <a:t>UDP</a:t>
            </a:r>
            <a:r>
              <a:rPr lang="ko-KR" altLang="en-US" dirty="0"/>
              <a:t>를 이용한 패킷 전달시에 발생되는 시간이 물리적으로 소요가 되며 그 시간 구간에서는 </a:t>
            </a:r>
            <a:r>
              <a:rPr lang="en-US" altLang="ko-KR" dirty="0"/>
              <a:t>USRT</a:t>
            </a:r>
            <a:r>
              <a:rPr lang="ko-KR" altLang="en-US" dirty="0"/>
              <a:t>로 데이터 전송이 안됨</a:t>
            </a:r>
          </a:p>
          <a:p>
            <a:pPr lvl="1"/>
            <a:r>
              <a:rPr lang="ko-KR" altLang="en-US" dirty="0"/>
              <a:t>개선검토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ION S/W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SBC F/W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UDP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패킷 전달시에 발생되는 시간 최소화</a:t>
            </a:r>
            <a:r>
              <a:rPr lang="ko-KR" altLang="en-US" dirty="0">
                <a:latin typeface="맑은 고딕" panose="020B0503020000020004" pitchFamily="50" charset="-127"/>
              </a:rPr>
              <a:t>방안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pPr lvl="3"/>
            <a:r>
              <a:rPr lang="en-US" altLang="ko-KR" dirty="0">
                <a:latin typeface="맑은 고딕" panose="020B0503020000020004" pitchFamily="50" charset="-127"/>
              </a:rPr>
              <a:t>OOOO</a:t>
            </a:r>
          </a:p>
          <a:p>
            <a:pPr lvl="3"/>
            <a:r>
              <a:rPr lang="en-US" altLang="ko-KR" dirty="0">
                <a:latin typeface="맑은 고딕" panose="020B0503020000020004" pitchFamily="50" charset="-127"/>
              </a:rPr>
              <a:t>OOO</a:t>
            </a:r>
          </a:p>
          <a:p>
            <a:pPr lvl="3"/>
            <a:endParaRPr lang="en-US" altLang="ko-KR" dirty="0"/>
          </a:p>
          <a:p>
            <a:pPr lvl="2"/>
            <a:endParaRPr lang="ko-KR" altLang="en-US" dirty="0"/>
          </a:p>
          <a:p>
            <a:pPr lvl="1"/>
            <a:r>
              <a:rPr lang="ko-KR" altLang="en-US" dirty="0"/>
              <a:t>검토결과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07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4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ko-KR" altLang="en-US" dirty="0"/>
              <a:t>의 </a:t>
            </a:r>
            <a:r>
              <a:rPr lang="en-US" altLang="ko-KR" dirty="0"/>
              <a:t>CPU Processing </a:t>
            </a:r>
            <a:r>
              <a:rPr lang="ko-KR" altLang="en-US" dirty="0"/>
              <a:t>상향 방안</a:t>
            </a:r>
          </a:p>
          <a:p>
            <a:pPr lvl="1"/>
            <a:r>
              <a:rPr lang="ko-KR" altLang="en-US" dirty="0"/>
              <a:t>현 구조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DTNPL Processor</a:t>
            </a:r>
            <a:r>
              <a:rPr lang="ko-KR" altLang="en-US" dirty="0"/>
              <a:t>가 </a:t>
            </a:r>
            <a:r>
              <a:rPr lang="en-US" altLang="ko-KR" dirty="0"/>
              <a:t>40 MHz (38 MIPS)</a:t>
            </a:r>
            <a:r>
              <a:rPr lang="ko-KR" altLang="en-US" dirty="0"/>
              <a:t>로 구동하고 있으며 </a:t>
            </a:r>
            <a:r>
              <a:rPr lang="en-US" altLang="ko-KR" dirty="0"/>
              <a:t>CPU Performance </a:t>
            </a:r>
            <a:r>
              <a:rPr lang="ko-KR" altLang="en-US" dirty="0"/>
              <a:t>대비 많은 </a:t>
            </a:r>
            <a:r>
              <a:rPr lang="en-US" altLang="ko-KR" dirty="0"/>
              <a:t>Task (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r>
              <a:rPr lang="ko-KR" altLang="en-US" dirty="0"/>
              <a:t>가 구동되는 구조</a:t>
            </a:r>
            <a:endParaRPr lang="en-US" altLang="ko-KR" dirty="0"/>
          </a:p>
          <a:p>
            <a:pPr marL="347663" lvl="1" indent="-38100">
              <a:buNone/>
            </a:pPr>
            <a:endParaRPr lang="en-US" altLang="ko-KR" dirty="0"/>
          </a:p>
          <a:p>
            <a:pPr marL="347663" lvl="1" indent="-38100">
              <a:buNone/>
            </a:pPr>
            <a:endParaRPr lang="en-US" altLang="ko-KR" dirty="0"/>
          </a:p>
          <a:p>
            <a:pPr marL="347663" lvl="1" indent="-38100">
              <a:buNone/>
            </a:pPr>
            <a:endParaRPr lang="en-US" altLang="ko-KR" dirty="0"/>
          </a:p>
          <a:p>
            <a:pPr marL="347663" lvl="1" indent="-38100">
              <a:buNone/>
            </a:pPr>
            <a:endParaRPr lang="en-US" altLang="ko-KR" dirty="0"/>
          </a:p>
          <a:p>
            <a:pPr marL="347663" lvl="1" indent="-38100">
              <a:buNone/>
            </a:pP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-US" altLang="ko-KR" dirty="0"/>
              <a:t>Task</a:t>
            </a:r>
            <a:r>
              <a:rPr lang="ko-KR" altLang="en-US" dirty="0"/>
              <a:t>로 구성되어 있으며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Task </a:t>
            </a:r>
            <a:r>
              <a:rPr lang="ko-KR" altLang="en-US" dirty="0"/>
              <a:t>각 데이터 공유는 </a:t>
            </a:r>
            <a:r>
              <a:rPr lang="en-US" altLang="ko-KR" dirty="0"/>
              <a:t>Message Queue</a:t>
            </a:r>
            <a:r>
              <a:rPr lang="ko-KR" altLang="en-US" dirty="0"/>
              <a:t>를 이용하여 데이터 전송을 하고 있음</a:t>
            </a:r>
            <a:r>
              <a:rPr lang="en-US" altLang="ko-KR" dirty="0"/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C110249-72F8-46AE-BA1B-9C9CF6911AE0}"/>
              </a:ext>
            </a:extLst>
          </p:cNvPr>
          <p:cNvGrpSpPr/>
          <p:nvPr/>
        </p:nvGrpSpPr>
        <p:grpSpPr>
          <a:xfrm>
            <a:off x="905753" y="2369379"/>
            <a:ext cx="4258155" cy="2245576"/>
            <a:chOff x="598512" y="1679544"/>
            <a:chExt cx="8373066" cy="470703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F65CEA9-4F7D-4923-BD42-033E0FC9F476}"/>
                </a:ext>
              </a:extLst>
            </p:cNvPr>
            <p:cNvSpPr/>
            <p:nvPr/>
          </p:nvSpPr>
          <p:spPr bwMode="auto">
            <a:xfrm>
              <a:off x="1246909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MQ1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50513E5-49A6-4D79-B9E2-FB0FD72DF10C}"/>
                </a:ext>
              </a:extLst>
            </p:cNvPr>
            <p:cNvSpPr/>
            <p:nvPr/>
          </p:nvSpPr>
          <p:spPr bwMode="auto">
            <a:xfrm>
              <a:off x="2543695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MQ2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43D46C7-ADC3-4EC6-A1A1-D89E65BB0FCF}"/>
                </a:ext>
              </a:extLst>
            </p:cNvPr>
            <p:cNvSpPr/>
            <p:nvPr/>
          </p:nvSpPr>
          <p:spPr bwMode="auto">
            <a:xfrm>
              <a:off x="3870974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MQ3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A4C822F-03CA-424D-AD8E-0A8E3D7F6820}"/>
                </a:ext>
              </a:extLst>
            </p:cNvPr>
            <p:cNvSpPr/>
            <p:nvPr/>
          </p:nvSpPr>
          <p:spPr bwMode="auto">
            <a:xfrm>
              <a:off x="6479793" y="248550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MQn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4C0181D-BA65-4A40-88F6-A46A09B59BE8}"/>
                </a:ext>
              </a:extLst>
            </p:cNvPr>
            <p:cNvSpPr/>
            <p:nvPr/>
          </p:nvSpPr>
          <p:spPr bwMode="auto">
            <a:xfrm>
              <a:off x="5198253" y="248550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…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1714EC-156C-4260-AFEA-CC24D7B7B3E6}"/>
                </a:ext>
              </a:extLst>
            </p:cNvPr>
            <p:cNvSpPr/>
            <p:nvPr/>
          </p:nvSpPr>
          <p:spPr bwMode="auto">
            <a:xfrm>
              <a:off x="598515" y="1679544"/>
              <a:ext cx="28332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UDP Rx Task (10ms)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AC7491B-9516-4190-9C87-7EA64CA2263B}"/>
                </a:ext>
              </a:extLst>
            </p:cNvPr>
            <p:cNvSpPr/>
            <p:nvPr/>
          </p:nvSpPr>
          <p:spPr bwMode="auto">
            <a:xfrm>
              <a:off x="598514" y="329146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USART </a:t>
              </a:r>
              <a:r>
                <a:rPr lang="en-US" altLang="ko-KR" sz="800" dirty="0" err="1"/>
                <a:t>Tx</a:t>
              </a:r>
              <a:r>
                <a:rPr lang="en-US" altLang="ko-KR" sz="800" dirty="0"/>
                <a:t> Task(10ms)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F21E89ED-1E1B-411E-B39A-35DC14A993D7}"/>
                </a:ext>
              </a:extLst>
            </p:cNvPr>
            <p:cNvCxnSpPr>
              <a:stCxn id="10" idx="2"/>
              <a:endCxn id="8" idx="0"/>
            </p:cNvCxnSpPr>
            <p:nvPr/>
          </p:nvCxnSpPr>
          <p:spPr bwMode="auto">
            <a:xfrm>
              <a:off x="2015158" y="2136744"/>
              <a:ext cx="5113028" cy="348759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ysDot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B3AACAAB-9E8C-4ECC-8475-CF6643E4DFB3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 bwMode="auto">
            <a:xfrm flipH="1">
              <a:off x="1824643" y="2942704"/>
              <a:ext cx="70659" cy="348760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44C672-16C7-4FB1-A356-5450768F047A}"/>
                </a:ext>
              </a:extLst>
            </p:cNvPr>
            <p:cNvSpPr/>
            <p:nvPr/>
          </p:nvSpPr>
          <p:spPr bwMode="auto">
            <a:xfrm>
              <a:off x="3431801" y="3291464"/>
              <a:ext cx="2611552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Space Packet </a:t>
              </a: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SEND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A49FF039-9A86-4408-8F27-1138758BB3E7}"/>
                </a:ext>
              </a:extLst>
            </p:cNvPr>
            <p:cNvCxnSpPr>
              <a:stCxn id="11" idx="3"/>
              <a:endCxn id="14" idx="1"/>
            </p:cNvCxnSpPr>
            <p:nvPr/>
          </p:nvCxnSpPr>
          <p:spPr bwMode="auto">
            <a:xfrm>
              <a:off x="3050771" y="3520064"/>
              <a:ext cx="381030" cy="0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2176A1F-22AC-4ECA-B102-26EA16CE159E}"/>
                </a:ext>
              </a:extLst>
            </p:cNvPr>
            <p:cNvSpPr/>
            <p:nvPr/>
          </p:nvSpPr>
          <p:spPr bwMode="auto">
            <a:xfrm>
              <a:off x="1219200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MQ1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A851083-A5E6-4444-9646-41F1AAF3A209}"/>
                </a:ext>
              </a:extLst>
            </p:cNvPr>
            <p:cNvSpPr/>
            <p:nvPr/>
          </p:nvSpPr>
          <p:spPr bwMode="auto">
            <a:xfrm>
              <a:off x="2515986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MQ2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5BA2E7B-888E-4BBE-832E-E868B0C9BBB8}"/>
                </a:ext>
              </a:extLst>
            </p:cNvPr>
            <p:cNvSpPr/>
            <p:nvPr/>
          </p:nvSpPr>
          <p:spPr bwMode="auto">
            <a:xfrm>
              <a:off x="3843265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MQ3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9AF5C3B-40C9-4BDA-9536-1E869453C2A5}"/>
                </a:ext>
              </a:extLst>
            </p:cNvPr>
            <p:cNvSpPr/>
            <p:nvPr/>
          </p:nvSpPr>
          <p:spPr bwMode="auto">
            <a:xfrm>
              <a:off x="6452084" y="5108462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MQn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7FC7FC9-A446-4FC3-914C-53E601D9E74F}"/>
                </a:ext>
              </a:extLst>
            </p:cNvPr>
            <p:cNvSpPr/>
            <p:nvPr/>
          </p:nvSpPr>
          <p:spPr bwMode="auto">
            <a:xfrm>
              <a:off x="5170544" y="5108462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…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B13C065-C62D-475E-82B6-92B87DFF0ABA}"/>
                </a:ext>
              </a:extLst>
            </p:cNvPr>
            <p:cNvSpPr/>
            <p:nvPr/>
          </p:nvSpPr>
          <p:spPr bwMode="auto">
            <a:xfrm>
              <a:off x="598513" y="592937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UART Rx Task (100ms)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CE6D0EF-42E6-47E4-B261-DC9BF7AA31ED}"/>
                </a:ext>
              </a:extLst>
            </p:cNvPr>
            <p:cNvCxnSpPr>
              <a:stCxn id="21" idx="0"/>
              <a:endCxn id="19" idx="2"/>
            </p:cNvCxnSpPr>
            <p:nvPr/>
          </p:nvCxnSpPr>
          <p:spPr bwMode="auto">
            <a:xfrm flipV="1">
              <a:off x="1824642" y="5565662"/>
              <a:ext cx="5275835" cy="363712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ysDot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0DA1ED4-C9B4-4AD5-88B2-5DE0904FFF75}"/>
                </a:ext>
              </a:extLst>
            </p:cNvPr>
            <p:cNvSpPr/>
            <p:nvPr/>
          </p:nvSpPr>
          <p:spPr bwMode="auto">
            <a:xfrm>
              <a:off x="598512" y="4304175"/>
              <a:ext cx="2833289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Telemetry Task (10ms)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8B03A744-B22F-4BA1-BCD1-2215A5216A5A}"/>
                </a:ext>
              </a:extLst>
            </p:cNvPr>
            <p:cNvCxnSpPr>
              <a:stCxn id="16" idx="0"/>
              <a:endCxn id="23" idx="2"/>
            </p:cNvCxnSpPr>
            <p:nvPr/>
          </p:nvCxnSpPr>
          <p:spPr bwMode="auto">
            <a:xfrm flipV="1">
              <a:off x="1867593" y="4761375"/>
              <a:ext cx="147564" cy="347088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FECF1CB-A0AC-4CE2-B33C-A394CB8BFFF5}"/>
                </a:ext>
              </a:extLst>
            </p:cNvPr>
            <p:cNvSpPr/>
            <p:nvPr/>
          </p:nvSpPr>
          <p:spPr bwMode="auto">
            <a:xfrm>
              <a:off x="3329245" y="592937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UART Rx Buffer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C069565-8305-4057-9E11-9578EA5F222F}"/>
                </a:ext>
              </a:extLst>
            </p:cNvPr>
            <p:cNvSpPr/>
            <p:nvPr/>
          </p:nvSpPr>
          <p:spPr bwMode="auto">
            <a:xfrm>
              <a:off x="6032988" y="5923456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UART Rx IRQ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5842BA4A-B156-4A5D-BD3A-BF9476EAFA22}"/>
                </a:ext>
              </a:extLst>
            </p:cNvPr>
            <p:cNvCxnSpPr>
              <a:stCxn id="30" idx="1"/>
              <a:endCxn id="10" idx="3"/>
            </p:cNvCxnSpPr>
            <p:nvPr/>
          </p:nvCxnSpPr>
          <p:spPr bwMode="auto">
            <a:xfrm flipH="1" flipV="1">
              <a:off x="3431801" y="1908144"/>
              <a:ext cx="697572" cy="5322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B8D55D8-028C-47AA-8043-B571CA4E7B16}"/>
                </a:ext>
              </a:extLst>
            </p:cNvPr>
            <p:cNvCxnSpPr>
              <a:stCxn id="26" idx="1"/>
              <a:endCxn id="25" idx="3"/>
            </p:cNvCxnSpPr>
            <p:nvPr/>
          </p:nvCxnSpPr>
          <p:spPr bwMode="auto">
            <a:xfrm flipH="1">
              <a:off x="5781502" y="6152056"/>
              <a:ext cx="251486" cy="5918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111A6E1-696F-4F32-9B53-AEEE37A9A6AD}"/>
                </a:ext>
              </a:extLst>
            </p:cNvPr>
            <p:cNvSpPr/>
            <p:nvPr/>
          </p:nvSpPr>
          <p:spPr bwMode="auto">
            <a:xfrm>
              <a:off x="5490576" y="4520687"/>
              <a:ext cx="2452257" cy="4572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ION UDP Rx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E77238A-BBCD-46B2-8263-ECC20A62B3B6}"/>
                </a:ext>
              </a:extLst>
            </p:cNvPr>
            <p:cNvSpPr/>
            <p:nvPr/>
          </p:nvSpPr>
          <p:spPr bwMode="auto">
            <a:xfrm>
              <a:off x="4129373" y="1684866"/>
              <a:ext cx="2452257" cy="4572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ION UDP </a:t>
              </a:r>
              <a:r>
                <a:rPr lang="en-US" altLang="ko-KR" sz="800" dirty="0" err="1"/>
                <a:t>Tx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9E77BC89-A86B-4CB7-8790-7EBF9A37F311}"/>
                </a:ext>
              </a:extLst>
            </p:cNvPr>
            <p:cNvCxnSpPr>
              <a:endCxn id="29" idx="1"/>
            </p:cNvCxnSpPr>
            <p:nvPr/>
          </p:nvCxnSpPr>
          <p:spPr bwMode="auto">
            <a:xfrm>
              <a:off x="3476989" y="4631750"/>
              <a:ext cx="2013587" cy="117537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1102FAB-DDFB-47FA-BB99-C9F293810C43}"/>
                </a:ext>
              </a:extLst>
            </p:cNvPr>
            <p:cNvSpPr/>
            <p:nvPr/>
          </p:nvSpPr>
          <p:spPr bwMode="auto">
            <a:xfrm>
              <a:off x="6906845" y="1679544"/>
              <a:ext cx="2064733" cy="457199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Heartbeat Task (2s)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B1E401B-BF28-4088-B825-2CF96ADDA0A7}"/>
                </a:ext>
              </a:extLst>
            </p:cNvPr>
            <p:cNvSpPr/>
            <p:nvPr/>
          </p:nvSpPr>
          <p:spPr bwMode="auto">
            <a:xfrm>
              <a:off x="6906845" y="3291465"/>
              <a:ext cx="2064733" cy="457199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 err="1"/>
                <a:t>sbc_main</a:t>
              </a:r>
              <a:r>
                <a:rPr lang="en-US" altLang="ko-KR" sz="800" dirty="0"/>
                <a:t> Task (1s)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C335C74-C2AB-4D72-8D73-B646232A3803}"/>
                </a:ext>
              </a:extLst>
            </p:cNvPr>
            <p:cNvSpPr/>
            <p:nvPr/>
          </p:nvSpPr>
          <p:spPr bwMode="auto">
            <a:xfrm>
              <a:off x="5490576" y="3945743"/>
              <a:ext cx="2452257" cy="4572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/>
                <a:t>UART </a:t>
              </a:r>
              <a:r>
                <a:rPr lang="en-US" altLang="ko-KR" sz="800" dirty="0" err="1"/>
                <a:t>Tx</a:t>
              </a:r>
              <a:endPara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044F488A-4B5F-4802-A69C-69D713CA29F9}"/>
                </a:ext>
              </a:extLst>
            </p:cNvPr>
            <p:cNvCxnSpPr/>
            <p:nvPr/>
          </p:nvCxnSpPr>
          <p:spPr bwMode="auto">
            <a:xfrm flipV="1">
              <a:off x="3476989" y="4174343"/>
              <a:ext cx="2013587" cy="270681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F0203F-690C-4728-A988-DDC039C291C2}"/>
                </a:ext>
              </a:extLst>
            </p:cNvPr>
            <p:cNvSpPr txBox="1"/>
            <p:nvPr/>
          </p:nvSpPr>
          <p:spPr>
            <a:xfrm>
              <a:off x="3877451" y="4639105"/>
              <a:ext cx="1307788" cy="60355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Script 2</a:t>
              </a:r>
              <a:endParaRPr lang="ko-KR" altLang="en-US" sz="9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DA8656E-4F28-472F-888F-EAE893A532C0}"/>
                </a:ext>
              </a:extLst>
            </p:cNvPr>
            <p:cNvSpPr txBox="1"/>
            <p:nvPr/>
          </p:nvSpPr>
          <p:spPr>
            <a:xfrm>
              <a:off x="3985516" y="4041353"/>
              <a:ext cx="1056632" cy="56332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SOH</a:t>
              </a:r>
              <a:endParaRPr lang="ko-KR" altLang="en-US" sz="800" dirty="0"/>
            </a:p>
          </p:txBody>
        </p:sp>
      </p:grpSp>
      <p:pic>
        <p:nvPicPr>
          <p:cNvPr id="39" name="내용 개체 틀 3">
            <a:extLst>
              <a:ext uri="{FF2B5EF4-FFF2-40B4-BE49-F238E27FC236}">
                <a16:creationId xmlns:a16="http://schemas.microsoft.com/office/drawing/2014/main" id="{620CFFE4-E6B0-4F80-9F64-CA8383C1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62211" y="2762686"/>
            <a:ext cx="3197307" cy="14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65B82F-814F-4E85-8BFD-7E46F94FDEEA}"/>
              </a:ext>
            </a:extLst>
          </p:cNvPr>
          <p:cNvSpPr txBox="1"/>
          <p:nvPr/>
        </p:nvSpPr>
        <p:spPr>
          <a:xfrm>
            <a:off x="5980613" y="4600310"/>
            <a:ext cx="220445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Task </a:t>
            </a:r>
            <a:r>
              <a:rPr lang="ko-KR" altLang="en-US" sz="1100" b="1" dirty="0"/>
              <a:t>운용구조</a:t>
            </a:r>
            <a:endParaRPr lang="en-US" altLang="ko-KR" sz="1100" b="1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모든 </a:t>
            </a:r>
            <a:r>
              <a:rPr lang="en-US" altLang="ko-KR" sz="1000" dirty="0"/>
              <a:t>Task</a:t>
            </a:r>
            <a:r>
              <a:rPr lang="ko-KR" altLang="en-US" sz="1000" dirty="0"/>
              <a:t>는</a:t>
            </a:r>
            <a:r>
              <a:rPr lang="en-US" altLang="ko-KR" sz="1000" dirty="0"/>
              <a:t> preemptive task</a:t>
            </a:r>
            <a:r>
              <a:rPr lang="ko-KR" altLang="en-US" sz="1000" dirty="0"/>
              <a:t>로 운용</a:t>
            </a:r>
            <a:r>
              <a:rPr lang="en-US" altLang="ko-KR" sz="1000" dirty="0"/>
              <a:t>)</a:t>
            </a:r>
            <a:endParaRPr lang="ko-KR" alt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88192A-7593-4177-A447-DF8EEF336BBB}"/>
              </a:ext>
            </a:extLst>
          </p:cNvPr>
          <p:cNvSpPr txBox="1"/>
          <p:nvPr/>
        </p:nvSpPr>
        <p:spPr>
          <a:xfrm>
            <a:off x="2354196" y="4754138"/>
            <a:ext cx="1361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Task </a:t>
            </a:r>
            <a:r>
              <a:rPr lang="ko-KR" altLang="en-US" sz="1100" b="1" dirty="0"/>
              <a:t>운용 </a:t>
            </a:r>
            <a:r>
              <a:rPr lang="en-US" altLang="ko-KR" sz="1100" b="1" dirty="0"/>
              <a:t>Diagram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0893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4</a:t>
            </a:r>
            <a:r>
              <a:rPr lang="ko-KR" altLang="en-US" dirty="0"/>
              <a:t>에 대한 검토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2" y="981075"/>
            <a:ext cx="8753475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ko-KR" altLang="en-US" dirty="0"/>
              <a:t>의 </a:t>
            </a:r>
            <a:r>
              <a:rPr lang="en-US" altLang="ko-KR" dirty="0"/>
              <a:t>CPU Processing </a:t>
            </a:r>
            <a:r>
              <a:rPr lang="ko-KR" altLang="en-US" dirty="0"/>
              <a:t>상향 방안 </a:t>
            </a:r>
            <a:r>
              <a:rPr lang="en-US" altLang="ko-KR" dirty="0"/>
              <a:t>(Cont’d)</a:t>
            </a:r>
            <a:endParaRPr lang="ko-KR" altLang="en-US" dirty="0"/>
          </a:p>
          <a:p>
            <a:pPr lvl="1"/>
            <a:r>
              <a:rPr lang="ko-KR" altLang="en-US" dirty="0"/>
              <a:t>개선검토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CPU Clock </a:t>
            </a:r>
            <a:r>
              <a:rPr lang="ko-KR" altLang="en-US" dirty="0"/>
              <a:t>상향 검토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사용하고 있는 </a:t>
            </a:r>
            <a:r>
              <a:rPr lang="en-US" altLang="ko-KR" dirty="0"/>
              <a:t>RTG4 FPGA</a:t>
            </a:r>
            <a:r>
              <a:rPr lang="ko-KR" altLang="en-US" dirty="0"/>
              <a:t>의 </a:t>
            </a:r>
            <a:r>
              <a:rPr lang="en-US" altLang="ko-KR" dirty="0"/>
              <a:t>System </a:t>
            </a:r>
            <a:r>
              <a:rPr lang="ko-KR" altLang="en-US" dirty="0"/>
              <a:t>성능상 </a:t>
            </a:r>
            <a:r>
              <a:rPr lang="en-US" altLang="ko-KR" dirty="0"/>
              <a:t>Leon3 Processor</a:t>
            </a:r>
            <a:r>
              <a:rPr lang="ko-KR" altLang="en-US" dirty="0"/>
              <a:t>는 최대 </a:t>
            </a:r>
            <a:r>
              <a:rPr lang="en-US" altLang="ko-KR" dirty="0"/>
              <a:t>40 MHz</a:t>
            </a:r>
            <a:r>
              <a:rPr lang="ko-KR" altLang="en-US" dirty="0"/>
              <a:t>까지 구동 가능하며 현재 </a:t>
            </a:r>
            <a:r>
              <a:rPr lang="en-US" altLang="ko-KR" dirty="0"/>
              <a:t>40 MHz</a:t>
            </a:r>
            <a:r>
              <a:rPr lang="ko-KR" altLang="en-US" dirty="0"/>
              <a:t>로 구동 중임</a:t>
            </a:r>
            <a:endParaRPr lang="en-US" altLang="ko-KR" dirty="0"/>
          </a:p>
          <a:p>
            <a:pPr lvl="2"/>
            <a:r>
              <a:rPr lang="en-US" altLang="ko-KR" dirty="0"/>
              <a:t>Dual Core Processor </a:t>
            </a:r>
            <a:r>
              <a:rPr lang="ko-KR" altLang="en-US" dirty="0"/>
              <a:t>적용 검토 </a:t>
            </a:r>
            <a:endParaRPr lang="en-US" altLang="ko-KR" dirty="0"/>
          </a:p>
          <a:p>
            <a:pPr lvl="3"/>
            <a:r>
              <a:rPr lang="en-US" altLang="ko-KR" dirty="0"/>
              <a:t>Dual Core</a:t>
            </a:r>
            <a:r>
              <a:rPr lang="ko-KR" altLang="en-US" dirty="0"/>
              <a:t> </a:t>
            </a:r>
            <a:r>
              <a:rPr lang="en-US" altLang="ko-KR" dirty="0"/>
              <a:t>Processor</a:t>
            </a:r>
            <a:r>
              <a:rPr lang="ko-KR" altLang="en-US" dirty="0"/>
              <a:t>를 적용하여 </a:t>
            </a:r>
            <a:r>
              <a:rPr lang="en-US" altLang="ko-KR" dirty="0"/>
              <a:t>ION S/W </a:t>
            </a:r>
            <a:r>
              <a:rPr lang="ko-KR" altLang="en-US" dirty="0"/>
              <a:t>및 </a:t>
            </a:r>
            <a:r>
              <a:rPr lang="en-US" altLang="ko-KR" dirty="0"/>
              <a:t>SBC F/W </a:t>
            </a:r>
            <a:r>
              <a:rPr lang="ko-KR" altLang="en-US" dirty="0"/>
              <a:t>각각 </a:t>
            </a:r>
            <a:r>
              <a:rPr lang="en-US" altLang="ko-KR" dirty="0"/>
              <a:t>CPU</a:t>
            </a:r>
            <a:r>
              <a:rPr lang="ko-KR" altLang="en-US" dirty="0"/>
              <a:t>를 할당하여 사용하는 방안</a:t>
            </a:r>
          </a:p>
          <a:p>
            <a:pPr lvl="1"/>
            <a:r>
              <a:rPr lang="ko-KR" altLang="en-US" dirty="0"/>
              <a:t>검토결과</a:t>
            </a:r>
            <a:endParaRPr lang="en-US" altLang="ko-KR" dirty="0"/>
          </a:p>
          <a:p>
            <a:pPr lvl="2"/>
            <a:r>
              <a:rPr lang="en-US" altLang="ko-KR" dirty="0"/>
              <a:t>H/W </a:t>
            </a:r>
            <a:r>
              <a:rPr lang="ko-KR" altLang="en-US" dirty="0"/>
              <a:t>제약조건으로 인해 </a:t>
            </a:r>
            <a:r>
              <a:rPr lang="en-US" altLang="ko-KR" dirty="0"/>
              <a:t>CPU Clock</a:t>
            </a:r>
            <a:r>
              <a:rPr lang="ko-KR" altLang="en-US" dirty="0"/>
              <a:t>을 올리는 것은 불가능</a:t>
            </a:r>
            <a:endParaRPr lang="en-US" altLang="ko-KR" dirty="0"/>
          </a:p>
          <a:p>
            <a:pPr lvl="2"/>
            <a:r>
              <a:rPr lang="en-US" altLang="ko-KR" dirty="0"/>
              <a:t>Dual Core Processor</a:t>
            </a:r>
            <a:r>
              <a:rPr lang="ko-KR" altLang="en-US" dirty="0"/>
              <a:t>를 적용한다고 해도 획기적인 개선은 되지 않음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486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검토의견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2" y="981075"/>
            <a:ext cx="8753475" cy="5427282"/>
          </a:xfrm>
        </p:spPr>
        <p:txBody>
          <a:bodyPr/>
          <a:lstStyle/>
          <a:p>
            <a:r>
              <a:rPr lang="en-US" altLang="ko-KR" dirty="0"/>
              <a:t>DTNPL</a:t>
            </a:r>
            <a:r>
              <a:rPr lang="ko-KR" altLang="en-US" dirty="0"/>
              <a:t>의 데이터 전송 </a:t>
            </a:r>
            <a:r>
              <a:rPr lang="en-US" altLang="ko-KR" dirty="0"/>
              <a:t>Budget </a:t>
            </a:r>
            <a:r>
              <a:rPr lang="ko-KR" altLang="en-US" dirty="0"/>
              <a:t>향상 관련하여 방안 </a:t>
            </a:r>
            <a:r>
              <a:rPr lang="en-US" altLang="ko-KR" dirty="0"/>
              <a:t>1</a:t>
            </a:r>
            <a:r>
              <a:rPr lang="ko-KR" altLang="en-US" dirty="0"/>
              <a:t>을 제안함 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B892571-17EF-4021-B4E3-4AC850B82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30863"/>
              </p:ext>
            </p:extLst>
          </p:nvPr>
        </p:nvGraphicFramePr>
        <p:xfrm>
          <a:off x="244475" y="1760592"/>
          <a:ext cx="8655049" cy="183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210">
                  <a:extLst>
                    <a:ext uri="{9D8B030D-6E8A-4147-A177-3AD203B41FA5}">
                      <a16:colId xmlns:a16="http://schemas.microsoft.com/office/drawing/2014/main" val="4158506609"/>
                    </a:ext>
                  </a:extLst>
                </a:gridCol>
                <a:gridCol w="1480940">
                  <a:extLst>
                    <a:ext uri="{9D8B030D-6E8A-4147-A177-3AD203B41FA5}">
                      <a16:colId xmlns:a16="http://schemas.microsoft.com/office/drawing/2014/main" val="2237319355"/>
                    </a:ext>
                  </a:extLst>
                </a:gridCol>
                <a:gridCol w="3252787">
                  <a:extLst>
                    <a:ext uri="{9D8B030D-6E8A-4147-A177-3AD203B41FA5}">
                      <a16:colId xmlns:a16="http://schemas.microsoft.com/office/drawing/2014/main" val="827798606"/>
                    </a:ext>
                  </a:extLst>
                </a:gridCol>
                <a:gridCol w="649862">
                  <a:extLst>
                    <a:ext uri="{9D8B030D-6E8A-4147-A177-3AD203B41FA5}">
                      <a16:colId xmlns:a16="http://schemas.microsoft.com/office/drawing/2014/main" val="3580963193"/>
                    </a:ext>
                  </a:extLst>
                </a:gridCol>
                <a:gridCol w="647126">
                  <a:extLst>
                    <a:ext uri="{9D8B030D-6E8A-4147-A177-3AD203B41FA5}">
                      <a16:colId xmlns:a16="http://schemas.microsoft.com/office/drawing/2014/main" val="3186951225"/>
                    </a:ext>
                  </a:extLst>
                </a:gridCol>
                <a:gridCol w="2270124">
                  <a:extLst>
                    <a:ext uri="{9D8B030D-6E8A-4147-A177-3AD203B41FA5}">
                      <a16:colId xmlns:a16="http://schemas.microsoft.com/office/drawing/2014/main" val="3280224082"/>
                    </a:ext>
                  </a:extLst>
                </a:gridCol>
              </a:tblGrid>
              <a:tr h="201389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영향성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173780"/>
                  </a:ext>
                </a:extLst>
              </a:tr>
              <a:tr h="321805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  <a:endParaRPr lang="en-US" altLang="ko-KR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난이도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검토의견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46242"/>
                  </a:ext>
                </a:extLst>
              </a:tr>
              <a:tr h="9238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PDHU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전송 클럭을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증가시키는 방안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현구조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- 2 Mbps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전송클럭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Budget: 820 kbps)</a:t>
                      </a:r>
                    </a:p>
                    <a:p>
                      <a:pPr algn="l" latinLnBrk="1"/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개선검토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- 4 Mbps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전송클럭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Budget: 1.64 Mbps)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(DTNPL) S/W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속도 세팅 변경만으로 가능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(PDHU) USRT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속도를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높여서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동작가능함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확인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(EGSE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특성상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클럭 생성이 어려워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MHz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상향해서 시험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076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82788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42622</TotalTime>
  <Words>867</Words>
  <Application>Microsoft Office PowerPoint</Application>
  <PresentationFormat>화면 슬라이드 쇼(4:3)</PresentationFormat>
  <Paragraphs>199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DTNPLPDHU 데이터 전송 Budget 관련 USRT I/F의 속도변경 Material Review Board(MRB)   ’20.09.01 Lumir</vt:lpstr>
      <vt:lpstr>현상 및 분석</vt:lpstr>
      <vt:lpstr>개선 방안</vt:lpstr>
      <vt:lpstr>방안 1에 대한 검토</vt:lpstr>
      <vt:lpstr>방안 1에 대한 검토</vt:lpstr>
      <vt:lpstr>방안 2에 대한 검토</vt:lpstr>
      <vt:lpstr>방안 3에 대한 검토</vt:lpstr>
      <vt:lpstr>방안 4에 대한 검토</vt:lpstr>
      <vt:lpstr>방안 4에 대한 검토</vt:lpstr>
      <vt:lpstr>검토의견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1713</cp:revision>
  <cp:lastPrinted>2020-07-30T04:06:34Z</cp:lastPrinted>
  <dcterms:created xsi:type="dcterms:W3CDTF">1601-01-01T00:00:00Z</dcterms:created>
  <dcterms:modified xsi:type="dcterms:W3CDTF">2020-09-07T04:44:47Z</dcterms:modified>
</cp:coreProperties>
</file>