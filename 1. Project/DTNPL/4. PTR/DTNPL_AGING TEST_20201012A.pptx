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lsm" ContentType="application/vnd.ms-excel.sheet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423" r:id="rId2"/>
    <p:sldId id="817" r:id="rId3"/>
    <p:sldId id="818" r:id="rId4"/>
    <p:sldId id="816" r:id="rId5"/>
    <p:sldId id="815" r:id="rId6"/>
  </p:sldIdLst>
  <p:sldSz cx="9144000" cy="6858000" type="screen4x3"/>
  <p:notesSz cx="7104063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4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14004" initials="O" lastIdx="1" clrIdx="0">
    <p:extLst>
      <p:ext uri="{19B8F6BF-5375-455C-9EA6-DF929625EA0E}">
        <p15:presenceInfo xmlns:p15="http://schemas.microsoft.com/office/powerpoint/2012/main" userId="O14004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CC66"/>
    <a:srgbClr val="FFCCFF"/>
    <a:srgbClr val="6AA8C1"/>
    <a:srgbClr val="FFCCCC"/>
    <a:srgbClr val="F2F2F2"/>
    <a:srgbClr val="EFFFB3"/>
    <a:srgbClr val="F7FEB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41" autoAdjust="0"/>
    <p:restoredTop sz="96370" autoAdjust="0"/>
  </p:normalViewPr>
  <p:slideViewPr>
    <p:cSldViewPr snapToGrid="0">
      <p:cViewPr>
        <p:scale>
          <a:sx n="125" d="100"/>
          <a:sy n="125" d="100"/>
        </p:scale>
        <p:origin x="90" y="108"/>
      </p:cViewPr>
      <p:guideLst>
        <p:guide orient="horz" pos="2160"/>
        <p:guide pos="4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2610" y="66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861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861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D0299D-B60A-4896-8397-6469664CBF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5985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861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320" y="4861156"/>
            <a:ext cx="5209425" cy="4605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861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CEF302-C0C4-41F5-9E57-DF55FCB3FB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776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CEF302-C0C4-41F5-9E57-DF55FCB3FB84}" type="slidenum">
              <a:rPr lang="ko-KR" altLang="en-US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75593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615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2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Line 2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98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lIns="91440" tIns="45720" rIns="91440" bIns="45720"/>
          <a:lstStyle>
            <a:lvl1pPr>
              <a:defRPr sz="3000"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altLang="ko-KR" noProof="0" dirty="0"/>
              <a:t>Arial Black 30 font &amp; Bold</a:t>
            </a:r>
          </a:p>
        </p:txBody>
      </p:sp>
      <p:sp>
        <p:nvSpPr>
          <p:cNvPr id="15399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lIns="91440" tIns="45720" rIns="91440" bIns="45720"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altLang="ko-KR" noProof="0" dirty="0"/>
              <a:t>Arial 24 font &amp; Bold</a:t>
            </a:r>
          </a:p>
        </p:txBody>
      </p:sp>
      <p:graphicFrame>
        <p:nvGraphicFramePr>
          <p:cNvPr id="13" name="Group 4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10214106"/>
              </p:ext>
            </p:extLst>
          </p:nvPr>
        </p:nvGraphicFramePr>
        <p:xfrm>
          <a:off x="106128" y="354284"/>
          <a:ext cx="8926360" cy="937827"/>
        </p:xfrm>
        <a:graphic>
          <a:graphicData uri="http://schemas.openxmlformats.org/drawingml/2006/table">
            <a:tbl>
              <a:tblPr/>
              <a:tblGrid>
                <a:gridCol w="981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8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782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Rectangle 46"/>
          <p:cNvSpPr>
            <a:spLocks noChangeArrowheads="1"/>
          </p:cNvSpPr>
          <p:nvPr userDrawn="1"/>
        </p:nvSpPr>
        <p:spPr bwMode="auto">
          <a:xfrm>
            <a:off x="84343" y="87726"/>
            <a:ext cx="8948145" cy="27482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lIns="108032" tIns="54016" rIns="108032" bIns="54016" anchor="ctr"/>
          <a:lstStyle>
            <a:lvl1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1pPr>
            <a:lvl2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2pPr>
            <a:lvl3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3pPr>
            <a:lvl4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4pPr>
            <a:lvl5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>
              <a:defRPr/>
            </a:pPr>
            <a:r>
              <a:rPr lang="en-US" altLang="ko-KR" sz="1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Korea </a:t>
            </a:r>
            <a:r>
              <a:rPr lang="en-US" altLang="ko-KR" sz="1600" b="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Lunar Exploration Program - KPLO</a:t>
            </a:r>
            <a:endParaRPr lang="en-US" altLang="ko-KR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5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181" y="396346"/>
            <a:ext cx="862787" cy="864024"/>
          </a:xfrm>
          <a:prstGeom prst="rect">
            <a:avLst/>
          </a:prstGeom>
        </p:spPr>
      </p:pic>
      <p:pic>
        <p:nvPicPr>
          <p:cNvPr id="17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701" y="556035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6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15471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3363" y="981075"/>
            <a:ext cx="4256087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1850" y="981075"/>
            <a:ext cx="4257675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5895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431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188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97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48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4266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17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34175" y="131763"/>
            <a:ext cx="2165350" cy="60975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3363" y="131763"/>
            <a:ext cx="6348412" cy="60975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935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8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7" name="Line 8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9" name="Line 89"/>
          <p:cNvSpPr>
            <a:spLocks noChangeShapeType="1"/>
          </p:cNvSpPr>
          <p:nvPr userDrawn="1"/>
        </p:nvSpPr>
        <p:spPr bwMode="auto">
          <a:xfrm flipV="1">
            <a:off x="228600" y="876300"/>
            <a:ext cx="86868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32" name="Rectangle 93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131763"/>
            <a:ext cx="670560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24 font &amp; bold</a:t>
            </a:r>
          </a:p>
        </p:txBody>
      </p:sp>
      <p:sp>
        <p:nvSpPr>
          <p:cNvPr id="1033" name="Rectangle 9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363" y="981075"/>
            <a:ext cx="866616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18 font &amp; bold</a:t>
            </a:r>
          </a:p>
          <a:p>
            <a:pPr lvl="1"/>
            <a:r>
              <a:rPr lang="en-US" altLang="ko-KR" dirty="0"/>
              <a:t>Arial 16 font &amp; bold</a:t>
            </a:r>
            <a:endParaRPr lang="ko-KR" altLang="en-US"/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5" name="Text Box 86"/>
          <p:cNvSpPr txBox="1">
            <a:spLocks noChangeArrowheads="1"/>
          </p:cNvSpPr>
          <p:nvPr userDrawn="1"/>
        </p:nvSpPr>
        <p:spPr bwMode="auto">
          <a:xfrm>
            <a:off x="7524750" y="6510338"/>
            <a:ext cx="1485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BD253322-42C0-4748-AAA5-F0068379097A}" type="slidenum">
              <a:rPr lang="en-US" altLang="ko-KR" sz="1200" b="0" smtClean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200" b="0" dirty="0">
              <a:solidFill>
                <a:schemeClr val="tx1"/>
              </a:solidFill>
              <a:latin typeface="Arial" panose="020B0604020202020204" pitchFamily="34" charset="0"/>
              <a:ea typeface="바탕체" panose="02030609000101010101" pitchFamily="17" charset="-127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2239622" y="6514041"/>
            <a:ext cx="46536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Confidential,</a:t>
            </a:r>
            <a:r>
              <a:rPr lang="en-US" altLang="ko-KR" sz="1200" b="0" baseline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Distribution Limited</a:t>
            </a:r>
            <a:endParaRPr lang="ko-KR" altLang="en-US" sz="12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94487" y="-23213"/>
            <a:ext cx="862787" cy="864024"/>
          </a:xfrm>
          <a:prstGeom prst="rect">
            <a:avLst/>
          </a:prstGeom>
        </p:spPr>
      </p:pic>
      <p:pic>
        <p:nvPicPr>
          <p:cNvPr id="13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945" y="244061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 b="1" kern="1200" baseline="0">
          <a:solidFill>
            <a:schemeClr val="tx2"/>
          </a:solidFill>
          <a:latin typeface="Arial" panose="020B0604020202020204" pitchFamily="34" charset="0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9pPr>
    </p:titleStyle>
    <p:bodyStyle>
      <a:lvl1pPr marL="190500" indent="-1905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b="1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538163" indent="-1905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896938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2557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16144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cid:image002.png@01D67797.2F7D34B0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emf"/><Relationship Id="rId5" Type="http://schemas.openxmlformats.org/officeDocument/2006/relationships/package" Target="../embeddings/Microsoft_Excel_Macro-Enabled_Worksheet.xlsm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886075"/>
            <a:ext cx="7772400" cy="2460476"/>
          </a:xfrm>
        </p:spPr>
        <p:txBody>
          <a:bodyPr/>
          <a:lstStyle/>
          <a:p>
            <a:r>
              <a:rPr lang="en-US" altLang="ko-KR" sz="3600" dirty="0"/>
              <a:t>DTNPL</a:t>
            </a:r>
            <a:r>
              <a:rPr lang="ko-KR" altLang="en-US" sz="3600" dirty="0"/>
              <a:t> </a:t>
            </a:r>
            <a:r>
              <a:rPr lang="en-US" altLang="ko-KR" sz="3600" dirty="0"/>
              <a:t>Aging Test Result</a:t>
            </a:r>
            <a:br>
              <a:rPr lang="en-US" altLang="ko-KR" sz="3600" dirty="0"/>
            </a:br>
            <a:br>
              <a:rPr lang="en-US" altLang="ko-KR" sz="3600" dirty="0"/>
            </a:br>
            <a:br>
              <a:rPr lang="en-US" altLang="ko-KR" sz="3600" dirty="0"/>
            </a:br>
            <a:br>
              <a:rPr lang="en-US" altLang="ko-KR" sz="3600" dirty="0"/>
            </a:br>
            <a:r>
              <a:rPr lang="en-US" altLang="ko-KR" sz="2400" b="0" dirty="0"/>
              <a:t>’20.10.12</a:t>
            </a:r>
            <a:br>
              <a:rPr lang="en-US" altLang="ko-KR" sz="2400" b="0" dirty="0"/>
            </a:br>
            <a:r>
              <a:rPr lang="en-US" altLang="ko-KR" sz="2400" b="0" dirty="0" err="1"/>
              <a:t>Lumir</a:t>
            </a:r>
            <a:endParaRPr lang="ko-KR" altLang="en-US" sz="2400" b="0" dirty="0"/>
          </a:p>
        </p:txBody>
      </p:sp>
      <p:sp>
        <p:nvSpPr>
          <p:cNvPr id="4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DTNPL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07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시험 목적 및 시험 구성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33363" y="981076"/>
            <a:ext cx="8694737" cy="5419724"/>
          </a:xfrm>
        </p:spPr>
        <p:txBody>
          <a:bodyPr/>
          <a:lstStyle/>
          <a:p>
            <a:r>
              <a:rPr lang="ko-KR" altLang="en-US" dirty="0"/>
              <a:t>시험 목적</a:t>
            </a:r>
            <a:endParaRPr lang="en-US" altLang="ko-KR" dirty="0"/>
          </a:p>
          <a:p>
            <a:pPr lvl="1"/>
            <a:r>
              <a:rPr lang="ko-KR" altLang="en-US" dirty="0"/>
              <a:t>전원을 끄지 않고 장시간 누적 시험을 통한 </a:t>
            </a:r>
            <a:r>
              <a:rPr lang="en-US" altLang="ko-KR" dirty="0"/>
              <a:t>S/W </a:t>
            </a:r>
            <a:r>
              <a:rPr lang="ko-KR" altLang="en-US" dirty="0"/>
              <a:t>동작의 무결성 확인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시험 구성</a:t>
            </a:r>
            <a:endParaRPr lang="en-US" altLang="ko-KR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8CCEB7E-2961-48BE-A735-440B94832B23}"/>
              </a:ext>
            </a:extLst>
          </p:cNvPr>
          <p:cNvGrpSpPr/>
          <p:nvPr/>
        </p:nvGrpSpPr>
        <p:grpSpPr>
          <a:xfrm>
            <a:off x="2225536" y="2553924"/>
            <a:ext cx="4692927" cy="2030776"/>
            <a:chOff x="2225536" y="2553924"/>
            <a:chExt cx="4692927" cy="203077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3AC99C2-E289-46D8-8762-1C359D790C7B}"/>
                </a:ext>
              </a:extLst>
            </p:cNvPr>
            <p:cNvPicPr/>
            <p:nvPr/>
          </p:nvPicPr>
          <p:blipFill rotWithShape="1">
            <a:blip r:embed="rId2" r:link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255" b="27027"/>
            <a:stretch>
              <a:fillRect/>
            </a:stretch>
          </p:blipFill>
          <p:spPr bwMode="auto">
            <a:xfrm>
              <a:off x="2225537" y="2553924"/>
              <a:ext cx="4692926" cy="2030776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4CA5FBC-E1F4-4E1B-BA71-48F92D888277}"/>
                </a:ext>
              </a:extLst>
            </p:cNvPr>
            <p:cNvSpPr/>
            <p:nvPr/>
          </p:nvSpPr>
          <p:spPr bwMode="auto">
            <a:xfrm>
              <a:off x="2225536" y="2804136"/>
              <a:ext cx="758963" cy="1183664"/>
            </a:xfrm>
            <a:prstGeom prst="rect">
              <a:avLst/>
            </a:prstGeom>
            <a:noFill/>
            <a:ln w="571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</p:grp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BB34551-082F-475D-AB81-A23850E170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186240"/>
              </p:ext>
            </p:extLst>
          </p:nvPr>
        </p:nvGraphicFramePr>
        <p:xfrm>
          <a:off x="1219200" y="4794923"/>
          <a:ext cx="6553199" cy="15779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8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3384"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식별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205"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S/W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ION_SW: Ver 2.0</a:t>
                      </a:r>
                    </a:p>
                    <a:p>
                      <a:pPr marL="0" marR="0" indent="0" algn="ctr" defTabSz="914296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SBC_FW: Ver 1.5</a:t>
                      </a:r>
                    </a:p>
                  </a:txBody>
                  <a:tcPr marL="35941" marR="35941" marT="71882" marB="7188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ETB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시험버전</a:t>
                      </a:r>
                    </a:p>
                  </a:txBody>
                  <a:tcPr marL="35941" marR="35941" marT="71882" marB="7188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605"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FPGA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296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Ver 1.0.0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5941" marR="35941" marT="71882" marB="7188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296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ETB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시험버전</a:t>
                      </a:r>
                    </a:p>
                  </a:txBody>
                  <a:tcPr marL="35941" marR="35941" marT="71882" marB="7188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605"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H/W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296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DTNPL QM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5941" marR="35941" marT="71882" marB="7188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296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5941" marR="35941" marT="71882" marB="7188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4157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시험 방법 및 판정 기준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33363" y="981076"/>
            <a:ext cx="8694737" cy="5419724"/>
          </a:xfrm>
        </p:spPr>
        <p:txBody>
          <a:bodyPr/>
          <a:lstStyle/>
          <a:p>
            <a:r>
              <a:rPr lang="ko-KR" altLang="en-US" dirty="0"/>
              <a:t>시험 방법</a:t>
            </a:r>
            <a:endParaRPr lang="en-US" altLang="ko-KR" dirty="0"/>
          </a:p>
          <a:p>
            <a:pPr lvl="1"/>
            <a:r>
              <a:rPr lang="ko-KR" altLang="en-US" dirty="0"/>
              <a:t>시험 시간 </a:t>
            </a:r>
            <a:r>
              <a:rPr lang="en-US" altLang="ko-KR" dirty="0"/>
              <a:t>: </a:t>
            </a:r>
            <a:r>
              <a:rPr lang="ko-KR" altLang="en-US" dirty="0"/>
              <a:t>전원 </a:t>
            </a:r>
            <a:r>
              <a:rPr lang="en-US" altLang="ko-KR" dirty="0"/>
              <a:t>On </a:t>
            </a:r>
            <a:r>
              <a:rPr lang="ko-KR" altLang="en-US" dirty="0"/>
              <a:t>상태로 반복시험 </a:t>
            </a:r>
            <a:r>
              <a:rPr lang="en-US" altLang="ko-KR" dirty="0">
                <a:solidFill>
                  <a:srgbClr val="0000FF"/>
                </a:solidFill>
              </a:rPr>
              <a:t>3 days </a:t>
            </a:r>
            <a:r>
              <a:rPr lang="ko-KR" altLang="en-US" dirty="0"/>
              <a:t>이상</a:t>
            </a:r>
            <a:endParaRPr lang="en-US" altLang="ko-KR" dirty="0"/>
          </a:p>
          <a:p>
            <a:pPr lvl="1"/>
            <a:r>
              <a:rPr lang="ko-KR" altLang="en-US" dirty="0"/>
              <a:t>시험 수행 </a:t>
            </a:r>
            <a:r>
              <a:rPr lang="en-US" altLang="ko-KR" dirty="0"/>
              <a:t>: </a:t>
            </a:r>
            <a:r>
              <a:rPr lang="ko-KR" altLang="en-US" dirty="0"/>
              <a:t>동작을 확인할 수 있는 </a:t>
            </a:r>
            <a:r>
              <a:rPr lang="en-US" altLang="ko-KR" dirty="0">
                <a:solidFill>
                  <a:srgbClr val="0000FF"/>
                </a:solidFill>
              </a:rPr>
              <a:t>TC Set</a:t>
            </a:r>
            <a:r>
              <a:rPr lang="ko-KR" altLang="en-US" dirty="0"/>
              <a:t>을 반복 수행</a:t>
            </a:r>
            <a:endParaRPr lang="en-US" altLang="ko-KR" dirty="0"/>
          </a:p>
          <a:p>
            <a:pPr lvl="1"/>
            <a:r>
              <a:rPr lang="ko-KR" altLang="en-US" dirty="0"/>
              <a:t>시험 로그 </a:t>
            </a:r>
            <a:r>
              <a:rPr lang="en-US" altLang="ko-KR" dirty="0"/>
              <a:t>: EGSE</a:t>
            </a:r>
            <a:r>
              <a:rPr lang="ko-KR" altLang="en-US" dirty="0"/>
              <a:t>를 이용한 자동 로그</a:t>
            </a:r>
            <a:r>
              <a:rPr lang="en-US" altLang="ko-KR" dirty="0"/>
              <a:t>(TC </a:t>
            </a:r>
            <a:r>
              <a:rPr lang="ko-KR" altLang="en-US" dirty="0"/>
              <a:t>및 </a:t>
            </a:r>
            <a:r>
              <a:rPr lang="en-US" altLang="ko-KR" dirty="0"/>
              <a:t>TM)</a:t>
            </a:r>
          </a:p>
          <a:p>
            <a:endParaRPr lang="en-US" altLang="ko-KR" dirty="0"/>
          </a:p>
          <a:p>
            <a:r>
              <a:rPr lang="ko-KR" altLang="en-US" dirty="0"/>
              <a:t>판정 기준</a:t>
            </a:r>
            <a:endParaRPr lang="en-US" altLang="ko-KR" dirty="0"/>
          </a:p>
          <a:p>
            <a:pPr lvl="1"/>
            <a:r>
              <a:rPr lang="ko-KR" altLang="en-US" dirty="0"/>
              <a:t>수행한 모든 </a:t>
            </a:r>
            <a:r>
              <a:rPr lang="en-US" altLang="ko-KR" dirty="0"/>
              <a:t>TC</a:t>
            </a:r>
            <a:r>
              <a:rPr lang="ko-KR" altLang="en-US" dirty="0"/>
              <a:t>에 대해 정상 </a:t>
            </a:r>
            <a:r>
              <a:rPr lang="en-US" altLang="ko-KR" dirty="0"/>
              <a:t>TM </a:t>
            </a:r>
            <a:r>
              <a:rPr lang="ko-KR" altLang="en-US" dirty="0"/>
              <a:t>여부 확인 </a:t>
            </a:r>
            <a:endParaRPr lang="en-US" altLang="ko-KR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1516FC-A4D6-406D-82EF-A47BD5C7F338}"/>
              </a:ext>
            </a:extLst>
          </p:cNvPr>
          <p:cNvSpPr txBox="1"/>
          <p:nvPr/>
        </p:nvSpPr>
        <p:spPr>
          <a:xfrm>
            <a:off x="3341330" y="6852137"/>
            <a:ext cx="70724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30s 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대기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75D79456-19C0-4B6A-9B5C-7CC125C68A29}"/>
              </a:ext>
            </a:extLst>
          </p:cNvPr>
          <p:cNvGrpSpPr/>
          <p:nvPr/>
        </p:nvGrpSpPr>
        <p:grpSpPr>
          <a:xfrm>
            <a:off x="6743013" y="1439197"/>
            <a:ext cx="2090493" cy="5067238"/>
            <a:chOff x="6933362" y="1474528"/>
            <a:chExt cx="1697268" cy="4718844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AAB86CE3-6887-47DA-A159-533198DAE618}"/>
                </a:ext>
              </a:extLst>
            </p:cNvPr>
            <p:cNvGrpSpPr/>
            <p:nvPr/>
          </p:nvGrpSpPr>
          <p:grpSpPr>
            <a:xfrm>
              <a:off x="6933362" y="1474528"/>
              <a:ext cx="1697268" cy="4486276"/>
              <a:chOff x="2346597" y="1143543"/>
              <a:chExt cx="1777347" cy="5400133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18AA51DD-69DC-4B08-B253-9968D9125D68}"/>
                  </a:ext>
                </a:extLst>
              </p:cNvPr>
              <p:cNvSpPr/>
              <p:nvPr/>
            </p:nvSpPr>
            <p:spPr bwMode="auto">
              <a:xfrm>
                <a:off x="2544651" y="1239424"/>
                <a:ext cx="1350170" cy="25677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Time Set TC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전송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7F3F40C4-7962-4293-B1C2-DC673FA68101}"/>
                  </a:ext>
                </a:extLst>
              </p:cNvPr>
              <p:cNvSpPr/>
              <p:nvPr/>
            </p:nvSpPr>
            <p:spPr bwMode="auto">
              <a:xfrm>
                <a:off x="2544651" y="1647763"/>
                <a:ext cx="1350170" cy="28295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Time Set TC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에 대한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ACK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수신</a:t>
                </a: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79E002DD-99BF-482D-8B84-A87C5B33B34A}"/>
                  </a:ext>
                </a:extLst>
              </p:cNvPr>
              <p:cNvSpPr/>
              <p:nvPr/>
            </p:nvSpPr>
            <p:spPr bwMode="auto">
              <a:xfrm>
                <a:off x="2544645" y="2085017"/>
                <a:ext cx="1350170" cy="25677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SOH Request TC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전송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78EEFE3F-3B66-4E91-9015-675F20C2F15D}"/>
                  </a:ext>
                </a:extLst>
              </p:cNvPr>
              <p:cNvSpPr/>
              <p:nvPr/>
            </p:nvSpPr>
            <p:spPr bwMode="auto">
              <a:xfrm>
                <a:off x="2544646" y="2483248"/>
                <a:ext cx="1350170" cy="30988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SOH Request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에 대한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ACK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수신</a:t>
                </a: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5807B279-A7D6-4A65-A565-965DA290F5C5}"/>
                  </a:ext>
                </a:extLst>
              </p:cNvPr>
              <p:cNvSpPr/>
              <p:nvPr/>
            </p:nvSpPr>
            <p:spPr bwMode="auto">
              <a:xfrm>
                <a:off x="2544645" y="2937612"/>
                <a:ext cx="1350168" cy="25677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Script1(</a:t>
                </a: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ION Start</a:t>
                </a: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) TC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전송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38546859-15A3-4C4C-ABA5-6DBF17B1F1A7}"/>
                  </a:ext>
                </a:extLst>
              </p:cNvPr>
              <p:cNvSpPr/>
              <p:nvPr/>
            </p:nvSpPr>
            <p:spPr bwMode="auto">
              <a:xfrm>
                <a:off x="2544645" y="3347068"/>
                <a:ext cx="1350166" cy="27315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Script1 TC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에 대한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ACK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수신</a:t>
                </a:r>
              </a:p>
            </p:txBody>
          </p:sp>
          <p:cxnSp>
            <p:nvCxnSpPr>
              <p:cNvPr id="22" name="직선 화살표 연결선 21">
                <a:extLst>
                  <a:ext uri="{FF2B5EF4-FFF2-40B4-BE49-F238E27FC236}">
                    <a16:creationId xmlns:a16="http://schemas.microsoft.com/office/drawing/2014/main" id="{04CED5E2-8D3C-4C4F-876A-8FB3B715F54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24928" y="1497345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2793418-23D8-4A8B-9B68-E1C91EA69F55}"/>
                  </a:ext>
                </a:extLst>
              </p:cNvPr>
              <p:cNvSpPr txBox="1"/>
              <p:nvPr/>
            </p:nvSpPr>
            <p:spPr>
              <a:xfrm>
                <a:off x="3231765" y="3601589"/>
                <a:ext cx="738935" cy="2778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b="1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30</a:t>
                </a:r>
                <a:r>
                  <a:rPr lang="ko-KR" altLang="en-US" sz="900" b="1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초</a:t>
                </a:r>
                <a:r>
                  <a:rPr lang="en-US" altLang="ko-KR" sz="900" b="1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900" b="1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대기</a:t>
                </a: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74FAC258-31C4-4B78-8699-101360705392}"/>
                  </a:ext>
                </a:extLst>
              </p:cNvPr>
              <p:cNvSpPr/>
              <p:nvPr/>
            </p:nvSpPr>
            <p:spPr bwMode="auto">
              <a:xfrm>
                <a:off x="2544653" y="3845710"/>
                <a:ext cx="1358900" cy="25677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Time Set TC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전송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7E6B829D-B9A1-458D-AC13-A8F6F9690EF9}"/>
                  </a:ext>
                </a:extLst>
              </p:cNvPr>
              <p:cNvSpPr/>
              <p:nvPr/>
            </p:nvSpPr>
            <p:spPr bwMode="auto">
              <a:xfrm>
                <a:off x="2544653" y="4248469"/>
                <a:ext cx="1358900" cy="2812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Time Set TC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에 대한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ACK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수신</a:t>
                </a: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B256D9E2-9243-40BE-BBE8-8BA74065620A}"/>
                  </a:ext>
                </a:extLst>
              </p:cNvPr>
              <p:cNvSpPr/>
              <p:nvPr/>
            </p:nvSpPr>
            <p:spPr bwMode="auto">
              <a:xfrm>
                <a:off x="2535911" y="4680155"/>
                <a:ext cx="1358900" cy="25677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SOH Request TC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전송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DA089BA9-FCFC-444A-8F62-9D3E4B83EC5C}"/>
                  </a:ext>
                </a:extLst>
              </p:cNvPr>
              <p:cNvSpPr/>
              <p:nvPr/>
            </p:nvSpPr>
            <p:spPr bwMode="auto">
              <a:xfrm>
                <a:off x="2535911" y="5091532"/>
                <a:ext cx="1376363" cy="29673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SOH Request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에 대한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ACK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수신</a:t>
                </a:r>
              </a:p>
            </p:txBody>
          </p:sp>
          <p:cxnSp>
            <p:nvCxnSpPr>
              <p:cNvPr id="30" name="직선 화살표 연결선 29">
                <a:extLst>
                  <a:ext uri="{FF2B5EF4-FFF2-40B4-BE49-F238E27FC236}">
                    <a16:creationId xmlns:a16="http://schemas.microsoft.com/office/drawing/2014/main" id="{D5FF604A-D680-47FB-8A2B-2C07B027029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2833" y="4102489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1B6CBE9C-7C3F-40BF-B9DA-3244299C8A13}"/>
                  </a:ext>
                </a:extLst>
              </p:cNvPr>
              <p:cNvSpPr/>
              <p:nvPr/>
            </p:nvSpPr>
            <p:spPr bwMode="auto">
              <a:xfrm>
                <a:off x="2535910" y="5531211"/>
                <a:ext cx="1350179" cy="25677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Script1(</a:t>
                </a:r>
                <a:r>
                  <a:rPr kumimoji="1" lang="en-US" altLang="ko-KR" sz="800" b="0" i="0" u="none" strike="noStrike" cap="none" normalizeH="0" baseline="0" dirty="0" err="1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killm</a:t>
                </a: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) TC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전송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  <p:cxnSp>
            <p:nvCxnSpPr>
              <p:cNvPr id="38" name="직선 화살표 연결선 37">
                <a:extLst>
                  <a:ext uri="{FF2B5EF4-FFF2-40B4-BE49-F238E27FC236}">
                    <a16:creationId xmlns:a16="http://schemas.microsoft.com/office/drawing/2014/main" id="{E03E2A3B-F18B-4C48-905D-4252C6CD447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2833" y="1931182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" name="직선 화살표 연결선 38">
                <a:extLst>
                  <a:ext uri="{FF2B5EF4-FFF2-40B4-BE49-F238E27FC236}">
                    <a16:creationId xmlns:a16="http://schemas.microsoft.com/office/drawing/2014/main" id="{D44402C3-97FB-4296-9C16-AD4F993290B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2833" y="2341796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" name="직선 화살표 연결선 39">
                <a:extLst>
                  <a:ext uri="{FF2B5EF4-FFF2-40B4-BE49-F238E27FC236}">
                    <a16:creationId xmlns:a16="http://schemas.microsoft.com/office/drawing/2014/main" id="{3382D8D5-24D3-4CBB-B104-713A49C8CB1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24101" y="2786777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" name="직선 화살표 연결선 40">
                <a:extLst>
                  <a:ext uri="{FF2B5EF4-FFF2-40B4-BE49-F238E27FC236}">
                    <a16:creationId xmlns:a16="http://schemas.microsoft.com/office/drawing/2014/main" id="{F70937FE-1B5F-4CD6-BFC0-D02A07D53FE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2833" y="3194391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3" name="직선 화살표 연결선 42">
                <a:extLst>
                  <a:ext uri="{FF2B5EF4-FFF2-40B4-BE49-F238E27FC236}">
                    <a16:creationId xmlns:a16="http://schemas.microsoft.com/office/drawing/2014/main" id="{7EC57B67-AA44-42AE-8B27-F36D2709AFB8}"/>
                  </a:ext>
                </a:extLst>
              </p:cNvPr>
              <p:cNvCxnSpPr>
                <a:cxnSpLocks/>
                <a:endCxn id="26" idx="0"/>
              </p:cNvCxnSpPr>
              <p:nvPr/>
            </p:nvCxnSpPr>
            <p:spPr bwMode="auto">
              <a:xfrm>
                <a:off x="3224103" y="3620225"/>
                <a:ext cx="0" cy="225485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5" name="직선 화살표 연결선 44">
                <a:extLst>
                  <a:ext uri="{FF2B5EF4-FFF2-40B4-BE49-F238E27FC236}">
                    <a16:creationId xmlns:a16="http://schemas.microsoft.com/office/drawing/2014/main" id="{6535482F-7455-4ED8-9D74-78E9068750B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5834" y="4529737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8" name="직선 화살표 연결선 47">
                <a:extLst>
                  <a:ext uri="{FF2B5EF4-FFF2-40B4-BE49-F238E27FC236}">
                    <a16:creationId xmlns:a16="http://schemas.microsoft.com/office/drawing/2014/main" id="{F744628C-6A6B-43B7-873B-5D1B15526E5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2833" y="4936934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9" name="직선 화살표 연결선 48">
                <a:extLst>
                  <a:ext uri="{FF2B5EF4-FFF2-40B4-BE49-F238E27FC236}">
                    <a16:creationId xmlns:a16="http://schemas.microsoft.com/office/drawing/2014/main" id="{EBF965BF-5BB2-4803-B6A9-9BF4C226919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2833" y="5388271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C7637DC5-1B20-4033-AA29-21AD7262D580}"/>
                  </a:ext>
                </a:extLst>
              </p:cNvPr>
              <p:cNvSpPr/>
              <p:nvPr/>
            </p:nvSpPr>
            <p:spPr bwMode="auto">
              <a:xfrm>
                <a:off x="2535909" y="5939816"/>
                <a:ext cx="1339685" cy="27315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Script1 TC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에 대한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ACK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수신</a:t>
                </a:r>
              </a:p>
            </p:txBody>
          </p:sp>
          <p:cxnSp>
            <p:nvCxnSpPr>
              <p:cNvPr id="52" name="직선 화살표 연결선 51">
                <a:extLst>
                  <a:ext uri="{FF2B5EF4-FFF2-40B4-BE49-F238E27FC236}">
                    <a16:creationId xmlns:a16="http://schemas.microsoft.com/office/drawing/2014/main" id="{9E154CC8-E565-4B1A-A64E-EE0696A4C5A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2833" y="5787990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3" name="직선 화살표 연결선 52">
                <a:extLst>
                  <a:ext uri="{FF2B5EF4-FFF2-40B4-BE49-F238E27FC236}">
                    <a16:creationId xmlns:a16="http://schemas.microsoft.com/office/drawing/2014/main" id="{667825C1-BC2D-4AC3-B672-A7C48715361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2833" y="6212973"/>
                <a:ext cx="0" cy="225485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D46EC33-3BB2-4010-8D66-A43F34430DE1}"/>
                  </a:ext>
                </a:extLst>
              </p:cNvPr>
              <p:cNvSpPr txBox="1"/>
              <p:nvPr/>
            </p:nvSpPr>
            <p:spPr>
              <a:xfrm>
                <a:off x="3229370" y="6224119"/>
                <a:ext cx="738935" cy="2778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b="1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30</a:t>
                </a:r>
                <a:r>
                  <a:rPr lang="ko-KR" altLang="en-US" sz="900" b="1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초</a:t>
                </a:r>
                <a:r>
                  <a:rPr lang="en-US" altLang="ko-KR" sz="900" b="1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900" b="1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대기</a:t>
                </a:r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030014F2-BF11-4DC1-B007-D2CD5DBBF2F8}"/>
                  </a:ext>
                </a:extLst>
              </p:cNvPr>
              <p:cNvSpPr/>
              <p:nvPr/>
            </p:nvSpPr>
            <p:spPr bwMode="auto">
              <a:xfrm>
                <a:off x="2346597" y="1143543"/>
                <a:ext cx="1777347" cy="5400133"/>
              </a:xfrm>
              <a:prstGeom prst="rect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42E6A40-F44B-48FF-9D85-C1D7C4639A9A}"/>
                </a:ext>
              </a:extLst>
            </p:cNvPr>
            <p:cNvSpPr txBox="1"/>
            <p:nvPr/>
          </p:nvSpPr>
          <p:spPr>
            <a:xfrm>
              <a:off x="7618214" y="5935418"/>
              <a:ext cx="520851" cy="2579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rgbClr val="0000FF"/>
                  </a:solidFill>
                </a:rPr>
                <a:t>TC Set</a:t>
              </a:r>
              <a:endParaRPr lang="ko-KR" altLang="en-US" sz="1200" b="1" dirty="0">
                <a:solidFill>
                  <a:srgbClr val="0000FF"/>
                </a:solidFill>
              </a:endParaRPr>
            </a:p>
          </p:txBody>
        </p:sp>
      </p:grp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31E7419-B1D1-4F7D-A74E-999178DA91D0}"/>
              </a:ext>
            </a:extLst>
          </p:cNvPr>
          <p:cNvSpPr/>
          <p:nvPr/>
        </p:nvSpPr>
        <p:spPr bwMode="auto">
          <a:xfrm>
            <a:off x="7630973" y="1031729"/>
            <a:ext cx="198965" cy="13886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ko-KR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D2964C0-6B0D-4A58-B45B-84368931ACCB}"/>
              </a:ext>
            </a:extLst>
          </p:cNvPr>
          <p:cNvSpPr/>
          <p:nvPr/>
        </p:nvSpPr>
        <p:spPr bwMode="auto">
          <a:xfrm>
            <a:off x="7625786" y="1215696"/>
            <a:ext cx="198965" cy="13886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14A4B08-249F-4A50-9D76-E34B83F4233A}"/>
              </a:ext>
            </a:extLst>
          </p:cNvPr>
          <p:cNvSpPr txBox="1"/>
          <p:nvPr/>
        </p:nvSpPr>
        <p:spPr>
          <a:xfrm>
            <a:off x="7788260" y="1004522"/>
            <a:ext cx="111761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latin typeface="+mn-lt"/>
                <a:ea typeface="맑은 고딕" panose="020B0503020000020004" pitchFamily="50" charset="-127"/>
              </a:rPr>
              <a:t>TC (EGSE </a:t>
            </a:r>
            <a:r>
              <a:rPr lang="en-US" altLang="ko-KR" sz="7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--&gt;</a:t>
            </a:r>
            <a:r>
              <a:rPr lang="en-US" altLang="ko-KR" sz="700" dirty="0">
                <a:latin typeface="+mn-lt"/>
                <a:ea typeface="맑은 고딕" panose="020B0503020000020004" pitchFamily="50" charset="-127"/>
              </a:rPr>
              <a:t> DTNPL)</a:t>
            </a:r>
            <a:endParaRPr lang="ko-KR" altLang="en-US" sz="700" dirty="0">
              <a:latin typeface="+mn-lt"/>
              <a:ea typeface="맑은 고딕" panose="020B0503020000020004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1515B4C-6D00-4919-867B-6EF5877129BA}"/>
              </a:ext>
            </a:extLst>
          </p:cNvPr>
          <p:cNvSpPr txBox="1"/>
          <p:nvPr/>
        </p:nvSpPr>
        <p:spPr>
          <a:xfrm>
            <a:off x="7788260" y="1184219"/>
            <a:ext cx="108074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latin typeface="+mn-lt"/>
                <a:ea typeface="맑은 고딕" panose="020B0503020000020004" pitchFamily="50" charset="-127"/>
              </a:rPr>
              <a:t>TM (DTNPL </a:t>
            </a:r>
            <a:r>
              <a:rPr lang="en-US" altLang="ko-KR" sz="7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anose="05000000000000000000" pitchFamily="2" charset="2"/>
              </a:rPr>
              <a:t></a:t>
            </a:r>
            <a:r>
              <a:rPr lang="en-US" altLang="ko-KR" sz="700" dirty="0">
                <a:latin typeface="+mn-lt"/>
                <a:ea typeface="맑은 고딕" panose="020B0503020000020004" pitchFamily="50" charset="-127"/>
              </a:rPr>
              <a:t> EGSE)</a:t>
            </a:r>
            <a:endParaRPr lang="ko-KR" altLang="en-US" sz="700" dirty="0">
              <a:latin typeface="+mn-lt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1598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시험 결과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33363" y="981075"/>
            <a:ext cx="7977187" cy="3490099"/>
          </a:xfrm>
        </p:spPr>
        <p:txBody>
          <a:bodyPr/>
          <a:lstStyle/>
          <a:p>
            <a:r>
              <a:rPr lang="ko-KR" altLang="en-US" dirty="0"/>
              <a:t>수행한 </a:t>
            </a:r>
            <a:r>
              <a:rPr lang="en-US" altLang="ko-KR" dirty="0"/>
              <a:t>TC </a:t>
            </a:r>
            <a:r>
              <a:rPr lang="ko-KR" altLang="en-US" dirty="0"/>
              <a:t>및 수신된</a:t>
            </a:r>
            <a:r>
              <a:rPr lang="en-US" altLang="ko-KR" dirty="0"/>
              <a:t> TM (EGSE S/W</a:t>
            </a:r>
            <a:r>
              <a:rPr lang="ko-KR" altLang="en-US" dirty="0"/>
              <a:t>의 </a:t>
            </a:r>
            <a:r>
              <a:rPr lang="en-US" altLang="ko-KR" dirty="0"/>
              <a:t>Log View </a:t>
            </a:r>
            <a:r>
              <a:rPr lang="ko-KR" altLang="en-US" dirty="0"/>
              <a:t>화면</a:t>
            </a:r>
            <a:r>
              <a:rPr lang="en-US" altLang="ko-KR" dirty="0"/>
              <a:t>)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Log Data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E6D89C5-90BD-4D20-B5A2-44A620C319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0" t="756"/>
          <a:stretch/>
        </p:blipFill>
        <p:spPr>
          <a:xfrm>
            <a:off x="244475" y="1351612"/>
            <a:ext cx="4327525" cy="38704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91113A4-1FB3-4D4F-B93B-AE85B18E2C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5" r="677"/>
          <a:stretch/>
        </p:blipFill>
        <p:spPr>
          <a:xfrm>
            <a:off x="4566444" y="1351612"/>
            <a:ext cx="4285023" cy="38704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C3A5FA2-F3DE-4057-874C-7371C38DCEAE}"/>
              </a:ext>
            </a:extLst>
          </p:cNvPr>
          <p:cNvSpPr/>
          <p:nvPr/>
        </p:nvSpPr>
        <p:spPr bwMode="auto">
          <a:xfrm>
            <a:off x="4667827" y="4902200"/>
            <a:ext cx="4006056" cy="101600"/>
          </a:xfrm>
          <a:prstGeom prst="roundRect">
            <a:avLst/>
          </a:prstGeom>
          <a:solidFill>
            <a:srgbClr val="FF0000">
              <a:alpha val="10000"/>
            </a:srgbClr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487168B-3FAE-48E0-8E92-0EF5ACAF0301}"/>
              </a:ext>
            </a:extLst>
          </p:cNvPr>
          <p:cNvSpPr/>
          <p:nvPr/>
        </p:nvSpPr>
        <p:spPr bwMode="auto">
          <a:xfrm>
            <a:off x="286977" y="2705100"/>
            <a:ext cx="4006056" cy="133350"/>
          </a:xfrm>
          <a:prstGeom prst="roundRect">
            <a:avLst/>
          </a:prstGeom>
          <a:solidFill>
            <a:srgbClr val="FF0000">
              <a:alpha val="10000"/>
            </a:srgbClr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7FE7A-F41D-42F7-B4EA-610240B7B543}"/>
              </a:ext>
            </a:extLst>
          </p:cNvPr>
          <p:cNvSpPr txBox="1"/>
          <p:nvPr/>
        </p:nvSpPr>
        <p:spPr>
          <a:xfrm>
            <a:off x="3892923" y="278640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시작시간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00F4FC-95A4-4FE3-9DAD-AEAA2D73B6F9}"/>
              </a:ext>
            </a:extLst>
          </p:cNvPr>
          <p:cNvSpPr txBox="1"/>
          <p:nvPr/>
        </p:nvSpPr>
        <p:spPr>
          <a:xfrm>
            <a:off x="8280185" y="4676001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종료시간</a:t>
            </a:r>
          </a:p>
        </p:txBody>
      </p:sp>
      <p:graphicFrame>
        <p:nvGraphicFramePr>
          <p:cNvPr id="31" name="개체 30">
            <a:extLst>
              <a:ext uri="{FF2B5EF4-FFF2-40B4-BE49-F238E27FC236}">
                <a16:creationId xmlns:a16="http://schemas.microsoft.com/office/drawing/2014/main" id="{7674FA3D-E2B2-4210-9F72-2B6F74092D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949944"/>
              </p:ext>
            </p:extLst>
          </p:nvPr>
        </p:nvGraphicFramePr>
        <p:xfrm>
          <a:off x="1981200" y="5653088"/>
          <a:ext cx="3810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Macro-Enabled Worksheet" showAsIcon="1" r:id="rId5" imgW="380740" imgH="781189" progId="Excel.SheetMacroEnabled.12">
                  <p:embed/>
                </p:oleObj>
              </mc:Choice>
              <mc:Fallback>
                <p:oleObj name="Macro-Enabled Worksheet" showAsIcon="1" r:id="rId5" imgW="380740" imgH="781189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81200" y="5653088"/>
                        <a:ext cx="381000" cy="781050"/>
                      </a:xfrm>
                      <a:prstGeom prst="rect">
                        <a:avLst/>
                      </a:prstGeom>
                      <a:ln w="12700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9BE70EE-86AD-40D4-BFA5-A8CD0863DCCE}"/>
              </a:ext>
            </a:extLst>
          </p:cNvPr>
          <p:cNvSpPr txBox="1"/>
          <p:nvPr/>
        </p:nvSpPr>
        <p:spPr>
          <a:xfrm>
            <a:off x="2944467" y="5735476"/>
            <a:ext cx="10182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/>
              <a:t>로그데이터 </a:t>
            </a:r>
            <a:endParaRPr lang="en-US" altLang="ko-KR" sz="11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아이콘 클릭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9A09A250-721C-4978-95F6-B1B553E5D575}"/>
              </a:ext>
            </a:extLst>
          </p:cNvPr>
          <p:cNvCxnSpPr/>
          <p:nvPr/>
        </p:nvCxnSpPr>
        <p:spPr bwMode="auto">
          <a:xfrm flipH="1">
            <a:off x="2546902" y="5835648"/>
            <a:ext cx="397565" cy="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52973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시험 결과</a:t>
            </a:r>
            <a:endParaRPr lang="en-US" altLang="ko-KR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3" y="981307"/>
            <a:ext cx="8691562" cy="5333768"/>
          </a:xfrm>
        </p:spPr>
        <p:txBody>
          <a:bodyPr/>
          <a:lstStyle/>
          <a:p>
            <a:r>
              <a:rPr lang="ko-KR" altLang="en-US" dirty="0"/>
              <a:t>정상 동작 확인함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전원 인가한 상태에서 </a:t>
            </a:r>
            <a:r>
              <a:rPr lang="en-US" altLang="ko-KR" dirty="0"/>
              <a:t>3.5</a:t>
            </a:r>
            <a:r>
              <a:rPr lang="ko-KR" altLang="en-US" dirty="0"/>
              <a:t>일 정도 </a:t>
            </a:r>
            <a:r>
              <a:rPr lang="en-US" altLang="ko-KR" dirty="0"/>
              <a:t>Aging </a:t>
            </a:r>
            <a:r>
              <a:rPr lang="ko-KR" altLang="en-US" dirty="0"/>
              <a:t>시험 수행</a:t>
            </a:r>
            <a:endParaRPr lang="en-US" altLang="ko-KR" dirty="0"/>
          </a:p>
          <a:p>
            <a:pPr lvl="1"/>
            <a:r>
              <a:rPr lang="ko-KR" altLang="en-US" dirty="0"/>
              <a:t>수행한 모든 </a:t>
            </a:r>
            <a:r>
              <a:rPr lang="en-US" altLang="ko-KR" dirty="0"/>
              <a:t>TC</a:t>
            </a:r>
            <a:r>
              <a:rPr lang="ko-KR" altLang="en-US" dirty="0"/>
              <a:t>에 대해 정상 </a:t>
            </a:r>
            <a:r>
              <a:rPr lang="en-US" altLang="ko-KR" dirty="0"/>
              <a:t>TM </a:t>
            </a:r>
            <a:r>
              <a:rPr lang="ko-KR" altLang="en-US" dirty="0"/>
              <a:t>임을 로그 분석을 통하여 확인함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graphicFrame>
        <p:nvGraphicFramePr>
          <p:cNvPr id="3" name="표 6">
            <a:extLst>
              <a:ext uri="{FF2B5EF4-FFF2-40B4-BE49-F238E27FC236}">
                <a16:creationId xmlns:a16="http://schemas.microsoft.com/office/drawing/2014/main" id="{AAC5DC73-856F-4E54-B4CA-122F388A6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645829"/>
              </p:ext>
            </p:extLst>
          </p:nvPr>
        </p:nvGraphicFramePr>
        <p:xfrm>
          <a:off x="453933" y="1394259"/>
          <a:ext cx="8236133" cy="19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9615">
                  <a:extLst>
                    <a:ext uri="{9D8B030D-6E8A-4147-A177-3AD203B41FA5}">
                      <a16:colId xmlns:a16="http://schemas.microsoft.com/office/drawing/2014/main" val="770221474"/>
                    </a:ext>
                  </a:extLst>
                </a:gridCol>
                <a:gridCol w="1575431">
                  <a:extLst>
                    <a:ext uri="{9D8B030D-6E8A-4147-A177-3AD203B41FA5}">
                      <a16:colId xmlns:a16="http://schemas.microsoft.com/office/drawing/2014/main" val="3422626205"/>
                    </a:ext>
                  </a:extLst>
                </a:gridCol>
                <a:gridCol w="1600847">
                  <a:extLst>
                    <a:ext uri="{9D8B030D-6E8A-4147-A177-3AD203B41FA5}">
                      <a16:colId xmlns:a16="http://schemas.microsoft.com/office/drawing/2014/main" val="3332159094"/>
                    </a:ext>
                  </a:extLst>
                </a:gridCol>
                <a:gridCol w="1534548">
                  <a:extLst>
                    <a:ext uri="{9D8B030D-6E8A-4147-A177-3AD203B41FA5}">
                      <a16:colId xmlns:a16="http://schemas.microsoft.com/office/drawing/2014/main" val="945293442"/>
                    </a:ext>
                  </a:extLst>
                </a:gridCol>
                <a:gridCol w="1102071">
                  <a:extLst>
                    <a:ext uri="{9D8B030D-6E8A-4147-A177-3AD203B41FA5}">
                      <a16:colId xmlns:a16="http://schemas.microsoft.com/office/drawing/2014/main" val="2791689451"/>
                    </a:ext>
                  </a:extLst>
                </a:gridCol>
                <a:gridCol w="763621">
                  <a:extLst>
                    <a:ext uri="{9D8B030D-6E8A-4147-A177-3AD203B41FA5}">
                      <a16:colId xmlns:a16="http://schemas.microsoft.com/office/drawing/2014/main" val="9865268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수행한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TC Set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algn="ctr" defTabSz="914296" rtl="0" eaLnBrk="1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횟수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TC 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명령어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수행한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TC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횟수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시험결과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algn="ctr" defTabSz="914296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성공률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합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불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192127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‘20.10.08 17:46</a:t>
                      </a:r>
                    </a:p>
                    <a:p>
                      <a:pPr marL="0" algn="ctr" defTabSz="914296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</a:t>
                      </a:r>
                    </a:p>
                    <a:p>
                      <a:pPr marL="0" algn="ctr" defTabSz="914296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’20.10.12 09:43</a:t>
                      </a:r>
                    </a:p>
                    <a:p>
                      <a:pPr marL="0" algn="ctr" defTabSz="914296" rtl="0" eaLnBrk="1" latinLnBrk="1" hangingPunct="1"/>
                      <a:endParaRPr lang="en-US" altLang="ko-KR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algn="ctr" defTabSz="914296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about 3.5 days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4,934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Time Setting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9,868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100%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5738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SOH Request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9,868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100%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61615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Script1 (</a:t>
                      </a:r>
                      <a:r>
                        <a:rPr lang="en-US" altLang="ko-KR" sz="1200" b="1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Ionstart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4,934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100%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922423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Script1 (</a:t>
                      </a:r>
                      <a:r>
                        <a:rPr lang="en-US" altLang="ko-KR" sz="1200" b="1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killm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4,934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100%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296" rtl="0" eaLnBrk="1" latinLnBrk="1" hangingPunct="1"/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5592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9825283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42718</TotalTime>
  <Words>325</Words>
  <Application>Microsoft Office PowerPoint</Application>
  <PresentationFormat>화면 슬라이드 쇼(4:3)</PresentationFormat>
  <Paragraphs>125</Paragraphs>
  <Slides>5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3" baseType="lpstr">
      <vt:lpstr>굴림</vt:lpstr>
      <vt:lpstr>맑은 고딕</vt:lpstr>
      <vt:lpstr>Arial</vt:lpstr>
      <vt:lpstr>Arial Black</vt:lpstr>
      <vt:lpstr>Times New Roman</vt:lpstr>
      <vt:lpstr>Wingdings</vt:lpstr>
      <vt:lpstr>기본 디자인</vt:lpstr>
      <vt:lpstr>Microsoft Excel 매크로 사용 워크시트</vt:lpstr>
      <vt:lpstr>DTNPL Aging Test Result    ’20.10.12 Lumir</vt:lpstr>
      <vt:lpstr>시험 목적 및 시험 구성</vt:lpstr>
      <vt:lpstr>시험 방법 및 판정 기준</vt:lpstr>
      <vt:lpstr>시험 결과</vt:lpstr>
      <vt:lpstr>시험 결과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한동인</dc:creator>
  <cp:lastModifiedBy>오 대수</cp:lastModifiedBy>
  <cp:revision>1718</cp:revision>
  <cp:lastPrinted>2020-07-30T04:06:34Z</cp:lastPrinted>
  <dcterms:created xsi:type="dcterms:W3CDTF">1601-01-01T00:00:00Z</dcterms:created>
  <dcterms:modified xsi:type="dcterms:W3CDTF">2020-10-14T10:33:03Z</dcterms:modified>
</cp:coreProperties>
</file>