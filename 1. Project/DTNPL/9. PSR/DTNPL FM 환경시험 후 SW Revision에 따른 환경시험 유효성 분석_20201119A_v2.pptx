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423" r:id="rId2"/>
    <p:sldId id="439" r:id="rId3"/>
    <p:sldId id="1471" r:id="rId4"/>
    <p:sldId id="1478" r:id="rId5"/>
    <p:sldId id="1472" r:id="rId6"/>
    <p:sldId id="1473" r:id="rId7"/>
    <p:sldId id="1474" r:id="rId8"/>
    <p:sldId id="1475" r:id="rId9"/>
    <p:sldId id="1476" r:id="rId10"/>
  </p:sldIdLst>
  <p:sldSz cx="9144000" cy="6858000" type="screen4x3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47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6EEF7"/>
    <a:srgbClr val="C7DCE8"/>
    <a:srgbClr val="CBDEE9"/>
    <a:srgbClr val="D3DFEE"/>
    <a:srgbClr val="CEE0EB"/>
    <a:srgbClr val="FF0000"/>
    <a:srgbClr val="F2F2F2"/>
    <a:srgbClr val="FFCCCC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87" autoAdjust="0"/>
    <p:restoredTop sz="89461" autoAdjust="0"/>
  </p:normalViewPr>
  <p:slideViewPr>
    <p:cSldViewPr snapToGrid="0">
      <p:cViewPr varScale="1">
        <p:scale>
          <a:sx n="97" d="100"/>
          <a:sy n="97" d="100"/>
        </p:scale>
        <p:origin x="672" y="90"/>
      </p:cViewPr>
      <p:guideLst>
        <p:guide orient="horz" pos="2183"/>
        <p:guide pos="476"/>
      </p:guideLst>
    </p:cSldViewPr>
  </p:slideViewPr>
  <p:outlineViewPr>
    <p:cViewPr>
      <p:scale>
        <a:sx n="33" d="100"/>
        <a:sy n="33" d="100"/>
      </p:scale>
      <p:origin x="0" y="-1386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2" d="100"/>
          <a:sy n="72" d="100"/>
        </p:scale>
        <p:origin x="1590" y="5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5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6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7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0D0299D-B60A-4896-8397-6469664CBFF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85985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4538"/>
            <a:ext cx="4960937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4876"/>
            <a:ext cx="4984750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9CEF302-C0C4-41F5-9E57-DF55FCB3FB8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587763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CEF302-C0C4-41F5-9E57-DF55FCB3FB84}" type="slidenum">
              <a:rPr lang="ko-KR" altLang="en-US" smtClean="0"/>
              <a:pPr>
                <a:defRPr/>
              </a:pPr>
              <a:t>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75593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3736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16593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31149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82094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1463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91888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56439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2302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22"/>
          <p:cNvSpPr>
            <a:spLocks noChangeShapeType="1"/>
          </p:cNvSpPr>
          <p:nvPr userDrawn="1"/>
        </p:nvSpPr>
        <p:spPr bwMode="auto">
          <a:xfrm>
            <a:off x="228600" y="6480175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" name="Line 24"/>
          <p:cNvSpPr>
            <a:spLocks noChangeShapeType="1"/>
          </p:cNvSpPr>
          <p:nvPr userDrawn="1"/>
        </p:nvSpPr>
        <p:spPr bwMode="auto">
          <a:xfrm>
            <a:off x="228600" y="6477000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398" name="Rectangle 38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lIns="91440" tIns="45720" rIns="91440" bIns="45720"/>
          <a:lstStyle>
            <a:lvl1pPr>
              <a:defRPr sz="3000"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altLang="ko-KR" noProof="0" dirty="0"/>
              <a:t>Arial Black 30 font &amp; Bold</a:t>
            </a:r>
          </a:p>
        </p:txBody>
      </p:sp>
      <p:sp>
        <p:nvSpPr>
          <p:cNvPr id="15399" name="Rectangle 3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lIns="91440" tIns="45720" rIns="91440" bIns="45720"/>
          <a:lstStyle>
            <a:lvl1pPr marL="0" indent="0" algn="ctr">
              <a:buFontTx/>
              <a:buNone/>
              <a:defRPr sz="2400"/>
            </a:lvl1pPr>
          </a:lstStyle>
          <a:p>
            <a:pPr lvl="0"/>
            <a:r>
              <a:rPr lang="en-US" altLang="ko-KR" noProof="0" dirty="0"/>
              <a:t>Arial 24 font &amp; Bold</a:t>
            </a:r>
          </a:p>
        </p:txBody>
      </p:sp>
      <p:graphicFrame>
        <p:nvGraphicFramePr>
          <p:cNvPr id="13" name="Group 4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310214106"/>
              </p:ext>
            </p:extLst>
          </p:nvPr>
        </p:nvGraphicFramePr>
        <p:xfrm>
          <a:off x="106128" y="354284"/>
          <a:ext cx="8926360" cy="937827"/>
        </p:xfrm>
        <a:graphic>
          <a:graphicData uri="http://schemas.openxmlformats.org/drawingml/2006/table">
            <a:tbl>
              <a:tblPr/>
              <a:tblGrid>
                <a:gridCol w="98149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3588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8605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93782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4" name="Rectangle 46"/>
          <p:cNvSpPr>
            <a:spLocks noChangeArrowheads="1"/>
          </p:cNvSpPr>
          <p:nvPr userDrawn="1"/>
        </p:nvSpPr>
        <p:spPr bwMode="auto">
          <a:xfrm>
            <a:off x="84343" y="87726"/>
            <a:ext cx="8948145" cy="27482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lIns="108032" tIns="54016" rIns="108032" bIns="54016" anchor="ctr"/>
          <a:lstStyle>
            <a:lvl1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1pPr>
            <a:lvl2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2pPr>
            <a:lvl3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3pPr>
            <a:lvl4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4pPr>
            <a:lvl5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9pPr>
          </a:lstStyle>
          <a:p>
            <a:pPr algn="l" eaLnBrk="1" latinLnBrk="1" hangingPunct="1">
              <a:defRPr/>
            </a:pPr>
            <a:r>
              <a:rPr lang="en-US" altLang="ko-KR" sz="16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Korea </a:t>
            </a:r>
            <a:r>
              <a:rPr lang="en-US" altLang="ko-KR" sz="1600" b="0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Lunar Exploration Program - KPLO</a:t>
            </a:r>
            <a:endParaRPr lang="en-US" altLang="ko-KR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15" name="텍스트 개체 틀 22"/>
          <p:cNvSpPr>
            <a:spLocks noGrp="1"/>
          </p:cNvSpPr>
          <p:nvPr>
            <p:ph type="body" sz="quarter" idx="11" hasCustomPrompt="1"/>
          </p:nvPr>
        </p:nvSpPr>
        <p:spPr>
          <a:xfrm>
            <a:off x="1081968" y="443989"/>
            <a:ext cx="6397102" cy="707344"/>
          </a:xfrm>
        </p:spPr>
        <p:txBody>
          <a:bodyPr anchor="ctr">
            <a:noAutofit/>
          </a:bodyPr>
          <a:lstStyle>
            <a:lvl1pPr marL="190500" marR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 lang="ko-KR" altLang="en-US" sz="4000" b="1" kern="1200" dirty="0">
                <a:solidFill>
                  <a:srgbClr val="C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190500" marR="0" lvl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ko-KR" sz="3300" dirty="0">
                <a:solidFill>
                  <a:schemeClr val="tx1"/>
                </a:solidFill>
              </a:rPr>
              <a:t>KPLO DTN</a:t>
            </a:r>
            <a:endParaRPr lang="ko-KR" altLang="en-US" sz="3300" dirty="0">
              <a:solidFill>
                <a:schemeClr val="tx1"/>
              </a:solidFill>
            </a:endParaRPr>
          </a:p>
        </p:txBody>
      </p: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9181" y="396346"/>
            <a:ext cx="862787" cy="864024"/>
          </a:xfrm>
          <a:prstGeom prst="rect">
            <a:avLst/>
          </a:prstGeom>
        </p:spPr>
      </p:pic>
      <p:pic>
        <p:nvPicPr>
          <p:cNvPr id="17" name="Picture 2" descr="F:\업무\ETRI활동\행정문서\CIS\새CI\signature_4.w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52701" y="556035"/>
            <a:ext cx="1262699" cy="45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그림 1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8600" y="6510338"/>
            <a:ext cx="947582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12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1600"/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503634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B5C1B240-8930-4347-9EDB-DB33EF9CA41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54712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33363" y="981075"/>
            <a:ext cx="4256087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1850" y="981075"/>
            <a:ext cx="4257675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58955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054CD70C-7F67-4367-9FDF-206008AB283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9" name="날짜 개체 틀 8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2343138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DCE243E3-F0B5-437D-ADC4-C0F1BFD6693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3918881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1E4831DA-CFB9-4C15-9A7C-5CCA7DDD4A0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1529777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48721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EF079343-1D4C-4350-8921-D61C8EBC773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3426601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1705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34175" y="131763"/>
            <a:ext cx="2165350" cy="609758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33363" y="131763"/>
            <a:ext cx="6348412" cy="609758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FE64E568-A02E-4C51-8193-5D7193BC921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날짜 개체 틀 5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3193557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82"/>
          <p:cNvSpPr>
            <a:spLocks noChangeShapeType="1"/>
          </p:cNvSpPr>
          <p:nvPr userDrawn="1"/>
        </p:nvSpPr>
        <p:spPr bwMode="auto">
          <a:xfrm>
            <a:off x="228600" y="6480175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27" name="Line 84"/>
          <p:cNvSpPr>
            <a:spLocks noChangeShapeType="1"/>
          </p:cNvSpPr>
          <p:nvPr userDrawn="1"/>
        </p:nvSpPr>
        <p:spPr bwMode="auto">
          <a:xfrm>
            <a:off x="228600" y="6477000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29" name="Line 89"/>
          <p:cNvSpPr>
            <a:spLocks noChangeShapeType="1"/>
          </p:cNvSpPr>
          <p:nvPr userDrawn="1"/>
        </p:nvSpPr>
        <p:spPr bwMode="auto">
          <a:xfrm flipV="1">
            <a:off x="228600" y="876300"/>
            <a:ext cx="8686800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32" name="Rectangle 93"/>
          <p:cNvSpPr>
            <a:spLocks noGrp="1" noChangeArrowheads="1"/>
          </p:cNvSpPr>
          <p:nvPr>
            <p:ph type="title"/>
          </p:nvPr>
        </p:nvSpPr>
        <p:spPr bwMode="auto">
          <a:xfrm>
            <a:off x="1219200" y="131763"/>
            <a:ext cx="6705600" cy="706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24 font &amp; bold</a:t>
            </a:r>
          </a:p>
        </p:txBody>
      </p:sp>
      <p:sp>
        <p:nvSpPr>
          <p:cNvPr id="1033" name="Rectangle 9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3363" y="981075"/>
            <a:ext cx="8666162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18 font &amp; bold</a:t>
            </a:r>
          </a:p>
          <a:p>
            <a:pPr lvl="1"/>
            <a:r>
              <a:rPr lang="en-US" altLang="ko-KR" dirty="0"/>
              <a:t>Arial 16 font &amp; bold</a:t>
            </a:r>
            <a:endParaRPr lang="ko-KR" altLang="en-US"/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5" name="Text Box 86"/>
          <p:cNvSpPr txBox="1">
            <a:spLocks noChangeArrowheads="1"/>
          </p:cNvSpPr>
          <p:nvPr userDrawn="1"/>
        </p:nvSpPr>
        <p:spPr bwMode="auto">
          <a:xfrm>
            <a:off x="7524750" y="6510338"/>
            <a:ext cx="14859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accent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fld id="{BD253322-42C0-4748-AAA5-F0068379097A}" type="slidenum">
              <a:rPr lang="en-US" altLang="ko-KR" sz="1200" b="0" smtClean="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rPr>
              <a:pPr algn="r"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ko-KR" sz="1200" b="0" dirty="0">
              <a:solidFill>
                <a:schemeClr val="tx1"/>
              </a:solidFill>
              <a:latin typeface="Arial" panose="020B0604020202020204" pitchFamily="34" charset="0"/>
              <a:ea typeface="바탕체" panose="02030609000101010101" pitchFamily="17" charset="-127"/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2239622" y="6514041"/>
            <a:ext cx="465364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tx1"/>
                </a:solidFill>
                <a:latin typeface="+mn-lt"/>
              </a:rPr>
              <a:t>Confidential,</a:t>
            </a:r>
            <a:r>
              <a:rPr lang="en-US" altLang="ko-KR" sz="1200" b="0" baseline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+mn-lt"/>
              </a:rPr>
              <a:t>Distribution Limited</a:t>
            </a:r>
            <a:endParaRPr lang="ko-KR" altLang="en-US" sz="1200" b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4487" y="-23213"/>
            <a:ext cx="862787" cy="864024"/>
          </a:xfrm>
          <a:prstGeom prst="rect">
            <a:avLst/>
          </a:prstGeom>
        </p:spPr>
      </p:pic>
      <p:pic>
        <p:nvPicPr>
          <p:cNvPr id="13" name="Picture 2" descr="F:\업무\ETRI활동\행정문서\CIS\새CI\signature_4.wmf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41945" y="244061"/>
            <a:ext cx="1262699" cy="45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8600" y="6510338"/>
            <a:ext cx="947582" cy="2762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5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2400" b="1" kern="1200" baseline="0">
          <a:solidFill>
            <a:schemeClr val="tx2"/>
          </a:solidFill>
          <a:latin typeface="Arial" panose="020B0604020202020204" pitchFamily="34" charset="0"/>
          <a:ea typeface="맑은 고딕" panose="020B0503020000020004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9pPr>
    </p:titleStyle>
    <p:bodyStyle>
      <a:lvl1pPr marL="190500" indent="-190500" algn="l" rtl="0" eaLnBrk="0" fontAlgn="base" latinLnBrk="1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b="1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1pPr>
      <a:lvl2pPr marL="538163" indent="-1905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0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2pPr>
      <a:lvl3pPr marL="896938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6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3pPr>
      <a:lvl4pPr marL="1255713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4pPr>
      <a:lvl5pPr marL="1614488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416175"/>
            <a:ext cx="7772400" cy="1470025"/>
          </a:xfrm>
        </p:spPr>
        <p:txBody>
          <a:bodyPr/>
          <a:lstStyle/>
          <a:p>
            <a:r>
              <a:rPr lang="en-US" altLang="ko-KR" sz="3600" dirty="0"/>
              <a:t>DTNPL</a:t>
            </a:r>
            <a:r>
              <a:rPr lang="ko-KR" altLang="en-US" sz="3600" dirty="0"/>
              <a:t> </a:t>
            </a:r>
            <a:r>
              <a:rPr lang="en-US" altLang="ko-KR" sz="3600" dirty="0"/>
              <a:t>FM</a:t>
            </a:r>
            <a:r>
              <a:rPr lang="ko-KR" altLang="en-US" sz="3600" dirty="0"/>
              <a:t> 환경시험 후</a:t>
            </a:r>
            <a:r>
              <a:rPr lang="en-US" altLang="ko-KR" sz="3600" dirty="0"/>
              <a:t/>
            </a:r>
            <a:br>
              <a:rPr lang="en-US" altLang="ko-KR" sz="3600" dirty="0"/>
            </a:br>
            <a:r>
              <a:rPr lang="en-US" altLang="ko-KR" sz="3600" dirty="0"/>
              <a:t>S/W Revision</a:t>
            </a:r>
            <a:r>
              <a:rPr lang="ko-KR" altLang="en-US" sz="3600" dirty="0"/>
              <a:t>에 따른</a:t>
            </a:r>
            <a:r>
              <a:rPr lang="en-US" altLang="ko-KR" sz="3600" dirty="0"/>
              <a:t/>
            </a:r>
            <a:br>
              <a:rPr lang="en-US" altLang="ko-KR" sz="3600" dirty="0"/>
            </a:br>
            <a:r>
              <a:rPr lang="ko-KR" altLang="en-US" sz="3600" dirty="0"/>
              <a:t>수행된 환경시험의 유효성 분석</a:t>
            </a:r>
          </a:p>
        </p:txBody>
      </p:sp>
      <p:sp>
        <p:nvSpPr>
          <p:cNvPr id="4" name="텍스트 개체 틀 22"/>
          <p:cNvSpPr>
            <a:spLocks noGrp="1"/>
          </p:cNvSpPr>
          <p:nvPr>
            <p:ph type="body" sz="quarter" idx="11" hasCustomPrompt="1"/>
          </p:nvPr>
        </p:nvSpPr>
        <p:spPr>
          <a:xfrm>
            <a:off x="1081968" y="443989"/>
            <a:ext cx="6397102" cy="707344"/>
          </a:xfrm>
        </p:spPr>
        <p:txBody>
          <a:bodyPr anchor="ctr">
            <a:noAutofit/>
          </a:bodyPr>
          <a:lstStyle>
            <a:lvl1pPr marL="190500" marR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 lang="ko-KR" altLang="en-US" sz="4000" b="1" kern="1200" dirty="0">
                <a:solidFill>
                  <a:srgbClr val="C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190500" marR="0" lvl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ko-KR" sz="3300" dirty="0">
                <a:solidFill>
                  <a:schemeClr val="tx1"/>
                </a:solidFill>
              </a:rPr>
              <a:t>KPLO DTNPL</a:t>
            </a:r>
            <a:endParaRPr lang="ko-KR" altLang="en-US" sz="3300" dirty="0">
              <a:solidFill>
                <a:schemeClr val="tx1"/>
              </a:solidFill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xmlns="" id="{EB5FB45F-0F85-41ED-99E6-6CC765103E0C}"/>
              </a:ext>
            </a:extLst>
          </p:cNvPr>
          <p:cNvSpPr txBox="1">
            <a:spLocks/>
          </p:cNvSpPr>
          <p:nvPr/>
        </p:nvSpPr>
        <p:spPr bwMode="auto">
          <a:xfrm>
            <a:off x="685800" y="4463415"/>
            <a:ext cx="7772400" cy="14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000" b="1" kern="1200" baseline="0">
                <a:solidFill>
                  <a:schemeClr val="tx2"/>
                </a:solidFill>
                <a:latin typeface="Arial Black" panose="020B0A04020102020204" pitchFamily="34" charset="0"/>
                <a:ea typeface="맑은 고딕" panose="020B0503020000020004" pitchFamily="50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2800" dirty="0"/>
              <a:t>‘20.11.19 </a:t>
            </a:r>
          </a:p>
          <a:p>
            <a:r>
              <a:rPr lang="en-US" altLang="ko-KR" sz="2800" dirty="0" err="1"/>
              <a:t>Lumir</a:t>
            </a:r>
            <a:endParaRPr lang="en-US" altLang="ko-KR" sz="2800" dirty="0"/>
          </a:p>
        </p:txBody>
      </p:sp>
    </p:spTree>
    <p:extLst>
      <p:ext uri="{BB962C8B-B14F-4D97-AF65-F5344CB8AC3E}">
        <p14:creationId xmlns:p14="http://schemas.microsoft.com/office/powerpoint/2010/main" val="1873070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233363" y="930275"/>
            <a:ext cx="8666162" cy="5248275"/>
          </a:xfrm>
        </p:spPr>
        <p:txBody>
          <a:bodyPr/>
          <a:lstStyle/>
          <a:p>
            <a:r>
              <a:rPr lang="en-US" altLang="ko-KR" dirty="0"/>
              <a:t>Background</a:t>
            </a:r>
          </a:p>
          <a:p>
            <a:r>
              <a:rPr lang="en-US" altLang="ko-KR" dirty="0"/>
              <a:t>S/W </a:t>
            </a:r>
            <a:r>
              <a:rPr lang="ko-KR" altLang="en-US" dirty="0" err="1"/>
              <a:t>변경점</a:t>
            </a:r>
            <a:endParaRPr lang="en-US" altLang="ko-KR" dirty="0"/>
          </a:p>
          <a:p>
            <a:r>
              <a:rPr lang="en-US" altLang="ko-KR" dirty="0"/>
              <a:t>FM </a:t>
            </a:r>
            <a:r>
              <a:rPr lang="ko-KR" altLang="en-US" dirty="0"/>
              <a:t>환경시험 유효성 분석</a:t>
            </a:r>
            <a:endParaRPr lang="en-US" altLang="ko-KR" dirty="0"/>
          </a:p>
          <a:p>
            <a:r>
              <a:rPr lang="en-US" altLang="ko-KR" dirty="0"/>
              <a:t>Near-Term Activities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8703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Background</a:t>
            </a:r>
            <a:endParaRPr lang="ko-KR" altLang="en-US" dirty="0"/>
          </a:p>
        </p:txBody>
      </p:sp>
      <p:graphicFrame>
        <p:nvGraphicFramePr>
          <p:cNvPr id="3" name="Group 414">
            <a:extLst>
              <a:ext uri="{FF2B5EF4-FFF2-40B4-BE49-F238E27FC236}">
                <a16:creationId xmlns:a16="http://schemas.microsoft.com/office/drawing/2014/main" xmlns="" id="{5F8B5645-F567-4405-94B5-2182AACE7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4418228"/>
              </p:ext>
            </p:extLst>
          </p:nvPr>
        </p:nvGraphicFramePr>
        <p:xfrm>
          <a:off x="816768" y="3000375"/>
          <a:ext cx="7781132" cy="3279108"/>
        </p:xfrm>
        <a:graphic>
          <a:graphicData uri="http://schemas.openxmlformats.org/drawingml/2006/table">
            <a:tbl>
              <a:tblPr/>
              <a:tblGrid>
                <a:gridCol w="94286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406945">
                  <a:extLst>
                    <a:ext uri="{9D8B030D-6E8A-4147-A177-3AD203B41FA5}">
                      <a16:colId xmlns:a16="http://schemas.microsoft.com/office/drawing/2014/main" xmlns="" val="1788706298"/>
                    </a:ext>
                  </a:extLst>
                </a:gridCol>
                <a:gridCol w="212751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52134">
                  <a:extLst>
                    <a:ext uri="{9D8B030D-6E8A-4147-A177-3AD203B41FA5}">
                      <a16:colId xmlns:a16="http://schemas.microsoft.com/office/drawing/2014/main" xmlns="" val="648404141"/>
                    </a:ext>
                  </a:extLst>
                </a:gridCol>
                <a:gridCol w="849598">
                  <a:extLst>
                    <a:ext uri="{9D8B030D-6E8A-4147-A177-3AD203B41FA5}">
                      <a16:colId xmlns:a16="http://schemas.microsoft.com/office/drawing/2014/main" xmlns="" val="2155892010"/>
                    </a:ext>
                  </a:extLst>
                </a:gridCol>
                <a:gridCol w="1702080">
                  <a:extLst>
                    <a:ext uri="{9D8B030D-6E8A-4147-A177-3AD203B41FA5}">
                      <a16:colId xmlns:a16="http://schemas.microsoft.com/office/drawing/2014/main" xmlns="" val="2794660710"/>
                    </a:ext>
                  </a:extLst>
                </a:gridCol>
              </a:tblGrid>
              <a:tr h="338335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구분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6EEF7"/>
                        </a:gs>
                        <a:gs pos="100000">
                          <a:srgbClr val="C7DCE8"/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기간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6EEF7"/>
                        </a:gs>
                        <a:gs pos="100000">
                          <a:srgbClr val="C7DCE8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장소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6EEF7"/>
                        </a:gs>
                        <a:gs pos="100000">
                          <a:srgbClr val="C7DCE8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S/W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Ver.</a:t>
                      </a:r>
                      <a:endParaRPr lang="ko-KR" altLang="en-US" sz="1200" b="1" kern="1200" dirty="0">
                        <a:solidFill>
                          <a:schemeClr val="tx1"/>
                        </a:solidFill>
                        <a:latin typeface="Arial (제목)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6EEF7"/>
                        </a:gs>
                        <a:gs pos="100000">
                          <a:srgbClr val="C7DCE8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6EEF7"/>
                        </a:gs>
                        <a:gs pos="100000">
                          <a:srgbClr val="C7DCE8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38335">
                <a:tc gridSpan="2">
                  <a:txBody>
                    <a:bodyPr/>
                    <a:lstStyle/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Initial Performance Test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2019.02.14 ~ 19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Arial (제목)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kern="1200" dirty="0" err="1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Lumir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Arial (제목)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rgbClr val="0000FF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Ver1.0</a:t>
                      </a:r>
                      <a:endParaRPr lang="ko-KR" altLang="en-US" sz="1200" kern="1200" dirty="0">
                        <a:solidFill>
                          <a:srgbClr val="0000FF"/>
                        </a:solidFill>
                        <a:latin typeface="Arial (제목)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rgbClr val="0000FF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150 kbps Throughput</a:t>
                      </a:r>
                      <a:r>
                        <a:rPr lang="ko-KR" altLang="en-US" sz="1200" kern="1200" dirty="0">
                          <a:solidFill>
                            <a:srgbClr val="0000FF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dirty="0">
                          <a:solidFill>
                            <a:srgbClr val="0000FF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Performance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07027118"/>
                  </a:ext>
                </a:extLst>
              </a:tr>
              <a:tr h="715253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FM </a:t>
                      </a:r>
                    </a:p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환경 시험</a:t>
                      </a:r>
                      <a:endParaRPr lang="en-US" altLang="ko-KR" sz="1200" b="1" kern="1200" dirty="0">
                        <a:solidFill>
                          <a:schemeClr val="tx1"/>
                        </a:solidFill>
                        <a:latin typeface="Arial (제목)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Thermal Vacuum Test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2020.07.20 ~ 24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Arial (제목)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KASI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Arial (제목)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sz="1200" kern="1200" dirty="0">
                        <a:solidFill>
                          <a:schemeClr val="tx1"/>
                        </a:solidFill>
                        <a:latin typeface="Arial (제목)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67286241"/>
                  </a:ext>
                </a:extLst>
              </a:tr>
              <a:tr h="338335"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b="1" kern="1200" dirty="0">
                        <a:solidFill>
                          <a:schemeClr val="tx1"/>
                        </a:solidFill>
                        <a:latin typeface="Arial (제목)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Vibration Test</a:t>
                      </a:r>
                      <a:endParaRPr lang="ko-KR" altLang="en-US" sz="2800" dirty="0"/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2020.07.27 ~ 28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Arial (제목)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KTL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200" kern="1200" dirty="0">
                        <a:solidFill>
                          <a:schemeClr val="tx1"/>
                        </a:solidFill>
                        <a:latin typeface="Arial (제목)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62870296"/>
                  </a:ext>
                </a:extLst>
              </a:tr>
              <a:tr h="700755"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b="1" kern="1200" dirty="0">
                        <a:solidFill>
                          <a:schemeClr val="tx1"/>
                        </a:solidFill>
                        <a:latin typeface="Arial (제목)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EMI/EMC Test</a:t>
                      </a:r>
                      <a:endParaRPr lang="ko-KR" altLang="en-US" sz="2800" dirty="0"/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-900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       (1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차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) 2020.08.05 ~ 07</a:t>
                      </a:r>
                    </a:p>
                    <a:p>
                      <a:pPr marL="0" marR="0" lvl="0" indent="-900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       (2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차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) 2020.08.21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KBIO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200" kern="1200" dirty="0">
                        <a:solidFill>
                          <a:schemeClr val="tx1"/>
                        </a:solidFill>
                        <a:latin typeface="Arial (제목)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38335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Final  Full Function Test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2020.09.01 ~ 02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Arial (제목)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kern="1200" dirty="0" err="1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Lumir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latin typeface="Arial (제목)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rgbClr val="0000FF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Ver2.0</a:t>
                      </a:r>
                      <a:endParaRPr lang="ko-KR" altLang="en-US" sz="1200" kern="1200" dirty="0">
                        <a:solidFill>
                          <a:srgbClr val="0000FF"/>
                        </a:solidFill>
                        <a:latin typeface="Arial (제목)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09185">
                <a:tc gridSpan="2">
                  <a:txBody>
                    <a:bodyPr/>
                    <a:lstStyle/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ETB 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시험버전 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(11/17)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sz="1200" kern="1200" dirty="0">
                        <a:solidFill>
                          <a:schemeClr val="tx1"/>
                        </a:solidFill>
                        <a:latin typeface="Arial (제목)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HNU / </a:t>
                      </a:r>
                      <a:r>
                        <a:rPr lang="en-US" altLang="ko-KR" sz="1200" kern="1200" dirty="0" err="1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Lumir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latin typeface="Arial (제목)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rgbClr val="0000FF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Ver3.0</a:t>
                      </a:r>
                      <a:endParaRPr lang="ko-KR" altLang="en-US" sz="1200" kern="1200" dirty="0">
                        <a:solidFill>
                          <a:srgbClr val="0000FF"/>
                        </a:solidFill>
                        <a:latin typeface="Arial (제목)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rgbClr val="0000FF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800 kbps Throughput</a:t>
                      </a:r>
                      <a:r>
                        <a:rPr lang="ko-KR" altLang="en-US" sz="1200" kern="1200" dirty="0">
                          <a:solidFill>
                            <a:srgbClr val="0000FF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dirty="0">
                          <a:solidFill>
                            <a:srgbClr val="0000FF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Performance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931699036"/>
                  </a:ext>
                </a:extLst>
              </a:tr>
            </a:tbl>
          </a:graphicData>
        </a:graphic>
      </p:graphicFrame>
      <p:sp>
        <p:nvSpPr>
          <p:cNvPr id="8" name="내용 개체 틀 6">
            <a:extLst>
              <a:ext uri="{FF2B5EF4-FFF2-40B4-BE49-F238E27FC236}">
                <a16:creationId xmlns:a16="http://schemas.microsoft.com/office/drawing/2014/main" xmlns="" id="{E2C3A55D-41FC-483A-8D16-CD00AA6A3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363" y="930275"/>
            <a:ext cx="8666162" cy="1978025"/>
          </a:xfrm>
        </p:spPr>
        <p:txBody>
          <a:bodyPr/>
          <a:lstStyle/>
          <a:p>
            <a:r>
              <a:rPr lang="en-US" altLang="ko-KR" dirty="0"/>
              <a:t>(‘20.07.20 ~ 08.21) DTNPL FM</a:t>
            </a:r>
            <a:r>
              <a:rPr lang="ko-KR" altLang="en-US" dirty="0"/>
              <a:t>의 환경시험 수행 </a:t>
            </a:r>
            <a:r>
              <a:rPr lang="en-US" altLang="ko-KR" dirty="0"/>
              <a:t>(ION</a:t>
            </a:r>
            <a:r>
              <a:rPr lang="ko-KR" altLang="en-US" dirty="0"/>
              <a:t> </a:t>
            </a:r>
            <a:r>
              <a:rPr lang="en-US" altLang="ko-KR" dirty="0"/>
              <a:t>S/W Ver1.0)</a:t>
            </a:r>
          </a:p>
          <a:p>
            <a:r>
              <a:rPr lang="en-US" altLang="ko-KR" dirty="0"/>
              <a:t>(‘20.09.01 ~ 09.02) DTNPL ION S/W </a:t>
            </a:r>
            <a:r>
              <a:rPr lang="ko-KR" altLang="en-US" dirty="0"/>
              <a:t>버그 수정 </a:t>
            </a:r>
            <a:r>
              <a:rPr lang="en-US" altLang="ko-KR" dirty="0"/>
              <a:t>(ION S/W Ver2.0)</a:t>
            </a:r>
          </a:p>
          <a:p>
            <a:r>
              <a:rPr lang="en-US" altLang="ko-KR" dirty="0"/>
              <a:t>(’20.11.11) DTNPL S/W Revision (ION S/W </a:t>
            </a:r>
            <a:r>
              <a:rPr lang="en-US" altLang="ko-KR" dirty="0">
                <a:sym typeface="Wingdings" panose="05000000000000000000" pitchFamily="2" charset="2"/>
              </a:rPr>
              <a:t>Ver3.0)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/>
              <a:t>환경시험 이후 </a:t>
            </a:r>
            <a:r>
              <a:rPr lang="en-US" altLang="ko-KR" dirty="0"/>
              <a:t>S/W Revision</a:t>
            </a:r>
            <a:r>
              <a:rPr lang="ko-KR" altLang="en-US" dirty="0"/>
              <a:t>에 따른 기 수행된 환경시험의 유효성 확인 필요</a:t>
            </a:r>
            <a:endParaRPr lang="en-US" altLang="ko-KR" dirty="0"/>
          </a:p>
          <a:p>
            <a:pPr lvl="1"/>
            <a:r>
              <a:rPr lang="ko-KR" altLang="en-US" dirty="0"/>
              <a:t>동작 클럭 차이점 유무 등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673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S/W </a:t>
            </a:r>
            <a:r>
              <a:rPr lang="ko-KR" altLang="en-US" dirty="0" err="1"/>
              <a:t>변경점</a:t>
            </a:r>
            <a:r>
              <a:rPr lang="ko-KR" altLang="en-US" dirty="0"/>
              <a:t> </a:t>
            </a:r>
            <a:r>
              <a:rPr lang="en-US" altLang="ko-KR" dirty="0"/>
              <a:t>(Ver1.0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/>
              <a:t>Ver2.0)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233363" y="945903"/>
            <a:ext cx="8666162" cy="5248275"/>
          </a:xfrm>
        </p:spPr>
        <p:txBody>
          <a:bodyPr/>
          <a:lstStyle/>
          <a:p>
            <a:r>
              <a:rPr lang="ko-KR" altLang="en-US" dirty="0"/>
              <a:t>변경 내역</a:t>
            </a:r>
            <a:endParaRPr lang="en-US" altLang="ko-KR" dirty="0"/>
          </a:p>
          <a:p>
            <a:pPr lvl="1"/>
            <a:r>
              <a:rPr lang="en-US" altLang="ko-KR" dirty="0"/>
              <a:t>ION </a:t>
            </a:r>
            <a:r>
              <a:rPr lang="ko-KR" altLang="en-US" dirty="0"/>
              <a:t>통신경로 환경설정 부분의 코드상 </a:t>
            </a:r>
            <a:r>
              <a:rPr lang="ko-KR" altLang="en-US"/>
              <a:t>오류 </a:t>
            </a:r>
            <a:r>
              <a:rPr lang="ko-KR" altLang="en-US" smtClean="0"/>
              <a:t>수정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LCM</a:t>
            </a:r>
            <a:r>
              <a:rPr lang="ko-KR" altLang="en-US" smtClean="0"/>
              <a:t>의 </a:t>
            </a:r>
            <a:r>
              <a:rPr lang="en-US" altLang="ko-KR" dirty="0" smtClean="0"/>
              <a:t>Bundle layer contact</a:t>
            </a:r>
            <a:r>
              <a:rPr lang="ko-KR" altLang="en-US" smtClean="0"/>
              <a:t> 코드 수정</a:t>
            </a:r>
            <a:endParaRPr lang="en-US" altLang="ko-KR" dirty="0" smtClean="0"/>
          </a:p>
          <a:p>
            <a:pPr lvl="3"/>
            <a:r>
              <a:rPr lang="en-US" altLang="ko-KR" dirty="0" smtClean="0"/>
              <a:t>IPN 19: DTNPL</a:t>
            </a:r>
          </a:p>
          <a:p>
            <a:pPr lvl="3"/>
            <a:r>
              <a:rPr lang="en-US" altLang="ko-KR" dirty="0" smtClean="0"/>
              <a:t>IPN 21: LCM</a:t>
            </a:r>
          </a:p>
          <a:p>
            <a:pPr lvl="3"/>
            <a:r>
              <a:rPr lang="en-US" altLang="ko-KR" dirty="0" smtClean="0"/>
              <a:t>IPN 20: DCC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 smtClean="0"/>
          </a:p>
          <a:p>
            <a:pPr lvl="2"/>
            <a:endParaRPr lang="en-US" altLang="ko-KR" dirty="0"/>
          </a:p>
          <a:p>
            <a:pPr lvl="2"/>
            <a:endParaRPr lang="en-US" altLang="ko-KR" dirty="0" smtClean="0"/>
          </a:p>
          <a:p>
            <a:pPr lvl="2"/>
            <a:r>
              <a:rPr lang="en-US" altLang="ko-KR" dirty="0" smtClean="0"/>
              <a:t>DTNPL</a:t>
            </a:r>
            <a:r>
              <a:rPr lang="ko-KR" altLang="en-US" smtClean="0"/>
              <a:t>의 </a:t>
            </a:r>
            <a:r>
              <a:rPr lang="en-US" altLang="ko-KR" dirty="0"/>
              <a:t>Bundle layer contact</a:t>
            </a:r>
            <a:r>
              <a:rPr lang="ko-KR" altLang="en-US"/>
              <a:t> 코드 </a:t>
            </a:r>
            <a:r>
              <a:rPr lang="ko-KR" altLang="en-US" smtClean="0"/>
              <a:t>수정</a:t>
            </a:r>
            <a:endParaRPr lang="en-US" altLang="ko-KR" dirty="0" smtClean="0"/>
          </a:p>
          <a:p>
            <a:pPr marL="1027113" lvl="3" indent="0">
              <a:buNone/>
            </a:pPr>
            <a:endParaRPr lang="en-US" altLang="ko-KR" dirty="0" smtClean="0"/>
          </a:p>
          <a:p>
            <a:pPr marL="668338" lvl="2" indent="0">
              <a:buNone/>
            </a:pPr>
            <a:r>
              <a:rPr lang="ko-KR" altLang="en-US" dirty="0" smtClean="0"/>
              <a:t> </a:t>
            </a:r>
            <a:endParaRPr lang="en-US" altLang="ko-KR" dirty="0" smtClean="0"/>
          </a:p>
          <a:p>
            <a:pPr lvl="2"/>
            <a:endParaRPr lang="en-US" altLang="ko-KR" dirty="0"/>
          </a:p>
        </p:txBody>
      </p:sp>
      <p:grpSp>
        <p:nvGrpSpPr>
          <p:cNvPr id="5" name="그룹 4"/>
          <p:cNvGrpSpPr/>
          <p:nvPr/>
        </p:nvGrpSpPr>
        <p:grpSpPr>
          <a:xfrm>
            <a:off x="1580044" y="2632599"/>
            <a:ext cx="5669280" cy="1089660"/>
            <a:chOff x="251520" y="1772816"/>
            <a:chExt cx="5669280" cy="1089660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1520" y="1772816"/>
              <a:ext cx="5669280" cy="1089660"/>
            </a:xfrm>
            <a:prstGeom prst="rect">
              <a:avLst/>
            </a:prstGeom>
          </p:spPr>
        </p:pic>
        <p:sp>
          <p:nvSpPr>
            <p:cNvPr id="8" name="직사각형 7"/>
            <p:cNvSpPr/>
            <p:nvPr/>
          </p:nvSpPr>
          <p:spPr>
            <a:xfrm>
              <a:off x="459924" y="1950740"/>
              <a:ext cx="5328592" cy="81494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1665830" y="4092089"/>
            <a:ext cx="5379720" cy="2430780"/>
            <a:chOff x="539552" y="2636912"/>
            <a:chExt cx="5379720" cy="2430780"/>
          </a:xfrm>
        </p:grpSpPr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9552" y="2636912"/>
              <a:ext cx="5379720" cy="2430780"/>
            </a:xfrm>
            <a:prstGeom prst="rect">
              <a:avLst/>
            </a:prstGeom>
          </p:spPr>
        </p:pic>
        <p:sp>
          <p:nvSpPr>
            <p:cNvPr id="11" name="직사각형 10"/>
            <p:cNvSpPr/>
            <p:nvPr/>
          </p:nvSpPr>
          <p:spPr>
            <a:xfrm>
              <a:off x="1187624" y="2780928"/>
              <a:ext cx="3672408" cy="194421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736020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S/W </a:t>
            </a:r>
            <a:r>
              <a:rPr lang="ko-KR" altLang="en-US" dirty="0" err="1"/>
              <a:t>변경점</a:t>
            </a:r>
            <a:r>
              <a:rPr lang="ko-KR" altLang="en-US" dirty="0"/>
              <a:t> </a:t>
            </a:r>
            <a:r>
              <a:rPr lang="en-US" altLang="ko-KR" dirty="0"/>
              <a:t>(Ver2.0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en-US" altLang="ko-KR" dirty="0"/>
              <a:t> Ver3.0)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233363" y="945903"/>
            <a:ext cx="8666162" cy="5248275"/>
          </a:xfrm>
        </p:spPr>
        <p:txBody>
          <a:bodyPr/>
          <a:lstStyle/>
          <a:p>
            <a:r>
              <a:rPr lang="en-US" altLang="ko-KR" dirty="0"/>
              <a:t>S/W </a:t>
            </a:r>
            <a:r>
              <a:rPr lang="ko-KR" altLang="en-US" dirty="0"/>
              <a:t>구조 및 데이터 전송 경로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S/W Revision</a:t>
            </a:r>
            <a:r>
              <a:rPr lang="ko-KR" altLang="en-US" dirty="0"/>
              <a:t> 내역 요약</a:t>
            </a:r>
            <a:endParaRPr lang="en-US" altLang="ko-KR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xmlns="" id="{02919F27-EAEC-428F-92EF-F1952C8BFD6A}"/>
              </a:ext>
            </a:extLst>
          </p:cNvPr>
          <p:cNvGrpSpPr/>
          <p:nvPr/>
        </p:nvGrpSpPr>
        <p:grpSpPr>
          <a:xfrm>
            <a:off x="403832" y="1283397"/>
            <a:ext cx="8177891" cy="2984499"/>
            <a:chOff x="-86380" y="1183444"/>
            <a:chExt cx="9055657" cy="3486608"/>
          </a:xfrm>
        </p:grpSpPr>
        <p:pic>
          <p:nvPicPr>
            <p:cNvPr id="42" name="그림 16388" descr="나이프, 테이블이(가) 표시된 사진&#10;&#10;자동 생성된 설명">
              <a:extLst>
                <a:ext uri="{FF2B5EF4-FFF2-40B4-BE49-F238E27FC236}">
                  <a16:creationId xmlns:a16="http://schemas.microsoft.com/office/drawing/2014/main" xmlns="" id="{D7E5E21D-27E5-4345-8209-4AE0C39C24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35063" y="1183444"/>
              <a:ext cx="2534214" cy="598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xmlns="" id="{201E0642-7E16-48A7-95FF-11AA1D83E30A}"/>
                </a:ext>
              </a:extLst>
            </p:cNvPr>
            <p:cNvSpPr/>
            <p:nvPr/>
          </p:nvSpPr>
          <p:spPr>
            <a:xfrm>
              <a:off x="3035300" y="1270730"/>
              <a:ext cx="1954213" cy="598487"/>
            </a:xfrm>
            <a:prstGeom prst="round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400" i="0" dirty="0"/>
                <a:t>DTNPL S/W </a:t>
              </a:r>
            </a:p>
            <a:p>
              <a:pPr algn="ctr">
                <a:defRPr/>
              </a:pPr>
              <a:r>
                <a:rPr lang="en-US" altLang="ko-KR" sz="1400" i="0" dirty="0"/>
                <a:t>CSCI</a:t>
              </a:r>
              <a:endParaRPr lang="ko-KR" altLang="en-US" sz="1400" i="0" dirty="0"/>
            </a:p>
          </p:txBody>
        </p: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xmlns="" id="{DA4DE4DA-A217-4D76-8444-914FCCA8562F}"/>
                </a:ext>
              </a:extLst>
            </p:cNvPr>
            <p:cNvCxnSpPr>
              <a:cxnSpLocks/>
            </p:cNvCxnSpPr>
            <p:nvPr/>
          </p:nvCxnSpPr>
          <p:spPr>
            <a:xfrm>
              <a:off x="4021138" y="1720850"/>
              <a:ext cx="0" cy="3333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xmlns="" id="{BA99B5F8-2974-4F87-BDBE-26212FCD9703}"/>
                </a:ext>
              </a:extLst>
            </p:cNvPr>
            <p:cNvSpPr/>
            <p:nvPr/>
          </p:nvSpPr>
          <p:spPr>
            <a:xfrm>
              <a:off x="4873625" y="2303463"/>
              <a:ext cx="1954213" cy="59848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400" i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SBC </a:t>
              </a:r>
            </a:p>
            <a:p>
              <a:pPr algn="ctr">
                <a:defRPr/>
              </a:pPr>
              <a:r>
                <a:rPr lang="en-US" altLang="ko-KR" sz="1400" i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CSC</a:t>
              </a:r>
              <a:endParaRPr lang="ko-KR" altLang="en-US" sz="1400" i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xmlns="" id="{65FAA7DB-10CB-40F4-A9E2-A582E5087A3C}"/>
                </a:ext>
              </a:extLst>
            </p:cNvPr>
            <p:cNvSpPr/>
            <p:nvPr/>
          </p:nvSpPr>
          <p:spPr>
            <a:xfrm>
              <a:off x="1415914" y="2357438"/>
              <a:ext cx="889135" cy="59848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400" i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ION </a:t>
              </a:r>
            </a:p>
            <a:p>
              <a:pPr algn="ctr">
                <a:defRPr/>
              </a:pPr>
              <a:r>
                <a:rPr lang="en-US" altLang="ko-KR" sz="1400" i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CSC</a:t>
              </a:r>
              <a:endParaRPr lang="ko-KR" altLang="en-US" sz="1400" i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xmlns="" id="{AD1E600F-C3A7-4D6E-AF58-3467CDAF29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57731" y="3348904"/>
              <a:ext cx="470794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xmlns="" id="{30840A61-8FA6-4FDE-BB79-338A7C3EBE34}"/>
                </a:ext>
              </a:extLst>
            </p:cNvPr>
            <p:cNvCxnSpPr>
              <a:cxnSpLocks/>
              <a:endCxn id="63" idx="0"/>
            </p:cNvCxnSpPr>
            <p:nvPr/>
          </p:nvCxnSpPr>
          <p:spPr>
            <a:xfrm>
              <a:off x="3557731" y="3352800"/>
              <a:ext cx="0" cy="2413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xmlns="" id="{ED8B5BCA-21B3-4DAE-B35E-C3AED635BB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56150" y="3325813"/>
              <a:ext cx="0" cy="254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xmlns="" id="{636B4257-0BDE-4AE3-8465-87024F4C28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22975" y="3352800"/>
              <a:ext cx="0" cy="255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xmlns="" id="{BBA10DBD-E38C-4BD8-923A-A49057E186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41729" y="3338513"/>
              <a:ext cx="0" cy="255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xmlns="" id="{3484615E-9634-4940-BC0C-F6266762EE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65679" y="3338513"/>
              <a:ext cx="0" cy="255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xmlns="" id="{E9AABE97-C5E4-4812-83DC-D8712A9AAE04}"/>
                </a:ext>
              </a:extLst>
            </p:cNvPr>
            <p:cNvCxnSpPr>
              <a:cxnSpLocks/>
              <a:stCxn id="45" idx="2"/>
            </p:cNvCxnSpPr>
            <p:nvPr/>
          </p:nvCxnSpPr>
          <p:spPr>
            <a:xfrm>
              <a:off x="5851525" y="2901950"/>
              <a:ext cx="0" cy="4238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xmlns="" id="{496A84A9-36BB-45D2-8CDE-691E35466F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63800" y="3378200"/>
              <a:ext cx="0" cy="255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xmlns="" id="{F9C591FC-39F1-401C-8A82-67FA2704D7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08125" y="3378200"/>
              <a:ext cx="9556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xmlns="" id="{2F9AF38E-CC0B-4F2A-ADFE-5F83F8478585}"/>
                </a:ext>
              </a:extLst>
            </p:cNvPr>
            <p:cNvCxnSpPr>
              <a:cxnSpLocks/>
            </p:cNvCxnSpPr>
            <p:nvPr/>
          </p:nvCxnSpPr>
          <p:spPr>
            <a:xfrm>
              <a:off x="1868488" y="2974975"/>
              <a:ext cx="0" cy="4032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xmlns="" id="{C3A26D56-CF94-4908-A209-53123CA56C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46263" y="2054225"/>
              <a:ext cx="401955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xmlns="" id="{3D11995B-3659-4DE9-A4F4-95FA75921517}"/>
                </a:ext>
              </a:extLst>
            </p:cNvPr>
            <p:cNvCxnSpPr>
              <a:cxnSpLocks/>
            </p:cNvCxnSpPr>
            <p:nvPr/>
          </p:nvCxnSpPr>
          <p:spPr>
            <a:xfrm>
              <a:off x="1846263" y="2062163"/>
              <a:ext cx="0" cy="304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xmlns="" id="{1F31BFB5-7C09-4770-A0DF-83458A814B1A}"/>
                </a:ext>
              </a:extLst>
            </p:cNvPr>
            <p:cNvCxnSpPr>
              <a:cxnSpLocks/>
              <a:endCxn id="45" idx="0"/>
            </p:cNvCxnSpPr>
            <p:nvPr/>
          </p:nvCxnSpPr>
          <p:spPr>
            <a:xfrm>
              <a:off x="5851525" y="2041525"/>
              <a:ext cx="0" cy="2619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xmlns="" id="{4A3AD1D9-A784-44AE-AFA1-90B3057C6C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93838" y="3379788"/>
              <a:ext cx="0" cy="255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사각형: 둥근 모서리 60">
              <a:extLst>
                <a:ext uri="{FF2B5EF4-FFF2-40B4-BE49-F238E27FC236}">
                  <a16:creationId xmlns:a16="http://schemas.microsoft.com/office/drawing/2014/main" xmlns="" id="{8C9EAEA4-5040-4CE9-B1D6-D1815B4CB823}"/>
                </a:ext>
              </a:extLst>
            </p:cNvPr>
            <p:cNvSpPr/>
            <p:nvPr/>
          </p:nvSpPr>
          <p:spPr>
            <a:xfrm>
              <a:off x="2305051" y="3589338"/>
              <a:ext cx="582612" cy="598487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100" i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UDP </a:t>
              </a:r>
            </a:p>
            <a:p>
              <a:pPr algn="ctr">
                <a:defRPr/>
              </a:pPr>
              <a:r>
                <a:rPr lang="en-US" altLang="ko-KR" sz="1100" i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CSU</a:t>
              </a:r>
              <a:endParaRPr lang="ko-KR" altLang="en-US" sz="1100" i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xmlns="" id="{738753D5-A686-49D9-A6C7-14E56030B08F}"/>
                </a:ext>
              </a:extLst>
            </p:cNvPr>
            <p:cNvSpPr/>
            <p:nvPr/>
          </p:nvSpPr>
          <p:spPr>
            <a:xfrm>
              <a:off x="1143000" y="3573463"/>
              <a:ext cx="774700" cy="598487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100" b="1" i="0" dirty="0">
                  <a:solidFill>
                    <a:srgbClr val="7030A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ION </a:t>
              </a:r>
            </a:p>
            <a:p>
              <a:pPr algn="ctr">
                <a:defRPr/>
              </a:pPr>
              <a:r>
                <a:rPr lang="en-US" altLang="ko-KR" sz="1100" i="0" dirty="0">
                  <a:solidFill>
                    <a:srgbClr val="7030A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CSU</a:t>
              </a:r>
              <a:endParaRPr lang="ko-KR" altLang="en-US" sz="1100" i="0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xmlns="" id="{81D7B301-0E83-48D0-BDF4-FD8DAE8A23E0}"/>
                </a:ext>
              </a:extLst>
            </p:cNvPr>
            <p:cNvSpPr/>
            <p:nvPr/>
          </p:nvSpPr>
          <p:spPr>
            <a:xfrm>
              <a:off x="3271983" y="3594100"/>
              <a:ext cx="580734" cy="598488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100" i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UDP CSU</a:t>
              </a:r>
              <a:endParaRPr lang="ko-KR" altLang="en-US" sz="1100" i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4" name="사각형: 둥근 모서리 63">
              <a:extLst>
                <a:ext uri="{FF2B5EF4-FFF2-40B4-BE49-F238E27FC236}">
                  <a16:creationId xmlns:a16="http://schemas.microsoft.com/office/drawing/2014/main" xmlns="" id="{057303A4-891B-4BDC-BA13-D926541C883A}"/>
                </a:ext>
              </a:extLst>
            </p:cNvPr>
            <p:cNvSpPr/>
            <p:nvPr/>
          </p:nvSpPr>
          <p:spPr>
            <a:xfrm>
              <a:off x="4097487" y="3567113"/>
              <a:ext cx="1229590" cy="598487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100" i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Management</a:t>
              </a:r>
            </a:p>
            <a:p>
              <a:pPr algn="ctr">
                <a:defRPr/>
              </a:pPr>
              <a:r>
                <a:rPr lang="en-US" altLang="ko-KR" sz="1100" i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CSU</a:t>
              </a:r>
              <a:endParaRPr lang="ko-KR" altLang="en-US" sz="1100" i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xmlns="" id="{918F2BFF-004D-4BD1-8DC2-C64DBC3F03ED}"/>
                </a:ext>
              </a:extLst>
            </p:cNvPr>
            <p:cNvSpPr/>
            <p:nvPr/>
          </p:nvSpPr>
          <p:spPr>
            <a:xfrm>
              <a:off x="5441950" y="3559175"/>
              <a:ext cx="994932" cy="596900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100" i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Scheduler CSU</a:t>
              </a:r>
              <a:endParaRPr lang="ko-KR" altLang="en-US" sz="1100" i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xmlns="" id="{5E37DE2A-D062-4E4B-8027-E2228334E6CA}"/>
                </a:ext>
              </a:extLst>
            </p:cNvPr>
            <p:cNvSpPr/>
            <p:nvPr/>
          </p:nvSpPr>
          <p:spPr>
            <a:xfrm>
              <a:off x="6589279" y="3559175"/>
              <a:ext cx="1114427" cy="596900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100" i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DMA_UART CSU</a:t>
              </a:r>
              <a:endParaRPr lang="ko-KR" altLang="en-US" sz="1100" i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xmlns="" id="{64119E40-6E23-4667-99D0-B467BCF6A98B}"/>
                </a:ext>
              </a:extLst>
            </p:cNvPr>
            <p:cNvSpPr/>
            <p:nvPr/>
          </p:nvSpPr>
          <p:spPr>
            <a:xfrm>
              <a:off x="7800542" y="3559175"/>
              <a:ext cx="724625" cy="596900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100" i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USRT CSU</a:t>
              </a:r>
              <a:endParaRPr lang="ko-KR" altLang="en-US" sz="1100" i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xmlns="" id="{749611C2-630C-4210-8EBA-01D257C1FEDA}"/>
                </a:ext>
              </a:extLst>
            </p:cNvPr>
            <p:cNvCxnSpPr>
              <a:cxnSpLocks/>
              <a:stCxn id="63" idx="1"/>
            </p:cNvCxnSpPr>
            <p:nvPr/>
          </p:nvCxnSpPr>
          <p:spPr>
            <a:xfrm flipH="1" flipV="1">
              <a:off x="2887665" y="3890964"/>
              <a:ext cx="384318" cy="2381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xmlns="" id="{6480BD44-E43D-4EE6-A3D6-47283F567207}"/>
                </a:ext>
              </a:extLst>
            </p:cNvPr>
            <p:cNvSpPr txBox="1"/>
            <p:nvPr/>
          </p:nvSpPr>
          <p:spPr>
            <a:xfrm>
              <a:off x="563563" y="4184651"/>
              <a:ext cx="1690687" cy="48540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90000" indent="-90000" algn="ctr" eaLnBrk="1" latinLnBrk="1" hangingPunct="1">
                <a:spcAft>
                  <a:spcPts val="100"/>
                </a:spcAft>
                <a:buClr>
                  <a:schemeClr val="bg1">
                    <a:lumMod val="50000"/>
                  </a:schemeClr>
                </a:buClr>
                <a:defRPr/>
              </a:pPr>
              <a:r>
                <a:rPr lang="en-US" altLang="ko-KR" sz="1050" b="1" i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Interplanetary Overlay Network</a:t>
              </a:r>
              <a:endParaRPr lang="ko-KR" altLang="en-US" sz="1050" b="1" i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xmlns="" id="{C6BF4DAE-C894-45E1-BAEC-CECD632E02C0}"/>
                </a:ext>
              </a:extLst>
            </p:cNvPr>
            <p:cNvSpPr txBox="1"/>
            <p:nvPr/>
          </p:nvSpPr>
          <p:spPr>
            <a:xfrm>
              <a:off x="4011613" y="4160838"/>
              <a:ext cx="1690687" cy="29663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90000" indent="-90000" algn="ctr" eaLnBrk="1" latinLnBrk="1" hangingPunct="1">
                <a:spcAft>
                  <a:spcPts val="100"/>
                </a:spcAft>
                <a:buClr>
                  <a:schemeClr val="bg1">
                    <a:lumMod val="50000"/>
                  </a:schemeClr>
                </a:buClr>
                <a:defRPr/>
              </a:pPr>
              <a:r>
                <a:rPr lang="en-US" altLang="ko-KR" sz="1050" i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House Keeping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xmlns="" id="{06B08874-1B63-479A-8A47-AF16C3AF7A29}"/>
                </a:ext>
              </a:extLst>
            </p:cNvPr>
            <p:cNvSpPr txBox="1"/>
            <p:nvPr/>
          </p:nvSpPr>
          <p:spPr>
            <a:xfrm>
              <a:off x="5187880" y="4169681"/>
              <a:ext cx="1541463" cy="29663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90000" indent="-90000" algn="ctr" eaLnBrk="1" latinLnBrk="1" hangingPunct="1">
                <a:spcAft>
                  <a:spcPts val="100"/>
                </a:spcAft>
                <a:buClr>
                  <a:schemeClr val="bg1">
                    <a:lumMod val="50000"/>
                  </a:schemeClr>
                </a:buClr>
                <a:defRPr/>
              </a:pPr>
              <a:r>
                <a:rPr lang="en-US" altLang="ko-KR" sz="1050" i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Scheduling</a:t>
              </a:r>
              <a:endParaRPr lang="ko-KR" altLang="en-US" sz="1050" i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xmlns="" id="{D0B95846-F16F-4556-964F-F49C59F0249E}"/>
                </a:ext>
              </a:extLst>
            </p:cNvPr>
            <p:cNvSpPr txBox="1"/>
            <p:nvPr/>
          </p:nvSpPr>
          <p:spPr>
            <a:xfrm>
              <a:off x="6285342" y="4169681"/>
              <a:ext cx="1614488" cy="29663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90000" indent="-90000" algn="ctr" eaLnBrk="1" latinLnBrk="1" hangingPunct="1">
                <a:spcAft>
                  <a:spcPts val="100"/>
                </a:spcAft>
                <a:buClr>
                  <a:schemeClr val="bg1">
                    <a:lumMod val="50000"/>
                  </a:schemeClr>
                </a:buClr>
                <a:defRPr/>
              </a:pPr>
              <a:r>
                <a:rPr lang="en-US" altLang="ko-KR" sz="1050" i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TMTC</a:t>
              </a:r>
              <a:endParaRPr lang="ko-KR" altLang="en-US" sz="1050" i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xmlns="" id="{2446745D-F8C9-483A-BE00-0378353A1690}"/>
                </a:ext>
              </a:extLst>
            </p:cNvPr>
            <p:cNvSpPr txBox="1"/>
            <p:nvPr/>
          </p:nvSpPr>
          <p:spPr>
            <a:xfrm>
              <a:off x="7524607" y="4157664"/>
              <a:ext cx="1211263" cy="29663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90000" indent="-90000" algn="ctr" eaLnBrk="1" latinLnBrk="1" hangingPunct="1">
                <a:spcAft>
                  <a:spcPts val="100"/>
                </a:spcAft>
                <a:buClr>
                  <a:schemeClr val="bg1">
                    <a:lumMod val="50000"/>
                  </a:schemeClr>
                </a:buClr>
                <a:defRPr/>
              </a:pPr>
              <a:r>
                <a:rPr lang="en-US" altLang="ko-KR" sz="1050" i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Data Downlink</a:t>
              </a:r>
              <a:endParaRPr lang="ko-KR" altLang="en-US" sz="1050" i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4" name="직사각형 2">
              <a:extLst>
                <a:ext uri="{FF2B5EF4-FFF2-40B4-BE49-F238E27FC236}">
                  <a16:creationId xmlns:a16="http://schemas.microsoft.com/office/drawing/2014/main" xmlns="" id="{5FD2BF27-B156-4989-8B5A-18E3D7FCD0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50936" y="2216150"/>
              <a:ext cx="3060699" cy="2453899"/>
            </a:xfrm>
            <a:prstGeom prst="rect">
              <a:avLst/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36000" tIns="0" rIns="0" bIns="0">
              <a:spAutoFit/>
            </a:bodyPr>
            <a:lstStyle>
              <a:lvl1pPr>
                <a:defRPr kumimoji="1" sz="1200" b="1" i="1">
                  <a:solidFill>
                    <a:srgbClr val="800000"/>
                  </a:solidFill>
                  <a:latin typeface="Arial" panose="020B0604020202020204" pitchFamily="34" charset="0"/>
                  <a:ea typeface="휴먼모음T" panose="02030504000101010101" pitchFamily="18" charset="-127"/>
                </a:defRPr>
              </a:lvl1pPr>
              <a:lvl2pPr marL="742950" indent="-285750">
                <a:defRPr kumimoji="1" sz="1200" b="1" i="1">
                  <a:solidFill>
                    <a:srgbClr val="800000"/>
                  </a:solidFill>
                  <a:latin typeface="Arial" panose="020B0604020202020204" pitchFamily="34" charset="0"/>
                  <a:ea typeface="휴먼모음T" panose="02030504000101010101" pitchFamily="18" charset="-127"/>
                </a:defRPr>
              </a:lvl2pPr>
              <a:lvl3pPr marL="1143000" indent="-228600">
                <a:defRPr kumimoji="1" sz="1200" b="1" i="1">
                  <a:solidFill>
                    <a:srgbClr val="800000"/>
                  </a:solidFill>
                  <a:latin typeface="Arial" panose="020B0604020202020204" pitchFamily="34" charset="0"/>
                  <a:ea typeface="휴먼모음T" panose="02030504000101010101" pitchFamily="18" charset="-127"/>
                </a:defRPr>
              </a:lvl3pPr>
              <a:lvl4pPr marL="1600200" indent="-228600">
                <a:defRPr kumimoji="1" sz="1200" b="1" i="1">
                  <a:solidFill>
                    <a:srgbClr val="800000"/>
                  </a:solidFill>
                  <a:latin typeface="Arial" panose="020B0604020202020204" pitchFamily="34" charset="0"/>
                  <a:ea typeface="휴먼모음T" panose="02030504000101010101" pitchFamily="18" charset="-127"/>
                </a:defRPr>
              </a:lvl4pPr>
              <a:lvl5pPr marL="2057400" indent="-228600">
                <a:defRPr kumimoji="1" sz="1200" b="1" i="1">
                  <a:solidFill>
                    <a:srgbClr val="800000"/>
                  </a:solidFill>
                  <a:latin typeface="Arial" panose="020B0604020202020204" pitchFamily="34" charset="0"/>
                  <a:ea typeface="휴먼모음T" panose="02030504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i="1">
                  <a:solidFill>
                    <a:srgbClr val="800000"/>
                  </a:solidFill>
                  <a:latin typeface="Arial" panose="020B0604020202020204" pitchFamily="34" charset="0"/>
                  <a:ea typeface="휴먼모음T" panose="02030504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i="1">
                  <a:solidFill>
                    <a:srgbClr val="800000"/>
                  </a:solidFill>
                  <a:latin typeface="Arial" panose="020B0604020202020204" pitchFamily="34" charset="0"/>
                  <a:ea typeface="휴먼모음T" panose="02030504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i="1">
                  <a:solidFill>
                    <a:srgbClr val="800000"/>
                  </a:solidFill>
                  <a:latin typeface="Arial" panose="020B0604020202020204" pitchFamily="34" charset="0"/>
                  <a:ea typeface="휴먼모음T" panose="02030504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i="1">
                  <a:solidFill>
                    <a:srgbClr val="800000"/>
                  </a:solidFill>
                  <a:latin typeface="Arial" panose="020B0604020202020204" pitchFamily="34" charset="0"/>
                  <a:ea typeface="휴먼모음T" panose="02030504000101010101" pitchFamily="18" charset="-127"/>
                </a:defRPr>
              </a:lvl9pPr>
            </a:lstStyle>
            <a:p>
              <a:pPr algn="r" eaLnBrk="1" latinLnBrk="1" hangingPunct="1"/>
              <a:endParaRPr lang="ko-KR" altLang="en-US" sz="110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5" name="직사각형 3">
              <a:extLst>
                <a:ext uri="{FF2B5EF4-FFF2-40B4-BE49-F238E27FC236}">
                  <a16:creationId xmlns:a16="http://schemas.microsoft.com/office/drawing/2014/main" xmlns="" id="{37D84A64-47E2-47CE-8759-F1EA6F5FCD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9126" y="2216150"/>
              <a:ext cx="5692269" cy="2453888"/>
            </a:xfrm>
            <a:prstGeom prst="rect">
              <a:avLst/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36000" tIns="0" rIns="0" bIns="0">
              <a:spAutoFit/>
            </a:bodyPr>
            <a:lstStyle>
              <a:lvl1pPr>
                <a:defRPr kumimoji="1" sz="1200" b="1" i="1">
                  <a:solidFill>
                    <a:srgbClr val="800000"/>
                  </a:solidFill>
                  <a:latin typeface="Arial" panose="020B0604020202020204" pitchFamily="34" charset="0"/>
                  <a:ea typeface="휴먼모음T" panose="02030504000101010101" pitchFamily="18" charset="-127"/>
                </a:defRPr>
              </a:lvl1pPr>
              <a:lvl2pPr marL="742950" indent="-285750">
                <a:defRPr kumimoji="1" sz="1200" b="1" i="1">
                  <a:solidFill>
                    <a:srgbClr val="800000"/>
                  </a:solidFill>
                  <a:latin typeface="Arial" panose="020B0604020202020204" pitchFamily="34" charset="0"/>
                  <a:ea typeface="휴먼모음T" panose="02030504000101010101" pitchFamily="18" charset="-127"/>
                </a:defRPr>
              </a:lvl2pPr>
              <a:lvl3pPr marL="1143000" indent="-228600">
                <a:defRPr kumimoji="1" sz="1200" b="1" i="1">
                  <a:solidFill>
                    <a:srgbClr val="800000"/>
                  </a:solidFill>
                  <a:latin typeface="Arial" panose="020B0604020202020204" pitchFamily="34" charset="0"/>
                  <a:ea typeface="휴먼모음T" panose="02030504000101010101" pitchFamily="18" charset="-127"/>
                </a:defRPr>
              </a:lvl3pPr>
              <a:lvl4pPr marL="1600200" indent="-228600">
                <a:defRPr kumimoji="1" sz="1200" b="1" i="1">
                  <a:solidFill>
                    <a:srgbClr val="800000"/>
                  </a:solidFill>
                  <a:latin typeface="Arial" panose="020B0604020202020204" pitchFamily="34" charset="0"/>
                  <a:ea typeface="휴먼모음T" panose="02030504000101010101" pitchFamily="18" charset="-127"/>
                </a:defRPr>
              </a:lvl4pPr>
              <a:lvl5pPr marL="2057400" indent="-228600">
                <a:defRPr kumimoji="1" sz="1200" b="1" i="1">
                  <a:solidFill>
                    <a:srgbClr val="800000"/>
                  </a:solidFill>
                  <a:latin typeface="Arial" panose="020B0604020202020204" pitchFamily="34" charset="0"/>
                  <a:ea typeface="휴먼모음T" panose="02030504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i="1">
                  <a:solidFill>
                    <a:srgbClr val="800000"/>
                  </a:solidFill>
                  <a:latin typeface="Arial" panose="020B0604020202020204" pitchFamily="34" charset="0"/>
                  <a:ea typeface="휴먼모음T" panose="02030504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i="1">
                  <a:solidFill>
                    <a:srgbClr val="800000"/>
                  </a:solidFill>
                  <a:latin typeface="Arial" panose="020B0604020202020204" pitchFamily="34" charset="0"/>
                  <a:ea typeface="휴먼모음T" panose="02030504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i="1">
                  <a:solidFill>
                    <a:srgbClr val="800000"/>
                  </a:solidFill>
                  <a:latin typeface="Arial" panose="020B0604020202020204" pitchFamily="34" charset="0"/>
                  <a:ea typeface="휴먼모음T" panose="02030504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i="1">
                  <a:solidFill>
                    <a:srgbClr val="800000"/>
                  </a:solidFill>
                  <a:latin typeface="Arial" panose="020B0604020202020204" pitchFamily="34" charset="0"/>
                  <a:ea typeface="휴먼모음T" panose="02030504000101010101" pitchFamily="18" charset="-127"/>
                </a:defRPr>
              </a:lvl9pPr>
            </a:lstStyle>
            <a:p>
              <a:pPr algn="r" eaLnBrk="1" latinLnBrk="1" hangingPunct="1"/>
              <a:endParaRPr lang="ko-KR" altLang="en-US" sz="110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6" name="직사각형 4">
              <a:extLst>
                <a:ext uri="{FF2B5EF4-FFF2-40B4-BE49-F238E27FC236}">
                  <a16:creationId xmlns:a16="http://schemas.microsoft.com/office/drawing/2014/main" xmlns="" id="{B23F4A06-E814-4921-A1D5-D7B9524CAC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3107" y="2241895"/>
              <a:ext cx="1538289" cy="249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5747" tIns="37874" rIns="75747" bIns="37874"/>
            <a:lstStyle>
              <a:lvl1pPr defTabSz="457200">
                <a:defRPr kumimoji="1" sz="1200" b="1" i="1">
                  <a:solidFill>
                    <a:srgbClr val="800000"/>
                  </a:solidFill>
                  <a:latin typeface="Arial" panose="020B0604020202020204" pitchFamily="34" charset="0"/>
                  <a:ea typeface="휴먼모음T" panose="02030504000101010101" pitchFamily="18" charset="-127"/>
                </a:defRPr>
              </a:lvl1pPr>
              <a:lvl2pPr marL="742950" indent="-285750" defTabSz="457200">
                <a:defRPr kumimoji="1" sz="1200" b="1" i="1">
                  <a:solidFill>
                    <a:srgbClr val="800000"/>
                  </a:solidFill>
                  <a:latin typeface="Arial" panose="020B0604020202020204" pitchFamily="34" charset="0"/>
                  <a:ea typeface="휴먼모음T" panose="02030504000101010101" pitchFamily="18" charset="-127"/>
                </a:defRPr>
              </a:lvl2pPr>
              <a:lvl3pPr marL="1143000" indent="-228600" defTabSz="457200">
                <a:defRPr kumimoji="1" sz="1200" b="1" i="1">
                  <a:solidFill>
                    <a:srgbClr val="800000"/>
                  </a:solidFill>
                  <a:latin typeface="Arial" panose="020B0604020202020204" pitchFamily="34" charset="0"/>
                  <a:ea typeface="휴먼모음T" panose="02030504000101010101" pitchFamily="18" charset="-127"/>
                </a:defRPr>
              </a:lvl3pPr>
              <a:lvl4pPr marL="1600200" indent="-228600" defTabSz="457200">
                <a:defRPr kumimoji="1" sz="1200" b="1" i="1">
                  <a:solidFill>
                    <a:srgbClr val="800000"/>
                  </a:solidFill>
                  <a:latin typeface="Arial" panose="020B0604020202020204" pitchFamily="34" charset="0"/>
                  <a:ea typeface="휴먼모음T" panose="02030504000101010101" pitchFamily="18" charset="-127"/>
                </a:defRPr>
              </a:lvl4pPr>
              <a:lvl5pPr marL="2057400" indent="-228600" defTabSz="457200">
                <a:defRPr kumimoji="1" sz="1200" b="1" i="1">
                  <a:solidFill>
                    <a:srgbClr val="800000"/>
                  </a:solidFill>
                  <a:latin typeface="Arial" panose="020B0604020202020204" pitchFamily="34" charset="0"/>
                  <a:ea typeface="휴먼모음T" panose="02030504000101010101" pitchFamily="18" charset="-127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i="1">
                  <a:solidFill>
                    <a:srgbClr val="800000"/>
                  </a:solidFill>
                  <a:latin typeface="Arial" panose="020B0604020202020204" pitchFamily="34" charset="0"/>
                  <a:ea typeface="휴먼모음T" panose="02030504000101010101" pitchFamily="18" charset="-127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i="1">
                  <a:solidFill>
                    <a:srgbClr val="800000"/>
                  </a:solidFill>
                  <a:latin typeface="Arial" panose="020B0604020202020204" pitchFamily="34" charset="0"/>
                  <a:ea typeface="휴먼모음T" panose="02030504000101010101" pitchFamily="18" charset="-127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i="1">
                  <a:solidFill>
                    <a:srgbClr val="800000"/>
                  </a:solidFill>
                  <a:latin typeface="Arial" panose="020B0604020202020204" pitchFamily="34" charset="0"/>
                  <a:ea typeface="휴먼모음T" panose="02030504000101010101" pitchFamily="18" charset="-127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i="1">
                  <a:solidFill>
                    <a:srgbClr val="800000"/>
                  </a:solidFill>
                  <a:latin typeface="Arial" panose="020B0604020202020204" pitchFamily="34" charset="0"/>
                  <a:ea typeface="휴먼모음T" panose="02030504000101010101" pitchFamily="18" charset="-127"/>
                </a:defRPr>
              </a:lvl9pPr>
            </a:lstStyle>
            <a:p>
              <a:pPr algn="ctr" eaLnBrk="1" hangingPunct="1"/>
              <a:r>
                <a:rPr kumimoji="0" lang="en-US" altLang="ko-KR" sz="1400" i="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SBC Firmware</a:t>
              </a:r>
              <a:endParaRPr kumimoji="0" lang="ko-KR" altLang="en-US" sz="1400" i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7" name="직사각형 16387">
              <a:extLst>
                <a:ext uri="{FF2B5EF4-FFF2-40B4-BE49-F238E27FC236}">
                  <a16:creationId xmlns:a16="http://schemas.microsoft.com/office/drawing/2014/main" xmlns="" id="{AFFF9831-8923-4199-B26C-717A3F3FC0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86380" y="2244706"/>
              <a:ext cx="1538289" cy="250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5747" tIns="37874" rIns="75747" bIns="37874"/>
            <a:lstStyle>
              <a:lvl1pPr defTabSz="457200">
                <a:defRPr kumimoji="1" sz="1200" b="1" i="1">
                  <a:solidFill>
                    <a:srgbClr val="800000"/>
                  </a:solidFill>
                  <a:latin typeface="Arial" panose="020B0604020202020204" pitchFamily="34" charset="0"/>
                  <a:ea typeface="휴먼모음T" panose="02030504000101010101" pitchFamily="18" charset="-127"/>
                </a:defRPr>
              </a:lvl1pPr>
              <a:lvl2pPr marL="742950" indent="-285750" defTabSz="457200">
                <a:defRPr kumimoji="1" sz="1200" b="1" i="1">
                  <a:solidFill>
                    <a:srgbClr val="800000"/>
                  </a:solidFill>
                  <a:latin typeface="Arial" panose="020B0604020202020204" pitchFamily="34" charset="0"/>
                  <a:ea typeface="휴먼모음T" panose="02030504000101010101" pitchFamily="18" charset="-127"/>
                </a:defRPr>
              </a:lvl2pPr>
              <a:lvl3pPr marL="1143000" indent="-228600" defTabSz="457200">
                <a:defRPr kumimoji="1" sz="1200" b="1" i="1">
                  <a:solidFill>
                    <a:srgbClr val="800000"/>
                  </a:solidFill>
                  <a:latin typeface="Arial" panose="020B0604020202020204" pitchFamily="34" charset="0"/>
                  <a:ea typeface="휴먼모음T" panose="02030504000101010101" pitchFamily="18" charset="-127"/>
                </a:defRPr>
              </a:lvl3pPr>
              <a:lvl4pPr marL="1600200" indent="-228600" defTabSz="457200">
                <a:defRPr kumimoji="1" sz="1200" b="1" i="1">
                  <a:solidFill>
                    <a:srgbClr val="800000"/>
                  </a:solidFill>
                  <a:latin typeface="Arial" panose="020B0604020202020204" pitchFamily="34" charset="0"/>
                  <a:ea typeface="휴먼모음T" panose="02030504000101010101" pitchFamily="18" charset="-127"/>
                </a:defRPr>
              </a:lvl4pPr>
              <a:lvl5pPr marL="2057400" indent="-228600" defTabSz="457200">
                <a:defRPr kumimoji="1" sz="1200" b="1" i="1">
                  <a:solidFill>
                    <a:srgbClr val="800000"/>
                  </a:solidFill>
                  <a:latin typeface="Arial" panose="020B0604020202020204" pitchFamily="34" charset="0"/>
                  <a:ea typeface="휴먼모음T" panose="02030504000101010101" pitchFamily="18" charset="-127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i="1">
                  <a:solidFill>
                    <a:srgbClr val="800000"/>
                  </a:solidFill>
                  <a:latin typeface="Arial" panose="020B0604020202020204" pitchFamily="34" charset="0"/>
                  <a:ea typeface="휴먼모음T" panose="02030504000101010101" pitchFamily="18" charset="-127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i="1">
                  <a:solidFill>
                    <a:srgbClr val="800000"/>
                  </a:solidFill>
                  <a:latin typeface="Arial" panose="020B0604020202020204" pitchFamily="34" charset="0"/>
                  <a:ea typeface="휴먼모음T" panose="02030504000101010101" pitchFamily="18" charset="-127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i="1">
                  <a:solidFill>
                    <a:srgbClr val="800000"/>
                  </a:solidFill>
                  <a:latin typeface="Arial" panose="020B0604020202020204" pitchFamily="34" charset="0"/>
                  <a:ea typeface="휴먼모음T" panose="02030504000101010101" pitchFamily="18" charset="-127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i="1">
                  <a:solidFill>
                    <a:srgbClr val="800000"/>
                  </a:solidFill>
                  <a:latin typeface="Arial" panose="020B0604020202020204" pitchFamily="34" charset="0"/>
                  <a:ea typeface="휴먼모음T" panose="02030504000101010101" pitchFamily="18" charset="-127"/>
                </a:defRPr>
              </a:lvl9pPr>
            </a:lstStyle>
            <a:p>
              <a:pPr algn="ctr" eaLnBrk="1" hangingPunct="1"/>
              <a:r>
                <a:rPr kumimoji="0" lang="en-US" altLang="ko-KR" sz="1400" i="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ION Software</a:t>
              </a:r>
              <a:endParaRPr kumimoji="0" lang="ko-KR" altLang="en-US" sz="1400" i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82" name="직사각형 81">
            <a:extLst>
              <a:ext uri="{FF2B5EF4-FFF2-40B4-BE49-F238E27FC236}">
                <a16:creationId xmlns:a16="http://schemas.microsoft.com/office/drawing/2014/main" xmlns="" id="{24299447-18BB-496D-9865-1685C7E1CA14}"/>
              </a:ext>
            </a:extLst>
          </p:cNvPr>
          <p:cNvSpPr/>
          <p:nvPr/>
        </p:nvSpPr>
        <p:spPr bwMode="auto">
          <a:xfrm>
            <a:off x="1350228" y="3287683"/>
            <a:ext cx="1017742" cy="584208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xmlns="" id="{BD3B51B6-0F85-4C9B-8FC0-3F6516C852A4}"/>
              </a:ext>
            </a:extLst>
          </p:cNvPr>
          <p:cNvCxnSpPr/>
          <p:nvPr/>
        </p:nvCxnSpPr>
        <p:spPr bwMode="auto">
          <a:xfrm flipH="1" flipV="1">
            <a:off x="1851152" y="3110447"/>
            <a:ext cx="1" cy="218781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7030A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xmlns="" id="{FD87850E-A108-4B38-98F5-66182AC30F22}"/>
              </a:ext>
            </a:extLst>
          </p:cNvPr>
          <p:cNvCxnSpPr/>
          <p:nvPr/>
        </p:nvCxnSpPr>
        <p:spPr bwMode="auto">
          <a:xfrm flipH="1">
            <a:off x="1835264" y="3130214"/>
            <a:ext cx="904534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7030A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xmlns="" id="{5B7D54F9-E31A-4E50-984E-CD19DBD4F12C}"/>
              </a:ext>
            </a:extLst>
          </p:cNvPr>
          <p:cNvCxnSpPr/>
          <p:nvPr/>
        </p:nvCxnSpPr>
        <p:spPr bwMode="auto">
          <a:xfrm flipH="1" flipV="1">
            <a:off x="2714193" y="3110447"/>
            <a:ext cx="1" cy="270419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7030A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xmlns="" id="{12533E3B-3708-4BB1-8B56-9D7A5C7AC68E}"/>
              </a:ext>
            </a:extLst>
          </p:cNvPr>
          <p:cNvCxnSpPr/>
          <p:nvPr/>
        </p:nvCxnSpPr>
        <p:spPr bwMode="auto">
          <a:xfrm flipH="1">
            <a:off x="3106899" y="3615394"/>
            <a:ext cx="385199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7030A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xmlns="" id="{44236F0F-6493-4457-8E83-258EE7CB1CC8}"/>
              </a:ext>
            </a:extLst>
          </p:cNvPr>
          <p:cNvCxnSpPr/>
          <p:nvPr/>
        </p:nvCxnSpPr>
        <p:spPr bwMode="auto">
          <a:xfrm flipH="1" flipV="1">
            <a:off x="3691477" y="3140343"/>
            <a:ext cx="1" cy="218781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7030A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xmlns="" id="{0A052D8C-39A0-4970-ACE8-E48CB630D592}"/>
              </a:ext>
            </a:extLst>
          </p:cNvPr>
          <p:cNvCxnSpPr/>
          <p:nvPr/>
        </p:nvCxnSpPr>
        <p:spPr bwMode="auto">
          <a:xfrm flipH="1">
            <a:off x="3661865" y="3137008"/>
            <a:ext cx="4284460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7030A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xmlns="" id="{495C16EC-85B6-4773-AE49-34D0A90B0C75}"/>
              </a:ext>
            </a:extLst>
          </p:cNvPr>
          <p:cNvCxnSpPr/>
          <p:nvPr/>
        </p:nvCxnSpPr>
        <p:spPr bwMode="auto">
          <a:xfrm flipH="1" flipV="1">
            <a:off x="7946324" y="3117242"/>
            <a:ext cx="1" cy="270419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7030A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xmlns="" id="{A83FFB7C-8A1E-4A11-B0D7-A40263B2C482}"/>
              </a:ext>
            </a:extLst>
          </p:cNvPr>
          <p:cNvCxnSpPr/>
          <p:nvPr/>
        </p:nvCxnSpPr>
        <p:spPr bwMode="auto">
          <a:xfrm flipV="1">
            <a:off x="7946324" y="3827938"/>
            <a:ext cx="0" cy="639701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7030A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8" name="직사각형 4">
            <a:extLst>
              <a:ext uri="{FF2B5EF4-FFF2-40B4-BE49-F238E27FC236}">
                <a16:creationId xmlns:a16="http://schemas.microsoft.com/office/drawing/2014/main" xmlns="" id="{22327CC3-01D9-4FE5-9290-43A6F2F0B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4793" y="4405526"/>
            <a:ext cx="2898775" cy="346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5747" tIns="37874" rIns="75747" bIns="37874"/>
          <a:lstStyle>
            <a:lvl1pPr defTabSz="4572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1pPr>
            <a:lvl2pPr marL="742950" indent="-285750" defTabSz="4572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2pPr>
            <a:lvl3pPr marL="1143000" indent="-228600" defTabSz="4572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3pPr>
            <a:lvl4pPr marL="1600200" indent="-228600" defTabSz="4572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4pPr>
            <a:lvl5pPr marL="2057400" indent="-228600" defTabSz="4572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9pPr>
          </a:lstStyle>
          <a:p>
            <a:pPr algn="ctr" eaLnBrk="1" hangingPunct="1"/>
            <a:r>
              <a:rPr kumimoji="0" lang="en-US" altLang="ko-KR" i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PDHU</a:t>
            </a:r>
            <a:r>
              <a:rPr kumimoji="0" lang="ko-KR" altLang="en-US" i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전송 클럭은</a:t>
            </a:r>
            <a:r>
              <a:rPr kumimoji="0" lang="en-US" altLang="ko-KR" i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2 Mbps</a:t>
            </a:r>
            <a:r>
              <a:rPr kumimoji="0" lang="ko-KR" altLang="en-US" i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고정</a:t>
            </a:r>
          </a:p>
        </p:txBody>
      </p:sp>
      <p:sp>
        <p:nvSpPr>
          <p:cNvPr id="110" name="직사각형 4">
            <a:extLst>
              <a:ext uri="{FF2B5EF4-FFF2-40B4-BE49-F238E27FC236}">
                <a16:creationId xmlns:a16="http://schemas.microsoft.com/office/drawing/2014/main" xmlns="" id="{648B44BB-355F-4B74-AE95-8A3EB41C91D8}"/>
              </a:ext>
            </a:extLst>
          </p:cNvPr>
          <p:cNvSpPr>
            <a:spLocks noChangeArrowheads="1"/>
          </p:cNvSpPr>
          <p:nvPr/>
        </p:nvSpPr>
        <p:spPr bwMode="auto">
          <a:xfrm rot="19997738">
            <a:off x="732059" y="2999425"/>
            <a:ext cx="1077681" cy="346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5747" tIns="37874" rIns="75747" bIns="37874"/>
          <a:lstStyle>
            <a:lvl1pPr defTabSz="4572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1pPr>
            <a:lvl2pPr marL="742950" indent="-285750" defTabSz="4572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2pPr>
            <a:lvl3pPr marL="1143000" indent="-228600" defTabSz="4572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3pPr>
            <a:lvl4pPr marL="1600200" indent="-228600" defTabSz="4572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4pPr>
            <a:lvl5pPr marL="2057400" indent="-228600" defTabSz="4572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9pPr>
          </a:lstStyle>
          <a:p>
            <a:pPr algn="ctr" eaLnBrk="1" hangingPunct="1"/>
            <a:r>
              <a:rPr kumimoji="0" lang="en-US" altLang="ko-KR" sz="1400" i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Revision(</a:t>
            </a:r>
            <a:r>
              <a:rPr kumimoji="0" lang="en-US" altLang="ko-KR" sz="1400" i="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r>
              <a:rPr kumimoji="0" lang="en-US" altLang="ko-KR" sz="1400" i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0" lang="ko-KR" altLang="en-US" sz="1400" i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" name="직사각형 4">
            <a:extLst>
              <a:ext uri="{FF2B5EF4-FFF2-40B4-BE49-F238E27FC236}">
                <a16:creationId xmlns:a16="http://schemas.microsoft.com/office/drawing/2014/main" xmlns="" id="{A7D6142E-5943-4445-BCF0-7074409CF9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442" y="4283735"/>
            <a:ext cx="2824226" cy="346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5747" tIns="37874" rIns="75747" bIns="37874"/>
          <a:lstStyle>
            <a:lvl1pPr defTabSz="4572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1pPr>
            <a:lvl2pPr marL="742950" indent="-285750" defTabSz="4572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2pPr>
            <a:lvl3pPr marL="1143000" indent="-228600" defTabSz="4572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3pPr>
            <a:lvl4pPr marL="1600200" indent="-228600" defTabSz="4572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4pPr>
            <a:lvl5pPr marL="2057400" indent="-228600" defTabSz="4572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9pPr>
          </a:lstStyle>
          <a:p>
            <a:pPr algn="ctr" eaLnBrk="1" hangingPunct="1"/>
            <a:r>
              <a:rPr kumimoji="0" lang="en-US" altLang="ko-KR" i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0" lang="en-US" altLang="ko-KR" i="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r>
              <a:rPr kumimoji="0" lang="en-US" altLang="ko-KR" i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Data</a:t>
            </a:r>
            <a:r>
              <a:rPr kumimoji="0" lang="ko-KR" altLang="en-US" i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전송</a:t>
            </a:r>
            <a:r>
              <a:rPr kumimoji="0" lang="en-US" altLang="ko-KR" i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Duty Cycle </a:t>
            </a:r>
            <a:r>
              <a:rPr kumimoji="0" lang="ko-KR" altLang="en-US" i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개선</a:t>
            </a:r>
          </a:p>
        </p:txBody>
      </p:sp>
      <p:graphicFrame>
        <p:nvGraphicFramePr>
          <p:cNvPr id="114" name="Group 414">
            <a:extLst>
              <a:ext uri="{FF2B5EF4-FFF2-40B4-BE49-F238E27FC236}">
                <a16:creationId xmlns:a16="http://schemas.microsoft.com/office/drawing/2014/main" xmlns="" id="{1B009E24-FB14-4593-9C6A-9EB3FBEEA7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8493402"/>
              </p:ext>
            </p:extLst>
          </p:nvPr>
        </p:nvGraphicFramePr>
        <p:xfrm>
          <a:off x="504827" y="5217058"/>
          <a:ext cx="8394698" cy="1101013"/>
        </p:xfrm>
        <a:graphic>
          <a:graphicData uri="http://schemas.openxmlformats.org/drawingml/2006/table">
            <a:tbl>
              <a:tblPr/>
              <a:tblGrid>
                <a:gridCol w="91122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60985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3239798">
                  <a:extLst>
                    <a:ext uri="{9D8B030D-6E8A-4147-A177-3AD203B41FA5}">
                      <a16:colId xmlns:a16="http://schemas.microsoft.com/office/drawing/2014/main" xmlns="" val="648404141"/>
                    </a:ext>
                  </a:extLst>
                </a:gridCol>
                <a:gridCol w="1633827">
                  <a:extLst>
                    <a:ext uri="{9D8B030D-6E8A-4147-A177-3AD203B41FA5}">
                      <a16:colId xmlns:a16="http://schemas.microsoft.com/office/drawing/2014/main" xmlns="" val="975545774"/>
                    </a:ext>
                  </a:extLst>
                </a:gridCol>
              </a:tblGrid>
              <a:tr h="39567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구분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6EEF7"/>
                        </a:gs>
                        <a:gs pos="100000">
                          <a:srgbClr val="C7DCE8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ION S/W Ver2.0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6EEF7"/>
                        </a:gs>
                        <a:gs pos="100000">
                          <a:srgbClr val="C7DCE8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ION S/W Ver3.0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6EEF7"/>
                        </a:gs>
                        <a:gs pos="100000">
                          <a:srgbClr val="C7DCE8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6EEF7"/>
                        </a:gs>
                        <a:gs pos="100000">
                          <a:srgbClr val="C7DCE8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72674">
                <a:tc>
                  <a:txBody>
                    <a:bodyPr/>
                    <a:lstStyle/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ION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CSU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900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rgbClr val="0000FF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150 kbps Throughput Performance</a:t>
                      </a:r>
                    </a:p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sz="1200" kern="1200" dirty="0">
                        <a:solidFill>
                          <a:schemeClr val="tx1"/>
                        </a:solidFill>
                        <a:latin typeface="Arial (제목)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rgbClr val="0000FF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800 kbps Throughput Performance</a:t>
                      </a:r>
                    </a:p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내부 데이터를 취득해서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포맷팅하는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 과정상의 성능개선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PDHU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전송 클럭은 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latin typeface="Arial (제목)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rgbClr val="0000FF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2 Mbps</a:t>
                      </a:r>
                      <a:r>
                        <a:rPr lang="ko-KR" altLang="en-US" sz="1200" kern="1200" dirty="0">
                          <a:solidFill>
                            <a:srgbClr val="0000FF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로 고정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임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07027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6883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S/W </a:t>
            </a:r>
            <a:r>
              <a:rPr lang="ko-KR" altLang="en-US" dirty="0" err="1"/>
              <a:t>변경점</a:t>
            </a:r>
            <a:r>
              <a:rPr lang="ko-KR" altLang="en-US" dirty="0"/>
              <a:t> </a:t>
            </a:r>
            <a:r>
              <a:rPr lang="en-US" altLang="ko-KR" dirty="0"/>
              <a:t>(Ver2.0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en-US" altLang="ko-KR" dirty="0"/>
              <a:t> Ver3.0)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233363" y="930275"/>
            <a:ext cx="8662987" cy="5248275"/>
          </a:xfrm>
        </p:spPr>
        <p:txBody>
          <a:bodyPr/>
          <a:lstStyle/>
          <a:p>
            <a:r>
              <a:rPr lang="en-US" altLang="ko-KR" dirty="0"/>
              <a:t>S/W Revision</a:t>
            </a:r>
            <a:r>
              <a:rPr lang="ko-KR" altLang="en-US" dirty="0"/>
              <a:t> 내역 상세 </a:t>
            </a:r>
            <a:r>
              <a:rPr lang="en-US" altLang="ko-KR" dirty="0"/>
              <a:t>(ION CSU)</a:t>
            </a:r>
          </a:p>
          <a:p>
            <a:pPr lvl="1"/>
            <a:r>
              <a:rPr lang="ko-KR" altLang="en-US" dirty="0"/>
              <a:t>전송할 데이터가 저장되어 있는 </a:t>
            </a:r>
            <a:r>
              <a:rPr lang="en-US" altLang="ko-KR" dirty="0"/>
              <a:t>NAND Flash Memory</a:t>
            </a:r>
            <a:r>
              <a:rPr lang="ko-KR" altLang="en-US" dirty="0"/>
              <a:t>에서 데이터를 읽어가는 속도가 느린 부분에 대한 </a:t>
            </a:r>
            <a:r>
              <a:rPr lang="en-US" altLang="ko-KR" dirty="0">
                <a:solidFill>
                  <a:srgbClr val="0000FF"/>
                </a:solidFill>
              </a:rPr>
              <a:t>S/W </a:t>
            </a:r>
            <a:r>
              <a:rPr lang="ko-KR" altLang="en-US" dirty="0">
                <a:solidFill>
                  <a:srgbClr val="0000FF"/>
                </a:solidFill>
              </a:rPr>
              <a:t>개선 조치 </a:t>
            </a:r>
            <a:r>
              <a:rPr lang="ko-KR" altLang="en-US" dirty="0"/>
              <a:t>수행</a:t>
            </a:r>
            <a:endParaRPr lang="en-US" altLang="ko-KR" dirty="0"/>
          </a:p>
          <a:p>
            <a:pPr lvl="2"/>
            <a:r>
              <a:rPr lang="en-US" altLang="ko-KR" b="1" dirty="0"/>
              <a:t>Double Buffering </a:t>
            </a:r>
            <a:r>
              <a:rPr lang="ko-KR" altLang="en-US" b="1" dirty="0"/>
              <a:t>방식으로 데이터를 읽도록 </a:t>
            </a:r>
            <a:r>
              <a:rPr lang="en-US" altLang="ko-KR" dirty="0"/>
              <a:t>HAL(Hardware Abstract Layer) S/W</a:t>
            </a:r>
            <a:r>
              <a:rPr lang="ko-KR" altLang="en-US" dirty="0"/>
              <a:t> 수정 </a:t>
            </a:r>
            <a:r>
              <a:rPr lang="en-US" altLang="ko-KR" dirty="0"/>
              <a:t>(NAND Controller</a:t>
            </a:r>
            <a:r>
              <a:rPr lang="ko-KR" altLang="en-US" dirty="0"/>
              <a:t>의 </a:t>
            </a:r>
            <a:r>
              <a:rPr lang="en-US" altLang="ko-KR" dirty="0"/>
              <a:t>Buffer0, Buffer1 </a:t>
            </a:r>
            <a:r>
              <a:rPr lang="ko-KR" altLang="en-US" dirty="0"/>
              <a:t>활용</a:t>
            </a:r>
            <a:r>
              <a:rPr lang="en-US" altLang="ko-KR" dirty="0"/>
              <a:t>)</a:t>
            </a:r>
            <a:r>
              <a:rPr lang="ko-KR" altLang="en-US" dirty="0"/>
              <a:t>하여 시간 지연 요소 없앰</a:t>
            </a:r>
            <a:endParaRPr lang="en-US" altLang="ko-KR" dirty="0"/>
          </a:p>
          <a:p>
            <a:pPr lvl="2"/>
            <a:r>
              <a:rPr lang="ko-KR" altLang="en-US" b="1" dirty="0"/>
              <a:t>코드 </a:t>
            </a:r>
            <a:r>
              <a:rPr lang="ko-KR" altLang="en-US" b="1" dirty="0" err="1"/>
              <a:t>옵티마이징</a:t>
            </a:r>
            <a:r>
              <a:rPr lang="ko-KR" altLang="en-US" b="1" dirty="0"/>
              <a:t> 수행 </a:t>
            </a:r>
            <a:r>
              <a:rPr lang="en-US" altLang="ko-KR" dirty="0"/>
              <a:t>(</a:t>
            </a:r>
            <a:r>
              <a:rPr lang="ko-KR" altLang="en-US" dirty="0"/>
              <a:t>불필요한 </a:t>
            </a:r>
            <a:r>
              <a:rPr lang="en-US" altLang="ko-KR" dirty="0"/>
              <a:t>wait </a:t>
            </a:r>
            <a:r>
              <a:rPr lang="ko-KR" altLang="en-US" dirty="0"/>
              <a:t>문 삭제</a:t>
            </a:r>
            <a:r>
              <a:rPr lang="en-US" altLang="ko-KR" dirty="0"/>
              <a:t>)</a:t>
            </a:r>
            <a:r>
              <a:rPr lang="ko-KR" altLang="en-US" dirty="0"/>
              <a:t>을 통한 시간 지연 요소 없앰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grpSp>
        <p:nvGrpSpPr>
          <p:cNvPr id="152" name="그룹 151">
            <a:extLst>
              <a:ext uri="{FF2B5EF4-FFF2-40B4-BE49-F238E27FC236}">
                <a16:creationId xmlns:a16="http://schemas.microsoft.com/office/drawing/2014/main" xmlns="" id="{78288313-2304-4ECA-85DE-A99EE0FF8D25}"/>
              </a:ext>
            </a:extLst>
          </p:cNvPr>
          <p:cNvGrpSpPr/>
          <p:nvPr/>
        </p:nvGrpSpPr>
        <p:grpSpPr>
          <a:xfrm>
            <a:off x="5308600" y="3432491"/>
            <a:ext cx="3451374" cy="2166978"/>
            <a:chOff x="4833499" y="2548647"/>
            <a:chExt cx="3926476" cy="2393281"/>
          </a:xfrm>
        </p:grpSpPr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xmlns="" id="{5610A2F2-6273-4C70-B023-EC265278DB06}"/>
                </a:ext>
              </a:extLst>
            </p:cNvPr>
            <p:cNvCxnSpPr/>
            <p:nvPr/>
          </p:nvCxnSpPr>
          <p:spPr bwMode="auto">
            <a:xfrm>
              <a:off x="6223206" y="4155968"/>
              <a:ext cx="304868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2" name="직선 연결선 101">
              <a:extLst>
                <a:ext uri="{FF2B5EF4-FFF2-40B4-BE49-F238E27FC236}">
                  <a16:creationId xmlns:a16="http://schemas.microsoft.com/office/drawing/2014/main" xmlns="" id="{0CB886E0-F39F-4B8F-8D7D-CE8A2A49A9F8}"/>
                </a:ext>
              </a:extLst>
            </p:cNvPr>
            <p:cNvCxnSpPr/>
            <p:nvPr/>
          </p:nvCxnSpPr>
          <p:spPr bwMode="auto">
            <a:xfrm>
              <a:off x="6223206" y="4524268"/>
              <a:ext cx="317567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xmlns="" id="{12EEAFFA-4AD2-40F5-807B-69DE89E248EE}"/>
                </a:ext>
              </a:extLst>
            </p:cNvPr>
            <p:cNvCxnSpPr/>
            <p:nvPr/>
          </p:nvCxnSpPr>
          <p:spPr bwMode="auto">
            <a:xfrm flipV="1">
              <a:off x="6223206" y="4155968"/>
              <a:ext cx="0" cy="36653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xmlns="" id="{F742B773-AB23-4B7B-AD1B-20D72F31837B}"/>
                </a:ext>
              </a:extLst>
            </p:cNvPr>
            <p:cNvCxnSpPr/>
            <p:nvPr/>
          </p:nvCxnSpPr>
          <p:spPr bwMode="auto">
            <a:xfrm flipH="1" flipV="1">
              <a:off x="5932532" y="4323771"/>
              <a:ext cx="290676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1" name="직선 연결선 110">
              <a:extLst>
                <a:ext uri="{FF2B5EF4-FFF2-40B4-BE49-F238E27FC236}">
                  <a16:creationId xmlns:a16="http://schemas.microsoft.com/office/drawing/2014/main" xmlns="" id="{610F1ECD-07F3-4F53-976F-3B064E030B57}"/>
                </a:ext>
              </a:extLst>
            </p:cNvPr>
            <p:cNvCxnSpPr/>
            <p:nvPr/>
          </p:nvCxnSpPr>
          <p:spPr bwMode="auto">
            <a:xfrm>
              <a:off x="7155198" y="4137792"/>
              <a:ext cx="304868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3" name="직선 연결선 112">
              <a:extLst>
                <a:ext uri="{FF2B5EF4-FFF2-40B4-BE49-F238E27FC236}">
                  <a16:creationId xmlns:a16="http://schemas.microsoft.com/office/drawing/2014/main" xmlns="" id="{3E248F31-B40E-4250-8FEA-07503588C78A}"/>
                </a:ext>
              </a:extLst>
            </p:cNvPr>
            <p:cNvCxnSpPr/>
            <p:nvPr/>
          </p:nvCxnSpPr>
          <p:spPr bwMode="auto">
            <a:xfrm>
              <a:off x="7155198" y="4506092"/>
              <a:ext cx="317567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xmlns="" id="{DF8DDC94-809F-4184-B53A-0F538D4AFADE}"/>
                </a:ext>
              </a:extLst>
            </p:cNvPr>
            <p:cNvCxnSpPr/>
            <p:nvPr/>
          </p:nvCxnSpPr>
          <p:spPr bwMode="auto">
            <a:xfrm flipV="1">
              <a:off x="7460066" y="4139562"/>
              <a:ext cx="0" cy="36653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xmlns="" id="{F0ABE84F-6E00-48F6-B4F3-B46A52D1F99B}"/>
                </a:ext>
              </a:extLst>
            </p:cNvPr>
            <p:cNvCxnSpPr/>
            <p:nvPr/>
          </p:nvCxnSpPr>
          <p:spPr bwMode="auto">
            <a:xfrm>
              <a:off x="7460066" y="4311071"/>
              <a:ext cx="304868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xmlns="" id="{18CB9C7F-4224-43BA-B5C7-A7C4D79E7DFF}"/>
                </a:ext>
              </a:extLst>
            </p:cNvPr>
            <p:cNvSpPr/>
            <p:nvPr/>
          </p:nvSpPr>
          <p:spPr>
            <a:xfrm>
              <a:off x="7739913" y="4066564"/>
              <a:ext cx="957011" cy="45592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Controller</a:t>
              </a:r>
              <a:endParaRPr lang="ko-KR" altLang="en-US" sz="1050" i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xmlns="" id="{FB4C7BC8-F0A6-4120-A25E-740B08B74D1D}"/>
                </a:ext>
              </a:extLst>
            </p:cNvPr>
            <p:cNvSpPr/>
            <p:nvPr/>
          </p:nvSpPr>
          <p:spPr bwMode="auto">
            <a:xfrm>
              <a:off x="6127509" y="3901658"/>
              <a:ext cx="2632466" cy="1040269"/>
            </a:xfrm>
            <a:prstGeom prst="rect">
              <a:avLst/>
            </a:prstGeom>
            <a:noFill/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 latinLnBrk="1">
                <a:defRPr/>
              </a:pPr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NAND Controller</a:t>
              </a:r>
              <a:endPara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xmlns="" id="{E1D20AD8-4987-465E-BAF2-45DD32A4786C}"/>
                </a:ext>
              </a:extLst>
            </p:cNvPr>
            <p:cNvSpPr/>
            <p:nvPr/>
          </p:nvSpPr>
          <p:spPr bwMode="auto">
            <a:xfrm>
              <a:off x="4833499" y="3901658"/>
              <a:ext cx="1099033" cy="1040270"/>
            </a:xfrm>
            <a:prstGeom prst="rect">
              <a:avLst/>
            </a:prstGeom>
            <a:noFill/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latinLnBrk="1">
                <a:lnSpc>
                  <a:spcPct val="100000"/>
                </a:lnSpc>
                <a:buClrTx/>
                <a:buSzTx/>
                <a:buFontTx/>
                <a:buNone/>
                <a:tabLst/>
                <a:defRPr/>
              </a:pPr>
              <a:r>
                <a:rPr lang="en-US" altLang="ko-KR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NAND Flash </a:t>
              </a:r>
            </a:p>
            <a:p>
              <a:pPr marL="0" marR="0" indent="0" algn="ctr" defTabSz="914400" latinLnBrk="1">
                <a:lnSpc>
                  <a:spcPct val="100000"/>
                </a:lnSpc>
                <a:buClrTx/>
                <a:buSzTx/>
                <a:buFontTx/>
                <a:buNone/>
                <a:tabLst/>
                <a:defRPr/>
              </a:pPr>
              <a:r>
                <a:rPr lang="en-US" altLang="ko-KR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Memory</a:t>
              </a:r>
              <a:endPara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xmlns="" id="{CABF2C3D-E9F1-4F6E-A6AE-602E88E118E2}"/>
                </a:ext>
              </a:extLst>
            </p:cNvPr>
            <p:cNvSpPr/>
            <p:nvPr/>
          </p:nvSpPr>
          <p:spPr bwMode="auto">
            <a:xfrm>
              <a:off x="7553473" y="3308472"/>
              <a:ext cx="1206502" cy="415421"/>
            </a:xfrm>
            <a:prstGeom prst="rect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latinLnBrk="1">
                <a:lnSpc>
                  <a:spcPct val="100000"/>
                </a:lnSpc>
                <a:buClrTx/>
                <a:buSzTx/>
                <a:buFontTx/>
                <a:buNone/>
                <a:tabLst/>
                <a:defRPr/>
              </a:pPr>
              <a:r>
                <a:rPr lang="en-US" altLang="ko-KR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HAL S/W</a:t>
              </a:r>
              <a:endPara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xmlns="" id="{87DEEABE-47BF-4E81-B72B-E278F34E16D7}"/>
                </a:ext>
              </a:extLst>
            </p:cNvPr>
            <p:cNvSpPr/>
            <p:nvPr/>
          </p:nvSpPr>
          <p:spPr bwMode="auto">
            <a:xfrm>
              <a:off x="7553473" y="2548647"/>
              <a:ext cx="1206502" cy="415421"/>
            </a:xfrm>
            <a:prstGeom prst="rect">
              <a:avLst/>
            </a:prstGeom>
            <a:noFill/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latinLnBrk="1">
                <a:lnSpc>
                  <a:spcPct val="100000"/>
                </a:lnSpc>
                <a:buClrTx/>
                <a:buSzTx/>
                <a:buFontTx/>
                <a:buNone/>
                <a:tabLst/>
                <a:defRPr/>
              </a:pP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ION S/W</a:t>
              </a:r>
              <a:endPara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24" name="직선 연결선 123">
              <a:extLst>
                <a:ext uri="{FF2B5EF4-FFF2-40B4-BE49-F238E27FC236}">
                  <a16:creationId xmlns:a16="http://schemas.microsoft.com/office/drawing/2014/main" xmlns="" id="{4847FC79-D190-4475-B62B-FBC517AC7C33}"/>
                </a:ext>
              </a:extLst>
            </p:cNvPr>
            <p:cNvCxnSpPr/>
            <p:nvPr/>
          </p:nvCxnSpPr>
          <p:spPr bwMode="auto">
            <a:xfrm>
              <a:off x="8150488" y="3709470"/>
              <a:ext cx="0" cy="35709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9" name="직선 연결선 128">
              <a:extLst>
                <a:ext uri="{FF2B5EF4-FFF2-40B4-BE49-F238E27FC236}">
                  <a16:creationId xmlns:a16="http://schemas.microsoft.com/office/drawing/2014/main" xmlns="" id="{6713F1C9-1300-40CC-8559-DD1C9AC05E00}"/>
                </a:ext>
              </a:extLst>
            </p:cNvPr>
            <p:cNvCxnSpPr/>
            <p:nvPr/>
          </p:nvCxnSpPr>
          <p:spPr bwMode="auto">
            <a:xfrm>
              <a:off x="8137788" y="2951378"/>
              <a:ext cx="0" cy="35709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xmlns="" id="{156451B2-B731-4827-8A04-B7BBBA32BCF7}"/>
                </a:ext>
              </a:extLst>
            </p:cNvPr>
            <p:cNvSpPr/>
            <p:nvPr/>
          </p:nvSpPr>
          <p:spPr>
            <a:xfrm>
              <a:off x="6519099" y="4403410"/>
              <a:ext cx="785874" cy="238176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Buffer 1</a:t>
              </a:r>
              <a:endParaRPr lang="ko-KR" altLang="en-US" sz="1050" i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xmlns="" id="{41F1828A-500D-417D-86B4-159164C20372}"/>
                </a:ext>
              </a:extLst>
            </p:cNvPr>
            <p:cNvSpPr/>
            <p:nvPr/>
          </p:nvSpPr>
          <p:spPr>
            <a:xfrm>
              <a:off x="6528074" y="4027545"/>
              <a:ext cx="785875" cy="238176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Buffer 0</a:t>
              </a:r>
              <a:endParaRPr lang="ko-KR" altLang="en-US" sz="1050" i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53" name="그룹 152">
            <a:extLst>
              <a:ext uri="{FF2B5EF4-FFF2-40B4-BE49-F238E27FC236}">
                <a16:creationId xmlns:a16="http://schemas.microsoft.com/office/drawing/2014/main" xmlns="" id="{D5AA39CD-C5B8-4417-9BA5-37E931C35599}"/>
              </a:ext>
            </a:extLst>
          </p:cNvPr>
          <p:cNvGrpSpPr/>
          <p:nvPr/>
        </p:nvGrpSpPr>
        <p:grpSpPr>
          <a:xfrm>
            <a:off x="505429" y="3432491"/>
            <a:ext cx="3451374" cy="2166978"/>
            <a:chOff x="4833499" y="2548647"/>
            <a:chExt cx="3926476" cy="2393281"/>
          </a:xfrm>
        </p:grpSpPr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xmlns="" id="{CA0F2003-AEAD-454C-99C3-855EA67E52AE}"/>
                </a:ext>
              </a:extLst>
            </p:cNvPr>
            <p:cNvCxnSpPr/>
            <p:nvPr/>
          </p:nvCxnSpPr>
          <p:spPr bwMode="auto">
            <a:xfrm>
              <a:off x="6223206" y="4155968"/>
              <a:ext cx="304868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xmlns="" id="{FD9BCEF5-510A-4D2E-9839-7123735A25B6}"/>
                </a:ext>
              </a:extLst>
            </p:cNvPr>
            <p:cNvCxnSpPr/>
            <p:nvPr/>
          </p:nvCxnSpPr>
          <p:spPr bwMode="auto">
            <a:xfrm>
              <a:off x="6223206" y="4524268"/>
              <a:ext cx="317567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xmlns="" id="{F8B50CD7-361C-4060-84DE-5FA397155326}"/>
                </a:ext>
              </a:extLst>
            </p:cNvPr>
            <p:cNvCxnSpPr/>
            <p:nvPr/>
          </p:nvCxnSpPr>
          <p:spPr bwMode="auto">
            <a:xfrm flipV="1">
              <a:off x="6223206" y="4155968"/>
              <a:ext cx="0" cy="36653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xmlns="" id="{ADE4BAF8-911B-403C-8657-B50AA23C1699}"/>
                </a:ext>
              </a:extLst>
            </p:cNvPr>
            <p:cNvCxnSpPr/>
            <p:nvPr/>
          </p:nvCxnSpPr>
          <p:spPr bwMode="auto">
            <a:xfrm flipH="1" flipV="1">
              <a:off x="5932532" y="4323771"/>
              <a:ext cx="290676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xmlns="" id="{1A22BAD7-8931-421E-BB95-0DD2A7E8444E}"/>
                </a:ext>
              </a:extLst>
            </p:cNvPr>
            <p:cNvCxnSpPr/>
            <p:nvPr/>
          </p:nvCxnSpPr>
          <p:spPr bwMode="auto">
            <a:xfrm>
              <a:off x="7155198" y="4137792"/>
              <a:ext cx="304868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xmlns="" id="{337CCC1C-A6C2-4533-B82F-27476980009F}"/>
                </a:ext>
              </a:extLst>
            </p:cNvPr>
            <p:cNvCxnSpPr/>
            <p:nvPr/>
          </p:nvCxnSpPr>
          <p:spPr bwMode="auto">
            <a:xfrm>
              <a:off x="7155198" y="4506092"/>
              <a:ext cx="317567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xmlns="" id="{7D18A4C3-6F53-418C-A124-D86BFA4FB5EB}"/>
                </a:ext>
              </a:extLst>
            </p:cNvPr>
            <p:cNvCxnSpPr/>
            <p:nvPr/>
          </p:nvCxnSpPr>
          <p:spPr bwMode="auto">
            <a:xfrm flipV="1">
              <a:off x="7460066" y="4139562"/>
              <a:ext cx="0" cy="36653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xmlns="" id="{43AF8D68-A6C1-44A1-94DC-3D5ABF8540CA}"/>
                </a:ext>
              </a:extLst>
            </p:cNvPr>
            <p:cNvCxnSpPr/>
            <p:nvPr/>
          </p:nvCxnSpPr>
          <p:spPr bwMode="auto">
            <a:xfrm>
              <a:off x="7460066" y="4311071"/>
              <a:ext cx="304868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2" name="사각형: 둥근 모서리 161">
              <a:extLst>
                <a:ext uri="{FF2B5EF4-FFF2-40B4-BE49-F238E27FC236}">
                  <a16:creationId xmlns:a16="http://schemas.microsoft.com/office/drawing/2014/main" xmlns="" id="{DF96DA45-011E-4BAA-BD92-766B09AEBA74}"/>
                </a:ext>
              </a:extLst>
            </p:cNvPr>
            <p:cNvSpPr/>
            <p:nvPr/>
          </p:nvSpPr>
          <p:spPr>
            <a:xfrm>
              <a:off x="7739913" y="4066564"/>
              <a:ext cx="957011" cy="45592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Controller</a:t>
              </a:r>
              <a:endParaRPr lang="ko-KR" altLang="en-US" sz="1050" i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3" name="직사각형 162">
              <a:extLst>
                <a:ext uri="{FF2B5EF4-FFF2-40B4-BE49-F238E27FC236}">
                  <a16:creationId xmlns:a16="http://schemas.microsoft.com/office/drawing/2014/main" xmlns="" id="{77AD0F30-2822-4979-AB5E-AC8ACE6E1D69}"/>
                </a:ext>
              </a:extLst>
            </p:cNvPr>
            <p:cNvSpPr/>
            <p:nvPr/>
          </p:nvSpPr>
          <p:spPr bwMode="auto">
            <a:xfrm>
              <a:off x="6127509" y="3901658"/>
              <a:ext cx="2632466" cy="1040269"/>
            </a:xfrm>
            <a:prstGeom prst="rect">
              <a:avLst/>
            </a:prstGeom>
            <a:noFill/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 latinLnBrk="1">
                <a:defRPr/>
              </a:pPr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NAND Controller</a:t>
              </a:r>
              <a:endPara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4" name="직사각형 163">
              <a:extLst>
                <a:ext uri="{FF2B5EF4-FFF2-40B4-BE49-F238E27FC236}">
                  <a16:creationId xmlns:a16="http://schemas.microsoft.com/office/drawing/2014/main" xmlns="" id="{36352828-4749-43F9-A183-DAF582484947}"/>
                </a:ext>
              </a:extLst>
            </p:cNvPr>
            <p:cNvSpPr/>
            <p:nvPr/>
          </p:nvSpPr>
          <p:spPr bwMode="auto">
            <a:xfrm>
              <a:off x="4833499" y="3901658"/>
              <a:ext cx="1099033" cy="1040270"/>
            </a:xfrm>
            <a:prstGeom prst="rect">
              <a:avLst/>
            </a:prstGeom>
            <a:noFill/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latinLnBrk="1">
                <a:lnSpc>
                  <a:spcPct val="100000"/>
                </a:lnSpc>
                <a:buClrTx/>
                <a:buSzTx/>
                <a:buFontTx/>
                <a:buNone/>
                <a:tabLst/>
                <a:defRPr/>
              </a:pPr>
              <a:r>
                <a:rPr lang="en-US" altLang="ko-KR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NAND Flash </a:t>
              </a:r>
            </a:p>
            <a:p>
              <a:pPr marL="0" marR="0" indent="0" algn="ctr" defTabSz="914400" latinLnBrk="1">
                <a:lnSpc>
                  <a:spcPct val="100000"/>
                </a:lnSpc>
                <a:buClrTx/>
                <a:buSzTx/>
                <a:buFontTx/>
                <a:buNone/>
                <a:tabLst/>
                <a:defRPr/>
              </a:pPr>
              <a:r>
                <a:rPr lang="en-US" altLang="ko-KR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Memory</a:t>
              </a:r>
              <a:endPara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5" name="직사각형 164">
              <a:extLst>
                <a:ext uri="{FF2B5EF4-FFF2-40B4-BE49-F238E27FC236}">
                  <a16:creationId xmlns:a16="http://schemas.microsoft.com/office/drawing/2014/main" xmlns="" id="{07F66EF4-3814-4CDF-B6FE-730BD7743347}"/>
                </a:ext>
              </a:extLst>
            </p:cNvPr>
            <p:cNvSpPr/>
            <p:nvPr/>
          </p:nvSpPr>
          <p:spPr bwMode="auto">
            <a:xfrm>
              <a:off x="7553473" y="3308472"/>
              <a:ext cx="1206502" cy="415421"/>
            </a:xfrm>
            <a:prstGeom prst="rect">
              <a:avLst/>
            </a:prstGeom>
            <a:noFill/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latinLnBrk="1">
                <a:lnSpc>
                  <a:spcPct val="100000"/>
                </a:lnSpc>
                <a:buClrTx/>
                <a:buSzTx/>
                <a:buFontTx/>
                <a:buNone/>
                <a:tabLst/>
                <a:defRPr/>
              </a:pPr>
              <a:r>
                <a:rPr lang="en-US" altLang="ko-KR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HAL S/W</a:t>
              </a:r>
              <a:endPara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6" name="직사각형 165">
              <a:extLst>
                <a:ext uri="{FF2B5EF4-FFF2-40B4-BE49-F238E27FC236}">
                  <a16:creationId xmlns:a16="http://schemas.microsoft.com/office/drawing/2014/main" xmlns="" id="{3633D308-2F31-410D-9AB8-ADAD132DB832}"/>
                </a:ext>
              </a:extLst>
            </p:cNvPr>
            <p:cNvSpPr/>
            <p:nvPr/>
          </p:nvSpPr>
          <p:spPr bwMode="auto">
            <a:xfrm>
              <a:off x="7553473" y="2548647"/>
              <a:ext cx="1206502" cy="415421"/>
            </a:xfrm>
            <a:prstGeom prst="rect">
              <a:avLst/>
            </a:prstGeom>
            <a:noFill/>
            <a:ln w="31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latinLnBrk="1">
                <a:lnSpc>
                  <a:spcPct val="100000"/>
                </a:lnSpc>
                <a:buClrTx/>
                <a:buSzTx/>
                <a:buFontTx/>
                <a:buNone/>
                <a:tabLst/>
                <a:defRPr/>
              </a:pP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ION S/W</a:t>
              </a:r>
              <a:endPara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xmlns="" id="{A2E51083-EA50-4A0B-8692-93A6F38A1D70}"/>
                </a:ext>
              </a:extLst>
            </p:cNvPr>
            <p:cNvCxnSpPr/>
            <p:nvPr/>
          </p:nvCxnSpPr>
          <p:spPr bwMode="auto">
            <a:xfrm>
              <a:off x="8150488" y="3709470"/>
              <a:ext cx="0" cy="35709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xmlns="" id="{45EF25AB-8F4A-4335-BCAE-EEC9DDADFD4E}"/>
                </a:ext>
              </a:extLst>
            </p:cNvPr>
            <p:cNvCxnSpPr/>
            <p:nvPr/>
          </p:nvCxnSpPr>
          <p:spPr bwMode="auto">
            <a:xfrm>
              <a:off x="8137788" y="2951378"/>
              <a:ext cx="0" cy="35709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9" name="사각형: 둥근 모서리 168">
              <a:extLst>
                <a:ext uri="{FF2B5EF4-FFF2-40B4-BE49-F238E27FC236}">
                  <a16:creationId xmlns:a16="http://schemas.microsoft.com/office/drawing/2014/main" xmlns="" id="{1DD48F2E-EA03-4B1D-8B12-EF0B77E8B02E}"/>
                </a:ext>
              </a:extLst>
            </p:cNvPr>
            <p:cNvSpPr/>
            <p:nvPr/>
          </p:nvSpPr>
          <p:spPr>
            <a:xfrm>
              <a:off x="6519099" y="4403410"/>
              <a:ext cx="785874" cy="23817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Buffer 1</a:t>
              </a:r>
              <a:endParaRPr lang="ko-KR" altLang="en-US" sz="1050" i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70" name="사각형: 둥근 모서리 169">
              <a:extLst>
                <a:ext uri="{FF2B5EF4-FFF2-40B4-BE49-F238E27FC236}">
                  <a16:creationId xmlns:a16="http://schemas.microsoft.com/office/drawing/2014/main" xmlns="" id="{7E50DBAC-260A-4BB7-A4BC-3E966CDC72F6}"/>
                </a:ext>
              </a:extLst>
            </p:cNvPr>
            <p:cNvSpPr/>
            <p:nvPr/>
          </p:nvSpPr>
          <p:spPr>
            <a:xfrm>
              <a:off x="6528074" y="4027545"/>
              <a:ext cx="785875" cy="238176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Buffer 0</a:t>
              </a:r>
              <a:endParaRPr lang="ko-KR" altLang="en-US" sz="1050" i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72" name="화살표: 오른쪽 171">
            <a:extLst>
              <a:ext uri="{FF2B5EF4-FFF2-40B4-BE49-F238E27FC236}">
                <a16:creationId xmlns:a16="http://schemas.microsoft.com/office/drawing/2014/main" xmlns="" id="{DD4907DD-EA83-448C-88F0-029972AAD8F3}"/>
              </a:ext>
            </a:extLst>
          </p:cNvPr>
          <p:cNvSpPr/>
          <p:nvPr/>
        </p:nvSpPr>
        <p:spPr bwMode="auto">
          <a:xfrm>
            <a:off x="4362678" y="4276160"/>
            <a:ext cx="317500" cy="488950"/>
          </a:xfrm>
          <a:prstGeom prst="rightArrow">
            <a:avLst/>
          </a:prstGeom>
          <a:noFill/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xmlns="" id="{B8C28833-45CF-4909-80F0-2D4AF180BA9C}"/>
              </a:ext>
            </a:extLst>
          </p:cNvPr>
          <p:cNvSpPr txBox="1"/>
          <p:nvPr/>
        </p:nvSpPr>
        <p:spPr>
          <a:xfrm>
            <a:off x="4956697" y="3588577"/>
            <a:ext cx="2557651" cy="7771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txBody>
          <a:bodyPr wrap="square">
            <a:spAutoFit/>
          </a:bodyPr>
          <a:lstStyle/>
          <a:p>
            <a:pPr marL="90000" indent="-90000" eaLnBrk="1" latinLnBrk="1" hangingPunct="1">
              <a:spcAft>
                <a:spcPts val="100"/>
              </a:spcAft>
              <a:buClr>
                <a:schemeClr val="bg1">
                  <a:lumMod val="50000"/>
                </a:schemeClr>
              </a:buClr>
              <a:defRPr/>
            </a:pPr>
            <a:r>
              <a:rPr lang="en-US" altLang="ko-KR" sz="1050" b="1" i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(1) Double Buffering </a:t>
            </a:r>
            <a:r>
              <a:rPr lang="ko-KR" altLang="en-US" sz="1050" b="1" i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</a:t>
            </a:r>
            <a:r>
              <a:rPr lang="en-US" altLang="ko-KR" sz="1050" b="1" i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50" b="1" i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 </a:t>
            </a:r>
            <a:endParaRPr lang="en-US" altLang="ko-KR" sz="1050" b="1" i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90000" indent="-90000" eaLnBrk="1" latinLnBrk="1" hangingPunct="1">
              <a:spcAft>
                <a:spcPts val="100"/>
              </a:spcAft>
              <a:buClr>
                <a:schemeClr val="bg1">
                  <a:lumMod val="50000"/>
                </a:schemeClr>
              </a:buClr>
              <a:defRPr/>
            </a:pPr>
            <a:r>
              <a:rPr lang="en-US" altLang="ko-KR" sz="10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- Buffer 0, 1</a:t>
            </a:r>
            <a:r>
              <a:rPr lang="ko-KR" altLang="en-US" sz="10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이용한 읽기 속도 증가</a:t>
            </a:r>
            <a:endParaRPr lang="en-US" altLang="ko-KR" sz="105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90000" indent="-90000" eaLnBrk="1" latinLnBrk="1" hangingPunct="1">
              <a:spcAft>
                <a:spcPts val="100"/>
              </a:spcAft>
              <a:buClr>
                <a:schemeClr val="bg1">
                  <a:lumMod val="50000"/>
                </a:schemeClr>
              </a:buClr>
              <a:defRPr/>
            </a:pPr>
            <a:r>
              <a:rPr lang="en-US" altLang="ko-KR" sz="105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(2) </a:t>
            </a:r>
            <a:r>
              <a:rPr lang="ko-KR" altLang="en-US" sz="105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코드 </a:t>
            </a:r>
            <a:r>
              <a:rPr lang="ko-KR" altLang="en-US" sz="1050" b="1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옵티마이징</a:t>
            </a:r>
            <a:r>
              <a:rPr lang="ko-KR" altLang="en-US" sz="105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05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90000" indent="-90000" eaLnBrk="1" latinLnBrk="1" hangingPunct="1">
              <a:spcAft>
                <a:spcPts val="100"/>
              </a:spcAft>
              <a:buClr>
                <a:schemeClr val="bg1">
                  <a:lumMod val="50000"/>
                </a:schemeClr>
              </a:buClr>
              <a:defRPr/>
            </a:pPr>
            <a:r>
              <a:rPr lang="en-US" altLang="ko-KR" sz="10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- </a:t>
            </a:r>
            <a:r>
              <a:rPr lang="ko-KR" altLang="en-US" sz="10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불필요한 </a:t>
            </a:r>
            <a:r>
              <a:rPr lang="en-US" altLang="ko-KR" sz="10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wait</a:t>
            </a:r>
            <a:r>
              <a:rPr lang="ko-KR" altLang="en-US" sz="10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 삭제</a:t>
            </a:r>
            <a:endParaRPr lang="ko-KR" altLang="en-US" sz="1050" i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5" name="타원 174">
            <a:extLst>
              <a:ext uri="{FF2B5EF4-FFF2-40B4-BE49-F238E27FC236}">
                <a16:creationId xmlns:a16="http://schemas.microsoft.com/office/drawing/2014/main" xmlns="" id="{41FFBBC7-3B4F-4F07-BB34-BE784AB37526}"/>
              </a:ext>
            </a:extLst>
          </p:cNvPr>
          <p:cNvSpPr/>
          <p:nvPr/>
        </p:nvSpPr>
        <p:spPr bwMode="auto">
          <a:xfrm rot="848763">
            <a:off x="7819851" y="4463589"/>
            <a:ext cx="98364" cy="45719"/>
          </a:xfrm>
          <a:prstGeom prst="ellipse">
            <a:avLst/>
          </a:prstGeom>
          <a:solidFill>
            <a:srgbClr val="FF0000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xmlns="" id="{AC51974B-4812-4B5B-983A-2F22EACFCCEE}"/>
              </a:ext>
            </a:extLst>
          </p:cNvPr>
          <p:cNvCxnSpPr>
            <a:stCxn id="175" idx="2"/>
            <a:endCxn id="174" idx="3"/>
          </p:cNvCxnSpPr>
          <p:nvPr/>
        </p:nvCxnSpPr>
        <p:spPr bwMode="auto">
          <a:xfrm flipH="1" flipV="1">
            <a:off x="7514348" y="3977145"/>
            <a:ext cx="306994" cy="49728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2" name="직사각형 181">
            <a:extLst>
              <a:ext uri="{FF2B5EF4-FFF2-40B4-BE49-F238E27FC236}">
                <a16:creationId xmlns:a16="http://schemas.microsoft.com/office/drawing/2014/main" xmlns="" id="{9ABDD868-418C-446F-82DC-6FFF68E561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50" y="3055989"/>
            <a:ext cx="3731703" cy="2867059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0" rIns="0" bIns="0">
            <a:spAutoFit/>
          </a:bodyPr>
          <a:lstStyle>
            <a:lvl1pPr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1pPr>
            <a:lvl2pPr marL="742950" indent="-28575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2pPr>
            <a:lvl3pPr marL="1143000" indent="-2286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3pPr>
            <a:lvl4pPr marL="1600200" indent="-2286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4pPr>
            <a:lvl5pPr marL="2057400" indent="-2286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9pPr>
          </a:lstStyle>
          <a:p>
            <a:pPr algn="r" eaLnBrk="1" latinLnBrk="1" hangingPunct="1"/>
            <a:endParaRPr lang="ko-KR" altLang="en-US" sz="11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xmlns="" id="{E1F7E3A0-43AC-4E1B-8216-9D7E42DDE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1722" y="3055989"/>
            <a:ext cx="3994328" cy="2867058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0" rIns="0" bIns="0">
            <a:spAutoFit/>
          </a:bodyPr>
          <a:lstStyle>
            <a:lvl1pPr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1pPr>
            <a:lvl2pPr marL="742950" indent="-28575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2pPr>
            <a:lvl3pPr marL="1143000" indent="-2286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3pPr>
            <a:lvl4pPr marL="1600200" indent="-2286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4pPr>
            <a:lvl5pPr marL="2057400" indent="-2286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9pPr>
          </a:lstStyle>
          <a:p>
            <a:pPr algn="r" eaLnBrk="1" latinLnBrk="1" hangingPunct="1"/>
            <a:endParaRPr lang="ko-KR" altLang="en-US" sz="11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6" name="직사각형 4">
            <a:extLst>
              <a:ext uri="{FF2B5EF4-FFF2-40B4-BE49-F238E27FC236}">
                <a16:creationId xmlns:a16="http://schemas.microsoft.com/office/drawing/2014/main" xmlns="" id="{37F03909-4D62-4701-A58B-B11A5CE82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428" y="5888306"/>
            <a:ext cx="3838819" cy="346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5747" tIns="37874" rIns="75747" bIns="37874"/>
          <a:lstStyle>
            <a:lvl1pPr defTabSz="4572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1pPr>
            <a:lvl2pPr marL="742950" indent="-285750" defTabSz="4572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2pPr>
            <a:lvl3pPr marL="1143000" indent="-228600" defTabSz="4572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3pPr>
            <a:lvl4pPr marL="1600200" indent="-228600" defTabSz="4572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4pPr>
            <a:lvl5pPr marL="2057400" indent="-228600" defTabSz="4572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9pPr>
          </a:lstStyle>
          <a:p>
            <a:pPr algn="ctr" eaLnBrk="1" hangingPunct="1"/>
            <a:r>
              <a:rPr kumimoji="0" lang="en-US" altLang="ko-KR" sz="1400" i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 2.0 </a:t>
            </a:r>
          </a:p>
          <a:p>
            <a:pPr algn="ctr" eaLnBrk="1" hangingPunct="1"/>
            <a:r>
              <a:rPr kumimoji="0" lang="en-US" altLang="ko-KR" sz="1400" b="0" i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0" lang="en-US" altLang="ko-KR" sz="1400" b="0" i="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Single Buffering </a:t>
            </a:r>
            <a:r>
              <a:rPr kumimoji="0" lang="ko-KR" altLang="en-US" sz="1400" b="0" i="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방식의 </a:t>
            </a:r>
            <a:r>
              <a:rPr kumimoji="0" lang="en-US" altLang="ko-KR" sz="1400" b="0" i="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NAND </a:t>
            </a:r>
            <a:r>
              <a:rPr kumimoji="0" lang="ko-KR" altLang="en-US" sz="1400" b="0" i="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취득 </a:t>
            </a:r>
            <a:r>
              <a:rPr kumimoji="0" lang="en-US" altLang="ko-KR" sz="1400" b="0" i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0" lang="ko-KR" altLang="en-US" sz="1400" b="0" i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8" name="직사각형 4">
            <a:extLst>
              <a:ext uri="{FF2B5EF4-FFF2-40B4-BE49-F238E27FC236}">
                <a16:creationId xmlns:a16="http://schemas.microsoft.com/office/drawing/2014/main" xmlns="" id="{C1F84F21-A054-4409-9969-AC4577EA2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4021" y="5888306"/>
            <a:ext cx="3923451" cy="346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5747" tIns="37874" rIns="75747" bIns="37874"/>
          <a:lstStyle>
            <a:lvl1pPr defTabSz="4572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1pPr>
            <a:lvl2pPr marL="742950" indent="-285750" defTabSz="4572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2pPr>
            <a:lvl3pPr marL="1143000" indent="-228600" defTabSz="4572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3pPr>
            <a:lvl4pPr marL="1600200" indent="-228600" defTabSz="4572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4pPr>
            <a:lvl5pPr marL="2057400" indent="-228600" defTabSz="4572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9pPr>
          </a:lstStyle>
          <a:p>
            <a:pPr algn="ctr" eaLnBrk="1" hangingPunct="1"/>
            <a:r>
              <a:rPr kumimoji="0" lang="en-US" altLang="ko-KR" sz="1400" i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 3.0</a:t>
            </a:r>
          </a:p>
          <a:p>
            <a:pPr algn="ctr" eaLnBrk="1" hangingPunct="1"/>
            <a:r>
              <a:rPr kumimoji="0" lang="en-US" altLang="ko-KR" sz="1400" b="0" i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0" lang="en-US" altLang="ko-KR" sz="1400" b="0" i="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Double Buffering </a:t>
            </a:r>
            <a:r>
              <a:rPr kumimoji="0" lang="ko-KR" altLang="en-US" sz="1400" b="0" i="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방식의 </a:t>
            </a:r>
            <a:r>
              <a:rPr kumimoji="0" lang="en-US" altLang="ko-KR" sz="1400" b="0" i="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NAND </a:t>
            </a:r>
            <a:r>
              <a:rPr kumimoji="0" lang="ko-KR" altLang="en-US" sz="1400" b="0" i="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취득</a:t>
            </a:r>
            <a:r>
              <a:rPr kumimoji="0" lang="en-US" altLang="ko-KR" sz="1400" b="0" i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0" lang="ko-KR" altLang="en-US" sz="1400" b="0" i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2" name="직사각형 16387">
            <a:extLst>
              <a:ext uri="{FF2B5EF4-FFF2-40B4-BE49-F238E27FC236}">
                <a16:creationId xmlns:a16="http://schemas.microsoft.com/office/drawing/2014/main" xmlns="" id="{0ED4130C-C022-40CB-9BE4-0010ED4990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559" y="3105459"/>
            <a:ext cx="802673" cy="322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5747" tIns="37874" rIns="75747" bIns="37874"/>
          <a:lstStyle>
            <a:lvl1pPr defTabSz="4572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1pPr>
            <a:lvl2pPr marL="742950" indent="-285750" defTabSz="4572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2pPr>
            <a:lvl3pPr marL="1143000" indent="-228600" defTabSz="4572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3pPr>
            <a:lvl4pPr marL="1600200" indent="-228600" defTabSz="4572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4pPr>
            <a:lvl5pPr marL="2057400" indent="-228600" defTabSz="4572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9pPr>
          </a:lstStyle>
          <a:p>
            <a:pPr algn="ctr">
              <a:defRPr/>
            </a:pPr>
            <a:r>
              <a:rPr lang="en-US" altLang="ko-KR" i="0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ION CSU</a:t>
            </a:r>
            <a:endParaRPr lang="ko-KR" altLang="en-US" i="0" dirty="0">
              <a:solidFill>
                <a:srgbClr val="7030A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4" name="직사각형 16387">
            <a:extLst>
              <a:ext uri="{FF2B5EF4-FFF2-40B4-BE49-F238E27FC236}">
                <a16:creationId xmlns:a16="http://schemas.microsoft.com/office/drawing/2014/main" xmlns="" id="{29A3C72E-DE51-4925-B461-C5730B15C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7263" y="3111826"/>
            <a:ext cx="802673" cy="322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5747" tIns="37874" rIns="75747" bIns="37874"/>
          <a:lstStyle>
            <a:lvl1pPr defTabSz="4572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1pPr>
            <a:lvl2pPr marL="742950" indent="-285750" defTabSz="4572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2pPr>
            <a:lvl3pPr marL="1143000" indent="-228600" defTabSz="4572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3pPr>
            <a:lvl4pPr marL="1600200" indent="-228600" defTabSz="4572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4pPr>
            <a:lvl5pPr marL="2057400" indent="-228600" defTabSz="4572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9pPr>
          </a:lstStyle>
          <a:p>
            <a:pPr algn="ctr">
              <a:defRPr/>
            </a:pPr>
            <a:r>
              <a:rPr lang="en-US" altLang="ko-KR" i="0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ION CSU</a:t>
            </a:r>
            <a:endParaRPr lang="ko-KR" altLang="en-US" i="0" dirty="0">
              <a:solidFill>
                <a:srgbClr val="7030A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0065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S/W </a:t>
            </a:r>
            <a:r>
              <a:rPr lang="ko-KR" altLang="en-US" dirty="0" err="1"/>
              <a:t>변경점</a:t>
            </a:r>
            <a:r>
              <a:rPr lang="ko-KR" altLang="en-US" dirty="0"/>
              <a:t> </a:t>
            </a:r>
            <a:r>
              <a:rPr lang="en-US" altLang="ko-KR" dirty="0"/>
              <a:t>(Ver2.0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en-US" altLang="ko-KR" dirty="0"/>
              <a:t> </a:t>
            </a:r>
            <a:r>
              <a:rPr lang="en-US" altLang="ko-KR" dirty="0" smtClean="0"/>
              <a:t>Ver3.0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233363" y="930275"/>
            <a:ext cx="8666162" cy="5248275"/>
          </a:xfrm>
        </p:spPr>
        <p:txBody>
          <a:bodyPr/>
          <a:lstStyle/>
          <a:p>
            <a:r>
              <a:rPr lang="en-US" altLang="ko-KR" dirty="0"/>
              <a:t>S/W Revision</a:t>
            </a:r>
            <a:r>
              <a:rPr lang="ko-KR" altLang="en-US" dirty="0"/>
              <a:t>에 따른 시험결과</a:t>
            </a:r>
            <a:endParaRPr lang="en-US" altLang="ko-KR" dirty="0"/>
          </a:p>
          <a:p>
            <a:pPr lvl="1"/>
            <a:r>
              <a:rPr lang="en-US" altLang="ko-KR" dirty="0"/>
              <a:t>ION</a:t>
            </a:r>
            <a:r>
              <a:rPr lang="ko-KR" altLang="en-US" dirty="0"/>
              <a:t> </a:t>
            </a:r>
            <a:r>
              <a:rPr lang="en-US" altLang="ko-KR" dirty="0"/>
              <a:t>CSU</a:t>
            </a:r>
            <a:r>
              <a:rPr lang="ko-KR" altLang="en-US" dirty="0"/>
              <a:t>의 </a:t>
            </a:r>
            <a:r>
              <a:rPr lang="en-US" altLang="ko-KR" dirty="0"/>
              <a:t>Revision</a:t>
            </a:r>
            <a:r>
              <a:rPr lang="ko-KR" altLang="en-US" dirty="0"/>
              <a:t>을 통하여 데이터를 읽는데 불필요한 시간 지연 요소 최소화함</a:t>
            </a:r>
            <a:endParaRPr lang="en-US" altLang="ko-KR" dirty="0"/>
          </a:p>
          <a:p>
            <a:pPr lvl="1"/>
            <a:r>
              <a:rPr lang="ko-KR" altLang="en-US" dirty="0"/>
              <a:t>관련하여 </a:t>
            </a:r>
            <a:r>
              <a:rPr lang="en-US" altLang="ko-KR" dirty="0"/>
              <a:t>ION S/W </a:t>
            </a:r>
            <a:r>
              <a:rPr lang="en-US" altLang="ko-KR" dirty="0">
                <a:sym typeface="Wingdings" panose="05000000000000000000" pitchFamily="2" charset="2"/>
              </a:rPr>
              <a:t> SBC Firmware</a:t>
            </a:r>
            <a:r>
              <a:rPr lang="ko-KR" altLang="en-US" dirty="0">
                <a:sym typeface="Wingdings" panose="05000000000000000000" pitchFamily="2" charset="2"/>
              </a:rPr>
              <a:t>간 데이터 전송 </a:t>
            </a:r>
            <a:r>
              <a:rPr lang="en-US" altLang="ko-KR" dirty="0">
                <a:sym typeface="Wingdings" panose="05000000000000000000" pitchFamily="2" charset="2"/>
              </a:rPr>
              <a:t>Duty Cycle </a:t>
            </a:r>
            <a:r>
              <a:rPr lang="ko-KR" altLang="en-US" dirty="0">
                <a:sym typeface="Wingdings" panose="05000000000000000000" pitchFamily="2" charset="2"/>
              </a:rPr>
              <a:t>개선이 됨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SBC Firmware  PDHU</a:t>
            </a:r>
            <a:r>
              <a:rPr lang="ko-KR" altLang="en-US" dirty="0">
                <a:sym typeface="Wingdings" panose="05000000000000000000" pitchFamily="2" charset="2"/>
              </a:rPr>
              <a:t>로 데이터 전송 시 데이터를 보내지 않는 </a:t>
            </a:r>
            <a:r>
              <a:rPr lang="en-US" altLang="ko-KR" dirty="0">
                <a:sym typeface="Wingdings" panose="05000000000000000000" pitchFamily="2" charset="2"/>
              </a:rPr>
              <a:t>Idle </a:t>
            </a:r>
            <a:r>
              <a:rPr lang="ko-KR" altLang="en-US" dirty="0">
                <a:sym typeface="Wingdings" panose="05000000000000000000" pitchFamily="2" charset="2"/>
              </a:rPr>
              <a:t>시간이 감소하여 </a:t>
            </a:r>
            <a:r>
              <a:rPr lang="en-US" altLang="ko-KR" dirty="0">
                <a:sym typeface="Wingdings" panose="05000000000000000000" pitchFamily="2" charset="2"/>
              </a:rPr>
              <a:t>Throughput Performance </a:t>
            </a:r>
            <a:r>
              <a:rPr lang="ko-KR" altLang="en-US" dirty="0">
                <a:sym typeface="Wingdings" panose="05000000000000000000" pitchFamily="2" charset="2"/>
              </a:rPr>
              <a:t>향상됨 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데이터 전송시의 </a:t>
            </a:r>
            <a:r>
              <a:rPr lang="en-US" altLang="ko-KR" dirty="0">
                <a:sym typeface="Wingdings" panose="05000000000000000000" pitchFamily="2" charset="2"/>
              </a:rPr>
              <a:t>USRT </a:t>
            </a:r>
            <a:r>
              <a:rPr lang="ko-KR" altLang="en-US" dirty="0">
                <a:sym typeface="Wingdings" panose="05000000000000000000" pitchFamily="2" charset="2"/>
              </a:rPr>
              <a:t>클럭은 </a:t>
            </a:r>
            <a:r>
              <a:rPr lang="en-US" altLang="ko-KR" dirty="0">
                <a:sym typeface="Wingdings" panose="05000000000000000000" pitchFamily="2" charset="2"/>
              </a:rPr>
              <a:t>2 Mbps </a:t>
            </a:r>
            <a:r>
              <a:rPr lang="ko-KR" altLang="en-US" dirty="0">
                <a:sym typeface="Wingdings" panose="05000000000000000000" pitchFamily="2" charset="2"/>
              </a:rPr>
              <a:t>고정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참고</a:t>
            </a:r>
            <a:r>
              <a:rPr lang="en-US" altLang="ko-KR" dirty="0">
                <a:sym typeface="Wingdings" panose="05000000000000000000" pitchFamily="2" charset="2"/>
              </a:rPr>
              <a:t>) IDLE</a:t>
            </a:r>
            <a:r>
              <a:rPr lang="ko-KR" altLang="en-US" dirty="0">
                <a:sym typeface="Wingdings" panose="05000000000000000000" pitchFamily="2" charset="2"/>
              </a:rPr>
              <a:t> 구간에는 </a:t>
            </a:r>
            <a:r>
              <a:rPr lang="en-US" altLang="ko-KR" dirty="0">
                <a:sym typeface="Wingdings" panose="05000000000000000000" pitchFamily="2" charset="2"/>
              </a:rPr>
              <a:t>Packet </a:t>
            </a:r>
            <a:r>
              <a:rPr lang="ko-KR" altLang="en-US" dirty="0">
                <a:sym typeface="Wingdings" panose="05000000000000000000" pitchFamily="2" charset="2"/>
              </a:rPr>
              <a:t>처리 등의 작업을 수행함</a:t>
            </a:r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8" name="직사각형 4">
            <a:extLst>
              <a:ext uri="{FF2B5EF4-FFF2-40B4-BE49-F238E27FC236}">
                <a16:creationId xmlns:a16="http://schemas.microsoft.com/office/drawing/2014/main" xmlns="" id="{D4D2D028-DC8F-4969-93E9-9D9ED122C9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351" y="5269064"/>
            <a:ext cx="2451100" cy="346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5747" tIns="37874" rIns="75747" bIns="37874"/>
          <a:lstStyle>
            <a:lvl1pPr defTabSz="4572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1pPr>
            <a:lvl2pPr marL="742950" indent="-285750" defTabSz="4572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2pPr>
            <a:lvl3pPr marL="1143000" indent="-228600" defTabSz="4572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3pPr>
            <a:lvl4pPr marL="1600200" indent="-228600" defTabSz="4572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4pPr>
            <a:lvl5pPr marL="2057400" indent="-228600" defTabSz="4572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9pPr>
          </a:lstStyle>
          <a:p>
            <a:pPr algn="ctr" eaLnBrk="1" hangingPunct="1"/>
            <a:r>
              <a:rPr kumimoji="0" lang="en-US" altLang="ko-KR" sz="1400" i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 2.0 </a:t>
            </a:r>
          </a:p>
          <a:p>
            <a:pPr algn="ctr" eaLnBrk="1" hangingPunct="1"/>
            <a:r>
              <a:rPr kumimoji="0" lang="en-US" altLang="ko-KR" sz="1400" b="0" i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0" lang="en-US" altLang="ko-KR" sz="1400" b="0" i="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150 kbps Throughput</a:t>
            </a:r>
            <a:r>
              <a:rPr kumimoji="0" lang="en-US" altLang="ko-KR" sz="1400" b="0" i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0" lang="ko-KR" altLang="en-US" sz="1400" b="0" i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4">
            <a:extLst>
              <a:ext uri="{FF2B5EF4-FFF2-40B4-BE49-F238E27FC236}">
                <a16:creationId xmlns:a16="http://schemas.microsoft.com/office/drawing/2014/main" xmlns="" id="{BAF30B2C-FD8C-41A6-8B9F-E8C59275F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5269064"/>
            <a:ext cx="2235199" cy="346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5747" tIns="37874" rIns="75747" bIns="37874"/>
          <a:lstStyle>
            <a:lvl1pPr defTabSz="4572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1pPr>
            <a:lvl2pPr marL="742950" indent="-285750" defTabSz="4572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2pPr>
            <a:lvl3pPr marL="1143000" indent="-228600" defTabSz="4572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3pPr>
            <a:lvl4pPr marL="1600200" indent="-228600" defTabSz="4572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4pPr>
            <a:lvl5pPr marL="2057400" indent="-228600" defTabSz="457200"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1200" b="1" i="1">
                <a:solidFill>
                  <a:srgbClr val="800000"/>
                </a:solidFill>
                <a:latin typeface="Arial" panose="020B0604020202020204" pitchFamily="34" charset="0"/>
                <a:ea typeface="휴먼모음T" panose="02030504000101010101" pitchFamily="18" charset="-127"/>
              </a:defRPr>
            </a:lvl9pPr>
          </a:lstStyle>
          <a:p>
            <a:pPr algn="ctr" eaLnBrk="1" hangingPunct="1"/>
            <a:r>
              <a:rPr kumimoji="0" lang="en-US" altLang="ko-KR" sz="1400" i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</a:t>
            </a:r>
            <a:r>
              <a:rPr kumimoji="0" lang="en-US" altLang="ko-KR" sz="1400" i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1400" i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3.0</a:t>
            </a:r>
            <a:endParaRPr kumimoji="0" lang="en-US" altLang="ko-KR" sz="1400" i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hangingPunct="1"/>
            <a:r>
              <a:rPr kumimoji="0" lang="en-US" altLang="ko-KR" sz="1400" b="0" i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0" lang="en-US" altLang="ko-KR" sz="1400" b="0" i="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800 kbps Throughput</a:t>
            </a:r>
            <a:r>
              <a:rPr kumimoji="0" lang="en-US" altLang="ko-KR" sz="1400" b="0" i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0" lang="ko-KR" altLang="en-US" sz="1400" b="0" i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xmlns="" id="{ABB42DAF-66FC-4AA4-B22A-C799AD31367E}"/>
              </a:ext>
            </a:extLst>
          </p:cNvPr>
          <p:cNvCxnSpPr/>
          <p:nvPr/>
        </p:nvCxnSpPr>
        <p:spPr bwMode="auto">
          <a:xfrm>
            <a:off x="5735606" y="3496464"/>
            <a:ext cx="280882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xmlns="" id="{189D61E9-418D-4965-A5D7-81DE0A6FADE0}"/>
              </a:ext>
            </a:extLst>
          </p:cNvPr>
          <p:cNvCxnSpPr/>
          <p:nvPr/>
        </p:nvCxnSpPr>
        <p:spPr bwMode="auto">
          <a:xfrm flipV="1">
            <a:off x="5735606" y="2983428"/>
            <a:ext cx="0" cy="2198172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0466C051-B3FA-4B3B-B3DE-23BF914C0646}"/>
              </a:ext>
            </a:extLst>
          </p:cNvPr>
          <p:cNvSpPr txBox="1"/>
          <p:nvPr/>
        </p:nvSpPr>
        <p:spPr>
          <a:xfrm>
            <a:off x="8530477" y="3375236"/>
            <a:ext cx="154920" cy="2299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t</a:t>
            </a:r>
            <a:endParaRPr lang="ko-KR" altLang="en-US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71AC2D27-0BBC-4D76-8A32-6A8C0E71B47F}"/>
              </a:ext>
            </a:extLst>
          </p:cNvPr>
          <p:cNvSpPr txBox="1"/>
          <p:nvPr/>
        </p:nvSpPr>
        <p:spPr>
          <a:xfrm>
            <a:off x="5333693" y="2751007"/>
            <a:ext cx="687883" cy="2299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+mj-lt"/>
              </a:rPr>
              <a:t>전송속도 </a:t>
            </a:r>
            <a:r>
              <a:rPr lang="en-US" altLang="ko-KR" sz="1000" dirty="0">
                <a:latin typeface="+mj-lt"/>
              </a:rPr>
              <a:t>(Hz)</a:t>
            </a:r>
            <a:endParaRPr lang="ko-KR" altLang="en-US" sz="1000" dirty="0">
              <a:latin typeface="+mj-lt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9859CCF4-DAD7-470A-95C4-187A2BBC6045}"/>
              </a:ext>
            </a:extLst>
          </p:cNvPr>
          <p:cNvSpPr/>
          <p:nvPr/>
        </p:nvSpPr>
        <p:spPr bwMode="auto">
          <a:xfrm>
            <a:off x="5735606" y="3242832"/>
            <a:ext cx="793040" cy="253632"/>
          </a:xfrm>
          <a:prstGeom prst="rect">
            <a:avLst/>
          </a:prstGeom>
          <a:pattFill prst="ltVert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B6957436-A78A-4896-A95F-DE1FBC3C9393}"/>
              </a:ext>
            </a:extLst>
          </p:cNvPr>
          <p:cNvSpPr txBox="1"/>
          <p:nvPr/>
        </p:nvSpPr>
        <p:spPr>
          <a:xfrm>
            <a:off x="5741888" y="3506297"/>
            <a:ext cx="780475" cy="3737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DTNPL</a:t>
            </a:r>
            <a:r>
              <a:rPr lang="en-US" altLang="ko-KR" sz="1000" b="1" dirty="0">
                <a:sym typeface="Wingdings" panose="05000000000000000000" pitchFamily="2" charset="2"/>
              </a:rPr>
              <a:t>PDHU</a:t>
            </a:r>
          </a:p>
          <a:p>
            <a:pPr algn="ctr"/>
            <a:r>
              <a:rPr lang="en-US" altLang="ko-KR" sz="1000" b="1" dirty="0">
                <a:sym typeface="Wingdings" panose="05000000000000000000" pitchFamily="2" charset="2"/>
              </a:rPr>
              <a:t>USRT </a:t>
            </a:r>
            <a:r>
              <a:rPr lang="ko-KR" altLang="en-US" sz="1000" b="1" dirty="0">
                <a:sym typeface="Wingdings" panose="05000000000000000000" pitchFamily="2" charset="2"/>
              </a:rPr>
              <a:t>전송</a:t>
            </a:r>
            <a:endParaRPr lang="ko-KR" altLang="en-US" sz="10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8301148D-1388-480E-82F4-E0A8D02CDB30}"/>
              </a:ext>
            </a:extLst>
          </p:cNvPr>
          <p:cNvSpPr txBox="1"/>
          <p:nvPr/>
        </p:nvSpPr>
        <p:spPr>
          <a:xfrm>
            <a:off x="5234152" y="3128855"/>
            <a:ext cx="390914" cy="2299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0000FF"/>
                </a:solidFill>
                <a:latin typeface="+mn-lt"/>
              </a:rPr>
              <a:t>2 MHz</a:t>
            </a:r>
            <a:endParaRPr lang="ko-KR" altLang="en-US" sz="1000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EAA9A3D6-F3A3-4A3A-9EBF-65B7257CE777}"/>
              </a:ext>
            </a:extLst>
          </p:cNvPr>
          <p:cNvSpPr txBox="1"/>
          <p:nvPr/>
        </p:nvSpPr>
        <p:spPr>
          <a:xfrm>
            <a:off x="6571974" y="3260799"/>
            <a:ext cx="658916" cy="261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Idle </a:t>
            </a:r>
            <a:r>
              <a:rPr lang="ko-KR" altLang="en-US" sz="1000" b="1" dirty="0">
                <a:solidFill>
                  <a:srgbClr val="FF0000"/>
                </a:solidFill>
              </a:rPr>
              <a:t>구간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xmlns="" id="{29346A4D-8769-453D-8CB3-7DCA19FCCEF3}"/>
              </a:ext>
            </a:extLst>
          </p:cNvPr>
          <p:cNvSpPr/>
          <p:nvPr/>
        </p:nvSpPr>
        <p:spPr bwMode="auto">
          <a:xfrm>
            <a:off x="7230888" y="3242832"/>
            <a:ext cx="793040" cy="253632"/>
          </a:xfrm>
          <a:prstGeom prst="rect">
            <a:avLst/>
          </a:prstGeom>
          <a:pattFill prst="ltVert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EE8C137B-8337-411C-99CA-E31B084E45B8}"/>
              </a:ext>
            </a:extLst>
          </p:cNvPr>
          <p:cNvSpPr txBox="1"/>
          <p:nvPr/>
        </p:nvSpPr>
        <p:spPr>
          <a:xfrm>
            <a:off x="7202983" y="3506297"/>
            <a:ext cx="848849" cy="3351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DTNPL</a:t>
            </a:r>
            <a:r>
              <a:rPr lang="en-US" altLang="ko-KR" sz="1000" b="1" dirty="0">
                <a:sym typeface="Wingdings" panose="05000000000000000000" pitchFamily="2" charset="2"/>
              </a:rPr>
              <a:t>PDHU</a:t>
            </a:r>
          </a:p>
          <a:p>
            <a:pPr algn="ctr"/>
            <a:r>
              <a:rPr lang="en-US" altLang="ko-KR" sz="1000" b="1" dirty="0">
                <a:sym typeface="Wingdings" panose="05000000000000000000" pitchFamily="2" charset="2"/>
              </a:rPr>
              <a:t>USRT </a:t>
            </a:r>
            <a:r>
              <a:rPr lang="ko-KR" altLang="en-US" sz="1000" b="1" dirty="0">
                <a:sym typeface="Wingdings" panose="05000000000000000000" pitchFamily="2" charset="2"/>
              </a:rPr>
              <a:t>전송</a:t>
            </a:r>
            <a:endParaRPr lang="ko-KR" altLang="en-US" sz="10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6A04A228-1752-4C33-A8CF-EDD13DC1D58A}"/>
              </a:ext>
            </a:extLst>
          </p:cNvPr>
          <p:cNvSpPr txBox="1"/>
          <p:nvPr/>
        </p:nvSpPr>
        <p:spPr>
          <a:xfrm>
            <a:off x="5836597" y="3788323"/>
            <a:ext cx="669738" cy="261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4.096 </a:t>
            </a:r>
            <a:r>
              <a:rPr lang="en-US" altLang="ko-KR" sz="1000" b="1" dirty="0" err="1"/>
              <a:t>ms</a:t>
            </a:r>
            <a:r>
              <a:rPr lang="en-US" altLang="ko-KR" sz="1000" b="1" dirty="0"/>
              <a:t> </a:t>
            </a:r>
            <a:endParaRPr lang="ko-KR" altLang="en-US" sz="10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58E9AE56-716E-4937-B4CC-5A457BFCFFFF}"/>
              </a:ext>
            </a:extLst>
          </p:cNvPr>
          <p:cNvSpPr txBox="1"/>
          <p:nvPr/>
        </p:nvSpPr>
        <p:spPr>
          <a:xfrm>
            <a:off x="6694748" y="3788324"/>
            <a:ext cx="4379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6 </a:t>
            </a:r>
            <a:r>
              <a:rPr lang="en-US" altLang="ko-KR" sz="1000" b="1" dirty="0" err="1">
                <a:solidFill>
                  <a:srgbClr val="FF0000"/>
                </a:solidFill>
              </a:rPr>
              <a:t>ms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5A489216-F825-4585-ABBB-2BC56ABC6C2F}"/>
              </a:ext>
            </a:extLst>
          </p:cNvPr>
          <p:cNvSpPr txBox="1"/>
          <p:nvPr/>
        </p:nvSpPr>
        <p:spPr>
          <a:xfrm>
            <a:off x="7324791" y="3789348"/>
            <a:ext cx="6623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4.096 </a:t>
            </a:r>
            <a:r>
              <a:rPr lang="en-US" altLang="ko-KR" sz="1000" b="1" dirty="0" err="1"/>
              <a:t>ms</a:t>
            </a:r>
            <a:endParaRPr lang="ko-KR" altLang="en-US" sz="1000" b="1" dirty="0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xmlns="" id="{FCCF3524-1249-413F-B571-ECFF91518D9C}"/>
              </a:ext>
            </a:extLst>
          </p:cNvPr>
          <p:cNvCxnSpPr/>
          <p:nvPr/>
        </p:nvCxnSpPr>
        <p:spPr bwMode="auto">
          <a:xfrm flipV="1">
            <a:off x="7230888" y="2983427"/>
            <a:ext cx="0" cy="2198173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" name="그룹 26">
            <a:extLst>
              <a:ext uri="{FF2B5EF4-FFF2-40B4-BE49-F238E27FC236}">
                <a16:creationId xmlns:a16="http://schemas.microsoft.com/office/drawing/2014/main" xmlns="" id="{C074A60E-6F5C-4666-A9DA-1A0356E7CC46}"/>
              </a:ext>
            </a:extLst>
          </p:cNvPr>
          <p:cNvGrpSpPr/>
          <p:nvPr/>
        </p:nvGrpSpPr>
        <p:grpSpPr>
          <a:xfrm>
            <a:off x="8139573" y="3360398"/>
            <a:ext cx="250620" cy="31166"/>
            <a:chOff x="6085290" y="4917047"/>
            <a:chExt cx="426786" cy="45721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xmlns="" id="{E158518F-7A2C-4F5D-A689-3C0923D441BE}"/>
                </a:ext>
              </a:extLst>
            </p:cNvPr>
            <p:cNvSpPr/>
            <p:nvPr/>
          </p:nvSpPr>
          <p:spPr bwMode="auto">
            <a:xfrm flipH="1">
              <a:off x="6085290" y="4917049"/>
              <a:ext cx="45719" cy="45719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5715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xmlns="" id="{45A6ED9A-C3D7-4A7B-BC8F-C3A7B4A91F7B}"/>
                </a:ext>
              </a:extLst>
            </p:cNvPr>
            <p:cNvSpPr/>
            <p:nvPr/>
          </p:nvSpPr>
          <p:spPr bwMode="auto">
            <a:xfrm flipH="1">
              <a:off x="6273241" y="4917048"/>
              <a:ext cx="45719" cy="45719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5715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xmlns="" id="{7EA06580-4EC2-4804-AB9B-9533A9B26ABD}"/>
                </a:ext>
              </a:extLst>
            </p:cNvPr>
            <p:cNvSpPr/>
            <p:nvPr/>
          </p:nvSpPr>
          <p:spPr bwMode="auto">
            <a:xfrm flipH="1">
              <a:off x="6466357" y="4917047"/>
              <a:ext cx="45719" cy="45719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5715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</p:grp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xmlns="" id="{BA2E119C-B8CD-46B9-B356-B6354AA1BBF9}"/>
              </a:ext>
            </a:extLst>
          </p:cNvPr>
          <p:cNvCxnSpPr/>
          <p:nvPr/>
        </p:nvCxnSpPr>
        <p:spPr bwMode="auto">
          <a:xfrm flipV="1">
            <a:off x="6529972" y="2998388"/>
            <a:ext cx="1" cy="2183212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xmlns="" id="{9DF7A5A0-B247-4BD2-8F4D-7EF5C3A5C93C}"/>
              </a:ext>
            </a:extLst>
          </p:cNvPr>
          <p:cNvCxnSpPr/>
          <p:nvPr/>
        </p:nvCxnSpPr>
        <p:spPr bwMode="auto">
          <a:xfrm>
            <a:off x="1324984" y="3523172"/>
            <a:ext cx="280882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xmlns="" id="{F772AF38-F7BD-4765-A10D-4D486FBA7215}"/>
              </a:ext>
            </a:extLst>
          </p:cNvPr>
          <p:cNvCxnSpPr/>
          <p:nvPr/>
        </p:nvCxnSpPr>
        <p:spPr bwMode="auto">
          <a:xfrm flipV="1">
            <a:off x="1324984" y="3010135"/>
            <a:ext cx="0" cy="2171465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xmlns="" id="{EDD6BEFF-63F2-41EB-B877-12AA0EA1FC6A}"/>
              </a:ext>
            </a:extLst>
          </p:cNvPr>
          <p:cNvSpPr txBox="1"/>
          <p:nvPr/>
        </p:nvSpPr>
        <p:spPr>
          <a:xfrm>
            <a:off x="4119855" y="3401944"/>
            <a:ext cx="154920" cy="2299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t</a:t>
            </a:r>
            <a:endParaRPr lang="ko-KR" altLang="en-US" sz="10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xmlns="" id="{F046986B-D13A-4CA2-8F89-050A11F7B3B6}"/>
              </a:ext>
            </a:extLst>
          </p:cNvPr>
          <p:cNvSpPr txBox="1"/>
          <p:nvPr/>
        </p:nvSpPr>
        <p:spPr>
          <a:xfrm>
            <a:off x="923071" y="2777715"/>
            <a:ext cx="687883" cy="2299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+mj-lt"/>
              </a:rPr>
              <a:t>전송속도 </a:t>
            </a:r>
            <a:r>
              <a:rPr lang="en-US" altLang="ko-KR" sz="1000" dirty="0">
                <a:latin typeface="+mj-lt"/>
              </a:rPr>
              <a:t>(Hz)</a:t>
            </a:r>
            <a:endParaRPr lang="ko-KR" altLang="en-US" sz="1000" dirty="0">
              <a:latin typeface="+mj-lt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xmlns="" id="{7169EFBD-5F8F-4340-A276-998717327EB8}"/>
              </a:ext>
            </a:extLst>
          </p:cNvPr>
          <p:cNvSpPr/>
          <p:nvPr/>
        </p:nvSpPr>
        <p:spPr bwMode="auto">
          <a:xfrm>
            <a:off x="1324984" y="3269540"/>
            <a:ext cx="793040" cy="253632"/>
          </a:xfrm>
          <a:prstGeom prst="rect">
            <a:avLst/>
          </a:prstGeom>
          <a:pattFill prst="ltVert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9C3F747E-47BC-48F2-8881-3F05DF115992}"/>
              </a:ext>
            </a:extLst>
          </p:cNvPr>
          <p:cNvSpPr txBox="1"/>
          <p:nvPr/>
        </p:nvSpPr>
        <p:spPr>
          <a:xfrm>
            <a:off x="1331266" y="3601829"/>
            <a:ext cx="780475" cy="3737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DTNPL</a:t>
            </a:r>
            <a:r>
              <a:rPr lang="en-US" altLang="ko-KR" sz="1000" b="1" dirty="0">
                <a:sym typeface="Wingdings" panose="05000000000000000000" pitchFamily="2" charset="2"/>
              </a:rPr>
              <a:t>PDHU</a:t>
            </a:r>
          </a:p>
          <a:p>
            <a:pPr algn="ctr"/>
            <a:r>
              <a:rPr lang="en-US" altLang="ko-KR" sz="1000" b="1" dirty="0">
                <a:sym typeface="Wingdings" panose="05000000000000000000" pitchFamily="2" charset="2"/>
              </a:rPr>
              <a:t>USRT </a:t>
            </a:r>
            <a:r>
              <a:rPr lang="ko-KR" altLang="en-US" sz="1000" b="1" dirty="0">
                <a:sym typeface="Wingdings" panose="05000000000000000000" pitchFamily="2" charset="2"/>
              </a:rPr>
              <a:t>전송</a:t>
            </a:r>
            <a:endParaRPr lang="ko-KR" altLang="en-US" sz="1000" b="1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xmlns="" id="{EC965270-D1C3-4635-B042-0979ECBE87BE}"/>
              </a:ext>
            </a:extLst>
          </p:cNvPr>
          <p:cNvSpPr txBox="1"/>
          <p:nvPr/>
        </p:nvSpPr>
        <p:spPr>
          <a:xfrm>
            <a:off x="823530" y="3057243"/>
            <a:ext cx="390914" cy="2299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0000FF"/>
                </a:solidFill>
                <a:latin typeface="+mn-lt"/>
              </a:rPr>
              <a:t>2 MHz</a:t>
            </a:r>
            <a:endParaRPr lang="ko-KR" altLang="en-US" sz="1000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xmlns="" id="{A1216835-38D5-412C-BBED-1B757675CE5A}"/>
              </a:ext>
            </a:extLst>
          </p:cNvPr>
          <p:cNvSpPr txBox="1"/>
          <p:nvPr/>
        </p:nvSpPr>
        <p:spPr>
          <a:xfrm>
            <a:off x="2161352" y="3287507"/>
            <a:ext cx="658916" cy="261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Idle </a:t>
            </a:r>
            <a:r>
              <a:rPr lang="ko-KR" altLang="en-US" sz="1000" b="1" dirty="0">
                <a:solidFill>
                  <a:srgbClr val="FF0000"/>
                </a:solidFill>
              </a:rPr>
              <a:t>구간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xmlns="" id="{9B2C61BC-6D38-4110-BC41-9D84925F1556}"/>
              </a:ext>
            </a:extLst>
          </p:cNvPr>
          <p:cNvSpPr/>
          <p:nvPr/>
        </p:nvSpPr>
        <p:spPr bwMode="auto">
          <a:xfrm>
            <a:off x="2820266" y="3269540"/>
            <a:ext cx="793040" cy="253632"/>
          </a:xfrm>
          <a:prstGeom prst="rect">
            <a:avLst/>
          </a:prstGeom>
          <a:pattFill prst="ltVert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xmlns="" id="{D1F09467-8692-4C1A-919B-B605D86D5816}"/>
              </a:ext>
            </a:extLst>
          </p:cNvPr>
          <p:cNvSpPr txBox="1"/>
          <p:nvPr/>
        </p:nvSpPr>
        <p:spPr>
          <a:xfrm>
            <a:off x="2792361" y="3601829"/>
            <a:ext cx="848849" cy="3351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DTNPL</a:t>
            </a:r>
            <a:r>
              <a:rPr lang="en-US" altLang="ko-KR" sz="1000" b="1" dirty="0">
                <a:sym typeface="Wingdings" panose="05000000000000000000" pitchFamily="2" charset="2"/>
              </a:rPr>
              <a:t>PDHU</a:t>
            </a:r>
          </a:p>
          <a:p>
            <a:pPr algn="ctr"/>
            <a:r>
              <a:rPr lang="en-US" altLang="ko-KR" sz="1000" b="1" dirty="0">
                <a:sym typeface="Wingdings" panose="05000000000000000000" pitchFamily="2" charset="2"/>
              </a:rPr>
              <a:t>USRT </a:t>
            </a:r>
            <a:r>
              <a:rPr lang="ko-KR" altLang="en-US" sz="1000" b="1" dirty="0">
                <a:sym typeface="Wingdings" panose="05000000000000000000" pitchFamily="2" charset="2"/>
              </a:rPr>
              <a:t>전송</a:t>
            </a:r>
            <a:endParaRPr lang="ko-KR" altLang="en-US" sz="1000" b="1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xmlns="" id="{88A4C54E-9A79-40BA-8ACB-04263344F99D}"/>
              </a:ext>
            </a:extLst>
          </p:cNvPr>
          <p:cNvSpPr txBox="1"/>
          <p:nvPr/>
        </p:nvSpPr>
        <p:spPr>
          <a:xfrm>
            <a:off x="1425975" y="3874026"/>
            <a:ext cx="669738" cy="261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4.096 </a:t>
            </a:r>
            <a:r>
              <a:rPr lang="en-US" altLang="ko-KR" sz="1000" b="1" dirty="0" err="1"/>
              <a:t>ms</a:t>
            </a:r>
            <a:r>
              <a:rPr lang="en-US" altLang="ko-KR" sz="1000" b="1" dirty="0"/>
              <a:t> </a:t>
            </a:r>
            <a:endParaRPr lang="ko-KR" altLang="en-US" sz="1000" b="1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xmlns="" id="{A1EBF309-AB44-4CD8-BC38-4DC050180DFE}"/>
              </a:ext>
            </a:extLst>
          </p:cNvPr>
          <p:cNvSpPr txBox="1"/>
          <p:nvPr/>
        </p:nvSpPr>
        <p:spPr>
          <a:xfrm>
            <a:off x="2284126" y="3874027"/>
            <a:ext cx="4379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6 </a:t>
            </a:r>
            <a:r>
              <a:rPr lang="en-US" altLang="ko-KR" sz="1000" b="1" dirty="0" err="1">
                <a:solidFill>
                  <a:srgbClr val="FF0000"/>
                </a:solidFill>
              </a:rPr>
              <a:t>ms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xmlns="" id="{3A534B29-1857-4DB2-9BA7-304B063A40D4}"/>
              </a:ext>
            </a:extLst>
          </p:cNvPr>
          <p:cNvSpPr txBox="1"/>
          <p:nvPr/>
        </p:nvSpPr>
        <p:spPr>
          <a:xfrm>
            <a:off x="2914169" y="3875051"/>
            <a:ext cx="6623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4.096 </a:t>
            </a:r>
            <a:r>
              <a:rPr lang="en-US" altLang="ko-KR" sz="1000" b="1" dirty="0" err="1"/>
              <a:t>ms</a:t>
            </a:r>
            <a:endParaRPr lang="ko-KR" altLang="en-US" sz="1000" b="1" dirty="0"/>
          </a:p>
        </p:txBody>
      </p: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xmlns="" id="{68DCB001-2A83-4743-9C16-2EC0A143FAD2}"/>
              </a:ext>
            </a:extLst>
          </p:cNvPr>
          <p:cNvCxnSpPr/>
          <p:nvPr/>
        </p:nvCxnSpPr>
        <p:spPr bwMode="auto">
          <a:xfrm flipV="1">
            <a:off x="2803629" y="3010137"/>
            <a:ext cx="16638" cy="2171463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90" name="그룹 89">
            <a:extLst>
              <a:ext uri="{FF2B5EF4-FFF2-40B4-BE49-F238E27FC236}">
                <a16:creationId xmlns:a16="http://schemas.microsoft.com/office/drawing/2014/main" xmlns="" id="{C948958E-EF4F-400A-9570-AA26E0C88083}"/>
              </a:ext>
            </a:extLst>
          </p:cNvPr>
          <p:cNvGrpSpPr/>
          <p:nvPr/>
        </p:nvGrpSpPr>
        <p:grpSpPr>
          <a:xfrm>
            <a:off x="3728951" y="3387106"/>
            <a:ext cx="250620" cy="31166"/>
            <a:chOff x="6085290" y="4917047"/>
            <a:chExt cx="426786" cy="45721"/>
          </a:xfrm>
        </p:grpSpPr>
        <p:sp>
          <p:nvSpPr>
            <p:cNvPr id="91" name="타원 90">
              <a:extLst>
                <a:ext uri="{FF2B5EF4-FFF2-40B4-BE49-F238E27FC236}">
                  <a16:creationId xmlns:a16="http://schemas.microsoft.com/office/drawing/2014/main" xmlns="" id="{A369002B-D5AA-4A98-B152-54652BE00BC2}"/>
                </a:ext>
              </a:extLst>
            </p:cNvPr>
            <p:cNvSpPr/>
            <p:nvPr/>
          </p:nvSpPr>
          <p:spPr bwMode="auto">
            <a:xfrm flipH="1">
              <a:off x="6085290" y="4917049"/>
              <a:ext cx="45719" cy="45719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5715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sp>
          <p:nvSpPr>
            <p:cNvPr id="92" name="타원 91">
              <a:extLst>
                <a:ext uri="{FF2B5EF4-FFF2-40B4-BE49-F238E27FC236}">
                  <a16:creationId xmlns:a16="http://schemas.microsoft.com/office/drawing/2014/main" xmlns="" id="{1BB89A11-1A09-4F54-BD3D-9559625700D1}"/>
                </a:ext>
              </a:extLst>
            </p:cNvPr>
            <p:cNvSpPr/>
            <p:nvPr/>
          </p:nvSpPr>
          <p:spPr bwMode="auto">
            <a:xfrm flipH="1">
              <a:off x="6273241" y="4917048"/>
              <a:ext cx="45719" cy="45719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5715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sp>
          <p:nvSpPr>
            <p:cNvPr id="93" name="타원 92">
              <a:extLst>
                <a:ext uri="{FF2B5EF4-FFF2-40B4-BE49-F238E27FC236}">
                  <a16:creationId xmlns:a16="http://schemas.microsoft.com/office/drawing/2014/main" xmlns="" id="{2741E17C-45DF-4656-A412-0FB0839237AB}"/>
                </a:ext>
              </a:extLst>
            </p:cNvPr>
            <p:cNvSpPr/>
            <p:nvPr/>
          </p:nvSpPr>
          <p:spPr bwMode="auto">
            <a:xfrm flipH="1">
              <a:off x="6466357" y="4917047"/>
              <a:ext cx="45719" cy="45719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5715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</p:grp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xmlns="" id="{E3498500-4F5E-4B39-BD3B-A991ED459D19}"/>
              </a:ext>
            </a:extLst>
          </p:cNvPr>
          <p:cNvCxnSpPr/>
          <p:nvPr/>
        </p:nvCxnSpPr>
        <p:spPr bwMode="auto">
          <a:xfrm flipV="1">
            <a:off x="2095713" y="3025095"/>
            <a:ext cx="23638" cy="2156505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" name="직사각형 2"/>
          <p:cNvSpPr/>
          <p:nvPr/>
        </p:nvSpPr>
        <p:spPr bwMode="auto">
          <a:xfrm>
            <a:off x="5735606" y="4265394"/>
            <a:ext cx="770729" cy="279494"/>
          </a:xfrm>
          <a:prstGeom prst="rect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53" name="직사각형 52"/>
          <p:cNvSpPr/>
          <p:nvPr/>
        </p:nvSpPr>
        <p:spPr bwMode="auto">
          <a:xfrm>
            <a:off x="1359113" y="4304714"/>
            <a:ext cx="121619" cy="279494"/>
          </a:xfrm>
          <a:prstGeom prst="rect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56" name="직사각형 55"/>
          <p:cNvSpPr/>
          <p:nvPr/>
        </p:nvSpPr>
        <p:spPr bwMode="auto">
          <a:xfrm>
            <a:off x="2829751" y="4304714"/>
            <a:ext cx="121619" cy="279494"/>
          </a:xfrm>
          <a:prstGeom prst="rect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xmlns="" id="{EC965270-D1C3-4635-B042-0979ECBE87BE}"/>
              </a:ext>
            </a:extLst>
          </p:cNvPr>
          <p:cNvSpPr txBox="1"/>
          <p:nvPr/>
        </p:nvSpPr>
        <p:spPr>
          <a:xfrm>
            <a:off x="1229737" y="4620763"/>
            <a:ext cx="9887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/>
              <a:t>DTN </a:t>
            </a:r>
            <a:r>
              <a:rPr lang="ko-KR" altLang="en-US" sz="1000" b="1" smtClean="0"/>
              <a:t>데이터 </a:t>
            </a:r>
            <a:r>
              <a:rPr lang="ko-KR" altLang="en-US" sz="1000" b="1" dirty="0" smtClean="0"/>
              <a:t>생성 </a:t>
            </a:r>
            <a:r>
              <a:rPr lang="ko-KR" altLang="en-US" sz="1000" b="1" dirty="0"/>
              <a:t>구간</a:t>
            </a:r>
          </a:p>
        </p:txBody>
      </p:sp>
      <p:sp>
        <p:nvSpPr>
          <p:cNvPr id="58" name="직사각형 57"/>
          <p:cNvSpPr/>
          <p:nvPr/>
        </p:nvSpPr>
        <p:spPr bwMode="auto">
          <a:xfrm>
            <a:off x="7242042" y="4265394"/>
            <a:ext cx="770729" cy="279494"/>
          </a:xfrm>
          <a:prstGeom prst="rect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xmlns="" id="{EC965270-D1C3-4635-B042-0979ECBE87BE}"/>
              </a:ext>
            </a:extLst>
          </p:cNvPr>
          <p:cNvSpPr txBox="1"/>
          <p:nvPr/>
        </p:nvSpPr>
        <p:spPr>
          <a:xfrm>
            <a:off x="2735287" y="4620763"/>
            <a:ext cx="9887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/>
              <a:t>DTN </a:t>
            </a:r>
            <a:r>
              <a:rPr lang="ko-KR" altLang="en-US" sz="1000" b="1" smtClean="0"/>
              <a:t>데이터 </a:t>
            </a:r>
            <a:r>
              <a:rPr lang="ko-KR" altLang="en-US" sz="1000" b="1" dirty="0" smtClean="0"/>
              <a:t>생성 </a:t>
            </a:r>
            <a:r>
              <a:rPr lang="ko-KR" altLang="en-US" sz="1000" b="1" dirty="0"/>
              <a:t>구간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xmlns="" id="{EC965270-D1C3-4635-B042-0979ECBE87BE}"/>
              </a:ext>
            </a:extLst>
          </p:cNvPr>
          <p:cNvSpPr txBox="1"/>
          <p:nvPr/>
        </p:nvSpPr>
        <p:spPr>
          <a:xfrm>
            <a:off x="5637523" y="4620763"/>
            <a:ext cx="9887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/>
              <a:t>DTN </a:t>
            </a:r>
            <a:r>
              <a:rPr lang="ko-KR" altLang="en-US" sz="1000" b="1" smtClean="0"/>
              <a:t>데이터 </a:t>
            </a:r>
            <a:r>
              <a:rPr lang="ko-KR" altLang="en-US" sz="1000" b="1" dirty="0" smtClean="0"/>
              <a:t>생성 </a:t>
            </a:r>
            <a:r>
              <a:rPr lang="ko-KR" altLang="en-US" sz="1000" b="1" dirty="0"/>
              <a:t>구간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xmlns="" id="{EC965270-D1C3-4635-B042-0979ECBE87BE}"/>
              </a:ext>
            </a:extLst>
          </p:cNvPr>
          <p:cNvSpPr txBox="1"/>
          <p:nvPr/>
        </p:nvSpPr>
        <p:spPr>
          <a:xfrm>
            <a:off x="7161616" y="4620763"/>
            <a:ext cx="9887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/>
              <a:t>DTN </a:t>
            </a:r>
            <a:r>
              <a:rPr lang="ko-KR" altLang="en-US" sz="1000" b="1" smtClean="0"/>
              <a:t>데이터 </a:t>
            </a:r>
            <a:r>
              <a:rPr lang="ko-KR" altLang="en-US" sz="1000" b="1" dirty="0" smtClean="0"/>
              <a:t>생성 </a:t>
            </a:r>
            <a:r>
              <a:rPr lang="ko-KR" altLang="en-US" sz="1000" b="1" dirty="0"/>
              <a:t>구간</a:t>
            </a:r>
          </a:p>
        </p:txBody>
      </p:sp>
    </p:spTree>
    <p:extLst>
      <p:ext uri="{BB962C8B-B14F-4D97-AF65-F5344CB8AC3E}">
        <p14:creationId xmlns:p14="http://schemas.microsoft.com/office/powerpoint/2010/main" val="268403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FM </a:t>
            </a:r>
            <a:r>
              <a:rPr lang="ko-KR" altLang="en-US" dirty="0"/>
              <a:t>환경시험 유효성 분석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233363" y="930275"/>
            <a:ext cx="8666162" cy="5248275"/>
          </a:xfrm>
        </p:spPr>
        <p:txBody>
          <a:bodyPr/>
          <a:lstStyle/>
          <a:p>
            <a:r>
              <a:rPr lang="en-US" altLang="ko-KR" dirty="0"/>
              <a:t>FM </a:t>
            </a:r>
            <a:r>
              <a:rPr lang="ko-KR" altLang="en-US" dirty="0"/>
              <a:t>환경시험</a:t>
            </a:r>
            <a:r>
              <a:rPr lang="en-US" altLang="ko-KR" dirty="0"/>
              <a:t>(Ver1.0)</a:t>
            </a:r>
            <a:r>
              <a:rPr lang="ko-KR" altLang="en-US" dirty="0"/>
              <a:t> 이후 </a:t>
            </a:r>
            <a:r>
              <a:rPr lang="en-US" altLang="ko-KR" dirty="0"/>
              <a:t>S/W Revision </a:t>
            </a:r>
            <a:r>
              <a:rPr lang="ko-KR" altLang="en-US" dirty="0"/>
              <a:t>되었음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lvl="1"/>
            <a:r>
              <a:rPr lang="en-US" altLang="ko-KR" dirty="0"/>
              <a:t>Ver2.0 : ION </a:t>
            </a:r>
            <a:r>
              <a:rPr lang="ko-KR" altLang="en-US" dirty="0"/>
              <a:t>통신경로 환경설정 부분의 </a:t>
            </a:r>
            <a:r>
              <a:rPr lang="en-US" altLang="ko-KR" dirty="0"/>
              <a:t>S/W</a:t>
            </a:r>
            <a:r>
              <a:rPr lang="ko-KR" altLang="en-US" dirty="0"/>
              <a:t> 오류 수정</a:t>
            </a:r>
            <a:endParaRPr lang="en-US" altLang="ko-KR" dirty="0"/>
          </a:p>
          <a:p>
            <a:pPr lvl="1"/>
            <a:r>
              <a:rPr lang="en-US" altLang="ko-KR" dirty="0"/>
              <a:t>Ver3.0 : Downlink Performance</a:t>
            </a:r>
            <a:r>
              <a:rPr lang="ko-KR" altLang="en-US" dirty="0"/>
              <a:t> 향상을 위하여 </a:t>
            </a:r>
            <a:r>
              <a:rPr lang="en-US" altLang="ko-KR" dirty="0"/>
              <a:t>PDHU</a:t>
            </a:r>
            <a:r>
              <a:rPr lang="ko-KR" altLang="en-US" dirty="0"/>
              <a:t>로 데이터 </a:t>
            </a:r>
            <a:r>
              <a:rPr lang="ko-KR" altLang="en-US" dirty="0" err="1"/>
              <a:t>전송시</a:t>
            </a:r>
            <a:r>
              <a:rPr lang="ko-KR" altLang="en-US" dirty="0"/>
              <a:t> 불필요한 </a:t>
            </a:r>
            <a:r>
              <a:rPr lang="en-US" altLang="ko-KR" dirty="0"/>
              <a:t>Idle </a:t>
            </a:r>
            <a:r>
              <a:rPr lang="ko-KR" altLang="en-US" dirty="0"/>
              <a:t>시간을 최소화하도록 </a:t>
            </a:r>
            <a:r>
              <a:rPr lang="en-US" altLang="ko-KR" dirty="0"/>
              <a:t>S/W</a:t>
            </a:r>
            <a:r>
              <a:rPr lang="ko-KR" altLang="en-US" dirty="0"/>
              <a:t> 수정 </a:t>
            </a:r>
            <a:r>
              <a:rPr lang="en-US" altLang="ko-KR" dirty="0"/>
              <a:t>(</a:t>
            </a:r>
            <a:r>
              <a:rPr lang="ko-KR" altLang="en-US" dirty="0"/>
              <a:t>전송시의 </a:t>
            </a:r>
            <a:r>
              <a:rPr lang="en-US" altLang="ko-KR" dirty="0"/>
              <a:t>USRT </a:t>
            </a:r>
            <a:r>
              <a:rPr lang="ko-KR" altLang="en-US" dirty="0"/>
              <a:t>클럭 속도는 </a:t>
            </a:r>
            <a:r>
              <a:rPr lang="en-US" altLang="ko-KR" dirty="0"/>
              <a:t>2 Mbps</a:t>
            </a:r>
            <a:r>
              <a:rPr lang="ko-KR" altLang="en-US" dirty="0"/>
              <a:t>로 기존과 동일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FM </a:t>
            </a:r>
            <a:r>
              <a:rPr lang="ko-KR" altLang="en-US" dirty="0"/>
              <a:t>환경시험 이후 </a:t>
            </a:r>
            <a:r>
              <a:rPr lang="en-US" altLang="ko-KR" dirty="0"/>
              <a:t>H/W I/F </a:t>
            </a:r>
            <a:r>
              <a:rPr lang="ko-KR" altLang="en-US" dirty="0"/>
              <a:t>변경이나 동작 클럭의 변경이 없고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S/W </a:t>
            </a:r>
            <a:r>
              <a:rPr lang="ko-KR" altLang="en-US" dirty="0"/>
              <a:t>개선을 통한 작업을 수행하였으며 기 수행된 </a:t>
            </a:r>
            <a:r>
              <a:rPr lang="en-US" altLang="ko-KR" dirty="0"/>
              <a:t>FM </a:t>
            </a:r>
            <a:r>
              <a:rPr lang="ko-KR" altLang="en-US" dirty="0"/>
              <a:t>환경시험은 유효하다는 의견을 제시함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graphicFrame>
        <p:nvGraphicFramePr>
          <p:cNvPr id="12" name="Group 414">
            <a:extLst>
              <a:ext uri="{FF2B5EF4-FFF2-40B4-BE49-F238E27FC236}">
                <a16:creationId xmlns:a16="http://schemas.microsoft.com/office/drawing/2014/main" xmlns="" id="{CDA57640-C32B-4C29-80BC-CA889F92DB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307125"/>
              </p:ext>
            </p:extLst>
          </p:nvPr>
        </p:nvGraphicFramePr>
        <p:xfrm>
          <a:off x="351234" y="2930899"/>
          <a:ext cx="8430419" cy="3247651"/>
        </p:xfrm>
        <a:graphic>
          <a:graphicData uri="http://schemas.openxmlformats.org/drawingml/2006/table">
            <a:tbl>
              <a:tblPr/>
              <a:tblGrid>
                <a:gridCol w="13525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15925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xmlns="" val="648404141"/>
                    </a:ext>
                  </a:extLst>
                </a:gridCol>
                <a:gridCol w="108981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50546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구분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6EEF7"/>
                        </a:gs>
                        <a:gs pos="100000">
                          <a:srgbClr val="C7DCE8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FM 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환경시험 버전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(Ver 1.0) 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 KARI 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납품 버전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(Ver 3.0)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 에 따른 차이</a:t>
                      </a:r>
                      <a:endParaRPr lang="ko-KR" altLang="en-US" sz="1200" b="1" kern="1200" dirty="0">
                        <a:solidFill>
                          <a:schemeClr val="tx1"/>
                        </a:solidFill>
                        <a:latin typeface="Arial (제목)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6EEF7"/>
                        </a:gs>
                        <a:gs pos="100000">
                          <a:srgbClr val="C7DCE8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유효성 분석 의견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6EEF7"/>
                        </a:gs>
                        <a:gs pos="100000">
                          <a:srgbClr val="C7DCE8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6EEF7"/>
                        </a:gs>
                        <a:gs pos="100000">
                          <a:srgbClr val="C7DCE8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88254">
                <a:tc>
                  <a:txBody>
                    <a:bodyPr/>
                    <a:lstStyle/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Thermal Vacuum Test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-900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(1)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환경시험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(Ver1.0)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 이후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H/W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변경 없음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latin typeface="Arial (제목)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8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rgbClr val="0000FF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H/W</a:t>
                      </a:r>
                      <a:r>
                        <a:rPr lang="ko-KR" altLang="en-US" sz="1200" kern="1200" dirty="0">
                          <a:solidFill>
                            <a:srgbClr val="0000FF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dirty="0">
                          <a:solidFill>
                            <a:srgbClr val="0000FF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I/F </a:t>
                      </a:r>
                      <a:r>
                        <a:rPr lang="ko-KR" altLang="en-US" sz="1200" kern="1200" dirty="0">
                          <a:solidFill>
                            <a:srgbClr val="0000FF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변경 없음</a:t>
                      </a:r>
                      <a:endParaRPr lang="en-US" altLang="ko-KR" sz="1200" kern="1200" dirty="0">
                        <a:solidFill>
                          <a:srgbClr val="0000FF"/>
                        </a:solidFill>
                        <a:latin typeface="Arial (제목)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rgbClr val="0000FF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동작 클럭 변경 없음</a:t>
                      </a:r>
                      <a:endParaRPr lang="en-US" altLang="ko-KR" sz="1200" kern="1200" dirty="0">
                        <a:solidFill>
                          <a:srgbClr val="0000FF"/>
                        </a:solidFill>
                        <a:latin typeface="Arial (제목)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1200" kern="1200" dirty="0">
                        <a:solidFill>
                          <a:srgbClr val="0000FF"/>
                        </a:solidFill>
                        <a:latin typeface="Arial (제목)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(2) Ver2.0 : </a:t>
                      </a:r>
                      <a:r>
                        <a:rPr lang="ko-KR" altLang="en-US" sz="1200" kern="1200" dirty="0">
                          <a:solidFill>
                            <a:srgbClr val="0000FF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통신경로 </a:t>
                      </a:r>
                      <a:r>
                        <a:rPr lang="ko-KR" altLang="en-US" sz="1200" kern="1200" dirty="0" err="1">
                          <a:solidFill>
                            <a:srgbClr val="0000FF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세팅관련</a:t>
                      </a:r>
                      <a:r>
                        <a:rPr lang="ko-KR" altLang="en-US" sz="1200" kern="1200" dirty="0">
                          <a:solidFill>
                            <a:srgbClr val="0000FF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dirty="0">
                          <a:solidFill>
                            <a:srgbClr val="0000FF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S/W </a:t>
                      </a:r>
                      <a:r>
                        <a:rPr lang="ko-KR" altLang="en-US" sz="1200" kern="1200" dirty="0">
                          <a:solidFill>
                            <a:srgbClr val="0000FF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수정</a:t>
                      </a:r>
                      <a:endParaRPr lang="en-US" altLang="ko-KR" sz="1200" kern="1200" dirty="0">
                        <a:solidFill>
                          <a:srgbClr val="0000FF"/>
                        </a:solidFill>
                        <a:latin typeface="Arial (제목)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kern="1200" dirty="0">
                        <a:solidFill>
                          <a:srgbClr val="0000FF"/>
                        </a:solidFill>
                        <a:latin typeface="Arial (제목)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(3) Ver3.0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: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PDHU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전송 시 </a:t>
                      </a:r>
                      <a:r>
                        <a:rPr lang="ko-KR" altLang="en-US" sz="1200" kern="1200" dirty="0">
                          <a:solidFill>
                            <a:srgbClr val="0000FF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데이터 전송의 </a:t>
                      </a:r>
                      <a:r>
                        <a:rPr lang="en-US" altLang="ko-KR" sz="1200" kern="1200" dirty="0">
                          <a:solidFill>
                            <a:srgbClr val="0000FF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Duty Cycle </a:t>
                      </a:r>
                      <a:r>
                        <a:rPr lang="ko-KR" altLang="en-US" sz="1200" kern="1200" dirty="0">
                          <a:solidFill>
                            <a:srgbClr val="0000FF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개선함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데이터 전송 시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Idle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시간을 줄여서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Downlink Performance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 증대효과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전송시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USRT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클럭은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2 Mbps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로 기존과 동일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기 수행된 환경시험 유효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latin typeface="Arial (제목)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sz="1200" kern="1200" dirty="0">
                        <a:solidFill>
                          <a:srgbClr val="0000FF"/>
                        </a:solidFill>
                        <a:latin typeface="Arial (제목)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931699036"/>
                  </a:ext>
                </a:extLst>
              </a:tr>
              <a:tr h="85895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EMI/EMC </a:t>
                      </a:r>
                    </a:p>
                    <a:p>
                      <a:pPr algn="ctr" latinLnBrk="1"/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Test</a:t>
                      </a:r>
                      <a:endParaRPr lang="ko-KR" altLang="en-US" sz="2800" dirty="0"/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sz="1200" kern="1200" dirty="0">
                        <a:solidFill>
                          <a:schemeClr val="tx1"/>
                        </a:solidFill>
                        <a:latin typeface="Arial (제목)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rgbClr val="FFFFFF">
                            <a:lumMod val="50000"/>
                          </a:srgb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기 수행된 환경시험 유효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(제목)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900" kern="1200" dirty="0">
                          <a:solidFill>
                            <a:srgbClr val="0000FF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CFDP</a:t>
                      </a:r>
                      <a:r>
                        <a:rPr lang="ko-KR" altLang="en-US" sz="900" kern="1200" dirty="0">
                          <a:solidFill>
                            <a:srgbClr val="0000FF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900" kern="1200" dirty="0">
                          <a:solidFill>
                            <a:srgbClr val="0000FF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File</a:t>
                      </a:r>
                      <a:r>
                        <a:rPr lang="ko-KR" altLang="en-US" sz="900" kern="1200" dirty="0">
                          <a:solidFill>
                            <a:srgbClr val="0000FF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900" kern="1200" dirty="0">
                          <a:solidFill>
                            <a:srgbClr val="0000FF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Transfer </a:t>
                      </a:r>
                      <a:r>
                        <a:rPr lang="ko-KR" altLang="en-US" sz="900" kern="1200" dirty="0">
                          <a:solidFill>
                            <a:srgbClr val="0000FF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기능오류 수정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99089338"/>
                  </a:ext>
                </a:extLst>
              </a:tr>
              <a:tr h="1090684">
                <a:tc>
                  <a:txBody>
                    <a:bodyPr/>
                    <a:lstStyle/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Vibration </a:t>
                      </a:r>
                    </a:p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Test</a:t>
                      </a:r>
                      <a:endParaRPr lang="ko-KR" altLang="en-US" sz="2800" dirty="0"/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sz="1200" kern="1200" dirty="0">
                        <a:solidFill>
                          <a:schemeClr val="tx1"/>
                        </a:solidFill>
                        <a:latin typeface="Arial (제목)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rgbClr val="FFFFFF">
                            <a:lumMod val="50000"/>
                          </a:srgb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기 수행된 환경시험 유효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(제목)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900" kern="1200" dirty="0">
                          <a:solidFill>
                            <a:srgbClr val="0000FF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Downlink Performance </a:t>
                      </a:r>
                      <a:r>
                        <a:rPr lang="ko-KR" altLang="en-US" sz="900" kern="1200" dirty="0">
                          <a:solidFill>
                            <a:srgbClr val="0000FF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개선</a:t>
                      </a:r>
                      <a:endParaRPr lang="en-US" altLang="ko-KR" sz="900" kern="1200" dirty="0">
                        <a:solidFill>
                          <a:srgbClr val="0000FF"/>
                        </a:solidFill>
                        <a:latin typeface="Arial (제목)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900" kern="1200" dirty="0">
                          <a:solidFill>
                            <a:srgbClr val="0000FF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</a:rPr>
                        <a:t>(150 kbps </a:t>
                      </a:r>
                      <a:r>
                        <a:rPr lang="en-US" altLang="ko-KR" sz="900" kern="1200" dirty="0">
                          <a:solidFill>
                            <a:srgbClr val="0000FF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</a:p>
                    <a:p>
                      <a:pPr marL="0" marR="0" lvl="0" indent="-900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900" kern="1200" dirty="0">
                          <a:solidFill>
                            <a:srgbClr val="0000FF"/>
                          </a:solidFill>
                          <a:latin typeface="Arial (제목)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800 kbps)</a:t>
                      </a:r>
                      <a:endParaRPr lang="ko-KR" altLang="en-US" sz="900" kern="1200" dirty="0">
                        <a:solidFill>
                          <a:srgbClr val="0000FF"/>
                        </a:solidFill>
                        <a:latin typeface="Arial (제목)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30558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8550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Near-Term Activities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233363" y="930275"/>
            <a:ext cx="8666162" cy="5248275"/>
          </a:xfrm>
        </p:spPr>
        <p:txBody>
          <a:bodyPr/>
          <a:lstStyle/>
          <a:p>
            <a:r>
              <a:rPr lang="en-US" altLang="ko-KR" dirty="0"/>
              <a:t>DTNPL FM</a:t>
            </a:r>
            <a:r>
              <a:rPr lang="ko-KR" altLang="en-US" dirty="0"/>
              <a:t>에 </a:t>
            </a:r>
            <a:r>
              <a:rPr lang="en-US" altLang="ko-KR" dirty="0"/>
              <a:t>S/W Ver 3.0 </a:t>
            </a:r>
            <a:r>
              <a:rPr lang="ko-KR" altLang="en-US" dirty="0"/>
              <a:t>이식</a:t>
            </a:r>
            <a:endParaRPr lang="en-US" altLang="ko-KR" dirty="0"/>
          </a:p>
          <a:p>
            <a:r>
              <a:rPr lang="en-US" altLang="ko-KR" dirty="0"/>
              <a:t>FM</a:t>
            </a:r>
            <a:r>
              <a:rPr lang="ko-KR" altLang="en-US" dirty="0"/>
              <a:t> </a:t>
            </a:r>
            <a:r>
              <a:rPr lang="en-US" altLang="ko-KR" dirty="0"/>
              <a:t>Delivery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14979209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Arial"/>
        <a:ea typeface="굴림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29993</TotalTime>
  <Words>803</Words>
  <Application>Microsoft Office PowerPoint</Application>
  <PresentationFormat>화면 슬라이드 쇼(4:3)</PresentationFormat>
  <Paragraphs>243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8" baseType="lpstr">
      <vt:lpstr>Arial (제목)</vt:lpstr>
      <vt:lpstr>굴림</vt:lpstr>
      <vt:lpstr>맑은 고딕</vt:lpstr>
      <vt:lpstr>바탕체</vt:lpstr>
      <vt:lpstr>Arial</vt:lpstr>
      <vt:lpstr>Arial Black</vt:lpstr>
      <vt:lpstr>Times New Roman</vt:lpstr>
      <vt:lpstr>Wingdings</vt:lpstr>
      <vt:lpstr>기본 디자인</vt:lpstr>
      <vt:lpstr>DTNPL FM 환경시험 후 S/W Revision에 따른 수행된 환경시험의 유효성 분석</vt:lpstr>
      <vt:lpstr>Contents</vt:lpstr>
      <vt:lpstr>Background</vt:lpstr>
      <vt:lpstr>S/W 변경점 (Ver1.0  Ver2.0)</vt:lpstr>
      <vt:lpstr>S/W 변경점 (Ver2.0  Ver3.0)</vt:lpstr>
      <vt:lpstr>S/W 변경점 (Ver2.0  Ver3.0)</vt:lpstr>
      <vt:lpstr>S/W 변경점 (Ver2.0  Ver3.0)</vt:lpstr>
      <vt:lpstr>FM 환경시험 유효성 분석</vt:lpstr>
      <vt:lpstr>Near-Term Activities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한동인</dc:creator>
  <cp:lastModifiedBy>이경락</cp:lastModifiedBy>
  <cp:revision>1331</cp:revision>
  <cp:lastPrinted>2020-09-07T08:05:09Z</cp:lastPrinted>
  <dcterms:created xsi:type="dcterms:W3CDTF">1601-01-01T00:00:00Z</dcterms:created>
  <dcterms:modified xsi:type="dcterms:W3CDTF">2020-11-23T06:21:58Z</dcterms:modified>
</cp:coreProperties>
</file>