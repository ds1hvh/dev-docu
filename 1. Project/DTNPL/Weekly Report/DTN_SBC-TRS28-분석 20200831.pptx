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423" r:id="rId2"/>
    <p:sldId id="813" r:id="rId3"/>
    <p:sldId id="815" r:id="rId4"/>
    <p:sldId id="816" r:id="rId5"/>
    <p:sldId id="817" r:id="rId6"/>
    <p:sldId id="818" r:id="rId7"/>
  </p:sldIdLst>
  <p:sldSz cx="9144000" cy="6858000" type="screen4x3"/>
  <p:notesSz cx="7104063" cy="10234613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sz="2400" kern="1200">
        <a:solidFill>
          <a:schemeClr val="tx1"/>
        </a:solidFill>
        <a:latin typeface="Times New Roman" panose="02020603050405020304" pitchFamily="18" charset="0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47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8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O14004" initials="O" lastIdx="1" clrIdx="0">
    <p:extLst>
      <p:ext uri="{19B8F6BF-5375-455C-9EA6-DF929625EA0E}">
        <p15:presenceInfo xmlns:p15="http://schemas.microsoft.com/office/powerpoint/2012/main" userId="O14004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0000"/>
    <a:srgbClr val="00CC66"/>
    <a:srgbClr val="FFCCFF"/>
    <a:srgbClr val="6AA8C1"/>
    <a:srgbClr val="FFCCCC"/>
    <a:srgbClr val="F2F2F2"/>
    <a:srgbClr val="EFFFB3"/>
    <a:srgbClr val="F7FEB4"/>
    <a:srgbClr val="FF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941" autoAdjust="0"/>
    <p:restoredTop sz="96370" autoAdjust="0"/>
  </p:normalViewPr>
  <p:slideViewPr>
    <p:cSldViewPr snapToGrid="0">
      <p:cViewPr varScale="1">
        <p:scale>
          <a:sx n="127" d="100"/>
          <a:sy n="127" d="100"/>
        </p:scale>
        <p:origin x="1608" y="114"/>
      </p:cViewPr>
      <p:guideLst>
        <p:guide orient="horz" pos="2160"/>
        <p:guide pos="47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8" d="100"/>
          <a:sy n="78" d="100"/>
        </p:scale>
        <p:origin x="2610" y="66"/>
      </p:cViewPr>
      <p:guideLst>
        <p:guide orient="horz" pos="3224"/>
        <p:guide pos="2238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handoutMaster" Target="handoutMasters/handoutMaster1.xml"/><Relationship Id="rId14" Type="http://schemas.openxmlformats.org/officeDocument/2006/relationships/tableStyles" Target="tableStyles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6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Rectangle 1026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5" name="Rectangle 1027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6" name="Rectangle 1028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8197" name="Rectangle 1029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0D0299D-B60A-4896-8397-6469664CBFF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18598588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4861" y="0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1229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5363" y="768350"/>
            <a:ext cx="5114925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  <a:ext uri="{53640926-AAD7-44D8-BBD7-CCE9431645EC}">
              <a14:shadowObscured xmlns:a14="http://schemas.microsoft.com/office/drawing/2010/main" val="1"/>
            </a:ext>
          </a:extLst>
        </p:spPr>
      </p:sp>
      <p:sp>
        <p:nvSpPr>
          <p:cNvPr id="6149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47320" y="4861156"/>
            <a:ext cx="5209425" cy="460582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150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en-US" altLang="ko-KR"/>
          </a:p>
        </p:txBody>
      </p:sp>
      <p:sp>
        <p:nvSpPr>
          <p:cNvPr id="6151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4861" y="9722309"/>
            <a:ext cx="3079202" cy="51230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4782" tIns="47391" rIns="94782" bIns="47391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F9CEF302-C0C4-41F5-9E57-DF55FCB3FB8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258776379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anose="020B0600000101010101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9CEF302-C0C4-41F5-9E57-DF55FCB3FB84}" type="slidenum">
              <a:rPr lang="ko-KR" altLang="en-US" smtClean="0"/>
              <a:pPr>
                <a:defRPr/>
              </a:pPr>
              <a:t>0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07559336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418600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26154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w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Line 2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8" name="Line 2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5398" name="Rectangle 38"/>
          <p:cNvSpPr>
            <a:spLocks noGrp="1" noChangeArrowheads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 lIns="91440" tIns="45720" rIns="91440" bIns="45720"/>
          <a:lstStyle>
            <a:lvl1pPr>
              <a:defRPr sz="3000">
                <a:latin typeface="Arial Black" panose="020B0A04020102020204" pitchFamily="34" charset="0"/>
              </a:defRPr>
            </a:lvl1pPr>
          </a:lstStyle>
          <a:p>
            <a:pPr lvl="0"/>
            <a:r>
              <a:rPr lang="en-US" altLang="ko-KR" noProof="0" dirty="0"/>
              <a:t>Arial Black 30 font &amp; Bold</a:t>
            </a:r>
          </a:p>
        </p:txBody>
      </p:sp>
      <p:sp>
        <p:nvSpPr>
          <p:cNvPr id="15399" name="Rectangle 39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 lIns="91440" tIns="45720" rIns="91440" bIns="45720"/>
          <a:lstStyle>
            <a:lvl1pPr marL="0" indent="0" algn="ctr">
              <a:buFontTx/>
              <a:buNone/>
              <a:defRPr sz="2400"/>
            </a:lvl1pPr>
          </a:lstStyle>
          <a:p>
            <a:pPr lvl="0"/>
            <a:r>
              <a:rPr lang="en-US" altLang="ko-KR" noProof="0" dirty="0"/>
              <a:t>Arial 24 font &amp; Bold</a:t>
            </a:r>
          </a:p>
        </p:txBody>
      </p:sp>
      <p:graphicFrame>
        <p:nvGraphicFramePr>
          <p:cNvPr id="13" name="Group 44"/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310214106"/>
              </p:ext>
            </p:extLst>
          </p:nvPr>
        </p:nvGraphicFramePr>
        <p:xfrm>
          <a:off x="106128" y="354284"/>
          <a:ext cx="8926360" cy="937827"/>
        </p:xfrm>
        <a:graphic>
          <a:graphicData uri="http://schemas.openxmlformats.org/drawingml/2006/table">
            <a:tbl>
              <a:tblPr/>
              <a:tblGrid>
                <a:gridCol w="98149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3588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605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37827"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>
                      <a:lvl1pPr algn="l">
                        <a:spcBef>
                          <a:spcPct val="20000"/>
                        </a:spcBef>
                        <a:defRPr kumimoji="1" sz="16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1pPr>
                      <a:lvl2pPr marL="476250" algn="l">
                        <a:spcBef>
                          <a:spcPct val="20000"/>
                        </a:spcBef>
                        <a:defRPr kumimoji="1" sz="1600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2pPr>
                      <a:lvl3pPr marL="952500"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3pPr>
                      <a:lvl4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4pPr>
                      <a:lvl5pPr algn="l">
                        <a:spcBef>
                          <a:spcPct val="20000"/>
                        </a:spcBef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5pPr>
                      <a:lvl6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6pPr>
                      <a:lvl7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7pPr>
                      <a:lvl8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8pPr>
                      <a:lvl9pPr fontAlgn="base">
                        <a:spcBef>
                          <a:spcPct val="20000"/>
                        </a:spcBef>
                        <a:spcAft>
                          <a:spcPct val="0"/>
                        </a:spcAft>
                        <a:defRPr kumimoji="1" sz="1400" b="1">
                          <a:solidFill>
                            <a:schemeClr val="tx1"/>
                          </a:solidFill>
                          <a:latin typeface="Arial" panose="020B0604020202020204" pitchFamily="34" charset="0"/>
                          <a:ea typeface="굴림" panose="020B0600000101010101" pitchFamily="50" charset="-127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1" lang="ko-KR" altLang="en-US" sz="16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Arial" panose="020B0604020202020204" pitchFamily="34" charset="0"/>
                        <a:ea typeface="굴림" panose="020B0600000101010101" pitchFamily="50" charset="-127"/>
                      </a:endParaRPr>
                    </a:p>
                  </a:txBody>
                  <a:tcPr marL="99060" marR="99060" horzOverflow="overflow">
                    <a:lnL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0070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4" name="Rectangle 46"/>
          <p:cNvSpPr>
            <a:spLocks noChangeArrowheads="1"/>
          </p:cNvSpPr>
          <p:nvPr userDrawn="1"/>
        </p:nvSpPr>
        <p:spPr bwMode="auto">
          <a:xfrm>
            <a:off x="84343" y="87726"/>
            <a:ext cx="8948145" cy="274824"/>
          </a:xfrm>
          <a:prstGeom prst="rect">
            <a:avLst/>
          </a:prstGeom>
          <a:solidFill>
            <a:srgbClr val="0070C0"/>
          </a:solidFill>
          <a:ln>
            <a:noFill/>
          </a:ln>
          <a:effectLst/>
        </p:spPr>
        <p:txBody>
          <a:bodyPr lIns="108032" tIns="54016" rIns="108032" bIns="54016" anchor="ctr"/>
          <a:lstStyle>
            <a:lvl1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1pPr>
            <a:lvl2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2pPr>
            <a:lvl3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3pPr>
            <a:lvl4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4pPr>
            <a:lvl5pPr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5pPr>
            <a:lvl6pPr marL="4572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6pPr>
            <a:lvl7pPr marL="9144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7pPr>
            <a:lvl8pPr marL="13716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8pPr>
            <a:lvl9pPr marL="1828800" algn="ctr" fontAlgn="base">
              <a:spcBef>
                <a:spcPct val="0"/>
              </a:spcBef>
              <a:spcAft>
                <a:spcPct val="0"/>
              </a:spcAft>
              <a:defRPr kumimoji="1" sz="3000" b="1">
                <a:solidFill>
                  <a:schemeClr val="tx2"/>
                </a:solidFill>
                <a:latin typeface="Arial Black" panose="020B0A04020102020204" pitchFamily="34" charset="0"/>
                <a:ea typeface="굴림" panose="020B0600000101010101" pitchFamily="50" charset="-127"/>
              </a:defRPr>
            </a:lvl9pPr>
          </a:lstStyle>
          <a:p>
            <a:pPr algn="l" eaLnBrk="1" latinLnBrk="1" hangingPunct="1">
              <a:defRPr/>
            </a:pPr>
            <a:r>
              <a:rPr lang="en-US" altLang="ko-KR" sz="1600" b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Korea </a:t>
            </a:r>
            <a:r>
              <a:rPr lang="en-US" altLang="ko-KR" sz="1600" b="0" baseline="0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Arial Black" panose="020B0A04020102020204" pitchFamily="34" charset="0"/>
              </a:rPr>
              <a:t>Lunar Exploration Program - KPLO</a:t>
            </a:r>
            <a:endParaRPr lang="en-US" altLang="ko-KR" sz="1600" b="0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Arial Black" panose="020B0A04020102020204" pitchFamily="34" charset="0"/>
            </a:endParaRPr>
          </a:p>
        </p:txBody>
      </p:sp>
      <p:sp>
        <p:nvSpPr>
          <p:cNvPr id="15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19181" y="396346"/>
            <a:ext cx="862787" cy="864024"/>
          </a:xfrm>
          <a:prstGeom prst="rect">
            <a:avLst/>
          </a:prstGeom>
        </p:spPr>
      </p:pic>
      <p:pic>
        <p:nvPicPr>
          <p:cNvPr id="17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2701" y="556035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8" name="그림 17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8125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2pPr>
              <a:defRPr sz="1600"/>
            </a:lvl2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5036349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/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1547126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33363" y="981075"/>
            <a:ext cx="4256087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1850" y="981075"/>
            <a:ext cx="4257675" cy="524827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7589555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23431389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39188815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9777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12487211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  <p:extLst>
      <p:ext uri="{BB962C8B-B14F-4D97-AF65-F5344CB8AC3E}">
        <p14:creationId xmlns:p14="http://schemas.microsoft.com/office/powerpoint/2010/main" val="34266018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61705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734175" y="131763"/>
            <a:ext cx="2165350" cy="609758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33363" y="131763"/>
            <a:ext cx="6348412" cy="609758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31935579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w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Line 82"/>
          <p:cNvSpPr>
            <a:spLocks noChangeShapeType="1"/>
          </p:cNvSpPr>
          <p:nvPr userDrawn="1"/>
        </p:nvSpPr>
        <p:spPr bwMode="auto">
          <a:xfrm>
            <a:off x="228600" y="6480175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7" name="Line 84"/>
          <p:cNvSpPr>
            <a:spLocks noChangeShapeType="1"/>
          </p:cNvSpPr>
          <p:nvPr userDrawn="1"/>
        </p:nvSpPr>
        <p:spPr bwMode="auto">
          <a:xfrm>
            <a:off x="228600" y="6477000"/>
            <a:ext cx="8686800" cy="0"/>
          </a:xfrm>
          <a:prstGeom prst="line">
            <a:avLst/>
          </a:prstGeom>
          <a:noFill/>
          <a:ln w="2540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 b="0"/>
          </a:p>
        </p:txBody>
      </p:sp>
      <p:sp>
        <p:nvSpPr>
          <p:cNvPr id="1029" name="Line 89"/>
          <p:cNvSpPr>
            <a:spLocks noChangeShapeType="1"/>
          </p:cNvSpPr>
          <p:nvPr userDrawn="1"/>
        </p:nvSpPr>
        <p:spPr bwMode="auto">
          <a:xfrm flipV="1">
            <a:off x="228600" y="876300"/>
            <a:ext cx="8686800" cy="0"/>
          </a:xfrm>
          <a:prstGeom prst="line">
            <a:avLst/>
          </a:prstGeom>
          <a:noFill/>
          <a:ln w="57150">
            <a:solidFill>
              <a:schemeClr val="accent2"/>
            </a:solidFill>
            <a:round/>
            <a:headEnd type="none" w="sm" len="sm"/>
            <a:tailEnd type="none" w="sm" len="sm"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GB"/>
          </a:p>
        </p:txBody>
      </p:sp>
      <p:sp>
        <p:nvSpPr>
          <p:cNvPr id="1032" name="Rectangle 93"/>
          <p:cNvSpPr>
            <a:spLocks noGrp="1" noChangeArrowheads="1"/>
          </p:cNvSpPr>
          <p:nvPr>
            <p:ph type="title"/>
          </p:nvPr>
        </p:nvSpPr>
        <p:spPr bwMode="auto">
          <a:xfrm>
            <a:off x="1219200" y="131763"/>
            <a:ext cx="6705600" cy="706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24 font &amp; bold</a:t>
            </a:r>
          </a:p>
        </p:txBody>
      </p:sp>
      <p:sp>
        <p:nvSpPr>
          <p:cNvPr id="1033" name="Rectangle 9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33363" y="981075"/>
            <a:ext cx="8666162" cy="52482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Arial 18 font &amp; bold</a:t>
            </a:r>
          </a:p>
          <a:p>
            <a:pPr lvl="1"/>
            <a:r>
              <a:rPr lang="en-US" altLang="ko-KR" dirty="0"/>
              <a:t>Arial 16 font &amp; bold</a:t>
            </a:r>
            <a:endParaRPr lang="ko-KR" altLang="en-US"/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1035" name="Text Box 86"/>
          <p:cNvSpPr txBox="1">
            <a:spLocks noChangeArrowheads="1"/>
          </p:cNvSpPr>
          <p:nvPr userDrawn="1"/>
        </p:nvSpPr>
        <p:spPr bwMode="auto">
          <a:xfrm>
            <a:off x="7524750" y="6510338"/>
            <a:ext cx="1485900" cy="276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 algn="ctr">
                <a:solidFill>
                  <a:schemeClr val="accent2"/>
                </a:solidFill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1pPr>
            <a:lvl2pPr marL="742950" indent="-28575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2pPr>
            <a:lvl3pPr marL="11430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3pPr>
            <a:lvl4pPr marL="16002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4pPr>
            <a:lvl5pPr marL="2057400" indent="-228600" algn="ctr" latinLnBrk="1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5pPr>
            <a:lvl6pPr marL="25146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6pPr>
            <a:lvl7pPr marL="29718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7pPr>
            <a:lvl8pPr marL="34290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8pPr>
            <a:lvl9pPr marL="3886200" indent="-228600" algn="ctr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굴림" panose="020B0600000101010101" pitchFamily="50" charset="-127"/>
              </a:defRPr>
            </a:lvl9pPr>
          </a:lstStyle>
          <a:p>
            <a:pPr algn="r" eaLnBrk="1" hangingPunct="1">
              <a:spcBef>
                <a:spcPct val="50000"/>
              </a:spcBef>
              <a:defRPr/>
            </a:pPr>
            <a:fld id="{BD253322-42C0-4748-AAA5-F0068379097A}" type="slidenum">
              <a:rPr lang="en-US" altLang="ko-KR" sz="1200" b="0" smtClean="0">
                <a:solidFill>
                  <a:schemeClr val="tx1"/>
                </a:solidFill>
                <a:latin typeface="Arial" panose="020B0604020202020204" pitchFamily="34" charset="0"/>
                <a:ea typeface="바탕체" panose="02030609000101010101" pitchFamily="17" charset="-127"/>
              </a:rPr>
              <a:pPr algn="r" eaLnBrk="1" hangingPunct="1">
                <a:spcBef>
                  <a:spcPct val="50000"/>
                </a:spcBef>
                <a:defRPr/>
              </a:pPr>
              <a:t>‹#›</a:t>
            </a:fld>
            <a:endParaRPr lang="en-US" altLang="ko-KR" sz="1200" b="0" dirty="0">
              <a:solidFill>
                <a:schemeClr val="tx1"/>
              </a:solidFill>
              <a:latin typeface="Arial" panose="020B0604020202020204" pitchFamily="34" charset="0"/>
              <a:ea typeface="바탕체" panose="02030609000101010101" pitchFamily="17" charset="-127"/>
            </a:endParaRPr>
          </a:p>
        </p:txBody>
      </p:sp>
      <p:sp>
        <p:nvSpPr>
          <p:cNvPr id="12" name="직사각형 11"/>
          <p:cNvSpPr/>
          <p:nvPr userDrawn="1"/>
        </p:nvSpPr>
        <p:spPr>
          <a:xfrm>
            <a:off x="2239622" y="6514041"/>
            <a:ext cx="4653643" cy="27699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Confidential,</a:t>
            </a:r>
            <a:r>
              <a:rPr lang="en-US" altLang="ko-KR" sz="1200" b="0" baseline="0" dirty="0">
                <a:solidFill>
                  <a:schemeClr val="tx1"/>
                </a:solidFill>
                <a:latin typeface="+mn-lt"/>
              </a:rPr>
              <a:t> </a:t>
            </a:r>
            <a:r>
              <a:rPr lang="en-US" altLang="ko-KR" sz="1200" b="0" dirty="0">
                <a:solidFill>
                  <a:schemeClr val="tx1"/>
                </a:solidFill>
                <a:latin typeface="+mn-lt"/>
              </a:rPr>
              <a:t>Distribution Limited</a:t>
            </a:r>
            <a:endParaRPr lang="ko-KR" altLang="en-US" sz="1200" b="0" dirty="0">
              <a:solidFill>
                <a:schemeClr val="tx1"/>
              </a:solidFill>
              <a:latin typeface="+mn-lt"/>
            </a:endParaRP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294487" y="-23213"/>
            <a:ext cx="862787" cy="864024"/>
          </a:xfrm>
          <a:prstGeom prst="rect">
            <a:avLst/>
          </a:prstGeom>
        </p:spPr>
      </p:pic>
      <p:pic>
        <p:nvPicPr>
          <p:cNvPr id="13" name="Picture 2" descr="F:\업무\ETRI활동\행정문서\CIS\새CI\signature_4.wmf"/>
          <p:cNvPicPr>
            <a:picLocks noChangeAspect="1" noChangeArrowheads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41945" y="244061"/>
            <a:ext cx="1262699" cy="4512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6510338"/>
            <a:ext cx="947582" cy="276225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56" r:id="rId1"/>
    <p:sldLayoutId id="2147483755" r:id="rId2"/>
    <p:sldLayoutId id="2147483757" r:id="rId3"/>
    <p:sldLayoutId id="2147483758" r:id="rId4"/>
    <p:sldLayoutId id="2147483759" r:id="rId5"/>
    <p:sldLayoutId id="2147483760" r:id="rId6"/>
    <p:sldLayoutId id="2147483761" r:id="rId7"/>
    <p:sldLayoutId id="2147483762" r:id="rId8"/>
    <p:sldLayoutId id="2147483763" r:id="rId9"/>
    <p:sldLayoutId id="2147483764" r:id="rId10"/>
    <p:sldLayoutId id="2147483765" r:id="rId11"/>
  </p:sldLayoutIdLst>
  <p:hf hdr="0" ftr="0"/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kumimoji="1" sz="2400" b="1" kern="1200" baseline="0">
          <a:solidFill>
            <a:schemeClr val="tx2"/>
          </a:solidFill>
          <a:latin typeface="Arial" panose="020B0604020202020204" pitchFamily="34" charset="0"/>
          <a:ea typeface="맑은 고딕" panose="020B0503020000020004" pitchFamily="50" charset="-127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2"/>
          </a:solidFill>
          <a:latin typeface="Arial" panose="020B0604020202020204" pitchFamily="34" charset="0"/>
          <a:ea typeface="굴림" panose="020B0600000101010101" pitchFamily="50" charset="-127"/>
        </a:defRPr>
      </a:lvl9pPr>
    </p:titleStyle>
    <p:bodyStyle>
      <a:lvl1pPr marL="190500" indent="-190500" algn="l" rtl="0" eaLnBrk="0" fontAlgn="base" latinLnBrk="1" hangingPunct="0">
        <a:spcBef>
          <a:spcPct val="20000"/>
        </a:spcBef>
        <a:spcAft>
          <a:spcPct val="0"/>
        </a:spcAft>
        <a:buFont typeface="Wingdings" panose="05000000000000000000" pitchFamily="2" charset="2"/>
        <a:buChar char="§"/>
        <a:defRPr kumimoji="1" b="1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1pPr>
      <a:lvl2pPr marL="538163" indent="-1905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60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2pPr>
      <a:lvl3pPr marL="896938" indent="-228600" algn="l" rtl="0" eaLnBrk="0" fontAlgn="base" latinLnBrk="1" hangingPunct="0">
        <a:spcBef>
          <a:spcPct val="20000"/>
        </a:spcBef>
        <a:spcAft>
          <a:spcPct val="0"/>
        </a:spcAft>
        <a:buChar char="•"/>
        <a:defRPr kumimoji="1" sz="16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3pPr>
      <a:lvl4pPr marL="1255713" indent="-228600" algn="l" rtl="0" eaLnBrk="0" fontAlgn="base" latinLnBrk="1" hangingPunct="0">
        <a:spcBef>
          <a:spcPct val="20000"/>
        </a:spcBef>
        <a:spcAft>
          <a:spcPct val="0"/>
        </a:spcAft>
        <a:buChar char="–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4pPr>
      <a:lvl5pPr marL="1614488" indent="-228600" algn="l" rtl="0" eaLnBrk="0" fontAlgn="base" latinLnBrk="1" hangingPunct="0">
        <a:spcBef>
          <a:spcPct val="20000"/>
        </a:spcBef>
        <a:spcAft>
          <a:spcPct val="0"/>
        </a:spcAft>
        <a:buChar char="»"/>
        <a:defRPr kumimoji="1" sz="1400" b="0" kern="1200" baseline="0">
          <a:solidFill>
            <a:schemeClr val="tx1"/>
          </a:solidFill>
          <a:latin typeface="Arial" panose="020B0604020202020204" pitchFamily="34" charset="0"/>
          <a:ea typeface="맑은 고딕" panose="020B0503020000020004" pitchFamily="50" charset="-127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1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886075"/>
            <a:ext cx="7772400" cy="2460476"/>
          </a:xfrm>
        </p:spPr>
        <p:txBody>
          <a:bodyPr/>
          <a:lstStyle/>
          <a:p>
            <a:r>
              <a:rPr lang="en-US" altLang="ko-KR" sz="3600" dirty="0" smtClean="0"/>
              <a:t>TRS 28 </a:t>
            </a:r>
            <a:r>
              <a:rPr lang="ko-KR" altLang="en-US" sz="3600" dirty="0" smtClean="0"/>
              <a:t>원인 분석</a:t>
            </a: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3600" dirty="0"/>
              <a:t/>
            </a:r>
            <a:br>
              <a:rPr lang="en-US" altLang="ko-KR" sz="3600" dirty="0"/>
            </a:br>
            <a:r>
              <a:rPr lang="en-US" altLang="ko-KR" sz="2400" b="0" dirty="0" smtClean="0"/>
              <a:t>’20.08.31</a:t>
            </a:r>
            <a:r>
              <a:rPr lang="en-US" altLang="ko-KR" sz="2400" b="0" dirty="0"/>
              <a:t/>
            </a:r>
            <a:br>
              <a:rPr lang="en-US" altLang="ko-KR" sz="2400" b="0" dirty="0"/>
            </a:br>
            <a:r>
              <a:rPr lang="en-US" altLang="ko-KR" sz="2400" b="0" dirty="0" err="1"/>
              <a:t>Lumir</a:t>
            </a:r>
            <a:endParaRPr lang="ko-KR" altLang="en-US" sz="2400" b="0" dirty="0"/>
          </a:p>
        </p:txBody>
      </p:sp>
      <p:sp>
        <p:nvSpPr>
          <p:cNvPr id="4" name="텍스트 개체 틀 22"/>
          <p:cNvSpPr>
            <a:spLocks noGrp="1"/>
          </p:cNvSpPr>
          <p:nvPr>
            <p:ph type="body" sz="quarter" idx="11" hasCustomPrompt="1"/>
          </p:nvPr>
        </p:nvSpPr>
        <p:spPr>
          <a:xfrm>
            <a:off x="1081968" y="443989"/>
            <a:ext cx="6397102" cy="707344"/>
          </a:xfrm>
        </p:spPr>
        <p:txBody>
          <a:bodyPr anchor="ctr">
            <a:noAutofit/>
          </a:bodyPr>
          <a:lstStyle>
            <a:lvl1pPr marL="190500" marR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 lang="ko-KR" altLang="en-US" sz="4000" b="1" kern="1200" dirty="0">
                <a:solidFill>
                  <a:srgbClr val="C00000"/>
                </a:solidFill>
                <a:latin typeface="Arial" pitchFamily="34" charset="0"/>
                <a:ea typeface="+mn-ea"/>
                <a:cs typeface="Arial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marL="190500" marR="0" lvl="0" indent="-190500" algn="ctr" defTabSz="914400" rtl="0" eaLnBrk="0" fontAlgn="base" latinLnBrk="1" hangingPunct="0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r>
              <a:rPr lang="en-US" altLang="ko-KR" sz="3300" dirty="0">
                <a:solidFill>
                  <a:schemeClr val="tx1"/>
                </a:solidFill>
              </a:rPr>
              <a:t>KPLO DTNPL</a:t>
            </a:r>
            <a:endParaRPr lang="ko-KR" altLang="en-US" sz="33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30703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TRS-28 </a:t>
            </a:r>
            <a:r>
              <a:rPr lang="ko-KR" altLang="en-US" dirty="0" smtClean="0"/>
              <a:t>시험 결과 원인 분석 및 그 결과</a:t>
            </a:r>
            <a:endParaRPr lang="en-US" altLang="ko-KR" dirty="0"/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306"/>
            <a:ext cx="8666798" cy="5503383"/>
          </a:xfrm>
        </p:spPr>
        <p:txBody>
          <a:bodyPr/>
          <a:lstStyle/>
          <a:p>
            <a:r>
              <a:rPr lang="en-US" altLang="ko-KR" dirty="0" smtClean="0"/>
              <a:t>TRS-028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/>
              <a:t>현상 </a:t>
            </a:r>
            <a:r>
              <a:rPr lang="en-US" altLang="ko-KR" dirty="0"/>
              <a:t>(SBC FW </a:t>
            </a:r>
            <a:r>
              <a:rPr lang="en-US" altLang="ko-KR" dirty="0" smtClean="0"/>
              <a:t>Ver1.1.0</a:t>
            </a:r>
            <a:r>
              <a:rPr lang="en-US" altLang="ko-KR" dirty="0"/>
              <a:t>)</a:t>
            </a:r>
          </a:p>
          <a:p>
            <a:pPr lvl="1"/>
            <a:r>
              <a:rPr lang="ko-KR" altLang="en-US" dirty="0" smtClean="0"/>
              <a:t>일부 명령에 대해서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확인이 되지 않는 문제점 발생</a:t>
            </a:r>
            <a:endParaRPr lang="en-US" altLang="ko-KR" dirty="0"/>
          </a:p>
          <a:p>
            <a:r>
              <a:rPr lang="ko-KR" altLang="en-US" dirty="0" smtClean="0"/>
              <a:t>원인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b="0" dirty="0" smtClean="0"/>
              <a:t>  - DTNPL</a:t>
            </a:r>
            <a:r>
              <a:rPr lang="ko-KR" altLang="en-US" b="0" dirty="0" smtClean="0"/>
              <a:t>의 동작을 </a:t>
            </a:r>
            <a:r>
              <a:rPr lang="en-US" altLang="ko-KR" b="0" dirty="0" smtClean="0"/>
              <a:t>Monitoring</a:t>
            </a:r>
            <a:r>
              <a:rPr lang="ko-KR" altLang="en-US" b="0" dirty="0" smtClean="0"/>
              <a:t>을</a:t>
            </a:r>
            <a:r>
              <a:rPr lang="en-US" altLang="ko-KR" b="0" dirty="0" smtClean="0"/>
              <a:t> </a:t>
            </a:r>
            <a:r>
              <a:rPr lang="ko-KR" altLang="en-US" b="0" dirty="0" smtClean="0"/>
              <a:t>하기 위해서 </a:t>
            </a:r>
            <a:r>
              <a:rPr lang="en-US" altLang="ko-KR" b="0" dirty="0" smtClean="0"/>
              <a:t>DTNPL</a:t>
            </a:r>
            <a:r>
              <a:rPr lang="ko-KR" altLang="en-US" b="0" dirty="0" smtClean="0"/>
              <a:t>에 </a:t>
            </a:r>
            <a:r>
              <a:rPr lang="en-US" altLang="ko-KR" b="0" dirty="0" smtClean="0"/>
              <a:t>JTAG</a:t>
            </a:r>
            <a:r>
              <a:rPr lang="ko-KR" altLang="en-US" b="0" dirty="0" smtClean="0"/>
              <a:t>을 연결하여 그 상태를 </a:t>
            </a:r>
            <a:r>
              <a:rPr lang="en-US" altLang="ko-KR" b="0" dirty="0" smtClean="0"/>
              <a:t>Monitoring</a:t>
            </a:r>
            <a:r>
              <a:rPr lang="ko-KR" altLang="en-US" b="0" dirty="0" smtClean="0"/>
              <a:t>을 진행함</a:t>
            </a:r>
            <a:r>
              <a:rPr lang="en-US" altLang="ko-KR" b="0" dirty="0" smtClean="0"/>
              <a:t>. </a:t>
            </a:r>
            <a:br>
              <a:rPr lang="en-US" altLang="ko-KR" b="0" dirty="0" smtClean="0"/>
            </a:br>
            <a:r>
              <a:rPr lang="en-US" altLang="ko-KR" b="0" dirty="0" smtClean="0"/>
              <a:t>- Script 1 </a:t>
            </a:r>
            <a:r>
              <a:rPr lang="ko-KR" altLang="en-US" b="0" dirty="0" smtClean="0"/>
              <a:t>명령 수행 시 </a:t>
            </a:r>
            <a:r>
              <a:rPr lang="en-US" altLang="ko-KR" b="0" dirty="0" smtClean="0"/>
              <a:t>SBC </a:t>
            </a:r>
            <a:r>
              <a:rPr lang="ko-KR" altLang="en-US" b="0" dirty="0" smtClean="0"/>
              <a:t>가 </a:t>
            </a:r>
            <a:r>
              <a:rPr lang="en-US" altLang="ko-KR" b="0" dirty="0" smtClean="0"/>
              <a:t>Reset</a:t>
            </a:r>
            <a:r>
              <a:rPr lang="ko-KR" altLang="en-US" b="0" dirty="0" smtClean="0"/>
              <a:t> 후 </a:t>
            </a:r>
            <a:r>
              <a:rPr lang="en-US" altLang="ko-KR" b="0" dirty="0" smtClean="0"/>
              <a:t>Booting </a:t>
            </a:r>
            <a:r>
              <a:rPr lang="ko-KR" altLang="en-US" b="0" dirty="0" smtClean="0"/>
              <a:t>까지 </a:t>
            </a:r>
            <a:r>
              <a:rPr lang="ko-KR" altLang="en-US" b="0" dirty="0"/>
              <a:t>약</a:t>
            </a:r>
            <a:r>
              <a:rPr lang="en-US" altLang="ko-KR" b="0" dirty="0" smtClean="0"/>
              <a:t> 30</a:t>
            </a:r>
            <a:r>
              <a:rPr lang="ko-KR" altLang="en-US" b="0" dirty="0" smtClean="0"/>
              <a:t>초의 시간이 소요되는데</a:t>
            </a:r>
            <a:r>
              <a:rPr lang="en-US" altLang="ko-KR" b="0" dirty="0" smtClean="0"/>
              <a:t>, Booting </a:t>
            </a:r>
            <a:r>
              <a:rPr lang="ko-KR" altLang="en-US" b="0" dirty="0" smtClean="0"/>
              <a:t>하는 중간에 </a:t>
            </a:r>
            <a:r>
              <a:rPr lang="en-US" altLang="ko-KR" b="0" dirty="0" smtClean="0"/>
              <a:t>OBT</a:t>
            </a:r>
            <a:r>
              <a:rPr lang="ko-KR" altLang="en-US" b="0" dirty="0" smtClean="0"/>
              <a:t>와 </a:t>
            </a:r>
            <a:r>
              <a:rPr lang="en-US" altLang="ko-KR" b="0" dirty="0" smtClean="0"/>
              <a:t>SOH Request</a:t>
            </a:r>
            <a:r>
              <a:rPr lang="ko-KR" altLang="en-US" b="0" dirty="0" smtClean="0"/>
              <a:t> 명령을 받게 되면 </a:t>
            </a:r>
            <a:r>
              <a:rPr lang="en-US" altLang="ko-KR" b="0" dirty="0" smtClean="0"/>
              <a:t>ACK </a:t>
            </a:r>
            <a:r>
              <a:rPr lang="ko-KR" altLang="en-US" b="0" dirty="0" smtClean="0"/>
              <a:t>신호를 </a:t>
            </a:r>
            <a:r>
              <a:rPr lang="en-US" altLang="ko-KR" b="0" dirty="0" smtClean="0"/>
              <a:t>DTNPL</a:t>
            </a:r>
            <a:r>
              <a:rPr lang="ko-KR" altLang="en-US" b="0" dirty="0" smtClean="0"/>
              <a:t>이 응답할 수 없는 상태가 됨</a:t>
            </a:r>
            <a:r>
              <a:rPr lang="en-US" altLang="ko-KR" b="0" dirty="0" smtClean="0"/>
              <a:t>. </a:t>
            </a:r>
            <a:br>
              <a:rPr lang="en-US" altLang="ko-KR" b="0" dirty="0" smtClean="0"/>
            </a:br>
            <a:r>
              <a:rPr lang="en-US" altLang="ko-KR" b="0" dirty="0" smtClean="0"/>
              <a:t>- Rebooting </a:t>
            </a:r>
            <a:r>
              <a:rPr lang="ko-KR" altLang="en-US" b="0" dirty="0" smtClean="0"/>
              <a:t>후</a:t>
            </a:r>
            <a:r>
              <a:rPr lang="en-US" altLang="ko-KR" b="0" dirty="0" smtClean="0"/>
              <a:t> </a:t>
            </a:r>
            <a:r>
              <a:rPr lang="ko-KR" altLang="en-US" b="0" dirty="0" smtClean="0"/>
              <a:t>상태 </a:t>
            </a:r>
            <a:r>
              <a:rPr lang="en-US" altLang="ko-KR" b="0" dirty="0" smtClean="0"/>
              <a:t>Monitoring</a:t>
            </a:r>
            <a:r>
              <a:rPr lang="ko-KR" altLang="en-US" b="0" dirty="0" smtClean="0"/>
              <a:t>을 위해 </a:t>
            </a:r>
            <a:r>
              <a:rPr lang="en-US" altLang="ko-KR" b="0" dirty="0" smtClean="0"/>
              <a:t>GRMON</a:t>
            </a:r>
            <a:r>
              <a:rPr lang="ko-KR" altLang="en-US" b="0" dirty="0" smtClean="0"/>
              <a:t>을 연결하게 되면 </a:t>
            </a:r>
            <a:r>
              <a:rPr lang="en-US" altLang="ko-KR" b="0" dirty="0" smtClean="0"/>
              <a:t>GRMON </a:t>
            </a:r>
            <a:r>
              <a:rPr lang="ko-KR" altLang="en-US" b="0" dirty="0" smtClean="0"/>
              <a:t>연결 하는 동안 </a:t>
            </a:r>
            <a:r>
              <a:rPr lang="en-US" altLang="ko-KR" b="0" dirty="0" smtClean="0"/>
              <a:t>CPU</a:t>
            </a:r>
            <a:r>
              <a:rPr lang="ko-KR" altLang="en-US" b="0" dirty="0" smtClean="0"/>
              <a:t>는 </a:t>
            </a:r>
            <a:r>
              <a:rPr lang="en-US" altLang="ko-KR" b="0" dirty="0" smtClean="0"/>
              <a:t>Halt </a:t>
            </a:r>
            <a:r>
              <a:rPr lang="ko-KR" altLang="en-US" b="0" dirty="0" smtClean="0"/>
              <a:t>상태에 있게 됨</a:t>
            </a:r>
            <a:r>
              <a:rPr lang="en-US" altLang="ko-KR" b="0" dirty="0" smtClean="0"/>
              <a:t>. </a:t>
            </a:r>
            <a:r>
              <a:rPr lang="ko-KR" altLang="en-US" b="0" dirty="0" smtClean="0"/>
              <a:t>이 때 </a:t>
            </a:r>
            <a:r>
              <a:rPr lang="en-US" altLang="ko-KR" b="0" dirty="0" smtClean="0"/>
              <a:t>OBT</a:t>
            </a:r>
            <a:r>
              <a:rPr lang="ko-KR" altLang="en-US" b="0" dirty="0" smtClean="0"/>
              <a:t>와 </a:t>
            </a:r>
            <a:r>
              <a:rPr lang="en-US" altLang="ko-KR" b="0" dirty="0" smtClean="0"/>
              <a:t>SOH Request</a:t>
            </a:r>
            <a:r>
              <a:rPr lang="ko-KR" altLang="en-US" b="0" dirty="0" smtClean="0"/>
              <a:t> 명령을 수신하게 되면</a:t>
            </a:r>
            <a:r>
              <a:rPr lang="en-US" altLang="ko-KR" b="0" dirty="0" smtClean="0"/>
              <a:t>, </a:t>
            </a:r>
            <a:r>
              <a:rPr lang="ko-KR" altLang="en-US" b="0" dirty="0" smtClean="0"/>
              <a:t>그에 대한 응답을 할 수 없는 상태가 됨</a:t>
            </a:r>
            <a:r>
              <a:rPr lang="en-US" altLang="ko-KR" b="0" dirty="0" smtClean="0"/>
              <a:t>.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endParaRPr lang="en-US" altLang="ko-KR" dirty="0" smtClean="0"/>
          </a:p>
          <a:p>
            <a:endParaRPr lang="en-US" altLang="ko-KR" dirty="0"/>
          </a:p>
          <a:p>
            <a:pPr lvl="2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C62BF178-802E-4362-9FC6-62B6F85D0C1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0375375"/>
              </p:ext>
            </p:extLst>
          </p:nvPr>
        </p:nvGraphicFramePr>
        <p:xfrm>
          <a:off x="233363" y="1377090"/>
          <a:ext cx="8784975" cy="1859280"/>
        </p:xfrm>
        <a:graphic>
          <a:graphicData uri="http://schemas.openxmlformats.org/drawingml/2006/table">
            <a:tbl>
              <a:tblPr firstRow="1" bandRow="1">
                <a:tableStyleId>{2A488322-F2BA-4B5B-9748-0D474271808F}</a:tableStyleId>
              </a:tblPr>
              <a:tblGrid>
                <a:gridCol w="4346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00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104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7606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30425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2331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53453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0850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TRS#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Departure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Cause</a:t>
                      </a:r>
                      <a:endParaRPr lang="ko-KR" altLang="en-US" sz="1000" b="1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Status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Open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Date</a:t>
                      </a:r>
                      <a:endParaRPr lang="ko-KR" altLang="en-US" sz="1000" b="1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Close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Date</a:t>
                      </a:r>
                      <a:endParaRPr lang="ko-KR" altLang="en-US" sz="1000" b="1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Disposition</a:t>
                      </a:r>
                      <a:endParaRPr lang="ko-KR" altLang="en-US" sz="1000" b="1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 err="1"/>
                        <a:t>Actionee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Corrective Action</a:t>
                      </a:r>
                      <a:endParaRPr lang="ko-KR" altLang="en-US" sz="1000" b="1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7639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>
                          <a:latin typeface="+mn-lt"/>
                          <a:cs typeface="+mn-cs"/>
                        </a:rPr>
                        <a:t>28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DTNPL_CONFIG (</a:t>
                      </a:r>
                      <a:r>
                        <a:rPr lang="en-US" altLang="ko-KR" sz="900" dirty="0" err="1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sco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431)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울 통해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CDSCRIPT2 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명령을 전송하였으나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로부터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PDHU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로 데이터가 전송되지 않음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MDMAUART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정의에 따라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은 모든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command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에 대해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ACK (OK check, 0x12)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회신해야 하지만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, DTNPL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의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firmware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가 해당 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ACK</a:t>
                      </a:r>
                      <a:r>
                        <a:rPr lang="ko-KR" altLang="en-US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전송하지 않음</a:t>
                      </a:r>
                      <a:r>
                        <a:rPr lang="en-US" altLang="ko-KR" sz="900" baseline="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Open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2020/04/28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171450" indent="-1714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의 모든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TLM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을 확인하였으나 값이 모두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0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이었으며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, DTNPL command error counter(TDCMDERRCNT)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가 주기적으로 증가하는 것을 확인함</a:t>
                      </a:r>
                      <a:endParaRPr lang="en-US" altLang="ko-KR" sz="900" dirty="0" smtClean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DCSCRIPT2 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명령을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 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전송하는 경우도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TDCMDERRCNT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가 증가함을 확인함</a:t>
                      </a:r>
                      <a:endParaRPr lang="en-US" altLang="ko-KR" sz="900" dirty="0" smtClean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  <a:p>
                      <a:pPr marL="171450" indent="-171450" latinLnBrk="1">
                        <a:buFont typeface="Wingdings" panose="05000000000000000000" pitchFamily="2" charset="2"/>
                        <a:buChar char="§"/>
                      </a:pP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의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EGSE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통하여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DTNPL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이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CMD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정상수신하지만 </a:t>
                      </a:r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ACK</a:t>
                      </a:r>
                      <a:r>
                        <a:rPr lang="ko-KR" altLang="en-US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를 전송하지 않는 것으로 확인됨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900" dirty="0" smtClean="0">
                          <a:latin typeface="Consolas" panose="020B0609020204030204" pitchFamily="49" charset="0"/>
                          <a:cs typeface="Consolas" panose="020B0609020204030204" pitchFamily="49" charset="0"/>
                        </a:rPr>
                        <a:t>ETRI</a:t>
                      </a:r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900" dirty="0">
                        <a:latin typeface="Consolas" panose="020B0609020204030204" pitchFamily="49" charset="0"/>
                        <a:cs typeface="Consolas" panose="020B0609020204030204" pitchFamily="49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455628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TRS-28 </a:t>
            </a:r>
            <a:r>
              <a:rPr lang="ko-KR" altLang="en-US" dirty="0"/>
              <a:t>시험 결과 원인 분석 및 그 결과</a:t>
            </a:r>
            <a:endParaRPr lang="en-US" altLang="ko-KR" dirty="0"/>
          </a:p>
        </p:txBody>
      </p:sp>
      <p:sp>
        <p:nvSpPr>
          <p:cNvPr id="7" name="내용 개체 틀 6"/>
          <p:cNvSpPr>
            <a:spLocks noGrp="1"/>
          </p:cNvSpPr>
          <p:nvPr>
            <p:ph idx="1"/>
          </p:nvPr>
        </p:nvSpPr>
        <p:spPr>
          <a:xfrm>
            <a:off x="233363" y="981307"/>
            <a:ext cx="8659178" cy="5191424"/>
          </a:xfrm>
        </p:spPr>
        <p:txBody>
          <a:bodyPr/>
          <a:lstStyle/>
          <a:p>
            <a:r>
              <a:rPr lang="ko-KR" altLang="en-US" dirty="0"/>
              <a:t>조치결과</a:t>
            </a:r>
            <a:endParaRPr lang="en-US" altLang="ko-KR" dirty="0"/>
          </a:p>
          <a:p>
            <a:pPr lvl="1"/>
            <a:r>
              <a:rPr lang="en-US" altLang="ko-KR" dirty="0" smtClean="0"/>
              <a:t>JTAG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연결하지 않은 상태에서 </a:t>
            </a:r>
            <a:r>
              <a:rPr lang="en-US" altLang="ko-KR" dirty="0" smtClean="0"/>
              <a:t>SBC-EGSE</a:t>
            </a:r>
            <a:r>
              <a:rPr lang="ko-KR" altLang="en-US" dirty="0" smtClean="0"/>
              <a:t>에 기록된 </a:t>
            </a:r>
            <a:r>
              <a:rPr lang="en-US" altLang="ko-KR" dirty="0" smtClean="0"/>
              <a:t>Log</a:t>
            </a:r>
            <a:r>
              <a:rPr lang="ko-KR" altLang="en-US" dirty="0" smtClean="0"/>
              <a:t>를 분석한 결과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ACK</a:t>
            </a:r>
            <a:r>
              <a:rPr lang="ko-KR" altLang="en-US" dirty="0" smtClean="0"/>
              <a:t>를 송출 하지 못하는 상태는 발생하지 않음</a:t>
            </a:r>
            <a:r>
              <a:rPr lang="en-US" altLang="ko-KR" dirty="0" smtClean="0"/>
              <a:t>. </a:t>
            </a:r>
            <a:br>
              <a:rPr lang="en-US" altLang="ko-KR" dirty="0" smtClean="0"/>
            </a:br>
            <a:endParaRPr lang="en-US" altLang="ko-KR" dirty="0" smtClean="0"/>
          </a:p>
          <a:p>
            <a:pPr lvl="1"/>
            <a:r>
              <a:rPr lang="en-US" altLang="ko-KR" dirty="0" smtClean="0"/>
              <a:t>Log </a:t>
            </a:r>
            <a:r>
              <a:rPr lang="ko-KR" altLang="en-US" dirty="0" smtClean="0"/>
              <a:t>분석 결과 </a:t>
            </a:r>
            <a:r>
              <a:rPr lang="en-US" altLang="ko-KR" dirty="0" smtClean="0"/>
              <a:t/>
            </a:r>
            <a:br>
              <a:rPr lang="en-US" altLang="ko-KR" dirty="0" smtClean="0"/>
            </a:br>
            <a:r>
              <a:rPr lang="en-US" altLang="ko-KR" dirty="0" smtClean="0"/>
              <a:t>OBT / SOH Request </a:t>
            </a:r>
            <a:r>
              <a:rPr lang="ko-KR" altLang="en-US" dirty="0" smtClean="0"/>
              <a:t>시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연결을</a:t>
            </a:r>
            <a:r>
              <a:rPr lang="en-US" altLang="ko-KR" dirty="0" smtClean="0"/>
              <a:t> </a:t>
            </a:r>
            <a:r>
              <a:rPr lang="ko-KR" altLang="en-US" dirty="0" smtClean="0"/>
              <a:t>하게 되면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응답을 하지 못 하게 되므로 시험 시 </a:t>
            </a:r>
            <a:r>
              <a:rPr lang="en-US" altLang="ko-KR" dirty="0" smtClean="0"/>
              <a:t>Monitoring </a:t>
            </a:r>
            <a:r>
              <a:rPr lang="ko-KR" altLang="en-US" dirty="0" smtClean="0"/>
              <a:t>을 위해 </a:t>
            </a:r>
            <a:r>
              <a:rPr lang="en-US" altLang="ko-KR" dirty="0" smtClean="0"/>
              <a:t>GRMON</a:t>
            </a:r>
            <a:r>
              <a:rPr lang="ko-KR" altLang="en-US" dirty="0" smtClean="0"/>
              <a:t>을 연결하여 시험을 하지 않으면 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/>
          </a:p>
          <a:p>
            <a:pPr lvl="1"/>
            <a:r>
              <a:rPr lang="en-US" altLang="ko-KR" dirty="0" smtClean="0"/>
              <a:t>SBC Restart </a:t>
            </a:r>
            <a:r>
              <a:rPr lang="ko-KR" altLang="en-US" dirty="0" smtClean="0"/>
              <a:t>명령을 수행 시에는 어떠한 </a:t>
            </a:r>
            <a:r>
              <a:rPr lang="en-US" altLang="ko-KR" dirty="0" smtClean="0"/>
              <a:t>Request</a:t>
            </a:r>
            <a:r>
              <a:rPr lang="ko-KR" altLang="en-US" dirty="0" smtClean="0"/>
              <a:t>에도 응답을 하지 않기 때문에 </a:t>
            </a:r>
            <a:r>
              <a:rPr lang="en-US" altLang="ko-KR" dirty="0" smtClean="0"/>
              <a:t>Reset </a:t>
            </a:r>
            <a:r>
              <a:rPr lang="ko-KR" altLang="en-US" dirty="0" smtClean="0"/>
              <a:t>후</a:t>
            </a:r>
            <a:r>
              <a:rPr lang="en-US" altLang="ko-KR" dirty="0" smtClean="0"/>
              <a:t> </a:t>
            </a:r>
            <a:r>
              <a:rPr lang="ko-KR" altLang="en-US" dirty="0" smtClean="0"/>
              <a:t>최소 </a:t>
            </a:r>
            <a:r>
              <a:rPr lang="en-US" altLang="ko-KR" dirty="0" smtClean="0"/>
              <a:t>30</a:t>
            </a:r>
            <a:r>
              <a:rPr lang="ko-KR" altLang="en-US" dirty="0" smtClean="0"/>
              <a:t>초 동안에는 </a:t>
            </a:r>
            <a:r>
              <a:rPr lang="en-US" altLang="ko-KR" dirty="0" smtClean="0"/>
              <a:t>OBT/SOH Request </a:t>
            </a:r>
            <a:r>
              <a:rPr lang="ko-KR" altLang="en-US" dirty="0" smtClean="0"/>
              <a:t>명령을 송출 하지 않아야 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/>
          </a:p>
          <a:p>
            <a:pPr lvl="1"/>
            <a:r>
              <a:rPr lang="ko-KR" altLang="en-US" dirty="0" smtClean="0"/>
              <a:t>다음 페이지에 시험 시 취득한 </a:t>
            </a:r>
            <a:r>
              <a:rPr lang="en-US" altLang="ko-KR" dirty="0" smtClean="0"/>
              <a:t>Log </a:t>
            </a:r>
            <a:r>
              <a:rPr lang="ko-KR" altLang="en-US" dirty="0" smtClean="0"/>
              <a:t>데이터를 첨부 함</a:t>
            </a:r>
            <a:r>
              <a:rPr lang="en-US" altLang="ko-KR" dirty="0" smtClean="0"/>
              <a:t>. </a:t>
            </a:r>
          </a:p>
          <a:p>
            <a:pPr lvl="1"/>
            <a:endParaRPr lang="en-US" altLang="ko-KR" dirty="0" smtClean="0"/>
          </a:p>
          <a:p>
            <a:pPr lvl="1"/>
            <a:endParaRPr lang="en-US" altLang="ko-KR" dirty="0"/>
          </a:p>
          <a:p>
            <a:pPr lvl="2"/>
            <a:endParaRPr lang="en-US" altLang="ko-KR" dirty="0">
              <a:sym typeface="Wingdings" panose="05000000000000000000" pitchFamily="2" charset="2"/>
            </a:endParaRPr>
          </a:p>
          <a:p>
            <a:pPr lvl="1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3"/>
            <a:endParaRPr lang="en-US" altLang="ko-KR" dirty="0">
              <a:sym typeface="Wingdings" panose="05000000000000000000" pitchFamily="2" charset="2"/>
            </a:endParaRPr>
          </a:p>
          <a:p>
            <a:pPr lvl="2"/>
            <a:endParaRPr lang="en-US" altLang="ko-KR" dirty="0"/>
          </a:p>
          <a:p>
            <a:pPr lvl="1"/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098252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ACK </a:t>
            </a:r>
            <a:r>
              <a:rPr lang="ko-KR" altLang="en-US" dirty="0" smtClean="0"/>
              <a:t>수신 </a:t>
            </a:r>
            <a:r>
              <a:rPr lang="en-US" altLang="ko-KR" dirty="0" smtClean="0"/>
              <a:t>Log </a:t>
            </a:r>
            <a:r>
              <a:rPr lang="ko-KR" altLang="en-US" dirty="0" smtClean="0"/>
              <a:t>분석 결과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 smtClean="0"/>
              <a:t>GRMON </a:t>
            </a:r>
            <a:r>
              <a:rPr lang="ko-KR" altLang="en-US" dirty="0" smtClean="0"/>
              <a:t>연결 없이 동작을 할 경우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수신의 누락이 발생하지 않음</a:t>
            </a:r>
            <a:r>
              <a:rPr lang="en-US" altLang="ko-KR" dirty="0" smtClean="0"/>
              <a:t>. </a:t>
            </a:r>
            <a:endParaRPr lang="en-US" altLang="ko-KR" dirty="0" smtClean="0"/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741" y="1998967"/>
            <a:ext cx="4187398" cy="3765361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37139" y="2183608"/>
            <a:ext cx="4213776" cy="3580720"/>
          </a:xfrm>
          <a:prstGeom prst="rect">
            <a:avLst/>
          </a:prstGeom>
        </p:spPr>
      </p:pic>
      <p:sp>
        <p:nvSpPr>
          <p:cNvPr id="6" name="오른쪽 화살표 5"/>
          <p:cNvSpPr/>
          <p:nvPr/>
        </p:nvSpPr>
        <p:spPr>
          <a:xfrm>
            <a:off x="1275401" y="2800351"/>
            <a:ext cx="173473" cy="77087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/>
          <p:cNvCxnSpPr/>
          <p:nvPr/>
        </p:nvCxnSpPr>
        <p:spPr>
          <a:xfrm>
            <a:off x="1610361" y="3108329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연결선 9"/>
          <p:cNvCxnSpPr/>
          <p:nvPr/>
        </p:nvCxnSpPr>
        <p:spPr>
          <a:xfrm>
            <a:off x="1619883" y="3329786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직선 연결선 10"/>
          <p:cNvCxnSpPr/>
          <p:nvPr/>
        </p:nvCxnSpPr>
        <p:spPr>
          <a:xfrm>
            <a:off x="1624640" y="3558388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직선 연결선 11"/>
          <p:cNvCxnSpPr/>
          <p:nvPr/>
        </p:nvCxnSpPr>
        <p:spPr>
          <a:xfrm>
            <a:off x="1629387" y="3775885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연결선 12"/>
          <p:cNvCxnSpPr/>
          <p:nvPr/>
        </p:nvCxnSpPr>
        <p:spPr>
          <a:xfrm>
            <a:off x="1629359" y="3999716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직선 연결선 13"/>
          <p:cNvCxnSpPr/>
          <p:nvPr/>
        </p:nvCxnSpPr>
        <p:spPr>
          <a:xfrm>
            <a:off x="1629359" y="4223552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연결선 14"/>
          <p:cNvCxnSpPr/>
          <p:nvPr/>
        </p:nvCxnSpPr>
        <p:spPr>
          <a:xfrm>
            <a:off x="1615064" y="444738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연결선 15"/>
          <p:cNvCxnSpPr/>
          <p:nvPr/>
        </p:nvCxnSpPr>
        <p:spPr>
          <a:xfrm>
            <a:off x="1619043" y="467598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직선 연결선 16"/>
          <p:cNvCxnSpPr/>
          <p:nvPr/>
        </p:nvCxnSpPr>
        <p:spPr>
          <a:xfrm>
            <a:off x="1610361" y="489823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직선 연결선 17"/>
          <p:cNvCxnSpPr/>
          <p:nvPr/>
        </p:nvCxnSpPr>
        <p:spPr>
          <a:xfrm>
            <a:off x="1610361" y="5123662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직선 연결선 18"/>
          <p:cNvCxnSpPr/>
          <p:nvPr/>
        </p:nvCxnSpPr>
        <p:spPr>
          <a:xfrm>
            <a:off x="1610361" y="5345912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연결선 19"/>
          <p:cNvCxnSpPr/>
          <p:nvPr/>
        </p:nvCxnSpPr>
        <p:spPr>
          <a:xfrm>
            <a:off x="1610361" y="5564987"/>
            <a:ext cx="133790" cy="0"/>
          </a:xfrm>
          <a:prstGeom prst="line">
            <a:avLst/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29730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Script2 </a:t>
            </a:r>
            <a:r>
              <a:rPr lang="ko-KR" altLang="en-US" dirty="0" smtClean="0"/>
              <a:t>에</a:t>
            </a:r>
            <a:r>
              <a:rPr lang="en-US" altLang="ko-KR" dirty="0"/>
              <a:t> </a:t>
            </a:r>
            <a:r>
              <a:rPr lang="ko-KR" altLang="en-US" dirty="0" smtClean="0"/>
              <a:t>대한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수신 확인 </a:t>
            </a:r>
            <a:r>
              <a:rPr lang="en-US" altLang="ko-KR" dirty="0" smtClean="0"/>
              <a:t>Log</a:t>
            </a:r>
            <a:endParaRPr lang="ko-KR" altLang="en-US" dirty="0"/>
          </a:p>
        </p:txBody>
      </p:sp>
      <p:pic>
        <p:nvPicPr>
          <p:cNvPr id="27" name="내용 개체 틀 26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74679" y="1469708"/>
            <a:ext cx="8179117" cy="4438943"/>
          </a:xfrm>
          <a:prstGeom prst="rect">
            <a:avLst/>
          </a:prstGeom>
        </p:spPr>
      </p:pic>
      <p:graphicFrame>
        <p:nvGraphicFramePr>
          <p:cNvPr id="28" name="개체 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38226890"/>
              </p:ext>
            </p:extLst>
          </p:nvPr>
        </p:nvGraphicFramePr>
        <p:xfrm>
          <a:off x="178868" y="5908651"/>
          <a:ext cx="782638" cy="485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9" name="포장기 셸 개체" showAsIcon="1" r:id="rId4" imgW="783000" imgH="486000" progId="Package">
                  <p:embed/>
                </p:oleObj>
              </mc:Choice>
              <mc:Fallback>
                <p:oleObj name="포장기 셸 개체" showAsIcon="1" r:id="rId4" imgW="783000" imgH="486000" progId="Package">
                  <p:embed/>
                  <p:pic>
                    <p:nvPicPr>
                      <p:cNvPr id="5" name="개체 4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78868" y="5908651"/>
                        <a:ext cx="782638" cy="4857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1" name="그룹 30"/>
          <p:cNvGrpSpPr/>
          <p:nvPr/>
        </p:nvGrpSpPr>
        <p:grpSpPr>
          <a:xfrm>
            <a:off x="3229610" y="1711401"/>
            <a:ext cx="855156" cy="246221"/>
            <a:chOff x="3229610" y="1711401"/>
            <a:chExt cx="855156" cy="246221"/>
          </a:xfrm>
        </p:grpSpPr>
        <p:sp>
          <p:nvSpPr>
            <p:cNvPr id="29" name="오른쪽 화살표 28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2" name="그룹 31"/>
          <p:cNvGrpSpPr/>
          <p:nvPr/>
        </p:nvGrpSpPr>
        <p:grpSpPr>
          <a:xfrm>
            <a:off x="3224847" y="2016201"/>
            <a:ext cx="855156" cy="246221"/>
            <a:chOff x="3229610" y="1711401"/>
            <a:chExt cx="855156" cy="246221"/>
          </a:xfrm>
        </p:grpSpPr>
        <p:sp>
          <p:nvSpPr>
            <p:cNvPr id="33" name="오른쪽 화살표 32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5" name="그룹 34"/>
          <p:cNvGrpSpPr/>
          <p:nvPr/>
        </p:nvGrpSpPr>
        <p:grpSpPr>
          <a:xfrm>
            <a:off x="3224847" y="2761293"/>
            <a:ext cx="855156" cy="246221"/>
            <a:chOff x="3229610" y="1711401"/>
            <a:chExt cx="855156" cy="246221"/>
          </a:xfrm>
        </p:grpSpPr>
        <p:sp>
          <p:nvSpPr>
            <p:cNvPr id="36" name="오른쪽 화살표 35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38" name="그룹 37"/>
          <p:cNvGrpSpPr/>
          <p:nvPr/>
        </p:nvGrpSpPr>
        <p:grpSpPr>
          <a:xfrm>
            <a:off x="3224847" y="3495194"/>
            <a:ext cx="855156" cy="246221"/>
            <a:chOff x="3229610" y="1711401"/>
            <a:chExt cx="855156" cy="246221"/>
          </a:xfrm>
        </p:grpSpPr>
        <p:sp>
          <p:nvSpPr>
            <p:cNvPr id="39" name="오른쪽 화살표 38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1" name="그룹 40"/>
          <p:cNvGrpSpPr/>
          <p:nvPr/>
        </p:nvGrpSpPr>
        <p:grpSpPr>
          <a:xfrm>
            <a:off x="3224846" y="4251180"/>
            <a:ext cx="855156" cy="246221"/>
            <a:chOff x="3229610" y="1711401"/>
            <a:chExt cx="855156" cy="246221"/>
          </a:xfrm>
        </p:grpSpPr>
        <p:sp>
          <p:nvSpPr>
            <p:cNvPr id="42" name="오른쪽 화살표 41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4" name="그룹 43"/>
          <p:cNvGrpSpPr/>
          <p:nvPr/>
        </p:nvGrpSpPr>
        <p:grpSpPr>
          <a:xfrm>
            <a:off x="3224846" y="4559759"/>
            <a:ext cx="855156" cy="246221"/>
            <a:chOff x="3229610" y="1711401"/>
            <a:chExt cx="855156" cy="246221"/>
          </a:xfrm>
        </p:grpSpPr>
        <p:sp>
          <p:nvSpPr>
            <p:cNvPr id="45" name="오른쪽 화살표 44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grpSp>
        <p:nvGrpSpPr>
          <p:cNvPr id="47" name="그룹 46"/>
          <p:cNvGrpSpPr/>
          <p:nvPr/>
        </p:nvGrpSpPr>
        <p:grpSpPr>
          <a:xfrm>
            <a:off x="3224845" y="5301079"/>
            <a:ext cx="855156" cy="246221"/>
            <a:chOff x="3229610" y="1711401"/>
            <a:chExt cx="855156" cy="246221"/>
          </a:xfrm>
        </p:grpSpPr>
        <p:sp>
          <p:nvSpPr>
            <p:cNvPr id="48" name="오른쪽 화살표 47"/>
            <p:cNvSpPr/>
            <p:nvPr/>
          </p:nvSpPr>
          <p:spPr>
            <a:xfrm rot="10800000">
              <a:off x="3229610" y="1805940"/>
              <a:ext cx="351790" cy="73042"/>
            </a:xfrm>
            <a:prstGeom prst="right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517105" y="1711401"/>
              <a:ext cx="567661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dirty="0" smtClean="0"/>
                <a:t>ACK</a:t>
              </a:r>
              <a:endParaRPr lang="ko-KR" altLang="en-US" sz="1000" dirty="0"/>
            </a:p>
          </p:txBody>
        </p:sp>
      </p:grpSp>
      <p:sp>
        <p:nvSpPr>
          <p:cNvPr id="50" name="직사각형 49"/>
          <p:cNvSpPr/>
          <p:nvPr/>
        </p:nvSpPr>
        <p:spPr>
          <a:xfrm>
            <a:off x="274029" y="982028"/>
            <a:ext cx="429797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dirty="0"/>
              <a:t>ACK </a:t>
            </a:r>
            <a:r>
              <a:rPr lang="ko-KR" altLang="en-US" dirty="0"/>
              <a:t>수신 누락 발생하지 않음</a:t>
            </a:r>
            <a:r>
              <a:rPr lang="en-US" altLang="ko-KR" dirty="0"/>
              <a:t>.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432460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smtClean="0"/>
              <a:t>Abnormal </a:t>
            </a:r>
            <a:r>
              <a:rPr lang="ko-KR" altLang="en-US" dirty="0" smtClean="0"/>
              <a:t>상태에서의 </a:t>
            </a:r>
            <a:r>
              <a:rPr lang="en-US" altLang="ko-KR" dirty="0" smtClean="0"/>
              <a:t>ACK </a:t>
            </a:r>
            <a:r>
              <a:rPr lang="ko-KR" altLang="en-US" dirty="0" smtClean="0"/>
              <a:t>미 </a:t>
            </a:r>
            <a:r>
              <a:rPr lang="ko-KR" altLang="en-US" dirty="0" smtClean="0"/>
              <a:t>수신</a:t>
            </a:r>
            <a:endParaRPr lang="ko-KR" altLang="en-US" dirty="0"/>
          </a:p>
        </p:txBody>
      </p:sp>
      <p:sp>
        <p:nvSpPr>
          <p:cNvPr id="4" name="내용 개체 틀 2"/>
          <p:cNvSpPr txBox="1">
            <a:spLocks/>
          </p:cNvSpPr>
          <p:nvPr/>
        </p:nvSpPr>
        <p:spPr bwMode="auto">
          <a:xfrm>
            <a:off x="264496" y="981076"/>
            <a:ext cx="8599894" cy="7872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190500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kumimoji="1" b="1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  <a:lvl2pPr marL="538163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60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2pPr>
            <a:lvl3pPr marL="89693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16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3pPr>
            <a:lvl4pPr marL="1255713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4pPr>
            <a:lvl5pPr marL="161448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1800" dirty="0" err="1" smtClean="0"/>
              <a:t>Grmon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연결 진행 시 </a:t>
            </a:r>
            <a:r>
              <a:rPr lang="en-US" altLang="ko-KR" sz="1800" dirty="0" smtClean="0"/>
              <a:t>OBT/SOH Request</a:t>
            </a:r>
            <a:r>
              <a:rPr lang="ko-KR" altLang="en-US" sz="1800" dirty="0" smtClean="0"/>
              <a:t> 송신 할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경우</a:t>
            </a:r>
            <a:r>
              <a:rPr lang="en-US" altLang="ko-KR" sz="1800" dirty="0" smtClean="0"/>
              <a:t/>
            </a:r>
            <a:br>
              <a:rPr lang="en-US" altLang="ko-KR" sz="1800" dirty="0" smtClean="0"/>
            </a:br>
            <a:r>
              <a:rPr lang="en-US" altLang="ko-KR" sz="1800" dirty="0" smtClean="0"/>
              <a:t>- GRMON</a:t>
            </a:r>
            <a:r>
              <a:rPr lang="ko-KR" altLang="en-US" sz="1800" dirty="0" smtClean="0"/>
              <a:t>을 연결하게 되면 </a:t>
            </a:r>
            <a:r>
              <a:rPr lang="en-US" altLang="ko-KR" sz="1800" dirty="0" err="1" smtClean="0"/>
              <a:t>cont</a:t>
            </a:r>
            <a:r>
              <a:rPr lang="en-US" altLang="ko-KR" sz="1800" dirty="0" smtClean="0"/>
              <a:t> </a:t>
            </a:r>
            <a:r>
              <a:rPr lang="ko-KR" altLang="en-US" sz="1800" dirty="0" smtClean="0"/>
              <a:t>명령 입력 전까지 </a:t>
            </a:r>
            <a:r>
              <a:rPr lang="en-US" altLang="ko-KR" sz="1800" dirty="0" smtClean="0"/>
              <a:t>Halt </a:t>
            </a:r>
            <a:r>
              <a:rPr lang="ko-KR" altLang="en-US" sz="1800" dirty="0" smtClean="0"/>
              <a:t>상태가 유지됨</a:t>
            </a:r>
            <a:r>
              <a:rPr lang="en-US" altLang="ko-KR" sz="1800" dirty="0" smtClean="0"/>
              <a:t>.</a:t>
            </a:r>
            <a:endParaRPr lang="ko-KR" altLang="en-US" sz="1800" dirty="0"/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932" y="1556748"/>
            <a:ext cx="3909243" cy="2140549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475" y="1556748"/>
            <a:ext cx="4045516" cy="2140549"/>
          </a:xfrm>
          <a:prstGeom prst="rect">
            <a:avLst/>
          </a:prstGeom>
        </p:spPr>
      </p:pic>
      <p:sp>
        <p:nvSpPr>
          <p:cNvPr id="8" name="내용 개체 틀 2"/>
          <p:cNvSpPr txBox="1">
            <a:spLocks/>
          </p:cNvSpPr>
          <p:nvPr/>
        </p:nvSpPr>
        <p:spPr bwMode="auto">
          <a:xfrm>
            <a:off x="1118441" y="3636841"/>
            <a:ext cx="2063068" cy="4363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190500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kumimoji="1" b="1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  <a:lvl2pPr marL="538163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60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2pPr>
            <a:lvl3pPr marL="89693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16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3pPr>
            <a:lvl4pPr marL="1255713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4pPr>
            <a:lvl5pPr marL="161448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dirty="0" err="1" smtClean="0"/>
              <a:t>Grmon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연결 상태</a:t>
            </a:r>
            <a:endParaRPr lang="ko-KR" altLang="en-US" sz="1600" dirty="0"/>
          </a:p>
        </p:txBody>
      </p:sp>
      <p:sp>
        <p:nvSpPr>
          <p:cNvPr id="9" name="내용 개체 틀 2"/>
          <p:cNvSpPr txBox="1">
            <a:spLocks/>
          </p:cNvSpPr>
          <p:nvPr/>
        </p:nvSpPr>
        <p:spPr bwMode="auto">
          <a:xfrm>
            <a:off x="4876474" y="3689740"/>
            <a:ext cx="3987915" cy="43639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190500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kumimoji="1" b="1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  <a:lvl2pPr marL="538163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60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2pPr>
            <a:lvl3pPr marL="89693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16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3pPr>
            <a:lvl4pPr marL="1255713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4pPr>
            <a:lvl5pPr marL="161448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1600" dirty="0" err="1" smtClean="0"/>
              <a:t>Grmon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연결 상태에서 </a:t>
            </a:r>
            <a:r>
              <a:rPr lang="en-US" altLang="ko-KR" sz="1600" dirty="0" err="1" smtClean="0"/>
              <a:t>cont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명령 입력</a:t>
            </a:r>
            <a:endParaRPr lang="ko-KR" altLang="en-US" sz="1600" dirty="0"/>
          </a:p>
        </p:txBody>
      </p:sp>
      <p:sp>
        <p:nvSpPr>
          <p:cNvPr id="10" name="오른쪽 화살표 9"/>
          <p:cNvSpPr/>
          <p:nvPr/>
        </p:nvSpPr>
        <p:spPr bwMode="auto">
          <a:xfrm rot="10800000">
            <a:off x="6454795" y="3257078"/>
            <a:ext cx="831272" cy="287167"/>
          </a:xfrm>
          <a:prstGeom prst="rightArrow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11" name="내용 개체 틀 2"/>
          <p:cNvSpPr txBox="1">
            <a:spLocks/>
          </p:cNvSpPr>
          <p:nvPr/>
        </p:nvSpPr>
        <p:spPr bwMode="auto">
          <a:xfrm>
            <a:off x="7286067" y="3120618"/>
            <a:ext cx="1306270" cy="5431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2075" tIns="46038" rIns="92075" bIns="46038" numCol="1" anchor="t" anchorCtr="0" compatLnSpc="1">
            <a:prstTxWarp prst="textNoShape">
              <a:avLst/>
            </a:prstTxWarp>
          </a:bodyPr>
          <a:lstStyle>
            <a:lvl1pPr marL="190500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Char char="§"/>
              <a:defRPr kumimoji="1" b="1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1pPr>
            <a:lvl2pPr marL="538163" indent="-1905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60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2pPr>
            <a:lvl3pPr marL="89693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•"/>
              <a:defRPr kumimoji="1" sz="16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3pPr>
            <a:lvl4pPr marL="1255713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–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4pPr>
            <a:lvl5pPr marL="1614488" indent="-228600" algn="l" rtl="0" eaLnBrk="0" fontAlgn="base" latinLnBrk="1" hangingPunct="0">
              <a:spcBef>
                <a:spcPct val="20000"/>
              </a:spcBef>
              <a:spcAft>
                <a:spcPct val="0"/>
              </a:spcAft>
              <a:buChar char="»"/>
              <a:defRPr kumimoji="1" sz="1400" b="0" kern="1200" baseline="0">
                <a:solidFill>
                  <a:schemeClr val="tx1"/>
                </a:solidFill>
                <a:latin typeface="Arial" panose="020B0604020202020204" pitchFamily="34" charset="0"/>
                <a:ea typeface="맑은 고딕" panose="020B0503020000020004" pitchFamily="50" charset="-127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ko-KR" altLang="en-US" sz="1600" dirty="0" smtClean="0">
                <a:solidFill>
                  <a:schemeClr val="accent2"/>
                </a:solidFill>
              </a:rPr>
              <a:t>정상적으로 </a:t>
            </a:r>
            <a:r>
              <a:rPr lang="en-US" altLang="ko-KR" sz="1600" dirty="0" smtClean="0">
                <a:solidFill>
                  <a:schemeClr val="accent2"/>
                </a:solidFill>
              </a:rPr>
              <a:t>ACK</a:t>
            </a:r>
            <a:r>
              <a:rPr lang="ko-KR" altLang="en-US" sz="1600" dirty="0" smtClean="0">
                <a:solidFill>
                  <a:schemeClr val="accent2"/>
                </a:solidFill>
              </a:rPr>
              <a:t>응답</a:t>
            </a:r>
            <a:endParaRPr lang="ko-KR" altLang="en-US" sz="1600" dirty="0">
              <a:solidFill>
                <a:schemeClr val="accent2"/>
              </a:solidFill>
            </a:endParaRP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48331" y="4007134"/>
            <a:ext cx="2808363" cy="2478390"/>
          </a:xfrm>
          <a:prstGeom prst="rect">
            <a:avLst/>
          </a:prstGeom>
        </p:spPr>
      </p:pic>
      <p:sp>
        <p:nvSpPr>
          <p:cNvPr id="13" name="모서리가 둥근 직사각형 12"/>
          <p:cNvSpPr/>
          <p:nvPr/>
        </p:nvSpPr>
        <p:spPr bwMode="auto">
          <a:xfrm>
            <a:off x="3048331" y="4330175"/>
            <a:ext cx="2808363" cy="1330037"/>
          </a:xfrm>
          <a:prstGeom prst="roundRect">
            <a:avLst/>
          </a:prstGeom>
          <a:noFill/>
          <a:ln w="57150" cap="flat" cmpd="sng" algn="ctr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/>
          <a:ex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14" name="모서리가 둥근 직사각형 13"/>
          <p:cNvSpPr/>
          <p:nvPr/>
        </p:nvSpPr>
        <p:spPr bwMode="auto">
          <a:xfrm>
            <a:off x="3048330" y="5760362"/>
            <a:ext cx="2808363" cy="604563"/>
          </a:xfrm>
          <a:prstGeom prst="roundRect">
            <a:avLst/>
          </a:prstGeom>
          <a:noFill/>
          <a:ln w="57150" cap="flat" cmpd="sng" algn="ctr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/>
          <a:extLst/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ko-KR" altLang="en-US" sz="2400" b="0" i="0" u="none" strike="noStrike" cap="none" normalizeH="0" baseline="0" smtClean="0">
              <a:ln>
                <a:noFill/>
              </a:ln>
              <a:solidFill>
                <a:schemeClr val="tx1"/>
              </a:solidFill>
              <a:effectLst/>
              <a:latin typeface="Times New Roman" panose="02020603050405020304" pitchFamily="18" charset="0"/>
              <a:ea typeface="굴림" panose="020B0600000101010101" pitchFamily="50" charset="-127"/>
            </a:endParaRPr>
          </a:p>
        </p:txBody>
      </p:sp>
      <p:sp>
        <p:nvSpPr>
          <p:cNvPr id="15" name="위로 굽은 화살표 14"/>
          <p:cNvSpPr/>
          <p:nvPr/>
        </p:nvSpPr>
        <p:spPr bwMode="auto">
          <a:xfrm>
            <a:off x="5947378" y="4414101"/>
            <a:ext cx="1148668" cy="1783458"/>
          </a:xfrm>
          <a:prstGeom prst="bentUpArrow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200" dirty="0" smtClean="0"/>
              <a:t>ACK </a:t>
            </a:r>
            <a:r>
              <a:rPr lang="ko-KR" altLang="en-US" sz="1200" dirty="0" smtClean="0"/>
              <a:t>응답</a:t>
            </a:r>
            <a:endParaRPr kumimoji="1" lang="ko-KR" alt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6" name="위로 굽은 화살표 15"/>
          <p:cNvSpPr/>
          <p:nvPr/>
        </p:nvSpPr>
        <p:spPr bwMode="auto">
          <a:xfrm flipH="1">
            <a:off x="1602494" y="4015332"/>
            <a:ext cx="1355153" cy="1230997"/>
          </a:xfrm>
          <a:prstGeom prst="bentUpArrow">
            <a:avLst/>
          </a:prstGeom>
          <a:solidFill>
            <a:schemeClr val="accent1"/>
          </a:solidFill>
          <a:ln w="57150" cap="flat" cmpd="sng" algn="ctr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  <a:effectLst/>
          <a:extLs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200" dirty="0" smtClean="0"/>
              <a:t>ACK</a:t>
            </a:r>
            <a:r>
              <a:rPr lang="ko-KR" altLang="en-US" sz="1200" dirty="0" smtClean="0"/>
              <a:t>응답 없음</a:t>
            </a:r>
            <a:endParaRPr kumimoji="1" lang="ko-KR" altLang="en-US" sz="12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029048150"/>
      </p:ext>
    </p:extLst>
  </p:cSld>
  <p:clrMapOvr>
    <a:masterClrMapping/>
  </p:clrMapOvr>
</p:sld>
</file>

<file path=ppt/theme/theme1.xml><?xml version="1.0" encoding="utf-8"?>
<a:theme xmlns:a="http://schemas.openxmlformats.org/drawingml/2006/main" name="기본 디자인">
  <a:themeElements>
    <a:clrScheme name="기본 디자인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기본 디자인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57150" cap="flat" cmpd="sng" algn="ctr">
          <a:solidFill>
            <a:schemeClr val="accent2"/>
          </a:solidFill>
          <a:prstDash val="solid"/>
          <a:round/>
          <a:headEnd type="none" w="sm" len="sm"/>
          <a:tailEnd type="none" w="sm" len="sm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굴림" panose="020B0600000101010101" pitchFamily="50" charset="-127"/>
          </a:defRPr>
        </a:defPPr>
      </a:lstStyle>
    </a:lnDef>
  </a:objectDefaults>
  <a:extraClrSchemeLst>
    <a:extraClrScheme>
      <a:clrScheme name="기본 디자인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00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기본 디자인 3">
        <a:dk1>
          <a:srgbClr val="000000"/>
        </a:dk1>
        <a:lt1>
          <a:srgbClr val="FFFFCC"/>
        </a:lt1>
        <a:dk2>
          <a:srgbClr val="808000"/>
        </a:dk2>
        <a:lt2>
          <a:srgbClr val="666633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4">
        <a:dk1>
          <a:srgbClr val="000000"/>
        </a:dk1>
        <a:lt1>
          <a:srgbClr val="FFFFFF"/>
        </a:lt1>
        <a:dk2>
          <a:srgbClr val="000000"/>
        </a:dk2>
        <a:lt2>
          <a:srgbClr val="333333"/>
        </a:lt2>
        <a:accent1>
          <a:srgbClr val="DDDDDD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EBEBEB"/>
        </a:accent5>
        <a:accent6>
          <a:srgbClr val="737373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5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6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C0C0C0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DCDCDC"/>
        </a:accent5>
        <a:accent6>
          <a:srgbClr val="005CE7"/>
        </a:accent6>
        <a:hlink>
          <a:srgbClr val="FF0000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기본 디자인 7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42528</TotalTime>
  <Words>434</Words>
  <Application>Microsoft Office PowerPoint</Application>
  <PresentationFormat>화면 슬라이드 쇼(4:3)</PresentationFormat>
  <Paragraphs>87</Paragraphs>
  <Slides>6</Slides>
  <Notes>3</Notes>
  <HiddenSlides>0</HiddenSlides>
  <MMClips>0</MMClips>
  <ScaleCrop>false</ScaleCrop>
  <HeadingPairs>
    <vt:vector size="8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1</vt:i4>
      </vt:variant>
      <vt:variant>
        <vt:lpstr>포함된 OLE 서버</vt:lpstr>
      </vt:variant>
      <vt:variant>
        <vt:i4>1</vt:i4>
      </vt:variant>
      <vt:variant>
        <vt:lpstr>슬라이드 제목</vt:lpstr>
      </vt:variant>
      <vt:variant>
        <vt:i4>6</vt:i4>
      </vt:variant>
    </vt:vector>
  </HeadingPairs>
  <TitlesOfParts>
    <vt:vector size="16" baseType="lpstr">
      <vt:lpstr>굴림</vt:lpstr>
      <vt:lpstr>맑은 고딕</vt:lpstr>
      <vt:lpstr>바탕체</vt:lpstr>
      <vt:lpstr>Arial</vt:lpstr>
      <vt:lpstr>Arial Black</vt:lpstr>
      <vt:lpstr>Consolas</vt:lpstr>
      <vt:lpstr>Times New Roman</vt:lpstr>
      <vt:lpstr>Wingdings</vt:lpstr>
      <vt:lpstr>기본 디자인</vt:lpstr>
      <vt:lpstr>포장기 셸 개체</vt:lpstr>
      <vt:lpstr>TRS 28 원인 분석   ’20.08.31 Lumir</vt:lpstr>
      <vt:lpstr>TRS-28 시험 결과 원인 분석 및 그 결과</vt:lpstr>
      <vt:lpstr>TRS-28 시험 결과 원인 분석 및 그 결과</vt:lpstr>
      <vt:lpstr>ACK 수신 Log 분석 결과</vt:lpstr>
      <vt:lpstr>Script2 에 대한 ACK 수신 확인 Log</vt:lpstr>
      <vt:lpstr>Abnormal 상태에서의 ACK 미 수신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한동인</dc:creator>
  <cp:lastModifiedBy>Choi SangRim</cp:lastModifiedBy>
  <cp:revision>1696</cp:revision>
  <cp:lastPrinted>2020-07-30T04:06:34Z</cp:lastPrinted>
  <dcterms:created xsi:type="dcterms:W3CDTF">1601-01-01T00:00:00Z</dcterms:created>
  <dcterms:modified xsi:type="dcterms:W3CDTF">2020-09-01T10:18:04Z</dcterms:modified>
</cp:coreProperties>
</file>