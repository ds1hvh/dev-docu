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423" r:id="rId2"/>
    <p:sldId id="813" r:id="rId3"/>
    <p:sldId id="815" r:id="rId4"/>
    <p:sldId id="816" r:id="rId5"/>
    <p:sldId id="817" r:id="rId6"/>
    <p:sldId id="818" r:id="rId7"/>
  </p:sldIdLst>
  <p:sldSz cx="9144000" cy="6858000" type="screen4x3"/>
  <p:notesSz cx="7104063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47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14004" initials="O" lastIdx="1" clrIdx="0">
    <p:extLst>
      <p:ext uri="{19B8F6BF-5375-455C-9EA6-DF929625EA0E}">
        <p15:presenceInfo xmlns:p15="http://schemas.microsoft.com/office/powerpoint/2012/main" userId="O14004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00CC66"/>
    <a:srgbClr val="FFCCFF"/>
    <a:srgbClr val="6AA8C1"/>
    <a:srgbClr val="FFCCCC"/>
    <a:srgbClr val="F2F2F2"/>
    <a:srgbClr val="EFFFB3"/>
    <a:srgbClr val="F7FEB4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41" autoAdjust="0"/>
    <p:restoredTop sz="96370" autoAdjust="0"/>
  </p:normalViewPr>
  <p:slideViewPr>
    <p:cSldViewPr snapToGrid="0">
      <p:cViewPr>
        <p:scale>
          <a:sx n="125" d="100"/>
          <a:sy n="125" d="100"/>
        </p:scale>
        <p:origin x="1638" y="498"/>
      </p:cViewPr>
      <p:guideLst>
        <p:guide orient="horz" pos="2160"/>
        <p:guide pos="4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2610" y="66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861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861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D0299D-B60A-4896-8397-6469664CBFF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5985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861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5363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320" y="4861156"/>
            <a:ext cx="5209425" cy="4605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861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9CEF302-C0C4-41F5-9E57-DF55FCB3FB8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8776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CEF302-C0C4-41F5-9E57-DF55FCB3FB84}" type="slidenum">
              <a:rPr lang="ko-KR" altLang="en-US" smtClean="0"/>
              <a:pPr>
                <a:defRPr/>
              </a:pPr>
              <a:t>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75593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186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615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2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" name="Line 2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398" name="Rectangle 38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lIns="91440" tIns="45720" rIns="91440" bIns="45720"/>
          <a:lstStyle>
            <a:lvl1pPr>
              <a:defRPr sz="3000"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altLang="ko-KR" noProof="0" dirty="0"/>
              <a:t>Arial Black 30 font &amp; Bold</a:t>
            </a:r>
          </a:p>
        </p:txBody>
      </p:sp>
      <p:sp>
        <p:nvSpPr>
          <p:cNvPr id="15399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lIns="91440" tIns="45720" rIns="91440" bIns="45720"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en-US" altLang="ko-KR" noProof="0" dirty="0"/>
              <a:t>Arial 24 font &amp; Bold</a:t>
            </a:r>
          </a:p>
        </p:txBody>
      </p:sp>
      <p:graphicFrame>
        <p:nvGraphicFramePr>
          <p:cNvPr id="13" name="Group 4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10214106"/>
              </p:ext>
            </p:extLst>
          </p:nvPr>
        </p:nvGraphicFramePr>
        <p:xfrm>
          <a:off x="106128" y="354284"/>
          <a:ext cx="8926360" cy="937827"/>
        </p:xfrm>
        <a:graphic>
          <a:graphicData uri="http://schemas.openxmlformats.org/drawingml/2006/table">
            <a:tbl>
              <a:tblPr/>
              <a:tblGrid>
                <a:gridCol w="981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8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782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Rectangle 46"/>
          <p:cNvSpPr>
            <a:spLocks noChangeArrowheads="1"/>
          </p:cNvSpPr>
          <p:nvPr userDrawn="1"/>
        </p:nvSpPr>
        <p:spPr bwMode="auto">
          <a:xfrm>
            <a:off x="84343" y="87726"/>
            <a:ext cx="8948145" cy="27482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lIns="108032" tIns="54016" rIns="108032" bIns="54016" anchor="ctr"/>
          <a:lstStyle>
            <a:lvl1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1pPr>
            <a:lvl2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2pPr>
            <a:lvl3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3pPr>
            <a:lvl4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4pPr>
            <a:lvl5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>
              <a:defRPr/>
            </a:pPr>
            <a:r>
              <a:rPr lang="en-US" altLang="ko-KR" sz="1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Korea </a:t>
            </a:r>
            <a:r>
              <a:rPr lang="en-US" altLang="ko-KR" sz="1600" b="0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Lunar Exploration Program - KPLO</a:t>
            </a:r>
            <a:endParaRPr lang="en-US" altLang="ko-KR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5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9181" y="396346"/>
            <a:ext cx="862787" cy="864024"/>
          </a:xfrm>
          <a:prstGeom prst="rect">
            <a:avLst/>
          </a:prstGeom>
        </p:spPr>
      </p:pic>
      <p:pic>
        <p:nvPicPr>
          <p:cNvPr id="17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701" y="556035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1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6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0363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15471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33363" y="981075"/>
            <a:ext cx="4256087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1850" y="981075"/>
            <a:ext cx="4257675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5895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4313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1888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977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24872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42660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61705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34175" y="131763"/>
            <a:ext cx="2165350" cy="60975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33363" y="131763"/>
            <a:ext cx="6348412" cy="60975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9355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8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7" name="Line 8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9" name="Line 89"/>
          <p:cNvSpPr>
            <a:spLocks noChangeShapeType="1"/>
          </p:cNvSpPr>
          <p:nvPr userDrawn="1"/>
        </p:nvSpPr>
        <p:spPr bwMode="auto">
          <a:xfrm flipV="1">
            <a:off x="228600" y="876300"/>
            <a:ext cx="8686800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32" name="Rectangle 93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131763"/>
            <a:ext cx="6705600" cy="70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24 font &amp; bold</a:t>
            </a:r>
          </a:p>
        </p:txBody>
      </p:sp>
      <p:sp>
        <p:nvSpPr>
          <p:cNvPr id="1033" name="Rectangle 9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3363" y="981075"/>
            <a:ext cx="866616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18 font &amp; bold</a:t>
            </a:r>
          </a:p>
          <a:p>
            <a:pPr lvl="1"/>
            <a:r>
              <a:rPr lang="en-US" altLang="ko-KR" dirty="0"/>
              <a:t>Arial 16 font &amp; bold</a:t>
            </a:r>
            <a:endParaRPr lang="ko-KR" altLang="en-US"/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5" name="Text Box 86"/>
          <p:cNvSpPr txBox="1">
            <a:spLocks noChangeArrowheads="1"/>
          </p:cNvSpPr>
          <p:nvPr userDrawn="1"/>
        </p:nvSpPr>
        <p:spPr bwMode="auto">
          <a:xfrm>
            <a:off x="7524750" y="6510338"/>
            <a:ext cx="14859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accent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fld id="{BD253322-42C0-4748-AAA5-F0068379097A}" type="slidenum">
              <a:rPr lang="en-US" altLang="ko-KR" sz="1200" b="0" smtClean="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rPr>
              <a:pPr algn="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sz="1200" b="0" dirty="0">
              <a:solidFill>
                <a:schemeClr val="tx1"/>
              </a:solidFill>
              <a:latin typeface="Arial" panose="020B0604020202020204" pitchFamily="34" charset="0"/>
              <a:ea typeface="바탕체" panose="02030609000101010101" pitchFamily="17" charset="-127"/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2239622" y="6514041"/>
            <a:ext cx="46536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Confidential,</a:t>
            </a:r>
            <a:r>
              <a:rPr lang="en-US" altLang="ko-KR" sz="1200" b="0" baseline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Distribution Limited</a:t>
            </a:r>
            <a:endParaRPr lang="ko-KR" altLang="en-US" sz="12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94487" y="-23213"/>
            <a:ext cx="862787" cy="864024"/>
          </a:xfrm>
          <a:prstGeom prst="rect">
            <a:avLst/>
          </a:prstGeom>
        </p:spPr>
      </p:pic>
      <p:pic>
        <p:nvPicPr>
          <p:cNvPr id="13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1945" y="244061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5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 b="1" kern="1200" baseline="0">
          <a:solidFill>
            <a:schemeClr val="tx2"/>
          </a:solidFill>
          <a:latin typeface="Arial" panose="020B0604020202020204" pitchFamily="34" charset="0"/>
          <a:ea typeface="맑은 고딕" panose="020B0503020000020004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9pPr>
    </p:titleStyle>
    <p:bodyStyle>
      <a:lvl1pPr marL="190500" indent="-1905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b="1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1pPr>
      <a:lvl2pPr marL="538163" indent="-1905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2pPr>
      <a:lvl3pPr marL="896938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3pPr>
      <a:lvl4pPr marL="125571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4pPr>
      <a:lvl5pPr marL="1614488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886075"/>
            <a:ext cx="7772400" cy="2460476"/>
          </a:xfrm>
        </p:spPr>
        <p:txBody>
          <a:bodyPr/>
          <a:lstStyle/>
          <a:p>
            <a:r>
              <a:rPr lang="en-US" altLang="ko-KR" sz="3600" dirty="0" smtClean="0"/>
              <a:t>TRS 28 </a:t>
            </a:r>
            <a:r>
              <a:rPr lang="ko-KR" altLang="en-US" sz="3600" dirty="0" smtClean="0"/>
              <a:t>원인 분석</a:t>
            </a:r>
            <a:r>
              <a:rPr lang="en-US" altLang="ko-KR" sz="3600" dirty="0"/>
              <a:t/>
            </a:r>
            <a:br>
              <a:rPr lang="en-US" altLang="ko-KR" sz="3600" dirty="0"/>
            </a:br>
            <a:r>
              <a:rPr lang="en-US" altLang="ko-KR" sz="3600" dirty="0"/>
              <a:t/>
            </a:r>
            <a:br>
              <a:rPr lang="en-US" altLang="ko-KR" sz="3600" dirty="0"/>
            </a:br>
            <a:r>
              <a:rPr lang="en-US" altLang="ko-KR" sz="3600" dirty="0"/>
              <a:t/>
            </a:r>
            <a:br>
              <a:rPr lang="en-US" altLang="ko-KR" sz="3600" dirty="0"/>
            </a:br>
            <a:r>
              <a:rPr lang="en-US" altLang="ko-KR" sz="2400" b="0" dirty="0" smtClean="0"/>
              <a:t>’20.08.31</a:t>
            </a:r>
            <a:r>
              <a:rPr lang="en-US" altLang="ko-KR" sz="2400" b="0" dirty="0"/>
              <a:t/>
            </a:r>
            <a:br>
              <a:rPr lang="en-US" altLang="ko-KR" sz="2400" b="0" dirty="0"/>
            </a:br>
            <a:r>
              <a:rPr lang="en-US" altLang="ko-KR" sz="2400" b="0" dirty="0" err="1"/>
              <a:t>Lumir</a:t>
            </a:r>
            <a:endParaRPr lang="ko-KR" altLang="en-US" sz="2400" b="0" dirty="0"/>
          </a:p>
        </p:txBody>
      </p:sp>
      <p:sp>
        <p:nvSpPr>
          <p:cNvPr id="4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DTNPL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070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TRS-28 </a:t>
            </a:r>
            <a:r>
              <a:rPr lang="ko-KR" altLang="en-US" dirty="0" smtClean="0"/>
              <a:t>시험 결과 원인 분석 및 그 결과</a:t>
            </a:r>
            <a:endParaRPr lang="en-US" altLang="ko-KR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3" y="981306"/>
            <a:ext cx="8666798" cy="5503383"/>
          </a:xfrm>
        </p:spPr>
        <p:txBody>
          <a:bodyPr/>
          <a:lstStyle/>
          <a:p>
            <a:r>
              <a:rPr lang="en-US" altLang="ko-KR" dirty="0" smtClean="0"/>
              <a:t>TRS-028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/>
              <a:t>현상 </a:t>
            </a:r>
            <a:r>
              <a:rPr lang="en-US" altLang="ko-KR" dirty="0"/>
              <a:t>(SBC FW </a:t>
            </a:r>
            <a:r>
              <a:rPr lang="en-US" altLang="ko-KR" dirty="0" smtClean="0"/>
              <a:t>Ver1.1.0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 smtClean="0"/>
              <a:t>20/08/20</a:t>
            </a:r>
            <a:r>
              <a:rPr lang="ko-KR" altLang="en-US" dirty="0" smtClean="0"/>
              <a:t>일</a:t>
            </a:r>
            <a:r>
              <a:rPr lang="en-US" altLang="ko-KR" dirty="0" smtClean="0"/>
              <a:t> DTNPL ETB </a:t>
            </a:r>
            <a:r>
              <a:rPr lang="en-US" altLang="ko-KR" dirty="0" smtClean="0"/>
              <a:t>I/F </a:t>
            </a:r>
            <a:r>
              <a:rPr lang="ko-KR" altLang="en-US" dirty="0" smtClean="0"/>
              <a:t>시험 중 </a:t>
            </a:r>
            <a:r>
              <a:rPr lang="ko-KR" altLang="en-US" dirty="0" smtClean="0"/>
              <a:t>일부 </a:t>
            </a:r>
            <a:r>
              <a:rPr lang="ko-KR" altLang="en-US" dirty="0" smtClean="0"/>
              <a:t>명령에 대해서 </a:t>
            </a:r>
            <a:r>
              <a:rPr lang="en-US" altLang="ko-KR" dirty="0" smtClean="0"/>
              <a:t>ACK </a:t>
            </a:r>
            <a:r>
              <a:rPr lang="ko-KR" altLang="en-US" dirty="0" smtClean="0"/>
              <a:t>확인이 되지 않는 문제점 발생</a:t>
            </a:r>
            <a:endParaRPr lang="en-US" altLang="ko-KR" dirty="0"/>
          </a:p>
          <a:p>
            <a:r>
              <a:rPr lang="ko-KR" altLang="en-US" dirty="0" smtClean="0"/>
              <a:t>원인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sz="1600" b="0" dirty="0" smtClean="0"/>
              <a:t>  - DTNPL</a:t>
            </a:r>
            <a:r>
              <a:rPr lang="ko-KR" altLang="en-US" sz="1600" b="0" dirty="0" smtClean="0"/>
              <a:t>의 동작을 </a:t>
            </a:r>
            <a:r>
              <a:rPr lang="en-US" altLang="ko-KR" sz="1600" b="0" dirty="0" smtClean="0"/>
              <a:t>Monitoring</a:t>
            </a:r>
            <a:r>
              <a:rPr lang="ko-KR" altLang="en-US" sz="1600" b="0" dirty="0" smtClean="0"/>
              <a:t>을</a:t>
            </a:r>
            <a:r>
              <a:rPr lang="en-US" altLang="ko-KR" sz="1600" b="0" dirty="0" smtClean="0"/>
              <a:t> </a:t>
            </a:r>
            <a:r>
              <a:rPr lang="ko-KR" altLang="en-US" sz="1600" b="0" dirty="0" smtClean="0"/>
              <a:t>하기 위해서 </a:t>
            </a:r>
            <a:r>
              <a:rPr lang="en-US" altLang="ko-KR" sz="1600" b="0" dirty="0" smtClean="0"/>
              <a:t>DTNPL</a:t>
            </a:r>
            <a:r>
              <a:rPr lang="ko-KR" altLang="en-US" sz="1600" b="0" dirty="0" smtClean="0"/>
              <a:t>에 </a:t>
            </a:r>
            <a:r>
              <a:rPr lang="en-US" altLang="ko-KR" sz="1600" b="0" dirty="0" smtClean="0"/>
              <a:t>JTAG</a:t>
            </a:r>
            <a:r>
              <a:rPr lang="ko-KR" altLang="en-US" sz="1600" b="0" dirty="0" smtClean="0"/>
              <a:t>을 연결하여 그 상태를 </a:t>
            </a:r>
            <a:r>
              <a:rPr lang="en-US" altLang="ko-KR" sz="1600" b="0" dirty="0" smtClean="0"/>
              <a:t>Monitoring</a:t>
            </a:r>
            <a:r>
              <a:rPr lang="ko-KR" altLang="en-US" sz="1600" b="0" dirty="0" smtClean="0"/>
              <a:t>을 진행함</a:t>
            </a:r>
            <a:r>
              <a:rPr lang="en-US" altLang="ko-KR" sz="1600" b="0" dirty="0" smtClean="0"/>
              <a:t>. </a:t>
            </a:r>
            <a:br>
              <a:rPr lang="en-US" altLang="ko-KR" sz="1600" b="0" dirty="0" smtClean="0"/>
            </a:br>
            <a:r>
              <a:rPr lang="en-US" altLang="ko-KR" sz="1600" b="0" dirty="0" smtClean="0"/>
              <a:t>- Script 1 </a:t>
            </a:r>
            <a:r>
              <a:rPr lang="ko-KR" altLang="en-US" sz="1600" b="0" dirty="0" smtClean="0"/>
              <a:t>명령을 이용하여 </a:t>
            </a:r>
            <a:r>
              <a:rPr lang="en-US" altLang="ko-KR" sz="1600" b="0" dirty="0" smtClean="0"/>
              <a:t>DTNPL</a:t>
            </a:r>
            <a:r>
              <a:rPr lang="ko-KR" altLang="en-US" sz="1600" b="0" dirty="0" smtClean="0"/>
              <a:t>을 </a:t>
            </a:r>
            <a:r>
              <a:rPr lang="en-US" altLang="ko-KR" sz="1600" b="0" dirty="0" smtClean="0"/>
              <a:t>Reset </a:t>
            </a:r>
            <a:r>
              <a:rPr lang="ko-KR" altLang="en-US" sz="1600" b="0" dirty="0" smtClean="0"/>
              <a:t>할 경우 </a:t>
            </a:r>
            <a:r>
              <a:rPr lang="en-US" altLang="ko-KR" sz="1600" b="0" dirty="0" smtClean="0"/>
              <a:t>Booting </a:t>
            </a:r>
            <a:r>
              <a:rPr lang="ko-KR" altLang="en-US" sz="1600" b="0" dirty="0" smtClean="0"/>
              <a:t>까지 </a:t>
            </a:r>
            <a:r>
              <a:rPr lang="ko-KR" altLang="en-US" sz="1600" b="0" dirty="0"/>
              <a:t>약</a:t>
            </a:r>
            <a:r>
              <a:rPr lang="en-US" altLang="ko-KR" sz="1600" b="0" dirty="0" smtClean="0"/>
              <a:t> 30</a:t>
            </a:r>
            <a:r>
              <a:rPr lang="ko-KR" altLang="en-US" sz="1600" b="0" dirty="0" smtClean="0"/>
              <a:t>초의 시간이 소요되는데</a:t>
            </a:r>
            <a:r>
              <a:rPr lang="en-US" altLang="ko-KR" sz="1600" b="0" dirty="0" smtClean="0"/>
              <a:t>, Booting </a:t>
            </a:r>
            <a:r>
              <a:rPr lang="ko-KR" altLang="en-US" sz="1600" b="0" dirty="0" smtClean="0"/>
              <a:t>하는 중간에 </a:t>
            </a:r>
            <a:r>
              <a:rPr lang="en-US" altLang="ko-KR" sz="1600" b="0" dirty="0" smtClean="0"/>
              <a:t>OBT</a:t>
            </a:r>
            <a:r>
              <a:rPr lang="ko-KR" altLang="en-US" sz="1600" b="0" dirty="0" smtClean="0"/>
              <a:t>와 </a:t>
            </a:r>
            <a:r>
              <a:rPr lang="en-US" altLang="ko-KR" sz="1600" b="0" dirty="0" smtClean="0"/>
              <a:t>SOH Request</a:t>
            </a:r>
            <a:r>
              <a:rPr lang="ko-KR" altLang="en-US" sz="1600" b="0" dirty="0" smtClean="0"/>
              <a:t> 명령을 받게 되면 </a:t>
            </a:r>
            <a:r>
              <a:rPr lang="en-US" altLang="ko-KR" sz="1600" b="0" dirty="0" smtClean="0"/>
              <a:t>ACK </a:t>
            </a:r>
            <a:r>
              <a:rPr lang="ko-KR" altLang="en-US" sz="1600" b="0" dirty="0" smtClean="0"/>
              <a:t>신호를 </a:t>
            </a:r>
            <a:r>
              <a:rPr lang="en-US" altLang="ko-KR" sz="1600" b="0" dirty="0" smtClean="0"/>
              <a:t>DTNPL</a:t>
            </a:r>
            <a:r>
              <a:rPr lang="ko-KR" altLang="en-US" sz="1600" b="0" dirty="0" smtClean="0"/>
              <a:t>이 응답할 수 없는 상태가 됨</a:t>
            </a:r>
            <a:r>
              <a:rPr lang="en-US" altLang="ko-KR" sz="1600" b="0" dirty="0" smtClean="0"/>
              <a:t>. </a:t>
            </a:r>
            <a:br>
              <a:rPr lang="en-US" altLang="ko-KR" sz="1600" b="0" dirty="0" smtClean="0"/>
            </a:br>
            <a:r>
              <a:rPr lang="en-US" altLang="ko-KR" sz="1600" b="0" dirty="0" smtClean="0"/>
              <a:t>- Rebooting </a:t>
            </a:r>
            <a:r>
              <a:rPr lang="ko-KR" altLang="en-US" sz="1600" b="0" dirty="0" smtClean="0"/>
              <a:t>후</a:t>
            </a:r>
            <a:r>
              <a:rPr lang="en-US" altLang="ko-KR" sz="1600" b="0" dirty="0" smtClean="0"/>
              <a:t> </a:t>
            </a:r>
            <a:r>
              <a:rPr lang="ko-KR" altLang="en-US" sz="1600" b="0" dirty="0" smtClean="0"/>
              <a:t>상태 </a:t>
            </a:r>
            <a:r>
              <a:rPr lang="en-US" altLang="ko-KR" sz="1600" b="0" dirty="0" smtClean="0"/>
              <a:t>Monitoring</a:t>
            </a:r>
            <a:r>
              <a:rPr lang="ko-KR" altLang="en-US" sz="1600" b="0" dirty="0" smtClean="0"/>
              <a:t>을 위해 </a:t>
            </a:r>
            <a:r>
              <a:rPr lang="en-US" altLang="ko-KR" sz="1600" b="0" dirty="0" smtClean="0"/>
              <a:t>GRMON</a:t>
            </a:r>
            <a:r>
              <a:rPr lang="ko-KR" altLang="en-US" sz="1600" b="0" dirty="0" smtClean="0"/>
              <a:t>을 연결하게 되면 </a:t>
            </a:r>
            <a:r>
              <a:rPr lang="en-US" altLang="ko-KR" sz="1600" b="0" dirty="0" smtClean="0"/>
              <a:t>GRMON </a:t>
            </a:r>
            <a:r>
              <a:rPr lang="ko-KR" altLang="en-US" sz="1600" b="0" dirty="0" smtClean="0"/>
              <a:t>연결 하는 동안 </a:t>
            </a:r>
            <a:r>
              <a:rPr lang="en-US" altLang="ko-KR" sz="1600" b="0" dirty="0" smtClean="0"/>
              <a:t>CPU</a:t>
            </a:r>
            <a:r>
              <a:rPr lang="ko-KR" altLang="en-US" sz="1600" b="0" dirty="0" smtClean="0"/>
              <a:t>는 </a:t>
            </a:r>
            <a:r>
              <a:rPr lang="en-US" altLang="ko-KR" sz="1600" b="0" dirty="0" smtClean="0"/>
              <a:t>Halt </a:t>
            </a:r>
            <a:r>
              <a:rPr lang="ko-KR" altLang="en-US" sz="1600" b="0" dirty="0" smtClean="0"/>
              <a:t>상태에 있게 됨</a:t>
            </a:r>
            <a:r>
              <a:rPr lang="en-US" altLang="ko-KR" sz="1600" b="0" dirty="0" smtClean="0"/>
              <a:t>. </a:t>
            </a:r>
            <a:r>
              <a:rPr lang="ko-KR" altLang="en-US" sz="1600" b="0" dirty="0" smtClean="0"/>
              <a:t>이 때 </a:t>
            </a:r>
            <a:r>
              <a:rPr lang="en-US" altLang="ko-KR" sz="1600" b="0" dirty="0" smtClean="0"/>
              <a:t>OBT</a:t>
            </a:r>
            <a:r>
              <a:rPr lang="ko-KR" altLang="en-US" sz="1600" b="0" dirty="0" smtClean="0"/>
              <a:t>와 </a:t>
            </a:r>
            <a:r>
              <a:rPr lang="en-US" altLang="ko-KR" sz="1600" b="0" dirty="0" smtClean="0"/>
              <a:t>SOH Request</a:t>
            </a:r>
            <a:r>
              <a:rPr lang="ko-KR" altLang="en-US" sz="1600" b="0" dirty="0" smtClean="0"/>
              <a:t> 명령을 수신하게 되면</a:t>
            </a:r>
            <a:r>
              <a:rPr lang="en-US" altLang="ko-KR" sz="1600" b="0" dirty="0" smtClean="0"/>
              <a:t>, </a:t>
            </a:r>
            <a:r>
              <a:rPr lang="ko-KR" altLang="en-US" sz="1600" b="0" dirty="0" smtClean="0"/>
              <a:t>그에 대한 응답을 할 수 없는 상태가 됨</a:t>
            </a:r>
            <a:r>
              <a:rPr lang="en-US" altLang="ko-KR" sz="1600" b="0" dirty="0" smtClean="0"/>
              <a:t>. </a:t>
            </a:r>
            <a:r>
              <a:rPr lang="en-US" altLang="ko-KR" sz="1600" dirty="0" smtClean="0"/>
              <a:t/>
            </a:r>
            <a:br>
              <a:rPr lang="en-US" altLang="ko-KR" sz="1600" dirty="0" smtClean="0"/>
            </a:br>
            <a:endParaRPr lang="en-US" altLang="ko-KR" sz="1600" dirty="0" smtClean="0"/>
          </a:p>
          <a:p>
            <a:endParaRPr lang="en-US" altLang="ko-KR" dirty="0"/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C62BF178-802E-4362-9FC6-62B6F85D0C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375375"/>
              </p:ext>
            </p:extLst>
          </p:nvPr>
        </p:nvGraphicFramePr>
        <p:xfrm>
          <a:off x="233363" y="1377090"/>
          <a:ext cx="8784975" cy="185928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434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1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33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534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85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TRS#</a:t>
                      </a:r>
                      <a:endParaRPr lang="ko-KR" altLang="en-US" sz="10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Departure</a:t>
                      </a:r>
                      <a:endParaRPr lang="ko-KR" altLang="en-US" sz="10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Cause</a:t>
                      </a:r>
                      <a:endParaRPr lang="ko-KR" altLang="en-US" sz="10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Status</a:t>
                      </a:r>
                      <a:endParaRPr lang="ko-KR" altLang="en-US" sz="10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Open</a:t>
                      </a:r>
                    </a:p>
                    <a:p>
                      <a:pPr algn="ctr" latinLnBrk="1"/>
                      <a:r>
                        <a:rPr lang="en-US" altLang="ko-KR" sz="1000" dirty="0"/>
                        <a:t>Date</a:t>
                      </a:r>
                      <a:endParaRPr lang="ko-KR" altLang="en-US" sz="10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Close</a:t>
                      </a:r>
                    </a:p>
                    <a:p>
                      <a:pPr algn="ctr" latinLnBrk="1"/>
                      <a:r>
                        <a:rPr lang="en-US" altLang="ko-KR" sz="1000" dirty="0"/>
                        <a:t>Date</a:t>
                      </a:r>
                      <a:endParaRPr lang="ko-KR" altLang="en-US" sz="10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Disposition</a:t>
                      </a:r>
                      <a:endParaRPr lang="ko-KR" altLang="en-US" sz="10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/>
                        <a:t>Actionee</a:t>
                      </a:r>
                      <a:endParaRPr lang="ko-KR" altLang="en-US" sz="10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Corrective Action</a:t>
                      </a:r>
                      <a:endParaRPr lang="ko-KR" altLang="en-US" sz="10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63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+mn-lt"/>
                          <a:cs typeface="+mn-cs"/>
                        </a:rPr>
                        <a:t>28</a:t>
                      </a:r>
                      <a:endParaRPr lang="ko-KR" altLang="en-US" sz="9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DTNPL_CONFIG (</a:t>
                      </a:r>
                      <a:r>
                        <a:rPr lang="en-US" altLang="ko-KR" sz="900" dirty="0" err="1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sco</a:t>
                      </a:r>
                      <a:r>
                        <a:rPr lang="en-US" altLang="ko-KR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431)</a:t>
                      </a:r>
                      <a:r>
                        <a:rPr lang="ko-KR" altLang="en-US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울 통해 </a:t>
                      </a:r>
                      <a:r>
                        <a:rPr lang="en-US" altLang="ko-KR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CDSCRIPT2 </a:t>
                      </a:r>
                      <a:r>
                        <a:rPr lang="ko-KR" altLang="en-US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명령을 전송하였으나 </a:t>
                      </a:r>
                      <a:r>
                        <a:rPr lang="en-US" altLang="ko-KR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DTNPL</a:t>
                      </a:r>
                      <a:r>
                        <a:rPr lang="ko-KR" altLang="en-US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로부터 </a:t>
                      </a:r>
                      <a:r>
                        <a:rPr lang="en-US" altLang="ko-KR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PDHU</a:t>
                      </a:r>
                      <a:r>
                        <a:rPr lang="ko-KR" altLang="en-US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로 데이터가 전송되지 않음</a:t>
                      </a:r>
                      <a:endParaRPr lang="ko-KR" altLang="en-US" sz="9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MDMAUART</a:t>
                      </a:r>
                      <a:r>
                        <a:rPr lang="en-US" altLang="ko-KR" sz="900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ko-KR" altLang="en-US" sz="900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정의에 따라 </a:t>
                      </a:r>
                      <a:r>
                        <a:rPr lang="en-US" altLang="ko-KR" sz="900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DTNPL</a:t>
                      </a:r>
                      <a:r>
                        <a:rPr lang="ko-KR" altLang="en-US" sz="900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은 모든 </a:t>
                      </a:r>
                      <a:r>
                        <a:rPr lang="en-US" altLang="ko-KR" sz="900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command</a:t>
                      </a:r>
                      <a:r>
                        <a:rPr lang="ko-KR" altLang="en-US" sz="900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에 대해 </a:t>
                      </a:r>
                      <a:r>
                        <a:rPr lang="en-US" altLang="ko-KR" sz="900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ACK (OK check, 0x12)</a:t>
                      </a:r>
                      <a:r>
                        <a:rPr lang="ko-KR" altLang="en-US" sz="900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를 회신해야 하지만</a:t>
                      </a:r>
                      <a:r>
                        <a:rPr lang="en-US" altLang="ko-KR" sz="900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DTNPL</a:t>
                      </a:r>
                      <a:r>
                        <a:rPr lang="ko-KR" altLang="en-US" sz="900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의 </a:t>
                      </a:r>
                      <a:r>
                        <a:rPr lang="en-US" altLang="ko-KR" sz="900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firmware</a:t>
                      </a:r>
                      <a:r>
                        <a:rPr lang="ko-KR" altLang="en-US" sz="900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가 해당 </a:t>
                      </a:r>
                      <a:r>
                        <a:rPr lang="en-US" altLang="ko-KR" sz="900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ACK</a:t>
                      </a:r>
                      <a:r>
                        <a:rPr lang="ko-KR" altLang="en-US" sz="900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를 전송하지 않음</a:t>
                      </a:r>
                      <a:r>
                        <a:rPr lang="en-US" altLang="ko-KR" sz="900" baseline="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endParaRPr lang="ko-KR" altLang="en-US" sz="9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Open</a:t>
                      </a:r>
                      <a:endParaRPr lang="ko-KR" altLang="en-US" sz="9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2020/04/28</a:t>
                      </a:r>
                      <a:endParaRPr lang="ko-KR" altLang="en-US" sz="9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DTNPL</a:t>
                      </a:r>
                      <a:r>
                        <a:rPr lang="ko-KR" altLang="en-US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의 모든 </a:t>
                      </a:r>
                      <a:r>
                        <a:rPr lang="en-US" altLang="ko-KR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TLM</a:t>
                      </a:r>
                      <a:r>
                        <a:rPr lang="ko-KR" altLang="en-US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을 확인하였으나 값이 모두 </a:t>
                      </a:r>
                      <a:r>
                        <a:rPr lang="en-US" altLang="ko-KR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  <a:r>
                        <a:rPr lang="ko-KR" altLang="en-US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이었으며</a:t>
                      </a:r>
                      <a:r>
                        <a:rPr lang="en-US" altLang="ko-KR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DTNPL command error counter(TDCMDERRCNT)</a:t>
                      </a:r>
                      <a:r>
                        <a:rPr lang="ko-KR" altLang="en-US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가 주기적으로 증가하는 것을 확인함</a:t>
                      </a:r>
                      <a:endParaRPr lang="en-US" altLang="ko-KR" sz="900" dirty="0" smtClean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DCSCRIPT2 </a:t>
                      </a:r>
                      <a:r>
                        <a:rPr lang="ko-KR" altLang="en-US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명령을</a:t>
                      </a:r>
                      <a:r>
                        <a:rPr lang="en-US" altLang="ko-KR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ko-KR" altLang="en-US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전송하는 경우도 </a:t>
                      </a:r>
                      <a:r>
                        <a:rPr lang="en-US" altLang="ko-KR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TDCMDERRCNT</a:t>
                      </a:r>
                      <a:r>
                        <a:rPr lang="ko-KR" altLang="en-US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가 증가함을 확인함</a:t>
                      </a:r>
                      <a:endParaRPr lang="en-US" altLang="ko-KR" sz="900" dirty="0" smtClean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DTNPL</a:t>
                      </a:r>
                      <a:r>
                        <a:rPr lang="ko-KR" altLang="en-US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의 </a:t>
                      </a:r>
                      <a:r>
                        <a:rPr lang="en-US" altLang="ko-KR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EGSE</a:t>
                      </a:r>
                      <a:r>
                        <a:rPr lang="ko-KR" altLang="en-US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를 통하여 </a:t>
                      </a:r>
                      <a:r>
                        <a:rPr lang="en-US" altLang="ko-KR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DTNPL</a:t>
                      </a:r>
                      <a:r>
                        <a:rPr lang="ko-KR" altLang="en-US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이 </a:t>
                      </a:r>
                      <a:r>
                        <a:rPr lang="en-US" altLang="ko-KR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CMD</a:t>
                      </a:r>
                      <a:r>
                        <a:rPr lang="ko-KR" altLang="en-US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를 정상수신하지만 </a:t>
                      </a:r>
                      <a:r>
                        <a:rPr lang="en-US" altLang="ko-KR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ACK</a:t>
                      </a:r>
                      <a:r>
                        <a:rPr lang="ko-KR" altLang="en-US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를 전송하지 않는 것으로 확인됨</a:t>
                      </a:r>
                      <a:endParaRPr lang="ko-KR" altLang="en-US" sz="9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ETRI</a:t>
                      </a:r>
                      <a:endParaRPr lang="ko-KR" altLang="en-US" sz="9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5562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TRS-28 </a:t>
            </a:r>
            <a:r>
              <a:rPr lang="ko-KR" altLang="en-US" dirty="0"/>
              <a:t>시험 결과 원인 분석 및 그 결과</a:t>
            </a:r>
            <a:endParaRPr lang="en-US" altLang="ko-KR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3" y="981307"/>
            <a:ext cx="8659178" cy="5191424"/>
          </a:xfrm>
        </p:spPr>
        <p:txBody>
          <a:bodyPr/>
          <a:lstStyle/>
          <a:p>
            <a:r>
              <a:rPr lang="ko-KR" altLang="en-US" dirty="0"/>
              <a:t>조치결과</a:t>
            </a:r>
            <a:endParaRPr lang="en-US" altLang="ko-KR" dirty="0"/>
          </a:p>
          <a:p>
            <a:pPr lvl="1"/>
            <a:r>
              <a:rPr lang="ko-KR" altLang="en-US" dirty="0" err="1" smtClean="0"/>
              <a:t>항우연에서</a:t>
            </a:r>
            <a:r>
              <a:rPr lang="ko-KR" altLang="en-US" dirty="0" smtClean="0"/>
              <a:t> </a:t>
            </a:r>
            <a:r>
              <a:rPr lang="en-US" altLang="ko-KR" dirty="0" smtClean="0"/>
              <a:t>ETB </a:t>
            </a:r>
            <a:r>
              <a:rPr lang="ko-KR" altLang="en-US" dirty="0" smtClean="0"/>
              <a:t>시험 중 </a:t>
            </a:r>
            <a:r>
              <a:rPr lang="en-US" altLang="ko-KR" dirty="0" smtClean="0"/>
              <a:t>ACK</a:t>
            </a:r>
            <a:r>
              <a:rPr lang="ko-KR" altLang="en-US" dirty="0" smtClean="0"/>
              <a:t>가 정상 응답하지 않은 상태에서 </a:t>
            </a:r>
            <a:r>
              <a:rPr lang="en-US" altLang="ko-KR" dirty="0" smtClean="0"/>
              <a:t>GRMON </a:t>
            </a:r>
            <a:r>
              <a:rPr lang="ko-KR" altLang="en-US" dirty="0" smtClean="0"/>
              <a:t>및 </a:t>
            </a:r>
            <a:r>
              <a:rPr lang="en-US" altLang="ko-KR" dirty="0" smtClean="0"/>
              <a:t>JTAG</a:t>
            </a:r>
            <a:r>
              <a:rPr lang="ko-KR" altLang="en-US" dirty="0" smtClean="0"/>
              <a:t>제</a:t>
            </a:r>
            <a:r>
              <a:rPr lang="ko-KR" altLang="en-US" dirty="0"/>
              <a:t>거</a:t>
            </a:r>
            <a:r>
              <a:rPr lang="ko-KR" altLang="en-US" dirty="0" smtClean="0"/>
              <a:t> 후 모니터링 한 결과 정상적으로 </a:t>
            </a:r>
            <a:r>
              <a:rPr lang="en-US" altLang="ko-KR" dirty="0" smtClean="0"/>
              <a:t>ACK</a:t>
            </a:r>
            <a:r>
              <a:rPr lang="ko-KR" altLang="en-US" dirty="0" smtClean="0"/>
              <a:t> 신호를</a:t>
            </a:r>
            <a:r>
              <a:rPr lang="en-US" altLang="ko-KR" dirty="0" smtClean="0"/>
              <a:t> </a:t>
            </a:r>
            <a:r>
              <a:rPr lang="ko-KR" altLang="en-US" dirty="0" smtClean="0"/>
              <a:t>수신 하는 것으로 확인이 되었음</a:t>
            </a:r>
            <a:r>
              <a:rPr lang="en-US" altLang="ko-KR" dirty="0" smtClean="0"/>
              <a:t>. </a:t>
            </a:r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분석결과 </a:t>
            </a:r>
            <a:endParaRPr lang="en-US" altLang="ko-KR" dirty="0"/>
          </a:p>
          <a:p>
            <a:pPr lvl="1"/>
            <a:r>
              <a:rPr lang="en-US" altLang="ko-KR" dirty="0" smtClean="0"/>
              <a:t>JTAG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GRMON</a:t>
            </a:r>
            <a:r>
              <a:rPr lang="ko-KR" altLang="en-US" dirty="0" smtClean="0"/>
              <a:t>을 연결하지 않은 상태에서 </a:t>
            </a:r>
            <a:r>
              <a:rPr lang="en-US" altLang="ko-KR" dirty="0" smtClean="0"/>
              <a:t>SBC-EGSE</a:t>
            </a:r>
            <a:r>
              <a:rPr lang="ko-KR" altLang="en-US" dirty="0" smtClean="0"/>
              <a:t>에 기록된 </a:t>
            </a:r>
            <a:r>
              <a:rPr lang="en-US" altLang="ko-KR" dirty="0" smtClean="0"/>
              <a:t>Log</a:t>
            </a:r>
            <a:r>
              <a:rPr lang="ko-KR" altLang="en-US" dirty="0" smtClean="0"/>
              <a:t>를 분석한 결과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ACK</a:t>
            </a:r>
            <a:r>
              <a:rPr lang="ko-KR" altLang="en-US" dirty="0" smtClean="0"/>
              <a:t>를 송출 하지 못하는 상태는 발생하지 않음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en-US" altLang="ko-KR" dirty="0" smtClean="0"/>
              <a:t>(</a:t>
            </a:r>
            <a:r>
              <a:rPr lang="ko-KR" altLang="en-US" dirty="0" smtClean="0"/>
              <a:t>실제 운용 시에는 </a:t>
            </a:r>
            <a:r>
              <a:rPr lang="en-US" altLang="ko-KR" dirty="0" smtClean="0"/>
              <a:t>GRMON </a:t>
            </a:r>
            <a:r>
              <a:rPr lang="ko-KR" altLang="en-US" dirty="0" smtClean="0"/>
              <a:t>연결을 하지 않음</a:t>
            </a:r>
            <a:r>
              <a:rPr lang="en-US" altLang="ko-KR" dirty="0" smtClean="0"/>
              <a:t>)</a:t>
            </a:r>
            <a:r>
              <a:rPr lang="en-US" altLang="ko-KR" dirty="0" smtClean="0"/>
              <a:t>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 smtClean="0"/>
          </a:p>
          <a:p>
            <a:pPr lvl="1"/>
            <a:r>
              <a:rPr lang="en-US" altLang="ko-KR" dirty="0" smtClean="0"/>
              <a:t>Log </a:t>
            </a:r>
            <a:r>
              <a:rPr lang="ko-KR" altLang="en-US" dirty="0" smtClean="0"/>
              <a:t>분석 결과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OBT / SOH Request </a:t>
            </a:r>
            <a:r>
              <a:rPr lang="ko-KR" altLang="en-US" dirty="0" smtClean="0"/>
              <a:t>시 </a:t>
            </a:r>
            <a:r>
              <a:rPr lang="en-US" altLang="ko-KR" dirty="0" smtClean="0"/>
              <a:t>GRMON</a:t>
            </a:r>
            <a:r>
              <a:rPr lang="ko-KR" altLang="en-US" dirty="0" smtClean="0"/>
              <a:t>을 연결을</a:t>
            </a:r>
            <a:r>
              <a:rPr lang="en-US" altLang="ko-KR" dirty="0" smtClean="0"/>
              <a:t> </a:t>
            </a:r>
            <a:r>
              <a:rPr lang="ko-KR" altLang="en-US" dirty="0" smtClean="0"/>
              <a:t>하게 되면 </a:t>
            </a:r>
            <a:r>
              <a:rPr lang="en-US" altLang="ko-KR" dirty="0" smtClean="0"/>
              <a:t>ACK </a:t>
            </a:r>
            <a:r>
              <a:rPr lang="ko-KR" altLang="en-US" dirty="0" smtClean="0"/>
              <a:t>응답을 하지 못 하게 되므로 </a:t>
            </a:r>
            <a:r>
              <a:rPr lang="en-US" altLang="ko-KR" dirty="0" smtClean="0"/>
              <a:t>ETB </a:t>
            </a:r>
            <a:r>
              <a:rPr lang="ko-KR" altLang="en-US" dirty="0" smtClean="0"/>
              <a:t>시험 </a:t>
            </a:r>
            <a:r>
              <a:rPr lang="ko-KR" altLang="en-US" dirty="0" smtClean="0"/>
              <a:t>시 </a:t>
            </a:r>
            <a:r>
              <a:rPr lang="en-US" altLang="ko-KR" dirty="0" smtClean="0"/>
              <a:t>GRMON</a:t>
            </a:r>
            <a:r>
              <a:rPr lang="ko-KR" altLang="en-US" dirty="0" smtClean="0"/>
              <a:t>을 </a:t>
            </a:r>
            <a:r>
              <a:rPr lang="ko-KR" altLang="en-US" dirty="0" smtClean="0"/>
              <a:t>연결하지 않을</a:t>
            </a:r>
            <a:r>
              <a:rPr lang="en-US" altLang="ko-KR" dirty="0" smtClean="0"/>
              <a:t> </a:t>
            </a:r>
            <a:r>
              <a:rPr lang="ko-KR" altLang="en-US" dirty="0" smtClean="0"/>
              <a:t>예정임</a:t>
            </a:r>
            <a:r>
              <a:rPr lang="en-US" altLang="ko-KR" dirty="0" smtClean="0"/>
              <a:t>. 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r>
              <a:rPr lang="en-US" altLang="ko-KR" dirty="0" smtClean="0"/>
              <a:t>SBC Restart </a:t>
            </a:r>
            <a:r>
              <a:rPr lang="ko-KR" altLang="en-US" dirty="0" smtClean="0"/>
              <a:t>명령을 수행 시에는 어떠한 </a:t>
            </a:r>
            <a:r>
              <a:rPr lang="en-US" altLang="ko-KR" dirty="0" smtClean="0"/>
              <a:t>Request</a:t>
            </a:r>
            <a:r>
              <a:rPr lang="ko-KR" altLang="en-US" dirty="0" smtClean="0"/>
              <a:t>에도 응답을 하지 않기 때문에 </a:t>
            </a:r>
            <a:r>
              <a:rPr lang="en-US" altLang="ko-KR" dirty="0" smtClean="0"/>
              <a:t>Reset </a:t>
            </a:r>
            <a:r>
              <a:rPr lang="ko-KR" altLang="en-US" dirty="0" smtClean="0"/>
              <a:t>후</a:t>
            </a:r>
            <a:r>
              <a:rPr lang="en-US" altLang="ko-KR" dirty="0" smtClean="0"/>
              <a:t> </a:t>
            </a:r>
            <a:r>
              <a:rPr lang="ko-KR" altLang="en-US" dirty="0" smtClean="0"/>
              <a:t>최소 </a:t>
            </a:r>
            <a:r>
              <a:rPr lang="en-US" altLang="ko-KR" dirty="0" smtClean="0"/>
              <a:t>30</a:t>
            </a:r>
            <a:r>
              <a:rPr lang="ko-KR" altLang="en-US" dirty="0" smtClean="0"/>
              <a:t>초 동안에는 </a:t>
            </a:r>
            <a:r>
              <a:rPr lang="en-US" altLang="ko-KR" dirty="0" smtClean="0"/>
              <a:t>OBT/SOH Request </a:t>
            </a:r>
            <a:r>
              <a:rPr lang="ko-KR" altLang="en-US" dirty="0" smtClean="0"/>
              <a:t>명령을 송출 하지 않아야 됨</a:t>
            </a:r>
            <a:r>
              <a:rPr lang="en-US" altLang="ko-KR" dirty="0" smtClean="0"/>
              <a:t>. 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 smtClean="0"/>
              <a:t>다음 페이지에 시험 시 취득한 </a:t>
            </a:r>
            <a:r>
              <a:rPr lang="en-US" altLang="ko-KR" dirty="0" smtClean="0"/>
              <a:t>Log </a:t>
            </a:r>
            <a:r>
              <a:rPr lang="ko-KR" altLang="en-US" dirty="0" smtClean="0"/>
              <a:t>데이터를 첨부 함</a:t>
            </a:r>
            <a:r>
              <a:rPr lang="en-US" altLang="ko-KR" dirty="0" smtClean="0"/>
              <a:t>. </a:t>
            </a:r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09825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ACK </a:t>
            </a:r>
            <a:r>
              <a:rPr lang="ko-KR" altLang="en-US" dirty="0" smtClean="0"/>
              <a:t>수신 </a:t>
            </a:r>
            <a:r>
              <a:rPr lang="en-US" altLang="ko-KR" dirty="0" smtClean="0"/>
              <a:t>Log </a:t>
            </a:r>
            <a:r>
              <a:rPr lang="ko-KR" altLang="en-US" dirty="0" smtClean="0"/>
              <a:t>분석 결과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GRMON </a:t>
            </a:r>
            <a:r>
              <a:rPr lang="ko-KR" altLang="en-US" dirty="0" smtClean="0"/>
              <a:t>연결 없이 동작을 할 경우 </a:t>
            </a:r>
            <a:r>
              <a:rPr lang="en-US" altLang="ko-KR" dirty="0" smtClean="0"/>
              <a:t>ACK </a:t>
            </a:r>
            <a:r>
              <a:rPr lang="ko-KR" altLang="en-US" dirty="0" smtClean="0"/>
              <a:t>수신의 누락이 발생하지 않음</a:t>
            </a:r>
            <a:r>
              <a:rPr lang="en-US" altLang="ko-KR" dirty="0" smtClean="0"/>
              <a:t>.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41" y="1998967"/>
            <a:ext cx="4187398" cy="376536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7139" y="2183608"/>
            <a:ext cx="4213776" cy="3580720"/>
          </a:xfrm>
          <a:prstGeom prst="rect">
            <a:avLst/>
          </a:prstGeom>
        </p:spPr>
      </p:pic>
      <p:sp>
        <p:nvSpPr>
          <p:cNvPr id="6" name="오른쪽 화살표 5"/>
          <p:cNvSpPr/>
          <p:nvPr/>
        </p:nvSpPr>
        <p:spPr>
          <a:xfrm>
            <a:off x="1275401" y="2800351"/>
            <a:ext cx="173473" cy="770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/>
          <p:cNvCxnSpPr/>
          <p:nvPr/>
        </p:nvCxnSpPr>
        <p:spPr>
          <a:xfrm>
            <a:off x="1610361" y="3108329"/>
            <a:ext cx="13379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1619883" y="3329786"/>
            <a:ext cx="13379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1624640" y="3558388"/>
            <a:ext cx="13379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1629387" y="3775885"/>
            <a:ext cx="13379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1629359" y="3999716"/>
            <a:ext cx="13379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1629359" y="4223552"/>
            <a:ext cx="13379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1615064" y="4447387"/>
            <a:ext cx="13379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1619043" y="4675987"/>
            <a:ext cx="13379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1610361" y="4898237"/>
            <a:ext cx="13379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1610361" y="5123662"/>
            <a:ext cx="13379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1610361" y="5345912"/>
            <a:ext cx="13379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1610361" y="5564987"/>
            <a:ext cx="13379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2973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Script2 </a:t>
            </a:r>
            <a:r>
              <a:rPr lang="ko-KR" altLang="en-US" dirty="0" smtClean="0"/>
              <a:t>에</a:t>
            </a:r>
            <a:r>
              <a:rPr lang="en-US" altLang="ko-KR" dirty="0"/>
              <a:t> </a:t>
            </a:r>
            <a:r>
              <a:rPr lang="ko-KR" altLang="en-US" dirty="0" smtClean="0"/>
              <a:t>대한 </a:t>
            </a:r>
            <a:r>
              <a:rPr lang="en-US" altLang="ko-KR" dirty="0" smtClean="0"/>
              <a:t>ACK </a:t>
            </a:r>
            <a:r>
              <a:rPr lang="ko-KR" altLang="en-US" dirty="0" smtClean="0"/>
              <a:t>수신 확인 </a:t>
            </a:r>
            <a:r>
              <a:rPr lang="en-US" altLang="ko-KR" dirty="0" smtClean="0"/>
              <a:t>Log</a:t>
            </a:r>
            <a:endParaRPr lang="ko-KR" altLang="en-US" dirty="0"/>
          </a:p>
        </p:txBody>
      </p:sp>
      <p:pic>
        <p:nvPicPr>
          <p:cNvPr id="27" name="내용 개체 틀 2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4679" y="1469708"/>
            <a:ext cx="8179117" cy="4438943"/>
          </a:xfrm>
          <a:prstGeom prst="rect">
            <a:avLst/>
          </a:prstGeom>
        </p:spPr>
      </p:pic>
      <p:graphicFrame>
        <p:nvGraphicFramePr>
          <p:cNvPr id="28" name="개체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8226890"/>
              </p:ext>
            </p:extLst>
          </p:nvPr>
        </p:nvGraphicFramePr>
        <p:xfrm>
          <a:off x="178868" y="5908651"/>
          <a:ext cx="782638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포장기 셸 개체" showAsIcon="1" r:id="rId4" imgW="783000" imgH="486000" progId="Package">
                  <p:embed/>
                </p:oleObj>
              </mc:Choice>
              <mc:Fallback>
                <p:oleObj name="포장기 셸 개체" showAsIcon="1" r:id="rId4" imgW="783000" imgH="486000" progId="Package">
                  <p:embed/>
                  <p:pic>
                    <p:nvPicPr>
                      <p:cNvPr id="5" name="개체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8868" y="5908651"/>
                        <a:ext cx="782638" cy="485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그룹 30"/>
          <p:cNvGrpSpPr/>
          <p:nvPr/>
        </p:nvGrpSpPr>
        <p:grpSpPr>
          <a:xfrm>
            <a:off x="3229610" y="1711401"/>
            <a:ext cx="855156" cy="246221"/>
            <a:chOff x="3229610" y="1711401"/>
            <a:chExt cx="855156" cy="246221"/>
          </a:xfrm>
        </p:grpSpPr>
        <p:sp>
          <p:nvSpPr>
            <p:cNvPr id="29" name="오른쪽 화살표 28"/>
            <p:cNvSpPr/>
            <p:nvPr/>
          </p:nvSpPr>
          <p:spPr>
            <a:xfrm rot="10800000">
              <a:off x="3229610" y="1805940"/>
              <a:ext cx="351790" cy="7304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517105" y="1711401"/>
              <a:ext cx="5676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smtClean="0"/>
                <a:t>ACK</a:t>
              </a:r>
              <a:endParaRPr lang="ko-KR" altLang="en-US" sz="1000" dirty="0"/>
            </a:p>
          </p:txBody>
        </p:sp>
      </p:grpSp>
      <p:grpSp>
        <p:nvGrpSpPr>
          <p:cNvPr id="32" name="그룹 31"/>
          <p:cNvGrpSpPr/>
          <p:nvPr/>
        </p:nvGrpSpPr>
        <p:grpSpPr>
          <a:xfrm>
            <a:off x="3224847" y="2016201"/>
            <a:ext cx="855156" cy="246221"/>
            <a:chOff x="3229610" y="1711401"/>
            <a:chExt cx="855156" cy="246221"/>
          </a:xfrm>
        </p:grpSpPr>
        <p:sp>
          <p:nvSpPr>
            <p:cNvPr id="33" name="오른쪽 화살표 32"/>
            <p:cNvSpPr/>
            <p:nvPr/>
          </p:nvSpPr>
          <p:spPr>
            <a:xfrm rot="10800000">
              <a:off x="3229610" y="1805940"/>
              <a:ext cx="351790" cy="7304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517105" y="1711401"/>
              <a:ext cx="5676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smtClean="0"/>
                <a:t>ACK</a:t>
              </a:r>
              <a:endParaRPr lang="ko-KR" altLang="en-US" sz="1000" dirty="0"/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3224847" y="2761293"/>
            <a:ext cx="855156" cy="246221"/>
            <a:chOff x="3229610" y="1711401"/>
            <a:chExt cx="855156" cy="246221"/>
          </a:xfrm>
        </p:grpSpPr>
        <p:sp>
          <p:nvSpPr>
            <p:cNvPr id="36" name="오른쪽 화살표 35"/>
            <p:cNvSpPr/>
            <p:nvPr/>
          </p:nvSpPr>
          <p:spPr>
            <a:xfrm rot="10800000">
              <a:off x="3229610" y="1805940"/>
              <a:ext cx="351790" cy="7304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17105" y="1711401"/>
              <a:ext cx="5676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smtClean="0"/>
                <a:t>ACK</a:t>
              </a:r>
              <a:endParaRPr lang="ko-KR" altLang="en-US" sz="1000" dirty="0"/>
            </a:p>
          </p:txBody>
        </p:sp>
      </p:grpSp>
      <p:grpSp>
        <p:nvGrpSpPr>
          <p:cNvPr id="38" name="그룹 37"/>
          <p:cNvGrpSpPr/>
          <p:nvPr/>
        </p:nvGrpSpPr>
        <p:grpSpPr>
          <a:xfrm>
            <a:off x="3224847" y="3495194"/>
            <a:ext cx="855156" cy="246221"/>
            <a:chOff x="3229610" y="1711401"/>
            <a:chExt cx="855156" cy="246221"/>
          </a:xfrm>
        </p:grpSpPr>
        <p:sp>
          <p:nvSpPr>
            <p:cNvPr id="39" name="오른쪽 화살표 38"/>
            <p:cNvSpPr/>
            <p:nvPr/>
          </p:nvSpPr>
          <p:spPr>
            <a:xfrm rot="10800000">
              <a:off x="3229610" y="1805940"/>
              <a:ext cx="351790" cy="7304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517105" y="1711401"/>
              <a:ext cx="5676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smtClean="0"/>
                <a:t>ACK</a:t>
              </a:r>
              <a:endParaRPr lang="ko-KR" altLang="en-US" sz="1000" dirty="0"/>
            </a:p>
          </p:txBody>
        </p:sp>
      </p:grpSp>
      <p:grpSp>
        <p:nvGrpSpPr>
          <p:cNvPr id="41" name="그룹 40"/>
          <p:cNvGrpSpPr/>
          <p:nvPr/>
        </p:nvGrpSpPr>
        <p:grpSpPr>
          <a:xfrm>
            <a:off x="3224846" y="4251180"/>
            <a:ext cx="855156" cy="246221"/>
            <a:chOff x="3229610" y="1711401"/>
            <a:chExt cx="855156" cy="246221"/>
          </a:xfrm>
        </p:grpSpPr>
        <p:sp>
          <p:nvSpPr>
            <p:cNvPr id="42" name="오른쪽 화살표 41"/>
            <p:cNvSpPr/>
            <p:nvPr/>
          </p:nvSpPr>
          <p:spPr>
            <a:xfrm rot="10800000">
              <a:off x="3229610" y="1805940"/>
              <a:ext cx="351790" cy="7304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517105" y="1711401"/>
              <a:ext cx="5676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smtClean="0"/>
                <a:t>ACK</a:t>
              </a:r>
              <a:endParaRPr lang="ko-KR" altLang="en-US" sz="1000" dirty="0"/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3224846" y="4559759"/>
            <a:ext cx="855156" cy="246221"/>
            <a:chOff x="3229610" y="1711401"/>
            <a:chExt cx="855156" cy="246221"/>
          </a:xfrm>
        </p:grpSpPr>
        <p:sp>
          <p:nvSpPr>
            <p:cNvPr id="45" name="오른쪽 화살표 44"/>
            <p:cNvSpPr/>
            <p:nvPr/>
          </p:nvSpPr>
          <p:spPr>
            <a:xfrm rot="10800000">
              <a:off x="3229610" y="1805940"/>
              <a:ext cx="351790" cy="7304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517105" y="1711401"/>
              <a:ext cx="5676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smtClean="0"/>
                <a:t>ACK</a:t>
              </a:r>
              <a:endParaRPr lang="ko-KR" altLang="en-US" sz="1000" dirty="0"/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3224845" y="5301079"/>
            <a:ext cx="855156" cy="246221"/>
            <a:chOff x="3229610" y="1711401"/>
            <a:chExt cx="855156" cy="246221"/>
          </a:xfrm>
        </p:grpSpPr>
        <p:sp>
          <p:nvSpPr>
            <p:cNvPr id="48" name="오른쪽 화살표 47"/>
            <p:cNvSpPr/>
            <p:nvPr/>
          </p:nvSpPr>
          <p:spPr>
            <a:xfrm rot="10800000">
              <a:off x="3229610" y="1805940"/>
              <a:ext cx="351790" cy="7304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517105" y="1711401"/>
              <a:ext cx="5676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 smtClean="0"/>
                <a:t>ACK</a:t>
              </a:r>
              <a:endParaRPr lang="ko-KR" altLang="en-US" sz="1000" dirty="0"/>
            </a:p>
          </p:txBody>
        </p:sp>
      </p:grpSp>
      <p:sp>
        <p:nvSpPr>
          <p:cNvPr id="50" name="직사각형 49"/>
          <p:cNvSpPr/>
          <p:nvPr/>
        </p:nvSpPr>
        <p:spPr>
          <a:xfrm>
            <a:off x="274029" y="982028"/>
            <a:ext cx="42979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ACK </a:t>
            </a:r>
            <a:r>
              <a:rPr lang="ko-KR" altLang="en-US" dirty="0"/>
              <a:t>수신 누락 발생하지 않음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3246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결론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ACK</a:t>
            </a:r>
            <a:r>
              <a:rPr lang="ko-KR" altLang="en-US" dirty="0" smtClean="0"/>
              <a:t>가 간헐적으로 송출하지 못한 원인은 다음과 같음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lvl="1"/>
            <a:r>
              <a:rPr lang="en-US" altLang="ko-KR" dirty="0" smtClean="0"/>
              <a:t>JTAG 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DTNPL</a:t>
            </a:r>
            <a:r>
              <a:rPr lang="ko-KR" altLang="en-US" dirty="0" smtClean="0"/>
              <a:t>에 연결하고 </a:t>
            </a:r>
            <a:r>
              <a:rPr lang="en-US" altLang="ko-KR" dirty="0" smtClean="0"/>
              <a:t>GRMON</a:t>
            </a:r>
            <a:r>
              <a:rPr lang="ko-KR" altLang="en-US" dirty="0" smtClean="0"/>
              <a:t>을 실행하는 경우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DTNPL Reset </a:t>
            </a:r>
            <a:r>
              <a:rPr lang="ko-KR" altLang="en-US" dirty="0" smtClean="0"/>
              <a:t>후</a:t>
            </a:r>
            <a:r>
              <a:rPr lang="en-US" altLang="ko-KR" dirty="0" smtClean="0"/>
              <a:t> 30</a:t>
            </a:r>
            <a:r>
              <a:rPr lang="ko-KR" altLang="en-US" dirty="0" smtClean="0"/>
              <a:t>초간 </a:t>
            </a:r>
            <a:r>
              <a:rPr lang="en-US" altLang="ko-KR" dirty="0" smtClean="0"/>
              <a:t>ACK </a:t>
            </a:r>
            <a:r>
              <a:rPr lang="ko-KR" altLang="en-US" dirty="0" smtClean="0"/>
              <a:t>송출 안 함</a:t>
            </a:r>
            <a:r>
              <a:rPr lang="en-US" altLang="ko-KR" dirty="0" smtClean="0"/>
              <a:t>. </a:t>
            </a:r>
          </a:p>
          <a:p>
            <a:pPr lvl="1"/>
            <a:endParaRPr lang="en-US" altLang="ko-KR" dirty="0" smtClean="0"/>
          </a:p>
          <a:p>
            <a:r>
              <a:rPr lang="ko-KR" altLang="en-US" dirty="0" smtClean="0"/>
              <a:t>조치 사항</a:t>
            </a:r>
            <a:endParaRPr lang="en-US" altLang="ko-KR" dirty="0"/>
          </a:p>
          <a:p>
            <a:pPr lvl="1"/>
            <a:r>
              <a:rPr lang="en-US" altLang="ko-KR" dirty="0" smtClean="0"/>
              <a:t>DTNPL</a:t>
            </a:r>
            <a:r>
              <a:rPr lang="ko-KR" altLang="en-US" dirty="0" smtClean="0"/>
              <a:t>에</a:t>
            </a:r>
            <a:r>
              <a:rPr lang="en-US" altLang="ko-KR" dirty="0" smtClean="0"/>
              <a:t> JTAG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GRMON</a:t>
            </a:r>
            <a:r>
              <a:rPr lang="ko-KR" altLang="en-US" dirty="0" smtClean="0"/>
              <a:t>을 연결하지 않고 운용할 예정임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 smtClean="0"/>
              <a:t>DTNPL Reset</a:t>
            </a:r>
            <a:r>
              <a:rPr lang="ko-KR" altLang="en-US" dirty="0" smtClean="0"/>
              <a:t> 후 </a:t>
            </a:r>
            <a:r>
              <a:rPr lang="en-US" altLang="ko-KR" dirty="0" smtClean="0"/>
              <a:t>30</a:t>
            </a:r>
            <a:r>
              <a:rPr lang="ko-KR" altLang="en-US" dirty="0" smtClean="0"/>
              <a:t>초간 </a:t>
            </a:r>
            <a:r>
              <a:rPr lang="en-US" altLang="ko-KR" dirty="0" smtClean="0"/>
              <a:t>sleep time </a:t>
            </a:r>
            <a:r>
              <a:rPr lang="ko-KR" altLang="en-US" dirty="0" smtClean="0"/>
              <a:t>적용 예정</a:t>
            </a:r>
            <a:r>
              <a:rPr lang="en-US" altLang="ko-KR" dirty="0" smtClean="0"/>
              <a:t>. </a:t>
            </a:r>
          </a:p>
          <a:p>
            <a:pPr lvl="1"/>
            <a:endParaRPr lang="en-US" altLang="ko-KR" dirty="0" smtClean="0"/>
          </a:p>
          <a:p>
            <a:r>
              <a:rPr lang="ko-KR" altLang="en-US" dirty="0" smtClean="0"/>
              <a:t>결론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TRS28</a:t>
            </a:r>
            <a:r>
              <a:rPr lang="ko-KR" altLang="en-US" dirty="0" smtClean="0"/>
              <a:t>은 해결된 것으로 보이므로 종결을 요청 함</a:t>
            </a:r>
            <a:r>
              <a:rPr lang="en-US" altLang="ko-KR" smtClean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7359720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Arial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42547</TotalTime>
  <Words>492</Words>
  <Application>Microsoft Office PowerPoint</Application>
  <PresentationFormat>화면 슬라이드 쇼(4:3)</PresentationFormat>
  <Paragraphs>94</Paragraphs>
  <Slides>6</Slides>
  <Notes>3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6" baseType="lpstr">
      <vt:lpstr>굴림</vt:lpstr>
      <vt:lpstr>맑은 고딕</vt:lpstr>
      <vt:lpstr>바탕체</vt:lpstr>
      <vt:lpstr>Arial</vt:lpstr>
      <vt:lpstr>Arial Black</vt:lpstr>
      <vt:lpstr>Consolas</vt:lpstr>
      <vt:lpstr>Times New Roman</vt:lpstr>
      <vt:lpstr>Wingdings</vt:lpstr>
      <vt:lpstr>기본 디자인</vt:lpstr>
      <vt:lpstr>포장기 셸 개체</vt:lpstr>
      <vt:lpstr>TRS 28 원인 분석   ’20.08.31 Lumir</vt:lpstr>
      <vt:lpstr>TRS-28 시험 결과 원인 분석 및 그 결과</vt:lpstr>
      <vt:lpstr>TRS-28 시험 결과 원인 분석 및 그 결과</vt:lpstr>
      <vt:lpstr>ACK 수신 Log 분석 결과</vt:lpstr>
      <vt:lpstr>Script2 에 대한 ACK 수신 확인 Log</vt:lpstr>
      <vt:lpstr>결론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한동인</dc:creator>
  <cp:lastModifiedBy>Choi SangRim</cp:lastModifiedBy>
  <cp:revision>1699</cp:revision>
  <cp:lastPrinted>2020-07-30T04:06:34Z</cp:lastPrinted>
  <dcterms:created xsi:type="dcterms:W3CDTF">1601-01-01T00:00:00Z</dcterms:created>
  <dcterms:modified xsi:type="dcterms:W3CDTF">2020-09-02T06:26:59Z</dcterms:modified>
</cp:coreProperties>
</file>