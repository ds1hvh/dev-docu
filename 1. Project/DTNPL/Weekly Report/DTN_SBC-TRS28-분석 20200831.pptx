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423" r:id="rId2"/>
    <p:sldId id="813" r:id="rId3"/>
    <p:sldId id="815" r:id="rId4"/>
    <p:sldId id="816" r:id="rId5"/>
    <p:sldId id="817" r:id="rId6"/>
  </p:sldIdLst>
  <p:sldSz cx="9144000" cy="6858000" type="screen4x3"/>
  <p:notesSz cx="7104063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14004" initials="O" lastIdx="1" clrIdx="0">
    <p:extLst>
      <p:ext uri="{19B8F6BF-5375-455C-9EA6-DF929625EA0E}">
        <p15:presenceInfo xmlns:p15="http://schemas.microsoft.com/office/powerpoint/2012/main" userId="O14004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CC66"/>
    <a:srgbClr val="FFCCFF"/>
    <a:srgbClr val="6AA8C1"/>
    <a:srgbClr val="FFCCCC"/>
    <a:srgbClr val="F2F2F2"/>
    <a:srgbClr val="EFFFB3"/>
    <a:srgbClr val="F7FEB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6370" autoAdjust="0"/>
  </p:normalViewPr>
  <p:slideViewPr>
    <p:cSldViewPr snapToGrid="0">
      <p:cViewPr>
        <p:scale>
          <a:sx n="125" d="100"/>
          <a:sy n="125" d="100"/>
        </p:scale>
        <p:origin x="1638" y="-114"/>
      </p:cViewPr>
      <p:guideLst>
        <p:guide orient="horz" pos="2160"/>
        <p:guide pos="4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8" d="100"/>
          <a:sy n="78" d="100"/>
        </p:scale>
        <p:origin x="2610" y="6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320" y="4861156"/>
            <a:ext cx="5209425" cy="4605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CEF302-C0C4-41F5-9E57-DF55FCB3FB84}" type="slidenum">
              <a:rPr lang="ko-KR" altLang="en-US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5593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186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61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2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8" name="Line 2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lIns="91440" tIns="45720" rIns="91440" bIns="45720"/>
          <a:lstStyle>
            <a:lvl1pPr>
              <a:defRPr sz="3000"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lIns="91440" tIns="45720" rIns="91440" bIns="45720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graphicFrame>
        <p:nvGraphicFramePr>
          <p:cNvPr id="13" name="Group 4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0214106"/>
              </p:ext>
            </p:extLst>
          </p:nvPr>
        </p:nvGraphicFramePr>
        <p:xfrm>
          <a:off x="106128" y="354284"/>
          <a:ext cx="8926360" cy="937827"/>
        </p:xfrm>
        <a:graphic>
          <a:graphicData uri="http://schemas.openxmlformats.org/drawingml/2006/table">
            <a:tbl>
              <a:tblPr/>
              <a:tblGrid>
                <a:gridCol w="981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8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7827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Rectangle 46"/>
          <p:cNvSpPr>
            <a:spLocks noChangeArrowheads="1"/>
          </p:cNvSpPr>
          <p:nvPr userDrawn="1"/>
        </p:nvSpPr>
        <p:spPr bwMode="auto">
          <a:xfrm>
            <a:off x="84343" y="87726"/>
            <a:ext cx="8948145" cy="27482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lIns="108032" tIns="54016" rIns="108032" bIns="54016" anchor="ctr"/>
          <a:lstStyle>
            <a:lvl1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1pPr>
            <a:lvl2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2pPr>
            <a:lvl3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3pPr>
            <a:lvl4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4pPr>
            <a:lvl5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9pPr>
          </a:lstStyle>
          <a:p>
            <a:pPr algn="l" eaLnBrk="1" latinLnBrk="1" hangingPunct="1">
              <a:defRPr/>
            </a:pPr>
            <a:r>
              <a:rPr lang="en-US" altLang="ko-KR" sz="16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Korea </a:t>
            </a:r>
            <a:r>
              <a:rPr lang="en-US" altLang="ko-KR" sz="1600" b="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Lunar Exploration Program - KPLO</a:t>
            </a:r>
            <a:endParaRPr lang="en-US" altLang="ko-KR" sz="16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15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9181" y="396346"/>
            <a:ext cx="862787" cy="864024"/>
          </a:xfrm>
          <a:prstGeom prst="rect">
            <a:avLst/>
          </a:prstGeom>
        </p:spPr>
      </p:pic>
      <p:pic>
        <p:nvPicPr>
          <p:cNvPr id="17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701" y="556035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9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131763"/>
            <a:ext cx="670560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75247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</a:endParaRPr>
          </a:p>
        </p:txBody>
      </p:sp>
      <p:sp>
        <p:nvSpPr>
          <p:cNvPr id="12" name="직사각형 11"/>
          <p:cNvSpPr/>
          <p:nvPr userDrawn="1"/>
        </p:nvSpPr>
        <p:spPr>
          <a:xfrm>
            <a:off x="2239622" y="6514041"/>
            <a:ext cx="465364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Confidential,</a:t>
            </a:r>
            <a:r>
              <a:rPr lang="en-US" altLang="ko-KR" sz="1200" b="0" baseline="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Distribution Limited</a:t>
            </a:r>
            <a:endParaRPr lang="ko-KR" altLang="en-US" sz="12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94487" y="-23213"/>
            <a:ext cx="862787" cy="864024"/>
          </a:xfrm>
          <a:prstGeom prst="rect">
            <a:avLst/>
          </a:prstGeom>
        </p:spPr>
      </p:pic>
      <p:pic>
        <p:nvPicPr>
          <p:cNvPr id="13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945" y="244061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7.w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886075"/>
            <a:ext cx="7772400" cy="2460476"/>
          </a:xfrm>
        </p:spPr>
        <p:txBody>
          <a:bodyPr/>
          <a:lstStyle/>
          <a:p>
            <a:r>
              <a:rPr lang="en-US" altLang="ko-KR" sz="3600" dirty="0" smtClean="0"/>
              <a:t>TRS 28 </a:t>
            </a:r>
            <a:r>
              <a:rPr lang="ko-KR" altLang="en-US" sz="3600" dirty="0" smtClean="0"/>
              <a:t>원인 분석</a:t>
            </a: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2400" b="0" dirty="0" smtClean="0"/>
              <a:t>’20.08.31</a:t>
            </a:r>
            <a:r>
              <a:rPr lang="en-US" altLang="ko-KR" sz="2400" b="0" dirty="0"/>
              <a:t/>
            </a:r>
            <a:br>
              <a:rPr lang="en-US" altLang="ko-KR" sz="2400" b="0" dirty="0"/>
            </a:br>
            <a:r>
              <a:rPr lang="en-US" altLang="ko-KR" sz="2400" b="0" dirty="0" err="1"/>
              <a:t>Lumir</a:t>
            </a:r>
            <a:endParaRPr lang="ko-KR" altLang="en-US" sz="2400" b="0" dirty="0"/>
          </a:p>
        </p:txBody>
      </p:sp>
      <p:sp>
        <p:nvSpPr>
          <p:cNvPr id="4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DTNPL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7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TRS-28 </a:t>
            </a:r>
            <a:r>
              <a:rPr lang="ko-KR" altLang="en-US" dirty="0" smtClean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7"/>
            <a:ext cx="8666798" cy="5191424"/>
          </a:xfrm>
        </p:spPr>
        <p:txBody>
          <a:bodyPr/>
          <a:lstStyle/>
          <a:p>
            <a:r>
              <a:rPr lang="en-US" altLang="ko-KR" dirty="0" smtClean="0"/>
              <a:t>TRS-028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현상 </a:t>
            </a:r>
            <a:r>
              <a:rPr lang="en-US" altLang="ko-KR" dirty="0"/>
              <a:t>(SBC FW </a:t>
            </a:r>
            <a:r>
              <a:rPr lang="en-US" altLang="ko-KR" dirty="0" smtClean="0"/>
              <a:t>Ver1.1.0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smtClean="0"/>
              <a:t>일부 명령에 대해서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확인이 되지 않는 문제점 발생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원인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- </a:t>
            </a:r>
            <a:r>
              <a:rPr lang="en-US" altLang="ko-KR" dirty="0" smtClean="0"/>
              <a:t>DTN</a:t>
            </a:r>
            <a:r>
              <a:rPr lang="ko-KR" altLang="en-US" dirty="0" smtClean="0"/>
              <a:t>의 동작을 </a:t>
            </a:r>
            <a:r>
              <a:rPr lang="en-US" altLang="ko-KR" dirty="0" smtClean="0"/>
              <a:t>Monitoring</a:t>
            </a:r>
            <a:r>
              <a:rPr lang="ko-KR" altLang="en-US" dirty="0" smtClean="0"/>
              <a:t>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하기 위해서 </a:t>
            </a:r>
            <a:r>
              <a:rPr lang="en-US" altLang="ko-KR" dirty="0" smtClean="0"/>
              <a:t>DTN – SBC 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JTAG</a:t>
            </a:r>
            <a:r>
              <a:rPr lang="ko-KR" altLang="en-US" dirty="0" smtClean="0"/>
              <a:t>을 연결하여 그 상태를 </a:t>
            </a:r>
            <a:r>
              <a:rPr lang="en-US" altLang="ko-KR" dirty="0" smtClean="0"/>
              <a:t>Monitoring</a:t>
            </a:r>
            <a:r>
              <a:rPr lang="ko-KR" altLang="en-US" dirty="0" smtClean="0"/>
              <a:t>을 진행함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- Script 1 </a:t>
            </a:r>
            <a:r>
              <a:rPr lang="ko-KR" altLang="en-US" dirty="0" smtClean="0"/>
              <a:t>명령 </a:t>
            </a:r>
            <a:r>
              <a:rPr lang="ko-KR" altLang="en-US" dirty="0" err="1" smtClean="0"/>
              <a:t>수행시</a:t>
            </a:r>
            <a:r>
              <a:rPr lang="ko-KR" altLang="en-US" dirty="0" smtClean="0"/>
              <a:t> </a:t>
            </a:r>
            <a:r>
              <a:rPr lang="en-US" altLang="ko-KR" dirty="0" smtClean="0"/>
              <a:t>SBC </a:t>
            </a:r>
            <a:r>
              <a:rPr lang="ko-KR" altLang="en-US" dirty="0" smtClean="0"/>
              <a:t>가 </a:t>
            </a:r>
            <a:r>
              <a:rPr lang="en-US" altLang="ko-KR" dirty="0" smtClean="0"/>
              <a:t>Reset</a:t>
            </a:r>
            <a:r>
              <a:rPr lang="ko-KR" altLang="en-US" dirty="0" smtClean="0"/>
              <a:t> 후 </a:t>
            </a:r>
            <a:r>
              <a:rPr lang="en-US" altLang="ko-KR" dirty="0" smtClean="0"/>
              <a:t>Booting </a:t>
            </a:r>
            <a:r>
              <a:rPr lang="ko-KR" altLang="en-US" dirty="0" smtClean="0"/>
              <a:t>까지 </a:t>
            </a:r>
            <a:r>
              <a:rPr lang="ko-KR" altLang="en-US" dirty="0"/>
              <a:t>약</a:t>
            </a:r>
            <a:r>
              <a:rPr lang="en-US" altLang="ko-KR" dirty="0" smtClean="0"/>
              <a:t> 30</a:t>
            </a:r>
            <a:r>
              <a:rPr lang="ko-KR" altLang="en-US" dirty="0" smtClean="0"/>
              <a:t>초의 시간이 소요되는데</a:t>
            </a:r>
            <a:r>
              <a:rPr lang="en-US" altLang="ko-KR" dirty="0" smtClean="0"/>
              <a:t>, Booting </a:t>
            </a:r>
            <a:r>
              <a:rPr lang="ko-KR" altLang="en-US" dirty="0" smtClean="0"/>
              <a:t>하는 중간에 </a:t>
            </a:r>
            <a:r>
              <a:rPr lang="en-US" altLang="ko-KR" dirty="0" smtClean="0"/>
              <a:t>OBT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SOH Request</a:t>
            </a:r>
            <a:r>
              <a:rPr lang="ko-KR" altLang="en-US" dirty="0" smtClean="0"/>
              <a:t> 명령을 받게 되면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신호를 </a:t>
            </a:r>
            <a:r>
              <a:rPr lang="en-US" altLang="ko-KR" dirty="0" smtClean="0"/>
              <a:t>SBC </a:t>
            </a:r>
            <a:r>
              <a:rPr lang="ko-KR" altLang="en-US" dirty="0" smtClean="0"/>
              <a:t>가 보낼 수 없는 상태가 발생함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r>
              <a:rPr lang="en-US" altLang="ko-KR" dirty="0" smtClean="0"/>
              <a:t>- Rebooting </a:t>
            </a:r>
            <a:r>
              <a:rPr lang="ko-KR" altLang="en-US" dirty="0" smtClean="0"/>
              <a:t>후</a:t>
            </a:r>
            <a:r>
              <a:rPr lang="en-US" altLang="ko-KR" dirty="0" smtClean="0"/>
              <a:t> </a:t>
            </a:r>
            <a:r>
              <a:rPr lang="ko-KR" altLang="en-US" dirty="0" smtClean="0"/>
              <a:t>상태 </a:t>
            </a:r>
            <a:r>
              <a:rPr lang="en-US" altLang="ko-KR" dirty="0" smtClean="0"/>
              <a:t>Monitoring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연결하게 되면 </a:t>
            </a:r>
            <a:r>
              <a:rPr lang="en-US" altLang="ko-KR" dirty="0" smtClean="0"/>
              <a:t>GRMON </a:t>
            </a:r>
            <a:r>
              <a:rPr lang="ko-KR" altLang="en-US" dirty="0" smtClean="0"/>
              <a:t>연결 하는 동안 </a:t>
            </a:r>
            <a:r>
              <a:rPr lang="en-US" altLang="ko-KR" dirty="0" smtClean="0"/>
              <a:t>CPU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Halt </a:t>
            </a:r>
            <a:r>
              <a:rPr lang="ko-KR" altLang="en-US" dirty="0" smtClean="0"/>
              <a:t>상태에 있게 됨</a:t>
            </a:r>
            <a:r>
              <a:rPr lang="en-US" altLang="ko-KR" dirty="0" smtClean="0"/>
              <a:t>. </a:t>
            </a:r>
            <a:r>
              <a:rPr lang="ko-KR" altLang="en-US" dirty="0" smtClean="0"/>
              <a:t>이 때 </a:t>
            </a:r>
            <a:r>
              <a:rPr lang="en-US" altLang="ko-KR" dirty="0" smtClean="0"/>
              <a:t>OBT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SOH Request</a:t>
            </a:r>
            <a:r>
              <a:rPr lang="ko-KR" altLang="en-US" dirty="0" smtClean="0"/>
              <a:t> 명령을 수신하게 되면</a:t>
            </a:r>
            <a:r>
              <a:rPr lang="en-US" altLang="ko-KR" dirty="0" smtClean="0"/>
              <a:t>, </a:t>
            </a:r>
            <a:r>
              <a:rPr lang="ko-KR" altLang="en-US" dirty="0" smtClean="0"/>
              <a:t>그에 대한 응답을 할 수 없는 상태가 됨</a:t>
            </a:r>
            <a:r>
              <a:rPr lang="en-US" altLang="ko-KR" dirty="0" smtClean="0"/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90" y="1434732"/>
            <a:ext cx="8607780" cy="3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562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TRS-28 </a:t>
            </a:r>
            <a:r>
              <a:rPr lang="ko-KR" altLang="en-US" dirty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7"/>
            <a:ext cx="8659178" cy="5191424"/>
          </a:xfrm>
        </p:spPr>
        <p:txBody>
          <a:bodyPr/>
          <a:lstStyle/>
          <a:p>
            <a:r>
              <a:rPr lang="ko-KR" altLang="en-US" dirty="0"/>
              <a:t>조치결과</a:t>
            </a:r>
            <a:endParaRPr lang="en-US" altLang="ko-KR" dirty="0"/>
          </a:p>
          <a:p>
            <a:pPr lvl="1"/>
            <a:r>
              <a:rPr lang="en-US" altLang="ko-KR" dirty="0" smtClean="0"/>
              <a:t>JTAG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연결하지 않은 상태에서 </a:t>
            </a:r>
            <a:r>
              <a:rPr lang="en-US" altLang="ko-KR" dirty="0" smtClean="0"/>
              <a:t>SBC-EGSE</a:t>
            </a:r>
            <a:r>
              <a:rPr lang="ko-KR" altLang="en-US" dirty="0" smtClean="0"/>
              <a:t>에 기록된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분석한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ACK</a:t>
            </a:r>
            <a:r>
              <a:rPr lang="ko-KR" altLang="en-US" dirty="0" smtClean="0"/>
              <a:t>를 송출 하지 못하는 상태는 발생하지 않음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endParaRPr lang="en-US" altLang="ko-KR" dirty="0" smtClean="0"/>
          </a:p>
          <a:p>
            <a:pPr lvl="1"/>
            <a:r>
              <a:rPr lang="en-US" altLang="ko-KR" dirty="0" smtClean="0"/>
              <a:t>Log </a:t>
            </a:r>
            <a:r>
              <a:rPr lang="ko-KR" altLang="en-US" dirty="0" smtClean="0"/>
              <a:t>분석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OBT / SOH Request </a:t>
            </a:r>
            <a:r>
              <a:rPr lang="ko-KR" altLang="en-US" dirty="0" smtClean="0"/>
              <a:t>시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하게 되면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응답을 하지 못 하게 되므로 시험 시 </a:t>
            </a:r>
            <a:r>
              <a:rPr lang="en-US" altLang="ko-KR" dirty="0" smtClean="0"/>
              <a:t>Monitoring 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연결하여 시험을 하지 않으면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 smtClean="0"/>
              <a:t>SBC Restart </a:t>
            </a:r>
            <a:r>
              <a:rPr lang="ko-KR" altLang="en-US" dirty="0" smtClean="0"/>
              <a:t>명령을 수행 시에는 어떠한 </a:t>
            </a:r>
            <a:r>
              <a:rPr lang="en-US" altLang="ko-KR" dirty="0" smtClean="0"/>
              <a:t>Request</a:t>
            </a:r>
            <a:r>
              <a:rPr lang="ko-KR" altLang="en-US" dirty="0" smtClean="0"/>
              <a:t>에도 응답을 하지 않기 때문에 </a:t>
            </a:r>
            <a:r>
              <a:rPr lang="en-US" altLang="ko-KR" dirty="0" smtClean="0"/>
              <a:t>Reset </a:t>
            </a:r>
            <a:r>
              <a:rPr lang="ko-KR" altLang="en-US" dirty="0" smtClean="0"/>
              <a:t>후</a:t>
            </a:r>
            <a:r>
              <a:rPr lang="en-US" altLang="ko-KR" dirty="0" smtClean="0"/>
              <a:t> </a:t>
            </a:r>
            <a:r>
              <a:rPr lang="ko-KR" altLang="en-US" dirty="0" smtClean="0"/>
              <a:t>최소 </a:t>
            </a:r>
            <a:r>
              <a:rPr lang="en-US" altLang="ko-KR" dirty="0" smtClean="0"/>
              <a:t>30</a:t>
            </a:r>
            <a:r>
              <a:rPr lang="ko-KR" altLang="en-US" dirty="0" smtClean="0"/>
              <a:t>초 구간 동안에는 </a:t>
            </a:r>
            <a:r>
              <a:rPr lang="en-US" altLang="ko-KR" dirty="0" smtClean="0"/>
              <a:t>OBT/SOH Request </a:t>
            </a:r>
            <a:r>
              <a:rPr lang="ko-KR" altLang="en-US" dirty="0" smtClean="0"/>
              <a:t>명령을 송출 하지 않아야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다음 페이지에 시험 시 취득한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데이터를 첨부 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09825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ACK </a:t>
            </a:r>
            <a:r>
              <a:rPr lang="ko-KR" altLang="en-US" dirty="0" smtClean="0"/>
              <a:t>수신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분석 결과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ACK </a:t>
            </a:r>
            <a:r>
              <a:rPr lang="ko-KR" altLang="en-US" dirty="0" smtClean="0"/>
              <a:t>수신 누락 발생하지 않음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41" y="1998967"/>
            <a:ext cx="4187398" cy="37653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139" y="2183608"/>
            <a:ext cx="4213776" cy="3580720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1364301" y="2183608"/>
            <a:ext cx="173473" cy="770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오른쪽 화살표 6"/>
          <p:cNvSpPr/>
          <p:nvPr/>
        </p:nvSpPr>
        <p:spPr>
          <a:xfrm>
            <a:off x="1364300" y="2466183"/>
            <a:ext cx="173473" cy="770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오른쪽 화살표 7"/>
          <p:cNvSpPr/>
          <p:nvPr/>
        </p:nvSpPr>
        <p:spPr>
          <a:xfrm>
            <a:off x="1364299" y="2747172"/>
            <a:ext cx="173473" cy="770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/>
          <p:cNvCxnSpPr/>
          <p:nvPr/>
        </p:nvCxnSpPr>
        <p:spPr>
          <a:xfrm>
            <a:off x="1737361" y="2291559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1746883" y="2555879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1751640" y="2844013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1765911" y="311627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1765883" y="3387739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>
            <a:off x="1765883" y="3659201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97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Script2 </a:t>
            </a:r>
            <a:r>
              <a:rPr lang="ko-KR" altLang="en-US" dirty="0" smtClean="0"/>
              <a:t>에</a:t>
            </a:r>
            <a:r>
              <a:rPr lang="en-US" altLang="ko-KR" dirty="0"/>
              <a:t> </a:t>
            </a:r>
            <a:r>
              <a:rPr lang="ko-KR" altLang="en-US" dirty="0" smtClean="0"/>
              <a:t>대한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수신 확인 </a:t>
            </a:r>
            <a:r>
              <a:rPr lang="en-US" altLang="ko-KR" dirty="0" smtClean="0"/>
              <a:t>Log</a:t>
            </a:r>
            <a:endParaRPr lang="ko-KR" altLang="en-US" dirty="0"/>
          </a:p>
        </p:txBody>
      </p:sp>
      <p:pic>
        <p:nvPicPr>
          <p:cNvPr id="27" name="내용 개체 틀 2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679" y="1469708"/>
            <a:ext cx="8179117" cy="4438943"/>
          </a:xfrm>
          <a:prstGeom prst="rect">
            <a:avLst/>
          </a:prstGeom>
        </p:spPr>
      </p:pic>
      <p:graphicFrame>
        <p:nvGraphicFramePr>
          <p:cNvPr id="28" name="개체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8226890"/>
              </p:ext>
            </p:extLst>
          </p:nvPr>
        </p:nvGraphicFramePr>
        <p:xfrm>
          <a:off x="178868" y="5908651"/>
          <a:ext cx="78263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9" name="포장기 셸 개체" showAsIcon="1" r:id="rId4" imgW="783000" imgH="486000" progId="Package">
                  <p:embed/>
                </p:oleObj>
              </mc:Choice>
              <mc:Fallback>
                <p:oleObj name="포장기 셸 개체" showAsIcon="1" r:id="rId4" imgW="783000" imgH="486000" progId="Package">
                  <p:embed/>
                  <p:pic>
                    <p:nvPicPr>
                      <p:cNvPr id="5" name="개체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8868" y="5908651"/>
                        <a:ext cx="782638" cy="48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그룹 30"/>
          <p:cNvGrpSpPr/>
          <p:nvPr/>
        </p:nvGrpSpPr>
        <p:grpSpPr>
          <a:xfrm>
            <a:off x="3229610" y="1711401"/>
            <a:ext cx="855156" cy="246221"/>
            <a:chOff x="3229610" y="1711401"/>
            <a:chExt cx="855156" cy="246221"/>
          </a:xfrm>
        </p:grpSpPr>
        <p:sp>
          <p:nvSpPr>
            <p:cNvPr id="29" name="오른쪽 화살표 2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3224847" y="2016201"/>
            <a:ext cx="855156" cy="246221"/>
            <a:chOff x="3229610" y="1711401"/>
            <a:chExt cx="855156" cy="246221"/>
          </a:xfrm>
        </p:grpSpPr>
        <p:sp>
          <p:nvSpPr>
            <p:cNvPr id="33" name="오른쪽 화살표 32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224847" y="2761293"/>
            <a:ext cx="855156" cy="246221"/>
            <a:chOff x="3229610" y="1711401"/>
            <a:chExt cx="855156" cy="246221"/>
          </a:xfrm>
        </p:grpSpPr>
        <p:sp>
          <p:nvSpPr>
            <p:cNvPr id="36" name="오른쪽 화살표 35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3224847" y="3495194"/>
            <a:ext cx="855156" cy="246221"/>
            <a:chOff x="3229610" y="1711401"/>
            <a:chExt cx="855156" cy="246221"/>
          </a:xfrm>
        </p:grpSpPr>
        <p:sp>
          <p:nvSpPr>
            <p:cNvPr id="39" name="오른쪽 화살표 3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3224846" y="4251180"/>
            <a:ext cx="855156" cy="246221"/>
            <a:chOff x="3229610" y="1711401"/>
            <a:chExt cx="855156" cy="246221"/>
          </a:xfrm>
        </p:grpSpPr>
        <p:sp>
          <p:nvSpPr>
            <p:cNvPr id="42" name="오른쪽 화살표 41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3224846" y="4559759"/>
            <a:ext cx="855156" cy="246221"/>
            <a:chOff x="3229610" y="1711401"/>
            <a:chExt cx="855156" cy="246221"/>
          </a:xfrm>
        </p:grpSpPr>
        <p:sp>
          <p:nvSpPr>
            <p:cNvPr id="45" name="오른쪽 화살표 44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3224845" y="5301079"/>
            <a:ext cx="855156" cy="246221"/>
            <a:chOff x="3229610" y="1711401"/>
            <a:chExt cx="855156" cy="246221"/>
          </a:xfrm>
        </p:grpSpPr>
        <p:sp>
          <p:nvSpPr>
            <p:cNvPr id="48" name="오른쪽 화살표 47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sp>
        <p:nvSpPr>
          <p:cNvPr id="50" name="직사각형 49"/>
          <p:cNvSpPr/>
          <p:nvPr/>
        </p:nvSpPr>
        <p:spPr>
          <a:xfrm>
            <a:off x="274029" y="982028"/>
            <a:ext cx="42979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ACK </a:t>
            </a:r>
            <a:r>
              <a:rPr lang="ko-KR" altLang="en-US" dirty="0"/>
              <a:t>수신 누락 발생하지 않음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324606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42390</TotalTime>
  <Words>86</Words>
  <Application>Microsoft Office PowerPoint</Application>
  <PresentationFormat>화면 슬라이드 쇼(4:3)</PresentationFormat>
  <Paragraphs>57</Paragraphs>
  <Slides>5</Slides>
  <Notes>3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굴림</vt:lpstr>
      <vt:lpstr>맑은 고딕</vt:lpstr>
      <vt:lpstr>바탕체</vt:lpstr>
      <vt:lpstr>Arial</vt:lpstr>
      <vt:lpstr>Arial Black</vt:lpstr>
      <vt:lpstr>Times New Roman</vt:lpstr>
      <vt:lpstr>Wingdings</vt:lpstr>
      <vt:lpstr>기본 디자인</vt:lpstr>
      <vt:lpstr>포장기 셸 개체</vt:lpstr>
      <vt:lpstr>TRS 28 원인 분석   ’20.08.31 Lumir</vt:lpstr>
      <vt:lpstr>TRS-28 시험 결과 원인 분석 및 그 결과</vt:lpstr>
      <vt:lpstr>TRS-28 시험 결과 원인 분석 및 그 결과</vt:lpstr>
      <vt:lpstr>ACK 수신 Log 분석 결과</vt:lpstr>
      <vt:lpstr>Script2 에 대한 ACK 수신 확인 Log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O18005</cp:lastModifiedBy>
  <cp:revision>1687</cp:revision>
  <cp:lastPrinted>2020-07-30T04:06:34Z</cp:lastPrinted>
  <dcterms:created xsi:type="dcterms:W3CDTF">1601-01-01T00:00:00Z</dcterms:created>
  <dcterms:modified xsi:type="dcterms:W3CDTF">2020-08-31T09:54:54Z</dcterms:modified>
</cp:coreProperties>
</file>