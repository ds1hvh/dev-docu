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423" r:id="rId2"/>
    <p:sldId id="1147" r:id="rId3"/>
    <p:sldId id="1148" r:id="rId4"/>
    <p:sldId id="814" r:id="rId5"/>
    <p:sldId id="813" r:id="rId6"/>
  </p:sldIdLst>
  <p:sldSz cx="9144000" cy="6858000" type="screen4x3"/>
  <p:notesSz cx="7104063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14004" initials="O" lastIdx="1" clrIdx="0">
    <p:extLst>
      <p:ext uri="{19B8F6BF-5375-455C-9EA6-DF929625EA0E}">
        <p15:presenceInfo xmlns:p15="http://schemas.microsoft.com/office/powerpoint/2012/main" userId="O14004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CC66"/>
    <a:srgbClr val="FFCCFF"/>
    <a:srgbClr val="6AA8C1"/>
    <a:srgbClr val="FFCCCC"/>
    <a:srgbClr val="F2F2F2"/>
    <a:srgbClr val="EFFFB3"/>
    <a:srgbClr val="F7FEB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41" autoAdjust="0"/>
    <p:restoredTop sz="96370" autoAdjust="0"/>
  </p:normalViewPr>
  <p:slideViewPr>
    <p:cSldViewPr snapToGrid="0">
      <p:cViewPr varScale="1">
        <p:scale>
          <a:sx n="114" d="100"/>
          <a:sy n="114" d="100"/>
        </p:scale>
        <p:origin x="1968" y="102"/>
      </p:cViewPr>
      <p:guideLst>
        <p:guide orient="horz" pos="2160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2610" y="66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320" y="4861156"/>
            <a:ext cx="5209425" cy="4605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CEF302-C0C4-41F5-9E57-DF55FCB3FB84}" type="slidenum">
              <a:rPr lang="ko-KR" altLang="en-US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559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Line 2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lIns="91440" tIns="45720" rIns="91440" bIns="45720"/>
          <a:lstStyle>
            <a:lvl1pPr>
              <a:defRPr sz="3000"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lIns="91440" tIns="45720" rIns="91440" bIns="45720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graphicFrame>
        <p:nvGraphicFramePr>
          <p:cNvPr id="13" name="Group 4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0214106"/>
              </p:ext>
            </p:extLst>
          </p:nvPr>
        </p:nvGraphicFramePr>
        <p:xfrm>
          <a:off x="106128" y="354284"/>
          <a:ext cx="8926360" cy="937827"/>
        </p:xfrm>
        <a:graphic>
          <a:graphicData uri="http://schemas.openxmlformats.org/drawingml/2006/table">
            <a:tbl>
              <a:tblPr/>
              <a:tblGrid>
                <a:gridCol w="981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82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46"/>
          <p:cNvSpPr>
            <a:spLocks noChangeArrowheads="1"/>
          </p:cNvSpPr>
          <p:nvPr userDrawn="1"/>
        </p:nvSpPr>
        <p:spPr bwMode="auto">
          <a:xfrm>
            <a:off x="84343" y="87726"/>
            <a:ext cx="8948145" cy="27482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lIns="108032" tIns="54016" rIns="108032" bIns="54016" anchor="ctr"/>
          <a:lstStyle>
            <a:lvl1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1pPr>
            <a:lvl2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2pPr>
            <a:lvl3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3pPr>
            <a:lvl4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4pPr>
            <a:lvl5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defRPr/>
            </a:pPr>
            <a:r>
              <a:rPr lang="en-US" altLang="ko-KR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Korea </a:t>
            </a:r>
            <a:r>
              <a:rPr lang="en-US" altLang="ko-KR" sz="1600" b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Lunar Exploration Program - KPLO</a:t>
            </a:r>
            <a:endParaRPr lang="en-US" altLang="ko-KR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5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181" y="396346"/>
            <a:ext cx="862787" cy="864024"/>
          </a:xfrm>
          <a:prstGeom prst="rect">
            <a:avLst/>
          </a:prstGeom>
        </p:spPr>
      </p:pic>
      <p:pic>
        <p:nvPicPr>
          <p:cNvPr id="17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701" y="556035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9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131763"/>
            <a:ext cx="67056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75247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2239622" y="6514041"/>
            <a:ext cx="46536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Confidential,</a:t>
            </a:r>
            <a:r>
              <a:rPr lang="en-US" altLang="ko-KR" sz="1200" b="0" baseline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Distribution Limited</a:t>
            </a:r>
            <a:endParaRPr lang="ko-KR" altLang="en-US" sz="12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94487" y="-23213"/>
            <a:ext cx="862787" cy="864024"/>
          </a:xfrm>
          <a:prstGeom prst="rect">
            <a:avLst/>
          </a:prstGeom>
        </p:spPr>
      </p:pic>
      <p:pic>
        <p:nvPicPr>
          <p:cNvPr id="13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945" y="244061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886075"/>
            <a:ext cx="7772400" cy="2460476"/>
          </a:xfrm>
        </p:spPr>
        <p:txBody>
          <a:bodyPr/>
          <a:lstStyle/>
          <a:p>
            <a:r>
              <a:rPr lang="en-US" altLang="ko-KR" sz="3600" dirty="0"/>
              <a:t>ISSUE</a:t>
            </a:r>
            <a:r>
              <a:rPr lang="ko-KR" altLang="en-US" sz="3600" dirty="0"/>
              <a:t> 사항 정리</a:t>
            </a:r>
            <a:r>
              <a:rPr lang="en-US" altLang="ko-KR" sz="3600" dirty="0"/>
              <a:t> </a:t>
            </a:r>
            <a:r>
              <a:rPr lang="en-US" altLang="ko-KR" sz="3200" b="0" dirty="0"/>
              <a:t>(WPR_2020.09.25)</a:t>
            </a:r>
            <a:br>
              <a:rPr lang="en-US" altLang="ko-KR" sz="3200" dirty="0"/>
            </a:br>
            <a:br>
              <a:rPr lang="en-US" altLang="ko-KR" sz="3600" dirty="0"/>
            </a:br>
            <a:br>
              <a:rPr lang="en-US" altLang="ko-KR" sz="3600" dirty="0"/>
            </a:br>
            <a:br>
              <a:rPr lang="en-US" altLang="ko-KR" sz="3600" dirty="0"/>
            </a:br>
            <a:r>
              <a:rPr lang="en-US" altLang="ko-KR" sz="2400" b="0" dirty="0"/>
              <a:t>’20.09.25</a:t>
            </a:r>
            <a:br>
              <a:rPr lang="en-US" altLang="ko-KR" sz="2400" b="0" dirty="0"/>
            </a:br>
            <a:r>
              <a:rPr lang="en-US" altLang="ko-KR" sz="2400" b="0" dirty="0" err="1"/>
              <a:t>Lumir</a:t>
            </a:r>
            <a:endParaRPr lang="ko-KR" altLang="en-US" sz="2400" b="0" dirty="0"/>
          </a:p>
        </p:txBody>
      </p:sp>
      <p:sp>
        <p:nvSpPr>
          <p:cNvPr id="4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DTNPL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7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3AF4F-09E2-438B-9383-6FA25935D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Version</a:t>
            </a:r>
            <a:r>
              <a:rPr lang="ko-KR" altLang="en-US" dirty="0"/>
              <a:t> 표시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325461-DB1D-408E-851A-11DC02B6C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FPGA Version </a:t>
            </a:r>
            <a:r>
              <a:rPr lang="ko-KR" altLang="en-US" dirty="0"/>
              <a:t>정보 표시</a:t>
            </a:r>
            <a:r>
              <a:rPr lang="en-US" altLang="ko-KR" dirty="0"/>
              <a:t> </a:t>
            </a:r>
            <a:r>
              <a:rPr lang="ko-KR" altLang="en-US" dirty="0"/>
              <a:t>방법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 VERSION_FPGA / 10, VERSION_FPGA % 10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예</a:t>
            </a:r>
            <a:r>
              <a:rPr lang="en-US" altLang="ko-KR" dirty="0">
                <a:sym typeface="Wingdings" panose="05000000000000000000" pitchFamily="2" charset="2"/>
              </a:rPr>
              <a:t>) decimal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15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1.5</a:t>
            </a:r>
          </a:p>
          <a:p>
            <a:r>
              <a:rPr lang="en-US" altLang="ko-KR" dirty="0"/>
              <a:t>SBC F/W Version </a:t>
            </a:r>
            <a:r>
              <a:rPr lang="ko-KR" altLang="en-US" dirty="0"/>
              <a:t>정보 표시</a:t>
            </a:r>
            <a:r>
              <a:rPr lang="en-US" altLang="ko-KR" dirty="0"/>
              <a:t> </a:t>
            </a:r>
            <a:r>
              <a:rPr lang="ko-KR" altLang="en-US" dirty="0"/>
              <a:t>방법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 VERSION_SBC_FW / 10,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   VERSION_SBC_FW % 10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 decimal 10  1.0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ION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SW</a:t>
            </a:r>
            <a:r>
              <a:rPr lang="ko-KR" altLang="en-US" dirty="0">
                <a:sym typeface="Wingdings" panose="05000000000000000000" pitchFamily="2" charset="2"/>
              </a:rPr>
              <a:t> 버전 정보 표시 방법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 VERSION_ION / 100,  </a:t>
            </a:r>
            <a:r>
              <a:rPr lang="ko-KR" altLang="en-US" dirty="0">
                <a:sym typeface="Wingdings" panose="05000000000000000000" pitchFamily="2" charset="2"/>
              </a:rPr>
              <a:t>첫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째 자리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  (VERSION_ION % 100) /10, </a:t>
            </a:r>
            <a:r>
              <a:rPr lang="ko-KR" altLang="en-US" dirty="0">
                <a:sym typeface="Wingdings" panose="05000000000000000000" pitchFamily="2" charset="2"/>
              </a:rPr>
              <a:t>둘 째 자리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   VERSION_ION % 10 </a:t>
            </a:r>
            <a:r>
              <a:rPr lang="ko-KR" altLang="en-US" dirty="0">
                <a:sym typeface="Wingdings" panose="05000000000000000000" pitchFamily="2" charset="2"/>
              </a:rPr>
              <a:t>세번째 자리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decimal 361  3.6.1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Hex</a:t>
            </a:r>
            <a:r>
              <a:rPr lang="ko-KR" altLang="en-US" dirty="0">
                <a:sym typeface="Wingdings" panose="05000000000000000000" pitchFamily="2" charset="2"/>
              </a:rPr>
              <a:t>로 표시된 데이터는 </a:t>
            </a:r>
            <a:r>
              <a:rPr lang="en-US" altLang="ko-KR" dirty="0">
                <a:sym typeface="Wingdings" panose="05000000000000000000" pitchFamily="2" charset="2"/>
              </a:rPr>
              <a:t>Decimal</a:t>
            </a:r>
            <a:r>
              <a:rPr lang="ko-KR" altLang="en-US" dirty="0">
                <a:sym typeface="Wingdings" panose="05000000000000000000" pitchFamily="2" charset="2"/>
              </a:rPr>
              <a:t>로 표현 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※ F/W 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변경 없이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SBC_EGSE 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프로그램에서 표시 방식 변경 함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EBB2DCB-F6DD-4A87-BE4A-3000C2D19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776" y="1060911"/>
            <a:ext cx="2684103" cy="3318142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84E8EFF5-E51A-4344-B9AE-5B0E14D93502}"/>
              </a:ext>
            </a:extLst>
          </p:cNvPr>
          <p:cNvSpPr/>
          <p:nvPr/>
        </p:nvSpPr>
        <p:spPr bwMode="auto">
          <a:xfrm>
            <a:off x="7439523" y="2516697"/>
            <a:ext cx="609600" cy="58723"/>
          </a:xfrm>
          <a:prstGeom prst="rightArrow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C15FBA3E-817D-4E04-A2C6-0A639D526916}"/>
              </a:ext>
            </a:extLst>
          </p:cNvPr>
          <p:cNvSpPr/>
          <p:nvPr/>
        </p:nvSpPr>
        <p:spPr bwMode="auto">
          <a:xfrm>
            <a:off x="7439523" y="2659572"/>
            <a:ext cx="609600" cy="58723"/>
          </a:xfrm>
          <a:prstGeom prst="rightArrow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EEF7D4DC-F276-4128-9516-03592D49FD61}"/>
              </a:ext>
            </a:extLst>
          </p:cNvPr>
          <p:cNvSpPr/>
          <p:nvPr/>
        </p:nvSpPr>
        <p:spPr bwMode="auto">
          <a:xfrm>
            <a:off x="7447685" y="3691418"/>
            <a:ext cx="609600" cy="58723"/>
          </a:xfrm>
          <a:prstGeom prst="rightArrow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5981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E673B2-070E-454D-A6D5-F41538073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SOH Data</a:t>
            </a:r>
            <a:r>
              <a:rPr lang="ko-KR" altLang="en-US" dirty="0"/>
              <a:t> </a:t>
            </a:r>
            <a:r>
              <a:rPr lang="en-US" altLang="ko-KR" dirty="0"/>
              <a:t>Field</a:t>
            </a:r>
            <a:r>
              <a:rPr lang="ko-KR" altLang="en-US" dirty="0"/>
              <a:t> 변경의 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9D4F79-6A83-4B92-8902-E8EF82927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Booting image </a:t>
            </a:r>
            <a:r>
              <a:rPr lang="ko-KR" altLang="en-US" dirty="0"/>
              <a:t>정보와 </a:t>
            </a:r>
            <a:r>
              <a:rPr lang="en-US" altLang="ko-KR" dirty="0"/>
              <a:t>DTNPL</a:t>
            </a:r>
            <a:r>
              <a:rPr lang="ko-KR" altLang="en-US" dirty="0"/>
              <a:t>의 </a:t>
            </a:r>
            <a:r>
              <a:rPr lang="en-US" altLang="ko-KR" dirty="0"/>
              <a:t>Booting </a:t>
            </a:r>
            <a:r>
              <a:rPr lang="ko-KR" altLang="en-US" dirty="0"/>
              <a:t>회수를 </a:t>
            </a:r>
            <a:r>
              <a:rPr lang="en-US" altLang="ko-KR" dirty="0"/>
              <a:t>SOH Request</a:t>
            </a:r>
            <a:r>
              <a:rPr lang="ko-KR" altLang="en-US" dirty="0"/>
              <a:t>에 의해서 정보를 확인 할 수 있도록 </a:t>
            </a:r>
            <a:r>
              <a:rPr lang="en-US" altLang="ko-KR" dirty="0"/>
              <a:t>Packet data</a:t>
            </a:r>
            <a:r>
              <a:rPr lang="ko-KR" altLang="en-US" dirty="0"/>
              <a:t> </a:t>
            </a:r>
            <a:r>
              <a:rPr lang="en-US" altLang="ko-KR" dirty="0"/>
              <a:t>Field</a:t>
            </a:r>
            <a:r>
              <a:rPr lang="ko-KR" altLang="en-US" dirty="0"/>
              <a:t>의 변경이 필요 함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SOH Data Field</a:t>
            </a:r>
            <a:r>
              <a:rPr lang="ko-KR" altLang="en-US" dirty="0"/>
              <a:t>의 </a:t>
            </a:r>
            <a:r>
              <a:rPr lang="en-US" altLang="ko-KR" dirty="0"/>
              <a:t>52</a:t>
            </a:r>
            <a:r>
              <a:rPr lang="ko-KR" altLang="en-US" dirty="0"/>
              <a:t>번째 </a:t>
            </a:r>
            <a:r>
              <a:rPr lang="en-US" altLang="ko-KR" dirty="0"/>
              <a:t>Byte</a:t>
            </a:r>
            <a:r>
              <a:rPr lang="ko-KR" altLang="en-US" dirty="0"/>
              <a:t>부터 </a:t>
            </a:r>
            <a:r>
              <a:rPr lang="en-US" altLang="ko-KR" dirty="0"/>
              <a:t>Booting count</a:t>
            </a:r>
            <a:r>
              <a:rPr lang="ko-KR" altLang="en-US" dirty="0"/>
              <a:t> </a:t>
            </a:r>
            <a:r>
              <a:rPr lang="en-US" altLang="ko-KR" dirty="0"/>
              <a:t>4 byte</a:t>
            </a:r>
            <a:r>
              <a:rPr lang="ko-KR" altLang="en-US" dirty="0"/>
              <a:t> </a:t>
            </a:r>
            <a:r>
              <a:rPr lang="en-US" altLang="ko-KR" dirty="0"/>
              <a:t>, booting Image No. 1Byte</a:t>
            </a:r>
            <a:r>
              <a:rPr lang="ko-KR" altLang="en-US" dirty="0"/>
              <a:t> 추가하여 총 </a:t>
            </a:r>
            <a:r>
              <a:rPr lang="en-US" altLang="ko-KR" dirty="0"/>
              <a:t>57Byte</a:t>
            </a:r>
            <a:r>
              <a:rPr lang="ko-KR" altLang="en-US" dirty="0"/>
              <a:t>로 수정 변경 됨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/>
              <a:t>기존 </a:t>
            </a:r>
            <a:r>
              <a:rPr lang="en-US" altLang="ko-KR" dirty="0"/>
              <a:t>52Byte</a:t>
            </a:r>
            <a:r>
              <a:rPr lang="ko-KR" altLang="en-US" dirty="0"/>
              <a:t> </a:t>
            </a:r>
            <a:r>
              <a:rPr lang="ko-KR" altLang="en-US" dirty="0">
                <a:sym typeface="Wingdings" panose="05000000000000000000" pitchFamily="2" charset="2"/>
              </a:rPr>
              <a:t>에서</a:t>
            </a:r>
            <a:r>
              <a:rPr lang="en-US" altLang="ko-KR" dirty="0">
                <a:sym typeface="Wingdings" panose="05000000000000000000" pitchFamily="2" charset="2"/>
              </a:rPr>
              <a:t> 57Byte</a:t>
            </a:r>
            <a:r>
              <a:rPr lang="ko-KR" altLang="en-US" dirty="0">
                <a:sym typeface="Wingdings" panose="05000000000000000000" pitchFamily="2" charset="2"/>
              </a:rPr>
              <a:t>로 수정 됨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 ( </a:t>
            </a:r>
            <a:r>
              <a:rPr lang="ko-KR" altLang="en-US" dirty="0">
                <a:sym typeface="Wingdings" panose="05000000000000000000" pitchFamily="2" charset="2"/>
              </a:rPr>
              <a:t>최대 데이터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길이가 헤더 제외 </a:t>
            </a:r>
            <a:r>
              <a:rPr lang="en-US" altLang="ko-KR" dirty="0">
                <a:sym typeface="Wingdings" panose="05000000000000000000" pitchFamily="2" charset="2"/>
              </a:rPr>
              <a:t>65Byte</a:t>
            </a:r>
            <a:r>
              <a:rPr lang="ko-KR" altLang="en-US" dirty="0">
                <a:sym typeface="Wingdings" panose="05000000000000000000" pitchFamily="2" charset="2"/>
              </a:rPr>
              <a:t>이므로 여유가 있음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Bootloader</a:t>
            </a:r>
            <a:r>
              <a:rPr lang="ko-KR" altLang="en-US" dirty="0">
                <a:sym typeface="Wingdings" panose="05000000000000000000" pitchFamily="2" charset="2"/>
              </a:rPr>
              <a:t>에서 실행 할 </a:t>
            </a:r>
            <a:r>
              <a:rPr lang="en-US" altLang="ko-KR" dirty="0">
                <a:sym typeface="Wingdings" panose="05000000000000000000" pitchFamily="2" charset="2"/>
              </a:rPr>
              <a:t>Image </a:t>
            </a:r>
            <a:r>
              <a:rPr lang="ko-KR" altLang="en-US" dirty="0">
                <a:sym typeface="Wingdings" panose="05000000000000000000" pitchFamily="2" charset="2"/>
              </a:rPr>
              <a:t>번호 결정 </a:t>
            </a:r>
            <a:br>
              <a:rPr lang="en-US" altLang="ko-KR" dirty="0">
                <a:sym typeface="Wingdings" panose="05000000000000000000" pitchFamily="2" charset="2"/>
              </a:rPr>
            </a:b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2F77E6-0DB9-4974-9955-EA818E8A4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826" y="3039075"/>
            <a:ext cx="2486941" cy="3074406"/>
          </a:xfrm>
          <a:prstGeom prst="rect">
            <a:avLst/>
          </a:prstGeom>
        </p:spPr>
      </p:pic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C459040A-FDFA-4E07-872D-91D33FC87473}"/>
              </a:ext>
            </a:extLst>
          </p:cNvPr>
          <p:cNvSpPr/>
          <p:nvPr/>
        </p:nvSpPr>
        <p:spPr bwMode="auto">
          <a:xfrm>
            <a:off x="6036963" y="3282356"/>
            <a:ext cx="2873674" cy="1078812"/>
          </a:xfrm>
          <a:prstGeom prst="wedgeRectCallout">
            <a:avLst>
              <a:gd name="adj1" fmla="val -3347"/>
              <a:gd name="adj2" fmla="val 175731"/>
            </a:avLst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Booting Count </a:t>
            </a:r>
            <a:r>
              <a: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및 </a:t>
            </a:r>
            <a:endParaRPr kumimoji="1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Booting Image </a:t>
            </a:r>
            <a:r>
              <a: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번호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506A53-DE8E-4362-8F1B-D98706FC9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45" y="3114575"/>
            <a:ext cx="4455981" cy="178000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8424029-2390-46EA-B9C1-3EBAACBC8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45" y="4920229"/>
            <a:ext cx="2128007" cy="1451996"/>
          </a:xfrm>
          <a:prstGeom prst="rect">
            <a:avLst/>
          </a:prstGeom>
        </p:spPr>
      </p:pic>
      <p:sp>
        <p:nvSpPr>
          <p:cNvPr id="13" name="말풍선: 사각형 12">
            <a:extLst>
              <a:ext uri="{FF2B5EF4-FFF2-40B4-BE49-F238E27FC236}">
                <a16:creationId xmlns:a16="http://schemas.microsoft.com/office/drawing/2014/main" id="{3BC0E8BD-1073-43BF-AD9D-77C2A84B859A}"/>
              </a:ext>
            </a:extLst>
          </p:cNvPr>
          <p:cNvSpPr/>
          <p:nvPr/>
        </p:nvSpPr>
        <p:spPr bwMode="auto">
          <a:xfrm>
            <a:off x="2845564" y="5712903"/>
            <a:ext cx="2313665" cy="516446"/>
          </a:xfrm>
          <a:prstGeom prst="wedgeRectCallout">
            <a:avLst>
              <a:gd name="adj1" fmla="val -63031"/>
              <a:gd name="adj2" fmla="val 48460"/>
            </a:avLst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추가된 </a:t>
            </a:r>
            <a:r>
              <a:rPr kumimoji="1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Field</a:t>
            </a: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2235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6C9A07-8767-43C0-95B1-1DB2B4386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DTN</a:t>
            </a:r>
            <a:r>
              <a:rPr lang="ko-KR" altLang="en-US" dirty="0"/>
              <a:t> </a:t>
            </a:r>
            <a:r>
              <a:rPr lang="en-US" altLang="ko-KR" dirty="0"/>
              <a:t>Reset</a:t>
            </a:r>
            <a:r>
              <a:rPr lang="ko-KR" altLang="en-US" dirty="0"/>
              <a:t> 명령 전송 후 </a:t>
            </a:r>
            <a:r>
              <a:rPr lang="en-US" altLang="ko-KR" dirty="0"/>
              <a:t>Hang </a:t>
            </a:r>
            <a:r>
              <a:rPr lang="ko-KR" altLang="en-US" dirty="0"/>
              <a:t>현상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0E433D-52D6-4FAA-A2F1-A81BB1E96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589" y="981076"/>
            <a:ext cx="8587936" cy="5412104"/>
          </a:xfrm>
        </p:spPr>
        <p:txBody>
          <a:bodyPr/>
          <a:lstStyle/>
          <a:p>
            <a:r>
              <a:rPr lang="ko-KR" altLang="en-US" dirty="0"/>
              <a:t>문제점 </a:t>
            </a:r>
            <a:endParaRPr lang="en-US" altLang="ko-KR" dirty="0"/>
          </a:p>
          <a:p>
            <a:pPr lvl="1"/>
            <a:r>
              <a:rPr lang="en-US" altLang="ko-KR" dirty="0"/>
              <a:t>DTNPL</a:t>
            </a:r>
            <a:r>
              <a:rPr lang="ko-KR" altLang="en-US" dirty="0"/>
              <a:t>이 정상적으로 </a:t>
            </a:r>
            <a:r>
              <a:rPr lang="en-US" altLang="ko-KR" dirty="0"/>
              <a:t>Booting</a:t>
            </a:r>
            <a:r>
              <a:rPr lang="ko-KR" altLang="en-US" dirty="0"/>
              <a:t>이 완료 된 후 </a:t>
            </a:r>
            <a:r>
              <a:rPr lang="en-US" altLang="ko-KR" dirty="0"/>
              <a:t>Script1 (./</a:t>
            </a:r>
            <a:r>
              <a:rPr lang="en-US" altLang="ko-KR" dirty="0" err="1"/>
              <a:t>ionstart.ipn</a:t>
            </a:r>
            <a:r>
              <a:rPr lang="en-US" altLang="ko-KR" dirty="0"/>
              <a:t> : 2E 2F 69 6F 6E 73 74 61 72 74 2E 69 70 6E) TC </a:t>
            </a:r>
            <a:r>
              <a:rPr lang="ko-KR" altLang="en-US" dirty="0"/>
              <a:t>를 전송하게 되면 </a:t>
            </a:r>
            <a:r>
              <a:rPr lang="en-US" altLang="ko-KR" dirty="0"/>
              <a:t>DTNPL</a:t>
            </a:r>
            <a:r>
              <a:rPr lang="ko-KR" altLang="en-US" dirty="0"/>
              <a:t>이 간헐 적으로 멈추는 현상이 발생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원인 분석 </a:t>
            </a:r>
            <a:endParaRPr lang="en-US" altLang="ko-KR" dirty="0"/>
          </a:p>
          <a:p>
            <a:pPr lvl="1"/>
            <a:r>
              <a:rPr lang="en-US" altLang="ko-KR" dirty="0"/>
              <a:t>UART</a:t>
            </a:r>
            <a:r>
              <a:rPr lang="ko-KR" altLang="en-US" dirty="0"/>
              <a:t> 수신이 완료 되지 않은 상태에서 </a:t>
            </a:r>
            <a:r>
              <a:rPr lang="en-US" altLang="ko-KR" dirty="0"/>
              <a:t>Soft Reset</a:t>
            </a:r>
            <a:r>
              <a:rPr lang="ko-KR" altLang="en-US" dirty="0"/>
              <a:t>을 진행하게 되면서 </a:t>
            </a:r>
            <a:r>
              <a:rPr lang="en-US" altLang="ko-KR" dirty="0"/>
              <a:t>Interrupt access Error</a:t>
            </a:r>
            <a:r>
              <a:rPr lang="ko-KR" altLang="en-US" dirty="0"/>
              <a:t>가 발생하여 동작이 멈추는</a:t>
            </a:r>
            <a:r>
              <a:rPr lang="en-US" altLang="ko-KR" dirty="0"/>
              <a:t> </a:t>
            </a:r>
            <a:r>
              <a:rPr lang="ko-KR" altLang="en-US" dirty="0"/>
              <a:t>현상이 발생하게 됨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 해결 방안</a:t>
            </a:r>
            <a:endParaRPr lang="en-US" altLang="ko-KR" dirty="0"/>
          </a:p>
          <a:p>
            <a:pPr lvl="1"/>
            <a:r>
              <a:rPr lang="en-US" altLang="ko-KR" dirty="0"/>
              <a:t>Soft Reset</a:t>
            </a:r>
            <a:r>
              <a:rPr lang="ko-KR" altLang="en-US" dirty="0"/>
              <a:t> 을 수행하기 전에 </a:t>
            </a:r>
            <a:r>
              <a:rPr lang="en-US" altLang="ko-KR" dirty="0"/>
              <a:t>Interrupt Handler</a:t>
            </a:r>
            <a:r>
              <a:rPr lang="ko-KR" altLang="en-US" dirty="0"/>
              <a:t>가 동작을 완료 할 수 있도록 </a:t>
            </a:r>
            <a:r>
              <a:rPr lang="en-US" altLang="ko-KR" dirty="0"/>
              <a:t>0x00</a:t>
            </a:r>
            <a:r>
              <a:rPr lang="ko-KR" altLang="en-US" dirty="0"/>
              <a:t> 번지로 </a:t>
            </a:r>
            <a:r>
              <a:rPr lang="en-US" altLang="ko-KR" dirty="0"/>
              <a:t>Jump </a:t>
            </a:r>
            <a:r>
              <a:rPr lang="ko-KR" altLang="en-US" dirty="0"/>
              <a:t>하기 전에 약 </a:t>
            </a:r>
            <a:r>
              <a:rPr lang="en-US" altLang="ko-KR" dirty="0"/>
              <a:t>1ms</a:t>
            </a:r>
            <a:r>
              <a:rPr lang="ko-KR" altLang="en-US" dirty="0"/>
              <a:t>의 </a:t>
            </a:r>
            <a:r>
              <a:rPr lang="en-US" altLang="ko-KR" dirty="0"/>
              <a:t>Sleep</a:t>
            </a:r>
            <a:r>
              <a:rPr lang="ko-KR" altLang="en-US" dirty="0"/>
              <a:t> </a:t>
            </a:r>
            <a:r>
              <a:rPr lang="en-US" altLang="ko-KR" dirty="0"/>
              <a:t>Time</a:t>
            </a:r>
            <a:r>
              <a:rPr lang="ko-KR" altLang="en-US" dirty="0"/>
              <a:t>을 둔다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b="1" dirty="0">
                <a:solidFill>
                  <a:srgbClr val="FF0000"/>
                </a:solidFill>
              </a:rPr>
              <a:t>현재 </a:t>
            </a:r>
            <a:r>
              <a:rPr lang="en-US" altLang="ko-KR" b="1" dirty="0">
                <a:solidFill>
                  <a:srgbClr val="FF0000"/>
                </a:solidFill>
              </a:rPr>
              <a:t>ETB </a:t>
            </a:r>
            <a:r>
              <a:rPr lang="ko-KR" altLang="en-US" b="1" dirty="0">
                <a:solidFill>
                  <a:srgbClr val="FF0000"/>
                </a:solidFill>
              </a:rPr>
              <a:t>시험 버전 </a:t>
            </a:r>
            <a:r>
              <a:rPr lang="en-US" altLang="ko-KR" b="1" dirty="0">
                <a:solidFill>
                  <a:srgbClr val="FF0000"/>
                </a:solidFill>
              </a:rPr>
              <a:t>V1.4</a:t>
            </a:r>
            <a:r>
              <a:rPr lang="ko-KR" altLang="en-US" b="1" dirty="0">
                <a:solidFill>
                  <a:srgbClr val="FF0000"/>
                </a:solidFill>
              </a:rPr>
              <a:t>에서 </a:t>
            </a:r>
            <a:r>
              <a:rPr lang="en-US" altLang="ko-KR" b="1" dirty="0">
                <a:solidFill>
                  <a:srgbClr val="FF0000"/>
                </a:solidFill>
              </a:rPr>
              <a:t>V1.5</a:t>
            </a:r>
            <a:r>
              <a:rPr lang="ko-KR" altLang="en-US" b="1" dirty="0">
                <a:solidFill>
                  <a:srgbClr val="FF0000"/>
                </a:solidFill>
              </a:rPr>
              <a:t>로 변경이 필요 함</a:t>
            </a:r>
            <a:r>
              <a:rPr lang="en-US" altLang="ko-KR" b="1" dirty="0">
                <a:solidFill>
                  <a:srgbClr val="FF0000"/>
                </a:solidFill>
              </a:rPr>
              <a:t>. 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검증 방안 </a:t>
            </a:r>
            <a:endParaRPr lang="en-US" altLang="ko-KR" dirty="0"/>
          </a:p>
          <a:p>
            <a:pPr lvl="1"/>
            <a:r>
              <a:rPr lang="en-US" altLang="ko-KR" dirty="0"/>
              <a:t>TC Command : Time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SOH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Request  Script1(./</a:t>
            </a:r>
            <a:r>
              <a:rPr lang="en-US" altLang="ko-KR" dirty="0" err="1">
                <a:sym typeface="Wingdings" panose="05000000000000000000" pitchFamily="2" charset="2"/>
              </a:rPr>
              <a:t>ionstart.ipn</a:t>
            </a:r>
            <a:r>
              <a:rPr lang="en-US" altLang="ko-KR" dirty="0">
                <a:sym typeface="Wingdings" panose="05000000000000000000" pitchFamily="2" charset="2"/>
              </a:rPr>
              <a:t>)  Time Setting SOH Request Script1(</a:t>
            </a:r>
            <a:r>
              <a:rPr lang="en-US" altLang="ko-KR" dirty="0" err="1">
                <a:sym typeface="Wingdings" panose="05000000000000000000" pitchFamily="2" charset="2"/>
              </a:rPr>
              <a:t>killm</a:t>
            </a:r>
            <a:r>
              <a:rPr lang="en-US" altLang="ko-KR" dirty="0">
                <a:sym typeface="Wingdings" panose="05000000000000000000" pitchFamily="2" charset="2"/>
              </a:rPr>
              <a:t>) </a:t>
            </a:r>
            <a:r>
              <a:rPr lang="ko-KR" altLang="en-US" dirty="0">
                <a:sym typeface="Wingdings" panose="05000000000000000000" pitchFamily="2" charset="2"/>
              </a:rPr>
              <a:t>으로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순서로 반복 동작 </a:t>
            </a:r>
            <a:r>
              <a:rPr lang="en-US" altLang="ko-KR" dirty="0">
                <a:sym typeface="Wingdings" panose="05000000000000000000" pitchFamily="2" charset="2"/>
              </a:rPr>
              <a:t>aging </a:t>
            </a:r>
            <a:r>
              <a:rPr lang="ko-KR" altLang="en-US" dirty="0">
                <a:sym typeface="Wingdings" panose="05000000000000000000" pitchFamily="2" charset="2"/>
              </a:rPr>
              <a:t>시험을 진행하여 검증함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1586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6C9A07-8767-43C0-95B1-1DB2B4386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Telemetry Command Aging test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0E433D-52D6-4FAA-A2F1-A81BB1E96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589" y="981076"/>
            <a:ext cx="8587936" cy="1426564"/>
          </a:xfrm>
        </p:spPr>
        <p:txBody>
          <a:bodyPr/>
          <a:lstStyle/>
          <a:p>
            <a:r>
              <a:rPr lang="en-US" altLang="ko-KR" dirty="0"/>
              <a:t>TC Command</a:t>
            </a:r>
            <a:r>
              <a:rPr lang="ko-KR" altLang="en-US" dirty="0"/>
              <a:t>에 대한 </a:t>
            </a:r>
            <a:r>
              <a:rPr lang="en-US" altLang="ko-KR" dirty="0"/>
              <a:t>ACK </a:t>
            </a:r>
            <a:r>
              <a:rPr lang="ko-KR" altLang="en-US" dirty="0"/>
              <a:t>응답이 누락 없이 수신 되는지 확인</a:t>
            </a:r>
            <a:endParaRPr lang="en-US" altLang="ko-KR" dirty="0"/>
          </a:p>
          <a:p>
            <a:r>
              <a:rPr lang="en-US" altLang="ko-KR" dirty="0"/>
              <a:t>DTN</a:t>
            </a:r>
            <a:r>
              <a:rPr lang="ko-KR" altLang="en-US" dirty="0"/>
              <a:t> </a:t>
            </a:r>
            <a:r>
              <a:rPr lang="en-US" altLang="ko-KR" dirty="0"/>
              <a:t>Reset</a:t>
            </a:r>
            <a:r>
              <a:rPr lang="ko-KR" altLang="en-US" dirty="0"/>
              <a:t> </a:t>
            </a:r>
            <a:r>
              <a:rPr lang="en-US" altLang="ko-KR" dirty="0"/>
              <a:t>Command</a:t>
            </a:r>
            <a:r>
              <a:rPr lang="ko-KR" altLang="en-US" dirty="0"/>
              <a:t> 전송 후 </a:t>
            </a:r>
            <a:r>
              <a:rPr lang="en-US" altLang="ko-KR" dirty="0"/>
              <a:t>ACK </a:t>
            </a:r>
            <a:r>
              <a:rPr lang="ko-KR" altLang="en-US" dirty="0"/>
              <a:t>응답과 </a:t>
            </a:r>
            <a:r>
              <a:rPr lang="en-US" altLang="ko-KR" dirty="0"/>
              <a:t>DTNPL</a:t>
            </a:r>
            <a:r>
              <a:rPr lang="ko-KR" altLang="en-US" dirty="0"/>
              <a:t>이 정상적으로 </a:t>
            </a:r>
            <a:r>
              <a:rPr lang="en-US" altLang="ko-KR" dirty="0"/>
              <a:t>Booting </a:t>
            </a:r>
            <a:r>
              <a:rPr lang="ko-KR" altLang="en-US" dirty="0"/>
              <a:t>되는지 확인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49D058D-DB20-4263-8CB6-CECCD1FE2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567" y="1772112"/>
            <a:ext cx="5461233" cy="4513246"/>
          </a:xfrm>
          <a:prstGeom prst="rect">
            <a:avLst/>
          </a:prstGeom>
        </p:spPr>
      </p:pic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54491795-B980-42C6-8E7D-62F832D96742}"/>
              </a:ext>
            </a:extLst>
          </p:cNvPr>
          <p:cNvSpPr/>
          <p:nvPr/>
        </p:nvSpPr>
        <p:spPr bwMode="auto">
          <a:xfrm>
            <a:off x="311589" y="3829576"/>
            <a:ext cx="1710157" cy="587229"/>
          </a:xfrm>
          <a:prstGeom prst="wedgeRoundRectCallout">
            <a:avLst>
              <a:gd name="adj1" fmla="val 75413"/>
              <a:gd name="adj2" fmla="val 65357"/>
              <a:gd name="adj3" fmla="val 16667"/>
            </a:avLst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응답</a:t>
            </a: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Log </a:t>
            </a:r>
            <a:r>
              <a:rPr kumimoji="1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확인</a:t>
            </a:r>
          </a:p>
        </p:txBody>
      </p:sp>
      <p:sp>
        <p:nvSpPr>
          <p:cNvPr id="10" name="말풍선: 모서리가 둥근 사각형 9">
            <a:extLst>
              <a:ext uri="{FF2B5EF4-FFF2-40B4-BE49-F238E27FC236}">
                <a16:creationId xmlns:a16="http://schemas.microsoft.com/office/drawing/2014/main" id="{FDDF79FC-F138-48EA-9379-392D28B3D2F4}"/>
              </a:ext>
            </a:extLst>
          </p:cNvPr>
          <p:cNvSpPr/>
          <p:nvPr/>
        </p:nvSpPr>
        <p:spPr bwMode="auto">
          <a:xfrm>
            <a:off x="311589" y="4760754"/>
            <a:ext cx="1710157" cy="587229"/>
          </a:xfrm>
          <a:prstGeom prst="wedgeRoundRectCallout">
            <a:avLst>
              <a:gd name="adj1" fmla="val 75413"/>
              <a:gd name="adj2" fmla="val 65357"/>
              <a:gd name="adj3" fmla="val 16667"/>
            </a:avLst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송신 </a:t>
            </a:r>
            <a:r>
              <a:rPr lang="ko-KR" altLang="en-US" sz="1400" dirty="0"/>
              <a:t>데이터 </a:t>
            </a: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Log </a:t>
            </a: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확인</a:t>
            </a: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22EEC40D-9D1A-4B75-8A96-A7879E957F1A}"/>
              </a:ext>
            </a:extLst>
          </p:cNvPr>
          <p:cNvSpPr/>
          <p:nvPr/>
        </p:nvSpPr>
        <p:spPr bwMode="auto">
          <a:xfrm>
            <a:off x="311588" y="5545126"/>
            <a:ext cx="1710157" cy="587229"/>
          </a:xfrm>
          <a:prstGeom prst="wedgeRoundRectCallout">
            <a:avLst>
              <a:gd name="adj1" fmla="val 78356"/>
              <a:gd name="adj2" fmla="val 29643"/>
              <a:gd name="adj3" fmla="val 16667"/>
            </a:avLst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400" dirty="0"/>
              <a:t>진행 상태 확인</a:t>
            </a: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2" name="말풍선: 모서리가 둥근 사각형 11">
            <a:extLst>
              <a:ext uri="{FF2B5EF4-FFF2-40B4-BE49-F238E27FC236}">
                <a16:creationId xmlns:a16="http://schemas.microsoft.com/office/drawing/2014/main" id="{2344FD18-AFA6-46A7-8FBA-535E293B2EB4}"/>
              </a:ext>
            </a:extLst>
          </p:cNvPr>
          <p:cNvSpPr/>
          <p:nvPr/>
        </p:nvSpPr>
        <p:spPr bwMode="auto">
          <a:xfrm>
            <a:off x="6141938" y="2824993"/>
            <a:ext cx="1710157" cy="587229"/>
          </a:xfrm>
          <a:prstGeom prst="wedgeRoundRectCallout">
            <a:avLst>
              <a:gd name="adj1" fmla="val 39604"/>
              <a:gd name="adj2" fmla="val 131071"/>
              <a:gd name="adj3" fmla="val 16667"/>
            </a:avLst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/>
              <a:t>Boot Count </a:t>
            </a:r>
            <a:r>
              <a:rPr lang="ko-KR" altLang="en-US" sz="1600" dirty="0"/>
              <a:t>확인</a:t>
            </a:r>
            <a:endParaRPr kumimoji="1" lang="ko-KR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493144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42415</TotalTime>
  <Words>435</Words>
  <Application>Microsoft Office PowerPoint</Application>
  <PresentationFormat>화면 슬라이드 쇼(4:3)</PresentationFormat>
  <Paragraphs>38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굴림</vt:lpstr>
      <vt:lpstr>Arial</vt:lpstr>
      <vt:lpstr>Arial Black</vt:lpstr>
      <vt:lpstr>Times New Roman</vt:lpstr>
      <vt:lpstr>Wingdings</vt:lpstr>
      <vt:lpstr>기본 디자인</vt:lpstr>
      <vt:lpstr>ISSUE 사항 정리 (WPR_2020.09.25)    ’20.09.25 Lumir</vt:lpstr>
      <vt:lpstr>Version 표시 방법</vt:lpstr>
      <vt:lpstr>SOH Data Field 변경의 건</vt:lpstr>
      <vt:lpstr>DTN Reset 명령 전송 후 Hang 현상</vt:lpstr>
      <vt:lpstr>Telemetry Command Aging 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최 상림</cp:lastModifiedBy>
  <cp:revision>1688</cp:revision>
  <cp:lastPrinted>2020-07-30T04:06:34Z</cp:lastPrinted>
  <dcterms:created xsi:type="dcterms:W3CDTF">1601-01-01T00:00:00Z</dcterms:created>
  <dcterms:modified xsi:type="dcterms:W3CDTF">2020-09-25T06:23:38Z</dcterms:modified>
</cp:coreProperties>
</file>