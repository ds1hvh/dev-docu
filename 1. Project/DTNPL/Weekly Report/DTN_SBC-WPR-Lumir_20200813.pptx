
<file path=[Content_Types].xml><?xml version="1.0" encoding="utf-8"?>
<Types xmlns="http://schemas.openxmlformats.org/package/2006/content-types">
  <Default Extension="png" ContentType="image/png"/>
  <Default Extension="tmp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23" r:id="rId2"/>
    <p:sldId id="812" r:id="rId3"/>
    <p:sldId id="807" r:id="rId4"/>
    <p:sldId id="818" r:id="rId5"/>
    <p:sldId id="817" r:id="rId6"/>
    <p:sldId id="1101" r:id="rId7"/>
    <p:sldId id="1105" r:id="rId8"/>
    <p:sldId id="1106" r:id="rId9"/>
    <p:sldId id="1107" r:id="rId10"/>
    <p:sldId id="1102" r:id="rId11"/>
    <p:sldId id="1103" r:id="rId12"/>
    <p:sldId id="1104" r:id="rId13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87" d="100"/>
          <a:sy n="87" d="100"/>
        </p:scale>
        <p:origin x="1685" y="77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188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323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543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9238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501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476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430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726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Weekly Progress Report </a:t>
            </a:r>
            <a:r>
              <a:rPr lang="en-US" altLang="ko-KR" sz="3200" b="0" dirty="0"/>
              <a:t>(WPR_2020.07.30)</a:t>
            </a:r>
            <a:r>
              <a:rPr lang="en-US" altLang="ko-KR" sz="3200" dirty="0"/>
              <a:t/>
            </a:r>
            <a:br>
              <a:rPr lang="en-US" altLang="ko-KR" sz="32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3600" dirty="0"/>
              <a:t/>
            </a:r>
            <a:br>
              <a:rPr lang="en-US" altLang="ko-KR" sz="3600" dirty="0"/>
            </a:br>
            <a:r>
              <a:rPr lang="en-US" altLang="ko-KR" sz="2400" b="0" dirty="0"/>
              <a:t>’20.07.30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Contents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환경시험 현황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>
                <a:sym typeface="Wingdings" panose="05000000000000000000" pitchFamily="2" charset="2"/>
              </a:rPr>
              <a:t>TRS</a:t>
            </a:r>
            <a:r>
              <a:rPr lang="ko-KR" altLang="en-US" dirty="0" smtClean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Lists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TRS </a:t>
            </a:r>
            <a:r>
              <a:rPr lang="ko-KR" altLang="en-US" dirty="0">
                <a:sym typeface="Wingdings" panose="05000000000000000000" pitchFamily="2" charset="2"/>
              </a:rPr>
              <a:t>진행현황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smtClean="0">
                <a:sym typeface="Wingdings" panose="05000000000000000000" pitchFamily="2" charset="2"/>
              </a:rPr>
              <a:t>EMC Issue</a:t>
            </a:r>
          </a:p>
          <a:p>
            <a:r>
              <a:rPr lang="ko-KR" altLang="en-US" smtClean="0">
                <a:sym typeface="Wingdings" panose="05000000000000000000" pitchFamily="2" charset="2"/>
              </a:rPr>
              <a:t>전송 속도 개선 방안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endParaRPr lang="en-US" altLang="ko-KR" dirty="0" smtClean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880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환경시험 현황</a:t>
            </a:r>
            <a:r>
              <a:rPr lang="en-US" altLang="ko-KR" dirty="0">
                <a:latin typeface="맑은 고딕" panose="020B0503020000020004" pitchFamily="50" charset="-127"/>
              </a:rPr>
              <a:t>(1)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09546" y="981307"/>
            <a:ext cx="8647469" cy="547688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2FDA10-C25D-4D06-85A7-102E1F083395}"/>
              </a:ext>
            </a:extLst>
          </p:cNvPr>
          <p:cNvSpPr/>
          <p:nvPr/>
        </p:nvSpPr>
        <p:spPr bwMode="auto">
          <a:xfrm>
            <a:off x="3423672" y="1152525"/>
            <a:ext cx="1955031" cy="463854"/>
          </a:xfrm>
          <a:prstGeom prst="round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TRR</a:t>
            </a:r>
          </a:p>
          <a:p>
            <a:pPr marL="0" marR="0" indent="0" algn="ctr" defTabSz="914400" eaLnBrk="1" latinLnBrk="1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(Test Readiness Review)</a:t>
            </a:r>
            <a:endParaRPr lang="ko-KR" alt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439D04-112C-4EA6-AAAA-548054F0EB26}"/>
              </a:ext>
            </a:extLst>
          </p:cNvPr>
          <p:cNvSpPr/>
          <p:nvPr/>
        </p:nvSpPr>
        <p:spPr bwMode="auto">
          <a:xfrm>
            <a:off x="3449471" y="1886747"/>
            <a:ext cx="1909138" cy="4695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Initial </a:t>
            </a:r>
          </a:p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Full Function Test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26D8DB-AA09-4029-B387-160975DDC060}"/>
              </a:ext>
            </a:extLst>
          </p:cNvPr>
          <p:cNvSpPr/>
          <p:nvPr/>
        </p:nvSpPr>
        <p:spPr bwMode="auto">
          <a:xfrm>
            <a:off x="3449471" y="2601825"/>
            <a:ext cx="1909138" cy="469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Thermal Vacuum</a:t>
            </a:r>
          </a:p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91E0B8A-7758-4727-8286-CD8CFDD11D9D}"/>
              </a:ext>
            </a:extLst>
          </p:cNvPr>
          <p:cNvSpPr/>
          <p:nvPr/>
        </p:nvSpPr>
        <p:spPr bwMode="auto">
          <a:xfrm>
            <a:off x="3449471" y="3384896"/>
            <a:ext cx="1909138" cy="469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Vibration Test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BB57051-AF9E-4BD6-8210-0E0F17B5A2E2}"/>
              </a:ext>
            </a:extLst>
          </p:cNvPr>
          <p:cNvSpPr/>
          <p:nvPr/>
        </p:nvSpPr>
        <p:spPr bwMode="auto">
          <a:xfrm>
            <a:off x="3449471" y="4198048"/>
            <a:ext cx="1909138" cy="46953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EMI/EMC Test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8268A72-730D-4974-9D27-3C39A9F52812}"/>
              </a:ext>
            </a:extLst>
          </p:cNvPr>
          <p:cNvSpPr/>
          <p:nvPr/>
        </p:nvSpPr>
        <p:spPr bwMode="auto">
          <a:xfrm>
            <a:off x="3449471" y="4945158"/>
            <a:ext cx="1909138" cy="4695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Final </a:t>
            </a:r>
          </a:p>
          <a:p>
            <a:pPr algn="ctr" eaLnBrk="1" latinLnBrk="1" hangingPunct="1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Full Function Test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5EA35B2-E121-4A36-96E2-D359C9E1B6DD}"/>
              </a:ext>
            </a:extLst>
          </p:cNvPr>
          <p:cNvSpPr/>
          <p:nvPr/>
        </p:nvSpPr>
        <p:spPr bwMode="auto">
          <a:xfrm>
            <a:off x="3423672" y="5732579"/>
            <a:ext cx="1955031" cy="469534"/>
          </a:xfrm>
          <a:prstGeom prst="round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PTR</a:t>
            </a:r>
          </a:p>
          <a:p>
            <a:pPr algn="ctr" eaLnBrk="1" latinLnBrk="1" hangingPunct="1"/>
            <a:r>
              <a:rPr lang="en-US" altLang="ko-KR" sz="10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(Post Test Review)</a:t>
            </a:r>
            <a:endParaRPr lang="ko-KR" altLang="en-US" sz="10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그림 24" descr="그리기, 테이블이(가) 표시된 사진&#10;&#10;자동 생성된 설명">
            <a:extLst>
              <a:ext uri="{FF2B5EF4-FFF2-40B4-BE49-F238E27FC236}">
                <a16:creationId xmlns:a16="http://schemas.microsoft.com/office/drawing/2014/main" id="{4CD6FEDF-E318-446C-AE93-5DCFE4F3F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745" y="5690380"/>
            <a:ext cx="872014" cy="548495"/>
          </a:xfrm>
          <a:prstGeom prst="rect">
            <a:avLst/>
          </a:prstGeom>
        </p:spPr>
      </p:pic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58977BC-C23D-488F-8EAA-1BC97B0A0745}"/>
              </a:ext>
            </a:extLst>
          </p:cNvPr>
          <p:cNvSpPr/>
          <p:nvPr/>
        </p:nvSpPr>
        <p:spPr bwMode="auto">
          <a:xfrm>
            <a:off x="7510258" y="5750607"/>
            <a:ext cx="871739" cy="428039"/>
          </a:xfrm>
          <a:prstGeom prst="round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PSR</a:t>
            </a:r>
            <a:endParaRPr kumimoji="1" lang="ko-KR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순서도: 문서 27">
            <a:extLst>
              <a:ext uri="{FF2B5EF4-FFF2-40B4-BE49-F238E27FC236}">
                <a16:creationId xmlns:a16="http://schemas.microsoft.com/office/drawing/2014/main" id="{AE47BD87-AACE-4FC7-AFF0-C553290DF752}"/>
              </a:ext>
            </a:extLst>
          </p:cNvPr>
          <p:cNvSpPr/>
          <p:nvPr/>
        </p:nvSpPr>
        <p:spPr bwMode="auto">
          <a:xfrm>
            <a:off x="904872" y="1886747"/>
            <a:ext cx="2054416" cy="469534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[KPLO-D0-550-007]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Payload TP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순서도: 문서 29">
            <a:extLst>
              <a:ext uri="{FF2B5EF4-FFF2-40B4-BE49-F238E27FC236}">
                <a16:creationId xmlns:a16="http://schemas.microsoft.com/office/drawing/2014/main" id="{411B79E0-D0E2-4F59-B991-47858613DC41}"/>
              </a:ext>
            </a:extLst>
          </p:cNvPr>
          <p:cNvSpPr/>
          <p:nvPr/>
        </p:nvSpPr>
        <p:spPr bwMode="auto">
          <a:xfrm>
            <a:off x="904874" y="2528078"/>
            <a:ext cx="2054413" cy="719411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[KPLO-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D0-550-421]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DTNPL Flight Model Thermal Vacuum TP</a:t>
            </a:r>
            <a:endParaRPr lang="en-US" altLang="ko-KR" sz="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[KPLO-D0-550-490]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Short Functional TP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순서도: 문서 33">
            <a:extLst>
              <a:ext uri="{FF2B5EF4-FFF2-40B4-BE49-F238E27FC236}">
                <a16:creationId xmlns:a16="http://schemas.microsoft.com/office/drawing/2014/main" id="{61389E17-8760-448B-B697-A41D49140DDB}"/>
              </a:ext>
            </a:extLst>
          </p:cNvPr>
          <p:cNvSpPr/>
          <p:nvPr/>
        </p:nvSpPr>
        <p:spPr bwMode="auto">
          <a:xfrm>
            <a:off x="904874" y="3363889"/>
            <a:ext cx="2054414" cy="719411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[KPLO-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D0-550-422]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DTNPL Flight Model Vibration TP</a:t>
            </a:r>
            <a:endParaRPr lang="en-US" altLang="ko-KR" sz="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[KPLO-D0-550-490]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Short Functional TP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순서도: 문서 35">
            <a:extLst>
              <a:ext uri="{FF2B5EF4-FFF2-40B4-BE49-F238E27FC236}">
                <a16:creationId xmlns:a16="http://schemas.microsoft.com/office/drawing/2014/main" id="{6F698AAB-F30D-47BF-93F6-4A74FC04E596}"/>
              </a:ext>
            </a:extLst>
          </p:cNvPr>
          <p:cNvSpPr/>
          <p:nvPr/>
        </p:nvSpPr>
        <p:spPr bwMode="auto">
          <a:xfrm>
            <a:off x="904872" y="4161196"/>
            <a:ext cx="2054415" cy="719411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[KPLO-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D0-550-420]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indent="0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DTNPL Flight Model EMI/EMC TP</a:t>
            </a:r>
            <a:endParaRPr lang="en-US" altLang="ko-KR" sz="3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endParaRPr lang="en-US" altLang="ko-KR" sz="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[KPLO-D0-550-490]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Short Functional TP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순서도: 문서 37">
            <a:extLst>
              <a:ext uri="{FF2B5EF4-FFF2-40B4-BE49-F238E27FC236}">
                <a16:creationId xmlns:a16="http://schemas.microsoft.com/office/drawing/2014/main" id="{B9E2DB31-C1AA-47FE-A2E4-61CFFEFB45BC}"/>
              </a:ext>
            </a:extLst>
          </p:cNvPr>
          <p:cNvSpPr/>
          <p:nvPr/>
        </p:nvSpPr>
        <p:spPr bwMode="auto">
          <a:xfrm>
            <a:off x="904872" y="5021703"/>
            <a:ext cx="2054416" cy="469534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[KPLO-D0-550-007]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Payload TP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E48C42E0-3C4C-4689-A74C-96F1940E328D}"/>
              </a:ext>
            </a:extLst>
          </p:cNvPr>
          <p:cNvCxnSpPr>
            <a:endCxn id="12" idx="1"/>
          </p:cNvCxnSpPr>
          <p:nvPr/>
        </p:nvCxnSpPr>
        <p:spPr bwMode="auto">
          <a:xfrm flipV="1">
            <a:off x="2959288" y="2836593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2025527-86F1-4AEC-A34A-1108F638F9A3}"/>
              </a:ext>
            </a:extLst>
          </p:cNvPr>
          <p:cNvCxnSpPr/>
          <p:nvPr/>
        </p:nvCxnSpPr>
        <p:spPr bwMode="auto">
          <a:xfrm flipV="1">
            <a:off x="2959287" y="2121514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69F219E-0456-48C3-BFF3-441389CDFD2C}"/>
              </a:ext>
            </a:extLst>
          </p:cNvPr>
          <p:cNvCxnSpPr/>
          <p:nvPr/>
        </p:nvCxnSpPr>
        <p:spPr bwMode="auto">
          <a:xfrm flipV="1">
            <a:off x="2959286" y="3628859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3B72505-DED6-4269-8829-59E46707B1B1}"/>
              </a:ext>
            </a:extLst>
          </p:cNvPr>
          <p:cNvCxnSpPr/>
          <p:nvPr/>
        </p:nvCxnSpPr>
        <p:spPr bwMode="auto">
          <a:xfrm flipV="1">
            <a:off x="2959286" y="4432814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C527BED-8CB3-47A9-A9DE-54B9F461157E}"/>
              </a:ext>
            </a:extLst>
          </p:cNvPr>
          <p:cNvCxnSpPr/>
          <p:nvPr/>
        </p:nvCxnSpPr>
        <p:spPr bwMode="auto">
          <a:xfrm flipV="1">
            <a:off x="2962066" y="5179924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" name="순서도: 문서 50">
            <a:extLst>
              <a:ext uri="{FF2B5EF4-FFF2-40B4-BE49-F238E27FC236}">
                <a16:creationId xmlns:a16="http://schemas.microsoft.com/office/drawing/2014/main" id="{2AC67E6B-D953-4DC9-852E-6E7952582615}"/>
              </a:ext>
            </a:extLst>
          </p:cNvPr>
          <p:cNvSpPr/>
          <p:nvPr/>
        </p:nvSpPr>
        <p:spPr bwMode="auto">
          <a:xfrm>
            <a:off x="5895231" y="1886747"/>
            <a:ext cx="2029568" cy="469533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[KPLO-D0-550-008]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Payload Initial Performance TR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순서도: 문서 52">
            <a:extLst>
              <a:ext uri="{FF2B5EF4-FFF2-40B4-BE49-F238E27FC236}">
                <a16:creationId xmlns:a16="http://schemas.microsoft.com/office/drawing/2014/main" id="{117CBF8A-DB84-4AC9-89EA-EFE6232467AE}"/>
              </a:ext>
            </a:extLst>
          </p:cNvPr>
          <p:cNvSpPr/>
          <p:nvPr/>
        </p:nvSpPr>
        <p:spPr bwMode="auto">
          <a:xfrm>
            <a:off x="5895230" y="2601825"/>
            <a:ext cx="2029569" cy="469533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[KPLO-D0-550-491]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DTNPL Flight Model Thermal Vacuum TR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순서도: 문서 54">
            <a:extLst>
              <a:ext uri="{FF2B5EF4-FFF2-40B4-BE49-F238E27FC236}">
                <a16:creationId xmlns:a16="http://schemas.microsoft.com/office/drawing/2014/main" id="{6F669961-6B7B-4B45-918A-80FF5AE04CF5}"/>
              </a:ext>
            </a:extLst>
          </p:cNvPr>
          <p:cNvSpPr/>
          <p:nvPr/>
        </p:nvSpPr>
        <p:spPr bwMode="auto">
          <a:xfrm>
            <a:off x="5895231" y="3363889"/>
            <a:ext cx="2029566" cy="469532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[KPLO-D0-550-423]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DTNPL Flight Model Vibration TR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순서도: 문서 56">
            <a:extLst>
              <a:ext uri="{FF2B5EF4-FFF2-40B4-BE49-F238E27FC236}">
                <a16:creationId xmlns:a16="http://schemas.microsoft.com/office/drawing/2014/main" id="{99E7FE3D-51CD-435D-B5C5-D9651615D4BA}"/>
              </a:ext>
            </a:extLst>
          </p:cNvPr>
          <p:cNvSpPr/>
          <p:nvPr/>
        </p:nvSpPr>
        <p:spPr bwMode="auto">
          <a:xfrm>
            <a:off x="5895231" y="4198045"/>
            <a:ext cx="2029566" cy="469534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[KPLO-D0-550-421]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DTNPL Flight Model EMI/EMC TR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순서도: 문서 58">
            <a:extLst>
              <a:ext uri="{FF2B5EF4-FFF2-40B4-BE49-F238E27FC236}">
                <a16:creationId xmlns:a16="http://schemas.microsoft.com/office/drawing/2014/main" id="{83BEC918-5717-4AF4-A607-0B351B92BCFF}"/>
              </a:ext>
            </a:extLst>
          </p:cNvPr>
          <p:cNvSpPr/>
          <p:nvPr/>
        </p:nvSpPr>
        <p:spPr bwMode="auto">
          <a:xfrm>
            <a:off x="5895231" y="4969185"/>
            <a:ext cx="2029566" cy="469534"/>
          </a:xfrm>
          <a:prstGeom prst="flowChartDocument">
            <a:avLst/>
          </a:prstGeom>
          <a:noFill/>
          <a:ln w="317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[KPLO-D0-550-009]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eaLnBrk="1" latinLnBrk="1" hangingPunct="1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DTN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Payload Final Performance TR</a:t>
            </a:r>
            <a:endParaRPr lang="ko-KR" altLang="en-US" sz="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381968C5-5846-492E-B65F-9D79A0BE05E9}"/>
              </a:ext>
            </a:extLst>
          </p:cNvPr>
          <p:cNvCxnSpPr/>
          <p:nvPr/>
        </p:nvCxnSpPr>
        <p:spPr bwMode="auto">
          <a:xfrm flipV="1">
            <a:off x="5358610" y="2808113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3E06CDD5-C402-4012-A230-B9936B33AAE5}"/>
              </a:ext>
            </a:extLst>
          </p:cNvPr>
          <p:cNvCxnSpPr/>
          <p:nvPr/>
        </p:nvCxnSpPr>
        <p:spPr bwMode="auto">
          <a:xfrm flipV="1">
            <a:off x="5358609" y="2093035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E4E2BC4-6C0B-4F30-9F08-7DBEC3ABF7DF}"/>
              </a:ext>
            </a:extLst>
          </p:cNvPr>
          <p:cNvCxnSpPr/>
          <p:nvPr/>
        </p:nvCxnSpPr>
        <p:spPr bwMode="auto">
          <a:xfrm flipV="1">
            <a:off x="5358608" y="3600379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8A5DB618-58F8-4CC1-AE98-128169899DCB}"/>
              </a:ext>
            </a:extLst>
          </p:cNvPr>
          <p:cNvCxnSpPr/>
          <p:nvPr/>
        </p:nvCxnSpPr>
        <p:spPr bwMode="auto">
          <a:xfrm flipV="1">
            <a:off x="5358608" y="4404335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97C3ACE-0559-4BBF-8E20-6134D052AAFA}"/>
              </a:ext>
            </a:extLst>
          </p:cNvPr>
          <p:cNvCxnSpPr/>
          <p:nvPr/>
        </p:nvCxnSpPr>
        <p:spPr bwMode="auto">
          <a:xfrm flipV="1">
            <a:off x="5384408" y="5151445"/>
            <a:ext cx="490183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D9BF05F7-1EF6-4410-BD3D-82A77325827A}"/>
              </a:ext>
            </a:extLst>
          </p:cNvPr>
          <p:cNvCxnSpPr/>
          <p:nvPr/>
        </p:nvCxnSpPr>
        <p:spPr bwMode="auto">
          <a:xfrm>
            <a:off x="4414359" y="1616379"/>
            <a:ext cx="0" cy="2678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974B61F-AB03-4C96-BA3D-C7B0025C138E}"/>
              </a:ext>
            </a:extLst>
          </p:cNvPr>
          <p:cNvCxnSpPr/>
          <p:nvPr/>
        </p:nvCxnSpPr>
        <p:spPr bwMode="auto">
          <a:xfrm>
            <a:off x="4414359" y="2356280"/>
            <a:ext cx="0" cy="2678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7CA4381F-EFC4-4A01-8BCB-D1E6F4786F33}"/>
              </a:ext>
            </a:extLst>
          </p:cNvPr>
          <p:cNvCxnSpPr/>
          <p:nvPr/>
        </p:nvCxnSpPr>
        <p:spPr bwMode="auto">
          <a:xfrm>
            <a:off x="4398876" y="3101332"/>
            <a:ext cx="0" cy="2678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821CC23-AFD4-4ED7-8816-AB7BE4D6F60B}"/>
              </a:ext>
            </a:extLst>
          </p:cNvPr>
          <p:cNvCxnSpPr>
            <a:stCxn id="17" idx="2"/>
          </p:cNvCxnSpPr>
          <p:nvPr/>
        </p:nvCxnSpPr>
        <p:spPr bwMode="auto">
          <a:xfrm>
            <a:off x="4404040" y="3854431"/>
            <a:ext cx="0" cy="34361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6981E80-3175-4E79-97DF-AE59AE5CC20A}"/>
              </a:ext>
            </a:extLst>
          </p:cNvPr>
          <p:cNvCxnSpPr/>
          <p:nvPr/>
        </p:nvCxnSpPr>
        <p:spPr bwMode="auto">
          <a:xfrm>
            <a:off x="4414356" y="4667579"/>
            <a:ext cx="0" cy="26781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9DFA46D5-C93C-4D83-9DEC-5391BA64A985}"/>
              </a:ext>
            </a:extLst>
          </p:cNvPr>
          <p:cNvCxnSpPr>
            <a:stCxn id="21" idx="2"/>
          </p:cNvCxnSpPr>
          <p:nvPr/>
        </p:nvCxnSpPr>
        <p:spPr bwMode="auto">
          <a:xfrm>
            <a:off x="4404040" y="5414692"/>
            <a:ext cx="0" cy="34435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5373D218-D4E0-4D9E-B932-96DA2D35267D}"/>
              </a:ext>
            </a:extLst>
          </p:cNvPr>
          <p:cNvCxnSpPr>
            <a:stCxn id="23" idx="3"/>
            <a:endCxn id="25" idx="1"/>
          </p:cNvCxnSpPr>
          <p:nvPr/>
        </p:nvCxnSpPr>
        <p:spPr bwMode="auto">
          <a:xfrm flipV="1">
            <a:off x="5378703" y="5964627"/>
            <a:ext cx="630042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3B71C45-5993-48EC-97D8-98DA1CE9C1E8}"/>
              </a:ext>
            </a:extLst>
          </p:cNvPr>
          <p:cNvCxnSpPr/>
          <p:nvPr/>
        </p:nvCxnSpPr>
        <p:spPr bwMode="auto">
          <a:xfrm>
            <a:off x="6875722" y="5972157"/>
            <a:ext cx="629773" cy="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9D392C-1EEF-46A9-8779-6700353C3F0B}"/>
              </a:ext>
            </a:extLst>
          </p:cNvPr>
          <p:cNvSpPr/>
          <p:nvPr/>
        </p:nvSpPr>
        <p:spPr bwMode="auto">
          <a:xfrm>
            <a:off x="5188487" y="2215835"/>
            <a:ext cx="340242" cy="192809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/>
              <a:t>완료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243FFD2-F80B-4310-8DC1-171C520DB083}"/>
              </a:ext>
            </a:extLst>
          </p:cNvPr>
          <p:cNvSpPr/>
          <p:nvPr/>
        </p:nvSpPr>
        <p:spPr bwMode="auto">
          <a:xfrm>
            <a:off x="5188487" y="2937414"/>
            <a:ext cx="340242" cy="192809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/>
              <a:t>완료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B35EBA-DA9A-4440-96BF-4DD95B53417D}"/>
              </a:ext>
            </a:extLst>
          </p:cNvPr>
          <p:cNvSpPr/>
          <p:nvPr/>
        </p:nvSpPr>
        <p:spPr bwMode="auto">
          <a:xfrm>
            <a:off x="5188487" y="3735596"/>
            <a:ext cx="340242" cy="192809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/>
              <a:t>완료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7083789-335B-45C6-8E66-29D0AEE12F0C}"/>
              </a:ext>
            </a:extLst>
          </p:cNvPr>
          <p:cNvSpPr/>
          <p:nvPr/>
        </p:nvSpPr>
        <p:spPr bwMode="auto">
          <a:xfrm>
            <a:off x="7636410" y="2226552"/>
            <a:ext cx="825011" cy="192809"/>
          </a:xfrm>
          <a:prstGeom prst="rect">
            <a:avLst/>
          </a:prstGeom>
          <a:solidFill>
            <a:srgbClr val="FFFF00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/>
              <a:t>작성중</a:t>
            </a:r>
            <a:r>
              <a:rPr lang="ko-KR" altLang="en-US" sz="1000" dirty="0"/>
              <a:t> </a:t>
            </a:r>
            <a:r>
              <a:rPr lang="en-US" altLang="ko-KR" sz="1000" dirty="0"/>
              <a:t>(~8/4)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4C56E0-276F-4C1C-AE16-877FC23833F6}"/>
              </a:ext>
            </a:extLst>
          </p:cNvPr>
          <p:cNvSpPr/>
          <p:nvPr/>
        </p:nvSpPr>
        <p:spPr bwMode="auto">
          <a:xfrm>
            <a:off x="7636409" y="2937414"/>
            <a:ext cx="825011" cy="192809"/>
          </a:xfrm>
          <a:prstGeom prst="rect">
            <a:avLst/>
          </a:prstGeom>
          <a:solidFill>
            <a:srgbClr val="FFFF00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smtClean="0"/>
              <a:t>완료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5DAB5F-5FD4-450E-9217-9886F15CAE22}"/>
              </a:ext>
            </a:extLst>
          </p:cNvPr>
          <p:cNvSpPr/>
          <p:nvPr/>
        </p:nvSpPr>
        <p:spPr bwMode="auto">
          <a:xfrm>
            <a:off x="7636408" y="3723594"/>
            <a:ext cx="825011" cy="192809"/>
          </a:xfrm>
          <a:prstGeom prst="rect">
            <a:avLst/>
          </a:prstGeom>
          <a:solidFill>
            <a:srgbClr val="FFFF00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/>
              <a:t>작성중</a:t>
            </a:r>
            <a:r>
              <a:rPr lang="ko-KR" altLang="en-US" sz="1000" dirty="0"/>
              <a:t> </a:t>
            </a:r>
            <a:r>
              <a:rPr lang="en-US" altLang="ko-KR" sz="1000" dirty="0"/>
              <a:t>(~8/4)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F749D4A-0DD7-4B22-8257-F670E87D98B9}"/>
              </a:ext>
            </a:extLst>
          </p:cNvPr>
          <p:cNvSpPr/>
          <p:nvPr/>
        </p:nvSpPr>
        <p:spPr bwMode="auto">
          <a:xfrm>
            <a:off x="5090028" y="4521135"/>
            <a:ext cx="630042" cy="202578"/>
          </a:xfrm>
          <a:prstGeom prst="rect">
            <a:avLst/>
          </a:prstGeom>
          <a:solidFill>
            <a:srgbClr val="FFFF00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/>
              <a:t>8/5~8/7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1F9BD40-C954-456D-AC95-112B541EFAAC}"/>
              </a:ext>
            </a:extLst>
          </p:cNvPr>
          <p:cNvSpPr/>
          <p:nvPr/>
        </p:nvSpPr>
        <p:spPr bwMode="auto">
          <a:xfrm>
            <a:off x="5090028" y="5288659"/>
            <a:ext cx="630042" cy="202578"/>
          </a:xfrm>
          <a:prstGeom prst="rect">
            <a:avLst/>
          </a:prstGeom>
          <a:solidFill>
            <a:srgbClr val="FFFF00"/>
          </a:solidFill>
          <a:ln w="3175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/>
              <a:t>8/24~8/28</a:t>
            </a:r>
            <a:endParaRPr kumimoji="1" lang="ko-KR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540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맑은 고딕" panose="020B0503020000020004" pitchFamily="50" charset="-127"/>
              </a:rPr>
              <a:t>환경시험 현황</a:t>
            </a:r>
            <a:r>
              <a:rPr lang="en-US" altLang="ko-KR" dirty="0">
                <a:latin typeface="맑은 고딕" panose="020B0503020000020004" pitchFamily="50" charset="-127"/>
              </a:rPr>
              <a:t>(2)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endParaRPr lang="en-US" altLang="ko-KR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3C687D8E-15C4-4D12-BE51-60099BA53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057885"/>
              </p:ext>
            </p:extLst>
          </p:nvPr>
        </p:nvGraphicFramePr>
        <p:xfrm>
          <a:off x="350042" y="1731920"/>
          <a:ext cx="8677275" cy="281098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88381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  <a:gridCol w="3870251">
                  <a:extLst>
                    <a:ext uri="{9D8B030D-6E8A-4147-A177-3AD203B41FA5}">
                      <a16:colId xmlns:a16="http://schemas.microsoft.com/office/drawing/2014/main" val="1607014701"/>
                    </a:ext>
                  </a:extLst>
                </a:gridCol>
                <a:gridCol w="1291856">
                  <a:extLst>
                    <a:ext uri="{9D8B030D-6E8A-4147-A177-3AD203B41FA5}">
                      <a16:colId xmlns:a16="http://schemas.microsoft.com/office/drawing/2014/main" val="1115942735"/>
                    </a:ext>
                  </a:extLst>
                </a:gridCol>
                <a:gridCol w="2126787">
                  <a:extLst>
                    <a:ext uri="{9D8B030D-6E8A-4147-A177-3AD203B41FA5}">
                      <a16:colId xmlns:a16="http://schemas.microsoft.com/office/drawing/2014/main" val="3389954720"/>
                    </a:ext>
                  </a:extLst>
                </a:gridCol>
              </a:tblGrid>
              <a:tr h="3089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5149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Initial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Performance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[1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]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FM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제작완료 이후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HW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기반 시험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(4/1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~4/9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[2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]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ION SW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기반 시험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(7/16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~7/17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시험완료</a:t>
                      </a:r>
                      <a:endParaRPr lang="en-US" altLang="ko-KR" sz="1200" kern="12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결과정리 중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5149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Thermal Vacuum Test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7/20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~7/24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(@KASI)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시험완료</a:t>
                      </a:r>
                      <a:endParaRPr lang="en-US" altLang="ko-KR" sz="1200" kern="12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결과정리 중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NCR&amp;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RFW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자료 송부 완료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811072"/>
                  </a:ext>
                </a:extLst>
              </a:tr>
              <a:tr h="3089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Vibration Test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7/27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7/28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(@KTL)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rgbClr val="0000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시험완료</a:t>
                      </a:r>
                      <a:endParaRPr lang="en-US" altLang="ko-KR" sz="1200" kern="1200" dirty="0">
                        <a:solidFill>
                          <a:srgbClr val="0000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결과정리 중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05327"/>
                  </a:ext>
                </a:extLst>
              </a:tr>
              <a:tr h="5149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EMC Test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8/5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수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8/7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(@Osong)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Debugging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kern="120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결과정리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중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NC 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사항에 대해서 논의 필요함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451870"/>
                  </a:ext>
                </a:extLst>
              </a:tr>
              <a:tr h="4999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Final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Performance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Test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8/10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 8/11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 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- 1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 진행 완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4219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94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</a:rPr>
              <a:t>TRS Lists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1" y="981307"/>
            <a:ext cx="8647469" cy="5191424"/>
          </a:xfrm>
        </p:spPr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1377876"/>
            <a:ext cx="8736072" cy="267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41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향후 일정 </a:t>
            </a:r>
            <a:endParaRPr lang="en-US" altLang="ko-KR" dirty="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ECAFF837-8676-44CB-9B4F-D7F689C26E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779049"/>
              </p:ext>
            </p:extLst>
          </p:nvPr>
        </p:nvGraphicFramePr>
        <p:xfrm>
          <a:off x="702302" y="1706520"/>
          <a:ext cx="7739395" cy="21866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7808">
                  <a:extLst>
                    <a:ext uri="{9D8B030D-6E8A-4147-A177-3AD203B41FA5}">
                      <a16:colId xmlns:a16="http://schemas.microsoft.com/office/drawing/2014/main" val="1900734866"/>
                    </a:ext>
                  </a:extLst>
                </a:gridCol>
                <a:gridCol w="4410240">
                  <a:extLst>
                    <a:ext uri="{9D8B030D-6E8A-4147-A177-3AD203B41FA5}">
                      <a16:colId xmlns:a16="http://schemas.microsoft.com/office/drawing/2014/main" val="1607014701"/>
                    </a:ext>
                  </a:extLst>
                </a:gridCol>
                <a:gridCol w="1831347">
                  <a:extLst>
                    <a:ext uri="{9D8B030D-6E8A-4147-A177-3AD203B41FA5}">
                      <a16:colId xmlns:a16="http://schemas.microsoft.com/office/drawing/2014/main" val="3389954720"/>
                    </a:ext>
                  </a:extLst>
                </a:gridCol>
              </a:tblGrid>
              <a:tr h="3798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시험항목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910779"/>
                  </a:ext>
                </a:extLst>
              </a:tr>
              <a:tr h="7868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8/10(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UART/USRT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I/F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시험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UART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통신에서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ACK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를 정상적으로 보냈는지 검증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USRT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이중화 버스 정상적으로 데이터 나가는지 검증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차 시험 실패 </a:t>
                      </a:r>
                      <a:endParaRPr lang="en-US" altLang="ko-KR" sz="1200" kern="120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1450" marR="0" lvl="0" indent="-17145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03174"/>
                  </a:ext>
                </a:extLst>
              </a:tr>
              <a:tr h="6330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8/20(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UART/USRT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I/F</a:t>
                      </a:r>
                      <a:r>
                        <a:rPr lang="ko-KR" altLang="en-US" sz="12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200" b="1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시험 재 시험</a:t>
                      </a:r>
                      <a:endParaRPr lang="en-US" altLang="ko-KR" sz="12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UART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통신에서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ACK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를 정상적으로 보냈는지 검증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USRT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이중화 버스 정상적으로 데이터 나가는지 검증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811072"/>
                  </a:ext>
                </a:extLst>
              </a:tr>
              <a:tr h="3798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9/10(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목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)~9/11(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Bus-DTNPL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I/F </a:t>
                      </a:r>
                      <a:r>
                        <a:rPr lang="ko-KR" altLang="en-US" sz="1200" kern="120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시험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705327"/>
                  </a:ext>
                </a:extLst>
              </a:tr>
            </a:tbl>
          </a:graphicData>
        </a:graphic>
      </p:graphicFrame>
      <p:sp>
        <p:nvSpPr>
          <p:cNvPr id="6" name="내용 개체 틀 6"/>
          <p:cNvSpPr txBox="1">
            <a:spLocks/>
          </p:cNvSpPr>
          <p:nvPr/>
        </p:nvSpPr>
        <p:spPr bwMode="auto">
          <a:xfrm>
            <a:off x="385762" y="1133707"/>
            <a:ext cx="8910637" cy="429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smtClean="0">
                <a:sym typeface="Wingdings" panose="05000000000000000000" pitchFamily="2" charset="2"/>
              </a:rPr>
              <a:t>ETB </a:t>
            </a:r>
            <a:r>
              <a:rPr lang="ko-KR" altLang="en-US" sz="1800" dirty="0" smtClean="0">
                <a:sym typeface="Wingdings" panose="05000000000000000000" pitchFamily="2" charset="2"/>
              </a:rPr>
              <a:t>준비</a:t>
            </a:r>
            <a:endParaRPr lang="en-US" altLang="ko-KR" sz="1800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2"/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8" name="내용 개체 틀 6"/>
          <p:cNvSpPr txBox="1">
            <a:spLocks/>
          </p:cNvSpPr>
          <p:nvPr/>
        </p:nvSpPr>
        <p:spPr bwMode="auto">
          <a:xfrm>
            <a:off x="385761" y="4036305"/>
            <a:ext cx="8910637" cy="429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800" dirty="0" smtClean="0">
                <a:sym typeface="Wingdings" panose="05000000000000000000" pitchFamily="2" charset="2"/>
              </a:rPr>
              <a:t>향 후 일정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2"/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9" name="내용 개체 틀 6"/>
          <p:cNvSpPr txBox="1">
            <a:spLocks/>
          </p:cNvSpPr>
          <p:nvPr/>
        </p:nvSpPr>
        <p:spPr bwMode="auto">
          <a:xfrm>
            <a:off x="702302" y="4501338"/>
            <a:ext cx="8134127" cy="1864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 smtClean="0">
                <a:sym typeface="Wingdings" panose="05000000000000000000" pitchFamily="2" charset="2"/>
              </a:rPr>
              <a:t>8/24 </a:t>
            </a:r>
            <a:r>
              <a:rPr lang="ko-KR" altLang="en-US" sz="1800" dirty="0" smtClean="0">
                <a:sym typeface="Wingdings" panose="05000000000000000000" pitchFamily="2" charset="2"/>
              </a:rPr>
              <a:t>이후 </a:t>
            </a:r>
            <a:r>
              <a:rPr lang="en-US" altLang="ko-KR" sz="1800" dirty="0" smtClean="0">
                <a:sym typeface="Wingdings" panose="05000000000000000000" pitchFamily="2" charset="2"/>
              </a:rPr>
              <a:t>HYU</a:t>
            </a:r>
            <a:r>
              <a:rPr lang="ko-KR" altLang="en-US" sz="1800" dirty="0" smtClean="0">
                <a:sym typeface="Wingdings" panose="05000000000000000000" pitchFamily="2" charset="2"/>
              </a:rPr>
              <a:t>로 </a:t>
            </a:r>
            <a:r>
              <a:rPr lang="en-US" altLang="ko-KR" sz="1800" dirty="0" smtClean="0">
                <a:sym typeface="Wingdings" panose="05000000000000000000" pitchFamily="2" charset="2"/>
              </a:rPr>
              <a:t>QM </a:t>
            </a:r>
            <a:r>
              <a:rPr lang="ko-KR" altLang="en-US" sz="1800" dirty="0" smtClean="0">
                <a:sym typeface="Wingdings" panose="05000000000000000000" pitchFamily="2" charset="2"/>
              </a:rPr>
              <a:t>이동 </a:t>
            </a:r>
            <a:endParaRPr lang="en-US" altLang="ko-KR" sz="1800" dirty="0" smtClean="0">
              <a:sym typeface="Wingdings" panose="05000000000000000000" pitchFamily="2" charset="2"/>
            </a:endParaRPr>
          </a:p>
          <a:p>
            <a:r>
              <a:rPr lang="en-US" altLang="ko-KR" sz="1800" dirty="0" smtClean="0">
                <a:sym typeface="Wingdings" panose="05000000000000000000" pitchFamily="2" charset="2"/>
              </a:rPr>
              <a:t>Backup process</a:t>
            </a:r>
            <a:r>
              <a:rPr lang="ko-KR" altLang="en-US" sz="1800" dirty="0" smtClean="0">
                <a:sym typeface="Wingdings" panose="05000000000000000000" pitchFamily="2" charset="2"/>
              </a:rPr>
              <a:t>로 </a:t>
            </a:r>
            <a:r>
              <a:rPr lang="en-US" altLang="ko-KR" sz="1800" dirty="0" smtClean="0">
                <a:sym typeface="Wingdings" panose="05000000000000000000" pitchFamily="2" charset="2"/>
              </a:rPr>
              <a:t>SW </a:t>
            </a:r>
            <a:r>
              <a:rPr lang="ko-KR" altLang="en-US" sz="1800" dirty="0" smtClean="0">
                <a:sym typeface="Wingdings" panose="05000000000000000000" pitchFamily="2" charset="2"/>
              </a:rPr>
              <a:t>미흡 사항 개발 진행</a:t>
            </a:r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3"/>
            <a:endParaRPr lang="en-US" altLang="ko-KR" dirty="0" smtClean="0">
              <a:sym typeface="Wingdings" panose="05000000000000000000" pitchFamily="2" charset="2"/>
            </a:endParaRPr>
          </a:p>
          <a:p>
            <a:pPr lvl="2"/>
            <a:endParaRPr lang="en-US" altLang="ko-KR" dirty="0" smtClean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31569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맑은 고딕" panose="020B0503020000020004" pitchFamily="50" charset="-127"/>
              </a:rPr>
              <a:t>EMC Issue </a:t>
            </a:r>
            <a:r>
              <a:rPr lang="ko-KR" altLang="en-US" dirty="0" smtClean="0">
                <a:latin typeface="맑은 고딕" panose="020B0503020000020004" pitchFamily="50" charset="-127"/>
              </a:rPr>
              <a:t>상황 정리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664453" cy="5191424"/>
          </a:xfrm>
        </p:spPr>
        <p:txBody>
          <a:bodyPr/>
          <a:lstStyle/>
          <a:p>
            <a:r>
              <a:rPr lang="ko-KR" altLang="en-US" dirty="0">
                <a:sym typeface="Wingdings" panose="05000000000000000000" pitchFamily="2" charset="2"/>
              </a:rPr>
              <a:t>상황 정리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DTNPL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FM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EMC</a:t>
            </a:r>
            <a:r>
              <a:rPr lang="ko-KR" altLang="en-US" dirty="0">
                <a:sym typeface="Wingdings" panose="05000000000000000000" pitchFamily="2" charset="2"/>
              </a:rPr>
              <a:t> 시험 중 아래 항목에서 </a:t>
            </a:r>
            <a:r>
              <a:rPr lang="en-US" altLang="ko-KR" dirty="0">
                <a:sym typeface="Wingdings" panose="05000000000000000000" pitchFamily="2" charset="2"/>
              </a:rPr>
              <a:t>NC </a:t>
            </a:r>
            <a:r>
              <a:rPr lang="ko-KR" altLang="en-US" dirty="0">
                <a:sym typeface="Wingdings" panose="05000000000000000000" pitchFamily="2" charset="2"/>
              </a:rPr>
              <a:t>사항 발생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Isolation Resistance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CE, TD, Current &amp; Voltage Ripple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DM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CM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CE, TD, Inrush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di/dt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CE, FD, Power Line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CE, FD, Signal Lines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RE, Electric filed</a:t>
            </a:r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20.08.11 </a:t>
            </a:r>
            <a:r>
              <a:rPr lang="ko-KR" altLang="en-US" dirty="0">
                <a:sym typeface="Wingdings" panose="05000000000000000000" pitchFamily="2" charset="2"/>
              </a:rPr>
              <a:t>분석을 위해 </a:t>
            </a:r>
            <a:r>
              <a:rPr lang="en-US" altLang="ko-KR" dirty="0">
                <a:sym typeface="Wingdings" panose="05000000000000000000" pitchFamily="2" charset="2"/>
              </a:rPr>
              <a:t>Debug </a:t>
            </a:r>
            <a:r>
              <a:rPr lang="ko-KR" altLang="en-US" dirty="0">
                <a:sym typeface="Wingdings" panose="05000000000000000000" pitchFamily="2" charset="2"/>
              </a:rPr>
              <a:t>진행하였음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08297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내용 개체 틀 6">
            <a:extLst>
              <a:ext uri="{FF2B5EF4-FFF2-40B4-BE49-F238E27FC236}">
                <a16:creationId xmlns:a16="http://schemas.microsoft.com/office/drawing/2014/main" id="{1D7B6DE4-E4E4-4575-AB51-980A27EB1D0C}"/>
              </a:ext>
            </a:extLst>
          </p:cNvPr>
          <p:cNvSpPr txBox="1">
            <a:spLocks/>
          </p:cNvSpPr>
          <p:nvPr/>
        </p:nvSpPr>
        <p:spPr bwMode="auto">
          <a:xfrm>
            <a:off x="233363" y="947651"/>
            <a:ext cx="8910637" cy="5748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>
                <a:sym typeface="Wingdings" panose="05000000000000000000" pitchFamily="2" charset="2"/>
              </a:rPr>
              <a:t>CE, CM</a:t>
            </a:r>
            <a:r>
              <a:rPr lang="ko-KR" altLang="en-US" sz="1800" dirty="0">
                <a:sym typeface="Wingdings" panose="05000000000000000000" pitchFamily="2" charset="2"/>
              </a:rPr>
              <a:t>에서 아래와 같은 높은 기준치 이상 있어 </a:t>
            </a:r>
            <a:r>
              <a:rPr lang="en-US" altLang="ko-KR" sz="1800" dirty="0">
                <a:sym typeface="Wingdings" panose="05000000000000000000" pitchFamily="2" charset="2"/>
              </a:rPr>
              <a:t>Debug </a:t>
            </a:r>
            <a:r>
              <a:rPr lang="ko-KR" altLang="en-US" sz="1800" dirty="0">
                <a:sym typeface="Wingdings" panose="05000000000000000000" pitchFamily="2" charset="2"/>
              </a:rPr>
              <a:t>진행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endParaRPr lang="en-US" altLang="ko-KR" sz="1800" dirty="0">
              <a:sym typeface="Wingdings" panose="05000000000000000000" pitchFamily="2" charset="2"/>
            </a:endParaRPr>
          </a:p>
          <a:p>
            <a:endParaRPr lang="en-US" altLang="ko-KR" sz="1800" dirty="0">
              <a:sym typeface="Wingdings" panose="05000000000000000000" pitchFamily="2" charset="2"/>
            </a:endParaRPr>
          </a:p>
          <a:p>
            <a:endParaRPr lang="en-US" altLang="ko-KR" sz="1800" dirty="0">
              <a:sym typeface="Wingdings" panose="05000000000000000000" pitchFamily="2" charset="2"/>
            </a:endParaRPr>
          </a:p>
          <a:p>
            <a:endParaRPr lang="en-US" altLang="ko-KR" sz="1800" dirty="0">
              <a:sym typeface="Wingdings" panose="05000000000000000000" pitchFamily="2" charset="2"/>
            </a:endParaRPr>
          </a:p>
          <a:p>
            <a:endParaRPr lang="en-US" altLang="ko-KR" sz="1800" dirty="0">
              <a:sym typeface="Wingdings" panose="05000000000000000000" pitchFamily="2" charset="2"/>
            </a:endParaRPr>
          </a:p>
          <a:p>
            <a:endParaRPr lang="en-US" altLang="ko-KR" sz="1800" dirty="0">
              <a:sym typeface="Wingdings" panose="05000000000000000000" pitchFamily="2" charset="2"/>
            </a:endParaRPr>
          </a:p>
          <a:p>
            <a:r>
              <a:rPr lang="ko-KR" altLang="en-US" sz="1800" dirty="0">
                <a:sym typeface="Wingdings" panose="05000000000000000000" pitchFamily="2" charset="2"/>
              </a:rPr>
              <a:t>아래 사진과 같이 </a:t>
            </a:r>
            <a:r>
              <a:rPr lang="en-US" altLang="ko-KR" sz="1800" dirty="0">
                <a:sym typeface="Wingdings" panose="05000000000000000000" pitchFamily="2" charset="2"/>
              </a:rPr>
              <a:t>1</a:t>
            </a:r>
            <a:r>
              <a:rPr lang="en-US" altLang="ko-KR" sz="1800" baseline="30000" dirty="0">
                <a:sym typeface="Wingdings" panose="05000000000000000000" pitchFamily="2" charset="2"/>
              </a:rPr>
              <a:t>st</a:t>
            </a:r>
            <a:r>
              <a:rPr lang="en-US" altLang="ko-KR" sz="1800" dirty="0">
                <a:sym typeface="Wingdings" panose="05000000000000000000" pitchFamily="2" charset="2"/>
              </a:rPr>
              <a:t> RTN – </a:t>
            </a:r>
            <a:r>
              <a:rPr lang="en-US" altLang="ko-KR" sz="1800" dirty="0" err="1">
                <a:sym typeface="Wingdings" panose="05000000000000000000" pitchFamily="2" charset="2"/>
              </a:rPr>
              <a:t>Chassie</a:t>
            </a:r>
            <a:r>
              <a:rPr lang="ko-KR" altLang="en-US" sz="1800" dirty="0">
                <a:sym typeface="Wingdings" panose="05000000000000000000" pitchFamily="2" charset="2"/>
              </a:rPr>
              <a:t>를 연결하여 오른쪽과 같은 측정값 감소 확인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맑은 고딕" panose="020B0503020000020004" pitchFamily="50" charset="-127"/>
              </a:rPr>
              <a:t>EMC Issue </a:t>
            </a:r>
            <a:r>
              <a:rPr lang="ko-KR" altLang="en-US" dirty="0" smtClean="0">
                <a:latin typeface="맑은 고딕" panose="020B0503020000020004" pitchFamily="50" charset="-127"/>
              </a:rPr>
              <a:t>원인 </a:t>
            </a:r>
            <a:r>
              <a:rPr lang="ko-KR" altLang="en-US" dirty="0">
                <a:latin typeface="맑은 고딕" panose="020B0503020000020004" pitchFamily="50" charset="-127"/>
              </a:rPr>
              <a:t>분석 및 해결 방안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1AE1579-DD7C-4910-8F11-82B001FC6A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863" y="3677412"/>
            <a:ext cx="2913560" cy="2185169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ED0241C-1551-4BE2-83B2-D720454BA1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737" y="3677412"/>
            <a:ext cx="2913560" cy="2185169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56AB01EA-8488-467F-BC42-B628067EF7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48485" y="4007215"/>
            <a:ext cx="2638426" cy="197882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1B72726F-B2F7-4225-BCEB-51941A988D4C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874" y="1302918"/>
            <a:ext cx="4743726" cy="168793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6E0CDEAC-3F46-469A-96AE-BA8934CCCDCF}"/>
              </a:ext>
            </a:extLst>
          </p:cNvPr>
          <p:cNvSpPr/>
          <p:nvPr/>
        </p:nvSpPr>
        <p:spPr bwMode="auto">
          <a:xfrm>
            <a:off x="2809736" y="5934838"/>
            <a:ext cx="1273314" cy="30086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빨강색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-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기존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93ED4F3-C006-4559-A3C5-698075524685}"/>
              </a:ext>
            </a:extLst>
          </p:cNvPr>
          <p:cNvSpPr/>
          <p:nvPr/>
        </p:nvSpPr>
        <p:spPr bwMode="auto">
          <a:xfrm>
            <a:off x="4183128" y="5934838"/>
            <a:ext cx="1490738" cy="30086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검은색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–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처리 후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26E25081-1B35-4FA7-97FB-C85DA6403834}"/>
              </a:ext>
            </a:extLst>
          </p:cNvPr>
          <p:cNvSpPr/>
          <p:nvPr/>
        </p:nvSpPr>
        <p:spPr bwMode="auto">
          <a:xfrm>
            <a:off x="5949590" y="5934838"/>
            <a:ext cx="2911833" cy="300862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검은색 </a:t>
            </a:r>
            <a:r>
              <a:rPr kumimoji="1" lang="en-US" altLang="ko-KR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– QM </a:t>
            </a:r>
            <a:r>
              <a:rPr kumimoji="1" lang="ko-KR" altLang="en-US" sz="1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굴림" panose="020B0600000101010101" pitchFamily="50" charset="-127"/>
              </a:rPr>
              <a:t>특성</a:t>
            </a:r>
          </a:p>
        </p:txBody>
      </p:sp>
    </p:spTree>
    <p:extLst>
      <p:ext uri="{BB962C8B-B14F-4D97-AF65-F5344CB8AC3E}">
        <p14:creationId xmlns:p14="http://schemas.microsoft.com/office/powerpoint/2010/main" val="419224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맑은 고딕" panose="020B0503020000020004" pitchFamily="50" charset="-127"/>
              </a:rPr>
              <a:t>EMC Issue </a:t>
            </a:r>
            <a:r>
              <a:rPr lang="ko-KR" altLang="en-US" dirty="0" smtClean="0">
                <a:latin typeface="맑은 고딕" panose="020B0503020000020004" pitchFamily="50" charset="-127"/>
              </a:rPr>
              <a:t>원인 </a:t>
            </a:r>
            <a:r>
              <a:rPr lang="ko-KR" altLang="en-US" dirty="0">
                <a:latin typeface="맑은 고딕" panose="020B0503020000020004" pitchFamily="50" charset="-127"/>
              </a:rPr>
              <a:t>분석 및 해결 방안</a:t>
            </a:r>
            <a:endParaRPr lang="en-US" altLang="ko-KR" dirty="0">
              <a:latin typeface="맑은 고딕" panose="020B0503020000020004" pitchFamily="50" charset="-127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2" y="981307"/>
            <a:ext cx="8910637" cy="5191424"/>
          </a:xfrm>
        </p:spPr>
        <p:txBody>
          <a:bodyPr/>
          <a:lstStyle/>
          <a:p>
            <a:r>
              <a:rPr lang="ko-KR" altLang="en-US" sz="1800" dirty="0">
                <a:sym typeface="Wingdings" panose="05000000000000000000" pitchFamily="2" charset="2"/>
              </a:rPr>
              <a:t>원인 분석 결과 </a:t>
            </a:r>
            <a:r>
              <a:rPr lang="en-US" altLang="ko-KR" sz="1800" dirty="0">
                <a:sym typeface="Wingdings" panose="05000000000000000000" pitchFamily="2" charset="2"/>
              </a:rPr>
              <a:t>1st GND</a:t>
            </a:r>
            <a:r>
              <a:rPr lang="ko-KR" altLang="en-US" sz="1800" dirty="0">
                <a:sym typeface="Wingdings" panose="05000000000000000000" pitchFamily="2" charset="2"/>
              </a:rPr>
              <a:t>를 </a:t>
            </a:r>
            <a:r>
              <a:rPr lang="en-US" altLang="ko-KR" sz="1800" dirty="0" smtClean="0">
                <a:sym typeface="Wingdings" panose="05000000000000000000" pitchFamily="2" charset="2"/>
              </a:rPr>
              <a:t>chassis </a:t>
            </a:r>
            <a:r>
              <a:rPr lang="ko-KR" altLang="en-US" sz="1800" dirty="0">
                <a:sym typeface="Wingdings" panose="05000000000000000000" pitchFamily="2" charset="2"/>
              </a:rPr>
              <a:t>및 </a:t>
            </a:r>
            <a:r>
              <a:rPr lang="en-US" altLang="ko-KR" sz="1800" dirty="0">
                <a:sym typeface="Wingdings" panose="05000000000000000000" pitchFamily="2" charset="2"/>
              </a:rPr>
              <a:t>2nd GND</a:t>
            </a:r>
            <a:r>
              <a:rPr lang="ko-KR" altLang="en-US" sz="1800" dirty="0">
                <a:sym typeface="Wingdings" panose="05000000000000000000" pitchFamily="2" charset="2"/>
              </a:rPr>
              <a:t>와 </a:t>
            </a:r>
            <a:r>
              <a:rPr lang="ko-KR" altLang="en-US" sz="1800" dirty="0" smtClean="0">
                <a:sym typeface="Wingdings" panose="05000000000000000000" pitchFamily="2" charset="2"/>
              </a:rPr>
              <a:t>연결 처리하는 </a:t>
            </a:r>
            <a:r>
              <a:rPr lang="ko-KR" altLang="en-US" sz="1800" dirty="0">
                <a:sym typeface="Wingdings" panose="05000000000000000000" pitchFamily="2" charset="2"/>
              </a:rPr>
              <a:t>것이 가장 큰 효과가 있음</a:t>
            </a:r>
            <a:r>
              <a:rPr lang="en-US" altLang="ko-KR" sz="1800" dirty="0">
                <a:sym typeface="Wingdings" panose="05000000000000000000" pitchFamily="2" charset="2"/>
              </a:rPr>
              <a:t>, </a:t>
            </a:r>
            <a:r>
              <a:rPr lang="ko-KR" altLang="en-US" sz="1800" dirty="0">
                <a:sym typeface="Wingdings" panose="05000000000000000000" pitchFamily="2" charset="2"/>
              </a:rPr>
              <a:t>따라서 현재 </a:t>
            </a:r>
            <a:r>
              <a:rPr lang="en-US" altLang="ko-KR" sz="1800" dirty="0">
                <a:sym typeface="Wingdings" panose="05000000000000000000" pitchFamily="2" charset="2"/>
              </a:rPr>
              <a:t>EMC </a:t>
            </a:r>
            <a:r>
              <a:rPr lang="ko-KR" altLang="en-US" sz="1800" dirty="0">
                <a:sym typeface="Wingdings" panose="05000000000000000000" pitchFamily="2" charset="2"/>
              </a:rPr>
              <a:t>상황에서 </a:t>
            </a:r>
            <a:r>
              <a:rPr lang="en-US" altLang="ko-KR" sz="1800" dirty="0">
                <a:sym typeface="Wingdings" panose="05000000000000000000" pitchFamily="2" charset="2"/>
              </a:rPr>
              <a:t>3</a:t>
            </a:r>
            <a:r>
              <a:rPr lang="ko-KR" altLang="en-US" sz="1800" dirty="0">
                <a:sym typeface="Wingdings" panose="05000000000000000000" pitchFamily="2" charset="2"/>
              </a:rPr>
              <a:t>가지의 아래와 같은 방법이 있음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sz="1800" dirty="0">
                <a:sym typeface="Wingdings" panose="05000000000000000000" pitchFamily="2" charset="2"/>
              </a:rPr>
              <a:t>해결방안</a:t>
            </a:r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방안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FM </a:t>
            </a:r>
            <a:r>
              <a:rPr lang="ko-KR" altLang="en-US" dirty="0">
                <a:sym typeface="Wingdings" panose="05000000000000000000" pitchFamily="2" charset="2"/>
              </a:rPr>
              <a:t>개봉 후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en-US" altLang="ko-KR" baseline="30000" dirty="0">
                <a:sym typeface="Wingdings" panose="05000000000000000000" pitchFamily="2" charset="2"/>
              </a:rPr>
              <a:t>st</a:t>
            </a:r>
            <a:r>
              <a:rPr lang="en-US" altLang="ko-KR" dirty="0">
                <a:sym typeface="Wingdings" panose="05000000000000000000" pitchFamily="2" charset="2"/>
              </a:rPr>
              <a:t> – 2</a:t>
            </a:r>
            <a:r>
              <a:rPr lang="en-US" altLang="ko-KR" baseline="30000" dirty="0">
                <a:sym typeface="Wingdings" panose="05000000000000000000" pitchFamily="2" charset="2"/>
              </a:rPr>
              <a:t>nd</a:t>
            </a:r>
            <a:r>
              <a:rPr lang="en-US" altLang="ko-KR" dirty="0">
                <a:sym typeface="Wingdings" panose="05000000000000000000" pitchFamily="2" charset="2"/>
              </a:rPr>
              <a:t> GND </a:t>
            </a:r>
            <a:r>
              <a:rPr lang="ko-KR" altLang="en-US" dirty="0">
                <a:sym typeface="Wingdings" panose="05000000000000000000" pitchFamily="2" charset="2"/>
              </a:rPr>
              <a:t>연결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ETRI </a:t>
            </a:r>
            <a:r>
              <a:rPr lang="ko-KR" altLang="en-US" dirty="0">
                <a:sym typeface="Wingdings" panose="05000000000000000000" pitchFamily="2" charset="2"/>
              </a:rPr>
              <a:t>협의 필요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방안 </a:t>
            </a:r>
            <a:r>
              <a:rPr lang="en-US" altLang="ko-KR" dirty="0">
                <a:sym typeface="Wingdings" panose="05000000000000000000" pitchFamily="2" charset="2"/>
              </a:rPr>
              <a:t>2 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EMC </a:t>
            </a:r>
            <a:r>
              <a:rPr lang="ko-KR" altLang="en-US" dirty="0">
                <a:sym typeface="Wingdings" panose="05000000000000000000" pitchFamily="2" charset="2"/>
              </a:rPr>
              <a:t>현재 성적서로 </a:t>
            </a:r>
            <a:r>
              <a:rPr lang="en-US" altLang="ko-KR" dirty="0">
                <a:sym typeface="Wingdings" panose="05000000000000000000" pitchFamily="2" charset="2"/>
              </a:rPr>
              <a:t>Waiver </a:t>
            </a:r>
            <a:r>
              <a:rPr lang="ko-KR" altLang="en-US" dirty="0">
                <a:sym typeface="Wingdings" panose="05000000000000000000" pitchFamily="2" charset="2"/>
              </a:rPr>
              <a:t>처리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ETRI </a:t>
            </a:r>
            <a:r>
              <a:rPr lang="ko-KR" altLang="en-US" dirty="0">
                <a:sym typeface="Wingdings" panose="05000000000000000000" pitchFamily="2" charset="2"/>
              </a:rPr>
              <a:t>협의 필요 및 </a:t>
            </a:r>
            <a:r>
              <a:rPr lang="en-US" altLang="ko-KR" dirty="0">
                <a:sym typeface="Wingdings" panose="05000000000000000000" pitchFamily="2" charset="2"/>
              </a:rPr>
              <a:t>EMC </a:t>
            </a:r>
            <a:r>
              <a:rPr lang="ko-KR" altLang="en-US" dirty="0">
                <a:sym typeface="Wingdings" panose="05000000000000000000" pitchFamily="2" charset="2"/>
              </a:rPr>
              <a:t>성적서 발행 요청 필요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현재 </a:t>
            </a:r>
            <a:r>
              <a:rPr lang="en-US" altLang="ko-KR" dirty="0">
                <a:sym typeface="Wingdings" panose="05000000000000000000" pitchFamily="2" charset="2"/>
              </a:rPr>
              <a:t>EMC </a:t>
            </a:r>
            <a:r>
              <a:rPr lang="ko-KR" altLang="en-US" dirty="0">
                <a:sym typeface="Wingdings" panose="05000000000000000000" pitchFamily="2" charset="2"/>
              </a:rPr>
              <a:t>성적서는 </a:t>
            </a:r>
            <a:r>
              <a:rPr lang="en-US" altLang="ko-KR" dirty="0">
                <a:sym typeface="Wingdings" panose="05000000000000000000" pitchFamily="2" charset="2"/>
              </a:rPr>
              <a:t>KBIO</a:t>
            </a:r>
            <a:r>
              <a:rPr lang="ko-KR" altLang="en-US" dirty="0">
                <a:sym typeface="Wingdings" panose="05000000000000000000" pitchFamily="2" charset="2"/>
              </a:rPr>
              <a:t>에 </a:t>
            </a:r>
            <a:r>
              <a:rPr lang="en-US" altLang="ko-KR" dirty="0">
                <a:sym typeface="Wingdings" panose="05000000000000000000" pitchFamily="2" charset="2"/>
              </a:rPr>
              <a:t>Holding </a:t>
            </a:r>
            <a:r>
              <a:rPr lang="ko-KR" altLang="en-US" dirty="0">
                <a:sym typeface="Wingdings" panose="05000000000000000000" pitchFamily="2" charset="2"/>
              </a:rPr>
              <a:t>요청한 상태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방안 </a:t>
            </a:r>
            <a:r>
              <a:rPr lang="en-US" altLang="ko-KR" dirty="0">
                <a:sym typeface="Wingdings" panose="05000000000000000000" pitchFamily="2" charset="2"/>
              </a:rPr>
              <a:t>3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디버깅 상황과 같이 </a:t>
            </a:r>
            <a:r>
              <a:rPr lang="en-US" altLang="ko-KR" dirty="0">
                <a:sym typeface="Wingdings" panose="05000000000000000000" pitchFamily="2" charset="2"/>
              </a:rPr>
              <a:t>Connector</a:t>
            </a:r>
            <a:r>
              <a:rPr lang="ko-KR" altLang="en-US" dirty="0">
                <a:sym typeface="Wingdings" panose="05000000000000000000" pitchFamily="2" charset="2"/>
              </a:rPr>
              <a:t>에서 작업을 하여 최대한 </a:t>
            </a:r>
            <a:r>
              <a:rPr lang="en-US" altLang="ko-KR" dirty="0">
                <a:sym typeface="Wingdings" panose="05000000000000000000" pitchFamily="2" charset="2"/>
              </a:rPr>
              <a:t>Nosie</a:t>
            </a:r>
            <a:r>
              <a:rPr lang="ko-KR" altLang="en-US" dirty="0">
                <a:sym typeface="Wingdings" panose="05000000000000000000" pitchFamily="2" charset="2"/>
              </a:rPr>
              <a:t>를 감소시켜 추가 시험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 err="1">
                <a:sym typeface="Wingdings" panose="05000000000000000000" pitchFamily="2" charset="2"/>
              </a:rPr>
              <a:t>기준값</a:t>
            </a:r>
            <a:r>
              <a:rPr lang="ko-KR" altLang="en-US" dirty="0">
                <a:sym typeface="Wingdings" panose="05000000000000000000" pitchFamily="2" charset="2"/>
              </a:rPr>
              <a:t> 안으로 </a:t>
            </a:r>
            <a:r>
              <a:rPr lang="ko-KR" altLang="en-US" dirty="0" smtClean="0">
                <a:sym typeface="Wingdings" panose="05000000000000000000" pitchFamily="2" charset="2"/>
              </a:rPr>
              <a:t>안 들어 </a:t>
            </a:r>
            <a:r>
              <a:rPr lang="ko-KR" altLang="en-US" dirty="0">
                <a:sym typeface="Wingdings" panose="05000000000000000000" pitchFamily="2" charset="2"/>
              </a:rPr>
              <a:t>올 수 있음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ETRI</a:t>
            </a:r>
            <a:r>
              <a:rPr lang="ko-KR" altLang="en-US" dirty="0">
                <a:sym typeface="Wingdings" panose="05000000000000000000" pitchFamily="2" charset="2"/>
              </a:rPr>
              <a:t>와 협의 필요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현재 </a:t>
            </a:r>
            <a:r>
              <a:rPr lang="en-US" altLang="ko-KR" dirty="0">
                <a:sym typeface="Wingdings" panose="05000000000000000000" pitchFamily="2" charset="2"/>
              </a:rPr>
              <a:t>ETRI</a:t>
            </a:r>
            <a:r>
              <a:rPr lang="ko-KR" altLang="en-US" dirty="0">
                <a:sym typeface="Wingdings" panose="05000000000000000000" pitchFamily="2" charset="2"/>
              </a:rPr>
              <a:t>가 가장 우선적으로 생각하고 있는 방향입니다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구두상 통화 했습니다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668338" lvl="2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>
                <a:sym typeface="Wingdings" panose="05000000000000000000" pitchFamily="2" charset="2"/>
              </a:rPr>
              <a:t>조진호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이창수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 err="1">
                <a:sym typeface="Wingdings" panose="05000000000000000000" pitchFamily="2" charset="2"/>
              </a:rPr>
              <a:t>김선구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endParaRPr lang="en-US" altLang="ko-KR" sz="1800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693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Transmitte</a:t>
            </a:r>
            <a:r>
              <a:rPr lang="en-US" altLang="ko-KR" dirty="0" smtClean="0"/>
              <a:t> Speed </a:t>
            </a:r>
            <a:r>
              <a:rPr lang="ko-KR" altLang="en-US" dirty="0"/>
              <a:t>개선 방안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Overview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현재 </a:t>
            </a:r>
            <a:r>
              <a:rPr lang="en-US" altLang="ko-KR" dirty="0"/>
              <a:t>LEON3 Single Core 40MHz Clock </a:t>
            </a:r>
            <a:r>
              <a:rPr lang="ko-KR" altLang="en-US" dirty="0"/>
              <a:t>으로 시스템을 구동하고 있음</a:t>
            </a:r>
            <a:r>
              <a:rPr lang="en-US" altLang="ko-KR" dirty="0"/>
              <a:t>.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CPU</a:t>
            </a:r>
            <a:r>
              <a:rPr lang="ko-KR" altLang="en-US" dirty="0"/>
              <a:t>의 </a:t>
            </a:r>
            <a:r>
              <a:rPr lang="en-US" altLang="ko-KR" dirty="0"/>
              <a:t>Performance </a:t>
            </a:r>
            <a:r>
              <a:rPr lang="ko-KR" altLang="en-US" dirty="0"/>
              <a:t>대비 너무 많은 </a:t>
            </a:r>
            <a:r>
              <a:rPr lang="en-US" altLang="ko-KR" dirty="0"/>
              <a:t>Process</a:t>
            </a:r>
            <a:r>
              <a:rPr lang="ko-KR" altLang="en-US" dirty="0"/>
              <a:t>가 구동이 되고 있어 성능 감소가 발생되고 있음</a:t>
            </a:r>
            <a:r>
              <a:rPr lang="en-US" altLang="ko-KR" dirty="0"/>
              <a:t>.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SBC </a:t>
            </a:r>
            <a:r>
              <a:rPr lang="en-US" altLang="ko-KR" dirty="0"/>
              <a:t>F/W</a:t>
            </a:r>
            <a:r>
              <a:rPr lang="ko-KR" altLang="en-US" dirty="0"/>
              <a:t>의 최소 구동 </a:t>
            </a:r>
            <a:r>
              <a:rPr lang="en-US" altLang="ko-KR" dirty="0"/>
              <a:t>Task</a:t>
            </a:r>
            <a:r>
              <a:rPr lang="ko-KR" altLang="en-US" dirty="0"/>
              <a:t>의 주기가 </a:t>
            </a:r>
            <a:r>
              <a:rPr lang="en-US" altLang="ko-KR" dirty="0"/>
              <a:t>5~10ms </a:t>
            </a:r>
            <a:r>
              <a:rPr lang="ko-KR" altLang="en-US" dirty="0"/>
              <a:t>범위로 구동해야 정상적으로 구동이 되고 있음</a:t>
            </a:r>
            <a:r>
              <a:rPr lang="en-US" altLang="ko-KR" dirty="0"/>
              <a:t>.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이 </a:t>
            </a:r>
            <a:r>
              <a:rPr lang="ko-KR" altLang="en-US" dirty="0"/>
              <a:t>부분은 </a:t>
            </a:r>
            <a:r>
              <a:rPr lang="en-US" altLang="ko-KR" dirty="0"/>
              <a:t>USRT </a:t>
            </a:r>
            <a:r>
              <a:rPr lang="ko-KR" altLang="en-US" dirty="0" smtClean="0"/>
              <a:t>전송 시 </a:t>
            </a:r>
            <a:r>
              <a:rPr lang="ko-KR" altLang="en-US" dirty="0"/>
              <a:t>데이터 전송 </a:t>
            </a:r>
            <a:r>
              <a:rPr lang="en-US" altLang="ko-KR" dirty="0"/>
              <a:t>Duty Cycle</a:t>
            </a:r>
            <a:r>
              <a:rPr lang="ko-KR" altLang="en-US" dirty="0"/>
              <a:t>상에서 상당히 긴 시간의 </a:t>
            </a:r>
            <a:r>
              <a:rPr lang="en-US" altLang="ko-KR" dirty="0"/>
              <a:t>off time</a:t>
            </a:r>
            <a:r>
              <a:rPr lang="ko-KR" altLang="en-US" dirty="0"/>
              <a:t>이 소요가 </a:t>
            </a:r>
            <a:r>
              <a:rPr lang="ko-KR" altLang="en-US" dirty="0" smtClean="0"/>
              <a:t>되어 </a:t>
            </a:r>
            <a:r>
              <a:rPr lang="ko-KR" altLang="en-US" dirty="0"/>
              <a:t>전체적인 전송 속도의 저하가 발생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UDP</a:t>
            </a:r>
            <a:r>
              <a:rPr lang="ko-KR" altLang="en-US" dirty="0"/>
              <a:t>로 데이터 </a:t>
            </a:r>
            <a:r>
              <a:rPr lang="ko-KR" altLang="en-US" dirty="0" smtClean="0"/>
              <a:t>수신 간의 </a:t>
            </a:r>
            <a:r>
              <a:rPr lang="ko-KR" altLang="en-US" dirty="0"/>
              <a:t>시간 간격이 너무 넓어 </a:t>
            </a:r>
            <a:r>
              <a:rPr lang="en-US" altLang="ko-KR" dirty="0"/>
              <a:t>USRT </a:t>
            </a:r>
            <a:r>
              <a:rPr lang="ko-KR" altLang="en-US" dirty="0"/>
              <a:t>전송 </a:t>
            </a:r>
            <a:r>
              <a:rPr lang="ko-KR" altLang="en-US" dirty="0" smtClean="0"/>
              <a:t>속도</a:t>
            </a:r>
            <a:r>
              <a:rPr lang="ko-KR" altLang="en-US" dirty="0"/>
              <a:t>에</a:t>
            </a:r>
            <a:r>
              <a:rPr lang="ko-KR" altLang="en-US" dirty="0" smtClean="0"/>
              <a:t> </a:t>
            </a:r>
            <a:r>
              <a:rPr lang="ko-KR" altLang="en-US" dirty="0"/>
              <a:t>영향을 주고 있음</a:t>
            </a:r>
            <a:r>
              <a:rPr lang="en-US" altLang="ko-KR" dirty="0"/>
              <a:t>.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ko-KR" altLang="en-US" dirty="0" smtClean="0"/>
              <a:t>현황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>USRT </a:t>
            </a:r>
            <a:r>
              <a:rPr lang="ko-KR" altLang="en-US" dirty="0"/>
              <a:t>전송 시간 </a:t>
            </a:r>
            <a:r>
              <a:rPr lang="en-US" altLang="ko-KR" dirty="0"/>
              <a:t>(4ms) + CRC Check (1ms) + idle time (5ms)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7183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개선 목표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전송 목표 속도 </a:t>
            </a:r>
            <a:r>
              <a:rPr lang="en-US" altLang="ko-KR" dirty="0"/>
              <a:t>: </a:t>
            </a:r>
            <a:r>
              <a:rPr lang="en-US" altLang="ko-KR" dirty="0" smtClean="0"/>
              <a:t>2Mbps</a:t>
            </a:r>
            <a:br>
              <a:rPr lang="en-US" altLang="ko-KR" dirty="0" smtClean="0"/>
            </a:br>
            <a:r>
              <a:rPr lang="en-US" altLang="ko-KR" dirty="0" smtClean="0"/>
              <a:t>- </a:t>
            </a:r>
            <a:r>
              <a:rPr lang="ko-KR" altLang="en-US" dirty="0" smtClean="0"/>
              <a:t>수정된 </a:t>
            </a:r>
            <a:r>
              <a:rPr lang="ko-KR" altLang="en-US" dirty="0"/>
              <a:t>목표  </a:t>
            </a:r>
            <a:r>
              <a:rPr lang="en-US" altLang="ko-KR" dirty="0"/>
              <a:t>ION S/W UDP  </a:t>
            </a:r>
            <a:r>
              <a:rPr lang="en-US" altLang="ko-KR" dirty="0" err="1"/>
              <a:t>transmitte</a:t>
            </a:r>
            <a:r>
              <a:rPr lang="en-US" altLang="ko-KR" dirty="0"/>
              <a:t> speed is up to </a:t>
            </a:r>
            <a:r>
              <a:rPr lang="en-US" altLang="ko-KR" dirty="0" smtClean="0"/>
              <a:t>1.5MBps</a:t>
            </a:r>
            <a:br>
              <a:rPr lang="en-US" altLang="ko-KR" dirty="0" smtClean="0"/>
            </a:br>
            <a:r>
              <a:rPr lang="en-US" altLang="ko-KR" dirty="0" smtClean="0"/>
              <a:t>                       </a:t>
            </a:r>
            <a:r>
              <a:rPr lang="en-US" altLang="ko-KR" dirty="0"/>
              <a:t>SBC F/W USRT </a:t>
            </a:r>
            <a:r>
              <a:rPr lang="en-US" altLang="ko-KR" dirty="0" err="1"/>
              <a:t>transmitte</a:t>
            </a:r>
            <a:r>
              <a:rPr lang="en-US" altLang="ko-KR" dirty="0"/>
              <a:t> speed is up to </a:t>
            </a:r>
            <a:r>
              <a:rPr lang="en-US" altLang="ko-KR" dirty="0" smtClean="0"/>
              <a:t>1.6Mbps</a:t>
            </a:r>
            <a:br>
              <a:rPr lang="en-US" altLang="ko-KR" dirty="0" smtClean="0"/>
            </a:br>
            <a:endParaRPr lang="en-US" altLang="ko-KR" dirty="0" smtClean="0"/>
          </a:p>
          <a:p>
            <a:r>
              <a:rPr lang="en-US" altLang="ko-KR" dirty="0" smtClean="0"/>
              <a:t>   </a:t>
            </a:r>
            <a:r>
              <a:rPr lang="ko-KR" altLang="en-US" dirty="0"/>
              <a:t>현재까지의 시험 결과는 </a:t>
            </a:r>
            <a:r>
              <a:rPr lang="en-US" altLang="ko-KR" dirty="0"/>
              <a:t>USRT </a:t>
            </a:r>
            <a:r>
              <a:rPr lang="ko-KR" altLang="en-US" dirty="0"/>
              <a:t>최대 전송 속도는 </a:t>
            </a:r>
            <a:r>
              <a:rPr lang="en-US" altLang="ko-KR" dirty="0" smtClean="0"/>
              <a:t>800K~900Kbps</a:t>
            </a:r>
          </a:p>
          <a:p>
            <a:endParaRPr lang="en-US" altLang="ko-KR" dirty="0"/>
          </a:p>
          <a:p>
            <a:r>
              <a:rPr lang="en-US" altLang="ko-KR" dirty="0"/>
              <a:t>  </a:t>
            </a:r>
            <a:r>
              <a:rPr lang="en-US" altLang="ko-KR" dirty="0" smtClean="0"/>
              <a:t>USRT </a:t>
            </a:r>
            <a:r>
              <a:rPr lang="ko-KR" altLang="en-US" dirty="0" err="1"/>
              <a:t>전송시</a:t>
            </a:r>
            <a:r>
              <a:rPr lang="ko-KR" altLang="en-US" dirty="0"/>
              <a:t> </a:t>
            </a:r>
            <a:r>
              <a:rPr lang="en-US" altLang="ko-KR" dirty="0"/>
              <a:t>pause Time(idle )</a:t>
            </a:r>
            <a:r>
              <a:rPr lang="ko-KR" altLang="en-US" dirty="0"/>
              <a:t>이 상대적으로 커 전송속도 상승이 </a:t>
            </a:r>
            <a:r>
              <a:rPr lang="ko-KR" altLang="en-US" dirty="0" smtClean="0"/>
              <a:t>제한적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   - CRC </a:t>
            </a:r>
            <a:r>
              <a:rPr lang="en-US" altLang="ko-KR" dirty="0"/>
              <a:t>Check </a:t>
            </a:r>
            <a:r>
              <a:rPr lang="ko-KR" altLang="en-US" dirty="0"/>
              <a:t>적용 여부에 따라 전송 속도의 변화가 있음</a:t>
            </a:r>
            <a:r>
              <a:rPr lang="en-US" altLang="ko-KR" dirty="0"/>
              <a:t>. </a:t>
            </a:r>
          </a:p>
          <a:p>
            <a:r>
              <a:rPr lang="ko-KR" altLang="en-US" dirty="0" smtClean="0"/>
              <a:t>계산 </a:t>
            </a:r>
            <a:r>
              <a:rPr lang="ko-KR" altLang="en-US" dirty="0"/>
              <a:t>값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- 10ms </a:t>
            </a:r>
            <a:r>
              <a:rPr lang="en-US" altLang="ko-KR" dirty="0"/>
              <a:t>Task</a:t>
            </a:r>
            <a:r>
              <a:rPr lang="ko-KR" altLang="en-US" dirty="0"/>
              <a:t>로 운용 시 </a:t>
            </a:r>
            <a:r>
              <a:rPr lang="en-US" altLang="ko-KR" dirty="0" smtClean="0"/>
              <a:t>( </a:t>
            </a:r>
            <a:r>
              <a:rPr lang="en-US" altLang="ko-KR" dirty="0" smtClean="0">
                <a:solidFill>
                  <a:srgbClr val="FF0000"/>
                </a:solidFill>
              </a:rPr>
              <a:t>Task </a:t>
            </a:r>
            <a:r>
              <a:rPr lang="ko-KR" altLang="en-US" dirty="0" smtClean="0">
                <a:solidFill>
                  <a:srgbClr val="FF0000"/>
                </a:solidFill>
              </a:rPr>
              <a:t>실행 주기를 </a:t>
            </a:r>
            <a:r>
              <a:rPr lang="en-US" altLang="ko-KR" dirty="0" smtClean="0">
                <a:solidFill>
                  <a:srgbClr val="FF0000"/>
                </a:solidFill>
              </a:rPr>
              <a:t>5ms</a:t>
            </a:r>
            <a:r>
              <a:rPr lang="ko-KR" altLang="en-US" dirty="0" smtClean="0">
                <a:solidFill>
                  <a:srgbClr val="FF0000"/>
                </a:solidFill>
              </a:rPr>
              <a:t>로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할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경우 정상동작 하지 않음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r>
              <a:rPr lang="en-US" altLang="ko-KR" dirty="0" smtClean="0"/>
              <a:t>)</a:t>
            </a:r>
            <a:br>
              <a:rPr lang="en-US" altLang="ko-KR" dirty="0" smtClean="0"/>
            </a:br>
            <a:r>
              <a:rPr lang="ko-KR" altLang="en-US" sz="1400" dirty="0" smtClean="0"/>
              <a:t>  </a:t>
            </a:r>
            <a:r>
              <a:rPr lang="en-US" altLang="ko-KR" sz="1400" dirty="0"/>
              <a:t>1024 * 2</a:t>
            </a:r>
            <a:r>
              <a:rPr lang="ko-KR" altLang="en-US" sz="1400" dirty="0"/>
              <a:t>회 </a:t>
            </a:r>
            <a:r>
              <a:rPr lang="en-US" altLang="ko-KR" sz="1400" dirty="0"/>
              <a:t>(2048)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/>
              <a:t>8.192ms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82% -&gt; 2Mbps * 82% = </a:t>
            </a:r>
            <a:r>
              <a:rPr lang="en-US" altLang="ko-KR" sz="1400" dirty="0" smtClean="0"/>
              <a:t>1.64Mbps</a:t>
            </a:r>
            <a:br>
              <a:rPr lang="en-US" altLang="ko-KR" sz="1400" dirty="0" smtClean="0"/>
            </a:br>
            <a:r>
              <a:rPr lang="en-US" altLang="ko-KR" sz="1400" dirty="0" smtClean="0"/>
              <a:t>  </a:t>
            </a:r>
            <a:r>
              <a:rPr lang="en-US" altLang="ko-KR" sz="1400" dirty="0"/>
              <a:t>1024 * 1</a:t>
            </a:r>
            <a:r>
              <a:rPr lang="ko-KR" altLang="en-US" sz="1400" dirty="0"/>
              <a:t>회 </a:t>
            </a:r>
            <a:r>
              <a:rPr lang="en-US" altLang="ko-KR" sz="1400" dirty="0"/>
              <a:t>(1024)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/>
              <a:t>4.096ms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41% -&gt; 2Mbps * 41% = 0.82Mbps</a:t>
            </a:r>
          </a:p>
          <a:p>
            <a:r>
              <a:rPr lang="ko-KR" altLang="en-US" dirty="0" smtClean="0"/>
              <a:t>검토 사항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USRT </a:t>
            </a:r>
            <a:r>
              <a:rPr lang="en-US" altLang="ko-KR" dirty="0"/>
              <a:t>Clock</a:t>
            </a:r>
            <a:r>
              <a:rPr lang="ko-KR" altLang="en-US" dirty="0"/>
              <a:t>을 </a:t>
            </a:r>
            <a:r>
              <a:rPr lang="en-US" altLang="ko-KR" dirty="0"/>
              <a:t>4MHz</a:t>
            </a:r>
            <a:r>
              <a:rPr lang="ko-KR" altLang="en-US" dirty="0"/>
              <a:t>로 설정을 할 경우 속도의 변화가 어떻게 되는지</a:t>
            </a:r>
            <a:r>
              <a:rPr lang="en-US" altLang="ko-KR" dirty="0" smtClean="0"/>
              <a:t>?</a:t>
            </a:r>
            <a:br>
              <a:rPr lang="en-US" altLang="ko-KR" dirty="0" smtClean="0"/>
            </a:br>
            <a:r>
              <a:rPr lang="en-US" altLang="ko-KR" dirty="0" smtClean="0"/>
              <a:t>Estimation</a:t>
            </a:r>
            <a:r>
              <a:rPr lang="ko-KR" altLang="en-US" dirty="0"/>
              <a:t> </a:t>
            </a:r>
            <a:r>
              <a:rPr lang="en-US" altLang="ko-KR" dirty="0" smtClean="0">
                <a:sym typeface="Wingdings" panose="05000000000000000000" pitchFamily="2" charset="2"/>
              </a:rPr>
              <a:t>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sz="1400" dirty="0" smtClean="0"/>
              <a:t> </a:t>
            </a:r>
            <a:r>
              <a:rPr lang="en-US" altLang="ko-KR" sz="1400" dirty="0"/>
              <a:t>1024 * </a:t>
            </a:r>
            <a:r>
              <a:rPr lang="en-US" altLang="ko-KR" sz="1400" dirty="0" smtClean="0"/>
              <a:t>4</a:t>
            </a:r>
            <a:r>
              <a:rPr lang="ko-KR" altLang="en-US" sz="1400" dirty="0" smtClean="0"/>
              <a:t>회 </a:t>
            </a:r>
            <a:r>
              <a:rPr lang="en-US" altLang="ko-KR" sz="1400" dirty="0" smtClean="0"/>
              <a:t>(4096) </a:t>
            </a:r>
            <a:r>
              <a:rPr lang="en-US" altLang="ko-KR" sz="1400" dirty="0"/>
              <a:t>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 smtClean="0"/>
              <a:t>8.192ms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</a:t>
            </a:r>
            <a:r>
              <a:rPr lang="en-US" altLang="ko-KR" sz="1400" dirty="0" smtClean="0"/>
              <a:t>82% </a:t>
            </a:r>
            <a:r>
              <a:rPr lang="en-US" altLang="ko-KR" sz="1400" dirty="0"/>
              <a:t>-&gt; </a:t>
            </a:r>
            <a:r>
              <a:rPr lang="en-US" altLang="ko-KR" sz="1400" dirty="0" smtClean="0"/>
              <a:t>4Mbps </a:t>
            </a:r>
            <a:r>
              <a:rPr lang="en-US" altLang="ko-KR" sz="1400" dirty="0"/>
              <a:t>* </a:t>
            </a:r>
            <a:r>
              <a:rPr lang="en-US" altLang="ko-KR" sz="1400" dirty="0" smtClean="0"/>
              <a:t>82% </a:t>
            </a:r>
            <a:r>
              <a:rPr lang="en-US" altLang="ko-KR" sz="1400" dirty="0"/>
              <a:t>= </a:t>
            </a:r>
            <a:r>
              <a:rPr lang="en-US" altLang="ko-KR" sz="1400" dirty="0" smtClean="0"/>
              <a:t>3.24Mbps</a:t>
            </a:r>
            <a:br>
              <a:rPr lang="en-US" altLang="ko-KR" sz="1400" dirty="0" smtClean="0"/>
            </a:br>
            <a:r>
              <a:rPr lang="en-US" altLang="ko-KR" sz="1400" dirty="0" smtClean="0"/>
              <a:t> 1024 </a:t>
            </a:r>
            <a:r>
              <a:rPr lang="en-US" altLang="ko-KR" sz="1400" dirty="0"/>
              <a:t>* </a:t>
            </a:r>
            <a:r>
              <a:rPr lang="en-US" altLang="ko-KR" sz="1400" dirty="0" smtClean="0"/>
              <a:t>3</a:t>
            </a:r>
            <a:r>
              <a:rPr lang="ko-KR" altLang="en-US" sz="1400" dirty="0" smtClean="0"/>
              <a:t>회 </a:t>
            </a:r>
            <a:r>
              <a:rPr lang="en-US" altLang="ko-KR" sz="1400" dirty="0" smtClean="0"/>
              <a:t>(3072) </a:t>
            </a:r>
            <a:r>
              <a:rPr lang="en-US" altLang="ko-KR" sz="1400" dirty="0"/>
              <a:t>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 smtClean="0"/>
              <a:t>6.144ms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</a:t>
            </a:r>
            <a:r>
              <a:rPr lang="en-US" altLang="ko-KR" sz="1400" dirty="0" smtClean="0"/>
              <a:t>61% </a:t>
            </a:r>
            <a:r>
              <a:rPr lang="en-US" altLang="ko-KR" sz="1400" dirty="0"/>
              <a:t>-&gt; 4Mbps * </a:t>
            </a:r>
            <a:r>
              <a:rPr lang="en-US" altLang="ko-KR" sz="1400" dirty="0" smtClean="0"/>
              <a:t>61% </a:t>
            </a:r>
            <a:r>
              <a:rPr lang="en-US" altLang="ko-KR" sz="1400" dirty="0"/>
              <a:t>= </a:t>
            </a:r>
            <a:r>
              <a:rPr lang="en-US" altLang="ko-KR" sz="1400" dirty="0" smtClean="0"/>
              <a:t>2.44Mbps</a:t>
            </a:r>
            <a:br>
              <a:rPr lang="en-US" altLang="ko-KR" sz="1400" dirty="0" smtClean="0"/>
            </a:br>
            <a:r>
              <a:rPr lang="ko-KR" altLang="en-US" sz="1400" dirty="0"/>
              <a:t> </a:t>
            </a:r>
            <a:r>
              <a:rPr lang="en-US" altLang="ko-KR" sz="1400" dirty="0"/>
              <a:t>1024 * 2</a:t>
            </a:r>
            <a:r>
              <a:rPr lang="ko-KR" altLang="en-US" sz="1400" dirty="0"/>
              <a:t>회 </a:t>
            </a:r>
            <a:r>
              <a:rPr lang="en-US" altLang="ko-KR" sz="1400" dirty="0"/>
              <a:t>(2048)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/>
              <a:t>4.096ms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41% -&gt; 4Mbps * 41% = 1.64Mbps</a:t>
            </a:r>
            <a:br>
              <a:rPr lang="en-US" altLang="ko-KR" sz="1400" dirty="0"/>
            </a:br>
            <a:r>
              <a:rPr lang="en-US" altLang="ko-KR" sz="1400" dirty="0" smtClean="0"/>
              <a:t> </a:t>
            </a:r>
            <a:r>
              <a:rPr lang="en-US" altLang="ko-KR" sz="1400" dirty="0"/>
              <a:t>1024 * 1</a:t>
            </a:r>
            <a:r>
              <a:rPr lang="ko-KR" altLang="en-US" sz="1400" dirty="0"/>
              <a:t>회 </a:t>
            </a:r>
            <a:r>
              <a:rPr lang="en-US" altLang="ko-KR" sz="1400" dirty="0"/>
              <a:t>(1024) Byte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 </a:t>
            </a:r>
            <a:r>
              <a:rPr lang="en-US" altLang="ko-KR" sz="1400" dirty="0" smtClean="0"/>
              <a:t>2.048ms </a:t>
            </a:r>
            <a:r>
              <a:rPr lang="ko-KR" altLang="en-US" sz="1400" dirty="0" err="1"/>
              <a:t>전송시간</a:t>
            </a:r>
            <a:r>
              <a:rPr lang="ko-KR" altLang="en-US" sz="1400" dirty="0"/>
              <a:t> </a:t>
            </a:r>
            <a:r>
              <a:rPr lang="en-US" altLang="ko-KR" sz="1400" dirty="0"/>
              <a:t>, Duty Cycle </a:t>
            </a:r>
            <a:r>
              <a:rPr lang="en-US" altLang="ko-KR" sz="1400" dirty="0" smtClean="0"/>
              <a:t>21% </a:t>
            </a:r>
            <a:r>
              <a:rPr lang="en-US" altLang="ko-KR" sz="1400" dirty="0"/>
              <a:t>-&gt; </a:t>
            </a:r>
            <a:r>
              <a:rPr lang="en-US" altLang="ko-KR" sz="1400" dirty="0" smtClean="0"/>
              <a:t>4Mbps </a:t>
            </a:r>
            <a:r>
              <a:rPr lang="en-US" altLang="ko-KR" sz="1400" dirty="0"/>
              <a:t>* </a:t>
            </a:r>
            <a:r>
              <a:rPr lang="en-US" altLang="ko-KR" sz="1400" dirty="0" smtClean="0"/>
              <a:t>21% </a:t>
            </a:r>
            <a:r>
              <a:rPr lang="en-US" altLang="ko-KR" sz="1400" dirty="0"/>
              <a:t>= </a:t>
            </a:r>
            <a:r>
              <a:rPr lang="en-US" altLang="ko-KR" sz="1400" dirty="0" smtClean="0"/>
              <a:t>0.84Mbps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25814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장기</a:t>
            </a:r>
            <a:r>
              <a:rPr lang="en-US" altLang="ko-KR" dirty="0" smtClean="0"/>
              <a:t> </a:t>
            </a:r>
            <a:r>
              <a:rPr lang="ko-KR" altLang="en-US" dirty="0" smtClean="0"/>
              <a:t>개선 목표 제안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600" dirty="0"/>
              <a:t>1. USRT Clock</a:t>
            </a:r>
            <a:r>
              <a:rPr lang="ko-KR" altLang="en-US" sz="1600" dirty="0"/>
              <a:t>을 </a:t>
            </a:r>
            <a:r>
              <a:rPr lang="en-US" altLang="ko-KR" sz="1600" dirty="0"/>
              <a:t>4MHz</a:t>
            </a:r>
            <a:r>
              <a:rPr lang="ko-KR" altLang="en-US" sz="1600" dirty="0"/>
              <a:t>로 변경하여 </a:t>
            </a:r>
            <a:r>
              <a:rPr lang="en-US" altLang="ko-KR" sz="1600" dirty="0"/>
              <a:t>Speed </a:t>
            </a:r>
            <a:r>
              <a:rPr lang="ko-KR" altLang="en-US" sz="1600" dirty="0"/>
              <a:t>상향</a:t>
            </a:r>
            <a:r>
              <a:rPr lang="en-US" altLang="ko-KR" sz="1600" dirty="0" smtClean="0"/>
              <a:t>.</a:t>
            </a:r>
            <a:br>
              <a:rPr lang="en-US" altLang="ko-KR" sz="16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- Pros : </a:t>
            </a:r>
            <a:r>
              <a:rPr lang="ko-KR" altLang="en-US" sz="1400" dirty="0"/>
              <a:t>쉽게 구현이 가능함</a:t>
            </a:r>
            <a:r>
              <a:rPr lang="en-US" altLang="ko-KR" sz="1400" dirty="0" smtClean="0"/>
              <a:t>.</a:t>
            </a:r>
            <a:br>
              <a:rPr lang="en-US" altLang="ko-KR" sz="14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- Cons : </a:t>
            </a:r>
            <a:r>
              <a:rPr lang="ko-KR" altLang="en-US" sz="1400" dirty="0"/>
              <a:t>동작 검증이 필요 함</a:t>
            </a:r>
            <a:r>
              <a:rPr lang="en-US" altLang="ko-KR" sz="1400" dirty="0" smtClean="0"/>
              <a:t>. </a:t>
            </a:r>
            <a:br>
              <a:rPr lang="en-US" altLang="ko-KR" sz="1400" dirty="0" smtClean="0"/>
            </a:br>
            <a:r>
              <a:rPr lang="en-US" altLang="ko-KR" sz="1400" dirty="0" smtClean="0"/>
              <a:t>                     PDHU</a:t>
            </a:r>
            <a:r>
              <a:rPr lang="ko-KR" altLang="en-US" sz="1400" dirty="0"/>
              <a:t>에 </a:t>
            </a:r>
            <a:r>
              <a:rPr lang="en-US" altLang="ko-KR" sz="1400" dirty="0"/>
              <a:t>4MHz </a:t>
            </a:r>
            <a:r>
              <a:rPr lang="ko-KR" altLang="en-US" sz="1400" dirty="0"/>
              <a:t>클럭주파수로 데이터 </a:t>
            </a:r>
            <a:r>
              <a:rPr lang="ko-KR" altLang="en-US" sz="1400" dirty="0" err="1"/>
              <a:t>전송시</a:t>
            </a:r>
            <a:r>
              <a:rPr lang="ko-KR" altLang="en-US" sz="1400" dirty="0"/>
              <a:t> 처리가 가능한지 확인이 필요함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600" dirty="0" smtClean="0"/>
              <a:t>2</a:t>
            </a:r>
            <a:r>
              <a:rPr lang="en-US" altLang="ko-KR" sz="1600" dirty="0"/>
              <a:t>. CRC Check Algorithm</a:t>
            </a:r>
            <a:r>
              <a:rPr lang="ko-KR" altLang="en-US" sz="1600" dirty="0"/>
              <a:t>을 </a:t>
            </a:r>
            <a:r>
              <a:rPr lang="en-US" altLang="ko-KR" sz="1600" dirty="0"/>
              <a:t>FPGA</a:t>
            </a:r>
            <a:r>
              <a:rPr lang="ko-KR" altLang="en-US" sz="1600" dirty="0"/>
              <a:t>에 이식 </a:t>
            </a:r>
            <a:r>
              <a:rPr lang="en-US" altLang="ko-KR" sz="1600" dirty="0"/>
              <a:t>CRC </a:t>
            </a:r>
            <a:r>
              <a:rPr lang="ko-KR" altLang="en-US" sz="1600" dirty="0"/>
              <a:t>처리시간을 </a:t>
            </a:r>
            <a:r>
              <a:rPr lang="ko-KR" altLang="en-US" sz="1600" dirty="0" smtClean="0"/>
              <a:t>단축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ko-KR" altLang="en-US" sz="1400" dirty="0" smtClean="0"/>
              <a:t>      </a:t>
            </a:r>
            <a:r>
              <a:rPr lang="en-US" altLang="ko-KR" sz="1400" dirty="0"/>
              <a:t>- Pros : </a:t>
            </a:r>
            <a:r>
              <a:rPr lang="ko-KR" altLang="en-US" sz="1400" dirty="0"/>
              <a:t>작업을 위한 시간이 짧음</a:t>
            </a:r>
            <a:r>
              <a:rPr lang="en-US" altLang="ko-KR" sz="1400" dirty="0" smtClean="0"/>
              <a:t>.</a:t>
            </a:r>
            <a:br>
              <a:rPr lang="en-US" altLang="ko-KR" sz="14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- Cons : Speed </a:t>
            </a:r>
            <a:r>
              <a:rPr lang="ko-KR" altLang="en-US" sz="1400" dirty="0"/>
              <a:t>상승 효과가 크지 않음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600" dirty="0" smtClean="0"/>
              <a:t>3</a:t>
            </a:r>
            <a:r>
              <a:rPr lang="en-US" altLang="ko-KR" sz="1600" dirty="0"/>
              <a:t>. USRT </a:t>
            </a:r>
            <a:r>
              <a:rPr lang="en-US" altLang="ko-KR" sz="1600" dirty="0" smtClean="0"/>
              <a:t>Peripheral</a:t>
            </a:r>
            <a:r>
              <a:rPr lang="ko-KR" altLang="en-US" sz="1600" dirty="0"/>
              <a:t>을 </a:t>
            </a:r>
            <a:r>
              <a:rPr lang="en-US" altLang="ko-KR" sz="1600" dirty="0"/>
              <a:t>DMA </a:t>
            </a:r>
            <a:r>
              <a:rPr lang="ko-KR" altLang="en-US" sz="1600" dirty="0"/>
              <a:t>구조로 변경 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ko-KR" altLang="en-US" sz="1400" dirty="0" smtClean="0"/>
              <a:t>      </a:t>
            </a:r>
            <a:r>
              <a:rPr lang="en-US" altLang="ko-KR" sz="1400" dirty="0"/>
              <a:t>- Pros : DMA </a:t>
            </a:r>
            <a:r>
              <a:rPr lang="ko-KR" altLang="en-US" sz="1400" dirty="0"/>
              <a:t>구조를 이용하므로 </a:t>
            </a:r>
            <a:r>
              <a:rPr lang="en-US" altLang="ko-KR" sz="1400" dirty="0"/>
              <a:t>CPU </a:t>
            </a:r>
            <a:r>
              <a:rPr lang="ko-KR" altLang="en-US" sz="1400" dirty="0"/>
              <a:t>점유율이 적어 </a:t>
            </a:r>
            <a:r>
              <a:rPr lang="en-US" altLang="ko-KR" sz="1400" dirty="0"/>
              <a:t>Task </a:t>
            </a:r>
            <a:r>
              <a:rPr lang="ko-KR" altLang="en-US" sz="1400" dirty="0"/>
              <a:t>운용에 상관없이 데이터 전송이 가능함</a:t>
            </a:r>
            <a:r>
              <a:rPr lang="en-US" altLang="ko-KR" sz="1400" dirty="0"/>
              <a:t>.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- Cons : FPGA </a:t>
            </a:r>
            <a:r>
              <a:rPr lang="ko-KR" altLang="en-US" sz="1400" dirty="0"/>
              <a:t>코드의 변경이 필요함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en-US" altLang="ko-KR" sz="1400" dirty="0" smtClean="0"/>
          </a:p>
          <a:p>
            <a:pPr marL="0" indent="0">
              <a:buNone/>
            </a:pPr>
            <a:r>
              <a:rPr lang="en-US" altLang="ko-KR" sz="1600" dirty="0" smtClean="0"/>
              <a:t>4</a:t>
            </a:r>
            <a:r>
              <a:rPr lang="en-US" altLang="ko-KR" sz="1600" dirty="0"/>
              <a:t>. LEON3 Single Core (SMP) </a:t>
            </a:r>
            <a:r>
              <a:rPr lang="ko-KR" altLang="en-US" sz="1600" dirty="0"/>
              <a:t>를 </a:t>
            </a:r>
            <a:r>
              <a:rPr lang="en-US" altLang="ko-KR" sz="1600" dirty="0"/>
              <a:t>Dual Core</a:t>
            </a:r>
            <a:r>
              <a:rPr lang="ko-KR" altLang="en-US" sz="1600" dirty="0"/>
              <a:t>로 </a:t>
            </a:r>
            <a:r>
              <a:rPr lang="en-US" altLang="ko-KR" sz="1600" dirty="0"/>
              <a:t>FPGA </a:t>
            </a:r>
            <a:r>
              <a:rPr lang="ko-KR" altLang="en-US" sz="1600" dirty="0"/>
              <a:t>수정 </a:t>
            </a:r>
            <a:r>
              <a:rPr lang="en-US" altLang="ko-KR" sz="1600" dirty="0"/>
              <a:t>+ USRT </a:t>
            </a:r>
            <a:r>
              <a:rPr lang="en-US" altLang="ko-KR" sz="1600" dirty="0" smtClean="0"/>
              <a:t>Peripheral </a:t>
            </a:r>
            <a:r>
              <a:rPr lang="en-US" altLang="ko-KR" sz="1600" dirty="0"/>
              <a:t>DMA </a:t>
            </a:r>
            <a:r>
              <a:rPr lang="en-US" altLang="ko-KR" sz="1600" dirty="0" smtClean="0"/>
              <a:t/>
            </a:r>
            <a:br>
              <a:rPr lang="en-US" altLang="ko-KR" sz="16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CPU 1 </a:t>
            </a:r>
            <a:r>
              <a:rPr lang="ko-KR" altLang="en-US" sz="1400" dirty="0"/>
              <a:t>은 </a:t>
            </a:r>
            <a:r>
              <a:rPr lang="en-US" altLang="ko-KR" sz="1400" dirty="0"/>
              <a:t>ION S/W </a:t>
            </a:r>
            <a:r>
              <a:rPr lang="ko-KR" altLang="en-US" sz="1400" dirty="0"/>
              <a:t>구동 전용으로 할 당</a:t>
            </a:r>
            <a:r>
              <a:rPr lang="en-US" altLang="ko-KR" sz="1400" dirty="0"/>
              <a:t>.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CPU 2 </a:t>
            </a:r>
            <a:r>
              <a:rPr lang="ko-KR" altLang="en-US" sz="1400" dirty="0"/>
              <a:t>는 </a:t>
            </a:r>
            <a:r>
              <a:rPr lang="en-US" altLang="ko-KR" sz="1400" dirty="0"/>
              <a:t>SBC F/W </a:t>
            </a:r>
            <a:r>
              <a:rPr lang="ko-KR" altLang="en-US" sz="1400" dirty="0"/>
              <a:t>운용을 위한 </a:t>
            </a:r>
            <a:r>
              <a:rPr lang="en-US" altLang="ko-KR" sz="1400" dirty="0"/>
              <a:t>Process </a:t>
            </a:r>
            <a:r>
              <a:rPr lang="ko-KR" altLang="en-US" sz="1400" dirty="0"/>
              <a:t>할당 해 전용으로 사용하게 함</a:t>
            </a:r>
            <a:r>
              <a:rPr lang="en-US" altLang="ko-KR" sz="1400" dirty="0"/>
              <a:t>.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- Pros :  ION SW </a:t>
            </a:r>
            <a:r>
              <a:rPr lang="ko-KR" altLang="en-US" sz="1400" dirty="0"/>
              <a:t>운용과 </a:t>
            </a:r>
            <a:r>
              <a:rPr lang="en-US" altLang="ko-KR" sz="1400" dirty="0"/>
              <a:t>SBC F/W </a:t>
            </a:r>
            <a:r>
              <a:rPr lang="ko-KR" altLang="en-US" sz="1400" dirty="0"/>
              <a:t>운용이 분리되어 있어 </a:t>
            </a:r>
            <a:r>
              <a:rPr lang="en-US" altLang="ko-KR" sz="1400" dirty="0"/>
              <a:t>CPU Usage</a:t>
            </a:r>
            <a:r>
              <a:rPr lang="ko-KR" altLang="en-US" sz="1400" dirty="0"/>
              <a:t>에 여유가 생김</a:t>
            </a:r>
            <a:r>
              <a:rPr lang="en-US" altLang="ko-KR" sz="1400" dirty="0"/>
              <a:t>.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                   </a:t>
            </a:r>
            <a:r>
              <a:rPr lang="ko-KR" altLang="en-US" sz="1400" dirty="0"/>
              <a:t>또한 </a:t>
            </a:r>
            <a:r>
              <a:rPr lang="en-US" altLang="ko-KR" sz="1400" dirty="0"/>
              <a:t>USRT </a:t>
            </a:r>
            <a:r>
              <a:rPr lang="ko-KR" altLang="en-US" sz="1400" dirty="0"/>
              <a:t>전송에 </a:t>
            </a:r>
            <a:r>
              <a:rPr lang="en-US" altLang="ko-KR" sz="1400" dirty="0"/>
              <a:t>DMA</a:t>
            </a:r>
            <a:r>
              <a:rPr lang="ko-KR" altLang="en-US" sz="1400" dirty="0"/>
              <a:t>를 이용하므로 전송을 위한 별도의 </a:t>
            </a:r>
            <a:r>
              <a:rPr lang="en-US" altLang="ko-KR" sz="1400" dirty="0"/>
              <a:t>CPU Power</a:t>
            </a:r>
            <a:r>
              <a:rPr lang="ko-KR" altLang="en-US" sz="1400" dirty="0"/>
              <a:t>가 필요 없음</a:t>
            </a:r>
            <a:r>
              <a:rPr lang="en-US" altLang="ko-KR" sz="1400" dirty="0"/>
              <a:t>. </a:t>
            </a:r>
            <a:r>
              <a:rPr lang="en-US" altLang="ko-KR" sz="1400" dirty="0" smtClean="0"/>
              <a:t/>
            </a:r>
            <a:br>
              <a:rPr lang="en-US" altLang="ko-KR" sz="1400" dirty="0" smtClean="0"/>
            </a:br>
            <a:r>
              <a:rPr lang="en-US" altLang="ko-KR" sz="1400" dirty="0" smtClean="0"/>
              <a:t>      </a:t>
            </a:r>
            <a:r>
              <a:rPr lang="en-US" altLang="ko-KR" sz="1400" dirty="0"/>
              <a:t>- Cons :  ION &lt;-&gt; SBC</a:t>
            </a:r>
            <a:r>
              <a:rPr lang="ko-KR" altLang="en-US" sz="1400" dirty="0"/>
              <a:t>간 </a:t>
            </a:r>
            <a:r>
              <a:rPr lang="en-US" altLang="ko-KR" sz="1400" dirty="0"/>
              <a:t>UDP </a:t>
            </a:r>
            <a:r>
              <a:rPr lang="ko-KR" altLang="en-US" sz="1400" dirty="0"/>
              <a:t>전송 속도에 </a:t>
            </a:r>
            <a:r>
              <a:rPr lang="ko-KR" altLang="en-US" sz="1400" dirty="0" smtClean="0"/>
              <a:t>종속적 임</a:t>
            </a:r>
            <a:r>
              <a:rPr lang="en-US" altLang="ko-KR" sz="1400" dirty="0" smtClean="0"/>
              <a:t>. </a:t>
            </a:r>
            <a:br>
              <a:rPr lang="en-US" altLang="ko-KR" sz="1400" dirty="0" smtClean="0"/>
            </a:br>
            <a:r>
              <a:rPr lang="en-US" altLang="ko-KR" sz="1400" dirty="0" smtClean="0"/>
              <a:t>                     </a:t>
            </a:r>
            <a:r>
              <a:rPr lang="en-US" altLang="ko-KR" sz="1400" dirty="0"/>
              <a:t>FPGA </a:t>
            </a:r>
            <a:r>
              <a:rPr lang="ko-KR" altLang="en-US" sz="1400" dirty="0"/>
              <a:t>구조의 전면적인 변화가 필요하여 별도의 개발기간 산정이 필요함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30710110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42372</TotalTime>
  <Words>616</Words>
  <Application>Microsoft Office PowerPoint</Application>
  <PresentationFormat>화면 슬라이드 쇼(4:3)</PresentationFormat>
  <Paragraphs>258</Paragraphs>
  <Slides>12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굴림</vt:lpstr>
      <vt:lpstr>맑은 고딕</vt:lpstr>
      <vt:lpstr>바탕체</vt:lpstr>
      <vt:lpstr>Arial</vt:lpstr>
      <vt:lpstr>Arial Black</vt:lpstr>
      <vt:lpstr>Times New Roman</vt:lpstr>
      <vt:lpstr>Wingdings</vt:lpstr>
      <vt:lpstr>기본 디자인</vt:lpstr>
      <vt:lpstr>Weekly Progress Report (WPR_2020.07.30)    ’20.07.30 Lumir</vt:lpstr>
      <vt:lpstr>Contents</vt:lpstr>
      <vt:lpstr>환경시험 현황(1)</vt:lpstr>
      <vt:lpstr>환경시험 현황(2)</vt:lpstr>
      <vt:lpstr>TRS Lists</vt:lpstr>
      <vt:lpstr>향후 일정 </vt:lpstr>
      <vt:lpstr>EMC Issue 상황 정리</vt:lpstr>
      <vt:lpstr>EMC Issue 원인 분석 및 해결 방안</vt:lpstr>
      <vt:lpstr>EMC Issue 원인 분석 및 해결 방안</vt:lpstr>
      <vt:lpstr>Transmitte Speed 개선 방안</vt:lpstr>
      <vt:lpstr>개선 목표</vt:lpstr>
      <vt:lpstr>장기 개선 목표 제안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O18005</cp:lastModifiedBy>
  <cp:revision>1679</cp:revision>
  <cp:lastPrinted>2020-07-30T04:06:34Z</cp:lastPrinted>
  <dcterms:created xsi:type="dcterms:W3CDTF">1601-01-01T00:00:00Z</dcterms:created>
  <dcterms:modified xsi:type="dcterms:W3CDTF">2020-08-13T08:16:06Z</dcterms:modified>
</cp:coreProperties>
</file>