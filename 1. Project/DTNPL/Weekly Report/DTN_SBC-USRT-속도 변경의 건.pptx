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23" r:id="rId2"/>
    <p:sldId id="1102" r:id="rId3"/>
    <p:sldId id="1104" r:id="rId4"/>
    <p:sldId id="1105" r:id="rId5"/>
    <p:sldId id="1103" r:id="rId6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5" d="100"/>
          <a:sy n="115" d="100"/>
        </p:scale>
        <p:origin x="1938" y="108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 smtClean="0"/>
              <a:t>USRT </a:t>
            </a:r>
            <a:r>
              <a:rPr lang="ko-KR" altLang="en-US" sz="3600" dirty="0" smtClean="0"/>
              <a:t>전송 속도 기술 검토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2400" b="0" dirty="0" smtClean="0"/>
              <a:t>’20.09.01</a:t>
            </a:r>
            <a:r>
              <a:rPr lang="en-US" altLang="ko-KR" sz="2400" b="0" dirty="0"/>
              <a:t/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USRT Speed </a:t>
            </a:r>
            <a:r>
              <a:rPr lang="ko-KR" altLang="en-US" dirty="0"/>
              <a:t>개선 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27282"/>
          </a:xfrm>
        </p:spPr>
        <p:txBody>
          <a:bodyPr/>
          <a:lstStyle/>
          <a:p>
            <a:r>
              <a:rPr lang="en-US" altLang="ko-KR" dirty="0"/>
              <a:t>Overview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현재 </a:t>
            </a:r>
            <a:r>
              <a:rPr lang="en-US" altLang="ko-KR" dirty="0" smtClean="0"/>
              <a:t>DTNPL 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LEON3 </a:t>
            </a:r>
            <a:r>
              <a:rPr lang="en-US" altLang="ko-KR" dirty="0"/>
              <a:t>Single Core 40MHz Clock </a:t>
            </a:r>
            <a:r>
              <a:rPr lang="ko-KR" altLang="en-US" dirty="0"/>
              <a:t>으로 </a:t>
            </a:r>
            <a:r>
              <a:rPr lang="ko-KR" altLang="en-US" dirty="0" smtClean="0"/>
              <a:t>구동하고 </a:t>
            </a:r>
            <a:r>
              <a:rPr lang="ko-KR" altLang="en-US" dirty="0"/>
              <a:t>있음</a:t>
            </a:r>
            <a:r>
              <a:rPr lang="en-US" altLang="ko-KR" dirty="0"/>
              <a:t>.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CPU</a:t>
            </a:r>
            <a:r>
              <a:rPr lang="ko-KR" altLang="en-US" dirty="0"/>
              <a:t>의 </a:t>
            </a:r>
            <a:r>
              <a:rPr lang="en-US" altLang="ko-KR" dirty="0"/>
              <a:t>Performance </a:t>
            </a:r>
            <a:r>
              <a:rPr lang="ko-KR" altLang="en-US" dirty="0"/>
              <a:t>대비 너무 많은 </a:t>
            </a:r>
            <a:r>
              <a:rPr lang="en-US" altLang="ko-KR" dirty="0" smtClean="0"/>
              <a:t>Process</a:t>
            </a:r>
            <a:r>
              <a:rPr lang="ko-KR" altLang="en-US" dirty="0"/>
              <a:t>가 구동이 되고 있어 성능 감소가 발생되고 있음</a:t>
            </a:r>
            <a:r>
              <a:rPr lang="en-US" altLang="ko-KR" dirty="0"/>
              <a:t>.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SBC </a:t>
            </a:r>
            <a:r>
              <a:rPr lang="en-US" altLang="ko-KR" dirty="0"/>
              <a:t>F/W</a:t>
            </a:r>
            <a:r>
              <a:rPr lang="ko-KR" altLang="en-US" dirty="0"/>
              <a:t>의 </a:t>
            </a:r>
            <a:r>
              <a:rPr lang="en-US" altLang="ko-KR" dirty="0" smtClean="0"/>
              <a:t>Task </a:t>
            </a:r>
            <a:r>
              <a:rPr lang="ko-KR" altLang="en-US" dirty="0" smtClean="0"/>
              <a:t>운용 주기가 </a:t>
            </a:r>
            <a:r>
              <a:rPr lang="en-US" altLang="ko-KR" dirty="0" smtClean="0"/>
              <a:t>10ms </a:t>
            </a:r>
            <a:r>
              <a:rPr lang="ko-KR" altLang="en-US" dirty="0" smtClean="0"/>
              <a:t>로 </a:t>
            </a:r>
            <a:r>
              <a:rPr lang="ko-KR" altLang="en-US" dirty="0"/>
              <a:t>구동해야 정상적으로 구동이 되고 있음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이 </a:t>
            </a:r>
            <a:r>
              <a:rPr lang="ko-KR" altLang="en-US" dirty="0"/>
              <a:t>부분은 </a:t>
            </a:r>
            <a:r>
              <a:rPr lang="en-US" altLang="ko-KR" dirty="0"/>
              <a:t>USRT </a:t>
            </a:r>
            <a:r>
              <a:rPr lang="ko-KR" altLang="en-US" dirty="0" smtClean="0"/>
              <a:t>전송 시 </a:t>
            </a:r>
            <a:r>
              <a:rPr lang="ko-KR" altLang="en-US" dirty="0"/>
              <a:t>데이터 전송 </a:t>
            </a:r>
            <a:r>
              <a:rPr lang="en-US" altLang="ko-KR" dirty="0"/>
              <a:t>Duty Cycle</a:t>
            </a:r>
            <a:r>
              <a:rPr lang="ko-KR" altLang="en-US" dirty="0"/>
              <a:t>상에서 상당히 긴 시간의 </a:t>
            </a:r>
            <a:r>
              <a:rPr lang="en-US" altLang="ko-KR" dirty="0"/>
              <a:t>off time</a:t>
            </a:r>
            <a:r>
              <a:rPr lang="ko-KR" altLang="en-US" dirty="0"/>
              <a:t>이 소요가 </a:t>
            </a:r>
            <a:r>
              <a:rPr lang="ko-KR" altLang="en-US" dirty="0" smtClean="0"/>
              <a:t>되어 </a:t>
            </a:r>
            <a:r>
              <a:rPr lang="ko-KR" altLang="en-US" dirty="0"/>
              <a:t>전체적인 전송 속도의 저하가 발생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UDP</a:t>
            </a:r>
            <a:r>
              <a:rPr lang="ko-KR" altLang="en-US" dirty="0"/>
              <a:t>로 데이터 </a:t>
            </a:r>
            <a:r>
              <a:rPr lang="ko-KR" altLang="en-US" dirty="0" smtClean="0"/>
              <a:t>수신 간의 </a:t>
            </a:r>
            <a:r>
              <a:rPr lang="ko-KR" altLang="en-US" dirty="0"/>
              <a:t>시간 간격이 너무 넓어 </a:t>
            </a:r>
            <a:r>
              <a:rPr lang="en-US" altLang="ko-KR" dirty="0"/>
              <a:t>USRT </a:t>
            </a:r>
            <a:r>
              <a:rPr lang="ko-KR" altLang="en-US" dirty="0"/>
              <a:t>전송 </a:t>
            </a:r>
            <a:r>
              <a:rPr lang="ko-KR" altLang="en-US" dirty="0" smtClean="0"/>
              <a:t>속도</a:t>
            </a:r>
            <a:r>
              <a:rPr lang="ko-KR" altLang="en-US" dirty="0"/>
              <a:t>에</a:t>
            </a:r>
            <a:r>
              <a:rPr lang="ko-KR" altLang="en-US" dirty="0" smtClean="0"/>
              <a:t> </a:t>
            </a:r>
            <a:r>
              <a:rPr lang="ko-KR" altLang="en-US" dirty="0"/>
              <a:t>영향을 주고 있음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현황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USRT Interface Clock speed 2MHz</a:t>
            </a:r>
            <a:br>
              <a:rPr lang="en-US" altLang="ko-KR" dirty="0" smtClean="0"/>
            </a:br>
            <a:r>
              <a:rPr lang="en-US" altLang="ko-KR" dirty="0" smtClean="0"/>
              <a:t>  USRT </a:t>
            </a:r>
            <a:r>
              <a:rPr lang="ko-KR" altLang="en-US" dirty="0" smtClean="0"/>
              <a:t>전송 시간 </a:t>
            </a:r>
            <a:r>
              <a:rPr lang="en-US" altLang="ko-KR" dirty="0" smtClean="0"/>
              <a:t>(4.096ms) + CRC Check (1ms) + idle time (5ms) </a:t>
            </a:r>
            <a:br>
              <a:rPr lang="en-US" altLang="ko-KR" dirty="0" smtClean="0"/>
            </a:br>
            <a:r>
              <a:rPr lang="en-US" altLang="ko-KR" dirty="0" smtClean="0"/>
              <a:t> </a:t>
            </a:r>
            <a:r>
              <a:rPr lang="en-US" altLang="ko-KR" dirty="0" smtClean="0">
                <a:latin typeface="맑은 고딕" panose="020B0503020000020004" pitchFamily="50" charset="-127"/>
              </a:rPr>
              <a:t>※ Task </a:t>
            </a:r>
            <a:r>
              <a:rPr lang="ko-KR" altLang="en-US" dirty="0" smtClean="0">
                <a:latin typeface="맑은 고딕" panose="020B0503020000020004" pitchFamily="50" charset="-127"/>
              </a:rPr>
              <a:t>운용 주기는 </a:t>
            </a:r>
            <a:r>
              <a:rPr lang="en-US" altLang="ko-KR" dirty="0" smtClean="0">
                <a:latin typeface="맑은 고딕" panose="020B0503020000020004" pitchFamily="50" charset="-127"/>
              </a:rPr>
              <a:t>10ms </a:t>
            </a:r>
            <a:r>
              <a:rPr lang="ko-KR" altLang="en-US" dirty="0" smtClean="0">
                <a:latin typeface="맑은 고딕" panose="020B0503020000020004" pitchFamily="50" charset="-127"/>
              </a:rPr>
              <a:t>전송</a:t>
            </a:r>
            <a:r>
              <a:rPr lang="en-US" altLang="ko-KR" dirty="0" smtClean="0">
                <a:latin typeface="맑은 고딕" panose="020B0503020000020004" pitchFamily="50" charset="-127"/>
              </a:rPr>
              <a:t>,</a:t>
            </a:r>
            <a:r>
              <a:rPr lang="ko-KR" altLang="en-US" dirty="0" smtClean="0"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latin typeface="맑은 고딕" panose="020B0503020000020004" pitchFamily="50" charset="-127"/>
              </a:rPr>
              <a:t>data size : 1K (1024Byte)</a:t>
            </a:r>
            <a:br>
              <a:rPr lang="en-US" altLang="ko-KR" dirty="0" smtClean="0">
                <a:latin typeface="맑은 고딕" panose="020B0503020000020004" pitchFamily="50" charset="-127"/>
              </a:rPr>
            </a:br>
            <a:r>
              <a:rPr lang="en-US" altLang="ko-KR" dirty="0" smtClean="0">
                <a:latin typeface="맑은 고딕" panose="020B0503020000020004" pitchFamily="50" charset="-127"/>
              </a:rPr>
              <a:t>- USRT Task </a:t>
            </a:r>
            <a:r>
              <a:rPr lang="ko-KR" altLang="en-US" dirty="0" smtClean="0">
                <a:latin typeface="맑은 고딕" panose="020B0503020000020004" pitchFamily="50" charset="-127"/>
              </a:rPr>
              <a:t>주기 내에서 </a:t>
            </a:r>
            <a:r>
              <a:rPr lang="en-US" altLang="ko-KR" dirty="0" smtClean="0">
                <a:latin typeface="맑은 고딕" panose="020B0503020000020004" pitchFamily="50" charset="-127"/>
              </a:rPr>
              <a:t>2 </a:t>
            </a:r>
            <a:r>
              <a:rPr lang="ko-KR" altLang="en-US" dirty="0" smtClean="0">
                <a:latin typeface="맑은 고딕" panose="020B0503020000020004" pitchFamily="50" charset="-127"/>
              </a:rPr>
              <a:t>주기의 데이터 전송 시 </a:t>
            </a:r>
            <a:r>
              <a:rPr lang="en-US" altLang="ko-KR" dirty="0" smtClean="0"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latin typeface="맑은 고딕" panose="020B0503020000020004" pitchFamily="50" charset="-127"/>
              </a:rPr>
            </a:br>
            <a:r>
              <a:rPr lang="en-US" altLang="ko-KR" dirty="0" smtClean="0">
                <a:latin typeface="맑은 고딕" panose="020B0503020000020004" pitchFamily="50" charset="-127"/>
              </a:rPr>
              <a:t> </a:t>
            </a:r>
            <a:r>
              <a:rPr lang="en-US" altLang="ko-KR" dirty="0" smtClean="0"/>
              <a:t>USRT </a:t>
            </a:r>
            <a:r>
              <a:rPr lang="ko-KR" altLang="en-US" dirty="0" smtClean="0"/>
              <a:t>전송 시간 </a:t>
            </a:r>
            <a:r>
              <a:rPr lang="en-US" altLang="ko-KR" dirty="0" smtClean="0"/>
              <a:t>(8.192ms) + CRC Check (2ms) </a:t>
            </a:r>
            <a:r>
              <a:rPr lang="en-US" altLang="ko-KR" dirty="0" smtClean="0">
                <a:sym typeface="Wingdings" panose="05000000000000000000" pitchFamily="2" charset="2"/>
              </a:rPr>
              <a:t> 10ms </a:t>
            </a:r>
            <a:r>
              <a:rPr lang="ko-KR" altLang="en-US" dirty="0" smtClean="0">
                <a:sym typeface="Wingdings" panose="05000000000000000000" pitchFamily="2" charset="2"/>
              </a:rPr>
              <a:t>주기를 초과함</a:t>
            </a:r>
            <a:r>
              <a:rPr lang="en-US" altLang="ko-KR" dirty="0" smtClean="0">
                <a:sym typeface="Wingdings" panose="05000000000000000000" pitchFamily="2" charset="2"/>
              </a:rPr>
              <a:t>.</a:t>
            </a:r>
            <a:r>
              <a:rPr lang="en-US" altLang="ko-KR" dirty="0" smtClean="0">
                <a:latin typeface="맑은 고딕" panose="020B0503020000020004" pitchFamily="50" charset="-127"/>
              </a:rPr>
              <a:t> </a:t>
            </a:r>
            <a:br>
              <a:rPr lang="en-US" altLang="ko-KR" dirty="0" smtClean="0">
                <a:latin typeface="맑은 고딕" panose="020B0503020000020004" pitchFamily="50" charset="-127"/>
              </a:rPr>
            </a:br>
            <a:r>
              <a:rPr lang="en-US" altLang="ko-KR" dirty="0" smtClean="0">
                <a:latin typeface="맑은 고딕" panose="020B0503020000020004" pitchFamily="50" charset="-127"/>
              </a:rPr>
              <a:t>- DTNPL </a:t>
            </a:r>
            <a:r>
              <a:rPr lang="ko-KR" altLang="en-US" dirty="0" smtClean="0">
                <a:latin typeface="맑은 고딕" panose="020B0503020000020004" pitchFamily="50" charset="-127"/>
              </a:rPr>
              <a:t>내의 </a:t>
            </a:r>
            <a:r>
              <a:rPr lang="en-US" altLang="ko-KR" dirty="0" smtClean="0">
                <a:latin typeface="맑은 고딕" panose="020B0503020000020004" pitchFamily="50" charset="-127"/>
              </a:rPr>
              <a:t>ION S/W</a:t>
            </a:r>
            <a:r>
              <a:rPr lang="ko-KR" altLang="en-US" dirty="0" smtClean="0">
                <a:latin typeface="맑은 고딕" panose="020B0503020000020004" pitchFamily="50" charset="-127"/>
              </a:rPr>
              <a:t>와 </a:t>
            </a:r>
            <a:r>
              <a:rPr lang="en-US" altLang="ko-KR" dirty="0" smtClean="0">
                <a:latin typeface="맑은 고딕" panose="020B0503020000020004" pitchFamily="50" charset="-127"/>
              </a:rPr>
              <a:t>UDP Socket</a:t>
            </a:r>
            <a:r>
              <a:rPr lang="ko-KR" altLang="en-US" dirty="0" smtClean="0">
                <a:latin typeface="맑은 고딕" panose="020B0503020000020004" pitchFamily="50" charset="-127"/>
              </a:rPr>
              <a:t>을 통해 데이터 전송을 하고 있음</a:t>
            </a:r>
            <a:r>
              <a:rPr lang="en-US" altLang="ko-KR" dirty="0" smtClean="0">
                <a:latin typeface="맑은 고딕" panose="020B0503020000020004" pitchFamily="50" charset="-127"/>
              </a:rPr>
              <a:t>. </a:t>
            </a:r>
            <a:br>
              <a:rPr lang="en-US" altLang="ko-KR" dirty="0" smtClean="0">
                <a:latin typeface="맑은 고딕" panose="020B0503020000020004" pitchFamily="50" charset="-127"/>
              </a:rPr>
            </a:b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latin typeface="맑은 고딕" panose="020B0503020000020004" pitchFamily="50" charset="-127"/>
              </a:rPr>
              <a:t> ※ ION S/W</a:t>
            </a:r>
            <a:r>
              <a:rPr lang="ko-KR" altLang="en-US" dirty="0" smtClean="0">
                <a:latin typeface="맑은 고딕" panose="020B0503020000020004" pitchFamily="50" charset="-127"/>
              </a:rPr>
              <a:t>로 부터의 데이터 수신 주기는 </a:t>
            </a:r>
            <a:r>
              <a:rPr lang="en-US" altLang="ko-KR" dirty="0" smtClean="0">
                <a:latin typeface="맑은 고딕" panose="020B0503020000020004" pitchFamily="50" charset="-127"/>
              </a:rPr>
              <a:t>10ms</a:t>
            </a:r>
            <a:br>
              <a:rPr lang="en-US" altLang="ko-KR" dirty="0" smtClean="0">
                <a:latin typeface="맑은 고딕" panose="020B0503020000020004" pitchFamily="50" charset="-127"/>
              </a:rPr>
            </a:br>
            <a:r>
              <a:rPr lang="en-US" altLang="ko-KR" dirty="0" smtClean="0">
                <a:latin typeface="맑은 고딕" panose="020B0503020000020004" pitchFamily="50" charset="-127"/>
              </a:rPr>
              <a:t>  ※ </a:t>
            </a:r>
            <a:r>
              <a:rPr lang="ko-KR" altLang="en-US" dirty="0" smtClean="0">
                <a:latin typeface="맑은 고딕" panose="020B0503020000020004" pitchFamily="50" charset="-127"/>
              </a:rPr>
              <a:t>이 주기 안에서 최대한 많은 데이터를 받을 수 있는 것이 유리함</a:t>
            </a:r>
            <a:r>
              <a:rPr lang="en-US" altLang="ko-KR" dirty="0" smtClean="0">
                <a:latin typeface="맑은 고딕" panose="020B0503020000020004" pitchFamily="50" charset="-127"/>
              </a:rPr>
              <a:t>.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718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SBC FW Task </a:t>
            </a:r>
            <a:r>
              <a:rPr lang="ko-KR" altLang="en-US" dirty="0" smtClean="0"/>
              <a:t>운용 </a:t>
            </a:r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DTNPL – SBC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Task </a:t>
            </a:r>
            <a:r>
              <a:rPr lang="ko-KR" altLang="en-US" dirty="0" smtClean="0"/>
              <a:t>운용 </a:t>
            </a:r>
            <a:r>
              <a:rPr lang="en-US" altLang="ko-KR" dirty="0" smtClean="0"/>
              <a:t>Diagram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로 구성이 되어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Task </a:t>
            </a:r>
            <a:r>
              <a:rPr lang="ko-KR" altLang="en-US" dirty="0" smtClean="0"/>
              <a:t>각 데이터 공유는 </a:t>
            </a:r>
            <a:r>
              <a:rPr lang="en-US" altLang="ko-KR" dirty="0" smtClean="0"/>
              <a:t>Message Queue</a:t>
            </a:r>
            <a:r>
              <a:rPr lang="ko-KR" altLang="en-US" dirty="0" smtClean="0"/>
              <a:t>를 이용하여 데이터 전송을 하고 있음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B9F6217-69A4-4A7D-A9C2-35C496D61B3B}"/>
              </a:ext>
            </a:extLst>
          </p:cNvPr>
          <p:cNvGrpSpPr/>
          <p:nvPr/>
        </p:nvGrpSpPr>
        <p:grpSpPr>
          <a:xfrm>
            <a:off x="1102808" y="2604340"/>
            <a:ext cx="6821992" cy="3625010"/>
            <a:chOff x="598512" y="1679544"/>
            <a:chExt cx="8373066" cy="470703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D7FC507-B8EC-4190-BD90-A28BA2EC6E67}"/>
                </a:ext>
              </a:extLst>
            </p:cNvPr>
            <p:cNvSpPr/>
            <p:nvPr/>
          </p:nvSpPr>
          <p:spPr bwMode="auto">
            <a:xfrm>
              <a:off x="1246909" y="2485504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MQ1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868E5B-75B3-411B-9873-E5E76F2132C4}"/>
                </a:ext>
              </a:extLst>
            </p:cNvPr>
            <p:cNvSpPr/>
            <p:nvPr/>
          </p:nvSpPr>
          <p:spPr bwMode="auto">
            <a:xfrm>
              <a:off x="2543695" y="2485504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MQ2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AE8D95E-FFF8-449E-8019-19BA78A6E3AB}"/>
                </a:ext>
              </a:extLst>
            </p:cNvPr>
            <p:cNvSpPr/>
            <p:nvPr/>
          </p:nvSpPr>
          <p:spPr bwMode="auto">
            <a:xfrm>
              <a:off x="3870974" y="2485504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MQ3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72B3B3A-BEC7-465F-AF4A-01F401D9B96D}"/>
                </a:ext>
              </a:extLst>
            </p:cNvPr>
            <p:cNvSpPr/>
            <p:nvPr/>
          </p:nvSpPr>
          <p:spPr bwMode="auto">
            <a:xfrm>
              <a:off x="6479793" y="248550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MQn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9E14CED-4BE5-47DE-84E9-EFA10440DDDF}"/>
                </a:ext>
              </a:extLst>
            </p:cNvPr>
            <p:cNvSpPr/>
            <p:nvPr/>
          </p:nvSpPr>
          <p:spPr bwMode="auto">
            <a:xfrm>
              <a:off x="5198253" y="248550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…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381F4CF-1334-4851-9649-19E0198D59D7}"/>
                </a:ext>
              </a:extLst>
            </p:cNvPr>
            <p:cNvSpPr/>
            <p:nvPr/>
          </p:nvSpPr>
          <p:spPr bwMode="auto">
            <a:xfrm>
              <a:off x="598515" y="1679544"/>
              <a:ext cx="28332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UDP Rx Task </a:t>
              </a:r>
              <a:r>
                <a:rPr lang="en-US" altLang="ko-KR" sz="1000" dirty="0" smtClean="0"/>
                <a:t>(10ms</a:t>
              </a:r>
              <a:r>
                <a:rPr lang="en-US" altLang="ko-KR" sz="1000" dirty="0"/>
                <a:t>)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BC504A-D258-4FE9-975F-478660F0535C}"/>
                </a:ext>
              </a:extLst>
            </p:cNvPr>
            <p:cNvSpPr/>
            <p:nvPr/>
          </p:nvSpPr>
          <p:spPr bwMode="auto">
            <a:xfrm>
              <a:off x="598514" y="3291464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USART </a:t>
              </a:r>
              <a:r>
                <a:rPr lang="en-US" altLang="ko-KR" sz="1000" dirty="0" err="1"/>
                <a:t>Tx</a:t>
              </a:r>
              <a:r>
                <a:rPr lang="en-US" altLang="ko-KR" sz="1000" dirty="0"/>
                <a:t> </a:t>
              </a:r>
              <a:r>
                <a:rPr lang="en-US" altLang="ko-KR" sz="1000" dirty="0" smtClean="0"/>
                <a:t>Task(10ms</a:t>
              </a:r>
              <a:r>
                <a:rPr lang="en-US" altLang="ko-KR" sz="1000" dirty="0"/>
                <a:t>)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52C837EB-027A-4D13-97C1-99259B4FF0EC}"/>
                </a:ext>
              </a:extLst>
            </p:cNvPr>
            <p:cNvCxnSpPr>
              <a:stCxn id="10" idx="2"/>
              <a:endCxn id="8" idx="0"/>
            </p:cNvCxnSpPr>
            <p:nvPr/>
          </p:nvCxnSpPr>
          <p:spPr bwMode="auto">
            <a:xfrm>
              <a:off x="2015158" y="2136744"/>
              <a:ext cx="5113028" cy="348759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ysDot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C1AB1EA3-D72D-43BD-9CC9-21A3B52CC8BF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 bwMode="auto">
            <a:xfrm flipH="1">
              <a:off x="1824643" y="2942704"/>
              <a:ext cx="70659" cy="348760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69447B1-BBE2-4A7C-BCB7-C34085556B7A}"/>
                </a:ext>
              </a:extLst>
            </p:cNvPr>
            <p:cNvSpPr/>
            <p:nvPr/>
          </p:nvSpPr>
          <p:spPr bwMode="auto">
            <a:xfrm>
              <a:off x="3431801" y="3291464"/>
              <a:ext cx="2611552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Space Packet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SEND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EB0A3E57-3F5D-4422-ACB7-831B7F12D954}"/>
                </a:ext>
              </a:extLst>
            </p:cNvPr>
            <p:cNvCxnSpPr>
              <a:stCxn id="11" idx="3"/>
              <a:endCxn id="14" idx="1"/>
            </p:cNvCxnSpPr>
            <p:nvPr/>
          </p:nvCxnSpPr>
          <p:spPr bwMode="auto">
            <a:xfrm>
              <a:off x="3050771" y="3520064"/>
              <a:ext cx="381030" cy="0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10897E6-71FB-4DCF-BD92-CE01154600E8}"/>
                </a:ext>
              </a:extLst>
            </p:cNvPr>
            <p:cNvSpPr/>
            <p:nvPr/>
          </p:nvSpPr>
          <p:spPr bwMode="auto">
            <a:xfrm>
              <a:off x="1219200" y="510846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MQ1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BE1D97F-11E6-43F3-A84D-80D08D1ACB5E}"/>
                </a:ext>
              </a:extLst>
            </p:cNvPr>
            <p:cNvSpPr/>
            <p:nvPr/>
          </p:nvSpPr>
          <p:spPr bwMode="auto">
            <a:xfrm>
              <a:off x="2515986" y="510846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MQ2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248BF0-D88F-4B08-B4CB-4489999B009C}"/>
                </a:ext>
              </a:extLst>
            </p:cNvPr>
            <p:cNvSpPr/>
            <p:nvPr/>
          </p:nvSpPr>
          <p:spPr bwMode="auto">
            <a:xfrm>
              <a:off x="3843265" y="5108463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MQ3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D338B2E-F190-4F34-98D4-22251DC34397}"/>
                </a:ext>
              </a:extLst>
            </p:cNvPr>
            <p:cNvSpPr/>
            <p:nvPr/>
          </p:nvSpPr>
          <p:spPr bwMode="auto">
            <a:xfrm>
              <a:off x="6452084" y="5108462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MQn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7F159D3-8834-4A67-985B-7A5F1FD7832E}"/>
                </a:ext>
              </a:extLst>
            </p:cNvPr>
            <p:cNvSpPr/>
            <p:nvPr/>
          </p:nvSpPr>
          <p:spPr bwMode="auto">
            <a:xfrm>
              <a:off x="5170544" y="5108462"/>
              <a:ext cx="1296786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rPr>
                <a:t>…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919D1D3-469D-46E9-92B4-E850B94F94D3}"/>
                </a:ext>
              </a:extLst>
            </p:cNvPr>
            <p:cNvSpPr/>
            <p:nvPr/>
          </p:nvSpPr>
          <p:spPr bwMode="auto">
            <a:xfrm>
              <a:off x="598513" y="5929374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UART Rx Task (100ms)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6A791427-8135-4112-938A-EFC30964753C}"/>
                </a:ext>
              </a:extLst>
            </p:cNvPr>
            <p:cNvCxnSpPr>
              <a:stCxn id="21" idx="0"/>
              <a:endCxn id="19" idx="2"/>
            </p:cNvCxnSpPr>
            <p:nvPr/>
          </p:nvCxnSpPr>
          <p:spPr bwMode="auto">
            <a:xfrm flipV="1">
              <a:off x="1824642" y="5565662"/>
              <a:ext cx="5275835" cy="363712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ysDot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9CFDC70-3DB3-45C7-B07A-00BB124C9E85}"/>
                </a:ext>
              </a:extLst>
            </p:cNvPr>
            <p:cNvSpPr/>
            <p:nvPr/>
          </p:nvSpPr>
          <p:spPr bwMode="auto">
            <a:xfrm>
              <a:off x="598512" y="4304175"/>
              <a:ext cx="2833289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Telemetry Task (</a:t>
              </a:r>
              <a:r>
                <a:rPr lang="en-US" altLang="ko-KR" sz="1000" dirty="0" smtClean="0"/>
                <a:t>10ms</a:t>
              </a:r>
              <a:r>
                <a:rPr lang="en-US" altLang="ko-KR" sz="1000" dirty="0"/>
                <a:t>)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62FD850-F5F1-40EC-A673-17DD9F681B01}"/>
                </a:ext>
              </a:extLst>
            </p:cNvPr>
            <p:cNvCxnSpPr>
              <a:stCxn id="16" idx="0"/>
              <a:endCxn id="23" idx="2"/>
            </p:cNvCxnSpPr>
            <p:nvPr/>
          </p:nvCxnSpPr>
          <p:spPr bwMode="auto">
            <a:xfrm flipV="1">
              <a:off x="1867593" y="4761375"/>
              <a:ext cx="147564" cy="347088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B3FE43A-A7FD-4E9D-8ADA-849AE484EC5A}"/>
                </a:ext>
              </a:extLst>
            </p:cNvPr>
            <p:cNvSpPr/>
            <p:nvPr/>
          </p:nvSpPr>
          <p:spPr bwMode="auto">
            <a:xfrm>
              <a:off x="3329245" y="5929374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UART Rx Buffer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4BE378E-8BCA-45AA-8306-BAB4FF5635AC}"/>
                </a:ext>
              </a:extLst>
            </p:cNvPr>
            <p:cNvSpPr/>
            <p:nvPr/>
          </p:nvSpPr>
          <p:spPr bwMode="auto">
            <a:xfrm>
              <a:off x="6032988" y="5923456"/>
              <a:ext cx="2452257" cy="45720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UART Rx IRQ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701F9937-8E60-4B55-958C-1362D38EB205}"/>
                </a:ext>
              </a:extLst>
            </p:cNvPr>
            <p:cNvCxnSpPr>
              <a:stCxn id="30" idx="1"/>
              <a:endCxn id="10" idx="3"/>
            </p:cNvCxnSpPr>
            <p:nvPr/>
          </p:nvCxnSpPr>
          <p:spPr bwMode="auto">
            <a:xfrm flipH="1" flipV="1">
              <a:off x="3431801" y="1908144"/>
              <a:ext cx="697572" cy="5322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802A6754-EE8D-4EC9-A0BA-09A25F32EDC5}"/>
                </a:ext>
              </a:extLst>
            </p:cNvPr>
            <p:cNvCxnSpPr>
              <a:stCxn id="26" idx="1"/>
              <a:endCxn id="25" idx="3"/>
            </p:cNvCxnSpPr>
            <p:nvPr/>
          </p:nvCxnSpPr>
          <p:spPr bwMode="auto">
            <a:xfrm flipH="1">
              <a:off x="5781502" y="6152056"/>
              <a:ext cx="251486" cy="5918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40DC0FC-5C70-47CF-90AA-64D3C42EC72A}"/>
                </a:ext>
              </a:extLst>
            </p:cNvPr>
            <p:cNvSpPr/>
            <p:nvPr/>
          </p:nvSpPr>
          <p:spPr bwMode="auto">
            <a:xfrm>
              <a:off x="5490576" y="4520687"/>
              <a:ext cx="2452257" cy="4572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ION UDP Rx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8633EAF-AD30-492B-9D6C-6ED506F99EE8}"/>
                </a:ext>
              </a:extLst>
            </p:cNvPr>
            <p:cNvSpPr/>
            <p:nvPr/>
          </p:nvSpPr>
          <p:spPr bwMode="auto">
            <a:xfrm>
              <a:off x="4129373" y="1684866"/>
              <a:ext cx="2452257" cy="4572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ION UDP </a:t>
              </a:r>
              <a:r>
                <a:rPr lang="en-US" altLang="ko-KR" sz="1000" dirty="0" err="1"/>
                <a:t>Tx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C5003A7F-04EF-4C53-8543-C42AABE112A5}"/>
                </a:ext>
              </a:extLst>
            </p:cNvPr>
            <p:cNvCxnSpPr>
              <a:endCxn id="29" idx="1"/>
            </p:cNvCxnSpPr>
            <p:nvPr/>
          </p:nvCxnSpPr>
          <p:spPr bwMode="auto">
            <a:xfrm>
              <a:off x="3476989" y="4631750"/>
              <a:ext cx="2013587" cy="117537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4392B9F-9D90-436B-85FD-F4D41662AE47}"/>
                </a:ext>
              </a:extLst>
            </p:cNvPr>
            <p:cNvSpPr/>
            <p:nvPr/>
          </p:nvSpPr>
          <p:spPr bwMode="auto">
            <a:xfrm>
              <a:off x="6906845" y="1679544"/>
              <a:ext cx="2064733" cy="457199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Heartbeat Task (2s)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CF2869A-255B-4284-8C95-53ED2637732D}"/>
                </a:ext>
              </a:extLst>
            </p:cNvPr>
            <p:cNvSpPr/>
            <p:nvPr/>
          </p:nvSpPr>
          <p:spPr bwMode="auto">
            <a:xfrm>
              <a:off x="6906845" y="3291465"/>
              <a:ext cx="2064733" cy="457199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 err="1"/>
                <a:t>sbc_main</a:t>
              </a:r>
              <a:r>
                <a:rPr lang="en-US" altLang="ko-KR" sz="1000" dirty="0"/>
                <a:t> Task (1s)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2C1D7E1-31F8-403C-AF22-E56C62393FDE}"/>
                </a:ext>
              </a:extLst>
            </p:cNvPr>
            <p:cNvSpPr/>
            <p:nvPr/>
          </p:nvSpPr>
          <p:spPr bwMode="auto">
            <a:xfrm>
              <a:off x="5490576" y="3945743"/>
              <a:ext cx="2452257" cy="4572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dirty="0"/>
                <a:t>UART </a:t>
              </a:r>
              <a:r>
                <a:rPr lang="en-US" altLang="ko-KR" sz="1000" dirty="0" err="1"/>
                <a:t>Tx</a:t>
              </a: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4C0DA849-841B-4872-B2EA-4859E7704D40}"/>
                </a:ext>
              </a:extLst>
            </p:cNvPr>
            <p:cNvCxnSpPr/>
            <p:nvPr/>
          </p:nvCxnSpPr>
          <p:spPr bwMode="auto">
            <a:xfrm flipV="1">
              <a:off x="3476989" y="4174343"/>
              <a:ext cx="2013587" cy="270681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6CB46C-D29C-4C3B-BAFB-B87135250027}"/>
                </a:ext>
              </a:extLst>
            </p:cNvPr>
            <p:cNvSpPr txBox="1"/>
            <p:nvPr/>
          </p:nvSpPr>
          <p:spPr>
            <a:xfrm>
              <a:off x="3877452" y="4639106"/>
              <a:ext cx="787970" cy="36014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Script 2</a:t>
              </a:r>
              <a:endParaRPr lang="ko-KR" altLang="en-US" sz="10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6618098-C346-43B3-9634-7FBCBBE0827E}"/>
                </a:ext>
              </a:extLst>
            </p:cNvPr>
            <p:cNvSpPr txBox="1"/>
            <p:nvPr/>
          </p:nvSpPr>
          <p:spPr>
            <a:xfrm>
              <a:off x="3985517" y="4041354"/>
              <a:ext cx="787970" cy="36014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SOH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6627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DTNPL SBC Task </a:t>
            </a:r>
            <a:r>
              <a:rPr lang="ko-KR" altLang="en-US" dirty="0" smtClean="0"/>
              <a:t>운용 구조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모든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는</a:t>
            </a:r>
            <a:r>
              <a:rPr lang="en-US" altLang="ko-KR" dirty="0" smtClean="0"/>
              <a:t> preemptive task</a:t>
            </a:r>
            <a:r>
              <a:rPr lang="ko-KR" altLang="en-US" dirty="0" smtClean="0"/>
              <a:t>로 운용 하고 있음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Task 3 </a:t>
            </a:r>
            <a:r>
              <a:rPr lang="en-US" altLang="ko-KR" dirty="0" smtClean="0">
                <a:sym typeface="Wingdings" panose="05000000000000000000" pitchFamily="2" charset="2"/>
              </a:rPr>
              <a:t> USRT, 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Task 2  UDP Rx 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Task 1  </a:t>
            </a:r>
            <a:r>
              <a:rPr lang="ko-KR" altLang="en-US" dirty="0" smtClean="0">
                <a:sym typeface="Wingdings" panose="05000000000000000000" pitchFamily="2" charset="2"/>
              </a:rPr>
              <a:t>기타</a:t>
            </a:r>
            <a:r>
              <a:rPr lang="en-US" altLang="ko-KR" dirty="0" smtClean="0">
                <a:sym typeface="Wingdings" panose="05000000000000000000" pitchFamily="2" charset="2"/>
              </a:rPr>
              <a:t> Task ( UART / Heartbeat / </a:t>
            </a:r>
            <a:r>
              <a:rPr lang="en-US" altLang="ko-KR" dirty="0" err="1" smtClean="0">
                <a:sym typeface="Wingdings" panose="05000000000000000000" pitchFamily="2" charset="2"/>
              </a:rPr>
              <a:t>etc</a:t>
            </a:r>
            <a:r>
              <a:rPr lang="en-US" altLang="ko-KR" dirty="0" smtClean="0">
                <a:sym typeface="Wingdings" panose="05000000000000000000" pitchFamily="2" charset="2"/>
              </a:rPr>
              <a:t> )</a:t>
            </a:r>
            <a:endParaRPr lang="ko-KR" altLang="en-US" dirty="0"/>
          </a:p>
        </p:txBody>
      </p:sp>
      <p:pic>
        <p:nvPicPr>
          <p:cNvPr id="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363" y="2835269"/>
            <a:ext cx="8666162" cy="3338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888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기술 검토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전송 목표 속도 </a:t>
            </a:r>
            <a:r>
              <a:rPr lang="en-US" altLang="ko-KR" dirty="0"/>
              <a:t>: </a:t>
            </a:r>
            <a:r>
              <a:rPr lang="en-US" altLang="ko-KR" dirty="0" smtClean="0"/>
              <a:t>2Mbps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수정된 </a:t>
            </a:r>
            <a:r>
              <a:rPr lang="ko-KR" altLang="en-US" dirty="0"/>
              <a:t>목표 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ION S/W  : The MAX transmission speed via UDP </a:t>
            </a:r>
            <a:r>
              <a:rPr lang="en-US" altLang="ko-KR" dirty="0"/>
              <a:t>is up to </a:t>
            </a:r>
            <a:r>
              <a:rPr lang="en-US" altLang="ko-KR" dirty="0" smtClean="0"/>
              <a:t>1.5MBps</a:t>
            </a:r>
            <a:br>
              <a:rPr lang="en-US" altLang="ko-KR" dirty="0" smtClean="0"/>
            </a:br>
            <a:r>
              <a:rPr lang="en-US" altLang="ko-KR" dirty="0" smtClean="0"/>
              <a:t>SBC F/W : The MAX. USRT transmission </a:t>
            </a:r>
            <a:r>
              <a:rPr lang="en-US" altLang="ko-KR" dirty="0"/>
              <a:t>speed is up to </a:t>
            </a:r>
            <a:r>
              <a:rPr lang="en-US" altLang="ko-KR" dirty="0" smtClean="0"/>
              <a:t>1.6Mbps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ko-KR" altLang="en-US" dirty="0" smtClean="0"/>
              <a:t>현재까지의 시험 결과는 </a:t>
            </a:r>
            <a:r>
              <a:rPr lang="en-US" altLang="ko-KR" dirty="0" smtClean="0"/>
              <a:t>USRT </a:t>
            </a:r>
            <a:r>
              <a:rPr lang="ko-KR" altLang="en-US" dirty="0" smtClean="0"/>
              <a:t>최대 전송 속도는 </a:t>
            </a:r>
            <a:r>
              <a:rPr lang="en-US" altLang="ko-KR" dirty="0" smtClean="0"/>
              <a:t>800K~900Kbps</a:t>
            </a:r>
          </a:p>
          <a:p>
            <a:r>
              <a:rPr lang="en-US" altLang="ko-KR" dirty="0" smtClean="0"/>
              <a:t>  </a:t>
            </a:r>
            <a:r>
              <a:rPr lang="en-US" altLang="ko-KR" dirty="0" smtClean="0"/>
              <a:t>USRT </a:t>
            </a:r>
            <a:r>
              <a:rPr lang="ko-KR" altLang="en-US" dirty="0" smtClean="0"/>
              <a:t>전송 시 </a:t>
            </a:r>
            <a:r>
              <a:rPr lang="en-US" altLang="ko-KR" dirty="0"/>
              <a:t>pause Time(idle )</a:t>
            </a:r>
            <a:r>
              <a:rPr lang="ko-KR" altLang="en-US" dirty="0"/>
              <a:t>이 상대적으로 커 전송속도 상승이 </a:t>
            </a:r>
            <a:r>
              <a:rPr lang="ko-KR" altLang="en-US" dirty="0" smtClean="0"/>
              <a:t>제한적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- </a:t>
            </a:r>
            <a:r>
              <a:rPr lang="ko-KR" altLang="en-US" dirty="0" smtClean="0"/>
              <a:t>또한 </a:t>
            </a:r>
            <a:r>
              <a:rPr lang="en-US" altLang="ko-KR" dirty="0" smtClean="0"/>
              <a:t>CRC </a:t>
            </a:r>
            <a:r>
              <a:rPr lang="en-US" altLang="ko-KR" dirty="0"/>
              <a:t>Check </a:t>
            </a:r>
            <a:r>
              <a:rPr lang="ko-KR" altLang="en-US" dirty="0"/>
              <a:t>적용 여부에 따라 전송 속도의 변화가 있음</a:t>
            </a:r>
            <a:r>
              <a:rPr lang="en-US" altLang="ko-KR" dirty="0"/>
              <a:t>. </a:t>
            </a:r>
          </a:p>
          <a:p>
            <a:r>
              <a:rPr lang="ko-KR" altLang="en-US" dirty="0" smtClean="0"/>
              <a:t>계산 </a:t>
            </a:r>
            <a:r>
              <a:rPr lang="ko-KR" altLang="en-US" dirty="0"/>
              <a:t>값 </a:t>
            </a:r>
            <a:r>
              <a:rPr lang="en-US" altLang="ko-KR" dirty="0" smtClean="0"/>
              <a:t>(</a:t>
            </a:r>
            <a:r>
              <a:rPr lang="en-US" altLang="ko-KR" dirty="0" smtClean="0"/>
              <a:t>USRT 2MHz Clock </a:t>
            </a:r>
            <a:r>
              <a:rPr lang="ko-KR" altLang="en-US" dirty="0" smtClean="0"/>
              <a:t>기준 산정</a:t>
            </a:r>
            <a:r>
              <a:rPr lang="en-US" altLang="ko-KR" dirty="0" smtClean="0"/>
              <a:t>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- 10ms </a:t>
            </a:r>
            <a:r>
              <a:rPr lang="en-US" altLang="ko-KR" dirty="0"/>
              <a:t>Task</a:t>
            </a:r>
            <a:r>
              <a:rPr lang="ko-KR" altLang="en-US" dirty="0"/>
              <a:t>로 운용 </a:t>
            </a:r>
            <a:r>
              <a:rPr lang="ko-KR" altLang="en-US" dirty="0" smtClean="0"/>
              <a:t>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sz="1400" dirty="0" smtClean="0"/>
              <a:t>  </a:t>
            </a:r>
            <a:r>
              <a:rPr lang="en-US" altLang="ko-KR" sz="1400" dirty="0"/>
              <a:t>1024 * 2</a:t>
            </a:r>
            <a:r>
              <a:rPr lang="ko-KR" altLang="en-US" sz="1400" dirty="0"/>
              <a:t>회 </a:t>
            </a:r>
            <a:r>
              <a:rPr lang="en-US" altLang="ko-KR" sz="1400" dirty="0"/>
              <a:t>(2048)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/>
              <a:t>8.192ms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82% -&gt; 2Mbps * 82% = </a:t>
            </a:r>
            <a:r>
              <a:rPr lang="en-US" altLang="ko-KR" sz="1400" dirty="0" smtClean="0"/>
              <a:t>1.64Mbps</a:t>
            </a:r>
            <a:br>
              <a:rPr lang="en-US" altLang="ko-KR" sz="1400" dirty="0" smtClean="0"/>
            </a:br>
            <a:r>
              <a:rPr lang="en-US" altLang="ko-KR" sz="1400" dirty="0" smtClean="0"/>
              <a:t>  </a:t>
            </a:r>
            <a:r>
              <a:rPr lang="en-US" altLang="ko-KR" sz="1400" dirty="0"/>
              <a:t>1024 * 1</a:t>
            </a:r>
            <a:r>
              <a:rPr lang="ko-KR" altLang="en-US" sz="1400" dirty="0"/>
              <a:t>회 </a:t>
            </a:r>
            <a:r>
              <a:rPr lang="en-US" altLang="ko-KR" sz="1400" dirty="0"/>
              <a:t>(1024)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/>
              <a:t>4.096ms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41% -&gt; 2Mbps * 41% = 0.82Mbps</a:t>
            </a:r>
          </a:p>
          <a:p>
            <a:r>
              <a:rPr lang="ko-KR" altLang="en-US" dirty="0" smtClean="0"/>
              <a:t>검토 사항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USRT </a:t>
            </a:r>
            <a:r>
              <a:rPr lang="en-US" altLang="ko-KR" dirty="0"/>
              <a:t>Clock</a:t>
            </a:r>
            <a:r>
              <a:rPr lang="ko-KR" altLang="en-US" dirty="0"/>
              <a:t>을 </a:t>
            </a:r>
            <a:r>
              <a:rPr lang="en-US" altLang="ko-KR" dirty="0"/>
              <a:t>4MHz</a:t>
            </a:r>
            <a:r>
              <a:rPr lang="ko-KR" altLang="en-US" dirty="0"/>
              <a:t>로 설정을 할 경우 속도의 변화가 어떻게 되는지</a:t>
            </a:r>
            <a:r>
              <a:rPr lang="en-US" altLang="ko-KR" dirty="0" smtClean="0"/>
              <a:t>?</a:t>
            </a:r>
            <a:br>
              <a:rPr lang="en-US" altLang="ko-KR" dirty="0" smtClean="0"/>
            </a:br>
            <a:r>
              <a:rPr lang="en-US" altLang="ko-KR" dirty="0" smtClean="0"/>
              <a:t>Estimation</a:t>
            </a:r>
            <a:r>
              <a:rPr lang="ko-KR" altLang="en-US" dirty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sz="1400" dirty="0" smtClean="0"/>
              <a:t> </a:t>
            </a:r>
            <a:r>
              <a:rPr lang="en-US" altLang="ko-KR" sz="1400" dirty="0"/>
              <a:t>1024 *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회 </a:t>
            </a:r>
            <a:r>
              <a:rPr lang="en-US" altLang="ko-KR" sz="1400" dirty="0" smtClean="0"/>
              <a:t>(4096) </a:t>
            </a:r>
            <a:r>
              <a:rPr lang="en-US" altLang="ko-KR" sz="1400" dirty="0"/>
              <a:t>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 smtClean="0"/>
              <a:t>8.192ms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</a:t>
            </a:r>
            <a:r>
              <a:rPr lang="en-US" altLang="ko-KR" sz="1400" dirty="0" smtClean="0"/>
              <a:t>82% </a:t>
            </a:r>
            <a:r>
              <a:rPr lang="en-US" altLang="ko-KR" sz="1400" dirty="0"/>
              <a:t>-&gt; </a:t>
            </a:r>
            <a:r>
              <a:rPr lang="en-US" altLang="ko-KR" sz="1400" dirty="0" smtClean="0"/>
              <a:t>4Mbps </a:t>
            </a:r>
            <a:r>
              <a:rPr lang="en-US" altLang="ko-KR" sz="1400" dirty="0"/>
              <a:t>* </a:t>
            </a:r>
            <a:r>
              <a:rPr lang="en-US" altLang="ko-KR" sz="1400" dirty="0" smtClean="0"/>
              <a:t>82% </a:t>
            </a:r>
            <a:r>
              <a:rPr lang="en-US" altLang="ko-KR" sz="1400" dirty="0"/>
              <a:t>= </a:t>
            </a:r>
            <a:r>
              <a:rPr lang="en-US" altLang="ko-KR" sz="1400" dirty="0" smtClean="0"/>
              <a:t>3.24Mbps</a:t>
            </a:r>
            <a:br>
              <a:rPr lang="en-US" altLang="ko-KR" sz="1400" dirty="0" smtClean="0"/>
            </a:br>
            <a:r>
              <a:rPr lang="en-US" altLang="ko-KR" sz="1400" dirty="0" smtClean="0"/>
              <a:t> 1024 </a:t>
            </a:r>
            <a:r>
              <a:rPr lang="en-US" altLang="ko-KR" sz="1400" dirty="0"/>
              <a:t>* </a:t>
            </a:r>
            <a:r>
              <a:rPr lang="en-US" altLang="ko-KR" sz="1400" dirty="0" smtClean="0"/>
              <a:t>3</a:t>
            </a:r>
            <a:r>
              <a:rPr lang="ko-KR" altLang="en-US" sz="1400" dirty="0" smtClean="0"/>
              <a:t>회 </a:t>
            </a:r>
            <a:r>
              <a:rPr lang="en-US" altLang="ko-KR" sz="1400" dirty="0" smtClean="0"/>
              <a:t>(3072) </a:t>
            </a:r>
            <a:r>
              <a:rPr lang="en-US" altLang="ko-KR" sz="1400" dirty="0"/>
              <a:t>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 smtClean="0"/>
              <a:t>6.144ms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</a:t>
            </a:r>
            <a:r>
              <a:rPr lang="en-US" altLang="ko-KR" sz="1400" dirty="0" smtClean="0"/>
              <a:t>61% </a:t>
            </a:r>
            <a:r>
              <a:rPr lang="en-US" altLang="ko-KR" sz="1400" dirty="0"/>
              <a:t>-&gt; 4Mbps * </a:t>
            </a:r>
            <a:r>
              <a:rPr lang="en-US" altLang="ko-KR" sz="1400" dirty="0" smtClean="0"/>
              <a:t>61% </a:t>
            </a:r>
            <a:r>
              <a:rPr lang="en-US" altLang="ko-KR" sz="1400" dirty="0"/>
              <a:t>= </a:t>
            </a:r>
            <a:r>
              <a:rPr lang="en-US" altLang="ko-KR" sz="1400" dirty="0" smtClean="0"/>
              <a:t>2.44Mbps</a:t>
            </a:r>
            <a:br>
              <a:rPr lang="en-US" altLang="ko-KR" sz="1400" dirty="0" smtClean="0"/>
            </a:br>
            <a:r>
              <a:rPr lang="ko-KR" altLang="en-US" sz="1400" dirty="0"/>
              <a:t> </a:t>
            </a:r>
            <a:r>
              <a:rPr lang="en-US" altLang="ko-KR" sz="1400" dirty="0"/>
              <a:t>1024 * 2</a:t>
            </a:r>
            <a:r>
              <a:rPr lang="ko-KR" altLang="en-US" sz="1400" dirty="0"/>
              <a:t>회 </a:t>
            </a:r>
            <a:r>
              <a:rPr lang="en-US" altLang="ko-KR" sz="1400" dirty="0"/>
              <a:t>(2048)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/>
              <a:t>4.096ms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41% -&gt; 4Mbps * 41% = 1.64Mbps</a:t>
            </a:r>
            <a:br>
              <a:rPr lang="en-US" altLang="ko-KR" sz="1400" dirty="0"/>
            </a:br>
            <a:r>
              <a:rPr lang="en-US" altLang="ko-KR" sz="1400" dirty="0" smtClean="0"/>
              <a:t> </a:t>
            </a:r>
            <a:r>
              <a:rPr lang="en-US" altLang="ko-KR" sz="1400" dirty="0"/>
              <a:t>1024 * 1</a:t>
            </a:r>
            <a:r>
              <a:rPr lang="ko-KR" altLang="en-US" sz="1400" dirty="0"/>
              <a:t>회 </a:t>
            </a:r>
            <a:r>
              <a:rPr lang="en-US" altLang="ko-KR" sz="1400" dirty="0"/>
              <a:t>(1024)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 smtClean="0"/>
              <a:t>2.048ms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</a:t>
            </a:r>
            <a:r>
              <a:rPr lang="en-US" altLang="ko-KR" sz="1400" dirty="0" smtClean="0"/>
              <a:t>21% </a:t>
            </a:r>
            <a:r>
              <a:rPr lang="en-US" altLang="ko-KR" sz="1400" dirty="0"/>
              <a:t>-&gt; </a:t>
            </a:r>
            <a:r>
              <a:rPr lang="en-US" altLang="ko-KR" sz="1400" dirty="0" smtClean="0"/>
              <a:t>4Mbps </a:t>
            </a:r>
            <a:r>
              <a:rPr lang="en-US" altLang="ko-KR" sz="1400" dirty="0"/>
              <a:t>* </a:t>
            </a:r>
            <a:r>
              <a:rPr lang="en-US" altLang="ko-KR" sz="1400" dirty="0" smtClean="0"/>
              <a:t>21% </a:t>
            </a:r>
            <a:r>
              <a:rPr lang="en-US" altLang="ko-KR" sz="1400" dirty="0"/>
              <a:t>= </a:t>
            </a:r>
            <a:r>
              <a:rPr lang="en-US" altLang="ko-KR" sz="1400" dirty="0" smtClean="0"/>
              <a:t>0.84Mbps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2581486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42447</TotalTime>
  <Words>130</Words>
  <Application>Microsoft Office PowerPoint</Application>
  <PresentationFormat>화면 슬라이드 쇼(4:3)</PresentationFormat>
  <Paragraphs>46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USRT 전송 속도 기술 검토   ’20.09.01 Lumir</vt:lpstr>
      <vt:lpstr>USRT Speed 개선 방안</vt:lpstr>
      <vt:lpstr>SBC FW Task 운용 Diagram</vt:lpstr>
      <vt:lpstr>DTNPL SBC Task 운용 구조</vt:lpstr>
      <vt:lpstr>기술 검토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O18005</cp:lastModifiedBy>
  <cp:revision>1690</cp:revision>
  <cp:lastPrinted>2020-07-30T04:06:34Z</cp:lastPrinted>
  <dcterms:created xsi:type="dcterms:W3CDTF">1601-01-01T00:00:00Z</dcterms:created>
  <dcterms:modified xsi:type="dcterms:W3CDTF">2020-09-01T23:43:36Z</dcterms:modified>
</cp:coreProperties>
</file>