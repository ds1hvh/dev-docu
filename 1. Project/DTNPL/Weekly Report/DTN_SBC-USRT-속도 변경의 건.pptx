
<file path=[Content_Types].xml><?xml version="1.0" encoding="utf-8"?>
<Types xmlns="http://schemas.openxmlformats.org/package/2006/content-types">
  <Default Extension="png" ContentType="image/png"/>
  <Default Extension="wmf" ContentType="image/x-w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trictFirstAndLastChars="0" saveSubsetFonts="1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423" r:id="rId2"/>
    <p:sldId id="1102" r:id="rId3"/>
    <p:sldId id="1104" r:id="rId4"/>
    <p:sldId id="1105" r:id="rId5"/>
    <p:sldId id="1103" r:id="rId6"/>
  </p:sldIdLst>
  <p:sldSz cx="9144000" cy="6858000" type="screen4x3"/>
  <p:notesSz cx="7104063" cy="10234613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47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 userDrawn="1">
          <p15:clr>
            <a:srgbClr val="A4A3A4"/>
          </p15:clr>
        </p15:guide>
        <p15:guide id="2" pos="2238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O14004" initials="O" lastIdx="1" clrIdx="0">
    <p:extLst>
      <p:ext uri="{19B8F6BF-5375-455C-9EA6-DF929625EA0E}">
        <p15:presenceInfo xmlns:p15="http://schemas.microsoft.com/office/powerpoint/2012/main" userId="O14004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0000"/>
    <a:srgbClr val="00CC66"/>
    <a:srgbClr val="FFCCFF"/>
    <a:srgbClr val="6AA8C1"/>
    <a:srgbClr val="FFCCCC"/>
    <a:srgbClr val="F2F2F2"/>
    <a:srgbClr val="EFFFB3"/>
    <a:srgbClr val="F7FEB4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941" autoAdjust="0"/>
    <p:restoredTop sz="96370" autoAdjust="0"/>
  </p:normalViewPr>
  <p:slideViewPr>
    <p:cSldViewPr snapToGrid="0">
      <p:cViewPr varScale="1">
        <p:scale>
          <a:sx n="127" d="100"/>
          <a:sy n="127" d="100"/>
        </p:scale>
        <p:origin x="1608" y="114"/>
      </p:cViewPr>
      <p:guideLst>
        <p:guide orient="horz" pos="2160"/>
        <p:guide pos="47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8" d="100"/>
          <a:sy n="78" d="100"/>
        </p:scale>
        <p:origin x="2610" y="66"/>
      </p:cViewPr>
      <p:guideLst>
        <p:guide orient="horz" pos="3224"/>
        <p:guide pos="2238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1026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9202" cy="5123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4782" tIns="47391" rIns="94782" bIns="47391" numCol="1" anchor="t" anchorCtr="0" compatLnSpc="1">
            <a:prstTxWarp prst="textNoShape">
              <a:avLst/>
            </a:prstTxWarp>
          </a:bodyPr>
          <a:lstStyle>
            <a:lvl1pPr algn="l" eaLnBrk="1" latinLnBrk="1" hangingPunct="1"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8195" name="Rectangle 1027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4861" y="0"/>
            <a:ext cx="3079202" cy="5123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4782" tIns="47391" rIns="94782" bIns="47391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8196" name="Rectangle 1028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2309"/>
            <a:ext cx="3079202" cy="5123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4782" tIns="47391" rIns="94782" bIns="47391" numCol="1" anchor="b" anchorCtr="0" compatLnSpc="1">
            <a:prstTxWarp prst="textNoShape">
              <a:avLst/>
            </a:prstTxWarp>
          </a:bodyPr>
          <a:lstStyle>
            <a:lvl1pPr algn="l" eaLnBrk="1" latinLnBrk="1" hangingPunct="1"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8197" name="Rectangle 1029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4861" y="9722309"/>
            <a:ext cx="3079202" cy="5123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4782" tIns="47391" rIns="94782" bIns="47391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F0D0299D-B60A-4896-8397-6469664CBFF4}" type="slidenum">
              <a:rPr lang="ko-KR" altLang="en-US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18598588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9202" cy="5123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4782" tIns="47391" rIns="94782" bIns="47391" numCol="1" anchor="t" anchorCtr="0" compatLnSpc="1">
            <a:prstTxWarp prst="textNoShape">
              <a:avLst/>
            </a:prstTxWarp>
          </a:bodyPr>
          <a:lstStyle>
            <a:lvl1pPr algn="l" eaLnBrk="1" latinLnBrk="1" hangingPunct="1"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4861" y="0"/>
            <a:ext cx="3079202" cy="5123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4782" tIns="47391" rIns="94782" bIns="47391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1229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95363" y="768350"/>
            <a:ext cx="5114925" cy="38369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47320" y="4861156"/>
            <a:ext cx="5209425" cy="46058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4782" tIns="47391" rIns="94782" bIns="4739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2309"/>
            <a:ext cx="3079202" cy="5123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4782" tIns="47391" rIns="94782" bIns="47391" numCol="1" anchor="b" anchorCtr="0" compatLnSpc="1">
            <a:prstTxWarp prst="textNoShape">
              <a:avLst/>
            </a:prstTxWarp>
          </a:bodyPr>
          <a:lstStyle>
            <a:lvl1pPr algn="l" eaLnBrk="1" latinLnBrk="1" hangingPunct="1"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4861" y="9722309"/>
            <a:ext cx="3079202" cy="5123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4782" tIns="47391" rIns="94782" bIns="47391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F9CEF302-C0C4-41F5-9E57-DF55FCB3FB84}" type="slidenum">
              <a:rPr lang="ko-KR" altLang="en-US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25877637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9CEF302-C0C4-41F5-9E57-DF55FCB3FB84}" type="slidenum">
              <a:rPr lang="ko-KR" altLang="en-US" smtClean="0"/>
              <a:pPr>
                <a:defRPr/>
              </a:pPr>
              <a:t>0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0755933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w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 22"/>
          <p:cNvSpPr>
            <a:spLocks noChangeShapeType="1"/>
          </p:cNvSpPr>
          <p:nvPr userDrawn="1"/>
        </p:nvSpPr>
        <p:spPr bwMode="auto">
          <a:xfrm>
            <a:off x="228600" y="6480175"/>
            <a:ext cx="8686800" cy="0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8" name="Line 24"/>
          <p:cNvSpPr>
            <a:spLocks noChangeShapeType="1"/>
          </p:cNvSpPr>
          <p:nvPr userDrawn="1"/>
        </p:nvSpPr>
        <p:spPr bwMode="auto">
          <a:xfrm>
            <a:off x="228600" y="6477000"/>
            <a:ext cx="8686800" cy="0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5398" name="Rectangle 38"/>
          <p:cNvSpPr>
            <a:spLocks noGrp="1" noChangeArrowheads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 lIns="91440" tIns="45720" rIns="91440" bIns="45720"/>
          <a:lstStyle>
            <a:lvl1pPr>
              <a:defRPr sz="3000">
                <a:latin typeface="Arial Black" panose="020B0A04020102020204" pitchFamily="34" charset="0"/>
              </a:defRPr>
            </a:lvl1pPr>
          </a:lstStyle>
          <a:p>
            <a:pPr lvl="0"/>
            <a:r>
              <a:rPr lang="en-US" altLang="ko-KR" noProof="0" dirty="0"/>
              <a:t>Arial Black 30 font &amp; Bold</a:t>
            </a:r>
          </a:p>
        </p:txBody>
      </p:sp>
      <p:sp>
        <p:nvSpPr>
          <p:cNvPr id="15399" name="Rectangle 39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 lIns="91440" tIns="45720" rIns="91440" bIns="45720"/>
          <a:lstStyle>
            <a:lvl1pPr marL="0" indent="0" algn="ctr">
              <a:buFontTx/>
              <a:buNone/>
              <a:defRPr sz="2400"/>
            </a:lvl1pPr>
          </a:lstStyle>
          <a:p>
            <a:pPr lvl="0"/>
            <a:r>
              <a:rPr lang="en-US" altLang="ko-KR" noProof="0" dirty="0"/>
              <a:t>Arial 24 font &amp; Bold</a:t>
            </a:r>
          </a:p>
        </p:txBody>
      </p:sp>
      <p:graphicFrame>
        <p:nvGraphicFramePr>
          <p:cNvPr id="13" name="Group 44"/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310214106"/>
              </p:ext>
            </p:extLst>
          </p:nvPr>
        </p:nvGraphicFramePr>
        <p:xfrm>
          <a:off x="106128" y="354284"/>
          <a:ext cx="8926360" cy="937827"/>
        </p:xfrm>
        <a:graphic>
          <a:graphicData uri="http://schemas.openxmlformats.org/drawingml/2006/table">
            <a:tbl>
              <a:tblPr/>
              <a:tblGrid>
                <a:gridCol w="9814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588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605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37827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16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1pPr>
                      <a:lvl2pPr marL="476250" algn="l">
                        <a:spcBef>
                          <a:spcPct val="20000"/>
                        </a:spcBef>
                        <a:defRPr kumimoji="1"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2pPr>
                      <a:lvl3pPr marL="952500" algn="l">
                        <a:spcBef>
                          <a:spcPct val="20000"/>
                        </a:spcBef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굴림" panose="020B0600000101010101" pitchFamily="50" charset="-127"/>
                      </a:endParaRPr>
                    </a:p>
                  </a:txBody>
                  <a:tcPr marL="99060" marR="99060" horzOverflow="overflow">
                    <a:lnL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16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1pPr>
                      <a:lvl2pPr marL="476250" algn="l">
                        <a:spcBef>
                          <a:spcPct val="20000"/>
                        </a:spcBef>
                        <a:defRPr kumimoji="1"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2pPr>
                      <a:lvl3pPr marL="952500" algn="l">
                        <a:spcBef>
                          <a:spcPct val="20000"/>
                        </a:spcBef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굴림" panose="020B0600000101010101" pitchFamily="50" charset="-127"/>
                      </a:endParaRPr>
                    </a:p>
                  </a:txBody>
                  <a:tcPr marL="99060" marR="99060" horzOverflow="overflow">
                    <a:lnL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16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1pPr>
                      <a:lvl2pPr marL="476250" algn="l">
                        <a:spcBef>
                          <a:spcPct val="20000"/>
                        </a:spcBef>
                        <a:defRPr kumimoji="1"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2pPr>
                      <a:lvl3pPr marL="952500" algn="l">
                        <a:spcBef>
                          <a:spcPct val="20000"/>
                        </a:spcBef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굴림" panose="020B0600000101010101" pitchFamily="50" charset="-127"/>
                      </a:endParaRPr>
                    </a:p>
                  </a:txBody>
                  <a:tcPr marL="99060" marR="99060" horzOverflow="overflow">
                    <a:lnL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4" name="Rectangle 46"/>
          <p:cNvSpPr>
            <a:spLocks noChangeArrowheads="1"/>
          </p:cNvSpPr>
          <p:nvPr userDrawn="1"/>
        </p:nvSpPr>
        <p:spPr bwMode="auto">
          <a:xfrm>
            <a:off x="84343" y="87726"/>
            <a:ext cx="8948145" cy="27482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lIns="108032" tIns="54016" rIns="108032" bIns="54016" anchor="ctr"/>
          <a:lstStyle>
            <a:lvl1pPr>
              <a:defRPr kumimoji="1" sz="3000" b="1">
                <a:solidFill>
                  <a:schemeClr val="tx2"/>
                </a:solidFill>
                <a:latin typeface="Arial Black" panose="020B0A04020102020204" pitchFamily="34" charset="0"/>
                <a:ea typeface="굴림" panose="020B0600000101010101" pitchFamily="50" charset="-127"/>
              </a:defRPr>
            </a:lvl1pPr>
            <a:lvl2pPr>
              <a:defRPr kumimoji="1" sz="3000" b="1">
                <a:solidFill>
                  <a:schemeClr val="tx2"/>
                </a:solidFill>
                <a:latin typeface="Arial Black" panose="020B0A04020102020204" pitchFamily="34" charset="0"/>
                <a:ea typeface="굴림" panose="020B0600000101010101" pitchFamily="50" charset="-127"/>
              </a:defRPr>
            </a:lvl2pPr>
            <a:lvl3pPr>
              <a:defRPr kumimoji="1" sz="3000" b="1">
                <a:solidFill>
                  <a:schemeClr val="tx2"/>
                </a:solidFill>
                <a:latin typeface="Arial Black" panose="020B0A04020102020204" pitchFamily="34" charset="0"/>
                <a:ea typeface="굴림" panose="020B0600000101010101" pitchFamily="50" charset="-127"/>
              </a:defRPr>
            </a:lvl3pPr>
            <a:lvl4pPr>
              <a:defRPr kumimoji="1" sz="3000" b="1">
                <a:solidFill>
                  <a:schemeClr val="tx2"/>
                </a:solidFill>
                <a:latin typeface="Arial Black" panose="020B0A04020102020204" pitchFamily="34" charset="0"/>
                <a:ea typeface="굴림" panose="020B0600000101010101" pitchFamily="50" charset="-127"/>
              </a:defRPr>
            </a:lvl4pPr>
            <a:lvl5pPr>
              <a:defRPr kumimoji="1" sz="3000" b="1">
                <a:solidFill>
                  <a:schemeClr val="tx2"/>
                </a:solidFill>
                <a:latin typeface="Arial Black" panose="020B0A04020102020204" pitchFamily="34" charset="0"/>
                <a:ea typeface="굴림" panose="020B0600000101010101" pitchFamily="50" charset="-127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Arial Black" panose="020B0A04020102020204" pitchFamily="34" charset="0"/>
                <a:ea typeface="굴림" panose="020B0600000101010101" pitchFamily="50" charset="-127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Arial Black" panose="020B0A04020102020204" pitchFamily="34" charset="0"/>
                <a:ea typeface="굴림" panose="020B0600000101010101" pitchFamily="50" charset="-127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Arial Black" panose="020B0A04020102020204" pitchFamily="34" charset="0"/>
                <a:ea typeface="굴림" panose="020B0600000101010101" pitchFamily="50" charset="-127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Arial Black" panose="020B0A04020102020204" pitchFamily="34" charset="0"/>
                <a:ea typeface="굴림" panose="020B0600000101010101" pitchFamily="50" charset="-127"/>
              </a:defRPr>
            </a:lvl9pPr>
          </a:lstStyle>
          <a:p>
            <a:pPr algn="l" eaLnBrk="1" latinLnBrk="1" hangingPunct="1">
              <a:defRPr/>
            </a:pPr>
            <a:r>
              <a:rPr lang="en-US" altLang="ko-KR" sz="160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Black" panose="020B0A04020102020204" pitchFamily="34" charset="0"/>
              </a:rPr>
              <a:t>Korea </a:t>
            </a:r>
            <a:r>
              <a:rPr lang="en-US" altLang="ko-KR" sz="1600" b="0" baseline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Black" panose="020B0A04020102020204" pitchFamily="34" charset="0"/>
              </a:rPr>
              <a:t>Lunar Exploration Program - KPLO</a:t>
            </a:r>
            <a:endParaRPr lang="en-US" altLang="ko-KR" sz="1600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</a:endParaRPr>
          </a:p>
        </p:txBody>
      </p:sp>
      <p:sp>
        <p:nvSpPr>
          <p:cNvPr id="15" name="텍스트 개체 틀 22"/>
          <p:cNvSpPr>
            <a:spLocks noGrp="1"/>
          </p:cNvSpPr>
          <p:nvPr>
            <p:ph type="body" sz="quarter" idx="11" hasCustomPrompt="1"/>
          </p:nvPr>
        </p:nvSpPr>
        <p:spPr>
          <a:xfrm>
            <a:off x="1081968" y="443989"/>
            <a:ext cx="6397102" cy="707344"/>
          </a:xfrm>
        </p:spPr>
        <p:txBody>
          <a:bodyPr anchor="ctr">
            <a:noAutofit/>
          </a:bodyPr>
          <a:lstStyle>
            <a:lvl1pPr marL="190500" marR="0" indent="-190500" algn="ctr" defTabSz="914400" rtl="0" eaLnBrk="0" fontAlgn="base" latinLnBrk="1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 lang="ko-KR" altLang="en-US" sz="4000" b="1" kern="1200" dirty="0">
                <a:solidFill>
                  <a:srgbClr val="C00000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marL="190500" marR="0" lvl="0" indent="-190500" algn="ctr" defTabSz="914400" rtl="0" eaLnBrk="0" fontAlgn="base" latinLnBrk="1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ko-KR" sz="3300" dirty="0">
                <a:solidFill>
                  <a:schemeClr val="tx1"/>
                </a:solidFill>
              </a:rPr>
              <a:t>KPLO DTN</a:t>
            </a:r>
            <a:endParaRPr lang="ko-KR" altLang="en-US" sz="3300" dirty="0">
              <a:solidFill>
                <a:schemeClr val="tx1"/>
              </a:solidFill>
            </a:endParaRPr>
          </a:p>
        </p:txBody>
      </p:sp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19181" y="396346"/>
            <a:ext cx="862787" cy="864024"/>
          </a:xfrm>
          <a:prstGeom prst="rect">
            <a:avLst/>
          </a:prstGeom>
        </p:spPr>
      </p:pic>
      <p:pic>
        <p:nvPicPr>
          <p:cNvPr id="17" name="Picture 2" descr="F:\업무\ETRI활동\행정문서\CIS\새CI\signature_4.w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52701" y="556035"/>
            <a:ext cx="1262699" cy="4512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그림 17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6510338"/>
            <a:ext cx="947582" cy="276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125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>
            <a:lvl2pPr>
              <a:defRPr sz="1600"/>
            </a:lvl2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3503634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11547126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233363" y="981075"/>
            <a:ext cx="4256087" cy="52482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1850" y="981075"/>
            <a:ext cx="4257675" cy="52482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27589555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23431389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9188815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297772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12487211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34266018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617053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734175" y="131763"/>
            <a:ext cx="2165350" cy="609758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233363" y="131763"/>
            <a:ext cx="6348412" cy="609758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3193557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w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Line 82"/>
          <p:cNvSpPr>
            <a:spLocks noChangeShapeType="1"/>
          </p:cNvSpPr>
          <p:nvPr userDrawn="1"/>
        </p:nvSpPr>
        <p:spPr bwMode="auto">
          <a:xfrm>
            <a:off x="228600" y="6480175"/>
            <a:ext cx="8686800" cy="0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 b="0"/>
          </a:p>
        </p:txBody>
      </p:sp>
      <p:sp>
        <p:nvSpPr>
          <p:cNvPr id="1027" name="Line 84"/>
          <p:cNvSpPr>
            <a:spLocks noChangeShapeType="1"/>
          </p:cNvSpPr>
          <p:nvPr userDrawn="1"/>
        </p:nvSpPr>
        <p:spPr bwMode="auto">
          <a:xfrm>
            <a:off x="228600" y="6477000"/>
            <a:ext cx="8686800" cy="0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 b="0"/>
          </a:p>
        </p:txBody>
      </p:sp>
      <p:sp>
        <p:nvSpPr>
          <p:cNvPr id="1029" name="Line 89"/>
          <p:cNvSpPr>
            <a:spLocks noChangeShapeType="1"/>
          </p:cNvSpPr>
          <p:nvPr userDrawn="1"/>
        </p:nvSpPr>
        <p:spPr bwMode="auto">
          <a:xfrm flipV="1">
            <a:off x="228600" y="876300"/>
            <a:ext cx="8686800" cy="0"/>
          </a:xfrm>
          <a:prstGeom prst="line">
            <a:avLst/>
          </a:prstGeom>
          <a:noFill/>
          <a:ln w="57150">
            <a:solidFill>
              <a:schemeClr val="accent2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032" name="Rectangle 93"/>
          <p:cNvSpPr>
            <a:spLocks noGrp="1" noChangeArrowheads="1"/>
          </p:cNvSpPr>
          <p:nvPr>
            <p:ph type="title"/>
          </p:nvPr>
        </p:nvSpPr>
        <p:spPr bwMode="auto">
          <a:xfrm>
            <a:off x="1219200" y="131763"/>
            <a:ext cx="6705600" cy="706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 dirty="0"/>
              <a:t>Arial 24 font &amp; bold</a:t>
            </a:r>
          </a:p>
        </p:txBody>
      </p:sp>
      <p:sp>
        <p:nvSpPr>
          <p:cNvPr id="1033" name="Rectangle 94"/>
          <p:cNvSpPr>
            <a:spLocks noGrp="1" noChangeArrowheads="1"/>
          </p:cNvSpPr>
          <p:nvPr>
            <p:ph type="body" idx="1"/>
          </p:nvPr>
        </p:nvSpPr>
        <p:spPr bwMode="auto">
          <a:xfrm>
            <a:off x="233363" y="981075"/>
            <a:ext cx="8666162" cy="5248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 dirty="0"/>
              <a:t>Arial 18 font &amp; bold</a:t>
            </a:r>
          </a:p>
          <a:p>
            <a:pPr lvl="1"/>
            <a:r>
              <a:rPr lang="en-US" altLang="ko-KR" dirty="0"/>
              <a:t>Arial 16 font &amp; bold</a:t>
            </a:r>
            <a:endParaRPr lang="ko-KR" altLang="en-US"/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035" name="Text Box 86"/>
          <p:cNvSpPr txBox="1">
            <a:spLocks noChangeArrowheads="1"/>
          </p:cNvSpPr>
          <p:nvPr userDrawn="1"/>
        </p:nvSpPr>
        <p:spPr bwMode="auto">
          <a:xfrm>
            <a:off x="7524750" y="6510338"/>
            <a:ext cx="1485900" cy="276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57150" algn="ctr">
                <a:solidFill>
                  <a:schemeClr val="accent2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algn="ctr" latinLnBrk="1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marL="742950" indent="-285750" algn="ctr" latinLnBrk="1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marL="1143000" indent="-228600" algn="ctr" latinLnBrk="1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marL="1600200" indent="-228600" algn="ctr" latinLnBrk="1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marL="2057400" indent="-228600" algn="ctr" latinLnBrk="1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r" eaLnBrk="1" hangingPunct="1">
              <a:spcBef>
                <a:spcPct val="50000"/>
              </a:spcBef>
              <a:defRPr/>
            </a:pPr>
            <a:fld id="{BD253322-42C0-4748-AAA5-F0068379097A}" type="slidenum">
              <a:rPr lang="en-US" altLang="ko-KR" sz="1200" b="0" smtClean="0">
                <a:solidFill>
                  <a:schemeClr val="tx1"/>
                </a:solidFill>
                <a:latin typeface="Arial" panose="020B0604020202020204" pitchFamily="34" charset="0"/>
                <a:ea typeface="바탕체" panose="02030609000101010101" pitchFamily="17" charset="-127"/>
              </a:rPr>
              <a:pPr algn="r" eaLnBrk="1" hangingPunct="1">
                <a:spcBef>
                  <a:spcPct val="50000"/>
                </a:spcBef>
                <a:defRPr/>
              </a:pPr>
              <a:t>‹#›</a:t>
            </a:fld>
            <a:endParaRPr lang="en-US" altLang="ko-KR" sz="1200" b="0" dirty="0">
              <a:solidFill>
                <a:schemeClr val="tx1"/>
              </a:solidFill>
              <a:latin typeface="Arial" panose="020B0604020202020204" pitchFamily="34" charset="0"/>
              <a:ea typeface="바탕체" panose="02030609000101010101" pitchFamily="17" charset="-127"/>
            </a:endParaRPr>
          </a:p>
        </p:txBody>
      </p:sp>
      <p:sp>
        <p:nvSpPr>
          <p:cNvPr id="12" name="직사각형 11"/>
          <p:cNvSpPr/>
          <p:nvPr userDrawn="1"/>
        </p:nvSpPr>
        <p:spPr>
          <a:xfrm>
            <a:off x="2239622" y="6514041"/>
            <a:ext cx="4653643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1200" b="0" dirty="0">
                <a:solidFill>
                  <a:schemeClr val="tx1"/>
                </a:solidFill>
                <a:latin typeface="+mn-lt"/>
              </a:rPr>
              <a:t>Confidential,</a:t>
            </a:r>
            <a:r>
              <a:rPr lang="en-US" altLang="ko-KR" sz="1200" b="0" baseline="0" dirty="0">
                <a:solidFill>
                  <a:schemeClr val="tx1"/>
                </a:solidFill>
                <a:latin typeface="+mn-lt"/>
              </a:rPr>
              <a:t> </a:t>
            </a:r>
            <a:r>
              <a:rPr lang="en-US" altLang="ko-KR" sz="1200" b="0" dirty="0">
                <a:solidFill>
                  <a:schemeClr val="tx1"/>
                </a:solidFill>
                <a:latin typeface="+mn-lt"/>
              </a:rPr>
              <a:t>Distribution Limited</a:t>
            </a:r>
            <a:endParaRPr lang="ko-KR" altLang="en-US" sz="1200" b="0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294487" y="-23213"/>
            <a:ext cx="862787" cy="864024"/>
          </a:xfrm>
          <a:prstGeom prst="rect">
            <a:avLst/>
          </a:prstGeom>
        </p:spPr>
      </p:pic>
      <p:pic>
        <p:nvPicPr>
          <p:cNvPr id="13" name="Picture 2" descr="F:\업무\ETRI활동\행정문서\CIS\새CI\signature_4.wmf"/>
          <p:cNvPicPr>
            <a:picLocks noChangeAspect="1" noChangeArrowheads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41945" y="244061"/>
            <a:ext cx="1262699" cy="4512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6510338"/>
            <a:ext cx="947582" cy="27622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56" r:id="rId1"/>
    <p:sldLayoutId id="2147483755" r:id="rId2"/>
    <p:sldLayoutId id="2147483757" r:id="rId3"/>
    <p:sldLayoutId id="2147483758" r:id="rId4"/>
    <p:sldLayoutId id="2147483759" r:id="rId5"/>
    <p:sldLayoutId id="2147483760" r:id="rId6"/>
    <p:sldLayoutId id="2147483761" r:id="rId7"/>
    <p:sldLayoutId id="2147483762" r:id="rId8"/>
    <p:sldLayoutId id="2147483763" r:id="rId9"/>
    <p:sldLayoutId id="2147483764" r:id="rId10"/>
    <p:sldLayoutId id="2147483765" r:id="rId11"/>
  </p:sldLayoutIdLst>
  <p:hf hdr="0" ftr="0"/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kumimoji="1" sz="2400" b="1" kern="1200" baseline="0">
          <a:solidFill>
            <a:schemeClr val="tx2"/>
          </a:solidFill>
          <a:latin typeface="Arial" panose="020B0604020202020204" pitchFamily="34" charset="0"/>
          <a:ea typeface="맑은 고딕" panose="020B0503020000020004" pitchFamily="50" charset="-127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2"/>
          </a:solidFill>
          <a:latin typeface="Arial" panose="020B0604020202020204" pitchFamily="34" charset="0"/>
          <a:ea typeface="굴림" panose="020B0600000101010101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2"/>
          </a:solidFill>
          <a:latin typeface="Arial" panose="020B0604020202020204" pitchFamily="34" charset="0"/>
          <a:ea typeface="굴림" panose="020B0600000101010101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2"/>
          </a:solidFill>
          <a:latin typeface="Arial" panose="020B0604020202020204" pitchFamily="34" charset="0"/>
          <a:ea typeface="굴림" panose="020B0600000101010101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2"/>
          </a:solidFill>
          <a:latin typeface="Arial" panose="020B0604020202020204" pitchFamily="34" charset="0"/>
          <a:ea typeface="굴림" panose="020B0600000101010101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2"/>
          </a:solidFill>
          <a:latin typeface="Arial" panose="020B0604020202020204" pitchFamily="34" charset="0"/>
          <a:ea typeface="굴림" panose="020B0600000101010101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2"/>
          </a:solidFill>
          <a:latin typeface="Arial" panose="020B0604020202020204" pitchFamily="34" charset="0"/>
          <a:ea typeface="굴림" panose="020B0600000101010101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2"/>
          </a:solidFill>
          <a:latin typeface="Arial" panose="020B0604020202020204" pitchFamily="34" charset="0"/>
          <a:ea typeface="굴림" panose="020B0600000101010101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2"/>
          </a:solidFill>
          <a:latin typeface="Arial" panose="020B0604020202020204" pitchFamily="34" charset="0"/>
          <a:ea typeface="굴림" panose="020B0600000101010101" pitchFamily="50" charset="-127"/>
        </a:defRPr>
      </a:lvl9pPr>
    </p:titleStyle>
    <p:bodyStyle>
      <a:lvl1pPr marL="190500" indent="-190500" algn="l" rtl="0" eaLnBrk="0" fontAlgn="base" latinLnBrk="1" hangingPunct="0">
        <a:spcBef>
          <a:spcPct val="20000"/>
        </a:spcBef>
        <a:spcAft>
          <a:spcPct val="0"/>
        </a:spcAft>
        <a:buFont typeface="Wingdings" panose="05000000000000000000" pitchFamily="2" charset="2"/>
        <a:buChar char="§"/>
        <a:defRPr kumimoji="1" b="1" kern="1200" baseline="0">
          <a:solidFill>
            <a:schemeClr val="tx1"/>
          </a:solidFill>
          <a:latin typeface="Arial" panose="020B0604020202020204" pitchFamily="34" charset="0"/>
          <a:ea typeface="맑은 고딕" panose="020B0503020000020004" pitchFamily="50" charset="-127"/>
          <a:cs typeface="+mn-cs"/>
        </a:defRPr>
      </a:lvl1pPr>
      <a:lvl2pPr marL="538163" indent="-190500" algn="l" rtl="0" eaLnBrk="0" fontAlgn="base" latinLnBrk="1" hangingPunct="0">
        <a:spcBef>
          <a:spcPct val="20000"/>
        </a:spcBef>
        <a:spcAft>
          <a:spcPct val="0"/>
        </a:spcAft>
        <a:buChar char="–"/>
        <a:defRPr kumimoji="1" sz="1600" kern="1200" baseline="0">
          <a:solidFill>
            <a:schemeClr val="tx1"/>
          </a:solidFill>
          <a:latin typeface="Arial" panose="020B0604020202020204" pitchFamily="34" charset="0"/>
          <a:ea typeface="맑은 고딕" panose="020B0503020000020004" pitchFamily="50" charset="-127"/>
          <a:cs typeface="+mn-cs"/>
        </a:defRPr>
      </a:lvl2pPr>
      <a:lvl3pPr marL="896938" indent="-228600" algn="l" rtl="0" eaLnBrk="0" fontAlgn="base" latinLnBrk="1" hangingPunct="0">
        <a:spcBef>
          <a:spcPct val="20000"/>
        </a:spcBef>
        <a:spcAft>
          <a:spcPct val="0"/>
        </a:spcAft>
        <a:buChar char="•"/>
        <a:defRPr kumimoji="1" sz="1600" b="0" kern="1200" baseline="0">
          <a:solidFill>
            <a:schemeClr val="tx1"/>
          </a:solidFill>
          <a:latin typeface="Arial" panose="020B0604020202020204" pitchFamily="34" charset="0"/>
          <a:ea typeface="맑은 고딕" panose="020B0503020000020004" pitchFamily="50" charset="-127"/>
          <a:cs typeface="+mn-cs"/>
        </a:defRPr>
      </a:lvl3pPr>
      <a:lvl4pPr marL="1255713" indent="-228600" algn="l" rtl="0" eaLnBrk="0" fontAlgn="base" latinLnBrk="1" hangingPunct="0">
        <a:spcBef>
          <a:spcPct val="20000"/>
        </a:spcBef>
        <a:spcAft>
          <a:spcPct val="0"/>
        </a:spcAft>
        <a:buChar char="–"/>
        <a:defRPr kumimoji="1" sz="1400" b="0" kern="1200" baseline="0">
          <a:solidFill>
            <a:schemeClr val="tx1"/>
          </a:solidFill>
          <a:latin typeface="Arial" panose="020B0604020202020204" pitchFamily="34" charset="0"/>
          <a:ea typeface="맑은 고딕" panose="020B0503020000020004" pitchFamily="50" charset="-127"/>
          <a:cs typeface="+mn-cs"/>
        </a:defRPr>
      </a:lvl4pPr>
      <a:lvl5pPr marL="1614488" indent="-228600" algn="l" rtl="0" eaLnBrk="0" fontAlgn="base" latinLnBrk="1" hangingPunct="0">
        <a:spcBef>
          <a:spcPct val="20000"/>
        </a:spcBef>
        <a:spcAft>
          <a:spcPct val="0"/>
        </a:spcAft>
        <a:buChar char="»"/>
        <a:defRPr kumimoji="1" sz="1400" b="0" kern="1200" baseline="0">
          <a:solidFill>
            <a:schemeClr val="tx1"/>
          </a:solidFill>
          <a:latin typeface="Arial" panose="020B0604020202020204" pitchFamily="34" charset="0"/>
          <a:ea typeface="맑은 고딕" panose="020B0503020000020004" pitchFamily="50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886075"/>
            <a:ext cx="7772400" cy="2460476"/>
          </a:xfrm>
        </p:spPr>
        <p:txBody>
          <a:bodyPr/>
          <a:lstStyle/>
          <a:p>
            <a:r>
              <a:rPr lang="en-US" altLang="ko-KR" sz="3600" dirty="0" smtClean="0"/>
              <a:t>USRT </a:t>
            </a:r>
            <a:r>
              <a:rPr lang="ko-KR" altLang="en-US" sz="3600" dirty="0" smtClean="0"/>
              <a:t>전송 속도 기술 검토</a:t>
            </a:r>
            <a:r>
              <a:rPr lang="en-US" altLang="ko-KR" sz="3600" dirty="0"/>
              <a:t/>
            </a:r>
            <a:br>
              <a:rPr lang="en-US" altLang="ko-KR" sz="3600" dirty="0"/>
            </a:br>
            <a:r>
              <a:rPr lang="en-US" altLang="ko-KR" sz="3600" dirty="0"/>
              <a:t/>
            </a:r>
            <a:br>
              <a:rPr lang="en-US" altLang="ko-KR" sz="3600" dirty="0"/>
            </a:br>
            <a:r>
              <a:rPr lang="en-US" altLang="ko-KR" sz="3600" dirty="0"/>
              <a:t/>
            </a:r>
            <a:br>
              <a:rPr lang="en-US" altLang="ko-KR" sz="3600" dirty="0"/>
            </a:br>
            <a:r>
              <a:rPr lang="en-US" altLang="ko-KR" sz="2400" b="0" dirty="0" smtClean="0"/>
              <a:t>’20.09.01</a:t>
            </a:r>
            <a:r>
              <a:rPr lang="en-US" altLang="ko-KR" sz="2400" b="0" dirty="0"/>
              <a:t/>
            </a:r>
            <a:br>
              <a:rPr lang="en-US" altLang="ko-KR" sz="2400" b="0" dirty="0"/>
            </a:br>
            <a:r>
              <a:rPr lang="en-US" altLang="ko-KR" sz="2400" b="0" dirty="0" err="1"/>
              <a:t>Lumir</a:t>
            </a:r>
            <a:endParaRPr lang="ko-KR" altLang="en-US" sz="2400" b="0" dirty="0"/>
          </a:p>
        </p:txBody>
      </p:sp>
      <p:sp>
        <p:nvSpPr>
          <p:cNvPr id="4" name="텍스트 개체 틀 22"/>
          <p:cNvSpPr>
            <a:spLocks noGrp="1"/>
          </p:cNvSpPr>
          <p:nvPr>
            <p:ph type="body" sz="quarter" idx="11" hasCustomPrompt="1"/>
          </p:nvPr>
        </p:nvSpPr>
        <p:spPr>
          <a:xfrm>
            <a:off x="1081968" y="443989"/>
            <a:ext cx="6397102" cy="707344"/>
          </a:xfrm>
        </p:spPr>
        <p:txBody>
          <a:bodyPr anchor="ctr">
            <a:noAutofit/>
          </a:bodyPr>
          <a:lstStyle>
            <a:lvl1pPr marL="190500" marR="0" indent="-190500" algn="ctr" defTabSz="914400" rtl="0" eaLnBrk="0" fontAlgn="base" latinLnBrk="1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 lang="ko-KR" altLang="en-US" sz="4000" b="1" kern="1200" dirty="0">
                <a:solidFill>
                  <a:srgbClr val="C00000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marL="190500" marR="0" lvl="0" indent="-190500" algn="ctr" defTabSz="914400" rtl="0" eaLnBrk="0" fontAlgn="base" latinLnBrk="1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ko-KR" sz="3300" dirty="0">
                <a:solidFill>
                  <a:schemeClr val="tx1"/>
                </a:solidFill>
              </a:rPr>
              <a:t>KPLO DTNPL</a:t>
            </a:r>
            <a:endParaRPr lang="ko-KR" altLang="en-US" sz="3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30703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USRT</a:t>
            </a:r>
            <a:r>
              <a:rPr lang="en-US" altLang="ko-KR" dirty="0" smtClean="0"/>
              <a:t> </a:t>
            </a:r>
            <a:r>
              <a:rPr lang="en-US" altLang="ko-KR" dirty="0" smtClean="0"/>
              <a:t>Speed </a:t>
            </a:r>
            <a:r>
              <a:rPr lang="ko-KR" altLang="en-US" dirty="0"/>
              <a:t>개선 방안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33363" y="981075"/>
            <a:ext cx="8666162" cy="5427282"/>
          </a:xfrm>
        </p:spPr>
        <p:txBody>
          <a:bodyPr/>
          <a:lstStyle/>
          <a:p>
            <a:r>
              <a:rPr lang="en-US" altLang="ko-KR" dirty="0"/>
              <a:t>Overview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현재 </a:t>
            </a:r>
            <a:r>
              <a:rPr lang="en-US" altLang="ko-KR" dirty="0" smtClean="0"/>
              <a:t>DTNPL </a:t>
            </a:r>
            <a:r>
              <a:rPr lang="ko-KR" altLang="en-US" dirty="0" smtClean="0"/>
              <a:t>은 </a:t>
            </a:r>
            <a:r>
              <a:rPr lang="en-US" altLang="ko-KR" dirty="0" smtClean="0"/>
              <a:t>LEON3 </a:t>
            </a:r>
            <a:r>
              <a:rPr lang="en-US" altLang="ko-KR" dirty="0"/>
              <a:t>Single Core 40MHz Clock </a:t>
            </a:r>
            <a:r>
              <a:rPr lang="ko-KR" altLang="en-US" dirty="0"/>
              <a:t>으로 </a:t>
            </a:r>
            <a:r>
              <a:rPr lang="ko-KR" altLang="en-US" dirty="0" smtClean="0"/>
              <a:t>구동하고 </a:t>
            </a:r>
            <a:r>
              <a:rPr lang="ko-KR" altLang="en-US" dirty="0"/>
              <a:t>있음</a:t>
            </a:r>
            <a:r>
              <a:rPr lang="en-US" altLang="ko-KR" dirty="0"/>
              <a:t>.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CPU</a:t>
            </a:r>
            <a:r>
              <a:rPr lang="ko-KR" altLang="en-US" dirty="0"/>
              <a:t>의 </a:t>
            </a:r>
            <a:r>
              <a:rPr lang="en-US" altLang="ko-KR" dirty="0"/>
              <a:t>Performance </a:t>
            </a:r>
            <a:r>
              <a:rPr lang="ko-KR" altLang="en-US" dirty="0"/>
              <a:t>대비 너무 많은 </a:t>
            </a:r>
            <a:r>
              <a:rPr lang="en-US" altLang="ko-KR" dirty="0" smtClean="0"/>
              <a:t>Process</a:t>
            </a:r>
            <a:r>
              <a:rPr lang="ko-KR" altLang="en-US" dirty="0"/>
              <a:t>가 구동이 되고 있어 성능 감소가 발생되고 있음</a:t>
            </a:r>
            <a:r>
              <a:rPr lang="en-US" altLang="ko-KR" dirty="0"/>
              <a:t>.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SBC </a:t>
            </a:r>
            <a:r>
              <a:rPr lang="en-US" altLang="ko-KR" dirty="0"/>
              <a:t>F/W</a:t>
            </a:r>
            <a:r>
              <a:rPr lang="ko-KR" altLang="en-US" dirty="0"/>
              <a:t>의 </a:t>
            </a:r>
            <a:r>
              <a:rPr lang="en-US" altLang="ko-KR" dirty="0" smtClean="0"/>
              <a:t>Task </a:t>
            </a:r>
            <a:r>
              <a:rPr lang="ko-KR" altLang="en-US" dirty="0" smtClean="0"/>
              <a:t>운용 주기가 </a:t>
            </a:r>
            <a:r>
              <a:rPr lang="en-US" altLang="ko-KR" dirty="0" smtClean="0"/>
              <a:t>10ms </a:t>
            </a:r>
            <a:r>
              <a:rPr lang="ko-KR" altLang="en-US" dirty="0" smtClean="0"/>
              <a:t>로 </a:t>
            </a:r>
            <a:r>
              <a:rPr lang="ko-KR" altLang="en-US" dirty="0"/>
              <a:t>구동해야 정상적으로 구동이 되고 있음</a:t>
            </a:r>
            <a:r>
              <a:rPr lang="en-US" altLang="ko-KR" dirty="0" smtClean="0"/>
              <a:t>.</a:t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이 </a:t>
            </a:r>
            <a:r>
              <a:rPr lang="ko-KR" altLang="en-US" dirty="0"/>
              <a:t>부분은 </a:t>
            </a:r>
            <a:r>
              <a:rPr lang="en-US" altLang="ko-KR" dirty="0"/>
              <a:t>USRT </a:t>
            </a:r>
            <a:r>
              <a:rPr lang="ko-KR" altLang="en-US" dirty="0" smtClean="0"/>
              <a:t>전송 시 </a:t>
            </a:r>
            <a:r>
              <a:rPr lang="ko-KR" altLang="en-US" dirty="0"/>
              <a:t>데이터 전송 </a:t>
            </a:r>
            <a:r>
              <a:rPr lang="en-US" altLang="ko-KR" dirty="0"/>
              <a:t>Duty Cycle</a:t>
            </a:r>
            <a:r>
              <a:rPr lang="ko-KR" altLang="en-US" dirty="0"/>
              <a:t>상에서 상당히 긴 시간의 </a:t>
            </a:r>
            <a:r>
              <a:rPr lang="en-US" altLang="ko-KR" dirty="0"/>
              <a:t>off time</a:t>
            </a:r>
            <a:r>
              <a:rPr lang="ko-KR" altLang="en-US" dirty="0"/>
              <a:t>이 소요가 </a:t>
            </a:r>
            <a:r>
              <a:rPr lang="ko-KR" altLang="en-US" dirty="0" smtClean="0"/>
              <a:t>되어 </a:t>
            </a:r>
            <a:r>
              <a:rPr lang="ko-KR" altLang="en-US" dirty="0"/>
              <a:t>전체적인 전송 속도의 저하가 발생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UDP</a:t>
            </a:r>
            <a:r>
              <a:rPr lang="ko-KR" altLang="en-US" dirty="0"/>
              <a:t>로 데이터 </a:t>
            </a:r>
            <a:r>
              <a:rPr lang="ko-KR" altLang="en-US" dirty="0" smtClean="0"/>
              <a:t>수신 간의 </a:t>
            </a:r>
            <a:r>
              <a:rPr lang="ko-KR" altLang="en-US" dirty="0"/>
              <a:t>시간 간격이 너무 넓어 </a:t>
            </a:r>
            <a:r>
              <a:rPr lang="en-US" altLang="ko-KR" dirty="0"/>
              <a:t>USRT </a:t>
            </a:r>
            <a:r>
              <a:rPr lang="ko-KR" altLang="en-US" dirty="0"/>
              <a:t>전송 </a:t>
            </a:r>
            <a:r>
              <a:rPr lang="ko-KR" altLang="en-US" dirty="0" smtClean="0"/>
              <a:t>속도</a:t>
            </a:r>
            <a:r>
              <a:rPr lang="ko-KR" altLang="en-US" dirty="0"/>
              <a:t>에</a:t>
            </a:r>
            <a:r>
              <a:rPr lang="ko-KR" altLang="en-US" dirty="0" smtClean="0"/>
              <a:t> </a:t>
            </a:r>
            <a:r>
              <a:rPr lang="ko-KR" altLang="en-US" dirty="0"/>
              <a:t>영향을 주고 있음</a:t>
            </a:r>
            <a:r>
              <a:rPr lang="en-US" altLang="ko-KR" dirty="0" smtClean="0"/>
              <a:t>.</a:t>
            </a:r>
          </a:p>
          <a:p>
            <a:endParaRPr lang="en-US" altLang="ko-KR" dirty="0" smtClean="0"/>
          </a:p>
          <a:p>
            <a:r>
              <a:rPr lang="ko-KR" altLang="en-US" dirty="0" smtClean="0"/>
              <a:t>현황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USRT Interface Clock speed 2MHz</a:t>
            </a:r>
            <a:br>
              <a:rPr lang="en-US" altLang="ko-KR" dirty="0" smtClean="0"/>
            </a:br>
            <a:r>
              <a:rPr lang="en-US" altLang="ko-KR" dirty="0" smtClean="0"/>
              <a:t>  USRT </a:t>
            </a:r>
            <a:r>
              <a:rPr lang="ko-KR" altLang="en-US" dirty="0" smtClean="0"/>
              <a:t>전송 시간 </a:t>
            </a:r>
            <a:r>
              <a:rPr lang="en-US" altLang="ko-KR" dirty="0" smtClean="0"/>
              <a:t>(4.096ms) + CRC Check (1ms) + idle time (5ms) </a:t>
            </a:r>
            <a:br>
              <a:rPr lang="en-US" altLang="ko-KR" dirty="0" smtClean="0"/>
            </a:br>
            <a:r>
              <a:rPr lang="en-US" altLang="ko-KR" dirty="0" smtClean="0"/>
              <a:t> </a:t>
            </a:r>
            <a:r>
              <a:rPr lang="en-US" altLang="ko-KR" dirty="0" smtClean="0">
                <a:latin typeface="맑은 고딕" panose="020B0503020000020004" pitchFamily="50" charset="-127"/>
              </a:rPr>
              <a:t>※ Task </a:t>
            </a:r>
            <a:r>
              <a:rPr lang="ko-KR" altLang="en-US" dirty="0" smtClean="0">
                <a:latin typeface="맑은 고딕" panose="020B0503020000020004" pitchFamily="50" charset="-127"/>
              </a:rPr>
              <a:t>운용 주기는 </a:t>
            </a:r>
            <a:r>
              <a:rPr lang="en-US" altLang="ko-KR" dirty="0" smtClean="0">
                <a:latin typeface="맑은 고딕" panose="020B0503020000020004" pitchFamily="50" charset="-127"/>
              </a:rPr>
              <a:t>10ms </a:t>
            </a:r>
            <a:r>
              <a:rPr lang="ko-KR" altLang="en-US" dirty="0" smtClean="0">
                <a:latin typeface="맑은 고딕" panose="020B0503020000020004" pitchFamily="50" charset="-127"/>
              </a:rPr>
              <a:t>전송</a:t>
            </a:r>
            <a:r>
              <a:rPr lang="en-US" altLang="ko-KR" dirty="0" smtClean="0">
                <a:latin typeface="맑은 고딕" panose="020B0503020000020004" pitchFamily="50" charset="-127"/>
              </a:rPr>
              <a:t>,</a:t>
            </a:r>
            <a:r>
              <a:rPr lang="ko-KR" altLang="en-US" dirty="0" smtClean="0">
                <a:latin typeface="맑은 고딕" panose="020B0503020000020004" pitchFamily="50" charset="-127"/>
              </a:rPr>
              <a:t> </a:t>
            </a:r>
            <a:r>
              <a:rPr lang="en-US" altLang="ko-KR" dirty="0" smtClean="0">
                <a:latin typeface="맑은 고딕" panose="020B0503020000020004" pitchFamily="50" charset="-127"/>
              </a:rPr>
              <a:t>data size : 1K (1024Byte)</a:t>
            </a:r>
            <a:br>
              <a:rPr lang="en-US" altLang="ko-KR" dirty="0" smtClean="0">
                <a:latin typeface="맑은 고딕" panose="020B0503020000020004" pitchFamily="50" charset="-127"/>
              </a:rPr>
            </a:br>
            <a:r>
              <a:rPr lang="en-US" altLang="ko-KR" dirty="0" smtClean="0">
                <a:latin typeface="맑은 고딕" panose="020B0503020000020004" pitchFamily="50" charset="-127"/>
              </a:rPr>
              <a:t>- USRT Task </a:t>
            </a:r>
            <a:r>
              <a:rPr lang="ko-KR" altLang="en-US" dirty="0" smtClean="0">
                <a:latin typeface="맑은 고딕" panose="020B0503020000020004" pitchFamily="50" charset="-127"/>
              </a:rPr>
              <a:t>주기 내에서 </a:t>
            </a:r>
            <a:r>
              <a:rPr lang="en-US" altLang="ko-KR" dirty="0" smtClean="0">
                <a:latin typeface="맑은 고딕" panose="020B0503020000020004" pitchFamily="50" charset="-127"/>
              </a:rPr>
              <a:t>2 </a:t>
            </a:r>
            <a:r>
              <a:rPr lang="ko-KR" altLang="en-US" dirty="0" smtClean="0">
                <a:latin typeface="맑은 고딕" panose="020B0503020000020004" pitchFamily="50" charset="-127"/>
              </a:rPr>
              <a:t>주기의 데이터 전송 시 </a:t>
            </a:r>
            <a:r>
              <a:rPr lang="en-US" altLang="ko-KR" dirty="0" smtClean="0">
                <a:latin typeface="맑은 고딕" panose="020B0503020000020004" pitchFamily="50" charset="-127"/>
              </a:rPr>
              <a:t/>
            </a:r>
            <a:br>
              <a:rPr lang="en-US" altLang="ko-KR" dirty="0" smtClean="0">
                <a:latin typeface="맑은 고딕" panose="020B0503020000020004" pitchFamily="50" charset="-127"/>
              </a:rPr>
            </a:br>
            <a:r>
              <a:rPr lang="en-US" altLang="ko-KR" dirty="0" smtClean="0">
                <a:latin typeface="맑은 고딕" panose="020B0503020000020004" pitchFamily="50" charset="-127"/>
              </a:rPr>
              <a:t> </a:t>
            </a:r>
            <a:r>
              <a:rPr lang="en-US" altLang="ko-KR" dirty="0" smtClean="0"/>
              <a:t>USRT </a:t>
            </a:r>
            <a:r>
              <a:rPr lang="ko-KR" altLang="en-US" dirty="0" smtClean="0"/>
              <a:t>전송 시간 </a:t>
            </a:r>
            <a:r>
              <a:rPr lang="en-US" altLang="ko-KR" dirty="0" smtClean="0"/>
              <a:t>(8.192ms) + CRC Check (2ms) </a:t>
            </a:r>
            <a:r>
              <a:rPr lang="en-US" altLang="ko-KR" dirty="0" smtClean="0">
                <a:sym typeface="Wingdings" panose="05000000000000000000" pitchFamily="2" charset="2"/>
              </a:rPr>
              <a:t> 10ms </a:t>
            </a:r>
            <a:r>
              <a:rPr lang="ko-KR" altLang="en-US" dirty="0" smtClean="0">
                <a:sym typeface="Wingdings" panose="05000000000000000000" pitchFamily="2" charset="2"/>
              </a:rPr>
              <a:t>주기를 초과함</a:t>
            </a:r>
            <a:r>
              <a:rPr lang="en-US" altLang="ko-KR" dirty="0" smtClean="0">
                <a:sym typeface="Wingdings" panose="05000000000000000000" pitchFamily="2" charset="2"/>
              </a:rPr>
              <a:t>.</a:t>
            </a:r>
            <a:r>
              <a:rPr lang="en-US" altLang="ko-KR" dirty="0" smtClean="0">
                <a:latin typeface="맑은 고딕" panose="020B0503020000020004" pitchFamily="50" charset="-127"/>
              </a:rPr>
              <a:t> </a:t>
            </a:r>
            <a:br>
              <a:rPr lang="en-US" altLang="ko-KR" dirty="0" smtClean="0">
                <a:latin typeface="맑은 고딕" panose="020B0503020000020004" pitchFamily="50" charset="-127"/>
              </a:rPr>
            </a:br>
            <a:r>
              <a:rPr lang="en-US" altLang="ko-KR" dirty="0" smtClean="0">
                <a:latin typeface="맑은 고딕" panose="020B0503020000020004" pitchFamily="50" charset="-127"/>
              </a:rPr>
              <a:t>- DTNPL </a:t>
            </a:r>
            <a:r>
              <a:rPr lang="ko-KR" altLang="en-US" dirty="0" smtClean="0">
                <a:latin typeface="맑은 고딕" panose="020B0503020000020004" pitchFamily="50" charset="-127"/>
              </a:rPr>
              <a:t>내의 </a:t>
            </a:r>
            <a:r>
              <a:rPr lang="en-US" altLang="ko-KR" dirty="0" smtClean="0">
                <a:latin typeface="맑은 고딕" panose="020B0503020000020004" pitchFamily="50" charset="-127"/>
              </a:rPr>
              <a:t>ION </a:t>
            </a:r>
            <a:r>
              <a:rPr lang="en-US" altLang="ko-KR" dirty="0" smtClean="0">
                <a:latin typeface="맑은 고딕" panose="020B0503020000020004" pitchFamily="50" charset="-127"/>
              </a:rPr>
              <a:t>S/W</a:t>
            </a:r>
            <a:r>
              <a:rPr lang="ko-KR" altLang="en-US" dirty="0" smtClean="0">
                <a:latin typeface="맑은 고딕" panose="020B0503020000020004" pitchFamily="50" charset="-127"/>
              </a:rPr>
              <a:t>와 </a:t>
            </a:r>
            <a:r>
              <a:rPr lang="en-US" altLang="ko-KR" dirty="0" smtClean="0">
                <a:latin typeface="맑은 고딕" panose="020B0503020000020004" pitchFamily="50" charset="-127"/>
              </a:rPr>
              <a:t>UDP Socket</a:t>
            </a:r>
            <a:r>
              <a:rPr lang="ko-KR" altLang="en-US" dirty="0" smtClean="0">
                <a:latin typeface="맑은 고딕" panose="020B0503020000020004" pitchFamily="50" charset="-127"/>
              </a:rPr>
              <a:t>을 통해 데이터 전송을 하고 있음</a:t>
            </a:r>
            <a:r>
              <a:rPr lang="en-US" altLang="ko-KR" dirty="0" smtClean="0">
                <a:latin typeface="맑은 고딕" panose="020B0503020000020004" pitchFamily="50" charset="-127"/>
              </a:rPr>
              <a:t>. </a:t>
            </a:r>
            <a:br>
              <a:rPr lang="en-US" altLang="ko-KR" dirty="0" smtClean="0">
                <a:latin typeface="맑은 고딕" panose="020B0503020000020004" pitchFamily="50" charset="-127"/>
              </a:rPr>
            </a:br>
            <a:r>
              <a:rPr lang="en-US" altLang="ko-KR" dirty="0">
                <a:latin typeface="맑은 고딕" panose="020B0503020000020004" pitchFamily="50" charset="-127"/>
              </a:rPr>
              <a:t> </a:t>
            </a:r>
            <a:r>
              <a:rPr lang="en-US" altLang="ko-KR" dirty="0" smtClean="0">
                <a:latin typeface="맑은 고딕" panose="020B0503020000020004" pitchFamily="50" charset="-127"/>
              </a:rPr>
              <a:t> ※ ION S/W</a:t>
            </a:r>
            <a:r>
              <a:rPr lang="ko-KR" altLang="en-US" dirty="0" smtClean="0">
                <a:latin typeface="맑은 고딕" panose="020B0503020000020004" pitchFamily="50" charset="-127"/>
              </a:rPr>
              <a:t>로 부터의 데이터 수신 주기는 </a:t>
            </a:r>
            <a:r>
              <a:rPr lang="en-US" altLang="ko-KR" dirty="0" smtClean="0">
                <a:latin typeface="맑은 고딕" panose="020B0503020000020004" pitchFamily="50" charset="-127"/>
              </a:rPr>
              <a:t>10ms</a:t>
            </a:r>
            <a:br>
              <a:rPr lang="en-US" altLang="ko-KR" dirty="0" smtClean="0">
                <a:latin typeface="맑은 고딕" panose="020B0503020000020004" pitchFamily="50" charset="-127"/>
              </a:rPr>
            </a:br>
            <a:r>
              <a:rPr lang="en-US" altLang="ko-KR" dirty="0" smtClean="0">
                <a:latin typeface="맑은 고딕" panose="020B0503020000020004" pitchFamily="50" charset="-127"/>
              </a:rPr>
              <a:t>  ※ </a:t>
            </a:r>
            <a:r>
              <a:rPr lang="ko-KR" altLang="en-US" dirty="0" smtClean="0">
                <a:latin typeface="맑은 고딕" panose="020B0503020000020004" pitchFamily="50" charset="-127"/>
              </a:rPr>
              <a:t>이 주기 안에서 최대한 많은 데이터를 받을 수 있는 것이 유리함</a:t>
            </a:r>
            <a:r>
              <a:rPr lang="en-US" altLang="ko-KR" dirty="0" smtClean="0">
                <a:latin typeface="맑은 고딕" panose="020B0503020000020004" pitchFamily="50" charset="-127"/>
              </a:rPr>
              <a:t>.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371836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SBC FW Task </a:t>
            </a:r>
            <a:r>
              <a:rPr lang="ko-KR" altLang="en-US" dirty="0" smtClean="0"/>
              <a:t>운용 </a:t>
            </a:r>
            <a:r>
              <a:rPr lang="en-US" altLang="ko-KR" dirty="0" smtClean="0"/>
              <a:t>Diagram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DTNPL – SBC </a:t>
            </a:r>
            <a:r>
              <a:rPr lang="ko-KR" altLang="en-US" dirty="0" smtClean="0"/>
              <a:t>의 </a:t>
            </a:r>
            <a:r>
              <a:rPr lang="en-US" altLang="ko-KR" dirty="0" smtClean="0"/>
              <a:t>Task </a:t>
            </a:r>
            <a:r>
              <a:rPr lang="ko-KR" altLang="en-US" dirty="0" smtClean="0"/>
              <a:t>운용 </a:t>
            </a:r>
            <a:r>
              <a:rPr lang="en-US" altLang="ko-KR" dirty="0" smtClean="0"/>
              <a:t>Diagram</a:t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총 </a:t>
            </a:r>
            <a:r>
              <a:rPr lang="en-US" altLang="ko-KR" dirty="0" smtClean="0"/>
              <a:t>5</a:t>
            </a:r>
            <a:r>
              <a:rPr lang="ko-KR" altLang="en-US" dirty="0" smtClean="0"/>
              <a:t>개의 </a:t>
            </a:r>
            <a:r>
              <a:rPr lang="en-US" altLang="ko-KR" dirty="0" smtClean="0"/>
              <a:t>Task</a:t>
            </a:r>
            <a:r>
              <a:rPr lang="ko-KR" altLang="en-US" dirty="0" smtClean="0"/>
              <a:t>로 구성이 되어 있으며</a:t>
            </a:r>
            <a:r>
              <a:rPr lang="en-US" altLang="ko-KR" dirty="0" smtClean="0"/>
              <a:t>, </a:t>
            </a:r>
            <a:r>
              <a:rPr lang="ko-KR" altLang="en-US" dirty="0" smtClean="0"/>
              <a:t>각 </a:t>
            </a:r>
            <a:r>
              <a:rPr lang="en-US" altLang="ko-KR" dirty="0" smtClean="0"/>
              <a:t>Task </a:t>
            </a:r>
            <a:r>
              <a:rPr lang="ko-KR" altLang="en-US" dirty="0" smtClean="0"/>
              <a:t>각 데이터 공유는 </a:t>
            </a:r>
            <a:r>
              <a:rPr lang="en-US" altLang="ko-KR" dirty="0" smtClean="0"/>
              <a:t>Message Queue</a:t>
            </a:r>
            <a:r>
              <a:rPr lang="ko-KR" altLang="en-US" dirty="0" smtClean="0"/>
              <a:t>를 이용하여 데이터 전송을 하고 있음</a:t>
            </a:r>
            <a:r>
              <a:rPr lang="en-US" altLang="ko-KR" dirty="0" smtClean="0"/>
              <a:t>. </a:t>
            </a:r>
            <a:endParaRPr lang="ko-KR" altLang="en-US" dirty="0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0B9F6217-69A4-4A7D-A9C2-35C496D61B3B}"/>
              </a:ext>
            </a:extLst>
          </p:cNvPr>
          <p:cNvGrpSpPr/>
          <p:nvPr/>
        </p:nvGrpSpPr>
        <p:grpSpPr>
          <a:xfrm>
            <a:off x="1102808" y="2604340"/>
            <a:ext cx="6821992" cy="3625010"/>
            <a:chOff x="598512" y="1679544"/>
            <a:chExt cx="8373066" cy="4707030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3D7FC507-B8EC-4190-BD90-A28BA2EC6E67}"/>
                </a:ext>
              </a:extLst>
            </p:cNvPr>
            <p:cNvSpPr/>
            <p:nvPr/>
          </p:nvSpPr>
          <p:spPr bwMode="auto">
            <a:xfrm>
              <a:off x="1246909" y="2485504"/>
              <a:ext cx="1296786" cy="457200"/>
            </a:xfrm>
            <a:prstGeom prst="rect">
              <a:avLst/>
            </a:prstGeom>
            <a:solidFill>
              <a:schemeClr val="accent1"/>
            </a:solidFill>
            <a:ln w="3175" cap="flat" cmpd="sng" algn="ctr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ko-KR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굴림" panose="020B0600000101010101" pitchFamily="50" charset="-127"/>
                </a:rPr>
                <a:t>MQ1</a:t>
              </a:r>
              <a:endParaRPr kumimoji="1" lang="ko-KR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굴림" panose="020B0600000101010101" pitchFamily="50" charset="-127"/>
              </a:endParaRP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57868E5B-75B3-411B-9873-E5E76F2132C4}"/>
                </a:ext>
              </a:extLst>
            </p:cNvPr>
            <p:cNvSpPr/>
            <p:nvPr/>
          </p:nvSpPr>
          <p:spPr bwMode="auto">
            <a:xfrm>
              <a:off x="2543695" y="2485504"/>
              <a:ext cx="1296786" cy="457200"/>
            </a:xfrm>
            <a:prstGeom prst="rect">
              <a:avLst/>
            </a:prstGeom>
            <a:solidFill>
              <a:schemeClr val="accent1"/>
            </a:solidFill>
            <a:ln w="3175" cap="flat" cmpd="sng" algn="ctr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ko-KR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굴림" panose="020B0600000101010101" pitchFamily="50" charset="-127"/>
                </a:rPr>
                <a:t>MQ2</a:t>
              </a:r>
              <a:endParaRPr kumimoji="1" lang="ko-KR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굴림" panose="020B0600000101010101" pitchFamily="50" charset="-127"/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AAE8D95E-FFF8-449E-8019-19BA78A6E3AB}"/>
                </a:ext>
              </a:extLst>
            </p:cNvPr>
            <p:cNvSpPr/>
            <p:nvPr/>
          </p:nvSpPr>
          <p:spPr bwMode="auto">
            <a:xfrm>
              <a:off x="3870974" y="2485504"/>
              <a:ext cx="1296786" cy="457200"/>
            </a:xfrm>
            <a:prstGeom prst="rect">
              <a:avLst/>
            </a:prstGeom>
            <a:solidFill>
              <a:schemeClr val="accent1"/>
            </a:solidFill>
            <a:ln w="3175" cap="flat" cmpd="sng" algn="ctr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ko-KR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굴림" panose="020B0600000101010101" pitchFamily="50" charset="-127"/>
                </a:rPr>
                <a:t>MQ3</a:t>
              </a:r>
              <a:endParaRPr kumimoji="1" lang="ko-KR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굴림" panose="020B0600000101010101" pitchFamily="50" charset="-127"/>
              </a:endParaRP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472B3B3A-BEC7-465F-AF4A-01F401D9B96D}"/>
                </a:ext>
              </a:extLst>
            </p:cNvPr>
            <p:cNvSpPr/>
            <p:nvPr/>
          </p:nvSpPr>
          <p:spPr bwMode="auto">
            <a:xfrm>
              <a:off x="6479793" y="2485503"/>
              <a:ext cx="1296786" cy="457200"/>
            </a:xfrm>
            <a:prstGeom prst="rect">
              <a:avLst/>
            </a:prstGeom>
            <a:solidFill>
              <a:schemeClr val="accent1"/>
            </a:solidFill>
            <a:ln w="3175" cap="flat" cmpd="sng" algn="ctr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ko-KR" sz="10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굴림" panose="020B0600000101010101" pitchFamily="50" charset="-127"/>
                </a:rPr>
                <a:t>MQn</a:t>
              </a:r>
              <a:endParaRPr kumimoji="1" lang="ko-KR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굴림" panose="020B0600000101010101" pitchFamily="50" charset="-127"/>
              </a:endParaRP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09E14CED-4BE5-47DE-84E9-EFA10440DDDF}"/>
                </a:ext>
              </a:extLst>
            </p:cNvPr>
            <p:cNvSpPr/>
            <p:nvPr/>
          </p:nvSpPr>
          <p:spPr bwMode="auto">
            <a:xfrm>
              <a:off x="5198253" y="2485503"/>
              <a:ext cx="1296786" cy="457200"/>
            </a:xfrm>
            <a:prstGeom prst="rect">
              <a:avLst/>
            </a:prstGeom>
            <a:solidFill>
              <a:schemeClr val="accent1"/>
            </a:solidFill>
            <a:ln w="3175" cap="flat" cmpd="sng" algn="ctr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ko-KR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굴림" panose="020B0600000101010101" pitchFamily="50" charset="-127"/>
                </a:rPr>
                <a:t>…</a:t>
              </a:r>
              <a:endParaRPr kumimoji="1" lang="ko-KR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굴림" panose="020B0600000101010101" pitchFamily="50" charset="-127"/>
              </a:endParaRPr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C381F4CF-1334-4851-9649-19E0198D59D7}"/>
                </a:ext>
              </a:extLst>
            </p:cNvPr>
            <p:cNvSpPr/>
            <p:nvPr/>
          </p:nvSpPr>
          <p:spPr bwMode="auto">
            <a:xfrm>
              <a:off x="598515" y="1679544"/>
              <a:ext cx="2833286" cy="457200"/>
            </a:xfrm>
            <a:prstGeom prst="rect">
              <a:avLst/>
            </a:prstGeom>
            <a:solidFill>
              <a:schemeClr val="accent1"/>
            </a:solidFill>
            <a:ln w="3175" cap="flat" cmpd="sng" algn="ctr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ko-KR" sz="1000" dirty="0"/>
                <a:t>UDP Rx Task </a:t>
              </a:r>
              <a:r>
                <a:rPr lang="en-US" altLang="ko-KR" sz="1000" dirty="0" smtClean="0"/>
                <a:t>(10ms</a:t>
              </a:r>
              <a:r>
                <a:rPr lang="en-US" altLang="ko-KR" sz="1000" dirty="0"/>
                <a:t>)</a:t>
              </a:r>
              <a:endParaRPr kumimoji="1" lang="ko-KR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endParaRPr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23BC504A-D258-4FE9-975F-478660F0535C}"/>
                </a:ext>
              </a:extLst>
            </p:cNvPr>
            <p:cNvSpPr/>
            <p:nvPr/>
          </p:nvSpPr>
          <p:spPr bwMode="auto">
            <a:xfrm>
              <a:off x="598514" y="3291464"/>
              <a:ext cx="2452257" cy="457200"/>
            </a:xfrm>
            <a:prstGeom prst="rect">
              <a:avLst/>
            </a:prstGeom>
            <a:solidFill>
              <a:schemeClr val="accent1"/>
            </a:solidFill>
            <a:ln w="3175" cap="flat" cmpd="sng" algn="ctr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ko-KR" sz="1000" dirty="0"/>
                <a:t>USART </a:t>
              </a:r>
              <a:r>
                <a:rPr lang="en-US" altLang="ko-KR" sz="1000" dirty="0" err="1"/>
                <a:t>Tx</a:t>
              </a:r>
              <a:r>
                <a:rPr lang="en-US" altLang="ko-KR" sz="1000" dirty="0"/>
                <a:t> </a:t>
              </a:r>
              <a:r>
                <a:rPr lang="en-US" altLang="ko-KR" sz="1000" dirty="0" smtClean="0"/>
                <a:t>Task(10ms</a:t>
              </a:r>
              <a:r>
                <a:rPr lang="en-US" altLang="ko-KR" sz="1000" dirty="0"/>
                <a:t>)</a:t>
              </a:r>
              <a:endParaRPr kumimoji="1" lang="ko-KR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endParaRPr>
            </a:p>
          </p:txBody>
        </p:sp>
        <p:cxnSp>
          <p:nvCxnSpPr>
            <p:cNvPr id="12" name="직선 화살표 연결선 11">
              <a:extLst>
                <a:ext uri="{FF2B5EF4-FFF2-40B4-BE49-F238E27FC236}">
                  <a16:creationId xmlns:a16="http://schemas.microsoft.com/office/drawing/2014/main" id="{52C837EB-027A-4D13-97C1-99259B4FF0EC}"/>
                </a:ext>
              </a:extLst>
            </p:cNvPr>
            <p:cNvCxnSpPr>
              <a:stCxn id="10" idx="2"/>
              <a:endCxn id="8" idx="0"/>
            </p:cNvCxnSpPr>
            <p:nvPr/>
          </p:nvCxnSpPr>
          <p:spPr bwMode="auto">
            <a:xfrm>
              <a:off x="2015158" y="2136744"/>
              <a:ext cx="5113028" cy="348759"/>
            </a:xfrm>
            <a:prstGeom prst="straightConnector1">
              <a:avLst/>
            </a:prstGeom>
            <a:solidFill>
              <a:schemeClr val="accent1"/>
            </a:solidFill>
            <a:ln w="3175" cap="flat" cmpd="sng" algn="ctr">
              <a:solidFill>
                <a:schemeClr val="accent2"/>
              </a:solidFill>
              <a:prstDash val="sysDot"/>
              <a:round/>
              <a:headEnd type="none" w="sm" len="sm"/>
              <a:tailEnd type="triangle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13" name="직선 화살표 연결선 12">
              <a:extLst>
                <a:ext uri="{FF2B5EF4-FFF2-40B4-BE49-F238E27FC236}">
                  <a16:creationId xmlns:a16="http://schemas.microsoft.com/office/drawing/2014/main" id="{C1AB1EA3-D72D-43BD-9CC9-21A3B52CC8BF}"/>
                </a:ext>
              </a:extLst>
            </p:cNvPr>
            <p:cNvCxnSpPr>
              <a:stCxn id="5" idx="2"/>
              <a:endCxn id="11" idx="0"/>
            </p:cNvCxnSpPr>
            <p:nvPr/>
          </p:nvCxnSpPr>
          <p:spPr bwMode="auto">
            <a:xfrm flipH="1">
              <a:off x="1824643" y="2942704"/>
              <a:ext cx="70659" cy="348760"/>
            </a:xfrm>
            <a:prstGeom prst="straightConnector1">
              <a:avLst/>
            </a:prstGeom>
            <a:solidFill>
              <a:schemeClr val="accent1"/>
            </a:solidFill>
            <a:ln w="3175" cap="flat" cmpd="sng" algn="ctr">
              <a:solidFill>
                <a:schemeClr val="accent2"/>
              </a:solidFill>
              <a:prstDash val="solid"/>
              <a:round/>
              <a:headEnd type="none" w="sm" len="sm"/>
              <a:tailEnd type="triangle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C69447B1-BBE2-4A7C-BCB7-C34085556B7A}"/>
                </a:ext>
              </a:extLst>
            </p:cNvPr>
            <p:cNvSpPr/>
            <p:nvPr/>
          </p:nvSpPr>
          <p:spPr bwMode="auto">
            <a:xfrm>
              <a:off x="3431801" y="3291464"/>
              <a:ext cx="2611552" cy="457200"/>
            </a:xfrm>
            <a:prstGeom prst="rect">
              <a:avLst/>
            </a:prstGeom>
            <a:solidFill>
              <a:schemeClr val="accent1"/>
            </a:solidFill>
            <a:ln w="3175" cap="flat" cmpd="sng" algn="ctr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ko-KR" sz="1000" dirty="0"/>
                <a:t>Space Packet </a:t>
              </a:r>
              <a:r>
                <a:rPr kumimoji="1" lang="en-US" altLang="ko-KR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굴림" panose="020B0600000101010101" pitchFamily="50" charset="-127"/>
                </a:rPr>
                <a:t>SEND</a:t>
              </a:r>
              <a:endParaRPr kumimoji="1" lang="ko-KR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굴림" panose="020B0600000101010101" pitchFamily="50" charset="-127"/>
              </a:endParaRPr>
            </a:p>
          </p:txBody>
        </p:sp>
        <p:cxnSp>
          <p:nvCxnSpPr>
            <p:cNvPr id="15" name="직선 화살표 연결선 14">
              <a:extLst>
                <a:ext uri="{FF2B5EF4-FFF2-40B4-BE49-F238E27FC236}">
                  <a16:creationId xmlns:a16="http://schemas.microsoft.com/office/drawing/2014/main" id="{EB0A3E57-3F5D-4422-ACB7-831B7F12D954}"/>
                </a:ext>
              </a:extLst>
            </p:cNvPr>
            <p:cNvCxnSpPr>
              <a:stCxn id="11" idx="3"/>
              <a:endCxn id="14" idx="1"/>
            </p:cNvCxnSpPr>
            <p:nvPr/>
          </p:nvCxnSpPr>
          <p:spPr bwMode="auto">
            <a:xfrm>
              <a:off x="3050771" y="3520064"/>
              <a:ext cx="381030" cy="0"/>
            </a:xfrm>
            <a:prstGeom prst="straightConnector1">
              <a:avLst/>
            </a:prstGeom>
            <a:solidFill>
              <a:schemeClr val="accent1"/>
            </a:solidFill>
            <a:ln w="3175" cap="flat" cmpd="sng" algn="ctr">
              <a:solidFill>
                <a:schemeClr val="accent2"/>
              </a:solidFill>
              <a:prstDash val="solid"/>
              <a:round/>
              <a:headEnd type="none" w="sm" len="sm"/>
              <a:tailEnd type="triangle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D10897E6-71FB-4DCF-BD92-CE01154600E8}"/>
                </a:ext>
              </a:extLst>
            </p:cNvPr>
            <p:cNvSpPr/>
            <p:nvPr/>
          </p:nvSpPr>
          <p:spPr bwMode="auto">
            <a:xfrm>
              <a:off x="1219200" y="5108463"/>
              <a:ext cx="1296786" cy="457200"/>
            </a:xfrm>
            <a:prstGeom prst="rect">
              <a:avLst/>
            </a:prstGeom>
            <a:solidFill>
              <a:schemeClr val="accent1"/>
            </a:solidFill>
            <a:ln w="3175" cap="flat" cmpd="sng" algn="ctr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ko-KR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굴림" panose="020B0600000101010101" pitchFamily="50" charset="-127"/>
                </a:rPr>
                <a:t>MQ1</a:t>
              </a:r>
              <a:endParaRPr kumimoji="1" lang="ko-KR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굴림" panose="020B0600000101010101" pitchFamily="50" charset="-127"/>
              </a:endParaRPr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1BE1D97F-11E6-43F3-A84D-80D08D1ACB5E}"/>
                </a:ext>
              </a:extLst>
            </p:cNvPr>
            <p:cNvSpPr/>
            <p:nvPr/>
          </p:nvSpPr>
          <p:spPr bwMode="auto">
            <a:xfrm>
              <a:off x="2515986" y="5108463"/>
              <a:ext cx="1296786" cy="457200"/>
            </a:xfrm>
            <a:prstGeom prst="rect">
              <a:avLst/>
            </a:prstGeom>
            <a:solidFill>
              <a:schemeClr val="accent1"/>
            </a:solidFill>
            <a:ln w="3175" cap="flat" cmpd="sng" algn="ctr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ko-KR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굴림" panose="020B0600000101010101" pitchFamily="50" charset="-127"/>
                </a:rPr>
                <a:t>MQ2</a:t>
              </a:r>
              <a:endParaRPr kumimoji="1" lang="ko-KR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굴림" panose="020B0600000101010101" pitchFamily="50" charset="-127"/>
              </a:endParaRPr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0E248BF0-D88F-4B08-B4CB-4489999B009C}"/>
                </a:ext>
              </a:extLst>
            </p:cNvPr>
            <p:cNvSpPr/>
            <p:nvPr/>
          </p:nvSpPr>
          <p:spPr bwMode="auto">
            <a:xfrm>
              <a:off x="3843265" y="5108463"/>
              <a:ext cx="1296786" cy="457200"/>
            </a:xfrm>
            <a:prstGeom prst="rect">
              <a:avLst/>
            </a:prstGeom>
            <a:solidFill>
              <a:schemeClr val="accent1"/>
            </a:solidFill>
            <a:ln w="3175" cap="flat" cmpd="sng" algn="ctr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ko-KR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굴림" panose="020B0600000101010101" pitchFamily="50" charset="-127"/>
                </a:rPr>
                <a:t>MQ3</a:t>
              </a:r>
              <a:endParaRPr kumimoji="1" lang="ko-KR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굴림" panose="020B0600000101010101" pitchFamily="50" charset="-127"/>
              </a:endParaRPr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5D338B2E-F190-4F34-98D4-22251DC34397}"/>
                </a:ext>
              </a:extLst>
            </p:cNvPr>
            <p:cNvSpPr/>
            <p:nvPr/>
          </p:nvSpPr>
          <p:spPr bwMode="auto">
            <a:xfrm>
              <a:off x="6452084" y="5108462"/>
              <a:ext cx="1296786" cy="457200"/>
            </a:xfrm>
            <a:prstGeom prst="rect">
              <a:avLst/>
            </a:prstGeom>
            <a:solidFill>
              <a:schemeClr val="accent1"/>
            </a:solidFill>
            <a:ln w="3175" cap="flat" cmpd="sng" algn="ctr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ko-KR" sz="1000" b="0" i="0" u="none" strike="noStrike" cap="none" normalizeH="0" baseline="0" dirty="0" err="1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굴림" panose="020B0600000101010101" pitchFamily="50" charset="-127"/>
                </a:rPr>
                <a:t>MQn</a:t>
              </a:r>
              <a:endParaRPr kumimoji="1" lang="ko-KR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굴림" panose="020B0600000101010101" pitchFamily="50" charset="-127"/>
              </a:endParaRPr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F7F159D3-8834-4A67-985B-7A5F1FD7832E}"/>
                </a:ext>
              </a:extLst>
            </p:cNvPr>
            <p:cNvSpPr/>
            <p:nvPr/>
          </p:nvSpPr>
          <p:spPr bwMode="auto">
            <a:xfrm>
              <a:off x="5170544" y="5108462"/>
              <a:ext cx="1296786" cy="457200"/>
            </a:xfrm>
            <a:prstGeom prst="rect">
              <a:avLst/>
            </a:prstGeom>
            <a:solidFill>
              <a:schemeClr val="accent1"/>
            </a:solidFill>
            <a:ln w="3175" cap="flat" cmpd="sng" algn="ctr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1" lang="en-US" altLang="ko-KR" sz="1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ea typeface="굴림" panose="020B0600000101010101" pitchFamily="50" charset="-127"/>
                </a:rPr>
                <a:t>…</a:t>
              </a:r>
              <a:endParaRPr kumimoji="1" lang="ko-KR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굴림" panose="020B0600000101010101" pitchFamily="50" charset="-127"/>
              </a:endParaRPr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2919D1D3-469D-46E9-92B4-E850B94F94D3}"/>
                </a:ext>
              </a:extLst>
            </p:cNvPr>
            <p:cNvSpPr/>
            <p:nvPr/>
          </p:nvSpPr>
          <p:spPr bwMode="auto">
            <a:xfrm>
              <a:off x="598513" y="5929374"/>
              <a:ext cx="2452257" cy="457200"/>
            </a:xfrm>
            <a:prstGeom prst="rect">
              <a:avLst/>
            </a:prstGeom>
            <a:solidFill>
              <a:schemeClr val="accent1"/>
            </a:solidFill>
            <a:ln w="3175" cap="flat" cmpd="sng" algn="ctr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ko-KR" sz="1000" dirty="0"/>
                <a:t>UART Rx Task (100ms)</a:t>
              </a:r>
              <a:endParaRPr kumimoji="1" lang="ko-KR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endParaRPr>
            </a:p>
          </p:txBody>
        </p:sp>
        <p:cxnSp>
          <p:nvCxnSpPr>
            <p:cNvPr id="22" name="직선 화살표 연결선 21">
              <a:extLst>
                <a:ext uri="{FF2B5EF4-FFF2-40B4-BE49-F238E27FC236}">
                  <a16:creationId xmlns:a16="http://schemas.microsoft.com/office/drawing/2014/main" id="{6A791427-8135-4112-938A-EFC30964753C}"/>
                </a:ext>
              </a:extLst>
            </p:cNvPr>
            <p:cNvCxnSpPr>
              <a:stCxn id="21" idx="0"/>
              <a:endCxn id="19" idx="2"/>
            </p:cNvCxnSpPr>
            <p:nvPr/>
          </p:nvCxnSpPr>
          <p:spPr bwMode="auto">
            <a:xfrm flipV="1">
              <a:off x="1824642" y="5565662"/>
              <a:ext cx="5275835" cy="363712"/>
            </a:xfrm>
            <a:prstGeom prst="straightConnector1">
              <a:avLst/>
            </a:prstGeom>
            <a:solidFill>
              <a:schemeClr val="accent1"/>
            </a:solidFill>
            <a:ln w="3175" cap="flat" cmpd="sng" algn="ctr">
              <a:solidFill>
                <a:schemeClr val="accent2"/>
              </a:solidFill>
              <a:prstDash val="sysDot"/>
              <a:round/>
              <a:headEnd type="none" w="sm" len="sm"/>
              <a:tailEnd type="triangle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99CFDC70-3DB3-45C7-B07A-00BB124C9E85}"/>
                </a:ext>
              </a:extLst>
            </p:cNvPr>
            <p:cNvSpPr/>
            <p:nvPr/>
          </p:nvSpPr>
          <p:spPr bwMode="auto">
            <a:xfrm>
              <a:off x="598512" y="4304175"/>
              <a:ext cx="2833289" cy="457200"/>
            </a:xfrm>
            <a:prstGeom prst="rect">
              <a:avLst/>
            </a:prstGeom>
            <a:solidFill>
              <a:schemeClr val="accent1"/>
            </a:solidFill>
            <a:ln w="3175" cap="flat" cmpd="sng" algn="ctr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ko-KR" sz="1000" dirty="0"/>
                <a:t>Telemetry Task (</a:t>
              </a:r>
              <a:r>
                <a:rPr lang="en-US" altLang="ko-KR" sz="1000" dirty="0" smtClean="0"/>
                <a:t>10ms</a:t>
              </a:r>
              <a:r>
                <a:rPr lang="en-US" altLang="ko-KR" sz="1000" dirty="0"/>
                <a:t>)</a:t>
              </a:r>
              <a:endParaRPr kumimoji="1" lang="ko-KR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endParaRPr>
            </a:p>
          </p:txBody>
        </p:sp>
        <p:cxnSp>
          <p:nvCxnSpPr>
            <p:cNvPr id="24" name="직선 화살표 연결선 23">
              <a:extLst>
                <a:ext uri="{FF2B5EF4-FFF2-40B4-BE49-F238E27FC236}">
                  <a16:creationId xmlns:a16="http://schemas.microsoft.com/office/drawing/2014/main" id="{E62FD850-F5F1-40EC-A673-17DD9F681B01}"/>
                </a:ext>
              </a:extLst>
            </p:cNvPr>
            <p:cNvCxnSpPr>
              <a:stCxn id="16" idx="0"/>
              <a:endCxn id="23" idx="2"/>
            </p:cNvCxnSpPr>
            <p:nvPr/>
          </p:nvCxnSpPr>
          <p:spPr bwMode="auto">
            <a:xfrm flipV="1">
              <a:off x="1867593" y="4761375"/>
              <a:ext cx="147564" cy="347088"/>
            </a:xfrm>
            <a:prstGeom prst="straightConnector1">
              <a:avLst/>
            </a:prstGeom>
            <a:solidFill>
              <a:schemeClr val="accent1"/>
            </a:solidFill>
            <a:ln w="3175" cap="flat" cmpd="sng" algn="ctr">
              <a:solidFill>
                <a:schemeClr val="accent2"/>
              </a:solidFill>
              <a:prstDash val="solid"/>
              <a:round/>
              <a:headEnd type="none" w="sm" len="sm"/>
              <a:tailEnd type="triangle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2B3FE43A-A7FD-4E9D-8ADA-849AE484EC5A}"/>
                </a:ext>
              </a:extLst>
            </p:cNvPr>
            <p:cNvSpPr/>
            <p:nvPr/>
          </p:nvSpPr>
          <p:spPr bwMode="auto">
            <a:xfrm>
              <a:off x="3329245" y="5929374"/>
              <a:ext cx="2452257" cy="457200"/>
            </a:xfrm>
            <a:prstGeom prst="rect">
              <a:avLst/>
            </a:prstGeom>
            <a:solidFill>
              <a:schemeClr val="accent1"/>
            </a:solidFill>
            <a:ln w="3175" cap="flat" cmpd="sng" algn="ctr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ko-KR" sz="1000" dirty="0"/>
                <a:t>UART Rx Buffer</a:t>
              </a:r>
              <a:endParaRPr kumimoji="1" lang="ko-KR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굴림" panose="020B0600000101010101" pitchFamily="50" charset="-127"/>
              </a:endParaRPr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34BE378E-8BCA-45AA-8306-BAB4FF5635AC}"/>
                </a:ext>
              </a:extLst>
            </p:cNvPr>
            <p:cNvSpPr/>
            <p:nvPr/>
          </p:nvSpPr>
          <p:spPr bwMode="auto">
            <a:xfrm>
              <a:off x="6032988" y="5923456"/>
              <a:ext cx="2452257" cy="457200"/>
            </a:xfrm>
            <a:prstGeom prst="rect">
              <a:avLst/>
            </a:prstGeom>
            <a:solidFill>
              <a:schemeClr val="accent1"/>
            </a:solidFill>
            <a:ln w="3175" cap="flat" cmpd="sng" algn="ctr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ko-KR" sz="1000" dirty="0"/>
                <a:t>UART Rx IRQ</a:t>
              </a:r>
              <a:endParaRPr kumimoji="1" lang="ko-KR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굴림" panose="020B0600000101010101" pitchFamily="50" charset="-127"/>
              </a:endParaRPr>
            </a:p>
          </p:txBody>
        </p:sp>
        <p:cxnSp>
          <p:nvCxnSpPr>
            <p:cNvPr id="27" name="직선 화살표 연결선 26">
              <a:extLst>
                <a:ext uri="{FF2B5EF4-FFF2-40B4-BE49-F238E27FC236}">
                  <a16:creationId xmlns:a16="http://schemas.microsoft.com/office/drawing/2014/main" id="{701F9937-8E60-4B55-958C-1362D38EB205}"/>
                </a:ext>
              </a:extLst>
            </p:cNvPr>
            <p:cNvCxnSpPr>
              <a:stCxn id="30" idx="1"/>
              <a:endCxn id="10" idx="3"/>
            </p:cNvCxnSpPr>
            <p:nvPr/>
          </p:nvCxnSpPr>
          <p:spPr bwMode="auto">
            <a:xfrm flipH="1" flipV="1">
              <a:off x="3431801" y="1908144"/>
              <a:ext cx="697572" cy="5322"/>
            </a:xfrm>
            <a:prstGeom prst="straightConnector1">
              <a:avLst/>
            </a:prstGeom>
            <a:solidFill>
              <a:schemeClr val="accent1"/>
            </a:solidFill>
            <a:ln w="3175" cap="flat" cmpd="sng" algn="ctr">
              <a:solidFill>
                <a:schemeClr val="accent2"/>
              </a:solidFill>
              <a:prstDash val="solid"/>
              <a:round/>
              <a:headEnd type="none" w="sm" len="sm"/>
              <a:tailEnd type="triangle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cxnSp>
          <p:nvCxnSpPr>
            <p:cNvPr id="28" name="직선 화살표 연결선 27">
              <a:extLst>
                <a:ext uri="{FF2B5EF4-FFF2-40B4-BE49-F238E27FC236}">
                  <a16:creationId xmlns:a16="http://schemas.microsoft.com/office/drawing/2014/main" id="{802A6754-EE8D-4EC9-A0BA-09A25F32EDC5}"/>
                </a:ext>
              </a:extLst>
            </p:cNvPr>
            <p:cNvCxnSpPr>
              <a:stCxn id="26" idx="1"/>
              <a:endCxn id="25" idx="3"/>
            </p:cNvCxnSpPr>
            <p:nvPr/>
          </p:nvCxnSpPr>
          <p:spPr bwMode="auto">
            <a:xfrm flipH="1">
              <a:off x="5781502" y="6152056"/>
              <a:ext cx="251486" cy="5918"/>
            </a:xfrm>
            <a:prstGeom prst="straightConnector1">
              <a:avLst/>
            </a:prstGeom>
            <a:solidFill>
              <a:schemeClr val="accent1"/>
            </a:solidFill>
            <a:ln w="3175" cap="flat" cmpd="sng" algn="ctr">
              <a:solidFill>
                <a:schemeClr val="accent2"/>
              </a:solidFill>
              <a:prstDash val="solid"/>
              <a:round/>
              <a:headEnd type="none" w="sm" len="sm"/>
              <a:tailEnd type="triangle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340DC0FC-5C70-47CF-90AA-64D3C42EC72A}"/>
                </a:ext>
              </a:extLst>
            </p:cNvPr>
            <p:cNvSpPr/>
            <p:nvPr/>
          </p:nvSpPr>
          <p:spPr bwMode="auto">
            <a:xfrm>
              <a:off x="5490576" y="4520687"/>
              <a:ext cx="2452257" cy="457200"/>
            </a:xfrm>
            <a:prstGeom prst="rect">
              <a:avLst/>
            </a:prstGeom>
            <a:solidFill>
              <a:srgbClr val="FFFF00"/>
            </a:solidFill>
            <a:ln w="3175" cap="flat" cmpd="sng" algn="ctr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ko-KR" sz="1000" dirty="0"/>
                <a:t>ION UDP Rx</a:t>
              </a:r>
              <a:endParaRPr kumimoji="1" lang="ko-KR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굴림" panose="020B0600000101010101" pitchFamily="50" charset="-127"/>
              </a:endParaRPr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78633EAF-AD30-492B-9D6C-6ED506F99EE8}"/>
                </a:ext>
              </a:extLst>
            </p:cNvPr>
            <p:cNvSpPr/>
            <p:nvPr/>
          </p:nvSpPr>
          <p:spPr bwMode="auto">
            <a:xfrm>
              <a:off x="4129373" y="1684866"/>
              <a:ext cx="2452257" cy="457200"/>
            </a:xfrm>
            <a:prstGeom prst="rect">
              <a:avLst/>
            </a:prstGeom>
            <a:solidFill>
              <a:srgbClr val="FFFF00"/>
            </a:solidFill>
            <a:ln w="3175" cap="flat" cmpd="sng" algn="ctr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ko-KR" sz="1000" dirty="0"/>
                <a:t>ION UDP </a:t>
              </a:r>
              <a:r>
                <a:rPr lang="en-US" altLang="ko-KR" sz="1000" dirty="0" err="1"/>
                <a:t>Tx</a:t>
              </a:r>
              <a:endParaRPr kumimoji="1" lang="ko-KR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굴림" panose="020B0600000101010101" pitchFamily="50" charset="-127"/>
              </a:endParaRPr>
            </a:p>
          </p:txBody>
        </p:sp>
        <p:cxnSp>
          <p:nvCxnSpPr>
            <p:cNvPr id="31" name="직선 화살표 연결선 30">
              <a:extLst>
                <a:ext uri="{FF2B5EF4-FFF2-40B4-BE49-F238E27FC236}">
                  <a16:creationId xmlns:a16="http://schemas.microsoft.com/office/drawing/2014/main" id="{C5003A7F-04EF-4C53-8543-C42AABE112A5}"/>
                </a:ext>
              </a:extLst>
            </p:cNvPr>
            <p:cNvCxnSpPr>
              <a:endCxn id="29" idx="1"/>
            </p:cNvCxnSpPr>
            <p:nvPr/>
          </p:nvCxnSpPr>
          <p:spPr bwMode="auto">
            <a:xfrm>
              <a:off x="3476989" y="4631750"/>
              <a:ext cx="2013587" cy="117537"/>
            </a:xfrm>
            <a:prstGeom prst="straightConnector1">
              <a:avLst/>
            </a:prstGeom>
            <a:solidFill>
              <a:schemeClr val="accent1"/>
            </a:solidFill>
            <a:ln w="3175" cap="flat" cmpd="sng" algn="ctr">
              <a:solidFill>
                <a:schemeClr val="accent2"/>
              </a:solidFill>
              <a:prstDash val="solid"/>
              <a:round/>
              <a:headEnd type="none" w="sm" len="sm"/>
              <a:tailEnd type="triangle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84392B9F-9D90-436B-85FD-F4D41662AE47}"/>
                </a:ext>
              </a:extLst>
            </p:cNvPr>
            <p:cNvSpPr/>
            <p:nvPr/>
          </p:nvSpPr>
          <p:spPr bwMode="auto">
            <a:xfrm>
              <a:off x="6906845" y="1679544"/>
              <a:ext cx="2064733" cy="457199"/>
            </a:xfrm>
            <a:prstGeom prst="rect">
              <a:avLst/>
            </a:prstGeom>
            <a:solidFill>
              <a:schemeClr val="accent1"/>
            </a:solidFill>
            <a:ln w="3175" cap="flat" cmpd="sng" algn="ctr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ko-KR" sz="1000" dirty="0"/>
                <a:t>Heartbeat Task (2s)</a:t>
              </a:r>
              <a:endParaRPr kumimoji="1" lang="ko-KR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endParaRPr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8CF2869A-255B-4284-8C95-53ED2637732D}"/>
                </a:ext>
              </a:extLst>
            </p:cNvPr>
            <p:cNvSpPr/>
            <p:nvPr/>
          </p:nvSpPr>
          <p:spPr bwMode="auto">
            <a:xfrm>
              <a:off x="6906845" y="3291465"/>
              <a:ext cx="2064733" cy="457199"/>
            </a:xfrm>
            <a:prstGeom prst="rect">
              <a:avLst/>
            </a:prstGeom>
            <a:solidFill>
              <a:schemeClr val="accent1"/>
            </a:solidFill>
            <a:ln w="3175" cap="flat" cmpd="sng" algn="ctr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ko-KR" sz="1000" dirty="0" err="1"/>
                <a:t>sbc_main</a:t>
              </a:r>
              <a:r>
                <a:rPr lang="en-US" altLang="ko-KR" sz="1000" dirty="0"/>
                <a:t> Task (1s)</a:t>
              </a:r>
              <a:endParaRPr kumimoji="1" lang="ko-KR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endParaRPr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C2C1D7E1-31F8-403C-AF22-E56C62393FDE}"/>
                </a:ext>
              </a:extLst>
            </p:cNvPr>
            <p:cNvSpPr/>
            <p:nvPr/>
          </p:nvSpPr>
          <p:spPr bwMode="auto">
            <a:xfrm>
              <a:off x="5490576" y="3945743"/>
              <a:ext cx="2452257" cy="457200"/>
            </a:xfrm>
            <a:prstGeom prst="rect">
              <a:avLst/>
            </a:prstGeom>
            <a:solidFill>
              <a:srgbClr val="92D050"/>
            </a:solidFill>
            <a:ln w="3175" cap="flat" cmpd="sng" algn="ctr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ko-KR" sz="1000" dirty="0"/>
                <a:t>UART </a:t>
              </a:r>
              <a:r>
                <a:rPr lang="en-US" altLang="ko-KR" sz="1000" dirty="0" err="1"/>
                <a:t>Tx</a:t>
              </a:r>
              <a:endParaRPr kumimoji="1" lang="ko-KR" altLang="en-U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굴림" panose="020B0600000101010101" pitchFamily="50" charset="-127"/>
              </a:endParaRPr>
            </a:p>
          </p:txBody>
        </p:sp>
        <p:cxnSp>
          <p:nvCxnSpPr>
            <p:cNvPr id="35" name="직선 화살표 연결선 34">
              <a:extLst>
                <a:ext uri="{FF2B5EF4-FFF2-40B4-BE49-F238E27FC236}">
                  <a16:creationId xmlns:a16="http://schemas.microsoft.com/office/drawing/2014/main" id="{4C0DA849-841B-4872-B2EA-4859E7704D40}"/>
                </a:ext>
              </a:extLst>
            </p:cNvPr>
            <p:cNvCxnSpPr/>
            <p:nvPr/>
          </p:nvCxnSpPr>
          <p:spPr bwMode="auto">
            <a:xfrm flipV="1">
              <a:off x="3476989" y="4174343"/>
              <a:ext cx="2013587" cy="270681"/>
            </a:xfrm>
            <a:prstGeom prst="straightConnector1">
              <a:avLst/>
            </a:prstGeom>
            <a:solidFill>
              <a:schemeClr val="accent1"/>
            </a:solidFill>
            <a:ln w="3175" cap="flat" cmpd="sng" algn="ctr">
              <a:solidFill>
                <a:schemeClr val="accent2"/>
              </a:solidFill>
              <a:prstDash val="solid"/>
              <a:round/>
              <a:headEnd type="none" w="sm" len="sm"/>
              <a:tailEnd type="triangle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56CB46C-D29C-4C3B-BAFB-B87135250027}"/>
                </a:ext>
              </a:extLst>
            </p:cNvPr>
            <p:cNvSpPr txBox="1"/>
            <p:nvPr/>
          </p:nvSpPr>
          <p:spPr>
            <a:xfrm>
              <a:off x="3877452" y="4639106"/>
              <a:ext cx="787970" cy="360144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altLang="ko-KR" sz="1000" dirty="0"/>
                <a:t>Script 2</a:t>
              </a:r>
              <a:endParaRPr lang="ko-KR" altLang="en-US" sz="1000" dirty="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6618098-C346-43B3-9634-7FBCBBE0827E}"/>
                </a:ext>
              </a:extLst>
            </p:cNvPr>
            <p:cNvSpPr txBox="1"/>
            <p:nvPr/>
          </p:nvSpPr>
          <p:spPr>
            <a:xfrm>
              <a:off x="3985517" y="4041354"/>
              <a:ext cx="787970" cy="360144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altLang="ko-KR" sz="1000" dirty="0"/>
                <a:t>SOH</a:t>
              </a:r>
              <a:endParaRPr lang="ko-KR" altLang="en-US" sz="1000" dirty="0"/>
            </a:p>
          </p:txBody>
        </p:sp>
      </p:grpSp>
    </p:spTree>
    <p:extLst>
      <p:ext uri="{BB962C8B-B14F-4D97-AF65-F5344CB8AC3E}">
        <p14:creationId xmlns:p14="http://schemas.microsoft.com/office/powerpoint/2010/main" val="33662796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DTNPL SBC Task </a:t>
            </a:r>
            <a:r>
              <a:rPr lang="ko-KR" altLang="en-US" dirty="0" smtClean="0"/>
              <a:t>운용 구조</a:t>
            </a:r>
            <a:endParaRPr lang="ko-KR" altLang="en-US" dirty="0"/>
          </a:p>
        </p:txBody>
      </p:sp>
      <p:sp>
        <p:nvSpPr>
          <p:cNvPr id="5" name="내용 개체 틀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smtClean="0"/>
              <a:t>모든 </a:t>
            </a:r>
            <a:r>
              <a:rPr lang="en-US" altLang="ko-KR" dirty="0" smtClean="0"/>
              <a:t>Task</a:t>
            </a:r>
            <a:r>
              <a:rPr lang="ko-KR" altLang="en-US" dirty="0" smtClean="0"/>
              <a:t>는</a:t>
            </a:r>
            <a:r>
              <a:rPr lang="en-US" altLang="ko-KR" dirty="0" smtClean="0"/>
              <a:t> preemptive task</a:t>
            </a:r>
            <a:r>
              <a:rPr lang="ko-KR" altLang="en-US" dirty="0" smtClean="0"/>
              <a:t>로 운용 하고 있음</a:t>
            </a:r>
            <a:r>
              <a:rPr lang="en-US" altLang="ko-KR" dirty="0" smtClean="0"/>
              <a:t>.</a:t>
            </a:r>
          </a:p>
          <a:p>
            <a:r>
              <a:rPr lang="en-US" altLang="ko-KR" dirty="0" smtClean="0"/>
              <a:t>Task 3 </a:t>
            </a:r>
            <a:r>
              <a:rPr lang="en-US" altLang="ko-KR" dirty="0" smtClean="0">
                <a:sym typeface="Wingdings" panose="05000000000000000000" pitchFamily="2" charset="2"/>
              </a:rPr>
              <a:t> USRT, </a:t>
            </a:r>
          </a:p>
          <a:p>
            <a:r>
              <a:rPr lang="en-US" altLang="ko-KR" dirty="0" smtClean="0">
                <a:sym typeface="Wingdings" panose="05000000000000000000" pitchFamily="2" charset="2"/>
              </a:rPr>
              <a:t>Task 2  UDP Rx </a:t>
            </a:r>
          </a:p>
          <a:p>
            <a:r>
              <a:rPr lang="en-US" altLang="ko-KR" dirty="0" smtClean="0">
                <a:sym typeface="Wingdings" panose="05000000000000000000" pitchFamily="2" charset="2"/>
              </a:rPr>
              <a:t>Task 1  </a:t>
            </a:r>
            <a:r>
              <a:rPr lang="ko-KR" altLang="en-US" dirty="0" smtClean="0">
                <a:sym typeface="Wingdings" panose="05000000000000000000" pitchFamily="2" charset="2"/>
              </a:rPr>
              <a:t>기타</a:t>
            </a:r>
            <a:r>
              <a:rPr lang="en-US" altLang="ko-KR" dirty="0" smtClean="0">
                <a:sym typeface="Wingdings" panose="05000000000000000000" pitchFamily="2" charset="2"/>
              </a:rPr>
              <a:t> Task ( UART / Heartbeat / </a:t>
            </a:r>
            <a:r>
              <a:rPr lang="en-US" altLang="ko-KR" dirty="0" err="1" smtClean="0">
                <a:sym typeface="Wingdings" panose="05000000000000000000" pitchFamily="2" charset="2"/>
              </a:rPr>
              <a:t>etc</a:t>
            </a:r>
            <a:r>
              <a:rPr lang="en-US" altLang="ko-KR" dirty="0" smtClean="0">
                <a:sym typeface="Wingdings" panose="05000000000000000000" pitchFamily="2" charset="2"/>
              </a:rPr>
              <a:t> )</a:t>
            </a:r>
            <a:endParaRPr lang="ko-KR" altLang="en-US" dirty="0"/>
          </a:p>
        </p:txBody>
      </p:sp>
      <p:pic>
        <p:nvPicPr>
          <p:cNvPr id="6" name="내용 개체 틀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3363" y="2835269"/>
            <a:ext cx="8666162" cy="333846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7388884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기술 검토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전송 목표 속도 </a:t>
            </a:r>
            <a:r>
              <a:rPr lang="en-US" altLang="ko-KR" dirty="0"/>
              <a:t>: </a:t>
            </a:r>
            <a:r>
              <a:rPr lang="en-US" altLang="ko-KR" dirty="0" smtClean="0"/>
              <a:t>2Mbps</a:t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수정된 </a:t>
            </a:r>
            <a:r>
              <a:rPr lang="ko-KR" altLang="en-US" dirty="0"/>
              <a:t>목표  </a:t>
            </a:r>
            <a:r>
              <a:rPr lang="en-US" altLang="ko-KR" dirty="0"/>
              <a:t>ION S/W UDP  </a:t>
            </a:r>
            <a:r>
              <a:rPr lang="en-US" altLang="ko-KR" dirty="0" err="1"/>
              <a:t>transmitte</a:t>
            </a:r>
            <a:r>
              <a:rPr lang="en-US" altLang="ko-KR" dirty="0"/>
              <a:t> speed is up to </a:t>
            </a:r>
            <a:r>
              <a:rPr lang="en-US" altLang="ko-KR" dirty="0" smtClean="0"/>
              <a:t>1.5MBps</a:t>
            </a:r>
            <a:br>
              <a:rPr lang="en-US" altLang="ko-KR" dirty="0" smtClean="0"/>
            </a:br>
            <a:r>
              <a:rPr lang="en-US" altLang="ko-KR" dirty="0" smtClean="0"/>
              <a:t>                       </a:t>
            </a:r>
            <a:r>
              <a:rPr lang="en-US" altLang="ko-KR" dirty="0"/>
              <a:t>SBC F/W USRT </a:t>
            </a:r>
            <a:r>
              <a:rPr lang="en-US" altLang="ko-KR" dirty="0" err="1"/>
              <a:t>transmitte</a:t>
            </a:r>
            <a:r>
              <a:rPr lang="en-US" altLang="ko-KR" dirty="0"/>
              <a:t> speed is up to </a:t>
            </a:r>
            <a:r>
              <a:rPr lang="en-US" altLang="ko-KR" dirty="0" smtClean="0"/>
              <a:t>1.6Mbps</a:t>
            </a:r>
            <a:br>
              <a:rPr lang="en-US" altLang="ko-KR" dirty="0" smtClean="0"/>
            </a:br>
            <a:endParaRPr lang="en-US" altLang="ko-KR" dirty="0" smtClean="0"/>
          </a:p>
          <a:p>
            <a:r>
              <a:rPr lang="en-US" altLang="ko-KR" dirty="0" smtClean="0"/>
              <a:t>   </a:t>
            </a:r>
            <a:r>
              <a:rPr lang="ko-KR" altLang="en-US" dirty="0"/>
              <a:t>현재까지의 시험 결과는 </a:t>
            </a:r>
            <a:r>
              <a:rPr lang="en-US" altLang="ko-KR" dirty="0"/>
              <a:t>USRT </a:t>
            </a:r>
            <a:r>
              <a:rPr lang="ko-KR" altLang="en-US" dirty="0"/>
              <a:t>최대 전송 속도는 </a:t>
            </a:r>
            <a:r>
              <a:rPr lang="en-US" altLang="ko-KR" dirty="0" smtClean="0"/>
              <a:t>800K~900Kbps</a:t>
            </a:r>
          </a:p>
          <a:p>
            <a:endParaRPr lang="en-US" altLang="ko-KR" dirty="0"/>
          </a:p>
          <a:p>
            <a:r>
              <a:rPr lang="en-US" altLang="ko-KR" dirty="0"/>
              <a:t>  </a:t>
            </a:r>
            <a:r>
              <a:rPr lang="en-US" altLang="ko-KR" dirty="0" smtClean="0"/>
              <a:t>USRT </a:t>
            </a:r>
            <a:r>
              <a:rPr lang="ko-KR" altLang="en-US" dirty="0" smtClean="0"/>
              <a:t>전송 시 </a:t>
            </a:r>
            <a:r>
              <a:rPr lang="en-US" altLang="ko-KR" dirty="0"/>
              <a:t>pause Time(idle )</a:t>
            </a:r>
            <a:r>
              <a:rPr lang="ko-KR" altLang="en-US" dirty="0"/>
              <a:t>이 상대적으로 커 전송속도 상승이 </a:t>
            </a:r>
            <a:r>
              <a:rPr lang="ko-KR" altLang="en-US" dirty="0" smtClean="0"/>
              <a:t>제한적</a:t>
            </a:r>
            <a:endParaRPr lang="en-US" altLang="ko-KR" dirty="0" smtClean="0"/>
          </a:p>
          <a:p>
            <a:pPr marL="0" indent="0">
              <a:buNone/>
            </a:pPr>
            <a:r>
              <a:rPr lang="en-US" altLang="ko-KR" dirty="0" smtClean="0"/>
              <a:t>     - </a:t>
            </a:r>
            <a:r>
              <a:rPr lang="ko-KR" altLang="en-US" dirty="0" smtClean="0"/>
              <a:t>또한 </a:t>
            </a:r>
            <a:r>
              <a:rPr lang="en-US" altLang="ko-KR" dirty="0" smtClean="0"/>
              <a:t>CRC </a:t>
            </a:r>
            <a:r>
              <a:rPr lang="en-US" altLang="ko-KR" dirty="0"/>
              <a:t>Check </a:t>
            </a:r>
            <a:r>
              <a:rPr lang="ko-KR" altLang="en-US" dirty="0"/>
              <a:t>적용 여부에 따라 전송 속도의 변화가 있음</a:t>
            </a:r>
            <a:r>
              <a:rPr lang="en-US" altLang="ko-KR" dirty="0"/>
              <a:t>. </a:t>
            </a:r>
          </a:p>
          <a:p>
            <a:r>
              <a:rPr lang="ko-KR" altLang="en-US" dirty="0" smtClean="0"/>
              <a:t>계산 </a:t>
            </a:r>
            <a:r>
              <a:rPr lang="ko-KR" altLang="en-US" dirty="0"/>
              <a:t>값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- 10ms </a:t>
            </a:r>
            <a:r>
              <a:rPr lang="en-US" altLang="ko-KR" dirty="0"/>
              <a:t>Task</a:t>
            </a:r>
            <a:r>
              <a:rPr lang="ko-KR" altLang="en-US" dirty="0"/>
              <a:t>로 운용 </a:t>
            </a:r>
            <a:r>
              <a:rPr lang="ko-KR" altLang="en-US" dirty="0" smtClean="0"/>
              <a:t>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sz="1400" dirty="0" smtClean="0"/>
              <a:t>  </a:t>
            </a:r>
            <a:r>
              <a:rPr lang="en-US" altLang="ko-KR" sz="1400" dirty="0"/>
              <a:t>1024 * 2</a:t>
            </a:r>
            <a:r>
              <a:rPr lang="ko-KR" altLang="en-US" sz="1400" dirty="0"/>
              <a:t>회 </a:t>
            </a:r>
            <a:r>
              <a:rPr lang="en-US" altLang="ko-KR" sz="1400" dirty="0"/>
              <a:t>(2048) Byte </a:t>
            </a:r>
            <a:r>
              <a:rPr lang="ko-KR" altLang="en-US" sz="1400" dirty="0" err="1"/>
              <a:t>전송시</a:t>
            </a:r>
            <a:r>
              <a:rPr lang="ko-KR" altLang="en-US" sz="1400" dirty="0"/>
              <a:t>  </a:t>
            </a:r>
            <a:r>
              <a:rPr lang="en-US" altLang="ko-KR" sz="1400" dirty="0"/>
              <a:t>8.192ms </a:t>
            </a:r>
            <a:r>
              <a:rPr lang="ko-KR" altLang="en-US" sz="1400" dirty="0" err="1"/>
              <a:t>전송시간</a:t>
            </a:r>
            <a:r>
              <a:rPr lang="ko-KR" altLang="en-US" sz="1400" dirty="0"/>
              <a:t> </a:t>
            </a:r>
            <a:r>
              <a:rPr lang="en-US" altLang="ko-KR" sz="1400" dirty="0"/>
              <a:t>, Duty Cycle 82% -&gt; 2Mbps * 82% = </a:t>
            </a:r>
            <a:r>
              <a:rPr lang="en-US" altLang="ko-KR" sz="1400" dirty="0" smtClean="0"/>
              <a:t>1.64Mbps</a:t>
            </a:r>
            <a:br>
              <a:rPr lang="en-US" altLang="ko-KR" sz="1400" dirty="0" smtClean="0"/>
            </a:br>
            <a:r>
              <a:rPr lang="en-US" altLang="ko-KR" sz="1400" dirty="0" smtClean="0"/>
              <a:t>  </a:t>
            </a:r>
            <a:r>
              <a:rPr lang="en-US" altLang="ko-KR" sz="1400" dirty="0"/>
              <a:t>1024 * 1</a:t>
            </a:r>
            <a:r>
              <a:rPr lang="ko-KR" altLang="en-US" sz="1400" dirty="0"/>
              <a:t>회 </a:t>
            </a:r>
            <a:r>
              <a:rPr lang="en-US" altLang="ko-KR" sz="1400" dirty="0"/>
              <a:t>(1024) Byte </a:t>
            </a:r>
            <a:r>
              <a:rPr lang="ko-KR" altLang="en-US" sz="1400" dirty="0" err="1"/>
              <a:t>전송시</a:t>
            </a:r>
            <a:r>
              <a:rPr lang="ko-KR" altLang="en-US" sz="1400" dirty="0"/>
              <a:t>  </a:t>
            </a:r>
            <a:r>
              <a:rPr lang="en-US" altLang="ko-KR" sz="1400" dirty="0"/>
              <a:t>4.096ms </a:t>
            </a:r>
            <a:r>
              <a:rPr lang="ko-KR" altLang="en-US" sz="1400" dirty="0" err="1"/>
              <a:t>전송시간</a:t>
            </a:r>
            <a:r>
              <a:rPr lang="ko-KR" altLang="en-US" sz="1400" dirty="0"/>
              <a:t> </a:t>
            </a:r>
            <a:r>
              <a:rPr lang="en-US" altLang="ko-KR" sz="1400" dirty="0"/>
              <a:t>, Duty Cycle 41% -&gt; 2Mbps * 41% = 0.82Mbps</a:t>
            </a:r>
          </a:p>
          <a:p>
            <a:r>
              <a:rPr lang="ko-KR" altLang="en-US" dirty="0" smtClean="0"/>
              <a:t>검토 사항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USRT </a:t>
            </a:r>
            <a:r>
              <a:rPr lang="en-US" altLang="ko-KR" dirty="0"/>
              <a:t>Clock</a:t>
            </a:r>
            <a:r>
              <a:rPr lang="ko-KR" altLang="en-US" dirty="0"/>
              <a:t>을 </a:t>
            </a:r>
            <a:r>
              <a:rPr lang="en-US" altLang="ko-KR" dirty="0"/>
              <a:t>4MHz</a:t>
            </a:r>
            <a:r>
              <a:rPr lang="ko-KR" altLang="en-US" dirty="0"/>
              <a:t>로 설정을 할 경우 속도의 변화가 어떻게 되는지</a:t>
            </a:r>
            <a:r>
              <a:rPr lang="en-US" altLang="ko-KR" dirty="0" smtClean="0"/>
              <a:t>?</a:t>
            </a:r>
            <a:br>
              <a:rPr lang="en-US" altLang="ko-KR" dirty="0" smtClean="0"/>
            </a:br>
            <a:r>
              <a:rPr lang="en-US" altLang="ko-KR" dirty="0" smtClean="0"/>
              <a:t>Estimation</a:t>
            </a:r>
            <a:r>
              <a:rPr lang="ko-KR" altLang="en-US" dirty="0"/>
              <a:t> </a:t>
            </a:r>
            <a:r>
              <a:rPr lang="en-US" altLang="ko-KR" dirty="0" smtClean="0">
                <a:sym typeface="Wingdings" panose="05000000000000000000" pitchFamily="2" charset="2"/>
              </a:rPr>
              <a:t>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sz="1400" dirty="0" smtClean="0"/>
              <a:t> </a:t>
            </a:r>
            <a:r>
              <a:rPr lang="en-US" altLang="ko-KR" sz="1400" dirty="0"/>
              <a:t>1024 * </a:t>
            </a:r>
            <a:r>
              <a:rPr lang="en-US" altLang="ko-KR" sz="1400" dirty="0" smtClean="0"/>
              <a:t>4</a:t>
            </a:r>
            <a:r>
              <a:rPr lang="ko-KR" altLang="en-US" sz="1400" dirty="0" smtClean="0"/>
              <a:t>회 </a:t>
            </a:r>
            <a:r>
              <a:rPr lang="en-US" altLang="ko-KR" sz="1400" dirty="0" smtClean="0"/>
              <a:t>(4096) </a:t>
            </a:r>
            <a:r>
              <a:rPr lang="en-US" altLang="ko-KR" sz="1400" dirty="0"/>
              <a:t>Byte </a:t>
            </a:r>
            <a:r>
              <a:rPr lang="ko-KR" altLang="en-US" sz="1400" dirty="0" err="1"/>
              <a:t>전송시</a:t>
            </a:r>
            <a:r>
              <a:rPr lang="ko-KR" altLang="en-US" sz="1400" dirty="0"/>
              <a:t>  </a:t>
            </a:r>
            <a:r>
              <a:rPr lang="en-US" altLang="ko-KR" sz="1400" dirty="0" smtClean="0"/>
              <a:t>8.192ms </a:t>
            </a:r>
            <a:r>
              <a:rPr lang="ko-KR" altLang="en-US" sz="1400" dirty="0" err="1"/>
              <a:t>전송시간</a:t>
            </a:r>
            <a:r>
              <a:rPr lang="ko-KR" altLang="en-US" sz="1400" dirty="0"/>
              <a:t> </a:t>
            </a:r>
            <a:r>
              <a:rPr lang="en-US" altLang="ko-KR" sz="1400" dirty="0"/>
              <a:t>, Duty Cycle </a:t>
            </a:r>
            <a:r>
              <a:rPr lang="en-US" altLang="ko-KR" sz="1400" dirty="0" smtClean="0"/>
              <a:t>82% </a:t>
            </a:r>
            <a:r>
              <a:rPr lang="en-US" altLang="ko-KR" sz="1400" dirty="0"/>
              <a:t>-&gt; </a:t>
            </a:r>
            <a:r>
              <a:rPr lang="en-US" altLang="ko-KR" sz="1400" dirty="0" smtClean="0"/>
              <a:t>4Mbps </a:t>
            </a:r>
            <a:r>
              <a:rPr lang="en-US" altLang="ko-KR" sz="1400" dirty="0"/>
              <a:t>* </a:t>
            </a:r>
            <a:r>
              <a:rPr lang="en-US" altLang="ko-KR" sz="1400" dirty="0" smtClean="0"/>
              <a:t>82% </a:t>
            </a:r>
            <a:r>
              <a:rPr lang="en-US" altLang="ko-KR" sz="1400" dirty="0"/>
              <a:t>= </a:t>
            </a:r>
            <a:r>
              <a:rPr lang="en-US" altLang="ko-KR" sz="1400" dirty="0" smtClean="0"/>
              <a:t>3.24Mbps</a:t>
            </a:r>
            <a:br>
              <a:rPr lang="en-US" altLang="ko-KR" sz="1400" dirty="0" smtClean="0"/>
            </a:br>
            <a:r>
              <a:rPr lang="en-US" altLang="ko-KR" sz="1400" dirty="0" smtClean="0"/>
              <a:t> 1024 </a:t>
            </a:r>
            <a:r>
              <a:rPr lang="en-US" altLang="ko-KR" sz="1400" dirty="0"/>
              <a:t>* </a:t>
            </a:r>
            <a:r>
              <a:rPr lang="en-US" altLang="ko-KR" sz="1400" dirty="0" smtClean="0"/>
              <a:t>3</a:t>
            </a:r>
            <a:r>
              <a:rPr lang="ko-KR" altLang="en-US" sz="1400" dirty="0" smtClean="0"/>
              <a:t>회 </a:t>
            </a:r>
            <a:r>
              <a:rPr lang="en-US" altLang="ko-KR" sz="1400" dirty="0" smtClean="0"/>
              <a:t>(3072) </a:t>
            </a:r>
            <a:r>
              <a:rPr lang="en-US" altLang="ko-KR" sz="1400" dirty="0"/>
              <a:t>Byte </a:t>
            </a:r>
            <a:r>
              <a:rPr lang="ko-KR" altLang="en-US" sz="1400" dirty="0" err="1"/>
              <a:t>전송시</a:t>
            </a:r>
            <a:r>
              <a:rPr lang="ko-KR" altLang="en-US" sz="1400" dirty="0"/>
              <a:t>  </a:t>
            </a:r>
            <a:r>
              <a:rPr lang="en-US" altLang="ko-KR" sz="1400" dirty="0" smtClean="0"/>
              <a:t>6.144ms </a:t>
            </a:r>
            <a:r>
              <a:rPr lang="ko-KR" altLang="en-US" sz="1400" dirty="0" err="1"/>
              <a:t>전송시간</a:t>
            </a:r>
            <a:r>
              <a:rPr lang="ko-KR" altLang="en-US" sz="1400" dirty="0"/>
              <a:t> </a:t>
            </a:r>
            <a:r>
              <a:rPr lang="en-US" altLang="ko-KR" sz="1400" dirty="0"/>
              <a:t>, Duty Cycle </a:t>
            </a:r>
            <a:r>
              <a:rPr lang="en-US" altLang="ko-KR" sz="1400" dirty="0" smtClean="0"/>
              <a:t>61% </a:t>
            </a:r>
            <a:r>
              <a:rPr lang="en-US" altLang="ko-KR" sz="1400" dirty="0"/>
              <a:t>-&gt; 4Mbps * </a:t>
            </a:r>
            <a:r>
              <a:rPr lang="en-US" altLang="ko-KR" sz="1400" dirty="0" smtClean="0"/>
              <a:t>61% </a:t>
            </a:r>
            <a:r>
              <a:rPr lang="en-US" altLang="ko-KR" sz="1400" dirty="0"/>
              <a:t>= </a:t>
            </a:r>
            <a:r>
              <a:rPr lang="en-US" altLang="ko-KR" sz="1400" dirty="0" smtClean="0"/>
              <a:t>2.44Mbps</a:t>
            </a:r>
            <a:br>
              <a:rPr lang="en-US" altLang="ko-KR" sz="1400" dirty="0" smtClean="0"/>
            </a:br>
            <a:r>
              <a:rPr lang="ko-KR" altLang="en-US" sz="1400" dirty="0"/>
              <a:t> </a:t>
            </a:r>
            <a:r>
              <a:rPr lang="en-US" altLang="ko-KR" sz="1400" dirty="0"/>
              <a:t>1024 * 2</a:t>
            </a:r>
            <a:r>
              <a:rPr lang="ko-KR" altLang="en-US" sz="1400" dirty="0"/>
              <a:t>회 </a:t>
            </a:r>
            <a:r>
              <a:rPr lang="en-US" altLang="ko-KR" sz="1400" dirty="0"/>
              <a:t>(2048) Byte </a:t>
            </a:r>
            <a:r>
              <a:rPr lang="ko-KR" altLang="en-US" sz="1400" dirty="0" err="1"/>
              <a:t>전송시</a:t>
            </a:r>
            <a:r>
              <a:rPr lang="ko-KR" altLang="en-US" sz="1400" dirty="0"/>
              <a:t>  </a:t>
            </a:r>
            <a:r>
              <a:rPr lang="en-US" altLang="ko-KR" sz="1400" dirty="0"/>
              <a:t>4.096ms </a:t>
            </a:r>
            <a:r>
              <a:rPr lang="ko-KR" altLang="en-US" sz="1400" dirty="0" err="1"/>
              <a:t>전송시간</a:t>
            </a:r>
            <a:r>
              <a:rPr lang="ko-KR" altLang="en-US" sz="1400" dirty="0"/>
              <a:t> </a:t>
            </a:r>
            <a:r>
              <a:rPr lang="en-US" altLang="ko-KR" sz="1400" dirty="0"/>
              <a:t>, Duty Cycle 41% -&gt; 4Mbps * 41% = 1.64Mbps</a:t>
            </a:r>
            <a:br>
              <a:rPr lang="en-US" altLang="ko-KR" sz="1400" dirty="0"/>
            </a:br>
            <a:r>
              <a:rPr lang="en-US" altLang="ko-KR" sz="1400" dirty="0" smtClean="0"/>
              <a:t> </a:t>
            </a:r>
            <a:r>
              <a:rPr lang="en-US" altLang="ko-KR" sz="1400" dirty="0"/>
              <a:t>1024 * 1</a:t>
            </a:r>
            <a:r>
              <a:rPr lang="ko-KR" altLang="en-US" sz="1400" dirty="0"/>
              <a:t>회 </a:t>
            </a:r>
            <a:r>
              <a:rPr lang="en-US" altLang="ko-KR" sz="1400" dirty="0"/>
              <a:t>(1024) Byte </a:t>
            </a:r>
            <a:r>
              <a:rPr lang="ko-KR" altLang="en-US" sz="1400" dirty="0" err="1"/>
              <a:t>전송시</a:t>
            </a:r>
            <a:r>
              <a:rPr lang="ko-KR" altLang="en-US" sz="1400" dirty="0"/>
              <a:t>  </a:t>
            </a:r>
            <a:r>
              <a:rPr lang="en-US" altLang="ko-KR" sz="1400" dirty="0" smtClean="0"/>
              <a:t>2.048ms </a:t>
            </a:r>
            <a:r>
              <a:rPr lang="ko-KR" altLang="en-US" sz="1400" dirty="0" err="1"/>
              <a:t>전송시간</a:t>
            </a:r>
            <a:r>
              <a:rPr lang="ko-KR" altLang="en-US" sz="1400" dirty="0"/>
              <a:t> </a:t>
            </a:r>
            <a:r>
              <a:rPr lang="en-US" altLang="ko-KR" sz="1400" dirty="0"/>
              <a:t>, Duty Cycle </a:t>
            </a:r>
            <a:r>
              <a:rPr lang="en-US" altLang="ko-KR" sz="1400" dirty="0" smtClean="0"/>
              <a:t>21% </a:t>
            </a:r>
            <a:r>
              <a:rPr lang="en-US" altLang="ko-KR" sz="1400" dirty="0"/>
              <a:t>-&gt; </a:t>
            </a:r>
            <a:r>
              <a:rPr lang="en-US" altLang="ko-KR" sz="1400" dirty="0" smtClean="0"/>
              <a:t>4Mbps </a:t>
            </a:r>
            <a:r>
              <a:rPr lang="en-US" altLang="ko-KR" sz="1400" dirty="0"/>
              <a:t>* </a:t>
            </a:r>
            <a:r>
              <a:rPr lang="en-US" altLang="ko-KR" sz="1400" dirty="0" smtClean="0"/>
              <a:t>21% </a:t>
            </a:r>
            <a:r>
              <a:rPr lang="en-US" altLang="ko-KR" sz="1400" dirty="0"/>
              <a:t>= </a:t>
            </a:r>
            <a:r>
              <a:rPr lang="en-US" altLang="ko-KR" sz="1400" dirty="0" smtClean="0"/>
              <a:t>0.84Mbps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925814864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기본 디자인">
      <a:majorFont>
        <a:latin typeface="Arial"/>
        <a:ea typeface="굴림"/>
        <a:cs typeface=""/>
      </a:majorFont>
      <a:minorFont>
        <a:latin typeface="Arial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57150" cap="flat" cmpd="sng" algn="ctr">
          <a:solidFill>
            <a:schemeClr val="accent2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anose="02020603050405020304" pitchFamily="18" charset="0"/>
            <a:ea typeface="굴림" panose="020B0600000101010101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57150" cap="flat" cmpd="sng" algn="ctr">
          <a:solidFill>
            <a:schemeClr val="accent2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anose="02020603050405020304" pitchFamily="18" charset="0"/>
            <a:ea typeface="굴림" panose="020B0600000101010101" pitchFamily="50" charset="-127"/>
          </a:defRPr>
        </a:defPPr>
      </a:lst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42442</TotalTime>
  <Words>607</Words>
  <Application>Microsoft Office PowerPoint</Application>
  <PresentationFormat>화면 슬라이드 쇼(4:3)</PresentationFormat>
  <Paragraphs>46</Paragraphs>
  <Slides>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13" baseType="lpstr">
      <vt:lpstr>굴림</vt:lpstr>
      <vt:lpstr>맑은 고딕</vt:lpstr>
      <vt:lpstr>바탕체</vt:lpstr>
      <vt:lpstr>Arial</vt:lpstr>
      <vt:lpstr>Arial Black</vt:lpstr>
      <vt:lpstr>Times New Roman</vt:lpstr>
      <vt:lpstr>Wingdings</vt:lpstr>
      <vt:lpstr>기본 디자인</vt:lpstr>
      <vt:lpstr>USRT 전송 속도 기술 검토   ’20.09.01 Lumir</vt:lpstr>
      <vt:lpstr>USRT Speed 개선 방안</vt:lpstr>
      <vt:lpstr>SBC FW Task 운용 Diagram</vt:lpstr>
      <vt:lpstr>DTNPL SBC Task 운용 구조</vt:lpstr>
      <vt:lpstr>기술 검토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한동인</dc:creator>
  <cp:lastModifiedBy>Choi SangRim</cp:lastModifiedBy>
  <cp:revision>1689</cp:revision>
  <cp:lastPrinted>2020-07-30T04:06:34Z</cp:lastPrinted>
  <dcterms:created xsi:type="dcterms:W3CDTF">1601-01-01T00:00:00Z</dcterms:created>
  <dcterms:modified xsi:type="dcterms:W3CDTF">2020-09-01T04:24:42Z</dcterms:modified>
</cp:coreProperties>
</file>