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423" r:id="rId2"/>
    <p:sldId id="813" r:id="rId3"/>
    <p:sldId id="816" r:id="rId4"/>
    <p:sldId id="815" r:id="rId5"/>
  </p:sldIdLst>
  <p:sldSz cx="9144000" cy="6858000" type="screen4x3"/>
  <p:notesSz cx="7104063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4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14004" initials="O" lastIdx="1" clrIdx="0">
    <p:extLst>
      <p:ext uri="{19B8F6BF-5375-455C-9EA6-DF929625EA0E}">
        <p15:presenceInfo xmlns:p15="http://schemas.microsoft.com/office/powerpoint/2012/main" userId="O1400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CC66"/>
    <a:srgbClr val="FFCCFF"/>
    <a:srgbClr val="6AA8C1"/>
    <a:srgbClr val="FFCCCC"/>
    <a:srgbClr val="F2F2F2"/>
    <a:srgbClr val="EFFFB3"/>
    <a:srgbClr val="F7FEB4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41" autoAdjust="0"/>
    <p:restoredTop sz="96370" autoAdjust="0"/>
  </p:normalViewPr>
  <p:slideViewPr>
    <p:cSldViewPr snapToGrid="0">
      <p:cViewPr varScale="1">
        <p:scale>
          <a:sx n="110" d="100"/>
          <a:sy n="110" d="100"/>
        </p:scale>
        <p:origin x="2088" y="96"/>
      </p:cViewPr>
      <p:guideLst>
        <p:guide orient="horz" pos="2160"/>
        <p:guide pos="4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2610" y="66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861" y="0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5363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320" y="4861156"/>
            <a:ext cx="5209425" cy="4605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861" y="9722309"/>
            <a:ext cx="3079202" cy="512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82" tIns="47391" rIns="94782" bIns="4739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CEF302-C0C4-41F5-9E57-DF55FCB3FB84}" type="slidenum">
              <a:rPr lang="ko-KR" altLang="en-US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75593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4186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615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2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Line 2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lIns="91440" tIns="45720" rIns="91440" bIns="45720"/>
          <a:lstStyle>
            <a:lvl1pPr>
              <a:defRPr sz="3000">
                <a:latin typeface="Arial Black" panose="020B0A04020102020204" pitchFamily="34" charset="0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lIns="91440" tIns="45720" rIns="91440" bIns="45720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graphicFrame>
        <p:nvGraphicFramePr>
          <p:cNvPr id="13" name="Group 4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0214106"/>
              </p:ext>
            </p:extLst>
          </p:nvPr>
        </p:nvGraphicFramePr>
        <p:xfrm>
          <a:off x="106128" y="354284"/>
          <a:ext cx="8926360" cy="937827"/>
        </p:xfrm>
        <a:graphic>
          <a:graphicData uri="http://schemas.openxmlformats.org/drawingml/2006/table">
            <a:tbl>
              <a:tblPr/>
              <a:tblGrid>
                <a:gridCol w="981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58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82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16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1pPr>
                      <a:lvl2pPr marL="476250" algn="l">
                        <a:spcBef>
                          <a:spcPct val="20000"/>
                        </a:spcBef>
                        <a:defRPr kumimoji="1" sz="1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2pPr>
                      <a:lvl3pPr marL="952500"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굴림" panose="020B0600000101010101" pitchFamily="50" charset="-127"/>
                      </a:endParaRPr>
                    </a:p>
                  </a:txBody>
                  <a:tcPr marL="99060" marR="99060" horzOverflow="overflow">
                    <a:lnL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46"/>
          <p:cNvSpPr>
            <a:spLocks noChangeArrowheads="1"/>
          </p:cNvSpPr>
          <p:nvPr userDrawn="1"/>
        </p:nvSpPr>
        <p:spPr bwMode="auto">
          <a:xfrm>
            <a:off x="84343" y="87726"/>
            <a:ext cx="8948145" cy="274824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txBody>
          <a:bodyPr lIns="108032" tIns="54016" rIns="108032" bIns="54016" anchor="ctr"/>
          <a:lstStyle>
            <a:lvl1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1pPr>
            <a:lvl2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2pPr>
            <a:lvl3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3pPr>
            <a:lvl4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4pPr>
            <a:lvl5pPr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000" b="1">
                <a:solidFill>
                  <a:schemeClr val="tx2"/>
                </a:solidFill>
                <a:latin typeface="Arial Black" panose="020B0A04020102020204" pitchFamily="34" charset="0"/>
                <a:ea typeface="굴림" panose="020B0600000101010101" pitchFamily="50" charset="-127"/>
              </a:defRPr>
            </a:lvl9pPr>
          </a:lstStyle>
          <a:p>
            <a:pPr algn="l" eaLnBrk="1" latinLnBrk="1" hangingPunct="1">
              <a:defRPr/>
            </a:pPr>
            <a:r>
              <a:rPr lang="en-US" altLang="ko-KR" sz="1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Korea </a:t>
            </a:r>
            <a:r>
              <a:rPr lang="en-US" altLang="ko-KR" sz="1600" b="0" baseline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Lunar Exploration Program - KPLO</a:t>
            </a:r>
            <a:endParaRPr lang="en-US" altLang="ko-KR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15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181" y="396346"/>
            <a:ext cx="862787" cy="864024"/>
          </a:xfrm>
          <a:prstGeom prst="rect">
            <a:avLst/>
          </a:prstGeom>
        </p:spPr>
      </p:pic>
      <p:pic>
        <p:nvPicPr>
          <p:cNvPr id="17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701" y="556035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9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131763"/>
            <a:ext cx="6705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75247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</a:rPr>
              <a:pPr algn="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2239622" y="6514041"/>
            <a:ext cx="465364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Confidential,</a:t>
            </a:r>
            <a:r>
              <a:rPr lang="en-US" altLang="ko-KR" sz="1200" b="0" baseline="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lt"/>
              </a:rPr>
              <a:t>Distribution Limited</a:t>
            </a:r>
            <a:endParaRPr lang="ko-KR" altLang="en-US" sz="1200" b="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94487" y="-23213"/>
            <a:ext cx="862787" cy="864024"/>
          </a:xfrm>
          <a:prstGeom prst="rect">
            <a:avLst/>
          </a:prstGeom>
        </p:spPr>
      </p:pic>
      <p:pic>
        <p:nvPicPr>
          <p:cNvPr id="13" name="Picture 2" descr="F:\업무\ETRI활동\행정문서\CIS\새CI\signature_4.wmf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1945" y="244061"/>
            <a:ext cx="1262699" cy="45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510338"/>
            <a:ext cx="947582" cy="2762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cid:image002.png@01D67797.2F7D34B0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emf"/><Relationship Id="rId5" Type="http://schemas.openxmlformats.org/officeDocument/2006/relationships/package" Target="../embeddings/Microsoft_Excel_Macro-Enabled_Worksheet.xlsm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886075"/>
            <a:ext cx="7772400" cy="2460476"/>
          </a:xfrm>
        </p:spPr>
        <p:txBody>
          <a:bodyPr/>
          <a:lstStyle/>
          <a:p>
            <a:r>
              <a:rPr lang="en-US" altLang="ko-KR" sz="3600" dirty="0"/>
              <a:t>Aging Test </a:t>
            </a:r>
            <a:r>
              <a:rPr lang="ko-KR" altLang="en-US" sz="3600" dirty="0"/>
              <a:t>결과 보고서</a:t>
            </a:r>
            <a:br>
              <a:rPr lang="en-US" altLang="ko-KR" sz="3600" dirty="0"/>
            </a:br>
            <a:br>
              <a:rPr lang="en-US" altLang="ko-KR" sz="3600" dirty="0"/>
            </a:br>
            <a:br>
              <a:rPr lang="en-US" altLang="ko-KR" sz="3600" dirty="0"/>
            </a:br>
            <a:r>
              <a:rPr lang="en-US" altLang="ko-KR" sz="2400" b="0" dirty="0"/>
              <a:t>’20.10.12</a:t>
            </a:r>
            <a:br>
              <a:rPr lang="en-US" altLang="ko-KR" sz="2400" b="0" dirty="0"/>
            </a:br>
            <a:r>
              <a:rPr lang="en-US" altLang="ko-KR" sz="2400" b="0" dirty="0" err="1"/>
              <a:t>Lumir</a:t>
            </a:r>
            <a:endParaRPr lang="ko-KR" altLang="en-US" sz="2400" b="0" dirty="0"/>
          </a:p>
        </p:txBody>
      </p:sp>
      <p:sp>
        <p:nvSpPr>
          <p:cNvPr id="4" name="텍스트 개체 틀 22"/>
          <p:cNvSpPr>
            <a:spLocks noGrp="1"/>
          </p:cNvSpPr>
          <p:nvPr>
            <p:ph type="body" sz="quarter" idx="11" hasCustomPrompt="1"/>
          </p:nvPr>
        </p:nvSpPr>
        <p:spPr>
          <a:xfrm>
            <a:off x="1081968" y="443989"/>
            <a:ext cx="6397102" cy="707344"/>
          </a:xfrm>
        </p:spPr>
        <p:txBody>
          <a:bodyPr anchor="ctr">
            <a:noAutofit/>
          </a:bodyPr>
          <a:lstStyle>
            <a:lvl1pPr marL="190500" marR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 lang="ko-KR" altLang="en-US" sz="4000" b="1" kern="1200" dirty="0">
                <a:solidFill>
                  <a:srgbClr val="C000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190500" marR="0" lvl="0" indent="-19050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3300" dirty="0">
                <a:solidFill>
                  <a:schemeClr val="tx1"/>
                </a:solidFill>
              </a:rPr>
              <a:t>KPLO DTNPL</a:t>
            </a:r>
            <a:endParaRPr lang="ko-KR" altLang="en-US" sz="3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3070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400" dirty="0"/>
              <a:t>Aging Test </a:t>
            </a:r>
            <a:r>
              <a:rPr lang="ko-KR" altLang="en-US" sz="2400" dirty="0"/>
              <a:t>결과 보고서</a:t>
            </a:r>
            <a:endParaRPr lang="en-US" altLang="ko-KR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3920FC78-57E0-4284-A244-178BFC007B11}"/>
              </a:ext>
            </a:extLst>
          </p:cNvPr>
          <p:cNvGrpSpPr/>
          <p:nvPr/>
        </p:nvGrpSpPr>
        <p:grpSpPr>
          <a:xfrm>
            <a:off x="438174" y="1151621"/>
            <a:ext cx="9740600" cy="6124754"/>
            <a:chOff x="559100" y="18255"/>
            <a:chExt cx="9740600" cy="6124754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B1FE2C4E-6527-482B-B1F9-04ABEC6FB9C0}"/>
                </a:ext>
              </a:extLst>
            </p:cNvPr>
            <p:cNvGrpSpPr/>
            <p:nvPr/>
          </p:nvGrpSpPr>
          <p:grpSpPr>
            <a:xfrm>
              <a:off x="559100" y="18255"/>
              <a:ext cx="9740600" cy="6124754"/>
              <a:chOff x="63534" y="1241111"/>
              <a:chExt cx="9740600" cy="6124754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481F05-3617-42F2-B094-943798BF0948}"/>
                  </a:ext>
                </a:extLst>
              </p:cNvPr>
              <p:cNvSpPr txBox="1"/>
              <p:nvPr/>
            </p:nvSpPr>
            <p:spPr>
              <a:xfrm>
                <a:off x="63534" y="1241111"/>
                <a:ext cx="9740600" cy="6124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ko-KR" altLang="en-US" sz="18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목적 </a:t>
                </a:r>
                <a:r>
                  <a:rPr lang="en-US" altLang="ko-KR" sz="18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SBC_EGSE Aging Test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ko-KR" sz="1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ko-KR" altLang="en-US" sz="18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시험 구성 </a:t>
                </a:r>
                <a:r>
                  <a:rPr lang="en-US" altLang="ko-KR" sz="18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 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ko-KR" sz="1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ko-KR" sz="1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ko-KR" sz="1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ko-KR" sz="1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ko-KR" sz="1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ko-KR" sz="1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ko-KR" sz="1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endParaRPr lang="en-US" altLang="ko-KR" sz="1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ko-KR" sz="1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ko-KR" altLang="en-US" sz="18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시험 방법 </a:t>
                </a:r>
                <a:r>
                  <a:rPr lang="en-US" altLang="ko-KR" sz="18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ko-KR" sz="1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ko-KR" sz="1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ko-KR" sz="1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ko-KR" altLang="en-US" sz="18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시험 결과 </a:t>
                </a:r>
                <a:r>
                  <a:rPr lang="en-US" altLang="ko-KR" sz="18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ko-KR" sz="18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ko-KR" sz="1800" dirty="0"/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US" altLang="ko-KR" sz="1800" dirty="0"/>
              </a:p>
              <a:p>
                <a:pPr marL="457200" indent="-457200">
                  <a:buFont typeface="Wingdings" panose="05000000000000000000" pitchFamily="2" charset="2"/>
                  <a:buChar char="§"/>
                </a:pPr>
                <a:endParaRPr lang="ko-KR" altLang="en-US" sz="3200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6D156E-D6AD-4B30-82C5-011A73C43D1F}"/>
                  </a:ext>
                </a:extLst>
              </p:cNvPr>
              <p:cNvSpPr txBox="1"/>
              <p:nvPr/>
            </p:nvSpPr>
            <p:spPr>
              <a:xfrm>
                <a:off x="1681919" y="4556090"/>
                <a:ext cx="682015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“PC Time Setting-&gt;SOH Request-&gt;Script1(</a:t>
                </a:r>
                <a:r>
                  <a:rPr lang="en-US" altLang="ko-KR" sz="1400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Ionstart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)-&gt;30s 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휴식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-&gt;PC Time Setting</a:t>
                </a:r>
              </a:p>
              <a:p>
                <a:pPr algn="just"/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-&gt;SOH Request-&gt;Script1(Restart )-&gt;30s 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휴식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”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을 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cycle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로 구성하여 반복 시험을 진행하며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전송 데이터와 응답 수신 데이터를 기록하여 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log </a:t>
                </a:r>
                <a:r>
                  <a:rPr lang="ko-KR" altLang="en-US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시간을 확인하여 정상 동작을 확인 한다</a:t>
                </a:r>
                <a:r>
                  <a:rPr lang="en-US" altLang="ko-KR" sz="14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7B0BDE-FB86-4EF5-A589-3F316FDC895B}"/>
                </a:ext>
              </a:extLst>
            </p:cNvPr>
            <p:cNvSpPr txBox="1"/>
            <p:nvPr/>
          </p:nvSpPr>
          <p:spPr>
            <a:xfrm>
              <a:off x="2177485" y="4392204"/>
              <a:ext cx="650383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약 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3.5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일동안 연속적으로 시험을 수행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총 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4934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cycle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수행했고 각 명령어 수행 회수와 응답결과를 비교 시 </a:t>
              </a:r>
              <a:r>
                <a:rPr lang="ko-KR" altLang="en-US" sz="14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성공율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100%, </a:t>
              </a:r>
              <a:r>
                <a:rPr lang="ko-KR" altLang="en-US" sz="14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오류율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0% 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기록 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294D2AF-F3A7-4601-90A4-327A32633C80}"/>
                </a:ext>
              </a:extLst>
            </p:cNvPr>
            <p:cNvSpPr txBox="1"/>
            <p:nvPr/>
          </p:nvSpPr>
          <p:spPr>
            <a:xfrm>
              <a:off x="2006600" y="2496593"/>
              <a:ext cx="6820152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UART 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통신방법으로 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SBC_EGSE 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프로그램에서 </a:t>
              </a:r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DTN</a:t>
              </a:r>
              <a:r>
                <a:rPr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에 순차적으로 명령어를 전달하고 피드백 되는 값을 통해 동작 수행 여부 판단하는 방식으로 시험환경 구성</a:t>
              </a:r>
              <a:endPara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A50D176-7CCE-4CFC-B915-C6554DEB48DB}"/>
                </a:ext>
              </a:extLst>
            </p:cNvPr>
            <p:cNvPicPr/>
            <p:nvPr/>
          </p:nvPicPr>
          <p:blipFill rotWithShape="1">
            <a:blip r:embed="rId3" r:link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255" b="27027"/>
            <a:stretch>
              <a:fillRect/>
            </a:stretch>
          </p:blipFill>
          <p:spPr bwMode="auto">
            <a:xfrm>
              <a:off x="2286000" y="669227"/>
              <a:ext cx="4210326" cy="1750151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45562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ACK </a:t>
            </a:r>
            <a:r>
              <a:rPr lang="ko-KR" altLang="en-US" dirty="0"/>
              <a:t>수신 </a:t>
            </a:r>
            <a:r>
              <a:rPr lang="en-US" altLang="ko-KR" dirty="0"/>
              <a:t>Log </a:t>
            </a:r>
            <a:r>
              <a:rPr lang="ko-KR" altLang="en-US" dirty="0"/>
              <a:t>분석 결과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3363" y="981076"/>
            <a:ext cx="1481137" cy="477062"/>
          </a:xfrm>
        </p:spPr>
        <p:txBody>
          <a:bodyPr/>
          <a:lstStyle/>
          <a:p>
            <a:r>
              <a:rPr lang="en-US" altLang="ko-KR" dirty="0"/>
              <a:t>Log </a:t>
            </a:r>
            <a:r>
              <a:rPr lang="ko-KR" altLang="en-US" dirty="0"/>
              <a:t>기록</a:t>
            </a:r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E6D89C5-90BD-4D20-B5A2-44A620C319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0" t="756"/>
          <a:stretch/>
        </p:blipFill>
        <p:spPr>
          <a:xfrm>
            <a:off x="244475" y="1351612"/>
            <a:ext cx="4327525" cy="387045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1113A4-1FB3-4D4F-B93B-AE85B18E2CF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5" r="677"/>
          <a:stretch/>
        </p:blipFill>
        <p:spPr>
          <a:xfrm>
            <a:off x="4566444" y="1351612"/>
            <a:ext cx="4285023" cy="3870451"/>
          </a:xfrm>
          <a:prstGeom prst="rect">
            <a:avLst/>
          </a:prstGeom>
        </p:spPr>
      </p:pic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DC3A5FA2-F3DE-4057-874C-7371C38DCEAE}"/>
              </a:ext>
            </a:extLst>
          </p:cNvPr>
          <p:cNvSpPr/>
          <p:nvPr/>
        </p:nvSpPr>
        <p:spPr bwMode="auto">
          <a:xfrm>
            <a:off x="4667827" y="4902200"/>
            <a:ext cx="4006056" cy="101600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6487168B-3FAE-48E0-8E92-0EF5ACAF0301}"/>
              </a:ext>
            </a:extLst>
          </p:cNvPr>
          <p:cNvSpPr/>
          <p:nvPr/>
        </p:nvSpPr>
        <p:spPr bwMode="auto">
          <a:xfrm>
            <a:off x="286977" y="2705100"/>
            <a:ext cx="4006056" cy="101600"/>
          </a:xfrm>
          <a:prstGeom prst="roundRect">
            <a:avLst/>
          </a:prstGeom>
          <a:solidFill>
            <a:srgbClr val="FF0000">
              <a:alpha val="10000"/>
            </a:srgbClr>
          </a:solidFill>
          <a:ln w="12700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굴림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7FE7A-F41D-42F7-B4EA-610240B7B543}"/>
              </a:ext>
            </a:extLst>
          </p:cNvPr>
          <p:cNvSpPr txBox="1"/>
          <p:nvPr/>
        </p:nvSpPr>
        <p:spPr>
          <a:xfrm>
            <a:off x="3892923" y="284162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>
                <a:solidFill>
                  <a:srgbClr val="FF0000"/>
                </a:solidFill>
              </a:rPr>
              <a:t>시작시간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00F4FC-95A4-4FE3-9DAD-AEAA2D73B6F9}"/>
              </a:ext>
            </a:extLst>
          </p:cNvPr>
          <p:cNvSpPr txBox="1"/>
          <p:nvPr/>
        </p:nvSpPr>
        <p:spPr>
          <a:xfrm>
            <a:off x="8273773" y="5054195"/>
            <a:ext cx="7873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rgbClr val="FF0000"/>
                </a:solidFill>
              </a:rPr>
              <a:t>종료시간</a:t>
            </a:r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EEA5B870-6DE8-4AC9-AA22-9E1453DF04CF}"/>
              </a:ext>
            </a:extLst>
          </p:cNvPr>
          <p:cNvSpPr txBox="1">
            <a:spLocks/>
          </p:cNvSpPr>
          <p:nvPr/>
        </p:nvSpPr>
        <p:spPr bwMode="auto">
          <a:xfrm>
            <a:off x="244475" y="5358586"/>
            <a:ext cx="1481137" cy="477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190500" indent="-1905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kumimoji="1" b="1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  <a:lvl2pPr marL="538163" indent="-1905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60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2pPr>
            <a:lvl3pPr marL="89693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3pPr>
            <a:lvl4pPr marL="1255713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4pPr>
            <a:lvl5pPr marL="1614488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400" b="0" kern="1200" baseline="0">
                <a:solidFill>
                  <a:schemeClr val="tx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Log Data</a:t>
            </a:r>
          </a:p>
        </p:txBody>
      </p:sp>
      <p:graphicFrame>
        <p:nvGraphicFramePr>
          <p:cNvPr id="31" name="개체 30">
            <a:extLst>
              <a:ext uri="{FF2B5EF4-FFF2-40B4-BE49-F238E27FC236}">
                <a16:creationId xmlns:a16="http://schemas.microsoft.com/office/drawing/2014/main" id="{7674FA3D-E2B2-4210-9F72-2B6F74092D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909398"/>
              </p:ext>
            </p:extLst>
          </p:nvPr>
        </p:nvGraphicFramePr>
        <p:xfrm>
          <a:off x="1714500" y="5658219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Macro-Enabled Worksheet" showAsIcon="1" r:id="rId5" imgW="914400" imgH="771525" progId="Excel.SheetMacroEnabled.12">
                  <p:embed/>
                </p:oleObj>
              </mc:Choice>
              <mc:Fallback>
                <p:oleObj name="Macro-Enabled Worksheet" showAsIcon="1" r:id="rId5" imgW="914400" imgH="771525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14500" y="5658219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9BE70EE-86AD-40D4-BFA5-A8CD0863DCCE}"/>
              </a:ext>
            </a:extLst>
          </p:cNvPr>
          <p:cNvSpPr txBox="1"/>
          <p:nvPr/>
        </p:nvSpPr>
        <p:spPr>
          <a:xfrm>
            <a:off x="3326296" y="5852241"/>
            <a:ext cx="307648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아이콘 클릭 시 로그데이터 파일로 연결됩니다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9A09A250-721C-4978-95F6-B1B553E5D575}"/>
              </a:ext>
            </a:extLst>
          </p:cNvPr>
          <p:cNvCxnSpPr/>
          <p:nvPr/>
        </p:nvCxnSpPr>
        <p:spPr bwMode="auto">
          <a:xfrm flipH="1">
            <a:off x="2756452" y="5983046"/>
            <a:ext cx="397565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sm" len="sm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52973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Aging</a:t>
            </a:r>
            <a:r>
              <a:rPr lang="ko-KR" altLang="en-US" dirty="0"/>
              <a:t> </a:t>
            </a:r>
            <a:r>
              <a:rPr lang="en-US" altLang="ko-KR" dirty="0"/>
              <a:t>Test</a:t>
            </a:r>
            <a:r>
              <a:rPr lang="ko-KR" altLang="en-US" dirty="0"/>
              <a:t> 결과</a:t>
            </a:r>
            <a:endParaRPr lang="en-US" altLang="ko-KR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>
          <a:xfrm>
            <a:off x="233363" y="981307"/>
            <a:ext cx="871537" cy="390293"/>
          </a:xfrm>
        </p:spPr>
        <p:txBody>
          <a:bodyPr/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3"/>
            <a:endParaRPr lang="en-US" altLang="ko-KR" dirty="0">
              <a:sym typeface="Wingdings" panose="05000000000000000000" pitchFamily="2" charset="2"/>
            </a:endParaRP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graphicFrame>
        <p:nvGraphicFramePr>
          <p:cNvPr id="3" name="표 6">
            <a:extLst>
              <a:ext uri="{FF2B5EF4-FFF2-40B4-BE49-F238E27FC236}">
                <a16:creationId xmlns:a16="http://schemas.microsoft.com/office/drawing/2014/main" id="{AAC5DC73-856F-4E54-B4CA-122F388A6B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972438"/>
              </p:ext>
            </p:extLst>
          </p:nvPr>
        </p:nvGraphicFramePr>
        <p:xfrm>
          <a:off x="412110" y="1671320"/>
          <a:ext cx="7975964" cy="1757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750524">
                  <a:extLst>
                    <a:ext uri="{9D8B030D-6E8A-4147-A177-3AD203B41FA5}">
                      <a16:colId xmlns:a16="http://schemas.microsoft.com/office/drawing/2014/main" val="770221474"/>
                    </a:ext>
                  </a:extLst>
                </a:gridCol>
                <a:gridCol w="1382331">
                  <a:extLst>
                    <a:ext uri="{9D8B030D-6E8A-4147-A177-3AD203B41FA5}">
                      <a16:colId xmlns:a16="http://schemas.microsoft.com/office/drawing/2014/main" val="3422626205"/>
                    </a:ext>
                  </a:extLst>
                </a:gridCol>
                <a:gridCol w="1550278">
                  <a:extLst>
                    <a:ext uri="{9D8B030D-6E8A-4147-A177-3AD203B41FA5}">
                      <a16:colId xmlns:a16="http://schemas.microsoft.com/office/drawing/2014/main" val="3332159094"/>
                    </a:ext>
                  </a:extLst>
                </a:gridCol>
                <a:gridCol w="1550279">
                  <a:extLst>
                    <a:ext uri="{9D8B030D-6E8A-4147-A177-3AD203B41FA5}">
                      <a16:colId xmlns:a16="http://schemas.microsoft.com/office/drawing/2014/main" val="945293442"/>
                    </a:ext>
                  </a:extLst>
                </a:gridCol>
                <a:gridCol w="735048">
                  <a:extLst>
                    <a:ext uri="{9D8B030D-6E8A-4147-A177-3AD203B41FA5}">
                      <a16:colId xmlns:a16="http://schemas.microsoft.com/office/drawing/2014/main" val="2791689451"/>
                    </a:ext>
                  </a:extLst>
                </a:gridCol>
                <a:gridCol w="1007504">
                  <a:extLst>
                    <a:ext uri="{9D8B030D-6E8A-4147-A177-3AD203B41FA5}">
                      <a16:colId xmlns:a16="http://schemas.microsoft.com/office/drawing/2014/main" val="9865268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Test </a:t>
                      </a:r>
                      <a:r>
                        <a:rPr lang="ko-KR" altLang="en-US" sz="1200" dirty="0"/>
                        <a:t>기간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1cycle </a:t>
                      </a:r>
                      <a:r>
                        <a:rPr lang="ko-KR" altLang="en-US" sz="1200" dirty="0"/>
                        <a:t> 총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명령어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명령어별 총 횟수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성공률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오류율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3192127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2020/10/08 17:46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~2020/10/12 09:43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(About 3.5 Days)</a:t>
                      </a:r>
                      <a:endParaRPr lang="ko-KR" altLang="en-US" sz="1400" dirty="0"/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4934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PC Time Setting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9868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100%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5738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SOH Request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9868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100%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1615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Script1(</a:t>
                      </a:r>
                      <a:r>
                        <a:rPr lang="en-US" altLang="ko-KR" sz="1400" dirty="0" err="1"/>
                        <a:t>Ionstart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4934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100%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22423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Script1(Restart)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4934</a:t>
                      </a:r>
                      <a:r>
                        <a:rPr lang="ko-KR" altLang="en-US" sz="1400" dirty="0"/>
                        <a:t>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100%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0%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55923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C67BF68-7391-47FC-9871-E733D355044C}"/>
              </a:ext>
            </a:extLst>
          </p:cNvPr>
          <p:cNvSpPr txBox="1"/>
          <p:nvPr/>
        </p:nvSpPr>
        <p:spPr>
          <a:xfrm>
            <a:off x="412110" y="3728720"/>
            <a:ext cx="784745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“PC Time Setting-&gt;SOH Request-&gt;Script1(</a:t>
            </a:r>
            <a:r>
              <a:rPr lang="en-US" altLang="ko-KR" sz="1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Ionstart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)-&gt;30s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휴식</a:t>
            </a:r>
            <a:endParaRPr lang="en-US" altLang="ko-KR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-&gt;PC Time Setting-&gt;SOH Request-&gt;Script1(Restart )-&gt;30s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휴식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”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을       </a:t>
            </a:r>
            <a:endParaRPr lang="en-US" altLang="ko-KR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cycle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로 구성</a:t>
            </a:r>
            <a:endParaRPr lang="en-US" altLang="ko-KR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8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3.5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일 정도 연속으로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aging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를 진행</a:t>
            </a:r>
            <a:endParaRPr lang="en-US" altLang="ko-KR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ko-KR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aging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결과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명령 송신 시 누락된 데이터나 해당 명령에 대한 응답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수신</a:t>
            </a:r>
            <a:r>
              <a:rPr lang="en-US" altLang="ko-KR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에 오류 없음을 확인 </a:t>
            </a:r>
            <a:endParaRPr lang="en-US" altLang="ko-KR" sz="1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9825283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42574</TotalTime>
  <Words>280</Words>
  <Application>Microsoft Office PowerPoint</Application>
  <PresentationFormat>화면 슬라이드 쇼(4:3)</PresentationFormat>
  <Paragraphs>81</Paragraphs>
  <Slides>4</Slides>
  <Notes>3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2" baseType="lpstr">
      <vt:lpstr>굴림</vt:lpstr>
      <vt:lpstr>맑은 고딕</vt:lpstr>
      <vt:lpstr>Arial</vt:lpstr>
      <vt:lpstr>Arial Black</vt:lpstr>
      <vt:lpstr>Times New Roman</vt:lpstr>
      <vt:lpstr>Wingdings</vt:lpstr>
      <vt:lpstr>기본 디자인</vt:lpstr>
      <vt:lpstr>Macro-Enabled Worksheet</vt:lpstr>
      <vt:lpstr>Aging Test 결과 보고서   ’20.10.12 Lumir</vt:lpstr>
      <vt:lpstr>Aging Test 결과 보고서</vt:lpstr>
      <vt:lpstr>ACK 수신 Log 분석 결과</vt:lpstr>
      <vt:lpstr>Aging Test 결과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최 상림</cp:lastModifiedBy>
  <cp:revision>1706</cp:revision>
  <cp:lastPrinted>2020-07-30T04:06:34Z</cp:lastPrinted>
  <dcterms:created xsi:type="dcterms:W3CDTF">1601-01-01T00:00:00Z</dcterms:created>
  <dcterms:modified xsi:type="dcterms:W3CDTF">2020-10-14T07:42:32Z</dcterms:modified>
</cp:coreProperties>
</file>