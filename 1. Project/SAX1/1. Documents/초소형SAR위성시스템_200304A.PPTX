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trictFirstAndLastChars="0" saveSubsetFonts="1">
  <p:sldMasterIdLst>
    <p:sldMasterId id="2147483648" r:id="rId1"/>
  </p:sldMasterIdLst>
  <p:notesMasterIdLst>
    <p:notesMasterId r:id="rId121"/>
  </p:notesMasterIdLst>
  <p:handoutMasterIdLst>
    <p:handoutMasterId r:id="rId122"/>
  </p:handoutMasterIdLst>
  <p:sldIdLst>
    <p:sldId id="1209" r:id="rId2"/>
    <p:sldId id="1545" r:id="rId3"/>
    <p:sldId id="1419" r:id="rId4"/>
    <p:sldId id="1480" r:id="rId5"/>
    <p:sldId id="1546" r:id="rId6"/>
    <p:sldId id="1481" r:id="rId7"/>
    <p:sldId id="1482" r:id="rId8"/>
    <p:sldId id="1453" r:id="rId9"/>
    <p:sldId id="1483" r:id="rId10"/>
    <p:sldId id="1420" r:id="rId11"/>
    <p:sldId id="1547" r:id="rId12"/>
    <p:sldId id="1548" r:id="rId13"/>
    <p:sldId id="1552" r:id="rId14"/>
    <p:sldId id="1544" r:id="rId15"/>
    <p:sldId id="1550" r:id="rId16"/>
    <p:sldId id="1553" r:id="rId17"/>
    <p:sldId id="1439" r:id="rId18"/>
    <p:sldId id="1456" r:id="rId19"/>
    <p:sldId id="1590" r:id="rId20"/>
    <p:sldId id="1418" r:id="rId21"/>
    <p:sldId id="1540" r:id="rId22"/>
    <p:sldId id="1556" r:id="rId23"/>
    <p:sldId id="1587" r:id="rId24"/>
    <p:sldId id="1586" r:id="rId25"/>
    <p:sldId id="1554" r:id="rId26"/>
    <p:sldId id="1588" r:id="rId27"/>
    <p:sldId id="1589" r:id="rId28"/>
    <p:sldId id="1591" r:id="rId29"/>
    <p:sldId id="1460" r:id="rId30"/>
    <p:sldId id="1461" r:id="rId31"/>
    <p:sldId id="1462" r:id="rId32"/>
    <p:sldId id="1541" r:id="rId33"/>
    <p:sldId id="1542" r:id="rId34"/>
    <p:sldId id="1543" r:id="rId35"/>
    <p:sldId id="1463" r:id="rId36"/>
    <p:sldId id="1464" r:id="rId37"/>
    <p:sldId id="1465" r:id="rId38"/>
    <p:sldId id="1467" r:id="rId39"/>
    <p:sldId id="1468" r:id="rId40"/>
    <p:sldId id="1469" r:id="rId41"/>
    <p:sldId id="1466" r:id="rId42"/>
    <p:sldId id="1470" r:id="rId43"/>
    <p:sldId id="1471" r:id="rId44"/>
    <p:sldId id="1472" r:id="rId45"/>
    <p:sldId id="1473" r:id="rId46"/>
    <p:sldId id="1474" r:id="rId47"/>
    <p:sldId id="1475" r:id="rId48"/>
    <p:sldId id="1476" r:id="rId49"/>
    <p:sldId id="1477" r:id="rId50"/>
    <p:sldId id="1478" r:id="rId51"/>
    <p:sldId id="1479" r:id="rId52"/>
    <p:sldId id="1440" r:id="rId53"/>
    <p:sldId id="1422" r:id="rId54"/>
    <p:sldId id="1424" r:id="rId55"/>
    <p:sldId id="1484" r:id="rId56"/>
    <p:sldId id="1443" r:id="rId57"/>
    <p:sldId id="1445" r:id="rId58"/>
    <p:sldId id="1446" r:id="rId59"/>
    <p:sldId id="1444" r:id="rId60"/>
    <p:sldId id="1447" r:id="rId61"/>
    <p:sldId id="1451" r:id="rId62"/>
    <p:sldId id="1448" r:id="rId63"/>
    <p:sldId id="1449" r:id="rId64"/>
    <p:sldId id="1450" r:id="rId65"/>
    <p:sldId id="1485" r:id="rId66"/>
    <p:sldId id="1486" r:id="rId67"/>
    <p:sldId id="1487" r:id="rId68"/>
    <p:sldId id="1531" r:id="rId69"/>
    <p:sldId id="1532" r:id="rId70"/>
    <p:sldId id="1533" r:id="rId71"/>
    <p:sldId id="1534" r:id="rId72"/>
    <p:sldId id="1535" r:id="rId73"/>
    <p:sldId id="1493" r:id="rId74"/>
    <p:sldId id="1494" r:id="rId75"/>
    <p:sldId id="1495" r:id="rId76"/>
    <p:sldId id="1496" r:id="rId77"/>
    <p:sldId id="1497" r:id="rId78"/>
    <p:sldId id="1536" r:id="rId79"/>
    <p:sldId id="1539" r:id="rId80"/>
    <p:sldId id="1437" r:id="rId81"/>
    <p:sldId id="1438" r:id="rId82"/>
    <p:sldId id="1455" r:id="rId83"/>
    <p:sldId id="1441" r:id="rId84"/>
    <p:sldId id="1498" r:id="rId85"/>
    <p:sldId id="1499" r:id="rId86"/>
    <p:sldId id="1500" r:id="rId87"/>
    <p:sldId id="1501" r:id="rId88"/>
    <p:sldId id="1502" r:id="rId89"/>
    <p:sldId id="1503" r:id="rId90"/>
    <p:sldId id="1504" r:id="rId91"/>
    <p:sldId id="1505" r:id="rId92"/>
    <p:sldId id="1427" r:id="rId93"/>
    <p:sldId id="1506" r:id="rId94"/>
    <p:sldId id="1507" r:id="rId95"/>
    <p:sldId id="1508" r:id="rId96"/>
    <p:sldId id="1428" r:id="rId97"/>
    <p:sldId id="1429" r:id="rId98"/>
    <p:sldId id="1509" r:id="rId99"/>
    <p:sldId id="1430" r:id="rId100"/>
    <p:sldId id="1514" r:id="rId101"/>
    <p:sldId id="1524" r:id="rId102"/>
    <p:sldId id="1525" r:id="rId103"/>
    <p:sldId id="1515" r:id="rId104"/>
    <p:sldId id="1516" r:id="rId105"/>
    <p:sldId id="1517" r:id="rId106"/>
    <p:sldId id="1518" r:id="rId107"/>
    <p:sldId id="1519" r:id="rId108"/>
    <p:sldId id="1520" r:id="rId109"/>
    <p:sldId id="1521" r:id="rId110"/>
    <p:sldId id="1522" r:id="rId111"/>
    <p:sldId id="1523" r:id="rId112"/>
    <p:sldId id="1510" r:id="rId113"/>
    <p:sldId id="1526" r:id="rId114"/>
    <p:sldId id="1527" r:id="rId115"/>
    <p:sldId id="1528" r:id="rId116"/>
    <p:sldId id="1529" r:id="rId117"/>
    <p:sldId id="1530" r:id="rId118"/>
    <p:sldId id="1511" r:id="rId119"/>
    <p:sldId id="1513" r:id="rId120"/>
  </p:sldIdLst>
  <p:sldSz cx="9144000" cy="6858000" type="screen4x3"/>
  <p:notesSz cx="6797675" cy="9926638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굴림" panose="020B0600000101010101" pitchFamily="50" charset="-127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굴림" panose="020B0600000101010101" pitchFamily="50" charset="-127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굴림" panose="020B0600000101010101" pitchFamily="50" charset="-127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굴림" panose="020B0600000101010101" pitchFamily="50" charset="-127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굴림" panose="020B0600000101010101" pitchFamily="50" charset="-127"/>
        <a:cs typeface="+mn-cs"/>
      </a:defRPr>
    </a:lvl6pPr>
    <a:lvl7pPr marL="2743200" algn="l" defTabSz="914400" rtl="0" eaLnBrk="1" latinLnBrk="1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굴림" panose="020B0600000101010101" pitchFamily="50" charset="-127"/>
        <a:cs typeface="+mn-cs"/>
      </a:defRPr>
    </a:lvl7pPr>
    <a:lvl8pPr marL="3200400" algn="l" defTabSz="914400" rtl="0" eaLnBrk="1" latinLnBrk="1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굴림" panose="020B0600000101010101" pitchFamily="50" charset="-127"/>
        <a:cs typeface="+mn-cs"/>
      </a:defRPr>
    </a:lvl8pPr>
    <a:lvl9pPr marL="3657600" algn="l" defTabSz="914400" rtl="0" eaLnBrk="1" latinLnBrk="1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굴림" panose="020B0600000101010101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7" userDrawn="1">
          <p15:clr>
            <a:srgbClr val="A4A3A4"/>
          </p15:clr>
        </p15:guide>
        <p15:guide id="2" pos="2141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B6DA5"/>
    <a:srgbClr val="009900"/>
    <a:srgbClr val="FFCC99"/>
    <a:srgbClr val="0000FF"/>
    <a:srgbClr val="00CC00"/>
    <a:srgbClr val="33CC33"/>
    <a:srgbClr val="F2F2F2"/>
    <a:srgbClr val="EFFFB3"/>
    <a:srgbClr val="63686C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0E3FDE45-AF77-4B5C-9715-49D594BDF05E}" styleName="밝은 스타일 1 - 강조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E8B1032C-EA38-4F05-BA0D-38AFFFC7BED3}" styleName="밝은 스타일 3 - 강조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68D230F3-CF80-4859-8CE7-A43EE81993B5}" styleName="밝은 스타일 1 - 강조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347" autoAdjust="0"/>
    <p:restoredTop sz="96362" autoAdjust="0"/>
  </p:normalViewPr>
  <p:slideViewPr>
    <p:cSldViewPr snapToGrid="0">
      <p:cViewPr varScale="1">
        <p:scale>
          <a:sx n="111" d="100"/>
          <a:sy n="111" d="100"/>
        </p:scale>
        <p:origin x="828" y="96"/>
      </p:cViewPr>
      <p:guideLst>
        <p:guide orient="horz" pos="2160"/>
        <p:guide pos="317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71" d="100"/>
          <a:sy n="71" d="100"/>
        </p:scale>
        <p:origin x="2400" y="60"/>
      </p:cViewPr>
      <p:guideLst>
        <p:guide orient="horz" pos="3127"/>
        <p:guide pos="214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13" Type="http://schemas.openxmlformats.org/officeDocument/2006/relationships/slide" Target="slides/slide112.xml"/><Relationship Id="rId118" Type="http://schemas.openxmlformats.org/officeDocument/2006/relationships/slide" Target="slides/slide117.xml"/><Relationship Id="rId12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16" Type="http://schemas.openxmlformats.org/officeDocument/2006/relationships/slide" Target="slides/slide115.xml"/><Relationship Id="rId124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11" Type="http://schemas.openxmlformats.org/officeDocument/2006/relationships/slide" Target="slides/slide11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theme" Target="theme/theme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1026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2"/>
            <a:ext cx="2946400" cy="4968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17" tIns="45709" rIns="91417" bIns="45709" numCol="1" anchor="t" anchorCtr="0" compatLnSpc="1">
            <a:prstTxWarp prst="textNoShape">
              <a:avLst/>
            </a:prstTxWarp>
          </a:bodyPr>
          <a:lstStyle>
            <a:lvl1pPr algn="l" eaLnBrk="1" latinLnBrk="1" hangingPunct="1">
              <a:defRPr sz="1200"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195" name="Rectangle 1027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51275" y="2"/>
            <a:ext cx="2946400" cy="4968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17" tIns="45709" rIns="91417" bIns="45709" numCol="1" anchor="t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196" name="Rectangle 1028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29751"/>
            <a:ext cx="2946400" cy="4968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17" tIns="45709" rIns="91417" bIns="45709" numCol="1" anchor="b" anchorCtr="0" compatLnSpc="1">
            <a:prstTxWarp prst="textNoShape">
              <a:avLst/>
            </a:prstTxWarp>
          </a:bodyPr>
          <a:lstStyle>
            <a:lvl1pPr algn="l" eaLnBrk="1" latinLnBrk="1" hangingPunct="1">
              <a:defRPr sz="1200"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197" name="Rectangle 1029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51275" y="9429751"/>
            <a:ext cx="2946400" cy="4968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17" tIns="45709" rIns="91417" bIns="45709" numCol="1" anchor="b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/>
            </a:lvl1pPr>
          </a:lstStyle>
          <a:p>
            <a:pPr>
              <a:defRPr/>
            </a:pPr>
            <a:fld id="{F0D0299D-B60A-4896-8397-6469664CBFF4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18598588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2"/>
            <a:ext cx="2946400" cy="4968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17" tIns="45709" rIns="91417" bIns="45709" numCol="1" anchor="t" anchorCtr="0" compatLnSpc="1">
            <a:prstTxWarp prst="textNoShape">
              <a:avLst/>
            </a:prstTxWarp>
          </a:bodyPr>
          <a:lstStyle>
            <a:lvl1pPr algn="l" eaLnBrk="1" latinLnBrk="1" hangingPunct="1">
              <a:defRPr sz="1200"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51275" y="2"/>
            <a:ext cx="2946400" cy="4968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17" tIns="45709" rIns="91417" bIns="45709" numCol="1" anchor="t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229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19163" y="744538"/>
            <a:ext cx="4962525" cy="37226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614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06464" y="4714878"/>
            <a:ext cx="4984750" cy="4467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17" tIns="45709" rIns="91417" bIns="4570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615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29751"/>
            <a:ext cx="2946400" cy="4968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17" tIns="45709" rIns="91417" bIns="45709" numCol="1" anchor="b" anchorCtr="0" compatLnSpc="1">
            <a:prstTxWarp prst="textNoShape">
              <a:avLst/>
            </a:prstTxWarp>
          </a:bodyPr>
          <a:lstStyle>
            <a:lvl1pPr algn="l" eaLnBrk="1" latinLnBrk="1" hangingPunct="1">
              <a:defRPr sz="1200"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15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1275" y="9429751"/>
            <a:ext cx="2946400" cy="4968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17" tIns="45709" rIns="91417" bIns="45709" numCol="1" anchor="b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/>
            </a:lvl1pPr>
          </a:lstStyle>
          <a:p>
            <a:pPr>
              <a:defRPr/>
            </a:pPr>
            <a:fld id="{F9CEF302-C0C4-41F5-9E57-DF55FCB3FB84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25877637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"/>
          <p:cNvPicPr>
            <a:picLocks noChangeAspect="1" noChangeArrowheads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398" name="Rectangle 38"/>
          <p:cNvSpPr>
            <a:spLocks noGrp="1" noChangeArrowheads="1"/>
          </p:cNvSpPr>
          <p:nvPr>
            <p:ph type="ctrTitle"/>
          </p:nvPr>
        </p:nvSpPr>
        <p:spPr>
          <a:xfrm>
            <a:off x="3006090" y="622300"/>
            <a:ext cx="5570220" cy="1470025"/>
          </a:xfrm>
        </p:spPr>
        <p:txBody>
          <a:bodyPr lIns="91440" tIns="45720" rIns="91440" bIns="45720"/>
          <a:lstStyle>
            <a:lvl1pPr>
              <a:defRPr sz="3000">
                <a:latin typeface="+mj-lt"/>
              </a:defRPr>
            </a:lvl1pPr>
          </a:lstStyle>
          <a:p>
            <a:pPr lvl="0"/>
            <a:r>
              <a:rPr lang="en-US" altLang="ko-KR" noProof="0" dirty="0"/>
              <a:t>Arial Black 30 font &amp; Bold</a:t>
            </a:r>
          </a:p>
        </p:txBody>
      </p:sp>
      <p:sp>
        <p:nvSpPr>
          <p:cNvPr id="15399" name="Rectangle 39"/>
          <p:cNvSpPr>
            <a:spLocks noGrp="1" noChangeArrowheads="1"/>
          </p:cNvSpPr>
          <p:nvPr>
            <p:ph type="subTitle" idx="1"/>
          </p:nvPr>
        </p:nvSpPr>
        <p:spPr>
          <a:xfrm>
            <a:off x="3006090" y="3886200"/>
            <a:ext cx="4766310" cy="1752600"/>
          </a:xfrm>
        </p:spPr>
        <p:txBody>
          <a:bodyPr lIns="91440" tIns="45720" rIns="91440" bIns="45720" anchor="ctr"/>
          <a:lstStyle>
            <a:lvl1pPr marL="0" indent="0" algn="ctr">
              <a:buFontTx/>
              <a:buNone/>
              <a:defRPr sz="2400"/>
            </a:lvl1pPr>
          </a:lstStyle>
          <a:p>
            <a:pPr lvl="0"/>
            <a:r>
              <a:rPr lang="en-US" altLang="ko-KR" noProof="0" dirty="0"/>
              <a:t>Arial 24 font &amp; Bold</a:t>
            </a:r>
          </a:p>
        </p:txBody>
      </p:sp>
      <p:pic>
        <p:nvPicPr>
          <p:cNvPr id="21" name="그림 20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969915" y="6510338"/>
            <a:ext cx="947582" cy="276225"/>
          </a:xfrm>
          <a:prstGeom prst="rect">
            <a:avLst/>
          </a:prstGeom>
        </p:spPr>
      </p:pic>
      <p:sp>
        <p:nvSpPr>
          <p:cNvPr id="23" name="Line 84"/>
          <p:cNvSpPr>
            <a:spLocks noChangeShapeType="1"/>
          </p:cNvSpPr>
          <p:nvPr userDrawn="1"/>
        </p:nvSpPr>
        <p:spPr bwMode="auto">
          <a:xfrm>
            <a:off x="230696" y="6842760"/>
            <a:ext cx="8913303" cy="0"/>
          </a:xfrm>
          <a:prstGeom prst="line">
            <a:avLst/>
          </a:prstGeom>
          <a:noFill/>
          <a:ln w="25400">
            <a:solidFill>
              <a:srgbClr val="000338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b="0"/>
          </a:p>
        </p:txBody>
      </p:sp>
    </p:spTree>
    <p:extLst>
      <p:ext uri="{BB962C8B-B14F-4D97-AF65-F5344CB8AC3E}">
        <p14:creationId xmlns:p14="http://schemas.microsoft.com/office/powerpoint/2010/main" val="3638125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>
            <a:lvl2pPr>
              <a:defRPr sz="1600"/>
            </a:lvl2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5036349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0"/>
          </p:nvPr>
        </p:nvSpPr>
        <p:spPr>
          <a:xfrm>
            <a:off x="3124200" y="6400800"/>
            <a:ext cx="2895600" cy="457200"/>
          </a:xfrm>
          <a:prstGeom prst="rect">
            <a:avLst/>
          </a:prstGeom>
        </p:spPr>
        <p:txBody>
          <a:bodyPr/>
          <a:lstStyle>
            <a:lvl1pPr algn="ctr" eaLnBrk="1" latinLnBrk="1" hangingPunct="1"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1"/>
          </p:nvPr>
        </p:nvSpPr>
        <p:spPr>
          <a:xfrm>
            <a:off x="7010400" y="6400800"/>
            <a:ext cx="1905000" cy="457200"/>
          </a:xfrm>
          <a:prstGeom prst="rect">
            <a:avLst/>
          </a:prstGeom>
        </p:spPr>
        <p:txBody>
          <a:bodyPr/>
          <a:lstStyle>
            <a:lvl1pPr algn="ctr" eaLnBrk="1" latinLnBrk="1" hangingPunct="1">
              <a:defRPr/>
            </a:lvl1pPr>
          </a:lstStyle>
          <a:p>
            <a:pPr>
              <a:defRPr/>
            </a:pPr>
            <a:r>
              <a:rPr lang="en-US" altLang="ko-KR"/>
              <a:t>K3-PDR-ID#-</a:t>
            </a:r>
            <a:fld id="{B5C1B240-8930-4347-9EDB-DB33EF9CA412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1547126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33363" y="981075"/>
            <a:ext cx="4256087" cy="524827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1850" y="981075"/>
            <a:ext cx="4257675" cy="524827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0"/>
          </p:nvPr>
        </p:nvSpPr>
        <p:spPr>
          <a:xfrm>
            <a:off x="3124200" y="6400800"/>
            <a:ext cx="2895600" cy="457200"/>
          </a:xfrm>
          <a:prstGeom prst="rect">
            <a:avLst/>
          </a:prstGeom>
        </p:spPr>
        <p:txBody>
          <a:bodyPr/>
          <a:lstStyle>
            <a:lvl1pPr algn="ctr" eaLnBrk="1" latinLnBrk="1" hangingPunct="1">
              <a:defRPr/>
            </a:lvl1pPr>
          </a:lstStyle>
          <a:p>
            <a:pPr>
              <a:defRPr/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7589555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바닥글 개체 틀 6"/>
          <p:cNvSpPr>
            <a:spLocks noGrp="1"/>
          </p:cNvSpPr>
          <p:nvPr>
            <p:ph type="ftr" sz="quarter" idx="10"/>
          </p:nvPr>
        </p:nvSpPr>
        <p:spPr>
          <a:xfrm>
            <a:off x="3124200" y="6400800"/>
            <a:ext cx="2895600" cy="457200"/>
          </a:xfrm>
          <a:prstGeom prst="rect">
            <a:avLst/>
          </a:prstGeom>
        </p:spPr>
        <p:txBody>
          <a:bodyPr/>
          <a:lstStyle>
            <a:lvl1pPr algn="ctr" eaLnBrk="1" latinLnBrk="1" hangingPunct="1"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" name="슬라이드 번호 개체 틀 7"/>
          <p:cNvSpPr>
            <a:spLocks noGrp="1"/>
          </p:cNvSpPr>
          <p:nvPr>
            <p:ph type="sldNum" sz="quarter" idx="11"/>
          </p:nvPr>
        </p:nvSpPr>
        <p:spPr>
          <a:xfrm>
            <a:off x="7010400" y="6400800"/>
            <a:ext cx="1905000" cy="457200"/>
          </a:xfrm>
          <a:prstGeom prst="rect">
            <a:avLst/>
          </a:prstGeom>
        </p:spPr>
        <p:txBody>
          <a:bodyPr/>
          <a:lstStyle>
            <a:lvl1pPr algn="ctr" eaLnBrk="1" latinLnBrk="1" hangingPunct="1">
              <a:defRPr/>
            </a:lvl1pPr>
          </a:lstStyle>
          <a:p>
            <a:pPr>
              <a:defRPr/>
            </a:pPr>
            <a:r>
              <a:rPr lang="en-US" altLang="ko-KR"/>
              <a:t>K3-PDR-ID#-</a:t>
            </a:r>
            <a:fld id="{054CD70C-7F67-4367-9FDF-206008AB283D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9" name="날짜 개체 틀 8"/>
          <p:cNvSpPr>
            <a:spLocks noGrp="1"/>
          </p:cNvSpPr>
          <p:nvPr>
            <p:ph type="dt" sz="half" idx="12"/>
          </p:nvPr>
        </p:nvSpPr>
        <p:spPr>
          <a:xfrm>
            <a:off x="152400" y="6510338"/>
            <a:ext cx="2743200" cy="381000"/>
          </a:xfrm>
          <a:prstGeom prst="rect">
            <a:avLst/>
          </a:prstGeom>
        </p:spPr>
        <p:txBody>
          <a:bodyPr/>
          <a:lstStyle>
            <a:lvl1pPr algn="ctr" eaLnBrk="1" latinLnBrk="1" hangingPunct="1">
              <a:defRPr/>
            </a:lvl1pPr>
          </a:lstStyle>
          <a:p>
            <a:pPr>
              <a:defRPr/>
            </a:pPr>
            <a:r>
              <a:rPr lang="en-US" altLang="ko-KR"/>
              <a:t>KOMPSAT-3 PDR</a:t>
            </a:r>
          </a:p>
          <a:p>
            <a:pPr>
              <a:defRPr/>
            </a:pPr>
            <a:r>
              <a:rPr lang="en-US" altLang="ko-KR"/>
              <a:t>[Title of Presentation] </a:t>
            </a:r>
          </a:p>
        </p:txBody>
      </p:sp>
    </p:spTree>
    <p:extLst>
      <p:ext uri="{BB962C8B-B14F-4D97-AF65-F5344CB8AC3E}">
        <p14:creationId xmlns:p14="http://schemas.microsoft.com/office/powerpoint/2010/main" val="23431389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0"/>
          </p:nvPr>
        </p:nvSpPr>
        <p:spPr>
          <a:xfrm>
            <a:off x="3124200" y="6400800"/>
            <a:ext cx="2895600" cy="457200"/>
          </a:xfrm>
          <a:prstGeom prst="rect">
            <a:avLst/>
          </a:prstGeom>
        </p:spPr>
        <p:txBody>
          <a:bodyPr/>
          <a:lstStyle>
            <a:lvl1pPr algn="ctr" eaLnBrk="1" latinLnBrk="1" hangingPunct="1"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>
          <a:xfrm>
            <a:off x="7010400" y="6400800"/>
            <a:ext cx="1905000" cy="457200"/>
          </a:xfrm>
          <a:prstGeom prst="rect">
            <a:avLst/>
          </a:prstGeom>
        </p:spPr>
        <p:txBody>
          <a:bodyPr/>
          <a:lstStyle>
            <a:lvl1pPr algn="ctr" eaLnBrk="1" latinLnBrk="1" hangingPunct="1">
              <a:defRPr/>
            </a:lvl1pPr>
          </a:lstStyle>
          <a:p>
            <a:pPr>
              <a:defRPr/>
            </a:pPr>
            <a:r>
              <a:rPr lang="en-US" altLang="ko-KR"/>
              <a:t>K3-PDR-ID#-</a:t>
            </a:r>
            <a:fld id="{DCE243E3-F0B5-437D-ADC4-C0F1BFD66930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2"/>
          </p:nvPr>
        </p:nvSpPr>
        <p:spPr>
          <a:xfrm>
            <a:off x="152400" y="6510338"/>
            <a:ext cx="2743200" cy="381000"/>
          </a:xfrm>
          <a:prstGeom prst="rect">
            <a:avLst/>
          </a:prstGeom>
        </p:spPr>
        <p:txBody>
          <a:bodyPr/>
          <a:lstStyle>
            <a:lvl1pPr algn="ctr" eaLnBrk="1" latinLnBrk="1" hangingPunct="1">
              <a:defRPr/>
            </a:lvl1pPr>
          </a:lstStyle>
          <a:p>
            <a:pPr>
              <a:defRPr/>
            </a:pPr>
            <a:r>
              <a:rPr lang="en-US" altLang="ko-KR"/>
              <a:t>KOMPSAT-3 PDR</a:t>
            </a:r>
          </a:p>
          <a:p>
            <a:pPr>
              <a:defRPr/>
            </a:pPr>
            <a:r>
              <a:rPr lang="en-US" altLang="ko-KR"/>
              <a:t>[Title of Presentation] </a:t>
            </a:r>
          </a:p>
        </p:txBody>
      </p:sp>
    </p:spTree>
    <p:extLst>
      <p:ext uri="{BB962C8B-B14F-4D97-AF65-F5344CB8AC3E}">
        <p14:creationId xmlns:p14="http://schemas.microsoft.com/office/powerpoint/2010/main" val="39188815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바닥글 개체 틀 1"/>
          <p:cNvSpPr>
            <a:spLocks noGrp="1"/>
          </p:cNvSpPr>
          <p:nvPr>
            <p:ph type="ftr" sz="quarter" idx="10"/>
          </p:nvPr>
        </p:nvSpPr>
        <p:spPr>
          <a:xfrm>
            <a:off x="3124200" y="6400800"/>
            <a:ext cx="2895600" cy="457200"/>
          </a:xfrm>
          <a:prstGeom prst="rect">
            <a:avLst/>
          </a:prstGeom>
        </p:spPr>
        <p:txBody>
          <a:bodyPr/>
          <a:lstStyle>
            <a:lvl1pPr algn="ctr" eaLnBrk="1" latinLnBrk="1" hangingPunct="1"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1"/>
          </p:nvPr>
        </p:nvSpPr>
        <p:spPr>
          <a:xfrm>
            <a:off x="7010400" y="6400800"/>
            <a:ext cx="1905000" cy="457200"/>
          </a:xfrm>
          <a:prstGeom prst="rect">
            <a:avLst/>
          </a:prstGeom>
        </p:spPr>
        <p:txBody>
          <a:bodyPr/>
          <a:lstStyle>
            <a:lvl1pPr algn="ctr" eaLnBrk="1" latinLnBrk="1" hangingPunct="1">
              <a:defRPr/>
            </a:lvl1pPr>
          </a:lstStyle>
          <a:p>
            <a:pPr>
              <a:defRPr/>
            </a:pPr>
            <a:r>
              <a:rPr lang="en-US" altLang="ko-KR"/>
              <a:t>K3-PDR-ID#-</a:t>
            </a:r>
            <a:fld id="{1E4831DA-CFB9-4C15-9A7C-5CCA7DDD4A0C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2"/>
          </p:nvPr>
        </p:nvSpPr>
        <p:spPr>
          <a:xfrm>
            <a:off x="152400" y="6510338"/>
            <a:ext cx="2743200" cy="381000"/>
          </a:xfrm>
          <a:prstGeom prst="rect">
            <a:avLst/>
          </a:prstGeom>
        </p:spPr>
        <p:txBody>
          <a:bodyPr/>
          <a:lstStyle>
            <a:lvl1pPr algn="ctr" eaLnBrk="1" latinLnBrk="1" hangingPunct="1">
              <a:defRPr/>
            </a:lvl1pPr>
          </a:lstStyle>
          <a:p>
            <a:pPr>
              <a:defRPr/>
            </a:pPr>
            <a:r>
              <a:rPr lang="en-US" altLang="ko-KR"/>
              <a:t>KOMPSAT-3 PDR</a:t>
            </a:r>
          </a:p>
          <a:p>
            <a:pPr>
              <a:defRPr/>
            </a:pPr>
            <a:r>
              <a:rPr lang="en-US" altLang="ko-KR"/>
              <a:t>[Title of Presentation] </a:t>
            </a:r>
          </a:p>
        </p:txBody>
      </p:sp>
    </p:spTree>
    <p:extLst>
      <p:ext uri="{BB962C8B-B14F-4D97-AF65-F5344CB8AC3E}">
        <p14:creationId xmlns:p14="http://schemas.microsoft.com/office/powerpoint/2010/main" val="15297772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0"/>
          </p:nvPr>
        </p:nvSpPr>
        <p:spPr>
          <a:xfrm>
            <a:off x="3124200" y="6400800"/>
            <a:ext cx="2895600" cy="457200"/>
          </a:xfrm>
          <a:prstGeom prst="rect">
            <a:avLst/>
          </a:prstGeom>
        </p:spPr>
        <p:txBody>
          <a:bodyPr/>
          <a:lstStyle>
            <a:lvl1pPr algn="ctr" eaLnBrk="1" latinLnBrk="1" hangingPunct="1">
              <a:defRPr/>
            </a:lvl1pPr>
          </a:lstStyle>
          <a:p>
            <a:pPr>
              <a:defRPr/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2487211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0"/>
          </p:nvPr>
        </p:nvSpPr>
        <p:spPr>
          <a:xfrm>
            <a:off x="3124200" y="6400800"/>
            <a:ext cx="2895600" cy="457200"/>
          </a:xfrm>
          <a:prstGeom prst="rect">
            <a:avLst/>
          </a:prstGeom>
        </p:spPr>
        <p:txBody>
          <a:bodyPr/>
          <a:lstStyle>
            <a:lvl1pPr algn="ctr" eaLnBrk="1" latinLnBrk="1" hangingPunct="1"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1"/>
          </p:nvPr>
        </p:nvSpPr>
        <p:spPr>
          <a:xfrm>
            <a:off x="7010400" y="6400800"/>
            <a:ext cx="1905000" cy="457200"/>
          </a:xfrm>
          <a:prstGeom prst="rect">
            <a:avLst/>
          </a:prstGeom>
        </p:spPr>
        <p:txBody>
          <a:bodyPr/>
          <a:lstStyle>
            <a:lvl1pPr algn="ctr" eaLnBrk="1" latinLnBrk="1" hangingPunct="1">
              <a:defRPr/>
            </a:lvl1pPr>
          </a:lstStyle>
          <a:p>
            <a:pPr>
              <a:defRPr/>
            </a:pPr>
            <a:r>
              <a:rPr lang="en-US" altLang="ko-KR"/>
              <a:t>K3-PDR-ID#-</a:t>
            </a:r>
            <a:fld id="{EF079343-1D4C-4350-8921-D61C8EBC7737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2"/>
          </p:nvPr>
        </p:nvSpPr>
        <p:spPr>
          <a:xfrm>
            <a:off x="152400" y="6510338"/>
            <a:ext cx="2743200" cy="381000"/>
          </a:xfrm>
          <a:prstGeom prst="rect">
            <a:avLst/>
          </a:prstGeom>
        </p:spPr>
        <p:txBody>
          <a:bodyPr/>
          <a:lstStyle>
            <a:lvl1pPr algn="ctr" eaLnBrk="1" latinLnBrk="1" hangingPunct="1">
              <a:defRPr/>
            </a:lvl1pPr>
          </a:lstStyle>
          <a:p>
            <a:pPr>
              <a:defRPr/>
            </a:pPr>
            <a:r>
              <a:rPr lang="en-US" altLang="ko-KR"/>
              <a:t>KOMPSAT-3 PDR</a:t>
            </a:r>
          </a:p>
          <a:p>
            <a:pPr>
              <a:defRPr/>
            </a:pPr>
            <a:r>
              <a:rPr lang="en-US" altLang="ko-KR"/>
              <a:t>[Title of Presentation] </a:t>
            </a:r>
          </a:p>
        </p:txBody>
      </p:sp>
    </p:spTree>
    <p:extLst>
      <p:ext uri="{BB962C8B-B14F-4D97-AF65-F5344CB8AC3E}">
        <p14:creationId xmlns:p14="http://schemas.microsoft.com/office/powerpoint/2010/main" val="34266018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0"/>
          </p:nvPr>
        </p:nvSpPr>
        <p:spPr>
          <a:xfrm>
            <a:off x="3124200" y="6400800"/>
            <a:ext cx="2895600" cy="457200"/>
          </a:xfrm>
          <a:prstGeom prst="rect">
            <a:avLst/>
          </a:prstGeom>
        </p:spPr>
        <p:txBody>
          <a:bodyPr/>
          <a:lstStyle>
            <a:lvl1pPr algn="ctr" eaLnBrk="1" latinLnBrk="1" hangingPunct="1">
              <a:defRPr/>
            </a:lvl1pPr>
          </a:lstStyle>
          <a:p>
            <a:pPr>
              <a:defRPr/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617053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734175" y="131763"/>
            <a:ext cx="2165350" cy="6097587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33363" y="131763"/>
            <a:ext cx="6348412" cy="6097587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0"/>
          </p:nvPr>
        </p:nvSpPr>
        <p:spPr>
          <a:xfrm>
            <a:off x="3124200" y="6400800"/>
            <a:ext cx="2895600" cy="457200"/>
          </a:xfrm>
          <a:prstGeom prst="rect">
            <a:avLst/>
          </a:prstGeom>
        </p:spPr>
        <p:txBody>
          <a:bodyPr/>
          <a:lstStyle>
            <a:lvl1pPr algn="ctr" eaLnBrk="1" latinLnBrk="1" hangingPunct="1"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1"/>
          </p:nvPr>
        </p:nvSpPr>
        <p:spPr>
          <a:xfrm>
            <a:off x="7010400" y="6400800"/>
            <a:ext cx="1905000" cy="457200"/>
          </a:xfrm>
          <a:prstGeom prst="rect">
            <a:avLst/>
          </a:prstGeom>
        </p:spPr>
        <p:txBody>
          <a:bodyPr/>
          <a:lstStyle>
            <a:lvl1pPr algn="ctr" eaLnBrk="1" latinLnBrk="1" hangingPunct="1">
              <a:defRPr/>
            </a:lvl1pPr>
          </a:lstStyle>
          <a:p>
            <a:pPr>
              <a:defRPr/>
            </a:pPr>
            <a:r>
              <a:rPr lang="en-US" altLang="ko-KR"/>
              <a:t>K3-PDR-ID#-</a:t>
            </a:r>
            <a:fld id="{FE64E568-A02E-4C51-8193-5D7193BC921C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6" name="날짜 개체 틀 5"/>
          <p:cNvSpPr>
            <a:spLocks noGrp="1"/>
          </p:cNvSpPr>
          <p:nvPr>
            <p:ph type="dt" sz="half" idx="12"/>
          </p:nvPr>
        </p:nvSpPr>
        <p:spPr>
          <a:xfrm>
            <a:off x="152400" y="6510338"/>
            <a:ext cx="2743200" cy="381000"/>
          </a:xfrm>
          <a:prstGeom prst="rect">
            <a:avLst/>
          </a:prstGeom>
        </p:spPr>
        <p:txBody>
          <a:bodyPr/>
          <a:lstStyle>
            <a:lvl1pPr algn="ctr" eaLnBrk="1" latinLnBrk="1" hangingPunct="1">
              <a:defRPr/>
            </a:lvl1pPr>
          </a:lstStyle>
          <a:p>
            <a:pPr>
              <a:defRPr/>
            </a:pPr>
            <a:r>
              <a:rPr lang="en-US" altLang="ko-KR"/>
              <a:t>KOMPSAT-3 PDR</a:t>
            </a:r>
          </a:p>
          <a:p>
            <a:pPr>
              <a:defRPr/>
            </a:pPr>
            <a:r>
              <a:rPr lang="en-US" altLang="ko-KR"/>
              <a:t>[Title of Presentation] </a:t>
            </a:r>
          </a:p>
        </p:txBody>
      </p:sp>
    </p:spTree>
    <p:extLst>
      <p:ext uri="{BB962C8B-B14F-4D97-AF65-F5344CB8AC3E}">
        <p14:creationId xmlns:p14="http://schemas.microsoft.com/office/powerpoint/2010/main" val="31935579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Line 82"/>
          <p:cNvSpPr>
            <a:spLocks noChangeShapeType="1"/>
          </p:cNvSpPr>
          <p:nvPr userDrawn="1"/>
        </p:nvSpPr>
        <p:spPr bwMode="auto">
          <a:xfrm>
            <a:off x="228600" y="6480175"/>
            <a:ext cx="8686800" cy="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b="0"/>
          </a:p>
        </p:txBody>
      </p:sp>
      <p:sp>
        <p:nvSpPr>
          <p:cNvPr id="1027" name="Line 84"/>
          <p:cNvSpPr>
            <a:spLocks noChangeShapeType="1"/>
          </p:cNvSpPr>
          <p:nvPr userDrawn="1"/>
        </p:nvSpPr>
        <p:spPr bwMode="auto">
          <a:xfrm>
            <a:off x="228600" y="6477000"/>
            <a:ext cx="8686800" cy="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b="0"/>
          </a:p>
        </p:txBody>
      </p:sp>
      <p:sp>
        <p:nvSpPr>
          <p:cNvPr id="1032" name="Rectangle 93"/>
          <p:cNvSpPr>
            <a:spLocks noGrp="1" noChangeArrowheads="1"/>
          </p:cNvSpPr>
          <p:nvPr>
            <p:ph type="title"/>
          </p:nvPr>
        </p:nvSpPr>
        <p:spPr bwMode="auto">
          <a:xfrm>
            <a:off x="228600" y="131763"/>
            <a:ext cx="6987540" cy="706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 dirty="0"/>
              <a:t>Arial 24 font &amp; bold</a:t>
            </a:r>
          </a:p>
        </p:txBody>
      </p:sp>
      <p:sp>
        <p:nvSpPr>
          <p:cNvPr id="1033" name="Rectangle 94"/>
          <p:cNvSpPr>
            <a:spLocks noGrp="1" noChangeArrowheads="1"/>
          </p:cNvSpPr>
          <p:nvPr>
            <p:ph type="body" idx="1"/>
          </p:nvPr>
        </p:nvSpPr>
        <p:spPr bwMode="auto">
          <a:xfrm>
            <a:off x="233363" y="981075"/>
            <a:ext cx="8666162" cy="5248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 dirty="0"/>
              <a:t>Arial 18 font &amp; bold</a:t>
            </a:r>
          </a:p>
          <a:p>
            <a:pPr lvl="1"/>
            <a:r>
              <a:rPr lang="en-US" altLang="ko-KR" dirty="0"/>
              <a:t>Arial 16 font &amp; bold</a:t>
            </a:r>
            <a:endParaRPr lang="ko-KR" altLang="en-US" dirty="0"/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1035" name="Text Box 86"/>
          <p:cNvSpPr txBox="1">
            <a:spLocks noChangeArrowheads="1"/>
          </p:cNvSpPr>
          <p:nvPr userDrawn="1"/>
        </p:nvSpPr>
        <p:spPr bwMode="auto">
          <a:xfrm>
            <a:off x="3829050" y="6510338"/>
            <a:ext cx="1485900" cy="276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 algn="ctr">
                <a:solidFill>
                  <a:schemeClr val="accent2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ctr" latinLnBrk="1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1pPr>
            <a:lvl2pPr marL="742950" indent="-285750" algn="ctr" latinLnBrk="1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2pPr>
            <a:lvl3pPr marL="1143000" indent="-228600" algn="ctr" latinLnBrk="1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3pPr>
            <a:lvl4pPr marL="1600200" indent="-228600" algn="ctr" latinLnBrk="1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4pPr>
            <a:lvl5pPr marL="2057400" indent="-228600" algn="ctr" latinLnBrk="1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fld id="{BD253322-42C0-4748-AAA5-F0068379097A}" type="slidenum">
              <a:rPr lang="en-US" altLang="ko-KR" sz="1200" b="0" smtClean="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  <a:cs typeface="Arial" panose="020B0604020202020204" pitchFamily="34" charset="0"/>
              </a:rPr>
              <a:pPr algn="ctr" eaLnBrk="1" hangingPunct="1">
                <a:spcBef>
                  <a:spcPct val="50000"/>
                </a:spcBef>
                <a:defRPr/>
              </a:pPr>
              <a:t>‹#›</a:t>
            </a:fld>
            <a:endParaRPr lang="en-US" altLang="ko-KR" sz="1200" b="0" dirty="0">
              <a:solidFill>
                <a:schemeClr val="tx1"/>
              </a:solidFill>
              <a:latin typeface="Arial" panose="020B0604020202020204" pitchFamily="34" charset="0"/>
              <a:ea typeface="바탕체" panose="02030609000101010101" pitchFamily="17" charset="-127"/>
              <a:cs typeface="Arial" panose="020B0604020202020204" pitchFamily="34" charset="0"/>
            </a:endParaRPr>
          </a:p>
        </p:txBody>
      </p:sp>
      <p:pic>
        <p:nvPicPr>
          <p:cNvPr id="3" name="그림 2"/>
          <p:cNvPicPr>
            <a:picLocks noChangeAspect="1"/>
          </p:cNvPicPr>
          <p:nvPr userDrawn="1"/>
        </p:nvPicPr>
        <p:blipFill>
          <a:blip r:embed="rId1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969915" y="6510338"/>
            <a:ext cx="947582" cy="276225"/>
          </a:xfrm>
          <a:prstGeom prst="rect">
            <a:avLst/>
          </a:prstGeom>
        </p:spPr>
      </p:pic>
      <p:sp>
        <p:nvSpPr>
          <p:cNvPr id="16" name="Line 89"/>
          <p:cNvSpPr>
            <a:spLocks noChangeShapeType="1"/>
          </p:cNvSpPr>
          <p:nvPr userDrawn="1"/>
        </p:nvSpPr>
        <p:spPr bwMode="auto">
          <a:xfrm flipV="1">
            <a:off x="228600" y="876300"/>
            <a:ext cx="8686800" cy="0"/>
          </a:xfrm>
          <a:prstGeom prst="line">
            <a:avLst/>
          </a:prstGeom>
          <a:noFill/>
          <a:ln w="57150">
            <a:gradFill flip="none" rotWithShape="1">
              <a:gsLst>
                <a:gs pos="0">
                  <a:schemeClr val="accent6"/>
                </a:gs>
                <a:gs pos="50000">
                  <a:schemeClr val="accent6">
                    <a:lumMod val="22000"/>
                    <a:lumOff val="78000"/>
                  </a:schemeClr>
                </a:gs>
                <a:gs pos="100000">
                  <a:srgbClr val="7030A0"/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0" scaled="1"/>
              <a:tileRect/>
            </a:gra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6" r:id="rId1"/>
    <p:sldLayoutId id="2147483755" r:id="rId2"/>
    <p:sldLayoutId id="2147483757" r:id="rId3"/>
    <p:sldLayoutId id="2147483758" r:id="rId4"/>
    <p:sldLayoutId id="2147483759" r:id="rId5"/>
    <p:sldLayoutId id="2147483760" r:id="rId6"/>
    <p:sldLayoutId id="2147483761" r:id="rId7"/>
    <p:sldLayoutId id="2147483762" r:id="rId8"/>
    <p:sldLayoutId id="2147483763" r:id="rId9"/>
    <p:sldLayoutId id="2147483764" r:id="rId10"/>
    <p:sldLayoutId id="2147483765" r:id="rId11"/>
  </p:sldLayoutIdLst>
  <p:hf hdr="0" ftr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2400" b="1" kern="1200" baseline="0">
          <a:solidFill>
            <a:schemeClr val="tx2"/>
          </a:solidFill>
          <a:latin typeface="Arial" panose="020B0604020202020204" pitchFamily="34" charset="0"/>
          <a:ea typeface="맑은 고딕" panose="020B0503020000020004" pitchFamily="50" charset="-127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kumimoji="1" sz="2400" b="1">
          <a:solidFill>
            <a:schemeClr val="tx2"/>
          </a:solidFill>
          <a:latin typeface="Arial" panose="020B0604020202020204" pitchFamily="34" charset="0"/>
          <a:ea typeface="굴림" panose="020B0600000101010101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kumimoji="1" sz="2400" b="1">
          <a:solidFill>
            <a:schemeClr val="tx2"/>
          </a:solidFill>
          <a:latin typeface="Arial" panose="020B0604020202020204" pitchFamily="34" charset="0"/>
          <a:ea typeface="굴림" panose="020B0600000101010101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kumimoji="1" sz="2400" b="1">
          <a:solidFill>
            <a:schemeClr val="tx2"/>
          </a:solidFill>
          <a:latin typeface="Arial" panose="020B0604020202020204" pitchFamily="34" charset="0"/>
          <a:ea typeface="굴림" panose="020B0600000101010101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kumimoji="1" sz="2400" b="1">
          <a:solidFill>
            <a:schemeClr val="tx2"/>
          </a:solidFill>
          <a:latin typeface="Arial" panose="020B0604020202020204" pitchFamily="34" charset="0"/>
          <a:ea typeface="굴림" panose="020B0600000101010101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kumimoji="1" sz="2400" b="1">
          <a:solidFill>
            <a:schemeClr val="tx2"/>
          </a:solidFill>
          <a:latin typeface="Arial" panose="020B0604020202020204" pitchFamily="34" charset="0"/>
          <a:ea typeface="굴림" panose="020B0600000101010101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kumimoji="1" sz="2400" b="1">
          <a:solidFill>
            <a:schemeClr val="tx2"/>
          </a:solidFill>
          <a:latin typeface="Arial" panose="020B0604020202020204" pitchFamily="34" charset="0"/>
          <a:ea typeface="굴림" panose="020B0600000101010101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kumimoji="1" sz="2400" b="1">
          <a:solidFill>
            <a:schemeClr val="tx2"/>
          </a:solidFill>
          <a:latin typeface="Arial" panose="020B0604020202020204" pitchFamily="34" charset="0"/>
          <a:ea typeface="굴림" panose="020B0600000101010101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kumimoji="1" sz="2400" b="1">
          <a:solidFill>
            <a:schemeClr val="tx2"/>
          </a:solidFill>
          <a:latin typeface="Arial" panose="020B0604020202020204" pitchFamily="34" charset="0"/>
          <a:ea typeface="굴림" panose="020B0600000101010101" pitchFamily="50" charset="-127"/>
        </a:defRPr>
      </a:lvl9pPr>
    </p:titleStyle>
    <p:bodyStyle>
      <a:lvl1pPr marL="190500" indent="-190500" algn="l" rtl="0" eaLnBrk="0" fontAlgn="base" latinLnBrk="1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kumimoji="1" b="1" kern="1200" baseline="0">
          <a:solidFill>
            <a:schemeClr val="tx1"/>
          </a:solidFill>
          <a:latin typeface="Arial" panose="020B0604020202020204" pitchFamily="34" charset="0"/>
          <a:ea typeface="맑은 고딕" panose="020B0503020000020004" pitchFamily="50" charset="-127"/>
          <a:cs typeface="+mn-cs"/>
        </a:defRPr>
      </a:lvl1pPr>
      <a:lvl2pPr marL="538163" indent="-1905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1600" kern="1200" baseline="0">
          <a:solidFill>
            <a:schemeClr val="tx1"/>
          </a:solidFill>
          <a:latin typeface="Arial" panose="020B0604020202020204" pitchFamily="34" charset="0"/>
          <a:ea typeface="맑은 고딕" panose="020B0503020000020004" pitchFamily="50" charset="-127"/>
          <a:cs typeface="+mn-cs"/>
        </a:defRPr>
      </a:lvl2pPr>
      <a:lvl3pPr marL="896938" indent="-2286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1600" b="0" kern="1200" baseline="0">
          <a:solidFill>
            <a:schemeClr val="tx1"/>
          </a:solidFill>
          <a:latin typeface="Arial" panose="020B0604020202020204" pitchFamily="34" charset="0"/>
          <a:ea typeface="맑은 고딕" panose="020B0503020000020004" pitchFamily="50" charset="-127"/>
          <a:cs typeface="+mn-cs"/>
        </a:defRPr>
      </a:lvl3pPr>
      <a:lvl4pPr marL="1255713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1400" b="0" kern="1200" baseline="0">
          <a:solidFill>
            <a:schemeClr val="tx1"/>
          </a:solidFill>
          <a:latin typeface="Arial" panose="020B0604020202020204" pitchFamily="34" charset="0"/>
          <a:ea typeface="맑은 고딕" panose="020B0503020000020004" pitchFamily="50" charset="-127"/>
          <a:cs typeface="+mn-cs"/>
        </a:defRPr>
      </a:lvl4pPr>
      <a:lvl5pPr marL="1614488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1400" b="0" kern="1200" baseline="0">
          <a:solidFill>
            <a:schemeClr val="tx1"/>
          </a:solidFill>
          <a:latin typeface="Arial" panose="020B0604020202020204" pitchFamily="34" charset="0"/>
          <a:ea typeface="맑은 고딕" panose="020B0503020000020004" pitchFamily="50" charset="-127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0.png"/><Relationship Id="rId2" Type="http://schemas.openxmlformats.org/officeDocument/2006/relationships/image" Target="../media/image190.pn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2722906" y="1958975"/>
            <a:ext cx="6137910" cy="1594121"/>
          </a:xfrm>
        </p:spPr>
        <p:txBody>
          <a:bodyPr/>
          <a:lstStyle/>
          <a:p>
            <a:pPr algn="ctr"/>
            <a:r>
              <a:rPr lang="ko-KR" altLang="en-US" sz="3600" dirty="0"/>
              <a:t>초소형 </a:t>
            </a:r>
            <a:r>
              <a:rPr lang="en-US" altLang="ko-KR" sz="3600" dirty="0"/>
              <a:t>SAR </a:t>
            </a:r>
            <a:r>
              <a:rPr lang="ko-KR" altLang="en-US" sz="3600" dirty="0"/>
              <a:t>위성 시스템</a:t>
            </a:r>
            <a:endParaRPr lang="ko-KR" altLang="en-US" sz="2400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2722906" y="5094514"/>
            <a:ext cx="6137910" cy="907558"/>
          </a:xfrm>
        </p:spPr>
        <p:txBody>
          <a:bodyPr/>
          <a:lstStyle/>
          <a:p>
            <a:r>
              <a:rPr lang="en-US" altLang="ko-KR" dirty="0"/>
              <a:t>2020. 03. 05</a:t>
            </a:r>
          </a:p>
        </p:txBody>
      </p:sp>
    </p:spTree>
    <p:extLst>
      <p:ext uri="{BB962C8B-B14F-4D97-AF65-F5344CB8AC3E}">
        <p14:creationId xmlns:p14="http://schemas.microsoft.com/office/powerpoint/2010/main" val="31367639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Agenda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Project Overview</a:t>
            </a:r>
          </a:p>
          <a:p>
            <a:pPr lvl="1"/>
            <a:r>
              <a:rPr lang="en-US" altLang="ko-KR" dirty="0"/>
              <a:t>Mission Objective</a:t>
            </a:r>
          </a:p>
          <a:p>
            <a:pPr lvl="1"/>
            <a:r>
              <a:rPr lang="en-US" altLang="ko-KR" dirty="0"/>
              <a:t>Satellite Configuration</a:t>
            </a:r>
          </a:p>
          <a:p>
            <a:pPr lvl="1"/>
            <a:r>
              <a:rPr lang="en-US" altLang="ko-KR" dirty="0"/>
              <a:t>Development Baseline</a:t>
            </a:r>
          </a:p>
          <a:p>
            <a:pPr lvl="1"/>
            <a:r>
              <a:rPr lang="en-US" altLang="ko-KR" dirty="0"/>
              <a:t>Major Milestone</a:t>
            </a:r>
          </a:p>
          <a:p>
            <a:pPr lvl="1"/>
            <a:r>
              <a:rPr lang="en-US" altLang="ko-KR" dirty="0"/>
              <a:t>Roles &amp; Responsibility</a:t>
            </a:r>
          </a:p>
          <a:p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1706478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Agenda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System Overview </a:t>
            </a:r>
          </a:p>
          <a:p>
            <a:pPr lvl="1"/>
            <a:r>
              <a:rPr lang="en-US" altLang="ko-KR" dirty="0"/>
              <a:t>Concept of Operations</a:t>
            </a:r>
          </a:p>
          <a:p>
            <a:pPr lvl="1"/>
            <a:r>
              <a:rPr lang="en-US" altLang="ko-KR" dirty="0"/>
              <a:t>H/W Development Baseline </a:t>
            </a:r>
          </a:p>
          <a:p>
            <a:pPr lvl="2"/>
            <a:r>
              <a:rPr lang="en-US" altLang="ko-KR" dirty="0"/>
              <a:t>Development Model Concept</a:t>
            </a:r>
          </a:p>
          <a:p>
            <a:pPr lvl="2"/>
            <a:r>
              <a:rPr lang="en-US" altLang="ko-KR" dirty="0"/>
              <a:t>Redundancy Concept</a:t>
            </a:r>
          </a:p>
          <a:p>
            <a:pPr lvl="1"/>
            <a:r>
              <a:rPr lang="en-US" altLang="ko-KR" dirty="0"/>
              <a:t>Satellite Architecture </a:t>
            </a:r>
          </a:p>
          <a:p>
            <a:pPr lvl="1"/>
            <a:r>
              <a:rPr lang="en-US" altLang="ko-KR" dirty="0"/>
              <a:t>Payload Architecture</a:t>
            </a:r>
          </a:p>
          <a:p>
            <a:pPr lvl="1"/>
            <a:r>
              <a:rPr lang="en-US" altLang="ko-KR" dirty="0"/>
              <a:t>Spacecraft</a:t>
            </a:r>
          </a:p>
          <a:p>
            <a:pPr lvl="1"/>
            <a:r>
              <a:rPr lang="en-US" altLang="ko-KR" dirty="0"/>
              <a:t>Ground Segment</a:t>
            </a:r>
          </a:p>
          <a:p>
            <a:pPr lvl="1"/>
            <a:r>
              <a:rPr lang="en-US" altLang="ko-KR" dirty="0"/>
              <a:t>Launch Vehicle</a:t>
            </a:r>
          </a:p>
          <a:p>
            <a:pPr lvl="2"/>
            <a:r>
              <a:rPr lang="en-US" altLang="ko-KR" dirty="0"/>
              <a:t>Bidding Schedule for Launch Vehicle Selection</a:t>
            </a:r>
          </a:p>
        </p:txBody>
      </p:sp>
    </p:spTree>
    <p:extLst>
      <p:ext uri="{BB962C8B-B14F-4D97-AF65-F5344CB8AC3E}">
        <p14:creationId xmlns:p14="http://schemas.microsoft.com/office/powerpoint/2010/main" val="21021259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Agenda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Concept of Operation</a:t>
            </a:r>
          </a:p>
          <a:p>
            <a:pPr lvl="1"/>
            <a:r>
              <a:rPr lang="en-US" altLang="ko-KR" dirty="0"/>
              <a:t>System Operations Overview</a:t>
            </a:r>
          </a:p>
          <a:p>
            <a:pPr lvl="1"/>
            <a:r>
              <a:rPr lang="en-US" altLang="ko-KR" dirty="0"/>
              <a:t>Orbit Design and Characteristics</a:t>
            </a:r>
          </a:p>
          <a:p>
            <a:pPr lvl="2"/>
            <a:r>
              <a:rPr lang="en-US" altLang="ko-KR" dirty="0"/>
              <a:t>Mission Orbit</a:t>
            </a:r>
          </a:p>
          <a:p>
            <a:pPr lvl="2"/>
            <a:r>
              <a:rPr lang="en-US" altLang="ko-KR" dirty="0"/>
              <a:t>Ascending Node Pass (Dawn)</a:t>
            </a:r>
          </a:p>
          <a:p>
            <a:pPr lvl="2"/>
            <a:r>
              <a:rPr lang="en-US" altLang="ko-KR" dirty="0"/>
              <a:t>Ascending Node Pass (Dusk)</a:t>
            </a:r>
          </a:p>
          <a:p>
            <a:pPr lvl="2"/>
            <a:r>
              <a:rPr lang="en-US" altLang="ko-KR" dirty="0"/>
              <a:t>GS Contact Characteristics</a:t>
            </a:r>
          </a:p>
          <a:p>
            <a:pPr lvl="1"/>
            <a:r>
              <a:rPr lang="en-US" altLang="ko-KR" dirty="0"/>
              <a:t>System Operation</a:t>
            </a:r>
          </a:p>
          <a:p>
            <a:pPr lvl="2"/>
            <a:r>
              <a:rPr lang="en-US" altLang="ko-KR" dirty="0"/>
              <a:t>System Operation Phase</a:t>
            </a:r>
          </a:p>
          <a:p>
            <a:pPr lvl="2"/>
            <a:r>
              <a:rPr lang="en-US" altLang="ko-KR" dirty="0"/>
              <a:t>Satellite Operation Mode</a:t>
            </a:r>
          </a:p>
          <a:p>
            <a:pPr lvl="1"/>
            <a:r>
              <a:rPr lang="en-US" altLang="ko-KR" dirty="0"/>
              <a:t>Payload Operation Mode</a:t>
            </a:r>
          </a:p>
          <a:p>
            <a:pPr lvl="1"/>
            <a:r>
              <a:rPr lang="en-US" altLang="ko-KR" dirty="0"/>
              <a:t>GS Operation</a:t>
            </a:r>
          </a:p>
          <a:p>
            <a:pPr lvl="2"/>
            <a:r>
              <a:rPr lang="en-US" altLang="ko-KR" dirty="0"/>
              <a:t>Mission Planning and Scheduling</a:t>
            </a:r>
          </a:p>
          <a:p>
            <a:pPr lvl="2"/>
            <a:r>
              <a:rPr lang="en-US" altLang="ko-KR" dirty="0"/>
              <a:t>Command and Control</a:t>
            </a:r>
          </a:p>
          <a:p>
            <a:pPr lvl="2"/>
            <a:r>
              <a:rPr lang="en-US" altLang="ko-KR" dirty="0"/>
              <a:t>Telemetry Reception and Processing</a:t>
            </a:r>
          </a:p>
          <a:p>
            <a:pPr lvl="2"/>
            <a:r>
              <a:rPr lang="en-US" altLang="ko-KR" dirty="0"/>
              <a:t>Mission Support Operations</a:t>
            </a:r>
          </a:p>
          <a:p>
            <a:pPr lvl="2"/>
            <a:r>
              <a:rPr lang="en-US" altLang="ko-KR" dirty="0"/>
              <a:t>Flight Dynamics Operations</a:t>
            </a:r>
          </a:p>
          <a:p>
            <a:pPr lvl="2"/>
            <a:r>
              <a:rPr lang="en-US" altLang="ko-KR" dirty="0"/>
              <a:t>Payload Data Collection, Processing, and Production Generation</a:t>
            </a:r>
          </a:p>
          <a:p>
            <a:pPr lvl="2"/>
            <a:r>
              <a:rPr lang="en-US" altLang="ko-KR" dirty="0"/>
              <a:t>Calibration and Validation Operation</a:t>
            </a:r>
          </a:p>
        </p:txBody>
      </p:sp>
    </p:spTree>
    <p:extLst>
      <p:ext uri="{BB962C8B-B14F-4D97-AF65-F5344CB8AC3E}">
        <p14:creationId xmlns:p14="http://schemas.microsoft.com/office/powerpoint/2010/main" val="26626568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Agenda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Mission Analysis</a:t>
            </a:r>
          </a:p>
          <a:p>
            <a:pPr lvl="1"/>
            <a:r>
              <a:rPr lang="en-US" altLang="ko-KR" dirty="0"/>
              <a:t>Orbit Analysis</a:t>
            </a:r>
          </a:p>
          <a:p>
            <a:pPr lvl="1"/>
            <a:r>
              <a:rPr lang="en-US" altLang="ko-KR" dirty="0"/>
              <a:t>Attitude Analysis</a:t>
            </a:r>
          </a:p>
          <a:p>
            <a:pPr lvl="1"/>
            <a:r>
              <a:rPr lang="en-US" altLang="ko-KR" dirty="0"/>
              <a:t>Energy Balance Analysis</a:t>
            </a:r>
          </a:p>
          <a:p>
            <a:pPr lvl="1"/>
            <a:r>
              <a:rPr lang="en-US" altLang="ko-KR" dirty="0"/>
              <a:t>Link Analysis</a:t>
            </a:r>
          </a:p>
          <a:p>
            <a:pPr lvl="1"/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899080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Agenda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System Engineering</a:t>
            </a:r>
          </a:p>
          <a:p>
            <a:pPr lvl="1"/>
            <a:r>
              <a:rPr lang="en-US" altLang="ko-KR" dirty="0"/>
              <a:t>Specification Tree</a:t>
            </a:r>
          </a:p>
          <a:p>
            <a:pPr lvl="1"/>
            <a:r>
              <a:rPr lang="en-US" altLang="ko-KR" dirty="0"/>
              <a:t>System Requirements</a:t>
            </a:r>
          </a:p>
          <a:p>
            <a:pPr lvl="2"/>
            <a:r>
              <a:rPr lang="en-US" altLang="ko-KR" dirty="0"/>
              <a:t>Requirements Allocation</a:t>
            </a:r>
          </a:p>
          <a:p>
            <a:pPr lvl="2"/>
            <a:r>
              <a:rPr lang="en-US" altLang="ko-KR" dirty="0"/>
              <a:t>TBD/TBR/TBC List</a:t>
            </a:r>
          </a:p>
          <a:p>
            <a:pPr lvl="1"/>
            <a:r>
              <a:rPr lang="en-US" altLang="ko-KR" dirty="0"/>
              <a:t>System Budget Control</a:t>
            </a:r>
          </a:p>
          <a:p>
            <a:pPr lvl="2"/>
            <a:r>
              <a:rPr lang="en-US" altLang="ko-KR" dirty="0"/>
              <a:t>Definition and Allocation</a:t>
            </a:r>
          </a:p>
          <a:p>
            <a:pPr lvl="2"/>
            <a:r>
              <a:rPr lang="en-US" altLang="ko-KR" dirty="0"/>
              <a:t>Image Quality Budget</a:t>
            </a:r>
          </a:p>
          <a:p>
            <a:pPr lvl="2"/>
            <a:r>
              <a:rPr lang="en-US" altLang="ko-KR" dirty="0"/>
              <a:t>Pointing Budget</a:t>
            </a:r>
          </a:p>
          <a:p>
            <a:pPr lvl="2"/>
            <a:r>
              <a:rPr lang="en-US" altLang="ko-KR" dirty="0"/>
              <a:t>Mass Budget</a:t>
            </a:r>
          </a:p>
          <a:p>
            <a:pPr lvl="2"/>
            <a:r>
              <a:rPr lang="en-US" altLang="ko-KR" dirty="0"/>
              <a:t>Power Budget</a:t>
            </a:r>
          </a:p>
          <a:p>
            <a:pPr lvl="2"/>
            <a:r>
              <a:rPr lang="en-US" altLang="ko-KR" dirty="0"/>
              <a:t>S-band Link Budget</a:t>
            </a:r>
          </a:p>
          <a:p>
            <a:pPr lvl="2"/>
            <a:r>
              <a:rPr lang="en-US" altLang="ko-KR" dirty="0"/>
              <a:t>X-band Link Budget</a:t>
            </a:r>
          </a:p>
          <a:p>
            <a:pPr lvl="2"/>
            <a:r>
              <a:rPr lang="en-US" altLang="ko-KR" dirty="0"/>
              <a:t>Propellant Budget</a:t>
            </a:r>
          </a:p>
          <a:p>
            <a:pPr lvl="2"/>
            <a:r>
              <a:rPr lang="en-US" altLang="ko-KR" dirty="0"/>
              <a:t>Reliability</a:t>
            </a:r>
          </a:p>
        </p:txBody>
      </p:sp>
    </p:spTree>
    <p:extLst>
      <p:ext uri="{BB962C8B-B14F-4D97-AF65-F5344CB8AC3E}">
        <p14:creationId xmlns:p14="http://schemas.microsoft.com/office/powerpoint/2010/main" val="33054809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Agenda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System Engineering (Cont'd)</a:t>
            </a:r>
          </a:p>
          <a:p>
            <a:pPr lvl="1"/>
            <a:r>
              <a:rPr lang="en-US" altLang="ko-KR" dirty="0"/>
              <a:t>Interface</a:t>
            </a:r>
          </a:p>
          <a:p>
            <a:pPr lvl="2"/>
            <a:r>
              <a:rPr lang="en-US" altLang="ko-KR" dirty="0"/>
              <a:t>Interface between Payload and Spacecraft Bus</a:t>
            </a:r>
          </a:p>
          <a:p>
            <a:pPr lvl="2"/>
            <a:r>
              <a:rPr lang="en-US" altLang="ko-KR" dirty="0"/>
              <a:t>Launch Vehicle Selection and Interface</a:t>
            </a:r>
          </a:p>
          <a:p>
            <a:pPr lvl="3"/>
            <a:r>
              <a:rPr lang="en-US" altLang="ko-KR" dirty="0"/>
              <a:t>Mission Design Interface</a:t>
            </a:r>
          </a:p>
          <a:p>
            <a:pPr lvl="3"/>
            <a:r>
              <a:rPr lang="en-US" altLang="ko-KR" dirty="0"/>
              <a:t>Electrical Interface</a:t>
            </a:r>
          </a:p>
          <a:p>
            <a:pPr lvl="3"/>
            <a:r>
              <a:rPr lang="en-US" altLang="ko-KR" dirty="0"/>
              <a:t>Mechanical Interface</a:t>
            </a:r>
          </a:p>
          <a:p>
            <a:pPr lvl="3"/>
            <a:r>
              <a:rPr lang="en-US" altLang="ko-KR" dirty="0"/>
              <a:t>Environment Interface</a:t>
            </a:r>
          </a:p>
          <a:p>
            <a:pPr lvl="2"/>
            <a:r>
              <a:rPr lang="en-US" altLang="ko-KR" dirty="0"/>
              <a:t>Space to Ground Interface</a:t>
            </a:r>
          </a:p>
          <a:p>
            <a:pPr lvl="3"/>
            <a:r>
              <a:rPr lang="en-US" altLang="ko-KR" dirty="0"/>
              <a:t>S-band Interface</a:t>
            </a:r>
          </a:p>
          <a:p>
            <a:pPr lvl="3"/>
            <a:r>
              <a:rPr lang="en-US" altLang="ko-KR" dirty="0"/>
              <a:t>X-band Interface</a:t>
            </a:r>
          </a:p>
          <a:p>
            <a:pPr lvl="1"/>
            <a:r>
              <a:rPr lang="en-US" altLang="ko-KR" dirty="0"/>
              <a:t>EMI/EMC Design</a:t>
            </a:r>
          </a:p>
          <a:p>
            <a:pPr lvl="1"/>
            <a:r>
              <a:rPr lang="en-US" altLang="ko-KR" dirty="0"/>
              <a:t>Verification Plan</a:t>
            </a:r>
          </a:p>
          <a:p>
            <a:pPr lvl="2"/>
            <a:r>
              <a:rPr lang="en-US" altLang="ko-KR" dirty="0"/>
              <a:t>Verification Overview</a:t>
            </a:r>
          </a:p>
          <a:p>
            <a:pPr lvl="2"/>
            <a:r>
              <a:rPr lang="en-US" altLang="ko-KR" dirty="0"/>
              <a:t>Verification Management</a:t>
            </a:r>
          </a:p>
          <a:p>
            <a:pPr lvl="2"/>
            <a:r>
              <a:rPr lang="en-US" altLang="ko-KR" dirty="0"/>
              <a:t>Requirement Verification Matrix (RVM)</a:t>
            </a:r>
          </a:p>
          <a:p>
            <a:pPr lvl="2"/>
            <a:r>
              <a:rPr lang="en-US" altLang="ko-KR" dirty="0"/>
              <a:t>Requirement Traceability Matrix (RTM)</a:t>
            </a:r>
          </a:p>
          <a:p>
            <a:pPr lvl="2"/>
            <a:r>
              <a:rPr lang="en-US" altLang="ko-KR" dirty="0"/>
              <a:t>Verification Test Matrix (VTM)</a:t>
            </a:r>
          </a:p>
          <a:p>
            <a:pPr lvl="2"/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6185110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Agenda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Payload System</a:t>
            </a:r>
          </a:p>
          <a:p>
            <a:pPr lvl="1"/>
            <a:r>
              <a:rPr lang="en-US" altLang="ko-KR" dirty="0"/>
              <a:t>SAR Payload Major Requirements</a:t>
            </a:r>
          </a:p>
          <a:p>
            <a:pPr lvl="1"/>
            <a:r>
              <a:rPr lang="en-US" altLang="ko-KR" dirty="0"/>
              <a:t>Configuration</a:t>
            </a:r>
          </a:p>
          <a:p>
            <a:pPr lvl="1"/>
            <a:r>
              <a:rPr lang="en-US" altLang="ko-KR" dirty="0"/>
              <a:t>Function Block Diagram</a:t>
            </a:r>
          </a:p>
          <a:p>
            <a:pPr lvl="1"/>
            <a:r>
              <a:rPr lang="en-US" altLang="ko-KR" dirty="0"/>
              <a:t>SAR Sensor Electronics</a:t>
            </a:r>
          </a:p>
          <a:p>
            <a:pPr lvl="1"/>
            <a:r>
              <a:rPr lang="en-US" altLang="ko-KR" dirty="0"/>
              <a:t>SAR Antenna Subsystem</a:t>
            </a:r>
          </a:p>
          <a:p>
            <a:pPr lvl="1"/>
            <a:r>
              <a:rPr lang="en-US" altLang="ko-KR" dirty="0"/>
              <a:t>Data Link Subsystem</a:t>
            </a:r>
          </a:p>
        </p:txBody>
      </p:sp>
    </p:spTree>
    <p:extLst>
      <p:ext uri="{BB962C8B-B14F-4D97-AF65-F5344CB8AC3E}">
        <p14:creationId xmlns:p14="http://schemas.microsoft.com/office/powerpoint/2010/main" val="18182963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Agenda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Spacecraft Bus System</a:t>
            </a:r>
          </a:p>
          <a:p>
            <a:pPr lvl="1"/>
            <a:r>
              <a:rPr lang="en-US" altLang="ko-KR" dirty="0"/>
              <a:t>Spacecraft Bus Major Requirements</a:t>
            </a:r>
          </a:p>
          <a:p>
            <a:pPr lvl="1"/>
            <a:r>
              <a:rPr lang="en-US" altLang="ko-KR" dirty="0"/>
              <a:t>Configuration</a:t>
            </a:r>
          </a:p>
          <a:p>
            <a:pPr lvl="1"/>
            <a:r>
              <a:rPr lang="en-US" altLang="ko-KR" dirty="0"/>
              <a:t>Function Block Diagram</a:t>
            </a:r>
          </a:p>
          <a:p>
            <a:pPr lvl="1"/>
            <a:r>
              <a:rPr lang="en-US" altLang="ko-KR" dirty="0"/>
              <a:t>Mechanical Design Integration</a:t>
            </a:r>
          </a:p>
          <a:p>
            <a:pPr lvl="1"/>
            <a:r>
              <a:rPr lang="en-US" altLang="ko-KR" dirty="0"/>
              <a:t>Electrical Design Integration</a:t>
            </a:r>
          </a:p>
          <a:p>
            <a:pPr lvl="1"/>
            <a:r>
              <a:rPr lang="en-US" altLang="ko-KR" dirty="0"/>
              <a:t>Structures and Mechanism</a:t>
            </a:r>
            <a:r>
              <a:rPr lang="ko-KR" altLang="en-US" dirty="0"/>
              <a:t> </a:t>
            </a:r>
            <a:r>
              <a:rPr lang="en-US" altLang="ko-KR" dirty="0"/>
              <a:t>Subsystem</a:t>
            </a:r>
          </a:p>
          <a:p>
            <a:pPr lvl="1"/>
            <a:r>
              <a:rPr lang="en-US" altLang="ko-KR" dirty="0"/>
              <a:t>Thermal Control Subsystem</a:t>
            </a:r>
          </a:p>
          <a:p>
            <a:pPr lvl="1"/>
            <a:r>
              <a:rPr lang="en-US" altLang="ko-KR" dirty="0"/>
              <a:t>Attitude and Orbit Control Subsystem</a:t>
            </a:r>
          </a:p>
          <a:p>
            <a:pPr lvl="1"/>
            <a:r>
              <a:rPr lang="en-US" altLang="ko-KR" dirty="0"/>
              <a:t>Propulsion Subsystem</a:t>
            </a:r>
          </a:p>
          <a:p>
            <a:pPr lvl="1"/>
            <a:r>
              <a:rPr lang="en-US" altLang="ko-KR" dirty="0"/>
              <a:t>Telemetry, Command, and Ranging Subsystem</a:t>
            </a:r>
          </a:p>
          <a:p>
            <a:pPr lvl="1"/>
            <a:r>
              <a:rPr lang="en-US" altLang="ko-KR" dirty="0"/>
              <a:t>Electrical Power Subsystem</a:t>
            </a:r>
          </a:p>
          <a:p>
            <a:pPr lvl="1"/>
            <a:r>
              <a:rPr lang="en-US" altLang="ko-KR" dirty="0"/>
              <a:t>Flight Software Subsystem</a:t>
            </a:r>
          </a:p>
          <a:p>
            <a:pPr lvl="1"/>
            <a:endParaRPr lang="en-US" altLang="ko-KR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222388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Agenda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Ground Segment</a:t>
            </a:r>
          </a:p>
          <a:p>
            <a:pPr lvl="1"/>
            <a:r>
              <a:rPr lang="en-US" altLang="ko-KR" dirty="0"/>
              <a:t>Architecture</a:t>
            </a:r>
          </a:p>
          <a:p>
            <a:pPr lvl="1"/>
            <a:r>
              <a:rPr lang="en-US" altLang="ko-KR" dirty="0"/>
              <a:t>Mission Control Element (MCE)</a:t>
            </a:r>
          </a:p>
          <a:p>
            <a:pPr lvl="1"/>
            <a:r>
              <a:rPr lang="en-US" altLang="ko-KR" dirty="0"/>
              <a:t>Image Reception and Processing Element (IRPE)</a:t>
            </a:r>
          </a:p>
          <a:p>
            <a:pPr lvl="1"/>
            <a:r>
              <a:rPr lang="en-US" altLang="ko-KR" dirty="0"/>
              <a:t>Calibration and Validation Element (CVE)</a:t>
            </a:r>
            <a:endParaRPr lang="ko-KR" altLang="en-US" dirty="0"/>
          </a:p>
          <a:p>
            <a:pPr lvl="1"/>
            <a:r>
              <a:rPr lang="en-US" altLang="ko-KR" dirty="0"/>
              <a:t>SAR Processor</a:t>
            </a:r>
          </a:p>
          <a:p>
            <a:endParaRPr lang="en-US" altLang="ko-KR" dirty="0"/>
          </a:p>
          <a:p>
            <a:r>
              <a:rPr lang="en-US" altLang="ko-KR" dirty="0"/>
              <a:t>Assembly, Integration, and Test</a:t>
            </a:r>
          </a:p>
          <a:p>
            <a:r>
              <a:rPr lang="en-US" altLang="ko-KR" dirty="0"/>
              <a:t>Electrical Test Bed</a:t>
            </a:r>
          </a:p>
        </p:txBody>
      </p:sp>
    </p:spTree>
    <p:extLst>
      <p:ext uri="{BB962C8B-B14F-4D97-AF65-F5344CB8AC3E}">
        <p14:creationId xmlns:p14="http://schemas.microsoft.com/office/powerpoint/2010/main" val="1873344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218769" y="2924908"/>
            <a:ext cx="8706462" cy="1008185"/>
          </a:xfrm>
          <a:prstGeom prst="rect">
            <a:avLst/>
          </a:prstGeom>
          <a:solidFill>
            <a:srgbClr val="DAC1FF">
              <a:alpha val="31765"/>
            </a:srgbClr>
          </a:solidFill>
        </p:spPr>
        <p:txBody>
          <a:bodyPr anchor="ctr" anchorCtr="1"/>
          <a:lstStyle>
            <a:defPPr>
              <a:defRPr lang="en-US"/>
            </a:defPPr>
            <a:lvl1pPr algn="ctr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itchFamily="18" charset="0"/>
                <a:ea typeface="굴림" charset="-127"/>
                <a:cs typeface="+mn-cs"/>
              </a:defRPr>
            </a:lvl1pPr>
            <a:lvl2pPr marL="457200" algn="ctr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itchFamily="18" charset="0"/>
                <a:ea typeface="굴림" charset="-127"/>
                <a:cs typeface="+mn-cs"/>
              </a:defRPr>
            </a:lvl2pPr>
            <a:lvl3pPr marL="914400" algn="ctr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itchFamily="18" charset="0"/>
                <a:ea typeface="굴림" charset="-127"/>
                <a:cs typeface="+mn-cs"/>
              </a:defRPr>
            </a:lvl3pPr>
            <a:lvl4pPr marL="1371600" algn="ctr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itchFamily="18" charset="0"/>
                <a:ea typeface="굴림" charset="-127"/>
                <a:cs typeface="+mn-cs"/>
              </a:defRPr>
            </a:lvl4pPr>
            <a:lvl5pPr marL="1828800" algn="ctr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itchFamily="18" charset="0"/>
                <a:ea typeface="굴림" charset="-127"/>
                <a:cs typeface="+mn-cs"/>
              </a:defRPr>
            </a:lvl5pPr>
            <a:lvl6pPr marL="22860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Times New Roman" pitchFamily="18" charset="0"/>
                <a:ea typeface="굴림" charset="-127"/>
                <a:cs typeface="+mn-cs"/>
              </a:defRPr>
            </a:lvl6pPr>
            <a:lvl7pPr marL="27432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Times New Roman" pitchFamily="18" charset="0"/>
                <a:ea typeface="굴림" charset="-127"/>
                <a:cs typeface="+mn-cs"/>
              </a:defRPr>
            </a:lvl7pPr>
            <a:lvl8pPr marL="32004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Times New Roman" pitchFamily="18" charset="0"/>
                <a:ea typeface="굴림" charset="-127"/>
                <a:cs typeface="+mn-cs"/>
              </a:defRPr>
            </a:lvl8pPr>
            <a:lvl9pPr marL="36576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Times New Roman" pitchFamily="18" charset="0"/>
                <a:ea typeface="굴림" charset="-127"/>
                <a:cs typeface="+mn-cs"/>
              </a:defRPr>
            </a:lvl9pPr>
          </a:lstStyle>
          <a:p>
            <a:pPr lvl="0" algn="l" latinLnBrk="0"/>
            <a:r>
              <a:rPr lang="en-US" altLang="ko-KR" b="1" dirty="0">
                <a:solidFill>
                  <a:srgbClr val="000000"/>
                </a:solidFill>
                <a:latin typeface="+mj-lt"/>
                <a:ea typeface="굴림" panose="020B0600000101010101" pitchFamily="50" charset="-127"/>
              </a:rPr>
              <a:t>Project Overview</a:t>
            </a:r>
            <a:endParaRPr lang="ko-KR" altLang="en-US" b="1" dirty="0">
              <a:solidFill>
                <a:srgbClr val="000000"/>
              </a:solidFill>
              <a:latin typeface="+mj-lt"/>
              <a:ea typeface="굴림" panose="020B0600000101010101" pitchFamily="50" charset="-127"/>
            </a:endParaRPr>
          </a:p>
        </p:txBody>
      </p:sp>
      <p:sp>
        <p:nvSpPr>
          <p:cNvPr id="5" name="Line 3"/>
          <p:cNvSpPr>
            <a:spLocks noChangeShapeType="1"/>
          </p:cNvSpPr>
          <p:nvPr/>
        </p:nvSpPr>
        <p:spPr bwMode="auto">
          <a:xfrm>
            <a:off x="221701" y="2913185"/>
            <a:ext cx="8686800" cy="0"/>
          </a:xfrm>
          <a:prstGeom prst="line">
            <a:avLst/>
          </a:prstGeom>
          <a:noFill/>
          <a:ln w="25400" cap="rnd">
            <a:gradFill flip="none" rotWithShape="1">
              <a:gsLst>
                <a:gs pos="0">
                  <a:srgbClr val="7030A0"/>
                </a:gs>
                <a:gs pos="99167">
                  <a:srgbClr val="7030A0"/>
                </a:gs>
                <a:gs pos="50000">
                  <a:srgbClr val="00B0F0"/>
                </a:gs>
              </a:gsLst>
              <a:lin ang="0" scaled="1"/>
              <a:tileRect/>
            </a:gra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US"/>
            </a:defPPr>
            <a:lvl1pPr algn="ctr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itchFamily="18" charset="0"/>
                <a:ea typeface="굴림" charset="-127"/>
                <a:cs typeface="+mn-cs"/>
              </a:defRPr>
            </a:lvl1pPr>
            <a:lvl2pPr marL="457200" algn="ctr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itchFamily="18" charset="0"/>
                <a:ea typeface="굴림" charset="-127"/>
                <a:cs typeface="+mn-cs"/>
              </a:defRPr>
            </a:lvl2pPr>
            <a:lvl3pPr marL="914400" algn="ctr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itchFamily="18" charset="0"/>
                <a:ea typeface="굴림" charset="-127"/>
                <a:cs typeface="+mn-cs"/>
              </a:defRPr>
            </a:lvl3pPr>
            <a:lvl4pPr marL="1371600" algn="ctr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itchFamily="18" charset="0"/>
                <a:ea typeface="굴림" charset="-127"/>
                <a:cs typeface="+mn-cs"/>
              </a:defRPr>
            </a:lvl4pPr>
            <a:lvl5pPr marL="1828800" algn="ctr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itchFamily="18" charset="0"/>
                <a:ea typeface="굴림" charset="-127"/>
                <a:cs typeface="+mn-cs"/>
              </a:defRPr>
            </a:lvl5pPr>
            <a:lvl6pPr marL="22860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Times New Roman" pitchFamily="18" charset="0"/>
                <a:ea typeface="굴림" charset="-127"/>
                <a:cs typeface="+mn-cs"/>
              </a:defRPr>
            </a:lvl6pPr>
            <a:lvl7pPr marL="27432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Times New Roman" pitchFamily="18" charset="0"/>
                <a:ea typeface="굴림" charset="-127"/>
                <a:cs typeface="+mn-cs"/>
              </a:defRPr>
            </a:lvl7pPr>
            <a:lvl8pPr marL="32004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Times New Roman" pitchFamily="18" charset="0"/>
                <a:ea typeface="굴림" charset="-127"/>
                <a:cs typeface="+mn-cs"/>
              </a:defRPr>
            </a:lvl8pPr>
            <a:lvl9pPr marL="36576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Times New Roman" pitchFamily="18" charset="0"/>
                <a:ea typeface="굴림" charset="-127"/>
                <a:cs typeface="+mn-cs"/>
              </a:defRPr>
            </a:lvl9pPr>
          </a:lstStyle>
          <a:p>
            <a:endParaRPr lang="ko-KR" altLang="en-US" sz="2215"/>
          </a:p>
        </p:txBody>
      </p:sp>
      <p:sp>
        <p:nvSpPr>
          <p:cNvPr id="6" name="Line 4"/>
          <p:cNvSpPr>
            <a:spLocks noChangeShapeType="1"/>
          </p:cNvSpPr>
          <p:nvPr/>
        </p:nvSpPr>
        <p:spPr bwMode="auto">
          <a:xfrm>
            <a:off x="221701" y="3931626"/>
            <a:ext cx="8686800" cy="0"/>
          </a:xfrm>
          <a:prstGeom prst="line">
            <a:avLst/>
          </a:prstGeom>
          <a:noFill/>
          <a:ln w="25400" cap="rnd">
            <a:gradFill flip="none" rotWithShape="1">
              <a:gsLst>
                <a:gs pos="0">
                  <a:srgbClr val="7030A0"/>
                </a:gs>
                <a:gs pos="99167">
                  <a:srgbClr val="7030A0"/>
                </a:gs>
                <a:gs pos="50000">
                  <a:srgbClr val="00B0F0"/>
                </a:gs>
              </a:gsLst>
              <a:lin ang="0" scaled="1"/>
              <a:tileRect/>
            </a:gra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US"/>
            </a:defPPr>
            <a:lvl1pPr algn="ctr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itchFamily="18" charset="0"/>
                <a:ea typeface="굴림" charset="-127"/>
                <a:cs typeface="+mn-cs"/>
              </a:defRPr>
            </a:lvl1pPr>
            <a:lvl2pPr marL="457200" algn="ctr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itchFamily="18" charset="0"/>
                <a:ea typeface="굴림" charset="-127"/>
                <a:cs typeface="+mn-cs"/>
              </a:defRPr>
            </a:lvl2pPr>
            <a:lvl3pPr marL="914400" algn="ctr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itchFamily="18" charset="0"/>
                <a:ea typeface="굴림" charset="-127"/>
                <a:cs typeface="+mn-cs"/>
              </a:defRPr>
            </a:lvl3pPr>
            <a:lvl4pPr marL="1371600" algn="ctr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itchFamily="18" charset="0"/>
                <a:ea typeface="굴림" charset="-127"/>
                <a:cs typeface="+mn-cs"/>
              </a:defRPr>
            </a:lvl4pPr>
            <a:lvl5pPr marL="1828800" algn="ctr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itchFamily="18" charset="0"/>
                <a:ea typeface="굴림" charset="-127"/>
                <a:cs typeface="+mn-cs"/>
              </a:defRPr>
            </a:lvl5pPr>
            <a:lvl6pPr marL="22860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Times New Roman" pitchFamily="18" charset="0"/>
                <a:ea typeface="굴림" charset="-127"/>
                <a:cs typeface="+mn-cs"/>
              </a:defRPr>
            </a:lvl6pPr>
            <a:lvl7pPr marL="27432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Times New Roman" pitchFamily="18" charset="0"/>
                <a:ea typeface="굴림" charset="-127"/>
                <a:cs typeface="+mn-cs"/>
              </a:defRPr>
            </a:lvl7pPr>
            <a:lvl8pPr marL="32004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Times New Roman" pitchFamily="18" charset="0"/>
                <a:ea typeface="굴림" charset="-127"/>
                <a:cs typeface="+mn-cs"/>
              </a:defRPr>
            </a:lvl8pPr>
            <a:lvl9pPr marL="36576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Times New Roman" pitchFamily="18" charset="0"/>
                <a:ea typeface="굴림" charset="-127"/>
                <a:cs typeface="+mn-cs"/>
              </a:defRPr>
            </a:lvl9pPr>
          </a:lstStyle>
          <a:p>
            <a:endParaRPr lang="ko-KR" altLang="en-US" sz="2215"/>
          </a:p>
        </p:txBody>
      </p:sp>
    </p:spTree>
    <p:extLst>
      <p:ext uri="{BB962C8B-B14F-4D97-AF65-F5344CB8AC3E}">
        <p14:creationId xmlns:p14="http://schemas.microsoft.com/office/powerpoint/2010/main" val="30411281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Mission Objective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Real</a:t>
            </a:r>
            <a:r>
              <a:rPr lang="ko-KR" altLang="en-US" dirty="0"/>
              <a:t> </a:t>
            </a:r>
            <a:r>
              <a:rPr lang="en-US" altLang="ko-KR" dirty="0"/>
              <a:t>Time</a:t>
            </a:r>
            <a:r>
              <a:rPr lang="ko-KR" altLang="en-US" dirty="0"/>
              <a:t> </a:t>
            </a:r>
            <a:r>
              <a:rPr lang="en-US" altLang="ko-KR" dirty="0"/>
              <a:t>Global Observation</a:t>
            </a:r>
          </a:p>
          <a:p>
            <a:r>
              <a:rPr lang="en-US" altLang="ko-KR" dirty="0"/>
              <a:t>GIS: Acquisition of independent high resolution SAR images</a:t>
            </a:r>
          </a:p>
          <a:p>
            <a:r>
              <a:rPr lang="en-US" altLang="ko-KR" dirty="0"/>
              <a:t>Surveillance : Maritime Vessel Monitoring &amp;  Preventing Illegal Fishing</a:t>
            </a:r>
          </a:p>
          <a:p>
            <a:r>
              <a:rPr lang="en-US" altLang="ko-KR" dirty="0"/>
              <a:t>Ocean &amp; Land Management: Survey of natural resources</a:t>
            </a:r>
          </a:p>
          <a:p>
            <a:r>
              <a:rPr lang="en-US" altLang="ko-KR" dirty="0"/>
              <a:t>Disaster &amp; Environment Monitoring: large scale disasters &amp; Ice</a:t>
            </a:r>
          </a:p>
          <a:p>
            <a:endParaRPr lang="en-US" altLang="ko-KR" dirty="0"/>
          </a:p>
          <a:p>
            <a:r>
              <a:rPr lang="en-US" altLang="ko-KR" dirty="0"/>
              <a:t>Small SAR</a:t>
            </a:r>
            <a:r>
              <a:rPr lang="ko-KR" altLang="en-US" dirty="0"/>
              <a:t> </a:t>
            </a:r>
            <a:r>
              <a:rPr lang="en-US" altLang="ko-KR" dirty="0"/>
              <a:t>Satellite</a:t>
            </a:r>
          </a:p>
          <a:p>
            <a:r>
              <a:rPr lang="en-US" altLang="ko-KR" dirty="0"/>
              <a:t>SAR Data Processing</a:t>
            </a:r>
          </a:p>
          <a:p>
            <a:r>
              <a:rPr lang="en-US" altLang="ko-KR" dirty="0"/>
              <a:t>SAR Satellite Operation</a:t>
            </a:r>
          </a:p>
        </p:txBody>
      </p:sp>
    </p:spTree>
    <p:extLst>
      <p:ext uri="{BB962C8B-B14F-4D97-AF65-F5344CB8AC3E}">
        <p14:creationId xmlns:p14="http://schemas.microsoft.com/office/powerpoint/2010/main" val="32888952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Satellite Configuration</a:t>
            </a:r>
            <a:endParaRPr lang="ko-KR" altLang="en-US" dirty="0"/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D5413F73-28D1-4167-86A9-C5E6033BE9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3363" y="981075"/>
            <a:ext cx="8666162" cy="5248275"/>
          </a:xfrm>
        </p:spPr>
        <p:txBody>
          <a:bodyPr/>
          <a:lstStyle/>
          <a:p>
            <a:r>
              <a:rPr lang="ko-KR" altLang="en-US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초소형 </a:t>
            </a:r>
            <a:r>
              <a:rPr lang="en-US" altLang="ko-KR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SAR </a:t>
            </a:r>
            <a:r>
              <a:rPr lang="ko-KR" altLang="en-US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위성 </a:t>
            </a:r>
            <a:r>
              <a:rPr lang="ko-KR" altLang="en-US" dirty="0" err="1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형상안</a:t>
            </a:r>
            <a:endParaRPr lang="en-US" altLang="ko-KR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endParaRPr lang="en-US" altLang="ko-KR" dirty="0">
              <a:solidFill>
                <a:srgbClr val="7030A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668338" lvl="2" indent="0">
              <a:buNone/>
            </a:pPr>
            <a:endParaRPr lang="en-US" altLang="ko-KR" dirty="0">
              <a:solidFill>
                <a:srgbClr val="7030A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B8B5AB3-2D99-48E5-BA16-DD6D79F3E7CC}"/>
              </a:ext>
            </a:extLst>
          </p:cNvPr>
          <p:cNvSpPr txBox="1"/>
          <p:nvPr/>
        </p:nvSpPr>
        <p:spPr>
          <a:xfrm>
            <a:off x="3493330" y="6002013"/>
            <a:ext cx="21589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/>
              <a:t>&lt;</a:t>
            </a:r>
            <a:r>
              <a:rPr lang="ko-KR" altLang="en-US" sz="1600" dirty="0" err="1">
                <a:sym typeface="Symbol" panose="05050102010706020507" pitchFamily="18" charset="2"/>
              </a:rPr>
              <a:t>형상안</a:t>
            </a:r>
            <a:r>
              <a:rPr lang="en-US" altLang="ko-KR" sz="1600" dirty="0">
                <a:sym typeface="Symbol" panose="05050102010706020507" pitchFamily="18" charset="2"/>
              </a:rPr>
              <a:t>&gt;</a:t>
            </a:r>
            <a:endParaRPr lang="ko-KR" altLang="en-US" sz="1600" dirty="0"/>
          </a:p>
        </p:txBody>
      </p:sp>
      <p:sp>
        <p:nvSpPr>
          <p:cNvPr id="12" name="정육면체 11">
            <a:extLst>
              <a:ext uri="{FF2B5EF4-FFF2-40B4-BE49-F238E27FC236}">
                <a16:creationId xmlns:a16="http://schemas.microsoft.com/office/drawing/2014/main" id="{EED9DC2F-F4D4-4EF8-A747-9E72BEC4585C}"/>
              </a:ext>
            </a:extLst>
          </p:cNvPr>
          <p:cNvSpPr/>
          <p:nvPr/>
        </p:nvSpPr>
        <p:spPr bwMode="auto">
          <a:xfrm>
            <a:off x="1046530" y="2307570"/>
            <a:ext cx="1562100" cy="1104900"/>
          </a:xfrm>
          <a:prstGeom prst="cube">
            <a:avLst>
              <a:gd name="adj" fmla="val 4335"/>
            </a:avLst>
          </a:prstGeom>
          <a:solidFill>
            <a:schemeClr val="bg1">
              <a:lumMod val="85000"/>
            </a:schemeClr>
          </a:solidFill>
          <a:ln w="635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굴림" panose="020B0600000101010101" pitchFamily="50" charset="-127"/>
            </a:endParaRPr>
          </a:p>
        </p:txBody>
      </p:sp>
      <p:sp>
        <p:nvSpPr>
          <p:cNvPr id="11" name="정육면체 10">
            <a:extLst>
              <a:ext uri="{FF2B5EF4-FFF2-40B4-BE49-F238E27FC236}">
                <a16:creationId xmlns:a16="http://schemas.microsoft.com/office/drawing/2014/main" id="{8D869D04-FC16-457C-9678-0226A4A6D183}"/>
              </a:ext>
            </a:extLst>
          </p:cNvPr>
          <p:cNvSpPr/>
          <p:nvPr/>
        </p:nvSpPr>
        <p:spPr bwMode="auto">
          <a:xfrm>
            <a:off x="2559100" y="2307570"/>
            <a:ext cx="1562100" cy="1104900"/>
          </a:xfrm>
          <a:prstGeom prst="cube">
            <a:avLst>
              <a:gd name="adj" fmla="val 4335"/>
            </a:avLst>
          </a:prstGeom>
          <a:solidFill>
            <a:schemeClr val="bg1">
              <a:lumMod val="85000"/>
            </a:schemeClr>
          </a:solidFill>
          <a:ln w="635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굴림" panose="020B0600000101010101" pitchFamily="50" charset="-127"/>
            </a:endParaRPr>
          </a:p>
        </p:txBody>
      </p:sp>
      <p:sp>
        <p:nvSpPr>
          <p:cNvPr id="8" name="정육면체 7">
            <a:extLst>
              <a:ext uri="{FF2B5EF4-FFF2-40B4-BE49-F238E27FC236}">
                <a16:creationId xmlns:a16="http://schemas.microsoft.com/office/drawing/2014/main" id="{C152A72F-7597-44D4-9FC7-53B75FDF9125}"/>
              </a:ext>
            </a:extLst>
          </p:cNvPr>
          <p:cNvSpPr/>
          <p:nvPr/>
        </p:nvSpPr>
        <p:spPr bwMode="auto">
          <a:xfrm>
            <a:off x="5199430" y="2307570"/>
            <a:ext cx="1562100" cy="1104900"/>
          </a:xfrm>
          <a:prstGeom prst="cube">
            <a:avLst>
              <a:gd name="adj" fmla="val 4335"/>
            </a:avLst>
          </a:prstGeom>
          <a:solidFill>
            <a:schemeClr val="bg1">
              <a:lumMod val="85000"/>
            </a:schemeClr>
          </a:solidFill>
          <a:ln w="635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굴림" panose="020B0600000101010101" pitchFamily="50" charset="-127"/>
            </a:endParaRPr>
          </a:p>
        </p:txBody>
      </p:sp>
      <p:sp>
        <p:nvSpPr>
          <p:cNvPr id="9" name="정육면체 8">
            <a:extLst>
              <a:ext uri="{FF2B5EF4-FFF2-40B4-BE49-F238E27FC236}">
                <a16:creationId xmlns:a16="http://schemas.microsoft.com/office/drawing/2014/main" id="{58D91B8E-98FD-4320-B593-A16032673209}"/>
              </a:ext>
            </a:extLst>
          </p:cNvPr>
          <p:cNvSpPr/>
          <p:nvPr/>
        </p:nvSpPr>
        <p:spPr bwMode="auto">
          <a:xfrm>
            <a:off x="6715810" y="2307570"/>
            <a:ext cx="1562100" cy="1104900"/>
          </a:xfrm>
          <a:prstGeom prst="cube">
            <a:avLst>
              <a:gd name="adj" fmla="val 4335"/>
            </a:avLst>
          </a:prstGeom>
          <a:solidFill>
            <a:schemeClr val="bg1">
              <a:lumMod val="85000"/>
            </a:schemeClr>
          </a:solidFill>
          <a:ln w="635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굴림" panose="020B0600000101010101" pitchFamily="50" charset="-127"/>
            </a:endParaRPr>
          </a:p>
        </p:txBody>
      </p:sp>
      <p:sp>
        <p:nvSpPr>
          <p:cNvPr id="15" name="정육면체 14">
            <a:extLst>
              <a:ext uri="{FF2B5EF4-FFF2-40B4-BE49-F238E27FC236}">
                <a16:creationId xmlns:a16="http://schemas.microsoft.com/office/drawing/2014/main" id="{FF7D9AFE-2F35-4F96-9F8F-2B11AB337E09}"/>
              </a:ext>
            </a:extLst>
          </p:cNvPr>
          <p:cNvSpPr/>
          <p:nvPr/>
        </p:nvSpPr>
        <p:spPr bwMode="auto">
          <a:xfrm>
            <a:off x="1199565" y="2438063"/>
            <a:ext cx="1119505" cy="844867"/>
          </a:xfrm>
          <a:prstGeom prst="cube">
            <a:avLst>
              <a:gd name="adj" fmla="val 4335"/>
            </a:avLst>
          </a:prstGeom>
          <a:solidFill>
            <a:srgbClr val="FFCC99"/>
          </a:solidFill>
          <a:ln w="635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굴림" panose="020B0600000101010101" pitchFamily="50" charset="-127"/>
            </a:endParaRPr>
          </a:p>
        </p:txBody>
      </p:sp>
      <p:sp>
        <p:nvSpPr>
          <p:cNvPr id="16" name="정육면체 15">
            <a:extLst>
              <a:ext uri="{FF2B5EF4-FFF2-40B4-BE49-F238E27FC236}">
                <a16:creationId xmlns:a16="http://schemas.microsoft.com/office/drawing/2014/main" id="{DA66C625-5D50-4843-AC14-2A671B20312C}"/>
              </a:ext>
            </a:extLst>
          </p:cNvPr>
          <p:cNvSpPr/>
          <p:nvPr/>
        </p:nvSpPr>
        <p:spPr bwMode="auto">
          <a:xfrm>
            <a:off x="2743250" y="2445206"/>
            <a:ext cx="1119505" cy="844867"/>
          </a:xfrm>
          <a:prstGeom prst="cube">
            <a:avLst>
              <a:gd name="adj" fmla="val 4335"/>
            </a:avLst>
          </a:prstGeom>
          <a:solidFill>
            <a:srgbClr val="FFCC99"/>
          </a:solidFill>
          <a:ln w="635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굴림" panose="020B0600000101010101" pitchFamily="50" charset="-127"/>
            </a:endParaRPr>
          </a:p>
        </p:txBody>
      </p:sp>
      <p:sp>
        <p:nvSpPr>
          <p:cNvPr id="17" name="정육면체 16">
            <a:extLst>
              <a:ext uri="{FF2B5EF4-FFF2-40B4-BE49-F238E27FC236}">
                <a16:creationId xmlns:a16="http://schemas.microsoft.com/office/drawing/2014/main" id="{4502B2D4-DFB0-4E1A-ADD2-3F889AB38260}"/>
              </a:ext>
            </a:extLst>
          </p:cNvPr>
          <p:cNvSpPr/>
          <p:nvPr/>
        </p:nvSpPr>
        <p:spPr bwMode="auto">
          <a:xfrm>
            <a:off x="5385802" y="2438063"/>
            <a:ext cx="1119505" cy="844867"/>
          </a:xfrm>
          <a:prstGeom prst="cube">
            <a:avLst>
              <a:gd name="adj" fmla="val 4335"/>
            </a:avLst>
          </a:prstGeom>
          <a:solidFill>
            <a:srgbClr val="FFCC99"/>
          </a:solidFill>
          <a:ln w="635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굴림" panose="020B0600000101010101" pitchFamily="50" charset="-127"/>
            </a:endParaRPr>
          </a:p>
        </p:txBody>
      </p:sp>
      <p:sp>
        <p:nvSpPr>
          <p:cNvPr id="18" name="정육면체 17">
            <a:extLst>
              <a:ext uri="{FF2B5EF4-FFF2-40B4-BE49-F238E27FC236}">
                <a16:creationId xmlns:a16="http://schemas.microsoft.com/office/drawing/2014/main" id="{0651AE19-188D-4832-9777-F0CBA12DF42B}"/>
              </a:ext>
            </a:extLst>
          </p:cNvPr>
          <p:cNvSpPr/>
          <p:nvPr/>
        </p:nvSpPr>
        <p:spPr bwMode="auto">
          <a:xfrm>
            <a:off x="6929487" y="2445206"/>
            <a:ext cx="1119505" cy="844867"/>
          </a:xfrm>
          <a:prstGeom prst="cube">
            <a:avLst>
              <a:gd name="adj" fmla="val 4335"/>
            </a:avLst>
          </a:prstGeom>
          <a:solidFill>
            <a:srgbClr val="FFCC99"/>
          </a:solidFill>
          <a:ln w="635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굴림" panose="020B0600000101010101" pitchFamily="50" charset="-127"/>
            </a:endParaRPr>
          </a:p>
        </p:txBody>
      </p:sp>
      <p:sp>
        <p:nvSpPr>
          <p:cNvPr id="20" name="정육면체 19">
            <a:extLst>
              <a:ext uri="{FF2B5EF4-FFF2-40B4-BE49-F238E27FC236}">
                <a16:creationId xmlns:a16="http://schemas.microsoft.com/office/drawing/2014/main" id="{8FD65563-DD75-46BE-9417-6A215307B0A4}"/>
              </a:ext>
            </a:extLst>
          </p:cNvPr>
          <p:cNvSpPr/>
          <p:nvPr/>
        </p:nvSpPr>
        <p:spPr bwMode="auto">
          <a:xfrm>
            <a:off x="3340150" y="4124790"/>
            <a:ext cx="1162050" cy="1562400"/>
          </a:xfrm>
          <a:prstGeom prst="cube">
            <a:avLst>
              <a:gd name="adj" fmla="val 4335"/>
            </a:avLst>
          </a:prstGeom>
          <a:solidFill>
            <a:srgbClr val="1B6DA5"/>
          </a:solidFill>
          <a:ln w="635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굴림" panose="020B0600000101010101" pitchFamily="50" charset="-127"/>
            </a:endParaRPr>
          </a:p>
        </p:txBody>
      </p:sp>
      <p:sp>
        <p:nvSpPr>
          <p:cNvPr id="14" name="정육면체 13">
            <a:extLst>
              <a:ext uri="{FF2B5EF4-FFF2-40B4-BE49-F238E27FC236}">
                <a16:creationId xmlns:a16="http://schemas.microsoft.com/office/drawing/2014/main" id="{3560A2F1-482E-4F04-8FF1-EAF6BF081657}"/>
              </a:ext>
            </a:extLst>
          </p:cNvPr>
          <p:cNvSpPr/>
          <p:nvPr/>
        </p:nvSpPr>
        <p:spPr bwMode="auto">
          <a:xfrm>
            <a:off x="1819960" y="3054330"/>
            <a:ext cx="1562100" cy="1104900"/>
          </a:xfrm>
          <a:prstGeom prst="cube">
            <a:avLst>
              <a:gd name="adj" fmla="val 4335"/>
            </a:avLst>
          </a:prstGeom>
          <a:solidFill>
            <a:srgbClr val="1B6DA5"/>
          </a:solidFill>
          <a:ln w="635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굴림" panose="020B0600000101010101" pitchFamily="50" charset="-127"/>
            </a:endParaRPr>
          </a:p>
        </p:txBody>
      </p:sp>
      <p:sp>
        <p:nvSpPr>
          <p:cNvPr id="3" name="정육면체 2">
            <a:extLst>
              <a:ext uri="{FF2B5EF4-FFF2-40B4-BE49-F238E27FC236}">
                <a16:creationId xmlns:a16="http://schemas.microsoft.com/office/drawing/2014/main" id="{223B1DED-BB81-4F5C-9F89-AFBCEF7FA98F}"/>
              </a:ext>
            </a:extLst>
          </p:cNvPr>
          <p:cNvSpPr/>
          <p:nvPr/>
        </p:nvSpPr>
        <p:spPr bwMode="auto">
          <a:xfrm>
            <a:off x="3340150" y="2307570"/>
            <a:ext cx="1912620" cy="1866900"/>
          </a:xfrm>
          <a:prstGeom prst="cube">
            <a:avLst>
              <a:gd name="adj" fmla="val 41860"/>
            </a:avLst>
          </a:prstGeom>
          <a:solidFill>
            <a:schemeClr val="bg1">
              <a:lumMod val="85000"/>
            </a:schemeClr>
          </a:solidFill>
          <a:ln w="635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굴림" panose="020B0600000101010101" pitchFamily="50" charset="-127"/>
            </a:endParaRPr>
          </a:p>
        </p:txBody>
      </p:sp>
      <p:sp>
        <p:nvSpPr>
          <p:cNvPr id="13" name="정육면체 12">
            <a:extLst>
              <a:ext uri="{FF2B5EF4-FFF2-40B4-BE49-F238E27FC236}">
                <a16:creationId xmlns:a16="http://schemas.microsoft.com/office/drawing/2014/main" id="{5561F402-E8D1-43D7-9C4C-32F25AE56360}"/>
              </a:ext>
            </a:extLst>
          </p:cNvPr>
          <p:cNvSpPr/>
          <p:nvPr/>
        </p:nvSpPr>
        <p:spPr bwMode="auto">
          <a:xfrm>
            <a:off x="4471720" y="3061950"/>
            <a:ext cx="1562100" cy="1104900"/>
          </a:xfrm>
          <a:prstGeom prst="cube">
            <a:avLst>
              <a:gd name="adj" fmla="val 4335"/>
            </a:avLst>
          </a:prstGeom>
          <a:solidFill>
            <a:srgbClr val="1B6DA5"/>
          </a:solidFill>
          <a:ln w="635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굴림" panose="020B0600000101010101" pitchFamily="50" charset="-127"/>
            </a:endParaRPr>
          </a:p>
        </p:txBody>
      </p:sp>
      <p:sp>
        <p:nvSpPr>
          <p:cNvPr id="19" name="정육면체 18">
            <a:extLst>
              <a:ext uri="{FF2B5EF4-FFF2-40B4-BE49-F238E27FC236}">
                <a16:creationId xmlns:a16="http://schemas.microsoft.com/office/drawing/2014/main" id="{E655E8EC-304B-419A-8E62-88F838352515}"/>
              </a:ext>
            </a:extLst>
          </p:cNvPr>
          <p:cNvSpPr/>
          <p:nvPr/>
        </p:nvSpPr>
        <p:spPr bwMode="auto">
          <a:xfrm>
            <a:off x="3345865" y="1530030"/>
            <a:ext cx="1162050" cy="1562400"/>
          </a:xfrm>
          <a:prstGeom prst="cube">
            <a:avLst>
              <a:gd name="adj" fmla="val 4335"/>
            </a:avLst>
          </a:prstGeom>
          <a:solidFill>
            <a:srgbClr val="1B6DA5"/>
          </a:solidFill>
          <a:ln w="635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313920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Development Baseline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Space Segment</a:t>
            </a:r>
          </a:p>
          <a:p>
            <a:pPr lvl="1"/>
            <a:r>
              <a:rPr lang="en-US" altLang="ko-KR" dirty="0"/>
              <a:t>One FM Satellite</a:t>
            </a:r>
          </a:p>
          <a:p>
            <a:pPr lvl="2"/>
            <a:r>
              <a:rPr lang="en-US" altLang="ko-KR" dirty="0"/>
              <a:t>One FM Spacecraft Bus</a:t>
            </a:r>
          </a:p>
          <a:p>
            <a:pPr lvl="2"/>
            <a:r>
              <a:rPr lang="en-US" altLang="ko-KR" dirty="0"/>
              <a:t>One FM LSS[TBC] Payload</a:t>
            </a:r>
          </a:p>
          <a:p>
            <a:r>
              <a:rPr lang="en-US" altLang="ko-KR" dirty="0"/>
              <a:t>Ground Segment</a:t>
            </a:r>
          </a:p>
          <a:p>
            <a:pPr lvl="1"/>
            <a:r>
              <a:rPr lang="en-US" altLang="ko-KR" dirty="0"/>
              <a:t>One MCE</a:t>
            </a:r>
          </a:p>
          <a:p>
            <a:pPr lvl="1"/>
            <a:r>
              <a:rPr lang="en-US" altLang="ko-KR" dirty="0"/>
              <a:t>One IRPE (One set of SAR Processor)</a:t>
            </a:r>
          </a:p>
          <a:p>
            <a:pPr lvl="1"/>
            <a:r>
              <a:rPr lang="en-US" altLang="ko-KR" dirty="0"/>
              <a:t>One CAL/VAL Element</a:t>
            </a:r>
          </a:p>
          <a:p>
            <a:r>
              <a:rPr lang="en-US" altLang="ko-KR" dirty="0"/>
              <a:t>Ground Support Equipment, etc.</a:t>
            </a:r>
          </a:p>
          <a:p>
            <a:pPr lvl="1"/>
            <a:r>
              <a:rPr lang="en-US" altLang="ko-KR" dirty="0"/>
              <a:t>Spacecraft and I&amp;T</a:t>
            </a:r>
          </a:p>
          <a:p>
            <a:pPr lvl="2"/>
            <a:r>
              <a:rPr lang="en-US" altLang="ko-KR" dirty="0"/>
              <a:t>One set of ETB, STM</a:t>
            </a:r>
          </a:p>
          <a:p>
            <a:pPr lvl="2"/>
            <a:r>
              <a:rPr lang="en-US" altLang="ko-KR" dirty="0"/>
              <a:t>One set of MGSE &amp; EGSE</a:t>
            </a:r>
          </a:p>
          <a:p>
            <a:pPr lvl="1"/>
            <a:r>
              <a:rPr lang="en-US" altLang="ko-KR" dirty="0"/>
              <a:t>LSS Payload</a:t>
            </a:r>
          </a:p>
          <a:p>
            <a:pPr lvl="2"/>
            <a:r>
              <a:rPr lang="en-US" altLang="ko-KR" dirty="0"/>
              <a:t>One Set of LSS EQM</a:t>
            </a:r>
          </a:p>
          <a:p>
            <a:pPr lvl="2"/>
            <a:r>
              <a:rPr lang="en-US" altLang="ko-KR" dirty="0"/>
              <a:t>One Set of LSS Payload EGSE</a:t>
            </a:r>
          </a:p>
        </p:txBody>
      </p:sp>
    </p:spTree>
    <p:extLst>
      <p:ext uri="{BB962C8B-B14F-4D97-AF65-F5344CB8AC3E}">
        <p14:creationId xmlns:p14="http://schemas.microsoft.com/office/powerpoint/2010/main" val="18712645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Major Milestone</a:t>
            </a:r>
            <a:endParaRPr lang="ko-KR" altLang="en-US" dirty="0"/>
          </a:p>
        </p:txBody>
      </p:sp>
      <p:graphicFrame>
        <p:nvGraphicFramePr>
          <p:cNvPr id="4" name="내용 개체 틀 3">
            <a:extLst>
              <a:ext uri="{FF2B5EF4-FFF2-40B4-BE49-F238E27FC236}">
                <a16:creationId xmlns:a16="http://schemas.microsoft.com/office/drawing/2014/main" id="{742FD2BA-32B8-4EEB-A427-02494527AAF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15342093"/>
              </p:ext>
            </p:extLst>
          </p:nvPr>
        </p:nvGraphicFramePr>
        <p:xfrm>
          <a:off x="285119" y="1032831"/>
          <a:ext cx="8396292" cy="348157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011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25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652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129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14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Milestone</a:t>
                      </a:r>
                      <a:endParaRPr lang="ko-KR" altLang="en-US" dirty="0"/>
                    </a:p>
                  </a:txBody>
                  <a:tcPr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Description</a:t>
                      </a:r>
                      <a:endParaRPr lang="ko-KR" altLang="en-US" dirty="0"/>
                    </a:p>
                  </a:txBody>
                  <a:tcPr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Date</a:t>
                      </a:r>
                      <a:endParaRPr lang="ko-KR" altLang="en-US" dirty="0"/>
                    </a:p>
                  </a:txBody>
                  <a:tcPr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Remark</a:t>
                      </a:r>
                      <a:endParaRPr lang="ko-KR" altLang="en-US" dirty="0"/>
                    </a:p>
                  </a:txBody>
                  <a:tcPr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044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Kick-Off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indent="-285750" algn="l" latinLnBrk="1"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dirty="0"/>
                        <a:t>Project Overview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2020. 03.02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indent="-285750" algn="l" latinLnBrk="1">
                        <a:buFont typeface="Wingdings" panose="05000000000000000000" pitchFamily="2" charset="2"/>
                        <a:buChar char="§"/>
                      </a:pP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044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SRR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indent="-285750" algn="l" latinLnBrk="1"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dirty="0"/>
                        <a:t>Mission Requirements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2020.03. 20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indent="-285750" algn="l" latinLnBrk="1">
                        <a:buFont typeface="Wingdings" panose="05000000000000000000" pitchFamily="2" charset="2"/>
                        <a:buChar char="§"/>
                      </a:pP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2044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SDR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en-US" altLang="ko-KR" dirty="0"/>
                        <a:t>Concept of Operation</a:t>
                      </a:r>
                    </a:p>
                    <a:p>
                      <a:pPr marL="285750" indent="-285750" algn="l" latinLnBrk="1"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dirty="0"/>
                        <a:t>Mission Analysis Result</a:t>
                      </a:r>
                    </a:p>
                    <a:p>
                      <a:pPr marL="285750" marR="0" lvl="0" indent="-2857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en-US" altLang="ko-KR" dirty="0"/>
                        <a:t>System Design Result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2020. 04.30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indent="-285750" algn="l" latinLnBrk="1">
                        <a:buFont typeface="Wingdings" panose="05000000000000000000" pitchFamily="2" charset="2"/>
                        <a:buChar char="§"/>
                      </a:pP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2044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PDR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indent="-285750" algn="l" latinLnBrk="1"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dirty="0"/>
                        <a:t>Subsystem Design</a:t>
                      </a:r>
                      <a:r>
                        <a:rPr lang="ko-KR" altLang="en-US" dirty="0"/>
                        <a:t> </a:t>
                      </a:r>
                      <a:r>
                        <a:rPr lang="en-US" altLang="ko-KR" dirty="0"/>
                        <a:t>Result</a:t>
                      </a:r>
                    </a:p>
                    <a:p>
                      <a:pPr marL="285750" indent="-285750" algn="l" latinLnBrk="1"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dirty="0"/>
                        <a:t>EGSE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2020. 07. 30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indent="-285750" algn="l" latinLnBrk="1"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dirty="0"/>
                        <a:t>EM(Antenna)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2044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CDR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indent="-285750" algn="l" latinLnBrk="1"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dirty="0"/>
                        <a:t>Unit</a:t>
                      </a:r>
                      <a:r>
                        <a:rPr lang="ko-KR" altLang="en-US" dirty="0"/>
                        <a:t> </a:t>
                      </a:r>
                      <a:r>
                        <a:rPr lang="en-US" altLang="ko-KR" dirty="0"/>
                        <a:t>Level</a:t>
                      </a:r>
                      <a:r>
                        <a:rPr lang="ko-KR" altLang="en-US" dirty="0"/>
                        <a:t> </a:t>
                      </a:r>
                      <a:r>
                        <a:rPr lang="en-US" altLang="ko-KR" dirty="0"/>
                        <a:t>Design Result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2020. 12. 30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indent="-285750" algn="l" latinLnBrk="1"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dirty="0"/>
                        <a:t>EQM(Payload)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299529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Roles</a:t>
            </a:r>
            <a:r>
              <a:rPr lang="ko-KR" altLang="en-US" dirty="0"/>
              <a:t> </a:t>
            </a:r>
            <a:r>
              <a:rPr lang="en-US" altLang="ko-KR" dirty="0"/>
              <a:t>&amp;</a:t>
            </a:r>
            <a:r>
              <a:rPr lang="ko-KR" altLang="en-US" dirty="0"/>
              <a:t> </a:t>
            </a:r>
            <a:r>
              <a:rPr lang="en-US" altLang="ko-KR" dirty="0"/>
              <a:t>Responsibility</a:t>
            </a:r>
            <a:endParaRPr lang="ko-KR" altLang="en-US" dirty="0"/>
          </a:p>
        </p:txBody>
      </p:sp>
      <p:graphicFrame>
        <p:nvGraphicFramePr>
          <p:cNvPr id="9" name="내용 개체 틀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35154131"/>
              </p:ext>
            </p:extLst>
          </p:nvPr>
        </p:nvGraphicFramePr>
        <p:xfrm>
          <a:off x="370941" y="1450411"/>
          <a:ext cx="8439353" cy="399329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920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24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9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3290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Role</a:t>
                      </a:r>
                      <a:endParaRPr lang="ko-KR" altLang="en-US" sz="1600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RLE</a:t>
                      </a:r>
                      <a:endParaRPr lang="ko-KR" altLang="en-US" sz="160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RDE</a:t>
                      </a:r>
                      <a:endParaRPr lang="ko-KR" altLang="en-US" sz="160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451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Project</a:t>
                      </a:r>
                      <a:r>
                        <a:rPr lang="ko-KR" altLang="en-US" sz="1600" dirty="0"/>
                        <a:t> </a:t>
                      </a:r>
                      <a:r>
                        <a:rPr lang="en-US" altLang="ko-KR" sz="1600" dirty="0"/>
                        <a:t>Manger</a:t>
                      </a:r>
                      <a:endParaRPr lang="ko-KR" altLang="en-US" sz="16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남명용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17913870"/>
                  </a:ext>
                </a:extLst>
              </a:tr>
              <a:tr h="46451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Product</a:t>
                      </a:r>
                      <a:r>
                        <a:rPr lang="ko-KR" altLang="en-US" sz="1600" dirty="0"/>
                        <a:t> </a:t>
                      </a:r>
                      <a:r>
                        <a:rPr lang="en-US" altLang="ko-KR" sz="1600" dirty="0"/>
                        <a:t>Assurance</a:t>
                      </a:r>
                      <a:endParaRPr lang="ko-KR" altLang="en-US" sz="16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 err="1"/>
                        <a:t>조성운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33840387"/>
                  </a:ext>
                </a:extLst>
              </a:tr>
              <a:tr h="464516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System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EDI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오대수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 err="1"/>
                        <a:t>우무현</a:t>
                      </a:r>
                      <a:r>
                        <a:rPr lang="en-US" altLang="ko-KR" sz="1600" dirty="0"/>
                        <a:t>, </a:t>
                      </a:r>
                      <a:r>
                        <a:rPr lang="ko-KR" altLang="en-US" sz="1600" dirty="0"/>
                        <a:t>박상섭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64516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MDI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김민석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2523934"/>
                  </a:ext>
                </a:extLst>
              </a:tr>
              <a:tr h="464516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Payload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Digital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오대수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박양수</a:t>
                      </a:r>
                      <a:r>
                        <a:rPr lang="en-US" altLang="ko-KR" sz="1600" dirty="0"/>
                        <a:t>, </a:t>
                      </a:r>
                      <a:r>
                        <a:rPr lang="ko-KR" altLang="en-US" sz="1600" dirty="0" err="1"/>
                        <a:t>박정태</a:t>
                      </a:r>
                      <a:r>
                        <a:rPr lang="en-US" altLang="ko-KR" sz="1600" dirty="0"/>
                        <a:t>,</a:t>
                      </a:r>
                      <a:r>
                        <a:rPr lang="ko-KR" altLang="en-US" sz="1600" dirty="0"/>
                        <a:t>이창수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6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64516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RF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 err="1"/>
                        <a:t>우무현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 err="1"/>
                        <a:t>박창서</a:t>
                      </a:r>
                      <a:r>
                        <a:rPr lang="en-US" altLang="ko-KR" sz="1600" dirty="0"/>
                        <a:t> 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57588468"/>
                  </a:ext>
                </a:extLst>
              </a:tr>
              <a:tr h="46451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Bus</a:t>
                      </a:r>
                      <a:endParaRPr lang="ko-KR" altLang="en-US" sz="16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박상섭</a:t>
                      </a:r>
                      <a:r>
                        <a:rPr lang="en-US" altLang="ko-KR" sz="1600" dirty="0"/>
                        <a:t>(AOCS)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/>
                        <a:t>Will be assigned</a:t>
                      </a:r>
                      <a:endParaRPr lang="ko-KR" alt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GS</a:t>
                      </a:r>
                      <a:endParaRPr lang="ko-KR" altLang="en-US" sz="16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양희인</a:t>
                      </a:r>
                      <a:r>
                        <a:rPr lang="en-US" altLang="ko-KR" sz="1600" dirty="0"/>
                        <a:t>(SDPA)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/>
                        <a:t>Will be assigned</a:t>
                      </a:r>
                      <a:endParaRPr lang="ko-KR" alt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9573165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218769" y="2924908"/>
            <a:ext cx="8706462" cy="1008185"/>
          </a:xfrm>
          <a:prstGeom prst="rect">
            <a:avLst/>
          </a:prstGeom>
          <a:solidFill>
            <a:srgbClr val="DAC1FF">
              <a:alpha val="31765"/>
            </a:srgbClr>
          </a:solidFill>
        </p:spPr>
        <p:txBody>
          <a:bodyPr anchor="ctr" anchorCtr="1"/>
          <a:lstStyle>
            <a:defPPr>
              <a:defRPr lang="en-US"/>
            </a:defPPr>
            <a:lvl1pPr algn="ctr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itchFamily="18" charset="0"/>
                <a:ea typeface="굴림" charset="-127"/>
                <a:cs typeface="+mn-cs"/>
              </a:defRPr>
            </a:lvl1pPr>
            <a:lvl2pPr marL="457200" algn="ctr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itchFamily="18" charset="0"/>
                <a:ea typeface="굴림" charset="-127"/>
                <a:cs typeface="+mn-cs"/>
              </a:defRPr>
            </a:lvl2pPr>
            <a:lvl3pPr marL="914400" algn="ctr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itchFamily="18" charset="0"/>
                <a:ea typeface="굴림" charset="-127"/>
                <a:cs typeface="+mn-cs"/>
              </a:defRPr>
            </a:lvl3pPr>
            <a:lvl4pPr marL="1371600" algn="ctr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itchFamily="18" charset="0"/>
                <a:ea typeface="굴림" charset="-127"/>
                <a:cs typeface="+mn-cs"/>
              </a:defRPr>
            </a:lvl4pPr>
            <a:lvl5pPr marL="1828800" algn="ctr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itchFamily="18" charset="0"/>
                <a:ea typeface="굴림" charset="-127"/>
                <a:cs typeface="+mn-cs"/>
              </a:defRPr>
            </a:lvl5pPr>
            <a:lvl6pPr marL="22860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Times New Roman" pitchFamily="18" charset="0"/>
                <a:ea typeface="굴림" charset="-127"/>
                <a:cs typeface="+mn-cs"/>
              </a:defRPr>
            </a:lvl6pPr>
            <a:lvl7pPr marL="27432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Times New Roman" pitchFamily="18" charset="0"/>
                <a:ea typeface="굴림" charset="-127"/>
                <a:cs typeface="+mn-cs"/>
              </a:defRPr>
            </a:lvl7pPr>
            <a:lvl8pPr marL="32004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Times New Roman" pitchFamily="18" charset="0"/>
                <a:ea typeface="굴림" charset="-127"/>
                <a:cs typeface="+mn-cs"/>
              </a:defRPr>
            </a:lvl8pPr>
            <a:lvl9pPr marL="36576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Times New Roman" pitchFamily="18" charset="0"/>
                <a:ea typeface="굴림" charset="-127"/>
                <a:cs typeface="+mn-cs"/>
              </a:defRPr>
            </a:lvl9pPr>
          </a:lstStyle>
          <a:p>
            <a:pPr lvl="0" algn="l" latinLnBrk="0"/>
            <a:r>
              <a:rPr lang="en-US" altLang="ko-KR" b="1" dirty="0">
                <a:solidFill>
                  <a:srgbClr val="000000"/>
                </a:solidFill>
                <a:latin typeface="+mj-lt"/>
                <a:ea typeface="굴림" panose="020B0600000101010101" pitchFamily="50" charset="-127"/>
              </a:rPr>
              <a:t>System Overview</a:t>
            </a:r>
            <a:endParaRPr lang="ko-KR" altLang="en-US" b="1" dirty="0">
              <a:solidFill>
                <a:srgbClr val="000000"/>
              </a:solidFill>
              <a:latin typeface="+mj-lt"/>
              <a:ea typeface="굴림" panose="020B0600000101010101" pitchFamily="50" charset="-127"/>
            </a:endParaRPr>
          </a:p>
        </p:txBody>
      </p:sp>
      <p:sp>
        <p:nvSpPr>
          <p:cNvPr id="5" name="Line 3"/>
          <p:cNvSpPr>
            <a:spLocks noChangeShapeType="1"/>
          </p:cNvSpPr>
          <p:nvPr/>
        </p:nvSpPr>
        <p:spPr bwMode="auto">
          <a:xfrm>
            <a:off x="221701" y="2913185"/>
            <a:ext cx="8686800" cy="0"/>
          </a:xfrm>
          <a:prstGeom prst="line">
            <a:avLst/>
          </a:prstGeom>
          <a:noFill/>
          <a:ln w="25400" cap="rnd">
            <a:gradFill flip="none" rotWithShape="1">
              <a:gsLst>
                <a:gs pos="0">
                  <a:srgbClr val="7030A0"/>
                </a:gs>
                <a:gs pos="99167">
                  <a:srgbClr val="7030A0"/>
                </a:gs>
                <a:gs pos="50000">
                  <a:srgbClr val="00B0F0"/>
                </a:gs>
              </a:gsLst>
              <a:lin ang="0" scaled="1"/>
              <a:tileRect/>
            </a:gra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US"/>
            </a:defPPr>
            <a:lvl1pPr algn="ctr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itchFamily="18" charset="0"/>
                <a:ea typeface="굴림" charset="-127"/>
                <a:cs typeface="+mn-cs"/>
              </a:defRPr>
            </a:lvl1pPr>
            <a:lvl2pPr marL="457200" algn="ctr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itchFamily="18" charset="0"/>
                <a:ea typeface="굴림" charset="-127"/>
                <a:cs typeface="+mn-cs"/>
              </a:defRPr>
            </a:lvl2pPr>
            <a:lvl3pPr marL="914400" algn="ctr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itchFamily="18" charset="0"/>
                <a:ea typeface="굴림" charset="-127"/>
                <a:cs typeface="+mn-cs"/>
              </a:defRPr>
            </a:lvl3pPr>
            <a:lvl4pPr marL="1371600" algn="ctr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itchFamily="18" charset="0"/>
                <a:ea typeface="굴림" charset="-127"/>
                <a:cs typeface="+mn-cs"/>
              </a:defRPr>
            </a:lvl4pPr>
            <a:lvl5pPr marL="1828800" algn="ctr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itchFamily="18" charset="0"/>
                <a:ea typeface="굴림" charset="-127"/>
                <a:cs typeface="+mn-cs"/>
              </a:defRPr>
            </a:lvl5pPr>
            <a:lvl6pPr marL="22860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Times New Roman" pitchFamily="18" charset="0"/>
                <a:ea typeface="굴림" charset="-127"/>
                <a:cs typeface="+mn-cs"/>
              </a:defRPr>
            </a:lvl6pPr>
            <a:lvl7pPr marL="27432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Times New Roman" pitchFamily="18" charset="0"/>
                <a:ea typeface="굴림" charset="-127"/>
                <a:cs typeface="+mn-cs"/>
              </a:defRPr>
            </a:lvl7pPr>
            <a:lvl8pPr marL="32004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Times New Roman" pitchFamily="18" charset="0"/>
                <a:ea typeface="굴림" charset="-127"/>
                <a:cs typeface="+mn-cs"/>
              </a:defRPr>
            </a:lvl8pPr>
            <a:lvl9pPr marL="36576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Times New Roman" pitchFamily="18" charset="0"/>
                <a:ea typeface="굴림" charset="-127"/>
                <a:cs typeface="+mn-cs"/>
              </a:defRPr>
            </a:lvl9pPr>
          </a:lstStyle>
          <a:p>
            <a:endParaRPr lang="ko-KR" altLang="en-US" sz="2215"/>
          </a:p>
        </p:txBody>
      </p:sp>
      <p:sp>
        <p:nvSpPr>
          <p:cNvPr id="6" name="Line 4"/>
          <p:cNvSpPr>
            <a:spLocks noChangeShapeType="1"/>
          </p:cNvSpPr>
          <p:nvPr/>
        </p:nvSpPr>
        <p:spPr bwMode="auto">
          <a:xfrm>
            <a:off x="221701" y="3931626"/>
            <a:ext cx="8686800" cy="0"/>
          </a:xfrm>
          <a:prstGeom prst="line">
            <a:avLst/>
          </a:prstGeom>
          <a:noFill/>
          <a:ln w="25400" cap="rnd">
            <a:gradFill flip="none" rotWithShape="1">
              <a:gsLst>
                <a:gs pos="0">
                  <a:srgbClr val="7030A0"/>
                </a:gs>
                <a:gs pos="99167">
                  <a:srgbClr val="7030A0"/>
                </a:gs>
                <a:gs pos="50000">
                  <a:srgbClr val="00B0F0"/>
                </a:gs>
              </a:gsLst>
              <a:lin ang="0" scaled="1"/>
              <a:tileRect/>
            </a:gra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US"/>
            </a:defPPr>
            <a:lvl1pPr algn="ctr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itchFamily="18" charset="0"/>
                <a:ea typeface="굴림" charset="-127"/>
                <a:cs typeface="+mn-cs"/>
              </a:defRPr>
            </a:lvl1pPr>
            <a:lvl2pPr marL="457200" algn="ctr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itchFamily="18" charset="0"/>
                <a:ea typeface="굴림" charset="-127"/>
                <a:cs typeface="+mn-cs"/>
              </a:defRPr>
            </a:lvl2pPr>
            <a:lvl3pPr marL="914400" algn="ctr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itchFamily="18" charset="0"/>
                <a:ea typeface="굴림" charset="-127"/>
                <a:cs typeface="+mn-cs"/>
              </a:defRPr>
            </a:lvl3pPr>
            <a:lvl4pPr marL="1371600" algn="ctr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itchFamily="18" charset="0"/>
                <a:ea typeface="굴림" charset="-127"/>
                <a:cs typeface="+mn-cs"/>
              </a:defRPr>
            </a:lvl4pPr>
            <a:lvl5pPr marL="1828800" algn="ctr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itchFamily="18" charset="0"/>
                <a:ea typeface="굴림" charset="-127"/>
                <a:cs typeface="+mn-cs"/>
              </a:defRPr>
            </a:lvl5pPr>
            <a:lvl6pPr marL="22860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Times New Roman" pitchFamily="18" charset="0"/>
                <a:ea typeface="굴림" charset="-127"/>
                <a:cs typeface="+mn-cs"/>
              </a:defRPr>
            </a:lvl6pPr>
            <a:lvl7pPr marL="27432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Times New Roman" pitchFamily="18" charset="0"/>
                <a:ea typeface="굴림" charset="-127"/>
                <a:cs typeface="+mn-cs"/>
              </a:defRPr>
            </a:lvl7pPr>
            <a:lvl8pPr marL="32004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Times New Roman" pitchFamily="18" charset="0"/>
                <a:ea typeface="굴림" charset="-127"/>
                <a:cs typeface="+mn-cs"/>
              </a:defRPr>
            </a:lvl8pPr>
            <a:lvl9pPr marL="36576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Times New Roman" pitchFamily="18" charset="0"/>
                <a:ea typeface="굴림" charset="-127"/>
                <a:cs typeface="+mn-cs"/>
              </a:defRPr>
            </a:lvl9pPr>
          </a:lstStyle>
          <a:p>
            <a:endParaRPr lang="ko-KR" altLang="en-US" sz="2215"/>
          </a:p>
        </p:txBody>
      </p:sp>
    </p:spTree>
    <p:extLst>
      <p:ext uri="{BB962C8B-B14F-4D97-AF65-F5344CB8AC3E}">
        <p14:creationId xmlns:p14="http://schemas.microsoft.com/office/powerpoint/2010/main" val="338368332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그룹 11"/>
          <p:cNvGrpSpPr/>
          <p:nvPr/>
        </p:nvGrpSpPr>
        <p:grpSpPr>
          <a:xfrm>
            <a:off x="1690586" y="1550852"/>
            <a:ext cx="6122023" cy="4108719"/>
            <a:chOff x="2888600" y="1407697"/>
            <a:chExt cx="6734225" cy="4519590"/>
          </a:xfrm>
        </p:grpSpPr>
        <p:pic>
          <p:nvPicPr>
            <p:cNvPr id="4" name="그림 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888600" y="1491635"/>
              <a:ext cx="5826132" cy="4075898"/>
            </a:xfrm>
            <a:prstGeom prst="rect">
              <a:avLst/>
            </a:prstGeom>
          </p:spPr>
        </p:pic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E0968ABB-1A07-4FEE-A8C1-B41DB34E3C08}"/>
                </a:ext>
              </a:extLst>
            </p:cNvPr>
            <p:cNvSpPr/>
            <p:nvPr/>
          </p:nvSpPr>
          <p:spPr bwMode="auto">
            <a:xfrm>
              <a:off x="5753506" y="1491633"/>
              <a:ext cx="1781790" cy="875139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ko-KR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굴림" charset="-127"/>
              </a:endParaRPr>
            </a:p>
          </p:txBody>
        </p:sp>
        <p:sp>
          <p:nvSpPr>
            <p:cNvPr id="6" name="내용 개체 틀 2"/>
            <p:cNvSpPr txBox="1">
              <a:spLocks/>
            </p:cNvSpPr>
            <p:nvPr/>
          </p:nvSpPr>
          <p:spPr bwMode="auto">
            <a:xfrm>
              <a:off x="7374916" y="1636197"/>
              <a:ext cx="2247909" cy="7305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2075" tIns="46038" rIns="92075" bIns="46038" numCol="1" anchor="t" anchorCtr="0" compatLnSpc="1">
              <a:prstTxWarp prst="textNoShape">
                <a:avLst/>
              </a:prstTxWarp>
            </a:bodyPr>
            <a:lstStyle>
              <a:lvl1pPr marL="190500" marR="0" indent="-190500" algn="l" defTabSz="914400" rtl="0" eaLnBrk="0" fontAlgn="base" latinLnBrk="1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Char char="§"/>
                <a:tabLst/>
                <a:defRPr sz="2000" baseline="0">
                  <a:solidFill>
                    <a:schemeClr val="tx1"/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+mn-cs"/>
                </a:defRPr>
              </a:lvl1pPr>
              <a:lvl2pPr marL="538163" marR="0" indent="-190500" algn="l" defTabSz="914400" rtl="0" eaLnBrk="0" fontAlgn="base" latinLnBrk="1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Char char="–"/>
                <a:tabLst/>
                <a:defRPr sz="1600" baseline="0">
                  <a:solidFill>
                    <a:schemeClr val="tx1"/>
                  </a:solidFill>
                  <a:latin typeface="Arial" panose="020B0604020202020204" pitchFamily="34" charset="0"/>
                  <a:ea typeface="맑은 고딕" panose="020B0503020000020004" pitchFamily="50" charset="-127"/>
                </a:defRPr>
              </a:lvl2pPr>
              <a:lvl3pPr marL="896938" marR="0" indent="-228600" algn="l" defTabSz="914400" rtl="0" eaLnBrk="0" fontAlgn="base" latinLnBrk="1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Char char="•"/>
                <a:tabLst/>
                <a:defRPr sz="1600" baseline="0">
                  <a:solidFill>
                    <a:schemeClr val="tx1"/>
                  </a:solidFill>
                  <a:latin typeface="Arial" panose="020B0604020202020204" pitchFamily="34" charset="0"/>
                  <a:ea typeface="맑은 고딕" panose="020B0503020000020004" pitchFamily="50" charset="-127"/>
                </a:defRPr>
              </a:lvl3pPr>
              <a:lvl4pPr marL="1255713" marR="0" indent="-228600" algn="l" defTabSz="914400" rtl="0" eaLnBrk="0" fontAlgn="base" latinLnBrk="1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Char char="–"/>
                <a:tabLst/>
                <a:defRPr sz="1400" baseline="0">
                  <a:solidFill>
                    <a:schemeClr val="tx1"/>
                  </a:solidFill>
                  <a:latin typeface="Arial" panose="020B0604020202020204" pitchFamily="34" charset="0"/>
                  <a:ea typeface="맑은 고딕" panose="020B0503020000020004" pitchFamily="50" charset="-127"/>
                </a:defRPr>
              </a:lvl4pPr>
              <a:lvl5pPr marL="1614488" marR="0" indent="-228600" algn="l" defTabSz="914400" rtl="0" eaLnBrk="0" fontAlgn="base" latinLnBrk="1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Char char="»"/>
                <a:tabLst/>
                <a:defRPr sz="2000" baseline="0">
                  <a:solidFill>
                    <a:schemeClr val="tx1"/>
                  </a:solidFill>
                  <a:latin typeface="Arial" panose="020B0604020202020204" pitchFamily="34" charset="0"/>
                  <a:ea typeface="맑은 고딕" panose="020B0503020000020004" pitchFamily="50" charset="-127"/>
                </a:defRPr>
              </a:lvl5pPr>
              <a:lvl6pPr marL="2514600" indent="-228600" algn="l" rtl="0" fontAlgn="base" latinLnBrk="1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굴림" charset="-127"/>
                </a:defRPr>
              </a:lvl6pPr>
              <a:lvl7pPr marL="2971800" indent="-228600" algn="l" rtl="0" fontAlgn="base" latinLnBrk="1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굴림" charset="-127"/>
                </a:defRPr>
              </a:lvl7pPr>
              <a:lvl8pPr marL="3429000" indent="-228600" algn="l" rtl="0" fontAlgn="base" latinLnBrk="1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굴림" charset="-127"/>
                </a:defRPr>
              </a:lvl8pPr>
              <a:lvl9pPr marL="3886200" indent="-228600" algn="l" rtl="0" fontAlgn="base" latinLnBrk="1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굴림" charset="-127"/>
                </a:defRPr>
              </a:lvl9pPr>
            </a:lstStyle>
            <a:p>
              <a:pPr marL="0" indent="0">
                <a:buNone/>
              </a:pPr>
              <a:r>
                <a:rPr lang="en-US" altLang="ko-KR" sz="1400" b="1" kern="0" dirty="0">
                  <a:solidFill>
                    <a:srgbClr val="660066"/>
                  </a:solidFill>
                </a:rPr>
                <a:t>Satellite</a:t>
              </a:r>
            </a:p>
            <a:p>
              <a:pPr marL="0" indent="0">
                <a:buNone/>
              </a:pPr>
              <a:r>
                <a:rPr lang="en-US" altLang="ko-KR" sz="1100" b="1" kern="0" dirty="0"/>
                <a:t>  Spacecraft Bus</a:t>
              </a:r>
            </a:p>
            <a:p>
              <a:pPr marL="0" indent="0">
                <a:buNone/>
              </a:pPr>
              <a:r>
                <a:rPr lang="en-US" altLang="ko-KR" sz="1100" b="1" kern="0" dirty="0"/>
                <a:t>  Payload </a:t>
              </a:r>
              <a:r>
                <a:rPr lang="en-US" altLang="ko-KR" sz="1000" kern="0" dirty="0"/>
                <a:t>(SAR)</a:t>
              </a:r>
            </a:p>
          </p:txBody>
        </p:sp>
        <p:grpSp>
          <p:nvGrpSpPr>
            <p:cNvPr id="7" name="그룹 6"/>
            <p:cNvGrpSpPr/>
            <p:nvPr/>
          </p:nvGrpSpPr>
          <p:grpSpPr>
            <a:xfrm rot="20545574">
              <a:off x="5439797" y="1407697"/>
              <a:ext cx="1950564" cy="1187575"/>
              <a:chOff x="-1642013" y="1632929"/>
              <a:chExt cx="3455544" cy="2103862"/>
            </a:xfrm>
          </p:grpSpPr>
          <p:pic>
            <p:nvPicPr>
              <p:cNvPr id="8" name="Picture 4">
                <a:extLst>
                  <a:ext uri="{FF2B5EF4-FFF2-40B4-BE49-F238E27FC236}">
                    <a16:creationId xmlns:a16="http://schemas.microsoft.com/office/drawing/2014/main" id="{9E457DEC-99E1-42F0-B255-48028A46BC3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-1642013" y="1632929"/>
                <a:ext cx="3261802" cy="210386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9" name="직사각형 8"/>
              <p:cNvSpPr/>
              <p:nvPr/>
            </p:nvSpPr>
            <p:spPr bwMode="auto">
              <a:xfrm rot="1669892">
                <a:off x="284238" y="2539887"/>
                <a:ext cx="1529293" cy="630862"/>
              </a:xfrm>
              <a:prstGeom prst="rect">
                <a:avLst/>
              </a:prstGeom>
              <a:solidFill>
                <a:schemeClr val="bg1"/>
              </a:solidFill>
              <a:ln w="57150" cap="flat" cmpd="sng" algn="ctr">
                <a:noFill/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ko-KR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굴림" panose="020B0600000101010101" pitchFamily="50" charset="-127"/>
                </a:endParaRPr>
              </a:p>
            </p:txBody>
          </p:sp>
          <p:sp>
            <p:nvSpPr>
              <p:cNvPr id="10" name="직사각형 9"/>
              <p:cNvSpPr/>
              <p:nvPr/>
            </p:nvSpPr>
            <p:spPr bwMode="auto">
              <a:xfrm rot="19244663">
                <a:off x="148342" y="2577691"/>
                <a:ext cx="343590" cy="109092"/>
              </a:xfrm>
              <a:prstGeom prst="rect">
                <a:avLst/>
              </a:prstGeom>
              <a:solidFill>
                <a:schemeClr val="bg1"/>
              </a:solidFill>
              <a:ln w="57150" cap="flat" cmpd="sng" algn="ctr">
                <a:noFill/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ko-KR" altLang="en-US" sz="2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굴림" panose="020B0600000101010101" pitchFamily="50" charset="-127"/>
                </a:endParaRPr>
              </a:p>
            </p:txBody>
          </p:sp>
        </p:grpSp>
        <p:sp>
          <p:nvSpPr>
            <p:cNvPr id="11" name="내용 개체 틀 2"/>
            <p:cNvSpPr txBox="1">
              <a:spLocks/>
            </p:cNvSpPr>
            <p:nvPr/>
          </p:nvSpPr>
          <p:spPr bwMode="auto">
            <a:xfrm>
              <a:off x="7029494" y="5534158"/>
              <a:ext cx="1706278" cy="3931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2075" tIns="46038" rIns="92075" bIns="46038" numCol="1" anchor="t" anchorCtr="0" compatLnSpc="1">
              <a:prstTxWarp prst="textNoShape">
                <a:avLst/>
              </a:prstTxWarp>
            </a:bodyPr>
            <a:lstStyle>
              <a:lvl1pPr marL="190500" marR="0" indent="-190500" algn="l" defTabSz="914400" rtl="0" eaLnBrk="0" fontAlgn="base" latinLnBrk="1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Char char="§"/>
                <a:tabLst/>
                <a:defRPr sz="2000" baseline="0">
                  <a:solidFill>
                    <a:schemeClr val="tx1"/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+mn-cs"/>
                </a:defRPr>
              </a:lvl1pPr>
              <a:lvl2pPr marL="538163" marR="0" indent="-190500" algn="l" defTabSz="914400" rtl="0" eaLnBrk="0" fontAlgn="base" latinLnBrk="1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Char char="–"/>
                <a:tabLst/>
                <a:defRPr sz="1600" baseline="0">
                  <a:solidFill>
                    <a:schemeClr val="tx1"/>
                  </a:solidFill>
                  <a:latin typeface="Arial" panose="020B0604020202020204" pitchFamily="34" charset="0"/>
                  <a:ea typeface="맑은 고딕" panose="020B0503020000020004" pitchFamily="50" charset="-127"/>
                </a:defRPr>
              </a:lvl2pPr>
              <a:lvl3pPr marL="896938" marR="0" indent="-228600" algn="l" defTabSz="914400" rtl="0" eaLnBrk="0" fontAlgn="base" latinLnBrk="1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Char char="•"/>
                <a:tabLst/>
                <a:defRPr sz="1600" baseline="0">
                  <a:solidFill>
                    <a:schemeClr val="tx1"/>
                  </a:solidFill>
                  <a:latin typeface="Arial" panose="020B0604020202020204" pitchFamily="34" charset="0"/>
                  <a:ea typeface="맑은 고딕" panose="020B0503020000020004" pitchFamily="50" charset="-127"/>
                </a:defRPr>
              </a:lvl3pPr>
              <a:lvl4pPr marL="1255713" marR="0" indent="-228600" algn="l" defTabSz="914400" rtl="0" eaLnBrk="0" fontAlgn="base" latinLnBrk="1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Char char="–"/>
                <a:tabLst/>
                <a:defRPr sz="1400" baseline="0">
                  <a:solidFill>
                    <a:schemeClr val="tx1"/>
                  </a:solidFill>
                  <a:latin typeface="Arial" panose="020B0604020202020204" pitchFamily="34" charset="0"/>
                  <a:ea typeface="맑은 고딕" panose="020B0503020000020004" pitchFamily="50" charset="-127"/>
                </a:defRPr>
              </a:lvl4pPr>
              <a:lvl5pPr marL="1614488" marR="0" indent="-228600" algn="l" defTabSz="914400" rtl="0" eaLnBrk="0" fontAlgn="base" latinLnBrk="1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Char char="»"/>
                <a:tabLst/>
                <a:defRPr sz="2000" baseline="0">
                  <a:solidFill>
                    <a:schemeClr val="tx1"/>
                  </a:solidFill>
                  <a:latin typeface="Arial" panose="020B0604020202020204" pitchFamily="34" charset="0"/>
                  <a:ea typeface="맑은 고딕" panose="020B0503020000020004" pitchFamily="50" charset="-127"/>
                </a:defRPr>
              </a:lvl5pPr>
              <a:lvl6pPr marL="2514600" indent="-228600" algn="l" rtl="0" fontAlgn="base" latinLnBrk="1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굴림" charset="-127"/>
                </a:defRPr>
              </a:lvl6pPr>
              <a:lvl7pPr marL="2971800" indent="-228600" algn="l" rtl="0" fontAlgn="base" latinLnBrk="1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굴림" charset="-127"/>
                </a:defRPr>
              </a:lvl7pPr>
              <a:lvl8pPr marL="3429000" indent="-228600" algn="l" rtl="0" fontAlgn="base" latinLnBrk="1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굴림" charset="-127"/>
                </a:defRPr>
              </a:lvl8pPr>
              <a:lvl9pPr marL="3886200" indent="-228600" algn="l" rtl="0" fontAlgn="base" latinLnBrk="1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굴림" charset="-127"/>
                </a:defRPr>
              </a:lvl9pPr>
            </a:lstStyle>
            <a:p>
              <a:pPr marL="0" indent="0">
                <a:buNone/>
              </a:pPr>
              <a:r>
                <a:rPr lang="en-US" altLang="ko-KR" sz="1400" b="1" kern="0" dirty="0">
                  <a:solidFill>
                    <a:srgbClr val="660066"/>
                  </a:solidFill>
                </a:rPr>
                <a:t>Ground Station</a:t>
              </a:r>
              <a:endParaRPr lang="en-US" altLang="ko-KR" sz="1000" kern="0" dirty="0"/>
            </a:p>
          </p:txBody>
        </p:sp>
      </p:grp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Concept of Operation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br>
              <a:rPr lang="en-US" altLang="ko-KR" dirty="0"/>
            </a:br>
            <a:endParaRPr lang="en-US" altLang="ko-KR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3199940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System Requirements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Requirements Allocation</a:t>
            </a:r>
            <a:endParaRPr lang="ko-KR" altLang="en-US" dirty="0"/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9409F9F2-2F43-4842-9A17-09AFA32899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1537375"/>
              </p:ext>
            </p:extLst>
          </p:nvPr>
        </p:nvGraphicFramePr>
        <p:xfrm>
          <a:off x="500335" y="1464151"/>
          <a:ext cx="8100202" cy="45829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0812">
                  <a:extLst>
                    <a:ext uri="{9D8B030D-6E8A-4147-A177-3AD203B41FA5}">
                      <a16:colId xmlns:a16="http://schemas.microsoft.com/office/drawing/2014/main" val="3967507389"/>
                    </a:ext>
                  </a:extLst>
                </a:gridCol>
                <a:gridCol w="3408907">
                  <a:extLst>
                    <a:ext uri="{9D8B030D-6E8A-4147-A177-3AD203B41FA5}">
                      <a16:colId xmlns:a16="http://schemas.microsoft.com/office/drawing/2014/main" val="3747694627"/>
                    </a:ext>
                  </a:extLst>
                </a:gridCol>
                <a:gridCol w="2165685">
                  <a:extLst>
                    <a:ext uri="{9D8B030D-6E8A-4147-A177-3AD203B41FA5}">
                      <a16:colId xmlns:a16="http://schemas.microsoft.com/office/drawing/2014/main" val="169883087"/>
                    </a:ext>
                  </a:extLst>
                </a:gridCol>
                <a:gridCol w="1724798">
                  <a:extLst>
                    <a:ext uri="{9D8B030D-6E8A-4147-A177-3AD203B41FA5}">
                      <a16:colId xmlns:a16="http://schemas.microsoft.com/office/drawing/2014/main" val="1220576217"/>
                    </a:ext>
                  </a:extLst>
                </a:gridCol>
              </a:tblGrid>
              <a:tr h="22278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순번</a:t>
                      </a:r>
                    </a:p>
                  </a:txBody>
                  <a:tcPr anchor="ctr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항목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설계규격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비고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4531302"/>
                  </a:ext>
                </a:extLst>
              </a:tr>
              <a:tr h="22278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SAR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 분해능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Az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: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&lt; 1 m, </a:t>
                      </a:r>
                      <a:r>
                        <a:rPr lang="en-US" altLang="ko-KR" sz="800" b="0" dirty="0" err="1">
                          <a:solidFill>
                            <a:schemeClr val="tx1"/>
                          </a:solidFill>
                        </a:rPr>
                        <a:t>Rg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 : &lt; 1 m</a:t>
                      </a:r>
                      <a:endParaRPr lang="ko-KR" altLang="en-US" sz="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TBD</a:t>
                      </a:r>
                      <a:endParaRPr lang="ko-KR" altLang="en-US" sz="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16304871"/>
                  </a:ext>
                </a:extLst>
              </a:tr>
              <a:tr h="22278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고도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505 km</a:t>
                      </a:r>
                      <a:endParaRPr lang="ko-KR" altLang="en-US" sz="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TBD</a:t>
                      </a:r>
                      <a:endParaRPr lang="ko-KR" altLang="en-US" sz="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5036857"/>
                  </a:ext>
                </a:extLst>
              </a:tr>
              <a:tr h="22278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궤도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태양동기궤도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TBD</a:t>
                      </a:r>
                      <a:endParaRPr lang="ko-KR" altLang="en-US" sz="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99435687"/>
                  </a:ext>
                </a:extLst>
              </a:tr>
              <a:tr h="22278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궤도당 최대 영상획득 시간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&gt; 60 s , Duty &lt; 1%</a:t>
                      </a:r>
                      <a:endParaRPr lang="ko-KR" altLang="en-US" sz="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TBD</a:t>
                      </a:r>
                      <a:endParaRPr lang="ko-KR" altLang="en-US" sz="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23659625"/>
                  </a:ext>
                </a:extLst>
              </a:tr>
              <a:tr h="22278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관측 모드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 err="1">
                          <a:solidFill>
                            <a:schemeClr val="tx1"/>
                          </a:solidFill>
                        </a:rPr>
                        <a:t>Stripmap</a:t>
                      </a:r>
                      <a:endParaRPr lang="ko-KR" altLang="en-US" sz="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TBD</a:t>
                      </a:r>
                      <a:endParaRPr lang="ko-KR" altLang="en-US" sz="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6446448"/>
                  </a:ext>
                </a:extLst>
              </a:tr>
              <a:tr h="22278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err="1">
                          <a:solidFill>
                            <a:schemeClr val="tx1"/>
                          </a:solidFill>
                        </a:rPr>
                        <a:t>관측폭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 err="1">
                          <a:solidFill>
                            <a:schemeClr val="tx1"/>
                          </a:solidFill>
                        </a:rPr>
                        <a:t>Stripmap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 : &gt; 70km</a:t>
                      </a:r>
                      <a:endParaRPr lang="ko-KR" altLang="en-US" sz="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TBD</a:t>
                      </a:r>
                      <a:endParaRPr lang="ko-KR" altLang="en-US" sz="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87719992"/>
                  </a:ext>
                </a:extLst>
              </a:tr>
              <a:tr h="22278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관측 경사각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25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sym typeface="Symbol" panose="05050102010706020507" pitchFamily="18" charset="2"/>
                        </a:rPr>
                        <a:t>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 ~ 31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sym typeface="Symbol" panose="05050102010706020507" pitchFamily="18" charset="2"/>
                        </a:rPr>
                        <a:t></a:t>
                      </a:r>
                      <a:endParaRPr lang="ko-KR" altLang="en-US" sz="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TBD</a:t>
                      </a:r>
                      <a:endParaRPr lang="ko-KR" altLang="en-US" sz="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83785114"/>
                  </a:ext>
                </a:extLst>
              </a:tr>
              <a:tr h="22278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9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SAR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 영상자료 저장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ko-KR" altLang="en-US" sz="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TBD</a:t>
                      </a:r>
                      <a:endParaRPr lang="ko-KR" altLang="en-US" sz="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459762"/>
                  </a:ext>
                </a:extLst>
              </a:tr>
              <a:tr h="22278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Downlink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 전송속도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320 Mbps</a:t>
                      </a:r>
                      <a:endParaRPr lang="ko-KR" altLang="en-US" sz="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TBD</a:t>
                      </a:r>
                      <a:endParaRPr lang="ko-KR" altLang="en-US" sz="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8495945"/>
                  </a:ext>
                </a:extLst>
              </a:tr>
              <a:tr h="22278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자료 암호화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ko-KR" altLang="en-US" sz="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TBD</a:t>
                      </a:r>
                      <a:endParaRPr lang="ko-KR" altLang="en-US" sz="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0369980"/>
                  </a:ext>
                </a:extLst>
              </a:tr>
              <a:tr h="22278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12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이중화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Board Level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기준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TBD</a:t>
                      </a:r>
                      <a:endParaRPr lang="ko-KR" altLang="en-US" sz="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9546947"/>
                  </a:ext>
                </a:extLst>
              </a:tr>
              <a:tr h="22278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13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편파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V-pol.</a:t>
                      </a:r>
                      <a:endParaRPr lang="ko-KR" altLang="en-US" sz="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TBD</a:t>
                      </a:r>
                      <a:endParaRPr lang="ko-KR" altLang="en-US" sz="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8695433"/>
                  </a:ext>
                </a:extLst>
              </a:tr>
              <a:tr h="22278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14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주파수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9.66 GHz</a:t>
                      </a:r>
                      <a:endParaRPr lang="ko-KR" altLang="en-US" sz="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TBD</a:t>
                      </a:r>
                      <a:endParaRPr lang="ko-KR" altLang="en-US" sz="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81161276"/>
                  </a:ext>
                </a:extLst>
              </a:tr>
              <a:tr h="22278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15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Chirp 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대역폭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&gt; 300 MHz</a:t>
                      </a:r>
                      <a:endParaRPr lang="ko-KR" altLang="en-US" sz="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TBD</a:t>
                      </a:r>
                      <a:endParaRPr lang="ko-KR" altLang="en-US" sz="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05690612"/>
                  </a:ext>
                </a:extLst>
              </a:tr>
              <a:tr h="22278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16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Chirp 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생성방식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DDS, Memory map</a:t>
                      </a:r>
                      <a:endParaRPr lang="ko-KR" altLang="en-US" sz="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TBD</a:t>
                      </a:r>
                      <a:endParaRPr lang="ko-KR" altLang="en-US" sz="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31539315"/>
                  </a:ext>
                </a:extLst>
              </a:tr>
              <a:tr h="22278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17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소비전력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&lt; 600 W</a:t>
                      </a:r>
                      <a:endParaRPr lang="ko-KR" altLang="en-US" sz="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 TBD</a:t>
                      </a:r>
                      <a:endParaRPr lang="ko-KR" altLang="en-US" sz="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51445837"/>
                  </a:ext>
                </a:extLst>
              </a:tr>
              <a:tr h="22278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18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무게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&lt; 80 kg</a:t>
                      </a:r>
                      <a:endParaRPr lang="ko-KR" altLang="en-US" sz="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TBD</a:t>
                      </a:r>
                      <a:endParaRPr lang="ko-KR" altLang="en-US" sz="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169654"/>
                  </a:ext>
                </a:extLst>
              </a:tr>
              <a:tr h="35008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19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크기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At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Launch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: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0.6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m x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0.6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m x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0.8 m</a:t>
                      </a:r>
                    </a:p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In Orbit : 3.2 m x 0.6 m x 0.8 m</a:t>
                      </a:r>
                      <a:endParaRPr lang="ko-KR" altLang="en-US" sz="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TBD</a:t>
                      </a:r>
                      <a:endParaRPr lang="ko-KR" altLang="en-US" sz="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33535112"/>
                  </a:ext>
                </a:extLst>
              </a:tr>
              <a:tr h="22278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20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환경조건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진동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충격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, EMC,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온도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TBD</a:t>
                      </a:r>
                      <a:endParaRPr lang="ko-KR" altLang="en-US" sz="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907561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0826900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1" algn="l"/>
            <a:r>
              <a:rPr lang="en-US" altLang="ko-KR" dirty="0"/>
              <a:t>H/W Design Baseline 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28600" y="958403"/>
            <a:ext cx="8666162" cy="5248275"/>
          </a:xfrm>
        </p:spPr>
        <p:txBody>
          <a:bodyPr/>
          <a:lstStyle/>
          <a:p>
            <a:r>
              <a:rPr lang="en-US" altLang="ko-KR" dirty="0"/>
              <a:t>Development Model </a:t>
            </a:r>
          </a:p>
          <a:p>
            <a:pPr lvl="1"/>
            <a:r>
              <a:rPr lang="ko-KR" altLang="en-US" dirty="0"/>
              <a:t>기준</a:t>
            </a:r>
            <a:r>
              <a:rPr lang="en-US" altLang="ko-KR" dirty="0"/>
              <a:t>: EQM,</a:t>
            </a:r>
            <a:r>
              <a:rPr lang="en-US" altLang="ko-KR" dirty="0">
                <a:sym typeface="Wingdings" panose="05000000000000000000" pitchFamily="2" charset="2"/>
              </a:rPr>
              <a:t> FM</a:t>
            </a:r>
          </a:p>
          <a:p>
            <a:pPr lvl="1"/>
            <a:r>
              <a:rPr lang="ko-KR" altLang="en-US" dirty="0">
                <a:sym typeface="Wingdings" panose="05000000000000000000" pitchFamily="2" charset="2"/>
              </a:rPr>
              <a:t>예외</a:t>
            </a:r>
            <a:r>
              <a:rPr lang="en-US" altLang="ko-KR" dirty="0">
                <a:sym typeface="Wingdings" panose="05000000000000000000" pitchFamily="2" charset="2"/>
              </a:rPr>
              <a:t>: EM, QM, FM (Antenna)</a:t>
            </a:r>
          </a:p>
          <a:p>
            <a:r>
              <a:rPr lang="en-US" altLang="ko-KR" dirty="0">
                <a:sym typeface="Wingdings" panose="05000000000000000000" pitchFamily="2" charset="2"/>
              </a:rPr>
              <a:t>Redundancy Concept </a:t>
            </a:r>
          </a:p>
          <a:p>
            <a:pPr lvl="1"/>
            <a:r>
              <a:rPr lang="ko-KR" altLang="en-US" dirty="0">
                <a:sym typeface="Wingdings" panose="05000000000000000000" pitchFamily="2" charset="2"/>
              </a:rPr>
              <a:t>기준</a:t>
            </a:r>
            <a:r>
              <a:rPr lang="en-US" altLang="ko-KR" dirty="0">
                <a:sym typeface="Wingdings" panose="05000000000000000000" pitchFamily="2" charset="2"/>
              </a:rPr>
              <a:t>: No Redundancy</a:t>
            </a:r>
          </a:p>
          <a:p>
            <a:pPr lvl="1"/>
            <a:r>
              <a:rPr lang="ko-KR" altLang="en-US" dirty="0">
                <a:sym typeface="Wingdings" panose="05000000000000000000" pitchFamily="2" charset="2"/>
              </a:rPr>
              <a:t>예외</a:t>
            </a:r>
            <a:r>
              <a:rPr lang="en-US" altLang="ko-KR" dirty="0">
                <a:sym typeface="Wingdings" panose="05000000000000000000" pitchFamily="2" charset="2"/>
              </a:rPr>
              <a:t>: Board level Redundancy (Bus(OBC), Payload(SCM)) [TBC]</a:t>
            </a:r>
          </a:p>
          <a:p>
            <a:r>
              <a:rPr lang="en-US" altLang="ko-KR" dirty="0">
                <a:sym typeface="Wingdings" panose="05000000000000000000" pitchFamily="2" charset="2"/>
              </a:rPr>
              <a:t>Standard I/F</a:t>
            </a:r>
          </a:p>
          <a:p>
            <a:pPr lvl="1"/>
            <a:r>
              <a:rPr lang="en-US" altLang="ko-KR" dirty="0">
                <a:sym typeface="Wingdings" panose="05000000000000000000" pitchFamily="2" charset="2"/>
              </a:rPr>
              <a:t>Power : +28V</a:t>
            </a:r>
          </a:p>
          <a:p>
            <a:pPr lvl="1"/>
            <a:r>
              <a:rPr lang="en-US" altLang="ko-KR" dirty="0">
                <a:sym typeface="Wingdings" panose="05000000000000000000" pitchFamily="2" charset="2"/>
              </a:rPr>
              <a:t>TMTC: </a:t>
            </a:r>
            <a:r>
              <a:rPr lang="en-US" altLang="ko-KR" dirty="0" err="1">
                <a:sym typeface="Wingdings" panose="05000000000000000000" pitchFamily="2" charset="2"/>
              </a:rPr>
              <a:t>SpW</a:t>
            </a:r>
            <a:r>
              <a:rPr lang="en-US" altLang="ko-KR" dirty="0">
                <a:sym typeface="Wingdings" panose="05000000000000000000" pitchFamily="2" charset="2"/>
              </a:rPr>
              <a:t>, CAN</a:t>
            </a:r>
          </a:p>
          <a:p>
            <a:pPr lvl="1"/>
            <a:r>
              <a:rPr lang="en-US" altLang="ko-KR" dirty="0">
                <a:sym typeface="Wingdings" panose="05000000000000000000" pitchFamily="2" charset="2"/>
              </a:rPr>
              <a:t>PPS: RS422</a:t>
            </a:r>
          </a:p>
          <a:p>
            <a:pPr lvl="1"/>
            <a:r>
              <a:rPr lang="en-US" altLang="ko-KR" dirty="0">
                <a:sym typeface="Wingdings" panose="05000000000000000000" pitchFamily="2" charset="2"/>
              </a:rPr>
              <a:t>Protocol: CCSDS Compatible</a:t>
            </a:r>
          </a:p>
          <a:p>
            <a:pPr lvl="1"/>
            <a:r>
              <a:rPr lang="en-US" altLang="ko-KR" dirty="0">
                <a:sym typeface="Wingdings" panose="05000000000000000000" pitchFamily="2" charset="2"/>
              </a:rPr>
              <a:t>Box Internal : </a:t>
            </a:r>
            <a:r>
              <a:rPr lang="en-US" altLang="ko-KR" dirty="0" err="1">
                <a:sym typeface="Wingdings" panose="05000000000000000000" pitchFamily="2" charset="2"/>
              </a:rPr>
              <a:t>SpaceVPX</a:t>
            </a:r>
            <a:endParaRPr lang="en-US" altLang="ko-KR" dirty="0">
              <a:sym typeface="Wingdings" panose="05000000000000000000" pitchFamily="2" charset="2"/>
            </a:endParaRPr>
          </a:p>
          <a:p>
            <a:r>
              <a:rPr lang="en-US" altLang="ko-KR" dirty="0">
                <a:sym typeface="Wingdings" panose="05000000000000000000" pitchFamily="2" charset="2"/>
              </a:rPr>
              <a:t>Part Selection</a:t>
            </a:r>
          </a:p>
          <a:p>
            <a:pPr lvl="1"/>
            <a:r>
              <a:rPr lang="ko-KR" altLang="en-US" dirty="0">
                <a:sym typeface="Wingdings" panose="05000000000000000000" pitchFamily="2" charset="2"/>
              </a:rPr>
              <a:t>기준</a:t>
            </a:r>
            <a:r>
              <a:rPr lang="en-US" altLang="ko-KR" dirty="0">
                <a:sym typeface="Wingdings" panose="05000000000000000000" pitchFamily="2" charset="2"/>
              </a:rPr>
              <a:t>: IND Grade</a:t>
            </a:r>
          </a:p>
          <a:p>
            <a:pPr lvl="1"/>
            <a:r>
              <a:rPr lang="ko-KR" altLang="en-US" dirty="0">
                <a:sym typeface="Wingdings" panose="05000000000000000000" pitchFamily="2" charset="2"/>
              </a:rPr>
              <a:t>예외</a:t>
            </a:r>
            <a:r>
              <a:rPr lang="en-US" altLang="ko-KR" dirty="0">
                <a:sym typeface="Wingdings" panose="05000000000000000000" pitchFamily="2" charset="2"/>
              </a:rPr>
              <a:t>: MIL Grade (DC/DC, Regulator, OSC) [TBC]</a:t>
            </a: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7857492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D263454-BA6F-429F-B0C1-0DDEEC6F1E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Satellite Architecture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AA9F1EE-D202-4CD7-8AAE-E32CFB5587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초소형 </a:t>
            </a:r>
            <a:r>
              <a:rPr lang="en-US" altLang="ko-KR" dirty="0"/>
              <a:t>SAR </a:t>
            </a:r>
            <a:r>
              <a:rPr lang="ko-KR" altLang="en-US" dirty="0"/>
              <a:t>위성 시스템 구성</a:t>
            </a:r>
            <a:endParaRPr lang="en-US" altLang="ko-KR" dirty="0"/>
          </a:p>
          <a:p>
            <a:endParaRPr lang="en-US" altLang="ko-KR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7CCC1C4B-062F-4F14-AFD1-EAF0D0AFF60D}"/>
              </a:ext>
            </a:extLst>
          </p:cNvPr>
          <p:cNvSpPr/>
          <p:nvPr/>
        </p:nvSpPr>
        <p:spPr bwMode="auto">
          <a:xfrm>
            <a:off x="6542148" y="4405499"/>
            <a:ext cx="1080000" cy="468000"/>
          </a:xfrm>
          <a:prstGeom prst="rect">
            <a:avLst/>
          </a:prstGeom>
          <a:solidFill>
            <a:schemeClr val="bg1">
              <a:lumMod val="85000"/>
            </a:schemeClr>
          </a:solidFill>
          <a:ln w="635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200" dirty="0">
                <a:latin typeface="+mn-lt"/>
              </a:rPr>
              <a:t>SCEU</a:t>
            </a:r>
          </a:p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900" dirty="0">
                <a:latin typeface="+mn-lt"/>
              </a:rPr>
              <a:t>(SAR Control</a:t>
            </a:r>
          </a:p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900" dirty="0">
                <a:latin typeface="+mn-lt"/>
              </a:rPr>
              <a:t>Electronics Unit)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DECA0CE1-2C5A-4CFA-9A29-FED6DF77C299}"/>
              </a:ext>
            </a:extLst>
          </p:cNvPr>
          <p:cNvSpPr/>
          <p:nvPr/>
        </p:nvSpPr>
        <p:spPr bwMode="auto">
          <a:xfrm>
            <a:off x="7696944" y="4405499"/>
            <a:ext cx="1080000" cy="468000"/>
          </a:xfrm>
          <a:prstGeom prst="rect">
            <a:avLst/>
          </a:prstGeom>
          <a:solidFill>
            <a:schemeClr val="bg1">
              <a:lumMod val="85000"/>
            </a:schemeClr>
          </a:solidFill>
          <a:ln w="635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200" dirty="0">
                <a:latin typeface="+mn-lt"/>
              </a:rPr>
              <a:t>SATA</a:t>
            </a:r>
          </a:p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900" dirty="0">
                <a:latin typeface="+mn-lt"/>
              </a:rPr>
              <a:t>(SAR Antenna &amp;</a:t>
            </a:r>
          </a:p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900" dirty="0">
                <a:latin typeface="+mn-lt"/>
              </a:rPr>
              <a:t>TRM Assembly</a:t>
            </a:r>
            <a:r>
              <a:rPr lang="en-US" altLang="ko-KR" sz="1000" dirty="0">
                <a:latin typeface="+mn-lt"/>
              </a:rPr>
              <a:t>)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CD313E09-8FEB-47FE-8BFE-E7A34123BFDF}"/>
              </a:ext>
            </a:extLst>
          </p:cNvPr>
          <p:cNvSpPr/>
          <p:nvPr/>
        </p:nvSpPr>
        <p:spPr bwMode="auto">
          <a:xfrm>
            <a:off x="5387352" y="4405499"/>
            <a:ext cx="1080000" cy="468000"/>
          </a:xfrm>
          <a:prstGeom prst="rect">
            <a:avLst/>
          </a:prstGeom>
          <a:solidFill>
            <a:schemeClr val="bg1">
              <a:lumMod val="85000"/>
            </a:schemeClr>
          </a:solidFill>
          <a:ln w="635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200" dirty="0">
                <a:latin typeface="+mn-lt"/>
              </a:rPr>
              <a:t>XDAA</a:t>
            </a:r>
          </a:p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900" dirty="0">
                <a:latin typeface="+mn-lt"/>
              </a:rPr>
              <a:t>(X-Band Downlink</a:t>
            </a:r>
          </a:p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900" dirty="0">
                <a:latin typeface="+mn-lt"/>
              </a:rPr>
              <a:t>Antenna Assembly)</a:t>
            </a:r>
          </a:p>
        </p:txBody>
      </p:sp>
      <p:cxnSp>
        <p:nvCxnSpPr>
          <p:cNvPr id="15" name="연결선: 꺾임 14">
            <a:extLst>
              <a:ext uri="{FF2B5EF4-FFF2-40B4-BE49-F238E27FC236}">
                <a16:creationId xmlns:a16="http://schemas.microsoft.com/office/drawing/2014/main" id="{CD143474-68F4-4B52-B310-7382B4A8C17D}"/>
              </a:ext>
            </a:extLst>
          </p:cNvPr>
          <p:cNvCxnSpPr>
            <a:cxnSpLocks/>
            <a:stCxn id="30" idx="2"/>
            <a:endCxn id="12" idx="0"/>
          </p:cNvCxnSpPr>
          <p:nvPr/>
        </p:nvCxnSpPr>
        <p:spPr bwMode="auto">
          <a:xfrm rot="5400000">
            <a:off x="6814052" y="4137104"/>
            <a:ext cx="536491" cy="298"/>
          </a:xfrm>
          <a:prstGeom prst="bentConnector3">
            <a:avLst>
              <a:gd name="adj1" fmla="val 50000"/>
            </a:avLst>
          </a:prstGeom>
          <a:solidFill>
            <a:schemeClr val="accent1"/>
          </a:solidFill>
          <a:ln w="635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6" name="연결선: 꺾임 15">
            <a:extLst>
              <a:ext uri="{FF2B5EF4-FFF2-40B4-BE49-F238E27FC236}">
                <a16:creationId xmlns:a16="http://schemas.microsoft.com/office/drawing/2014/main" id="{B6B1B0BD-EAF5-40D4-A21B-01906792336C}"/>
              </a:ext>
            </a:extLst>
          </p:cNvPr>
          <p:cNvCxnSpPr>
            <a:cxnSpLocks/>
            <a:stCxn id="30" idx="2"/>
            <a:endCxn id="13" idx="0"/>
          </p:cNvCxnSpPr>
          <p:nvPr/>
        </p:nvCxnSpPr>
        <p:spPr bwMode="auto">
          <a:xfrm rot="16200000" flipH="1">
            <a:off x="7391450" y="3560004"/>
            <a:ext cx="536491" cy="1154498"/>
          </a:xfrm>
          <a:prstGeom prst="bentConnector3">
            <a:avLst>
              <a:gd name="adj1" fmla="val 50000"/>
            </a:avLst>
          </a:prstGeom>
          <a:solidFill>
            <a:schemeClr val="accent1"/>
          </a:solidFill>
          <a:ln w="635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" name="연결선: 꺾임 16">
            <a:extLst>
              <a:ext uri="{FF2B5EF4-FFF2-40B4-BE49-F238E27FC236}">
                <a16:creationId xmlns:a16="http://schemas.microsoft.com/office/drawing/2014/main" id="{018C712D-4E33-42D5-8C61-BB8B0320CCF9}"/>
              </a:ext>
            </a:extLst>
          </p:cNvPr>
          <p:cNvCxnSpPr>
            <a:cxnSpLocks/>
            <a:stCxn id="30" idx="2"/>
            <a:endCxn id="14" idx="0"/>
          </p:cNvCxnSpPr>
          <p:nvPr/>
        </p:nvCxnSpPr>
        <p:spPr bwMode="auto">
          <a:xfrm rot="5400000">
            <a:off x="6236654" y="3559706"/>
            <a:ext cx="536491" cy="1155094"/>
          </a:xfrm>
          <a:prstGeom prst="bentConnector3">
            <a:avLst>
              <a:gd name="adj1" fmla="val 50000"/>
            </a:avLst>
          </a:prstGeom>
          <a:solidFill>
            <a:schemeClr val="accent1"/>
          </a:solidFill>
          <a:ln w="635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37CCA549-C6AD-4A2B-A9B5-C7E2C54C19FE}"/>
              </a:ext>
            </a:extLst>
          </p:cNvPr>
          <p:cNvSpPr/>
          <p:nvPr/>
        </p:nvSpPr>
        <p:spPr bwMode="auto">
          <a:xfrm>
            <a:off x="7791904" y="5812450"/>
            <a:ext cx="1113261" cy="242910"/>
          </a:xfrm>
          <a:prstGeom prst="rect">
            <a:avLst/>
          </a:prstGeom>
          <a:solidFill>
            <a:schemeClr val="bg1">
              <a:lumMod val="65000"/>
            </a:schemeClr>
          </a:solidFill>
          <a:ln w="635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000" dirty="0">
                <a:latin typeface="+mn-lt"/>
              </a:rPr>
              <a:t>Level III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56B477B7-8830-44EE-AEFA-F236A05B5233}"/>
              </a:ext>
            </a:extLst>
          </p:cNvPr>
          <p:cNvSpPr/>
          <p:nvPr/>
        </p:nvSpPr>
        <p:spPr bwMode="auto">
          <a:xfrm>
            <a:off x="7791904" y="6055993"/>
            <a:ext cx="1113261" cy="242910"/>
          </a:xfrm>
          <a:prstGeom prst="rect">
            <a:avLst/>
          </a:prstGeom>
          <a:solidFill>
            <a:schemeClr val="bg1">
              <a:lumMod val="85000"/>
            </a:schemeClr>
          </a:solidFill>
          <a:ln w="635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000" dirty="0">
                <a:latin typeface="+mn-lt"/>
              </a:rPr>
              <a:t>Level IV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F6F90456-8E23-44EF-B980-91F6885D4E8D}"/>
              </a:ext>
            </a:extLst>
          </p:cNvPr>
          <p:cNvSpPr/>
          <p:nvPr/>
        </p:nvSpPr>
        <p:spPr bwMode="auto">
          <a:xfrm>
            <a:off x="1316080" y="2391316"/>
            <a:ext cx="1800000" cy="506748"/>
          </a:xfrm>
          <a:prstGeom prst="rect">
            <a:avLst/>
          </a:prstGeom>
          <a:solidFill>
            <a:schemeClr val="bg1">
              <a:lumMod val="50000"/>
            </a:schemeClr>
          </a:solidFill>
          <a:ln w="635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600" dirty="0">
                <a:latin typeface="+mn-lt"/>
              </a:rPr>
              <a:t>Bus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12F3A866-CEF6-46BF-8193-1DB46D70915E}"/>
              </a:ext>
            </a:extLst>
          </p:cNvPr>
          <p:cNvSpPr/>
          <p:nvPr/>
        </p:nvSpPr>
        <p:spPr bwMode="auto">
          <a:xfrm>
            <a:off x="7791903" y="5570173"/>
            <a:ext cx="1113261" cy="242910"/>
          </a:xfrm>
          <a:prstGeom prst="rect">
            <a:avLst/>
          </a:prstGeom>
          <a:solidFill>
            <a:schemeClr val="bg1">
              <a:lumMod val="50000"/>
            </a:schemeClr>
          </a:solidFill>
          <a:ln w="635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000" dirty="0">
                <a:latin typeface="+mn-lt"/>
              </a:rPr>
              <a:t>Level II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F708A516-9C0B-451F-986D-AF4FED1C5E0B}"/>
              </a:ext>
            </a:extLst>
          </p:cNvPr>
          <p:cNvSpPr/>
          <p:nvPr/>
        </p:nvSpPr>
        <p:spPr bwMode="auto">
          <a:xfrm>
            <a:off x="1571628" y="3401008"/>
            <a:ext cx="1285200" cy="468000"/>
          </a:xfrm>
          <a:prstGeom prst="rect">
            <a:avLst/>
          </a:prstGeom>
          <a:solidFill>
            <a:schemeClr val="bg1">
              <a:lumMod val="65000"/>
            </a:schemeClr>
          </a:solidFill>
          <a:ln w="635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400" dirty="0">
                <a:latin typeface="+mn-lt"/>
              </a:rPr>
              <a:t>AOCS</a:t>
            </a:r>
          </a:p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900" dirty="0">
                <a:latin typeface="+mn-lt"/>
              </a:rPr>
              <a:t>(Attitude &amp; Orbit</a:t>
            </a:r>
          </a:p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900" dirty="0">
                <a:latin typeface="+mn-lt"/>
              </a:rPr>
              <a:t>Control Subsystem)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DA051FB7-ACA2-47D1-84E9-38AC3E3E9228}"/>
              </a:ext>
            </a:extLst>
          </p:cNvPr>
          <p:cNvSpPr/>
          <p:nvPr/>
        </p:nvSpPr>
        <p:spPr bwMode="auto">
          <a:xfrm>
            <a:off x="2907488" y="3402407"/>
            <a:ext cx="1285200" cy="468000"/>
          </a:xfrm>
          <a:prstGeom prst="rect">
            <a:avLst/>
          </a:prstGeom>
          <a:solidFill>
            <a:schemeClr val="bg1">
              <a:lumMod val="65000"/>
            </a:schemeClr>
          </a:solidFill>
          <a:ln w="635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400" dirty="0">
                <a:latin typeface="+mn-lt"/>
              </a:rPr>
              <a:t>EPS</a:t>
            </a:r>
          </a:p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900" dirty="0">
                <a:latin typeface="+mn-lt"/>
              </a:rPr>
              <a:t>(Electrical Power</a:t>
            </a:r>
          </a:p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900" dirty="0">
                <a:latin typeface="+mn-lt"/>
              </a:rPr>
              <a:t>Subsystem)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F90AD2DC-48C5-4832-BF64-0B846B41EDF8}"/>
              </a:ext>
            </a:extLst>
          </p:cNvPr>
          <p:cNvSpPr/>
          <p:nvPr/>
        </p:nvSpPr>
        <p:spPr bwMode="auto">
          <a:xfrm>
            <a:off x="235768" y="3403804"/>
            <a:ext cx="1285200" cy="468000"/>
          </a:xfrm>
          <a:prstGeom prst="rect">
            <a:avLst/>
          </a:prstGeom>
          <a:solidFill>
            <a:schemeClr val="bg1">
              <a:lumMod val="65000"/>
            </a:schemeClr>
          </a:solidFill>
          <a:ln w="635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400" dirty="0">
                <a:latin typeface="+mn-lt"/>
              </a:rPr>
              <a:t>TC&amp;R</a:t>
            </a:r>
          </a:p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900" dirty="0">
                <a:latin typeface="+mn-lt"/>
              </a:rPr>
              <a:t>(Telemetry Command &amp;</a:t>
            </a:r>
          </a:p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900" dirty="0">
                <a:latin typeface="+mn-lt"/>
              </a:rPr>
              <a:t>Ranging Subsystem)</a:t>
            </a:r>
          </a:p>
        </p:txBody>
      </p:sp>
      <p:cxnSp>
        <p:nvCxnSpPr>
          <p:cNvPr id="25" name="연결선: 꺾임 24">
            <a:extLst>
              <a:ext uri="{FF2B5EF4-FFF2-40B4-BE49-F238E27FC236}">
                <a16:creationId xmlns:a16="http://schemas.microsoft.com/office/drawing/2014/main" id="{693D7A04-4818-4E1A-BEBC-5EE08E033A22}"/>
              </a:ext>
            </a:extLst>
          </p:cNvPr>
          <p:cNvCxnSpPr>
            <a:cxnSpLocks/>
            <a:stCxn id="20" idx="2"/>
            <a:endCxn id="22" idx="0"/>
          </p:cNvCxnSpPr>
          <p:nvPr/>
        </p:nvCxnSpPr>
        <p:spPr bwMode="auto">
          <a:xfrm rot="5400000">
            <a:off x="1963682" y="3148610"/>
            <a:ext cx="502944" cy="1852"/>
          </a:xfrm>
          <a:prstGeom prst="bentConnector3">
            <a:avLst>
              <a:gd name="adj1" fmla="val 50000"/>
            </a:avLst>
          </a:prstGeom>
          <a:solidFill>
            <a:schemeClr val="accent1"/>
          </a:solidFill>
          <a:ln w="635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6" name="연결선: 꺾임 25">
            <a:extLst>
              <a:ext uri="{FF2B5EF4-FFF2-40B4-BE49-F238E27FC236}">
                <a16:creationId xmlns:a16="http://schemas.microsoft.com/office/drawing/2014/main" id="{8DDF88E2-8BE0-41BF-9C54-8B06DBD9F639}"/>
              </a:ext>
            </a:extLst>
          </p:cNvPr>
          <p:cNvCxnSpPr>
            <a:cxnSpLocks/>
            <a:stCxn id="20" idx="2"/>
            <a:endCxn id="23" idx="0"/>
          </p:cNvCxnSpPr>
          <p:nvPr/>
        </p:nvCxnSpPr>
        <p:spPr bwMode="auto">
          <a:xfrm rot="16200000" flipH="1">
            <a:off x="2630913" y="2483231"/>
            <a:ext cx="504343" cy="1334008"/>
          </a:xfrm>
          <a:prstGeom prst="bentConnector3">
            <a:avLst>
              <a:gd name="adj1" fmla="val 50000"/>
            </a:avLst>
          </a:prstGeom>
          <a:solidFill>
            <a:schemeClr val="accent1"/>
          </a:solidFill>
          <a:ln w="635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7" name="연결선: 꺾임 26">
            <a:extLst>
              <a:ext uri="{FF2B5EF4-FFF2-40B4-BE49-F238E27FC236}">
                <a16:creationId xmlns:a16="http://schemas.microsoft.com/office/drawing/2014/main" id="{2B6A95FF-5D77-431A-8A07-3AE99A97B645}"/>
              </a:ext>
            </a:extLst>
          </p:cNvPr>
          <p:cNvCxnSpPr>
            <a:cxnSpLocks/>
            <a:stCxn id="20" idx="2"/>
            <a:endCxn id="24" idx="0"/>
          </p:cNvCxnSpPr>
          <p:nvPr/>
        </p:nvCxnSpPr>
        <p:spPr bwMode="auto">
          <a:xfrm rot="5400000">
            <a:off x="1294354" y="2482078"/>
            <a:ext cx="505740" cy="1337712"/>
          </a:xfrm>
          <a:prstGeom prst="bentConnector3">
            <a:avLst>
              <a:gd name="adj1" fmla="val 50000"/>
            </a:avLst>
          </a:prstGeom>
          <a:solidFill>
            <a:schemeClr val="accent1"/>
          </a:solidFill>
          <a:ln w="635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D9726D19-4039-4CE8-947F-6B4B8F3B9981}"/>
              </a:ext>
            </a:extLst>
          </p:cNvPr>
          <p:cNvSpPr/>
          <p:nvPr/>
        </p:nvSpPr>
        <p:spPr bwMode="auto">
          <a:xfrm>
            <a:off x="4243348" y="3403805"/>
            <a:ext cx="1285200" cy="468000"/>
          </a:xfrm>
          <a:prstGeom prst="rect">
            <a:avLst/>
          </a:prstGeom>
          <a:solidFill>
            <a:schemeClr val="bg1">
              <a:lumMod val="65000"/>
            </a:schemeClr>
          </a:solidFill>
          <a:ln w="635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400" dirty="0">
                <a:latin typeface="+mn-lt"/>
              </a:rPr>
              <a:t>SMS</a:t>
            </a:r>
          </a:p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900" dirty="0">
                <a:latin typeface="+mn-lt"/>
              </a:rPr>
              <a:t>(Structure &amp;</a:t>
            </a:r>
          </a:p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900" dirty="0">
                <a:latin typeface="+mn-lt"/>
              </a:rPr>
              <a:t>Mechanism Subsystem)</a:t>
            </a:r>
          </a:p>
        </p:txBody>
      </p:sp>
      <p:cxnSp>
        <p:nvCxnSpPr>
          <p:cNvPr id="29" name="연결선: 꺾임 28">
            <a:extLst>
              <a:ext uri="{FF2B5EF4-FFF2-40B4-BE49-F238E27FC236}">
                <a16:creationId xmlns:a16="http://schemas.microsoft.com/office/drawing/2014/main" id="{F196C91A-30D3-4535-8D74-F57E590280B8}"/>
              </a:ext>
            </a:extLst>
          </p:cNvPr>
          <p:cNvCxnSpPr>
            <a:cxnSpLocks/>
            <a:stCxn id="20" idx="2"/>
            <a:endCxn id="28" idx="0"/>
          </p:cNvCxnSpPr>
          <p:nvPr/>
        </p:nvCxnSpPr>
        <p:spPr bwMode="auto">
          <a:xfrm rot="16200000" flipH="1">
            <a:off x="3298144" y="1816000"/>
            <a:ext cx="505741" cy="2669868"/>
          </a:xfrm>
          <a:prstGeom prst="bentConnector3">
            <a:avLst>
              <a:gd name="adj1" fmla="val 50000"/>
            </a:avLst>
          </a:prstGeom>
          <a:solidFill>
            <a:schemeClr val="accent1"/>
          </a:solidFill>
          <a:ln w="635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484C8FCF-9A86-462B-9670-960140A1BD20}"/>
              </a:ext>
            </a:extLst>
          </p:cNvPr>
          <p:cNvSpPr/>
          <p:nvPr/>
        </p:nvSpPr>
        <p:spPr bwMode="auto">
          <a:xfrm>
            <a:off x="6434446" y="3401008"/>
            <a:ext cx="1296000" cy="468000"/>
          </a:xfrm>
          <a:prstGeom prst="rect">
            <a:avLst/>
          </a:prstGeom>
          <a:solidFill>
            <a:schemeClr val="bg1">
              <a:lumMod val="65000"/>
            </a:schemeClr>
          </a:solidFill>
          <a:ln w="635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400" dirty="0">
                <a:latin typeface="+mn-lt"/>
              </a:rPr>
              <a:t>SAR</a:t>
            </a: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0D315BC1-6226-4FBB-B4BA-AB603E9BD1F0}"/>
              </a:ext>
            </a:extLst>
          </p:cNvPr>
          <p:cNvSpPr/>
          <p:nvPr/>
        </p:nvSpPr>
        <p:spPr bwMode="auto">
          <a:xfrm>
            <a:off x="6184276" y="2379416"/>
            <a:ext cx="1800000" cy="506748"/>
          </a:xfrm>
          <a:prstGeom prst="rect">
            <a:avLst/>
          </a:prstGeom>
          <a:solidFill>
            <a:schemeClr val="bg1">
              <a:lumMod val="50000"/>
            </a:schemeClr>
          </a:solidFill>
          <a:ln w="635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600" dirty="0">
                <a:latin typeface="+mn-lt"/>
              </a:rPr>
              <a:t>Payload</a:t>
            </a: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E3272C8A-2D95-475B-B766-B3A1B5C66583}"/>
              </a:ext>
            </a:extLst>
          </p:cNvPr>
          <p:cNvSpPr/>
          <p:nvPr/>
        </p:nvSpPr>
        <p:spPr bwMode="auto">
          <a:xfrm>
            <a:off x="3322619" y="1552268"/>
            <a:ext cx="2487913" cy="506748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635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800" dirty="0">
                <a:solidFill>
                  <a:schemeClr val="bg1"/>
                </a:solidFill>
                <a:latin typeface="+mn-lt"/>
              </a:rPr>
              <a:t>초소형 </a:t>
            </a:r>
            <a:r>
              <a:rPr lang="en-US" altLang="ko-KR" sz="1800" dirty="0">
                <a:solidFill>
                  <a:schemeClr val="bg1"/>
                </a:solidFill>
                <a:latin typeface="+mn-lt"/>
              </a:rPr>
              <a:t>SAR </a:t>
            </a:r>
            <a:r>
              <a:rPr lang="ko-KR" altLang="en-US" sz="1800" dirty="0">
                <a:solidFill>
                  <a:schemeClr val="bg1"/>
                </a:solidFill>
                <a:latin typeface="+mn-lt"/>
              </a:rPr>
              <a:t>위성</a:t>
            </a:r>
            <a:endParaRPr lang="en-US" altLang="ko-KR" sz="1800" dirty="0">
              <a:solidFill>
                <a:schemeClr val="bg1"/>
              </a:solidFill>
              <a:latin typeface="+mn-lt"/>
            </a:endParaRPr>
          </a:p>
        </p:txBody>
      </p:sp>
      <p:cxnSp>
        <p:nvCxnSpPr>
          <p:cNvPr id="45" name="연결선: 꺾임 44">
            <a:extLst>
              <a:ext uri="{FF2B5EF4-FFF2-40B4-BE49-F238E27FC236}">
                <a16:creationId xmlns:a16="http://schemas.microsoft.com/office/drawing/2014/main" id="{A782FBA2-8AB6-4C9D-8FB2-AFDE20777410}"/>
              </a:ext>
            </a:extLst>
          </p:cNvPr>
          <p:cNvCxnSpPr>
            <a:cxnSpLocks/>
            <a:stCxn id="44" idx="2"/>
            <a:endCxn id="20" idx="0"/>
          </p:cNvCxnSpPr>
          <p:nvPr/>
        </p:nvCxnSpPr>
        <p:spPr bwMode="auto">
          <a:xfrm rot="5400000">
            <a:off x="3225178" y="1049918"/>
            <a:ext cx="332300" cy="2350496"/>
          </a:xfrm>
          <a:prstGeom prst="bentConnector3">
            <a:avLst>
              <a:gd name="adj1" fmla="val 50000"/>
            </a:avLst>
          </a:prstGeom>
          <a:solidFill>
            <a:schemeClr val="accent1"/>
          </a:solidFill>
          <a:ln w="635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6" name="직사각형 65">
            <a:extLst>
              <a:ext uri="{FF2B5EF4-FFF2-40B4-BE49-F238E27FC236}">
                <a16:creationId xmlns:a16="http://schemas.microsoft.com/office/drawing/2014/main" id="{F8DF993F-409C-4031-AE58-53545C020F9C}"/>
              </a:ext>
            </a:extLst>
          </p:cNvPr>
          <p:cNvSpPr/>
          <p:nvPr/>
        </p:nvSpPr>
        <p:spPr bwMode="auto">
          <a:xfrm>
            <a:off x="7791903" y="5331036"/>
            <a:ext cx="1113261" cy="24291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635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000" dirty="0">
                <a:latin typeface="+mn-lt"/>
              </a:rPr>
              <a:t>Level I</a:t>
            </a:r>
          </a:p>
        </p:txBody>
      </p:sp>
      <p:cxnSp>
        <p:nvCxnSpPr>
          <p:cNvPr id="32" name="연결선: 꺾임 31">
            <a:extLst>
              <a:ext uri="{FF2B5EF4-FFF2-40B4-BE49-F238E27FC236}">
                <a16:creationId xmlns:a16="http://schemas.microsoft.com/office/drawing/2014/main" id="{E954070C-BABE-41D9-8021-FF61BCC2CEEE}"/>
              </a:ext>
            </a:extLst>
          </p:cNvPr>
          <p:cNvCxnSpPr>
            <a:cxnSpLocks/>
            <a:stCxn id="44" idx="2"/>
            <a:endCxn id="37" idx="0"/>
          </p:cNvCxnSpPr>
          <p:nvPr/>
        </p:nvCxnSpPr>
        <p:spPr bwMode="auto">
          <a:xfrm rot="16200000" flipH="1">
            <a:off x="5665226" y="960366"/>
            <a:ext cx="320400" cy="2517700"/>
          </a:xfrm>
          <a:prstGeom prst="bentConnector3">
            <a:avLst>
              <a:gd name="adj1" fmla="val 50000"/>
            </a:avLst>
          </a:prstGeom>
          <a:solidFill>
            <a:schemeClr val="accent1"/>
          </a:solidFill>
          <a:ln w="635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6" name="직선 연결선 35">
            <a:extLst>
              <a:ext uri="{FF2B5EF4-FFF2-40B4-BE49-F238E27FC236}">
                <a16:creationId xmlns:a16="http://schemas.microsoft.com/office/drawing/2014/main" id="{C3F2E56E-4DB0-4503-A088-E620C2225E08}"/>
              </a:ext>
            </a:extLst>
          </p:cNvPr>
          <p:cNvCxnSpPr>
            <a:stCxn id="37" idx="2"/>
            <a:endCxn id="30" idx="0"/>
          </p:cNvCxnSpPr>
          <p:nvPr/>
        </p:nvCxnSpPr>
        <p:spPr bwMode="auto">
          <a:xfrm flipH="1">
            <a:off x="7082446" y="2886164"/>
            <a:ext cx="1830" cy="514844"/>
          </a:xfrm>
          <a:prstGeom prst="line">
            <a:avLst/>
          </a:prstGeom>
          <a:solidFill>
            <a:schemeClr val="accent1"/>
          </a:solidFill>
          <a:ln w="635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67794836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D263454-BA6F-429F-B0C1-0DDEEC6F1E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Satellite Architecture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AA9F1EE-D202-4CD7-8AAE-E32CFB5587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초소형 </a:t>
            </a:r>
            <a:r>
              <a:rPr lang="en-US" altLang="ko-KR" dirty="0"/>
              <a:t>SAR </a:t>
            </a:r>
            <a:r>
              <a:rPr lang="ko-KR" altLang="en-US" dirty="0"/>
              <a:t>위성 시스템 구성</a:t>
            </a:r>
            <a:endParaRPr lang="en-US" altLang="ko-KR" dirty="0"/>
          </a:p>
          <a:p>
            <a:endParaRPr lang="en-US" altLang="ko-KR" dirty="0"/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7D3BF86E-8862-442A-BB09-5ABB705DE9B8}"/>
              </a:ext>
            </a:extLst>
          </p:cNvPr>
          <p:cNvSpPr/>
          <p:nvPr/>
        </p:nvSpPr>
        <p:spPr bwMode="auto">
          <a:xfrm>
            <a:off x="822389" y="1503655"/>
            <a:ext cx="7621523" cy="4848963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635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algn="ctr" defTabSz="685835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1800" dirty="0">
                <a:solidFill>
                  <a:schemeClr val="bg1"/>
                </a:solidFill>
                <a:latin typeface="+mn-lt"/>
                <a:ea typeface="굴림" panose="020B0600000101010101" pitchFamily="50" charset="-127"/>
                <a:cs typeface="Arial" panose="020B0604020202020204" pitchFamily="34" charset="0"/>
              </a:rPr>
              <a:t>초소형 </a:t>
            </a:r>
            <a:r>
              <a:rPr kumimoji="1" lang="en-US" altLang="ko-KR" sz="1800" dirty="0">
                <a:solidFill>
                  <a:schemeClr val="bg1"/>
                </a:solidFill>
                <a:latin typeface="+mn-lt"/>
                <a:ea typeface="굴림" panose="020B0600000101010101" pitchFamily="50" charset="-127"/>
                <a:cs typeface="Arial" panose="020B0604020202020204" pitchFamily="34" charset="0"/>
              </a:rPr>
              <a:t>SAR </a:t>
            </a:r>
            <a:r>
              <a:rPr kumimoji="1" lang="ko-KR" altLang="en-US" sz="1800" dirty="0">
                <a:solidFill>
                  <a:schemeClr val="bg1"/>
                </a:solidFill>
                <a:latin typeface="+mn-lt"/>
                <a:ea typeface="굴림" panose="020B0600000101010101" pitchFamily="50" charset="-127"/>
                <a:cs typeface="Arial" panose="020B0604020202020204" pitchFamily="34" charset="0"/>
              </a:rPr>
              <a:t>위성</a:t>
            </a: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E118D926-68A8-4CFD-A9FE-06D6DCCC64D1}"/>
              </a:ext>
            </a:extLst>
          </p:cNvPr>
          <p:cNvSpPr/>
          <p:nvPr/>
        </p:nvSpPr>
        <p:spPr bwMode="auto">
          <a:xfrm>
            <a:off x="1125622" y="1892419"/>
            <a:ext cx="7018253" cy="2285842"/>
          </a:xfrm>
          <a:prstGeom prst="rect">
            <a:avLst/>
          </a:prstGeom>
          <a:solidFill>
            <a:schemeClr val="bg1">
              <a:lumMod val="50000"/>
            </a:schemeClr>
          </a:solidFill>
          <a:ln w="635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algn="ctr" defTabSz="685835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600" dirty="0">
                <a:latin typeface="+mn-lt"/>
                <a:ea typeface="굴림" panose="020B0600000101010101" pitchFamily="50" charset="-127"/>
                <a:cs typeface="Arial" panose="020B0604020202020204" pitchFamily="34" charset="0"/>
              </a:rPr>
              <a:t>Payload</a:t>
            </a:r>
            <a:endParaRPr kumimoji="1" lang="ko-KR" altLang="en-US" sz="1600" dirty="0">
              <a:latin typeface="+mn-lt"/>
              <a:ea typeface="굴림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F91188C2-F086-492C-B13B-9517C345B38E}"/>
              </a:ext>
            </a:extLst>
          </p:cNvPr>
          <p:cNvSpPr/>
          <p:nvPr/>
        </p:nvSpPr>
        <p:spPr bwMode="auto">
          <a:xfrm>
            <a:off x="1275643" y="2293548"/>
            <a:ext cx="6742736" cy="1794299"/>
          </a:xfrm>
          <a:prstGeom prst="rect">
            <a:avLst/>
          </a:prstGeom>
          <a:solidFill>
            <a:schemeClr val="bg1">
              <a:lumMod val="65000"/>
            </a:schemeClr>
          </a:solidFill>
          <a:ln w="635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algn="ctr" defTabSz="685835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dirty="0">
                <a:latin typeface="+mn-lt"/>
                <a:ea typeface="굴림" panose="020B0600000101010101" pitchFamily="50" charset="-127"/>
                <a:cs typeface="Arial" panose="020B0604020202020204" pitchFamily="34" charset="0"/>
              </a:rPr>
              <a:t>SAR</a:t>
            </a:r>
            <a:endParaRPr kumimoji="1" lang="ko-KR" altLang="en-US" sz="1400" dirty="0">
              <a:latin typeface="+mn-lt"/>
              <a:ea typeface="굴림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B8E9DB57-A49C-4E3A-9494-F7B36C452126}"/>
              </a:ext>
            </a:extLst>
          </p:cNvPr>
          <p:cNvSpPr/>
          <p:nvPr/>
        </p:nvSpPr>
        <p:spPr bwMode="auto">
          <a:xfrm>
            <a:off x="3777522" y="2626124"/>
            <a:ext cx="1764000" cy="1330032"/>
          </a:xfrm>
          <a:prstGeom prst="rect">
            <a:avLst/>
          </a:prstGeom>
          <a:solidFill>
            <a:schemeClr val="bg1">
              <a:lumMod val="85000"/>
            </a:schemeClr>
          </a:solidFill>
          <a:ln w="635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algn="ctr" defTabSz="685835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200" dirty="0">
                <a:latin typeface="+mn-lt"/>
                <a:ea typeface="굴림" panose="020B0600000101010101" pitchFamily="50" charset="-127"/>
                <a:cs typeface="Arial" panose="020B0604020202020204" pitchFamily="34" charset="0"/>
              </a:rPr>
              <a:t>SCEU</a:t>
            </a:r>
          </a:p>
          <a:p>
            <a:pPr algn="ctr" defTabSz="685835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000" dirty="0">
                <a:latin typeface="+mn-lt"/>
                <a:ea typeface="굴림" panose="020B0600000101010101" pitchFamily="50" charset="-127"/>
                <a:cs typeface="Arial" panose="020B0604020202020204" pitchFamily="34" charset="0"/>
              </a:rPr>
              <a:t>(SAR Control Electronic Unit)</a:t>
            </a:r>
            <a:endParaRPr kumimoji="1" lang="ko-KR" altLang="en-US" sz="1000" dirty="0">
              <a:latin typeface="+mn-lt"/>
              <a:ea typeface="굴림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46F4470F-AEC6-4789-93EF-06EC9A200177}"/>
              </a:ext>
            </a:extLst>
          </p:cNvPr>
          <p:cNvSpPr/>
          <p:nvPr/>
        </p:nvSpPr>
        <p:spPr bwMode="auto">
          <a:xfrm>
            <a:off x="1363794" y="2626124"/>
            <a:ext cx="1764000" cy="1330032"/>
          </a:xfrm>
          <a:prstGeom prst="rect">
            <a:avLst/>
          </a:prstGeom>
          <a:solidFill>
            <a:schemeClr val="bg1">
              <a:lumMod val="85000"/>
            </a:schemeClr>
          </a:solidFill>
          <a:ln w="635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algn="ctr" defTabSz="685835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200" dirty="0">
                <a:latin typeface="+mn-lt"/>
                <a:ea typeface="굴림" panose="020B0600000101010101" pitchFamily="50" charset="-127"/>
                <a:cs typeface="Arial" panose="020B0604020202020204" pitchFamily="34" charset="0"/>
              </a:rPr>
              <a:t>XDAA</a:t>
            </a:r>
          </a:p>
          <a:p>
            <a:pPr algn="ctr" defTabSz="685835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000" dirty="0">
                <a:latin typeface="+mn-lt"/>
                <a:ea typeface="굴림" panose="020B0600000101010101" pitchFamily="50" charset="-127"/>
                <a:cs typeface="Arial" panose="020B0604020202020204" pitchFamily="34" charset="0"/>
              </a:rPr>
              <a:t>(Downlink Antenna Unit)</a:t>
            </a:r>
            <a:endParaRPr kumimoji="1" lang="ko-KR" altLang="en-US" sz="1000" dirty="0">
              <a:latin typeface="+mn-lt"/>
              <a:ea typeface="굴림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DE28494E-4508-4A9D-AF90-1ED2CABB8C1B}"/>
              </a:ext>
            </a:extLst>
          </p:cNvPr>
          <p:cNvSpPr/>
          <p:nvPr/>
        </p:nvSpPr>
        <p:spPr bwMode="auto">
          <a:xfrm>
            <a:off x="6177164" y="2627171"/>
            <a:ext cx="1764000" cy="1330032"/>
          </a:xfrm>
          <a:prstGeom prst="rect">
            <a:avLst/>
          </a:prstGeom>
          <a:solidFill>
            <a:schemeClr val="bg1">
              <a:lumMod val="85000"/>
            </a:schemeClr>
          </a:solidFill>
          <a:ln w="635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algn="ctr" defTabSz="685835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200" dirty="0">
                <a:latin typeface="+mn-lt"/>
                <a:ea typeface="굴림" panose="020B0600000101010101" pitchFamily="50" charset="-127"/>
                <a:cs typeface="Arial" panose="020B0604020202020204" pitchFamily="34" charset="0"/>
              </a:rPr>
              <a:t>SATA</a:t>
            </a:r>
          </a:p>
          <a:p>
            <a:pPr algn="ctr" defTabSz="685835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000" dirty="0">
                <a:latin typeface="+mn-lt"/>
                <a:ea typeface="굴림" panose="020B0600000101010101" pitchFamily="50" charset="-127"/>
                <a:cs typeface="Arial" panose="020B0604020202020204" pitchFamily="34" charset="0"/>
              </a:rPr>
              <a:t>(SAR Antenna &amp;</a:t>
            </a:r>
          </a:p>
          <a:p>
            <a:pPr algn="ctr" defTabSz="685835" fontAlgn="base">
              <a:spcBef>
                <a:spcPct val="0"/>
              </a:spcBef>
              <a:spcAft>
                <a:spcPct val="0"/>
              </a:spcAft>
            </a:pPr>
            <a:r>
              <a:rPr lang="en-US" altLang="ko-KR" sz="1000" dirty="0">
                <a:latin typeface="+mn-lt"/>
                <a:cs typeface="Arial" panose="020B0604020202020204" pitchFamily="34" charset="0"/>
              </a:rPr>
              <a:t>TRM Assembly)</a:t>
            </a:r>
          </a:p>
        </p:txBody>
      </p:sp>
      <p:cxnSp>
        <p:nvCxnSpPr>
          <p:cNvPr id="52" name="직선 화살표 연결선 51">
            <a:extLst>
              <a:ext uri="{FF2B5EF4-FFF2-40B4-BE49-F238E27FC236}">
                <a16:creationId xmlns:a16="http://schemas.microsoft.com/office/drawing/2014/main" id="{03772C68-846C-45A4-8DDF-15982933C7BB}"/>
              </a:ext>
            </a:extLst>
          </p:cNvPr>
          <p:cNvCxnSpPr>
            <a:cxnSpLocks/>
          </p:cNvCxnSpPr>
          <p:nvPr/>
        </p:nvCxnSpPr>
        <p:spPr bwMode="auto">
          <a:xfrm>
            <a:off x="3128969" y="3208843"/>
            <a:ext cx="648000" cy="0"/>
          </a:xfrm>
          <a:prstGeom prst="straightConnector1">
            <a:avLst/>
          </a:prstGeom>
          <a:solidFill>
            <a:schemeClr val="accent1"/>
          </a:solidFill>
          <a:ln w="6350" cap="flat" cmpd="sng" algn="ctr">
            <a:solidFill>
              <a:srgbClr val="0070C0"/>
            </a:solidFill>
            <a:prstDash val="solid"/>
            <a:round/>
            <a:headEnd type="triangl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BF76D1F3-31A2-41E9-81A7-3C7EAF457244}"/>
              </a:ext>
            </a:extLst>
          </p:cNvPr>
          <p:cNvSpPr/>
          <p:nvPr/>
        </p:nvSpPr>
        <p:spPr>
          <a:xfrm>
            <a:off x="3225166" y="3218331"/>
            <a:ext cx="506870" cy="21929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825" dirty="0">
                <a:solidFill>
                  <a:srgbClr val="0070C0"/>
                </a:solidFill>
                <a:latin typeface="+mn-lt"/>
                <a:cs typeface="Arial" panose="020B0604020202020204" pitchFamily="34" charset="0"/>
              </a:rPr>
              <a:t>TM/TC</a:t>
            </a:r>
            <a:endParaRPr lang="ko-KR" altLang="en-US" sz="825" dirty="0">
              <a:solidFill>
                <a:srgbClr val="0070C0"/>
              </a:solidFill>
              <a:latin typeface="+mn-lt"/>
              <a:cs typeface="Arial" panose="020B0604020202020204" pitchFamily="34" charset="0"/>
            </a:endParaRPr>
          </a:p>
        </p:txBody>
      </p:sp>
      <p:cxnSp>
        <p:nvCxnSpPr>
          <p:cNvPr id="54" name="직선 화살표 연결선 53">
            <a:extLst>
              <a:ext uri="{FF2B5EF4-FFF2-40B4-BE49-F238E27FC236}">
                <a16:creationId xmlns:a16="http://schemas.microsoft.com/office/drawing/2014/main" id="{D6493DAD-F8E6-496D-A508-EBA9E355027B}"/>
              </a:ext>
            </a:extLst>
          </p:cNvPr>
          <p:cNvCxnSpPr>
            <a:cxnSpLocks/>
          </p:cNvCxnSpPr>
          <p:nvPr/>
        </p:nvCxnSpPr>
        <p:spPr bwMode="auto">
          <a:xfrm>
            <a:off x="3128969" y="3021675"/>
            <a:ext cx="648000" cy="0"/>
          </a:xfrm>
          <a:prstGeom prst="straightConnector1">
            <a:avLst/>
          </a:prstGeom>
          <a:solidFill>
            <a:schemeClr val="accent1"/>
          </a:solidFill>
          <a:ln w="6350" cap="flat" cmpd="sng" algn="ctr">
            <a:solidFill>
              <a:srgbClr val="00B050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8624D552-BD9D-403B-AE1E-B476578DD2EF}"/>
              </a:ext>
            </a:extLst>
          </p:cNvPr>
          <p:cNvSpPr/>
          <p:nvPr/>
        </p:nvSpPr>
        <p:spPr>
          <a:xfrm>
            <a:off x="3197915" y="2576391"/>
            <a:ext cx="561372" cy="47320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825" dirty="0">
                <a:solidFill>
                  <a:srgbClr val="00B050"/>
                </a:solidFill>
                <a:latin typeface="+mn-lt"/>
                <a:cs typeface="Arial" panose="020B0604020202020204" pitchFamily="34" charset="0"/>
              </a:rPr>
              <a:t>IF-Band</a:t>
            </a:r>
          </a:p>
          <a:p>
            <a:pPr algn="ctr"/>
            <a:r>
              <a:rPr lang="en-US" altLang="ko-KR" sz="825" dirty="0">
                <a:solidFill>
                  <a:srgbClr val="00B050"/>
                </a:solidFill>
                <a:latin typeface="+mn-lt"/>
                <a:cs typeface="Arial" panose="020B0604020202020204" pitchFamily="34" charset="0"/>
              </a:rPr>
              <a:t>Mission</a:t>
            </a:r>
          </a:p>
          <a:p>
            <a:pPr algn="ctr"/>
            <a:r>
              <a:rPr lang="en-US" altLang="ko-KR" sz="825" dirty="0">
                <a:solidFill>
                  <a:srgbClr val="00B050"/>
                </a:solidFill>
                <a:latin typeface="+mn-lt"/>
                <a:cs typeface="Arial" panose="020B0604020202020204" pitchFamily="34" charset="0"/>
              </a:rPr>
              <a:t>Data</a:t>
            </a:r>
            <a:endParaRPr lang="ko-KR" altLang="en-US" sz="825" dirty="0">
              <a:solidFill>
                <a:srgbClr val="00B050"/>
              </a:solidFill>
              <a:latin typeface="+mn-lt"/>
              <a:cs typeface="Arial" panose="020B0604020202020204" pitchFamily="34" charset="0"/>
            </a:endParaRPr>
          </a:p>
        </p:txBody>
      </p:sp>
      <p:cxnSp>
        <p:nvCxnSpPr>
          <p:cNvPr id="56" name="직선 화살표 연결선 55">
            <a:extLst>
              <a:ext uri="{FF2B5EF4-FFF2-40B4-BE49-F238E27FC236}">
                <a16:creationId xmlns:a16="http://schemas.microsoft.com/office/drawing/2014/main" id="{DBDBA87D-4F05-420C-AB11-855DDCE3DE03}"/>
              </a:ext>
            </a:extLst>
          </p:cNvPr>
          <p:cNvCxnSpPr>
            <a:cxnSpLocks/>
          </p:cNvCxnSpPr>
          <p:nvPr/>
        </p:nvCxnSpPr>
        <p:spPr bwMode="auto">
          <a:xfrm>
            <a:off x="5541838" y="2935412"/>
            <a:ext cx="648000" cy="0"/>
          </a:xfrm>
          <a:prstGeom prst="straightConnector1">
            <a:avLst/>
          </a:prstGeom>
          <a:solidFill>
            <a:schemeClr val="accent1"/>
          </a:solidFill>
          <a:ln w="6350" cap="flat" cmpd="sng" algn="ctr">
            <a:solidFill>
              <a:srgbClr val="00B050"/>
            </a:solidFill>
            <a:prstDash val="solid"/>
            <a:round/>
            <a:headEnd type="triangl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8FA8545A-5CE1-492E-BBE5-7D25E056C1B6}"/>
              </a:ext>
            </a:extLst>
          </p:cNvPr>
          <p:cNvSpPr/>
          <p:nvPr/>
        </p:nvSpPr>
        <p:spPr>
          <a:xfrm>
            <a:off x="5582062" y="2492282"/>
            <a:ext cx="538929" cy="47320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825" dirty="0">
                <a:solidFill>
                  <a:srgbClr val="00B050"/>
                </a:solidFill>
                <a:latin typeface="+mn-lt"/>
                <a:cs typeface="Arial" panose="020B0604020202020204" pitchFamily="34" charset="0"/>
              </a:rPr>
              <a:t>X-Band</a:t>
            </a:r>
          </a:p>
          <a:p>
            <a:pPr algn="ctr"/>
            <a:r>
              <a:rPr lang="en-US" altLang="ko-KR" sz="825" dirty="0">
                <a:solidFill>
                  <a:srgbClr val="00B050"/>
                </a:solidFill>
                <a:latin typeface="+mn-lt"/>
                <a:cs typeface="Arial" panose="020B0604020202020204" pitchFamily="34" charset="0"/>
              </a:rPr>
              <a:t>Tx/Rx</a:t>
            </a:r>
          </a:p>
          <a:p>
            <a:pPr algn="ctr"/>
            <a:r>
              <a:rPr lang="en-US" altLang="ko-KR" sz="825" dirty="0">
                <a:solidFill>
                  <a:srgbClr val="00B050"/>
                </a:solidFill>
                <a:latin typeface="+mn-lt"/>
                <a:cs typeface="Arial" panose="020B0604020202020204" pitchFamily="34" charset="0"/>
              </a:rPr>
              <a:t>Chirp</a:t>
            </a:r>
          </a:p>
        </p:txBody>
      </p:sp>
      <p:cxnSp>
        <p:nvCxnSpPr>
          <p:cNvPr id="58" name="직선 화살표 연결선 57">
            <a:extLst>
              <a:ext uri="{FF2B5EF4-FFF2-40B4-BE49-F238E27FC236}">
                <a16:creationId xmlns:a16="http://schemas.microsoft.com/office/drawing/2014/main" id="{B6F29EDA-3692-4C34-A8AC-581B2404538C}"/>
              </a:ext>
            </a:extLst>
          </p:cNvPr>
          <p:cNvCxnSpPr>
            <a:cxnSpLocks/>
          </p:cNvCxnSpPr>
          <p:nvPr/>
        </p:nvCxnSpPr>
        <p:spPr bwMode="auto">
          <a:xfrm>
            <a:off x="5541838" y="3036320"/>
            <a:ext cx="648000" cy="0"/>
          </a:xfrm>
          <a:prstGeom prst="straightConnector1">
            <a:avLst/>
          </a:prstGeom>
          <a:solidFill>
            <a:schemeClr val="accent1"/>
          </a:solidFill>
          <a:ln w="6350" cap="flat" cmpd="sng" algn="ctr">
            <a:solidFill>
              <a:srgbClr val="0070C0"/>
            </a:solidFill>
            <a:prstDash val="solid"/>
            <a:round/>
            <a:headEnd type="triangl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3E0081AE-F264-414A-AD18-3D32409CCC79}"/>
              </a:ext>
            </a:extLst>
          </p:cNvPr>
          <p:cNvSpPr/>
          <p:nvPr/>
        </p:nvSpPr>
        <p:spPr>
          <a:xfrm>
            <a:off x="5598091" y="3039336"/>
            <a:ext cx="506870" cy="21929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825" dirty="0">
                <a:solidFill>
                  <a:srgbClr val="0070C0"/>
                </a:solidFill>
                <a:latin typeface="+mn-lt"/>
                <a:cs typeface="Arial" panose="020B0604020202020204" pitchFamily="34" charset="0"/>
              </a:rPr>
              <a:t>TM/TC</a:t>
            </a:r>
            <a:endParaRPr lang="ko-KR" altLang="en-US" sz="825" dirty="0">
              <a:solidFill>
                <a:srgbClr val="0070C0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38F48803-7B81-4374-9CEB-3FCA69EBBC23}"/>
              </a:ext>
            </a:extLst>
          </p:cNvPr>
          <p:cNvSpPr/>
          <p:nvPr/>
        </p:nvSpPr>
        <p:spPr bwMode="auto">
          <a:xfrm>
            <a:off x="1125622" y="4230497"/>
            <a:ext cx="7018253" cy="2039388"/>
          </a:xfrm>
          <a:prstGeom prst="rect">
            <a:avLst/>
          </a:prstGeom>
          <a:solidFill>
            <a:schemeClr val="bg1">
              <a:lumMod val="50000"/>
            </a:schemeClr>
          </a:solidFill>
          <a:ln w="635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algn="ctr" defTabSz="685835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600" dirty="0">
                <a:latin typeface="+mn-lt"/>
                <a:ea typeface="굴림" panose="020B0600000101010101" pitchFamily="50" charset="-127"/>
                <a:cs typeface="Arial" panose="020B0604020202020204" pitchFamily="34" charset="0"/>
              </a:rPr>
              <a:t>Bus</a:t>
            </a:r>
          </a:p>
          <a:p>
            <a:pPr algn="ctr" defTabSz="685835" fontAlgn="base">
              <a:spcBef>
                <a:spcPct val="0"/>
              </a:spcBef>
              <a:spcAft>
                <a:spcPct val="0"/>
              </a:spcAft>
            </a:pPr>
            <a:endParaRPr kumimoji="1" lang="ko-KR" altLang="en-US" sz="1050" dirty="0">
              <a:latin typeface="+mn-lt"/>
              <a:ea typeface="굴림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DED30216-CE70-4F14-90CB-5E01B08A2693}"/>
              </a:ext>
            </a:extLst>
          </p:cNvPr>
          <p:cNvSpPr/>
          <p:nvPr/>
        </p:nvSpPr>
        <p:spPr bwMode="auto">
          <a:xfrm>
            <a:off x="1432804" y="4606066"/>
            <a:ext cx="2997000" cy="524313"/>
          </a:xfrm>
          <a:prstGeom prst="rect">
            <a:avLst/>
          </a:prstGeom>
          <a:solidFill>
            <a:schemeClr val="bg1">
              <a:lumMod val="65000"/>
            </a:schemeClr>
          </a:solidFill>
          <a:ln w="635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algn="ctr" defTabSz="685835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dirty="0">
                <a:latin typeface="+mn-lt"/>
                <a:ea typeface="굴림" panose="020B0600000101010101" pitchFamily="50" charset="-127"/>
                <a:cs typeface="Arial" panose="020B0604020202020204" pitchFamily="34" charset="0"/>
              </a:rPr>
              <a:t>TC&amp;R</a:t>
            </a:r>
          </a:p>
          <a:p>
            <a:pPr algn="ctr" defTabSz="685835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100" dirty="0">
                <a:latin typeface="+mn-lt"/>
                <a:ea typeface="굴림" panose="020B0600000101010101" pitchFamily="50" charset="-127"/>
                <a:cs typeface="Arial" panose="020B0604020202020204" pitchFamily="34" charset="0"/>
              </a:rPr>
              <a:t>(Telemetry Command &amp; Ranging Subsystem)</a:t>
            </a:r>
            <a:endParaRPr kumimoji="1" lang="ko-KR" altLang="en-US" sz="1100" dirty="0">
              <a:latin typeface="+mn-lt"/>
              <a:ea typeface="굴림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EBF0FC5D-C589-40D1-8720-8978EDA29DEC}"/>
              </a:ext>
            </a:extLst>
          </p:cNvPr>
          <p:cNvSpPr/>
          <p:nvPr/>
        </p:nvSpPr>
        <p:spPr>
          <a:xfrm>
            <a:off x="4060186" y="4193761"/>
            <a:ext cx="506870" cy="21929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825" dirty="0">
                <a:solidFill>
                  <a:srgbClr val="0070C0"/>
                </a:solidFill>
                <a:latin typeface="+mn-lt"/>
                <a:cs typeface="Arial" panose="020B0604020202020204" pitchFamily="34" charset="0"/>
              </a:rPr>
              <a:t>TM/TC</a:t>
            </a:r>
            <a:endParaRPr lang="ko-KR" altLang="en-US" sz="825" dirty="0">
              <a:solidFill>
                <a:srgbClr val="0070C0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38D6D1E6-9BF6-4FF6-B924-8AA80CB5C622}"/>
              </a:ext>
            </a:extLst>
          </p:cNvPr>
          <p:cNvSpPr/>
          <p:nvPr/>
        </p:nvSpPr>
        <p:spPr bwMode="auto">
          <a:xfrm>
            <a:off x="4841095" y="4613880"/>
            <a:ext cx="2997000" cy="518220"/>
          </a:xfrm>
          <a:prstGeom prst="rect">
            <a:avLst/>
          </a:prstGeom>
          <a:solidFill>
            <a:schemeClr val="bg1">
              <a:lumMod val="65000"/>
            </a:schemeClr>
          </a:solidFill>
          <a:ln w="635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algn="ctr" defTabSz="685835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dirty="0">
                <a:latin typeface="+mn-lt"/>
                <a:ea typeface="굴림" panose="020B0600000101010101" pitchFamily="50" charset="-127"/>
                <a:cs typeface="Arial" panose="020B0604020202020204" pitchFamily="34" charset="0"/>
              </a:rPr>
              <a:t>EPS</a:t>
            </a:r>
          </a:p>
          <a:p>
            <a:pPr algn="ctr" defTabSz="685835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100" dirty="0">
                <a:latin typeface="+mn-lt"/>
                <a:ea typeface="굴림" panose="020B0600000101010101" pitchFamily="50" charset="-127"/>
                <a:cs typeface="Arial" panose="020B0604020202020204" pitchFamily="34" charset="0"/>
              </a:rPr>
              <a:t>(Electrical Power Subsystem)</a:t>
            </a:r>
            <a:endParaRPr kumimoji="1" lang="ko-KR" altLang="en-US" sz="1100" dirty="0">
              <a:latin typeface="+mn-lt"/>
              <a:ea typeface="굴림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93DC0BD5-19A2-4E9C-841F-E6499B353994}"/>
              </a:ext>
            </a:extLst>
          </p:cNvPr>
          <p:cNvSpPr/>
          <p:nvPr/>
        </p:nvSpPr>
        <p:spPr bwMode="auto">
          <a:xfrm>
            <a:off x="1432804" y="5489457"/>
            <a:ext cx="2997000" cy="524313"/>
          </a:xfrm>
          <a:prstGeom prst="rect">
            <a:avLst/>
          </a:prstGeom>
          <a:solidFill>
            <a:schemeClr val="bg1">
              <a:lumMod val="65000"/>
            </a:schemeClr>
          </a:solidFill>
          <a:ln w="635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algn="ctr" defTabSz="685835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500" dirty="0">
                <a:latin typeface="+mn-lt"/>
                <a:ea typeface="굴림" panose="020B0600000101010101" pitchFamily="50" charset="-127"/>
                <a:cs typeface="Arial" panose="020B0604020202020204" pitchFamily="34" charset="0"/>
              </a:rPr>
              <a:t>SMS</a:t>
            </a:r>
          </a:p>
          <a:p>
            <a:pPr algn="ctr" defTabSz="685835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100" dirty="0">
                <a:latin typeface="+mn-lt"/>
                <a:ea typeface="굴림" panose="020B0600000101010101" pitchFamily="50" charset="-127"/>
                <a:cs typeface="Arial" panose="020B0604020202020204" pitchFamily="34" charset="0"/>
              </a:rPr>
              <a:t>(Structure &amp; Mechanisms Subsystem)</a:t>
            </a:r>
            <a:endParaRPr kumimoji="1" lang="ko-KR" altLang="en-US" sz="1100" dirty="0">
              <a:latin typeface="+mn-lt"/>
              <a:ea typeface="굴림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65" name="직사각형 64">
            <a:extLst>
              <a:ext uri="{FF2B5EF4-FFF2-40B4-BE49-F238E27FC236}">
                <a16:creationId xmlns:a16="http://schemas.microsoft.com/office/drawing/2014/main" id="{F9589070-0533-4778-A665-149DE15A750F}"/>
              </a:ext>
            </a:extLst>
          </p:cNvPr>
          <p:cNvSpPr/>
          <p:nvPr/>
        </p:nvSpPr>
        <p:spPr bwMode="auto">
          <a:xfrm>
            <a:off x="4841095" y="5497271"/>
            <a:ext cx="2997000" cy="518220"/>
          </a:xfrm>
          <a:prstGeom prst="rect">
            <a:avLst/>
          </a:prstGeom>
          <a:solidFill>
            <a:schemeClr val="bg1">
              <a:lumMod val="65000"/>
            </a:schemeClr>
          </a:solidFill>
          <a:ln w="635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algn="ctr" defTabSz="685835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500" dirty="0">
                <a:latin typeface="+mn-lt"/>
                <a:ea typeface="굴림" panose="020B0600000101010101" pitchFamily="50" charset="-127"/>
                <a:cs typeface="Arial" panose="020B0604020202020204" pitchFamily="34" charset="0"/>
              </a:rPr>
              <a:t>AOCS</a:t>
            </a:r>
          </a:p>
          <a:p>
            <a:pPr algn="ctr" defTabSz="685835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100" dirty="0">
                <a:latin typeface="+mn-lt"/>
                <a:ea typeface="굴림" panose="020B0600000101010101" pitchFamily="50" charset="-127"/>
                <a:cs typeface="Arial" panose="020B0604020202020204" pitchFamily="34" charset="0"/>
              </a:rPr>
              <a:t>(Attitude &amp; Orbit Control Subsystem)</a:t>
            </a:r>
            <a:endParaRPr kumimoji="1" lang="ko-KR" altLang="en-US" sz="1100" dirty="0">
              <a:latin typeface="+mn-lt"/>
              <a:ea typeface="굴림" panose="020B0600000101010101" pitchFamily="50" charset="-127"/>
              <a:cs typeface="Arial" panose="020B0604020202020204" pitchFamily="34" charset="0"/>
            </a:endParaRPr>
          </a:p>
        </p:txBody>
      </p:sp>
      <p:cxnSp>
        <p:nvCxnSpPr>
          <p:cNvPr id="66" name="직선 화살표 연결선 65">
            <a:extLst>
              <a:ext uri="{FF2B5EF4-FFF2-40B4-BE49-F238E27FC236}">
                <a16:creationId xmlns:a16="http://schemas.microsoft.com/office/drawing/2014/main" id="{E6D30F6A-005E-4222-B869-CFF2E09D9FDB}"/>
              </a:ext>
            </a:extLst>
          </p:cNvPr>
          <p:cNvCxnSpPr>
            <a:cxnSpLocks/>
          </p:cNvCxnSpPr>
          <p:nvPr/>
        </p:nvCxnSpPr>
        <p:spPr bwMode="auto">
          <a:xfrm>
            <a:off x="4436947" y="4972114"/>
            <a:ext cx="405000" cy="0"/>
          </a:xfrm>
          <a:prstGeom prst="straightConnector1">
            <a:avLst/>
          </a:prstGeom>
          <a:solidFill>
            <a:schemeClr val="accent1"/>
          </a:solidFill>
          <a:ln w="6350" cap="flat" cmpd="sng" algn="ctr">
            <a:solidFill>
              <a:srgbClr val="0070C0"/>
            </a:solidFill>
            <a:prstDash val="solid"/>
            <a:round/>
            <a:headEnd type="triangl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7" name="직사각형 66">
            <a:extLst>
              <a:ext uri="{FF2B5EF4-FFF2-40B4-BE49-F238E27FC236}">
                <a16:creationId xmlns:a16="http://schemas.microsoft.com/office/drawing/2014/main" id="{9E921B29-8695-4CF1-9BDC-58457F483F2B}"/>
              </a:ext>
            </a:extLst>
          </p:cNvPr>
          <p:cNvSpPr/>
          <p:nvPr/>
        </p:nvSpPr>
        <p:spPr>
          <a:xfrm>
            <a:off x="4397618" y="4971763"/>
            <a:ext cx="506870" cy="21929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825" dirty="0">
                <a:solidFill>
                  <a:srgbClr val="0070C0"/>
                </a:solidFill>
                <a:latin typeface="+mn-lt"/>
                <a:cs typeface="Arial" panose="020B0604020202020204" pitchFamily="34" charset="0"/>
              </a:rPr>
              <a:t>TM/TC</a:t>
            </a:r>
            <a:endParaRPr lang="ko-KR" altLang="en-US" sz="825" dirty="0">
              <a:solidFill>
                <a:srgbClr val="0070C0"/>
              </a:solidFill>
              <a:latin typeface="+mn-lt"/>
              <a:cs typeface="Arial" panose="020B0604020202020204" pitchFamily="34" charset="0"/>
            </a:endParaRPr>
          </a:p>
        </p:txBody>
      </p:sp>
      <p:cxnSp>
        <p:nvCxnSpPr>
          <p:cNvPr id="68" name="연결선: 꺾임 67">
            <a:extLst>
              <a:ext uri="{FF2B5EF4-FFF2-40B4-BE49-F238E27FC236}">
                <a16:creationId xmlns:a16="http://schemas.microsoft.com/office/drawing/2014/main" id="{ABDE6BEA-8E7D-4BE7-98E8-5F83EB624031}"/>
              </a:ext>
            </a:extLst>
          </p:cNvPr>
          <p:cNvCxnSpPr>
            <a:stCxn id="63" idx="0"/>
            <a:endCxn id="50" idx="2"/>
          </p:cNvCxnSpPr>
          <p:nvPr/>
        </p:nvCxnSpPr>
        <p:spPr>
          <a:xfrm rot="16200000" flipV="1">
            <a:off x="3963833" y="2238117"/>
            <a:ext cx="657724" cy="4093801"/>
          </a:xfrm>
          <a:prstGeom prst="bentConnector3">
            <a:avLst>
              <a:gd name="adj1" fmla="val 72296"/>
            </a:avLst>
          </a:prstGeom>
          <a:ln w="63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연결선: 꺾임 68">
            <a:extLst>
              <a:ext uri="{FF2B5EF4-FFF2-40B4-BE49-F238E27FC236}">
                <a16:creationId xmlns:a16="http://schemas.microsoft.com/office/drawing/2014/main" id="{CB6045FF-1C53-400B-8A68-B8815FE085D8}"/>
              </a:ext>
            </a:extLst>
          </p:cNvPr>
          <p:cNvCxnSpPr>
            <a:cxnSpLocks/>
            <a:stCxn id="63" idx="0"/>
            <a:endCxn id="49" idx="2"/>
          </p:cNvCxnSpPr>
          <p:nvPr/>
        </p:nvCxnSpPr>
        <p:spPr>
          <a:xfrm rot="16200000" flipV="1">
            <a:off x="5170697" y="3444981"/>
            <a:ext cx="657724" cy="1680073"/>
          </a:xfrm>
          <a:prstGeom prst="bentConnector3">
            <a:avLst>
              <a:gd name="adj1" fmla="val 72296"/>
            </a:avLst>
          </a:prstGeom>
          <a:ln w="63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연결선: 꺾임 69">
            <a:extLst>
              <a:ext uri="{FF2B5EF4-FFF2-40B4-BE49-F238E27FC236}">
                <a16:creationId xmlns:a16="http://schemas.microsoft.com/office/drawing/2014/main" id="{4BDBA724-5F43-49C4-969E-A1D4F63B171A}"/>
              </a:ext>
            </a:extLst>
          </p:cNvPr>
          <p:cNvCxnSpPr>
            <a:cxnSpLocks/>
            <a:stCxn id="63" idx="0"/>
            <a:endCxn id="51" idx="2"/>
          </p:cNvCxnSpPr>
          <p:nvPr/>
        </p:nvCxnSpPr>
        <p:spPr>
          <a:xfrm rot="5400000" flipH="1" flipV="1">
            <a:off x="6371041" y="3925758"/>
            <a:ext cx="656677" cy="719569"/>
          </a:xfrm>
          <a:prstGeom prst="bentConnector3">
            <a:avLst>
              <a:gd name="adj1" fmla="val 73646"/>
            </a:avLst>
          </a:prstGeom>
          <a:ln w="63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연결선: 꺾임 70">
            <a:extLst>
              <a:ext uri="{FF2B5EF4-FFF2-40B4-BE49-F238E27FC236}">
                <a16:creationId xmlns:a16="http://schemas.microsoft.com/office/drawing/2014/main" id="{748ADF81-B504-4589-B606-9BB71AD9B3E6}"/>
              </a:ext>
            </a:extLst>
          </p:cNvPr>
          <p:cNvCxnSpPr>
            <a:cxnSpLocks/>
            <a:stCxn id="64" idx="0"/>
            <a:endCxn id="63" idx="2"/>
          </p:cNvCxnSpPr>
          <p:nvPr/>
        </p:nvCxnSpPr>
        <p:spPr>
          <a:xfrm rot="5400000" flipH="1" flipV="1">
            <a:off x="4456771" y="3606632"/>
            <a:ext cx="357357" cy="3408292"/>
          </a:xfrm>
          <a:prstGeom prst="bentConnector3">
            <a:avLst>
              <a:gd name="adj1" fmla="val 25859"/>
            </a:avLst>
          </a:prstGeom>
          <a:ln w="63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직선 화살표 연결선 71">
            <a:extLst>
              <a:ext uri="{FF2B5EF4-FFF2-40B4-BE49-F238E27FC236}">
                <a16:creationId xmlns:a16="http://schemas.microsoft.com/office/drawing/2014/main" id="{6393FD8B-1BF1-4C39-90DD-A1C983B21011}"/>
              </a:ext>
            </a:extLst>
          </p:cNvPr>
          <p:cNvCxnSpPr>
            <a:cxnSpLocks/>
          </p:cNvCxnSpPr>
          <p:nvPr/>
        </p:nvCxnSpPr>
        <p:spPr bwMode="auto">
          <a:xfrm>
            <a:off x="4429804" y="4762858"/>
            <a:ext cx="405000" cy="0"/>
          </a:xfrm>
          <a:prstGeom prst="straightConnector1">
            <a:avLst/>
          </a:prstGeom>
          <a:solidFill>
            <a:schemeClr val="accent1"/>
          </a:solidFill>
          <a:ln w="6350" cap="flat" cmpd="sng" algn="ctr">
            <a:solidFill>
              <a:srgbClr val="FF0000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3" name="직선 화살표 연결선 72">
            <a:extLst>
              <a:ext uri="{FF2B5EF4-FFF2-40B4-BE49-F238E27FC236}">
                <a16:creationId xmlns:a16="http://schemas.microsoft.com/office/drawing/2014/main" id="{6DD5597F-4FF8-46FE-9682-180419B72EB6}"/>
              </a:ext>
            </a:extLst>
          </p:cNvPr>
          <p:cNvCxnSpPr>
            <a:cxnSpLocks/>
          </p:cNvCxnSpPr>
          <p:nvPr/>
        </p:nvCxnSpPr>
        <p:spPr bwMode="auto">
          <a:xfrm rot="16200000">
            <a:off x="6342754" y="5317017"/>
            <a:ext cx="351000" cy="0"/>
          </a:xfrm>
          <a:prstGeom prst="straightConnector1">
            <a:avLst/>
          </a:prstGeom>
          <a:solidFill>
            <a:schemeClr val="accent1"/>
          </a:solidFill>
          <a:ln w="6350" cap="flat" cmpd="sng" algn="ctr">
            <a:solidFill>
              <a:srgbClr val="FF0000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74" name="TextBox 73">
            <a:extLst>
              <a:ext uri="{FF2B5EF4-FFF2-40B4-BE49-F238E27FC236}">
                <a16:creationId xmlns:a16="http://schemas.microsoft.com/office/drawing/2014/main" id="{4DC33958-F157-4E67-AEBF-B53EFEE1383F}"/>
              </a:ext>
            </a:extLst>
          </p:cNvPr>
          <p:cNvSpPr txBox="1"/>
          <p:nvPr/>
        </p:nvSpPr>
        <p:spPr>
          <a:xfrm>
            <a:off x="6336508" y="4327899"/>
            <a:ext cx="705302" cy="2192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25" dirty="0">
                <a:solidFill>
                  <a:srgbClr val="FF0000"/>
                </a:solidFill>
                <a:latin typeface="+mn-lt"/>
                <a:cs typeface="Arial" panose="020B0604020202020204" pitchFamily="34" charset="0"/>
              </a:rPr>
              <a:t>28 VDC</a:t>
            </a:r>
            <a:endParaRPr lang="ko-KR" altLang="en-US" sz="825" dirty="0">
              <a:solidFill>
                <a:srgbClr val="FF0000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F9881B40-4A29-4698-8706-66DB5EA16A2E}"/>
              </a:ext>
            </a:extLst>
          </p:cNvPr>
          <p:cNvSpPr txBox="1"/>
          <p:nvPr/>
        </p:nvSpPr>
        <p:spPr>
          <a:xfrm>
            <a:off x="6522246" y="5220869"/>
            <a:ext cx="705302" cy="2192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25" dirty="0">
                <a:solidFill>
                  <a:srgbClr val="FF0000"/>
                </a:solidFill>
                <a:latin typeface="+mn-lt"/>
                <a:cs typeface="Arial" panose="020B0604020202020204" pitchFamily="34" charset="0"/>
              </a:rPr>
              <a:t>28 VDC</a:t>
            </a:r>
            <a:endParaRPr lang="ko-KR" altLang="en-US" sz="825" dirty="0">
              <a:solidFill>
                <a:srgbClr val="FF0000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13BBD992-4E1C-456A-A233-E89092C6745F}"/>
              </a:ext>
            </a:extLst>
          </p:cNvPr>
          <p:cNvSpPr txBox="1"/>
          <p:nvPr/>
        </p:nvSpPr>
        <p:spPr>
          <a:xfrm>
            <a:off x="2314577" y="5285162"/>
            <a:ext cx="705302" cy="2192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25" dirty="0">
                <a:solidFill>
                  <a:srgbClr val="FF0000"/>
                </a:solidFill>
                <a:latin typeface="+mn-lt"/>
                <a:cs typeface="Arial" panose="020B0604020202020204" pitchFamily="34" charset="0"/>
              </a:rPr>
              <a:t>DC Power </a:t>
            </a:r>
            <a:endParaRPr lang="ko-KR" altLang="en-US" sz="825" dirty="0">
              <a:solidFill>
                <a:srgbClr val="FF0000"/>
              </a:solidFill>
              <a:latin typeface="+mn-lt"/>
              <a:cs typeface="Arial" panose="020B0604020202020204" pitchFamily="34" charset="0"/>
            </a:endParaRPr>
          </a:p>
        </p:txBody>
      </p:sp>
      <p:cxnSp>
        <p:nvCxnSpPr>
          <p:cNvPr id="77" name="직선 화살표 연결선 76">
            <a:extLst>
              <a:ext uri="{FF2B5EF4-FFF2-40B4-BE49-F238E27FC236}">
                <a16:creationId xmlns:a16="http://schemas.microsoft.com/office/drawing/2014/main" id="{989A12E7-0402-4B44-968A-94CB024A7F13}"/>
              </a:ext>
            </a:extLst>
          </p:cNvPr>
          <p:cNvCxnSpPr>
            <a:cxnSpLocks/>
          </p:cNvCxnSpPr>
          <p:nvPr/>
        </p:nvCxnSpPr>
        <p:spPr bwMode="auto">
          <a:xfrm>
            <a:off x="5541838" y="3254134"/>
            <a:ext cx="648000" cy="0"/>
          </a:xfrm>
          <a:prstGeom prst="straightConnector1">
            <a:avLst/>
          </a:prstGeom>
          <a:solidFill>
            <a:schemeClr val="accent1"/>
          </a:solidFill>
          <a:ln w="6350" cap="flat" cmpd="sng" algn="ctr">
            <a:solidFill>
              <a:srgbClr val="0070C0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79" name="직사각형 78">
            <a:extLst>
              <a:ext uri="{FF2B5EF4-FFF2-40B4-BE49-F238E27FC236}">
                <a16:creationId xmlns:a16="http://schemas.microsoft.com/office/drawing/2014/main" id="{9ADD6FBA-2AA7-41BD-A90C-1E84CA6D0B0A}"/>
              </a:ext>
            </a:extLst>
          </p:cNvPr>
          <p:cNvSpPr/>
          <p:nvPr/>
        </p:nvSpPr>
        <p:spPr>
          <a:xfrm>
            <a:off x="5517139" y="3231274"/>
            <a:ext cx="668774" cy="34624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825" dirty="0">
                <a:solidFill>
                  <a:srgbClr val="0070C0"/>
                </a:solidFill>
                <a:latin typeface="+mn-lt"/>
                <a:cs typeface="Arial" panose="020B0604020202020204" pitchFamily="34" charset="0"/>
              </a:rPr>
              <a:t>Real Time</a:t>
            </a:r>
          </a:p>
          <a:p>
            <a:pPr algn="ctr"/>
            <a:r>
              <a:rPr lang="en-US" altLang="ko-KR" sz="825" dirty="0">
                <a:solidFill>
                  <a:srgbClr val="0070C0"/>
                </a:solidFill>
                <a:latin typeface="+mn-lt"/>
                <a:cs typeface="Arial" panose="020B0604020202020204" pitchFamily="34" charset="0"/>
              </a:rPr>
              <a:t>Control</a:t>
            </a:r>
            <a:endParaRPr lang="ko-KR" altLang="en-US" sz="825" dirty="0">
              <a:solidFill>
                <a:srgbClr val="0070C0"/>
              </a:solidFill>
              <a:latin typeface="+mn-lt"/>
              <a:cs typeface="Arial" panose="020B0604020202020204" pitchFamily="34" charset="0"/>
            </a:endParaRPr>
          </a:p>
        </p:txBody>
      </p:sp>
      <p:cxnSp>
        <p:nvCxnSpPr>
          <p:cNvPr id="80" name="직선 화살표 연결선 79">
            <a:extLst>
              <a:ext uri="{FF2B5EF4-FFF2-40B4-BE49-F238E27FC236}">
                <a16:creationId xmlns:a16="http://schemas.microsoft.com/office/drawing/2014/main" id="{B4AD9AF6-69AA-4741-9FBA-D31AD6697D99}"/>
              </a:ext>
            </a:extLst>
          </p:cNvPr>
          <p:cNvCxnSpPr>
            <a:cxnSpLocks/>
          </p:cNvCxnSpPr>
          <p:nvPr/>
        </p:nvCxnSpPr>
        <p:spPr bwMode="auto">
          <a:xfrm rot="5400000">
            <a:off x="3799524" y="4274869"/>
            <a:ext cx="648000" cy="0"/>
          </a:xfrm>
          <a:prstGeom prst="straightConnector1">
            <a:avLst/>
          </a:prstGeom>
          <a:solidFill>
            <a:schemeClr val="accent1"/>
          </a:solidFill>
          <a:ln w="6350" cap="flat" cmpd="sng" algn="ctr">
            <a:solidFill>
              <a:srgbClr val="0070C0"/>
            </a:solidFill>
            <a:prstDash val="solid"/>
            <a:round/>
            <a:headEnd type="triangl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81" name="직사각형 80">
            <a:extLst>
              <a:ext uri="{FF2B5EF4-FFF2-40B4-BE49-F238E27FC236}">
                <a16:creationId xmlns:a16="http://schemas.microsoft.com/office/drawing/2014/main" id="{8A7DD862-BFAB-4A52-BC01-1FB197BAE153}"/>
              </a:ext>
            </a:extLst>
          </p:cNvPr>
          <p:cNvSpPr/>
          <p:nvPr/>
        </p:nvSpPr>
        <p:spPr>
          <a:xfrm>
            <a:off x="3795631" y="4321632"/>
            <a:ext cx="461906" cy="2192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825" dirty="0">
                <a:solidFill>
                  <a:srgbClr val="0070C0"/>
                </a:solidFill>
                <a:latin typeface="+mn-lt"/>
                <a:cs typeface="Arial" panose="020B0604020202020204" pitchFamily="34" charset="0"/>
              </a:rPr>
              <a:t>PPS</a:t>
            </a:r>
            <a:endParaRPr lang="ko-KR" altLang="en-US" sz="825" dirty="0">
              <a:solidFill>
                <a:srgbClr val="0070C0"/>
              </a:solidFill>
              <a:latin typeface="+mn-lt"/>
              <a:cs typeface="Arial" panose="020B0604020202020204" pitchFamily="34" charset="0"/>
            </a:endParaRPr>
          </a:p>
        </p:txBody>
      </p:sp>
      <p:cxnSp>
        <p:nvCxnSpPr>
          <p:cNvPr id="82" name="직선 화살표 연결선 81">
            <a:extLst>
              <a:ext uri="{FF2B5EF4-FFF2-40B4-BE49-F238E27FC236}">
                <a16:creationId xmlns:a16="http://schemas.microsoft.com/office/drawing/2014/main" id="{92D4EFBC-D86A-4DD4-AD21-AEAE1E07B3C1}"/>
              </a:ext>
            </a:extLst>
          </p:cNvPr>
          <p:cNvCxnSpPr>
            <a:cxnSpLocks/>
          </p:cNvCxnSpPr>
          <p:nvPr/>
        </p:nvCxnSpPr>
        <p:spPr bwMode="auto">
          <a:xfrm rot="5400000">
            <a:off x="3543832" y="4274869"/>
            <a:ext cx="648000" cy="0"/>
          </a:xfrm>
          <a:prstGeom prst="straightConnector1">
            <a:avLst/>
          </a:prstGeom>
          <a:solidFill>
            <a:schemeClr val="accent1"/>
          </a:solidFill>
          <a:ln w="6350" cap="flat" cmpd="sng" algn="ctr">
            <a:solidFill>
              <a:srgbClr val="0070C0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3" name="직선 화살표 연결선 82">
            <a:extLst>
              <a:ext uri="{FF2B5EF4-FFF2-40B4-BE49-F238E27FC236}">
                <a16:creationId xmlns:a16="http://schemas.microsoft.com/office/drawing/2014/main" id="{4C2E59F4-0502-4122-BCD8-959EDB6ECB85}"/>
              </a:ext>
            </a:extLst>
          </p:cNvPr>
          <p:cNvCxnSpPr>
            <a:cxnSpLocks/>
          </p:cNvCxnSpPr>
          <p:nvPr/>
        </p:nvCxnSpPr>
        <p:spPr bwMode="auto">
          <a:xfrm rot="5400000">
            <a:off x="3442337" y="4274869"/>
            <a:ext cx="648000" cy="0"/>
          </a:xfrm>
          <a:prstGeom prst="straightConnector1">
            <a:avLst/>
          </a:prstGeom>
          <a:solidFill>
            <a:schemeClr val="accent1"/>
          </a:solidFill>
          <a:ln w="6350" cap="flat" cmpd="sng" algn="ctr">
            <a:solidFill>
              <a:srgbClr val="0070C0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84" name="직사각형 83">
            <a:extLst>
              <a:ext uri="{FF2B5EF4-FFF2-40B4-BE49-F238E27FC236}">
                <a16:creationId xmlns:a16="http://schemas.microsoft.com/office/drawing/2014/main" id="{B64F766E-CAFA-417D-8428-90021086AA39}"/>
              </a:ext>
            </a:extLst>
          </p:cNvPr>
          <p:cNvSpPr/>
          <p:nvPr/>
        </p:nvSpPr>
        <p:spPr>
          <a:xfrm>
            <a:off x="3292914" y="4240353"/>
            <a:ext cx="533301" cy="34624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ko-KR" sz="825" dirty="0">
                <a:solidFill>
                  <a:srgbClr val="0070C0"/>
                </a:solidFill>
                <a:latin typeface="+mn-lt"/>
                <a:cs typeface="Arial" panose="020B0604020202020204" pitchFamily="34" charset="0"/>
              </a:rPr>
              <a:t>Power</a:t>
            </a:r>
          </a:p>
          <a:p>
            <a:pPr algn="ctr"/>
            <a:r>
              <a:rPr lang="en-US" altLang="ko-KR" sz="825" dirty="0">
                <a:solidFill>
                  <a:srgbClr val="0070C0"/>
                </a:solidFill>
                <a:latin typeface="+mn-lt"/>
                <a:cs typeface="Arial" panose="020B0604020202020204" pitchFamily="34" charset="0"/>
              </a:rPr>
              <a:t>Control</a:t>
            </a:r>
            <a:endParaRPr lang="ko-KR" altLang="en-US" sz="825" dirty="0">
              <a:solidFill>
                <a:srgbClr val="0070C0"/>
              </a:solidFill>
              <a:latin typeface="+mn-lt"/>
              <a:cs typeface="Arial" panose="020B0604020202020204" pitchFamily="34" charset="0"/>
            </a:endParaRPr>
          </a:p>
        </p:txBody>
      </p:sp>
      <p:cxnSp>
        <p:nvCxnSpPr>
          <p:cNvPr id="85" name="직선 화살표 연결선 84">
            <a:extLst>
              <a:ext uri="{FF2B5EF4-FFF2-40B4-BE49-F238E27FC236}">
                <a16:creationId xmlns:a16="http://schemas.microsoft.com/office/drawing/2014/main" id="{E76B2199-B0EE-4052-9A31-6D9B9F19CE6F}"/>
              </a:ext>
            </a:extLst>
          </p:cNvPr>
          <p:cNvCxnSpPr>
            <a:cxnSpLocks/>
          </p:cNvCxnSpPr>
          <p:nvPr/>
        </p:nvCxnSpPr>
        <p:spPr bwMode="auto">
          <a:xfrm>
            <a:off x="5538966" y="3570436"/>
            <a:ext cx="648000" cy="0"/>
          </a:xfrm>
          <a:prstGeom prst="straightConnector1">
            <a:avLst/>
          </a:prstGeom>
          <a:solidFill>
            <a:schemeClr val="accent1"/>
          </a:solidFill>
          <a:ln w="6350" cap="flat" cmpd="sng" algn="ctr">
            <a:solidFill>
              <a:srgbClr val="0070C0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86" name="직사각형 85">
            <a:extLst>
              <a:ext uri="{FF2B5EF4-FFF2-40B4-BE49-F238E27FC236}">
                <a16:creationId xmlns:a16="http://schemas.microsoft.com/office/drawing/2014/main" id="{EDC001DB-0218-4A15-97A9-C2BB83715F6D}"/>
              </a:ext>
            </a:extLst>
          </p:cNvPr>
          <p:cNvSpPr/>
          <p:nvPr/>
        </p:nvSpPr>
        <p:spPr>
          <a:xfrm>
            <a:off x="5587672" y="3547576"/>
            <a:ext cx="527709" cy="34624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825" dirty="0">
                <a:solidFill>
                  <a:srgbClr val="0070C0"/>
                </a:solidFill>
                <a:latin typeface="+mn-lt"/>
                <a:cs typeface="Arial" panose="020B0604020202020204" pitchFamily="34" charset="0"/>
              </a:rPr>
              <a:t>Power</a:t>
            </a:r>
          </a:p>
          <a:p>
            <a:pPr algn="ctr"/>
            <a:r>
              <a:rPr lang="en-US" altLang="ko-KR" sz="825" dirty="0">
                <a:solidFill>
                  <a:srgbClr val="0070C0"/>
                </a:solidFill>
                <a:latin typeface="+mn-lt"/>
                <a:cs typeface="Arial" panose="020B0604020202020204" pitchFamily="34" charset="0"/>
              </a:rPr>
              <a:t>Control</a:t>
            </a:r>
            <a:endParaRPr lang="ko-KR" altLang="en-US" sz="825" dirty="0">
              <a:solidFill>
                <a:srgbClr val="0070C0"/>
              </a:solidFill>
              <a:latin typeface="+mn-lt"/>
              <a:cs typeface="Arial" panose="020B0604020202020204" pitchFamily="34" charset="0"/>
            </a:endParaRPr>
          </a:p>
        </p:txBody>
      </p:sp>
      <p:cxnSp>
        <p:nvCxnSpPr>
          <p:cNvPr id="89" name="직선 화살표 연결선 88">
            <a:extLst>
              <a:ext uri="{FF2B5EF4-FFF2-40B4-BE49-F238E27FC236}">
                <a16:creationId xmlns:a16="http://schemas.microsoft.com/office/drawing/2014/main" id="{4A3827E5-236E-4844-BD76-08E5E548AAC8}"/>
              </a:ext>
            </a:extLst>
          </p:cNvPr>
          <p:cNvCxnSpPr>
            <a:cxnSpLocks/>
          </p:cNvCxnSpPr>
          <p:nvPr/>
        </p:nvCxnSpPr>
        <p:spPr bwMode="auto">
          <a:xfrm>
            <a:off x="3128969" y="3542352"/>
            <a:ext cx="648000" cy="0"/>
          </a:xfrm>
          <a:prstGeom prst="straightConnector1">
            <a:avLst/>
          </a:prstGeom>
          <a:solidFill>
            <a:schemeClr val="accent1"/>
          </a:solidFill>
          <a:ln w="6350" cap="flat" cmpd="sng" algn="ctr">
            <a:solidFill>
              <a:srgbClr val="0070C0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90" name="직사각형 89">
            <a:extLst>
              <a:ext uri="{FF2B5EF4-FFF2-40B4-BE49-F238E27FC236}">
                <a16:creationId xmlns:a16="http://schemas.microsoft.com/office/drawing/2014/main" id="{BD87A319-D855-4E2A-8CB2-A7C9834238F1}"/>
              </a:ext>
            </a:extLst>
          </p:cNvPr>
          <p:cNvSpPr/>
          <p:nvPr/>
        </p:nvSpPr>
        <p:spPr>
          <a:xfrm>
            <a:off x="3214747" y="3519492"/>
            <a:ext cx="527709" cy="34624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825" dirty="0">
                <a:solidFill>
                  <a:srgbClr val="0070C0"/>
                </a:solidFill>
                <a:latin typeface="+mn-lt"/>
                <a:cs typeface="Arial" panose="020B0604020202020204" pitchFamily="34" charset="0"/>
              </a:rPr>
              <a:t>Power</a:t>
            </a:r>
          </a:p>
          <a:p>
            <a:pPr algn="ctr"/>
            <a:r>
              <a:rPr lang="en-US" altLang="ko-KR" sz="825" dirty="0">
                <a:solidFill>
                  <a:srgbClr val="0070C0"/>
                </a:solidFill>
                <a:latin typeface="+mn-lt"/>
                <a:cs typeface="Arial" panose="020B0604020202020204" pitchFamily="34" charset="0"/>
              </a:rPr>
              <a:t>Control</a:t>
            </a:r>
            <a:endParaRPr lang="ko-KR" altLang="en-US" sz="825" dirty="0">
              <a:solidFill>
                <a:srgbClr val="0070C0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AFE57984-C4DE-41BA-8483-7F4B11A8B317}"/>
              </a:ext>
            </a:extLst>
          </p:cNvPr>
          <p:cNvSpPr txBox="1"/>
          <p:nvPr/>
        </p:nvSpPr>
        <p:spPr>
          <a:xfrm>
            <a:off x="4370590" y="4559190"/>
            <a:ext cx="705302" cy="2192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25" dirty="0">
                <a:solidFill>
                  <a:srgbClr val="FF0000"/>
                </a:solidFill>
                <a:latin typeface="+mn-lt"/>
                <a:cs typeface="Arial" panose="020B0604020202020204" pitchFamily="34" charset="0"/>
              </a:rPr>
              <a:t>28 VDC</a:t>
            </a:r>
            <a:endParaRPr lang="ko-KR" altLang="en-US" sz="825" dirty="0">
              <a:solidFill>
                <a:srgbClr val="FF0000"/>
              </a:solidFill>
              <a:latin typeface="+mn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779086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D263454-BA6F-429F-B0C1-0DDEEC6F1E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Payload Architecture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AA9F1EE-D202-4CD7-8AAE-E32CFB5587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SAR Payload</a:t>
            </a:r>
            <a:r>
              <a:rPr lang="ko-KR" altLang="en-US" dirty="0"/>
              <a:t> 구성</a:t>
            </a:r>
            <a:endParaRPr lang="en-US" altLang="ko-KR" dirty="0"/>
          </a:p>
          <a:p>
            <a:endParaRPr lang="en-US" altLang="ko-KR" dirty="0"/>
          </a:p>
        </p:txBody>
      </p:sp>
      <p:cxnSp>
        <p:nvCxnSpPr>
          <p:cNvPr id="15" name="연결선: 꺾임 14">
            <a:extLst>
              <a:ext uri="{FF2B5EF4-FFF2-40B4-BE49-F238E27FC236}">
                <a16:creationId xmlns:a16="http://schemas.microsoft.com/office/drawing/2014/main" id="{CD143474-68F4-4B52-B310-7382B4A8C17D}"/>
              </a:ext>
            </a:extLst>
          </p:cNvPr>
          <p:cNvCxnSpPr>
            <a:cxnSpLocks/>
            <a:stCxn id="30" idx="2"/>
            <a:endCxn id="12" idx="0"/>
          </p:cNvCxnSpPr>
          <p:nvPr/>
        </p:nvCxnSpPr>
        <p:spPr bwMode="auto">
          <a:xfrm rot="5400000">
            <a:off x="3852187" y="2130954"/>
            <a:ext cx="316593" cy="1127031"/>
          </a:xfrm>
          <a:prstGeom prst="bentConnector3">
            <a:avLst>
              <a:gd name="adj1" fmla="val 50000"/>
            </a:avLst>
          </a:prstGeom>
          <a:solidFill>
            <a:schemeClr val="accent1"/>
          </a:solidFill>
          <a:ln w="635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6" name="연결선: 꺾임 15">
            <a:extLst>
              <a:ext uri="{FF2B5EF4-FFF2-40B4-BE49-F238E27FC236}">
                <a16:creationId xmlns:a16="http://schemas.microsoft.com/office/drawing/2014/main" id="{B6B1B0BD-EAF5-40D4-A21B-01906792336C}"/>
              </a:ext>
            </a:extLst>
          </p:cNvPr>
          <p:cNvCxnSpPr>
            <a:cxnSpLocks/>
            <a:stCxn id="30" idx="2"/>
            <a:endCxn id="13" idx="0"/>
          </p:cNvCxnSpPr>
          <p:nvPr/>
        </p:nvCxnSpPr>
        <p:spPr bwMode="auto">
          <a:xfrm rot="16200000" flipH="1">
            <a:off x="4980970" y="2129200"/>
            <a:ext cx="317992" cy="1131937"/>
          </a:xfrm>
          <a:prstGeom prst="bentConnector3">
            <a:avLst>
              <a:gd name="adj1" fmla="val 50000"/>
            </a:avLst>
          </a:prstGeom>
          <a:solidFill>
            <a:schemeClr val="accent1"/>
          </a:solidFill>
          <a:ln w="635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" name="연결선: 꺾임 16">
            <a:extLst>
              <a:ext uri="{FF2B5EF4-FFF2-40B4-BE49-F238E27FC236}">
                <a16:creationId xmlns:a16="http://schemas.microsoft.com/office/drawing/2014/main" id="{018C712D-4E33-42D5-8C61-BB8B0320CCF9}"/>
              </a:ext>
            </a:extLst>
          </p:cNvPr>
          <p:cNvCxnSpPr>
            <a:cxnSpLocks/>
            <a:stCxn id="30" idx="2"/>
            <a:endCxn id="14" idx="0"/>
          </p:cNvCxnSpPr>
          <p:nvPr/>
        </p:nvCxnSpPr>
        <p:spPr bwMode="auto">
          <a:xfrm rot="5400000">
            <a:off x="2721305" y="1002868"/>
            <a:ext cx="319389" cy="3385999"/>
          </a:xfrm>
          <a:prstGeom prst="bentConnector3">
            <a:avLst>
              <a:gd name="adj1" fmla="val 50000"/>
            </a:avLst>
          </a:prstGeom>
          <a:solidFill>
            <a:schemeClr val="accent1"/>
          </a:solidFill>
          <a:ln w="635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37CCA549-C6AD-4A2B-A9B5-C7E2C54C19FE}"/>
              </a:ext>
            </a:extLst>
          </p:cNvPr>
          <p:cNvSpPr/>
          <p:nvPr/>
        </p:nvSpPr>
        <p:spPr bwMode="auto">
          <a:xfrm>
            <a:off x="7688387" y="5407027"/>
            <a:ext cx="1113261" cy="242910"/>
          </a:xfrm>
          <a:prstGeom prst="rect">
            <a:avLst/>
          </a:prstGeom>
          <a:solidFill>
            <a:schemeClr val="bg1">
              <a:lumMod val="65000"/>
            </a:schemeClr>
          </a:solidFill>
          <a:ln w="635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000" dirty="0">
                <a:latin typeface="+mn-lt"/>
              </a:rPr>
              <a:t>Level III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56B477B7-8830-44EE-AEFA-F236A05B5233}"/>
              </a:ext>
            </a:extLst>
          </p:cNvPr>
          <p:cNvSpPr/>
          <p:nvPr/>
        </p:nvSpPr>
        <p:spPr bwMode="auto">
          <a:xfrm>
            <a:off x="7688387" y="5650570"/>
            <a:ext cx="1113261" cy="242910"/>
          </a:xfrm>
          <a:prstGeom prst="rect">
            <a:avLst/>
          </a:prstGeom>
          <a:solidFill>
            <a:schemeClr val="bg1">
              <a:lumMod val="85000"/>
            </a:schemeClr>
          </a:solidFill>
          <a:ln w="635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000" dirty="0">
                <a:latin typeface="+mn-lt"/>
              </a:rPr>
              <a:t>Level IV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12F3A866-CEF6-46BF-8193-1DB46D70915E}"/>
              </a:ext>
            </a:extLst>
          </p:cNvPr>
          <p:cNvSpPr/>
          <p:nvPr/>
        </p:nvSpPr>
        <p:spPr bwMode="auto">
          <a:xfrm>
            <a:off x="7688386" y="5164750"/>
            <a:ext cx="1113261" cy="242910"/>
          </a:xfrm>
          <a:prstGeom prst="rect">
            <a:avLst/>
          </a:prstGeom>
          <a:solidFill>
            <a:schemeClr val="bg1">
              <a:lumMod val="50000"/>
            </a:schemeClr>
          </a:solidFill>
          <a:ln w="635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000" dirty="0">
                <a:latin typeface="+mn-lt"/>
              </a:rPr>
              <a:t>Level II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484C8FCF-9A86-462B-9670-960140A1BD20}"/>
              </a:ext>
            </a:extLst>
          </p:cNvPr>
          <p:cNvSpPr/>
          <p:nvPr/>
        </p:nvSpPr>
        <p:spPr bwMode="auto">
          <a:xfrm>
            <a:off x="3673998" y="2029425"/>
            <a:ext cx="1800000" cy="506748"/>
          </a:xfrm>
          <a:prstGeom prst="rect">
            <a:avLst/>
          </a:prstGeom>
          <a:solidFill>
            <a:schemeClr val="bg1">
              <a:lumMod val="65000"/>
            </a:schemeClr>
          </a:solidFill>
          <a:ln w="635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000" dirty="0">
                <a:latin typeface="+mn-lt"/>
              </a:rPr>
              <a:t>SAR</a:t>
            </a: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0D315BC1-6226-4FBB-B4BA-AB603E9BD1F0}"/>
              </a:ext>
            </a:extLst>
          </p:cNvPr>
          <p:cNvSpPr/>
          <p:nvPr/>
        </p:nvSpPr>
        <p:spPr bwMode="auto">
          <a:xfrm>
            <a:off x="3673998" y="1361509"/>
            <a:ext cx="1800000" cy="506748"/>
          </a:xfrm>
          <a:prstGeom prst="rect">
            <a:avLst/>
          </a:prstGeom>
          <a:solidFill>
            <a:schemeClr val="bg1">
              <a:lumMod val="50000"/>
            </a:schemeClr>
          </a:solidFill>
          <a:ln w="635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000" dirty="0">
                <a:latin typeface="+mn-lt"/>
              </a:rPr>
              <a:t>Payload</a:t>
            </a:r>
          </a:p>
        </p:txBody>
      </p:sp>
      <p:sp>
        <p:nvSpPr>
          <p:cNvPr id="66" name="직사각형 65">
            <a:extLst>
              <a:ext uri="{FF2B5EF4-FFF2-40B4-BE49-F238E27FC236}">
                <a16:creationId xmlns:a16="http://schemas.microsoft.com/office/drawing/2014/main" id="{F8DF993F-409C-4031-AE58-53545C020F9C}"/>
              </a:ext>
            </a:extLst>
          </p:cNvPr>
          <p:cNvSpPr/>
          <p:nvPr/>
        </p:nvSpPr>
        <p:spPr bwMode="auto">
          <a:xfrm>
            <a:off x="7688386" y="5891769"/>
            <a:ext cx="1113261" cy="242910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000" dirty="0">
                <a:latin typeface="+mn-lt"/>
              </a:rPr>
              <a:t>Level V</a:t>
            </a:r>
          </a:p>
        </p:txBody>
      </p:sp>
      <p:cxnSp>
        <p:nvCxnSpPr>
          <p:cNvPr id="36" name="직선 연결선 35">
            <a:extLst>
              <a:ext uri="{FF2B5EF4-FFF2-40B4-BE49-F238E27FC236}">
                <a16:creationId xmlns:a16="http://schemas.microsoft.com/office/drawing/2014/main" id="{C3F2E56E-4DB0-4503-A088-E620C2225E08}"/>
              </a:ext>
            </a:extLst>
          </p:cNvPr>
          <p:cNvCxnSpPr>
            <a:stCxn id="37" idx="2"/>
            <a:endCxn id="30" idx="0"/>
          </p:cNvCxnSpPr>
          <p:nvPr/>
        </p:nvCxnSpPr>
        <p:spPr bwMode="auto">
          <a:xfrm>
            <a:off x="4573998" y="1868257"/>
            <a:ext cx="0" cy="161168"/>
          </a:xfrm>
          <a:prstGeom prst="line">
            <a:avLst/>
          </a:prstGeom>
          <a:solidFill>
            <a:schemeClr val="accent1"/>
          </a:solidFill>
          <a:ln w="635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9CFCAECA-B4F4-4813-8D97-F66F7710F4C0}"/>
              </a:ext>
            </a:extLst>
          </p:cNvPr>
          <p:cNvSpPr/>
          <p:nvPr/>
        </p:nvSpPr>
        <p:spPr bwMode="auto">
          <a:xfrm>
            <a:off x="287999" y="3469446"/>
            <a:ext cx="1980000" cy="324000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algn="ctr" defTabSz="685835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050" dirty="0"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XDA</a:t>
            </a:r>
          </a:p>
          <a:p>
            <a:pPr algn="ctr" defTabSz="685835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900" dirty="0"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(X-Band Downlink Antenna)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88EC242E-6677-436C-A6CF-252D4CE3611E}"/>
              </a:ext>
            </a:extLst>
          </p:cNvPr>
          <p:cNvSpPr/>
          <p:nvPr/>
        </p:nvSpPr>
        <p:spPr bwMode="auto">
          <a:xfrm>
            <a:off x="287999" y="4201188"/>
            <a:ext cx="1980000" cy="324000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algn="ctr" defTabSz="685835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050" dirty="0"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XUC</a:t>
            </a:r>
          </a:p>
          <a:p>
            <a:pPr algn="ctr" defTabSz="685835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900" dirty="0"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(X-Band Up Converter)</a:t>
            </a: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13DEF501-B74D-4D2D-BA39-07F0340E2B76}"/>
              </a:ext>
            </a:extLst>
          </p:cNvPr>
          <p:cNvSpPr/>
          <p:nvPr/>
        </p:nvSpPr>
        <p:spPr bwMode="auto">
          <a:xfrm>
            <a:off x="287999" y="4567059"/>
            <a:ext cx="1980000" cy="324000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algn="ctr" defTabSz="685835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050" dirty="0"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XPM</a:t>
            </a:r>
          </a:p>
          <a:p>
            <a:pPr algn="ctr" defTabSz="685835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900" dirty="0"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(X-Band Downlink Power Module)</a:t>
            </a: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EFEFC857-107E-45BB-AB16-3D818B20EA3E}"/>
              </a:ext>
            </a:extLst>
          </p:cNvPr>
          <p:cNvSpPr/>
          <p:nvPr/>
        </p:nvSpPr>
        <p:spPr bwMode="auto">
          <a:xfrm>
            <a:off x="287999" y="3835317"/>
            <a:ext cx="1980000" cy="324000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algn="ctr" defTabSz="685835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050" dirty="0"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XPA</a:t>
            </a:r>
          </a:p>
          <a:p>
            <a:pPr algn="ctr" defTabSz="685835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900" dirty="0"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(X-Band Power Amplifier)</a:t>
            </a: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F135E08D-A021-424F-83DD-48630CD2C82A}"/>
              </a:ext>
            </a:extLst>
          </p:cNvPr>
          <p:cNvSpPr/>
          <p:nvPr/>
        </p:nvSpPr>
        <p:spPr bwMode="auto">
          <a:xfrm>
            <a:off x="2544019" y="3469446"/>
            <a:ext cx="1980000" cy="324000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algn="ctr" defTabSz="685835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900" dirty="0"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PSD</a:t>
            </a:r>
          </a:p>
          <a:p>
            <a:pPr algn="ctr" defTabSz="685835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900" dirty="0"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(Power Supply for Digital)</a:t>
            </a: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7614B4FD-3247-4CDF-A52A-FBB3065C0530}"/>
              </a:ext>
            </a:extLst>
          </p:cNvPr>
          <p:cNvSpPr/>
          <p:nvPr/>
        </p:nvSpPr>
        <p:spPr bwMode="auto">
          <a:xfrm>
            <a:off x="2546967" y="3836119"/>
            <a:ext cx="1980000" cy="324000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algn="ctr" defTabSz="685835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900" dirty="0"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SCM</a:t>
            </a:r>
          </a:p>
          <a:p>
            <a:pPr algn="ctr" defTabSz="685835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900" dirty="0"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(SAR Control Module)</a:t>
            </a: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60FC071A-9807-412E-8CFC-AC95FC029A2C}"/>
              </a:ext>
            </a:extLst>
          </p:cNvPr>
          <p:cNvSpPr/>
          <p:nvPr/>
        </p:nvSpPr>
        <p:spPr bwMode="auto">
          <a:xfrm>
            <a:off x="2546967" y="4201990"/>
            <a:ext cx="1980000" cy="324000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algn="ctr" defTabSz="685835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900" dirty="0"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DMM</a:t>
            </a:r>
          </a:p>
          <a:p>
            <a:pPr algn="ctr" defTabSz="685835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900" dirty="0"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(Downlink Modulation Module)</a:t>
            </a: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B5C83914-6263-4269-AA50-A2ED79E70D46}"/>
              </a:ext>
            </a:extLst>
          </p:cNvPr>
          <p:cNvSpPr/>
          <p:nvPr/>
        </p:nvSpPr>
        <p:spPr bwMode="auto">
          <a:xfrm>
            <a:off x="2546967" y="4567861"/>
            <a:ext cx="1980000" cy="324000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algn="ctr" defTabSz="685835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900" dirty="0"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FMM</a:t>
            </a:r>
          </a:p>
          <a:p>
            <a:pPr algn="ctr" defTabSz="685835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900" dirty="0"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(Flash Memory Module)</a:t>
            </a: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6C81DE44-4434-450A-AEEF-69C0A3992AF4}"/>
              </a:ext>
            </a:extLst>
          </p:cNvPr>
          <p:cNvSpPr/>
          <p:nvPr/>
        </p:nvSpPr>
        <p:spPr bwMode="auto">
          <a:xfrm>
            <a:off x="2546967" y="4933732"/>
            <a:ext cx="1980000" cy="324000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algn="ctr" defTabSz="685835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900" dirty="0"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SGR</a:t>
            </a:r>
          </a:p>
          <a:p>
            <a:pPr algn="ctr" defTabSz="685835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750" dirty="0"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(SAR Signal Generation &amp; Receiving Module) </a:t>
            </a: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696DCF78-D1F7-4EAE-AA8F-B9FFF3BD7565}"/>
              </a:ext>
            </a:extLst>
          </p:cNvPr>
          <p:cNvSpPr/>
          <p:nvPr/>
        </p:nvSpPr>
        <p:spPr bwMode="auto">
          <a:xfrm>
            <a:off x="2546967" y="5299603"/>
            <a:ext cx="1980000" cy="324000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algn="ctr" defTabSz="685835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900" dirty="0"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FSC</a:t>
            </a:r>
          </a:p>
          <a:p>
            <a:pPr algn="ctr" defTabSz="685835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750" dirty="0"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(Frequency Synthesis &amp; Conversion Module)</a:t>
            </a: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2E4F7D91-914F-4D82-BFEF-636356953186}"/>
              </a:ext>
            </a:extLst>
          </p:cNvPr>
          <p:cNvSpPr/>
          <p:nvPr/>
        </p:nvSpPr>
        <p:spPr bwMode="auto">
          <a:xfrm>
            <a:off x="2546967" y="5665474"/>
            <a:ext cx="1980000" cy="324000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algn="ctr" defTabSz="685835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900" dirty="0"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PSA</a:t>
            </a: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900" dirty="0"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(Power Supply for Analog)</a:t>
            </a: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09F5836A-BA33-466F-B99B-A069FD8B4551}"/>
              </a:ext>
            </a:extLst>
          </p:cNvPr>
          <p:cNvSpPr/>
          <p:nvPr/>
        </p:nvSpPr>
        <p:spPr bwMode="auto">
          <a:xfrm>
            <a:off x="4805935" y="4201188"/>
            <a:ext cx="1980000" cy="324000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algn="ctr" defTabSz="685835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050" dirty="0"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TPD</a:t>
            </a:r>
          </a:p>
          <a:p>
            <a:pPr algn="ctr" defTabSz="685835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900" dirty="0"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(Tx Power Divider)</a:t>
            </a: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7B515D22-8F51-49A3-AE38-51BC217A0662}"/>
              </a:ext>
            </a:extLst>
          </p:cNvPr>
          <p:cNvSpPr/>
          <p:nvPr/>
        </p:nvSpPr>
        <p:spPr bwMode="auto">
          <a:xfrm>
            <a:off x="4805935" y="3469446"/>
            <a:ext cx="1980000" cy="324000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algn="ctr" defTabSz="685835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050" dirty="0"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SAM #0 ~ #5</a:t>
            </a:r>
          </a:p>
          <a:p>
            <a:pPr algn="ctr" defTabSz="685835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900" dirty="0"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(SAR Antenna Module)</a:t>
            </a:r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BE972895-1AD5-4A87-9A05-121324545971}"/>
              </a:ext>
            </a:extLst>
          </p:cNvPr>
          <p:cNvSpPr/>
          <p:nvPr/>
        </p:nvSpPr>
        <p:spPr bwMode="auto">
          <a:xfrm>
            <a:off x="4805935" y="3835317"/>
            <a:ext cx="1980000" cy="324000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050" dirty="0"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TRM #0 ~ #5</a:t>
            </a: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900" dirty="0"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(Transmit / Receive Module)</a:t>
            </a:r>
          </a:p>
        </p:txBody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C2CF28D1-032A-42D0-9451-F66981854490}"/>
              </a:ext>
            </a:extLst>
          </p:cNvPr>
          <p:cNvSpPr/>
          <p:nvPr/>
        </p:nvSpPr>
        <p:spPr bwMode="auto">
          <a:xfrm>
            <a:off x="7059009" y="4196413"/>
            <a:ext cx="1980000" cy="324000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algn="ctr" defTabSz="685835" fontAlgn="base">
              <a:spcBef>
                <a:spcPct val="0"/>
              </a:spcBef>
              <a:spcAft>
                <a:spcPct val="0"/>
              </a:spcAft>
            </a:pPr>
            <a:r>
              <a:rPr lang="en-US" altLang="ko-KR" sz="1050" dirty="0">
                <a:latin typeface="Arial" panose="020B0604020202020204" pitchFamily="34" charset="0"/>
                <a:cs typeface="Arial" panose="020B0604020202020204" pitchFamily="34" charset="0"/>
              </a:rPr>
              <a:t>Downlink Scheduler</a:t>
            </a:r>
            <a:endParaRPr kumimoji="1" lang="en-US" altLang="ko-KR" sz="900" dirty="0">
              <a:latin typeface="Arial" panose="020B0604020202020204" pitchFamily="34" charset="0"/>
              <a:ea typeface="굴림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476CA09A-219A-4847-BCCE-D9B7C4E5E1F4}"/>
              </a:ext>
            </a:extLst>
          </p:cNvPr>
          <p:cNvSpPr/>
          <p:nvPr/>
        </p:nvSpPr>
        <p:spPr bwMode="auto">
          <a:xfrm>
            <a:off x="7059009" y="3464671"/>
            <a:ext cx="1980000" cy="324000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algn="ctr" defTabSz="685835" fontAlgn="base">
              <a:spcBef>
                <a:spcPct val="0"/>
              </a:spcBef>
              <a:spcAft>
                <a:spcPct val="0"/>
              </a:spcAft>
            </a:pPr>
            <a:r>
              <a:rPr lang="en-US" altLang="ko-KR" sz="1050" dirty="0">
                <a:latin typeface="Arial" panose="020B0604020202020204" pitchFamily="34" charset="0"/>
                <a:cs typeface="Arial" panose="020B0604020202020204" pitchFamily="34" charset="0"/>
              </a:rPr>
              <a:t>RTEMS</a:t>
            </a:r>
            <a:endParaRPr kumimoji="1" lang="en-US" altLang="ko-KR" sz="900" dirty="0">
              <a:latin typeface="Arial" panose="020B0604020202020204" pitchFamily="34" charset="0"/>
              <a:ea typeface="굴림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6AD1365F-92B6-40A8-A0C6-D44A6D67FCCB}"/>
              </a:ext>
            </a:extLst>
          </p:cNvPr>
          <p:cNvSpPr/>
          <p:nvPr/>
        </p:nvSpPr>
        <p:spPr bwMode="auto">
          <a:xfrm>
            <a:off x="7059009" y="3830542"/>
            <a:ext cx="1980000" cy="324000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050" dirty="0"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SAR Mission Scheduler</a:t>
            </a:r>
            <a:endParaRPr kumimoji="1" lang="en-US" altLang="ko-KR" sz="900" dirty="0">
              <a:latin typeface="Arial" panose="020B0604020202020204" pitchFamily="34" charset="0"/>
              <a:ea typeface="굴림" panose="020B0600000101010101" pitchFamily="50" charset="-127"/>
              <a:cs typeface="Arial" panose="020B0604020202020204" pitchFamily="34" charset="0"/>
            </a:endParaRPr>
          </a:p>
        </p:txBody>
      </p:sp>
      <p:cxnSp>
        <p:nvCxnSpPr>
          <p:cNvPr id="61" name="연결선: 꺾임 60">
            <a:extLst>
              <a:ext uri="{FF2B5EF4-FFF2-40B4-BE49-F238E27FC236}">
                <a16:creationId xmlns:a16="http://schemas.microsoft.com/office/drawing/2014/main" id="{6C9AC920-5381-4783-87DF-97653A296FAF}"/>
              </a:ext>
            </a:extLst>
          </p:cNvPr>
          <p:cNvCxnSpPr>
            <a:cxnSpLocks/>
            <a:stCxn id="30" idx="2"/>
            <a:endCxn id="57" idx="0"/>
          </p:cNvCxnSpPr>
          <p:nvPr/>
        </p:nvCxnSpPr>
        <p:spPr bwMode="auto">
          <a:xfrm rot="16200000" flipH="1">
            <a:off x="6110455" y="999716"/>
            <a:ext cx="317992" cy="3390906"/>
          </a:xfrm>
          <a:prstGeom prst="bentConnector3">
            <a:avLst>
              <a:gd name="adj1" fmla="val 50000"/>
            </a:avLst>
          </a:prstGeom>
          <a:solidFill>
            <a:schemeClr val="accent1"/>
          </a:solidFill>
          <a:ln w="635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4A437362-407A-4CB5-BB45-1C02645D7990}"/>
              </a:ext>
            </a:extLst>
          </p:cNvPr>
          <p:cNvSpPr/>
          <p:nvPr/>
        </p:nvSpPr>
        <p:spPr bwMode="auto">
          <a:xfrm>
            <a:off x="112773" y="3141327"/>
            <a:ext cx="131702" cy="161298"/>
          </a:xfrm>
          <a:prstGeom prst="rect">
            <a:avLst/>
          </a:prstGeom>
          <a:solidFill>
            <a:schemeClr val="bg1">
              <a:lumMod val="85000"/>
            </a:schemeClr>
          </a:solidFill>
          <a:ln w="635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algn="ctr" defTabSz="685835" fontAlgn="base">
              <a:spcBef>
                <a:spcPct val="0"/>
              </a:spcBef>
              <a:spcAft>
                <a:spcPct val="0"/>
              </a:spcAft>
            </a:pPr>
            <a:endParaRPr lang="en-US" altLang="ko-KR" sz="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0CF8DFB3-7EA8-48B2-AB14-E36E1C0611D1}"/>
              </a:ext>
            </a:extLst>
          </p:cNvPr>
          <p:cNvSpPr/>
          <p:nvPr/>
        </p:nvSpPr>
        <p:spPr bwMode="auto">
          <a:xfrm>
            <a:off x="2366967" y="3141327"/>
            <a:ext cx="131702" cy="161298"/>
          </a:xfrm>
          <a:prstGeom prst="rect">
            <a:avLst/>
          </a:prstGeom>
          <a:solidFill>
            <a:schemeClr val="bg1">
              <a:lumMod val="85000"/>
            </a:schemeClr>
          </a:solidFill>
          <a:ln w="635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algn="ctr" defTabSz="685835" fontAlgn="base">
              <a:spcBef>
                <a:spcPct val="0"/>
              </a:spcBef>
              <a:spcAft>
                <a:spcPct val="0"/>
              </a:spcAft>
            </a:pPr>
            <a:endParaRPr lang="en-US" altLang="ko-KR" sz="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35892614-7B2B-490C-AB80-0EB5250C5F0D}"/>
              </a:ext>
            </a:extLst>
          </p:cNvPr>
          <p:cNvSpPr/>
          <p:nvPr/>
        </p:nvSpPr>
        <p:spPr bwMode="auto">
          <a:xfrm>
            <a:off x="4625935" y="3141327"/>
            <a:ext cx="131702" cy="161298"/>
          </a:xfrm>
          <a:prstGeom prst="rect">
            <a:avLst/>
          </a:prstGeom>
          <a:solidFill>
            <a:schemeClr val="bg1">
              <a:lumMod val="85000"/>
            </a:schemeClr>
          </a:solidFill>
          <a:ln w="635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algn="ctr" defTabSz="685835" fontAlgn="base">
              <a:spcBef>
                <a:spcPct val="0"/>
              </a:spcBef>
              <a:spcAft>
                <a:spcPct val="0"/>
              </a:spcAft>
            </a:pPr>
            <a:endParaRPr lang="en-US" altLang="ko-KR" sz="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5" name="직사각형 64">
            <a:extLst>
              <a:ext uri="{FF2B5EF4-FFF2-40B4-BE49-F238E27FC236}">
                <a16:creationId xmlns:a16="http://schemas.microsoft.com/office/drawing/2014/main" id="{5D6D6E34-9FC9-4F56-9EC2-636EFFB0DA54}"/>
              </a:ext>
            </a:extLst>
          </p:cNvPr>
          <p:cNvSpPr/>
          <p:nvPr/>
        </p:nvSpPr>
        <p:spPr bwMode="auto">
          <a:xfrm>
            <a:off x="6884903" y="3141327"/>
            <a:ext cx="131702" cy="161298"/>
          </a:xfrm>
          <a:prstGeom prst="rect">
            <a:avLst/>
          </a:prstGeom>
          <a:solidFill>
            <a:schemeClr val="bg1">
              <a:lumMod val="85000"/>
            </a:schemeClr>
          </a:solidFill>
          <a:ln w="635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algn="ctr" defTabSz="685835" fontAlgn="base">
              <a:spcBef>
                <a:spcPct val="0"/>
              </a:spcBef>
              <a:spcAft>
                <a:spcPct val="0"/>
              </a:spcAft>
            </a:pPr>
            <a:endParaRPr lang="en-US" altLang="ko-KR" sz="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67" name="연결선: 꺾임 66">
            <a:extLst>
              <a:ext uri="{FF2B5EF4-FFF2-40B4-BE49-F238E27FC236}">
                <a16:creationId xmlns:a16="http://schemas.microsoft.com/office/drawing/2014/main" id="{4C3C7229-B6F7-4E7D-98CF-E696F3AE621F}"/>
              </a:ext>
            </a:extLst>
          </p:cNvPr>
          <p:cNvCxnSpPr>
            <a:cxnSpLocks/>
            <a:stCxn id="33" idx="1"/>
            <a:endCxn id="62" idx="2"/>
          </p:cNvCxnSpPr>
          <p:nvPr/>
        </p:nvCxnSpPr>
        <p:spPr bwMode="auto">
          <a:xfrm rot="10800000">
            <a:off x="178625" y="3302626"/>
            <a:ext cx="109375" cy="328821"/>
          </a:xfrm>
          <a:prstGeom prst="bentConnector2">
            <a:avLst/>
          </a:prstGeom>
          <a:solidFill>
            <a:schemeClr val="accent1"/>
          </a:solidFill>
          <a:ln w="635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8" name="연결선: 꺾임 67">
            <a:extLst>
              <a:ext uri="{FF2B5EF4-FFF2-40B4-BE49-F238E27FC236}">
                <a16:creationId xmlns:a16="http://schemas.microsoft.com/office/drawing/2014/main" id="{E08E69F2-B11C-4ED9-BB04-D611759F3457}"/>
              </a:ext>
            </a:extLst>
          </p:cNvPr>
          <p:cNvCxnSpPr>
            <a:cxnSpLocks/>
            <a:stCxn id="38" idx="1"/>
            <a:endCxn id="62" idx="2"/>
          </p:cNvCxnSpPr>
          <p:nvPr/>
        </p:nvCxnSpPr>
        <p:spPr bwMode="auto">
          <a:xfrm rot="10800000">
            <a:off x="178625" y="3302625"/>
            <a:ext cx="109375" cy="694692"/>
          </a:xfrm>
          <a:prstGeom prst="bentConnector2">
            <a:avLst/>
          </a:prstGeom>
          <a:solidFill>
            <a:schemeClr val="accent1"/>
          </a:solidFill>
          <a:ln w="635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9" name="연결선: 꺾임 68">
            <a:extLst>
              <a:ext uri="{FF2B5EF4-FFF2-40B4-BE49-F238E27FC236}">
                <a16:creationId xmlns:a16="http://schemas.microsoft.com/office/drawing/2014/main" id="{46BC4B41-FB35-41CD-A00A-25D8137514CC}"/>
              </a:ext>
            </a:extLst>
          </p:cNvPr>
          <p:cNvCxnSpPr>
            <a:cxnSpLocks/>
            <a:stCxn id="34" idx="1"/>
            <a:endCxn id="62" idx="2"/>
          </p:cNvCxnSpPr>
          <p:nvPr/>
        </p:nvCxnSpPr>
        <p:spPr bwMode="auto">
          <a:xfrm rot="10800000">
            <a:off x="178625" y="3302626"/>
            <a:ext cx="109375" cy="1060563"/>
          </a:xfrm>
          <a:prstGeom prst="bentConnector2">
            <a:avLst/>
          </a:prstGeom>
          <a:solidFill>
            <a:schemeClr val="accent1"/>
          </a:solidFill>
          <a:ln w="635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0" name="연결선: 꺾임 69">
            <a:extLst>
              <a:ext uri="{FF2B5EF4-FFF2-40B4-BE49-F238E27FC236}">
                <a16:creationId xmlns:a16="http://schemas.microsoft.com/office/drawing/2014/main" id="{0F76D6D8-F46E-49FF-8098-AA8D26ED71F9}"/>
              </a:ext>
            </a:extLst>
          </p:cNvPr>
          <p:cNvCxnSpPr>
            <a:cxnSpLocks/>
            <a:stCxn id="35" idx="1"/>
            <a:endCxn id="62" idx="2"/>
          </p:cNvCxnSpPr>
          <p:nvPr/>
        </p:nvCxnSpPr>
        <p:spPr bwMode="auto">
          <a:xfrm rot="10800000">
            <a:off x="178625" y="3302625"/>
            <a:ext cx="109375" cy="1426434"/>
          </a:xfrm>
          <a:prstGeom prst="bentConnector2">
            <a:avLst/>
          </a:prstGeom>
          <a:solidFill>
            <a:schemeClr val="accent1"/>
          </a:solidFill>
          <a:ln w="635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3" name="연결선: 꺾임 72">
            <a:extLst>
              <a:ext uri="{FF2B5EF4-FFF2-40B4-BE49-F238E27FC236}">
                <a16:creationId xmlns:a16="http://schemas.microsoft.com/office/drawing/2014/main" id="{F7D72B1D-3995-4B9C-B1D7-81F0D66C7F13}"/>
              </a:ext>
            </a:extLst>
          </p:cNvPr>
          <p:cNvCxnSpPr>
            <a:cxnSpLocks/>
            <a:stCxn id="42" idx="1"/>
            <a:endCxn id="63" idx="2"/>
          </p:cNvCxnSpPr>
          <p:nvPr/>
        </p:nvCxnSpPr>
        <p:spPr bwMode="auto">
          <a:xfrm rot="10800000">
            <a:off x="2432819" y="3302626"/>
            <a:ext cx="111201" cy="328821"/>
          </a:xfrm>
          <a:prstGeom prst="bentConnector2">
            <a:avLst/>
          </a:prstGeom>
          <a:solidFill>
            <a:schemeClr val="accent1"/>
          </a:solidFill>
          <a:ln w="635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6" name="연결선: 꺾임 75">
            <a:extLst>
              <a:ext uri="{FF2B5EF4-FFF2-40B4-BE49-F238E27FC236}">
                <a16:creationId xmlns:a16="http://schemas.microsoft.com/office/drawing/2014/main" id="{F6CD0D68-4628-45C2-B5BA-681D5C9F99F7}"/>
              </a:ext>
            </a:extLst>
          </p:cNvPr>
          <p:cNvCxnSpPr>
            <a:cxnSpLocks/>
            <a:stCxn id="43" idx="1"/>
            <a:endCxn id="63" idx="2"/>
          </p:cNvCxnSpPr>
          <p:nvPr/>
        </p:nvCxnSpPr>
        <p:spPr bwMode="auto">
          <a:xfrm rot="10800000">
            <a:off x="2432819" y="3302625"/>
            <a:ext cx="114149" cy="695494"/>
          </a:xfrm>
          <a:prstGeom prst="bentConnector2">
            <a:avLst/>
          </a:prstGeom>
          <a:solidFill>
            <a:schemeClr val="accent1"/>
          </a:solidFill>
          <a:ln w="635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9" name="연결선: 꺾임 78">
            <a:extLst>
              <a:ext uri="{FF2B5EF4-FFF2-40B4-BE49-F238E27FC236}">
                <a16:creationId xmlns:a16="http://schemas.microsoft.com/office/drawing/2014/main" id="{0815F299-AF24-4739-A331-BDA90F69EF8D}"/>
              </a:ext>
            </a:extLst>
          </p:cNvPr>
          <p:cNvCxnSpPr>
            <a:cxnSpLocks/>
            <a:stCxn id="46" idx="1"/>
            <a:endCxn id="63" idx="2"/>
          </p:cNvCxnSpPr>
          <p:nvPr/>
        </p:nvCxnSpPr>
        <p:spPr bwMode="auto">
          <a:xfrm rot="10800000">
            <a:off x="2432819" y="3302626"/>
            <a:ext cx="114149" cy="1061365"/>
          </a:xfrm>
          <a:prstGeom prst="bentConnector2">
            <a:avLst/>
          </a:prstGeom>
          <a:solidFill>
            <a:schemeClr val="accent1"/>
          </a:solidFill>
          <a:ln w="635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2" name="연결선: 꺾임 81">
            <a:extLst>
              <a:ext uri="{FF2B5EF4-FFF2-40B4-BE49-F238E27FC236}">
                <a16:creationId xmlns:a16="http://schemas.microsoft.com/office/drawing/2014/main" id="{58DBBC7D-782C-4323-9F43-E3610794E4AB}"/>
              </a:ext>
            </a:extLst>
          </p:cNvPr>
          <p:cNvCxnSpPr>
            <a:cxnSpLocks/>
            <a:stCxn id="47" idx="1"/>
            <a:endCxn id="63" idx="2"/>
          </p:cNvCxnSpPr>
          <p:nvPr/>
        </p:nvCxnSpPr>
        <p:spPr bwMode="auto">
          <a:xfrm rot="10800000">
            <a:off x="2432819" y="3302625"/>
            <a:ext cx="114149" cy="1427236"/>
          </a:xfrm>
          <a:prstGeom prst="bentConnector2">
            <a:avLst/>
          </a:prstGeom>
          <a:solidFill>
            <a:schemeClr val="accent1"/>
          </a:solidFill>
          <a:ln w="635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5" name="연결선: 꺾임 84">
            <a:extLst>
              <a:ext uri="{FF2B5EF4-FFF2-40B4-BE49-F238E27FC236}">
                <a16:creationId xmlns:a16="http://schemas.microsoft.com/office/drawing/2014/main" id="{9A2B4201-DA9D-4B38-AF29-3CC706D2B0F8}"/>
              </a:ext>
            </a:extLst>
          </p:cNvPr>
          <p:cNvCxnSpPr>
            <a:cxnSpLocks/>
            <a:stCxn id="48" idx="1"/>
            <a:endCxn id="63" idx="2"/>
          </p:cNvCxnSpPr>
          <p:nvPr/>
        </p:nvCxnSpPr>
        <p:spPr bwMode="auto">
          <a:xfrm rot="10800000">
            <a:off x="2432819" y="3302626"/>
            <a:ext cx="114149" cy="1793107"/>
          </a:xfrm>
          <a:prstGeom prst="bentConnector2">
            <a:avLst/>
          </a:prstGeom>
          <a:solidFill>
            <a:schemeClr val="accent1"/>
          </a:solidFill>
          <a:ln w="635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8" name="연결선: 꺾임 87">
            <a:extLst>
              <a:ext uri="{FF2B5EF4-FFF2-40B4-BE49-F238E27FC236}">
                <a16:creationId xmlns:a16="http://schemas.microsoft.com/office/drawing/2014/main" id="{E60981C9-D11F-4132-9280-577FC68CF95B}"/>
              </a:ext>
            </a:extLst>
          </p:cNvPr>
          <p:cNvCxnSpPr>
            <a:cxnSpLocks/>
            <a:stCxn id="49" idx="1"/>
            <a:endCxn id="63" idx="2"/>
          </p:cNvCxnSpPr>
          <p:nvPr/>
        </p:nvCxnSpPr>
        <p:spPr bwMode="auto">
          <a:xfrm rot="10800000">
            <a:off x="2432819" y="3302625"/>
            <a:ext cx="114149" cy="2158978"/>
          </a:xfrm>
          <a:prstGeom prst="bentConnector2">
            <a:avLst/>
          </a:prstGeom>
          <a:solidFill>
            <a:schemeClr val="accent1"/>
          </a:solidFill>
          <a:ln w="635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92" name="연결선: 꺾임 91">
            <a:extLst>
              <a:ext uri="{FF2B5EF4-FFF2-40B4-BE49-F238E27FC236}">
                <a16:creationId xmlns:a16="http://schemas.microsoft.com/office/drawing/2014/main" id="{C8C3AE02-2DBD-4847-933B-5396CA5C09A8}"/>
              </a:ext>
            </a:extLst>
          </p:cNvPr>
          <p:cNvCxnSpPr>
            <a:cxnSpLocks/>
            <a:stCxn id="50" idx="1"/>
            <a:endCxn id="63" idx="2"/>
          </p:cNvCxnSpPr>
          <p:nvPr/>
        </p:nvCxnSpPr>
        <p:spPr bwMode="auto">
          <a:xfrm rot="10800000">
            <a:off x="2432819" y="3302626"/>
            <a:ext cx="114149" cy="2524849"/>
          </a:xfrm>
          <a:prstGeom prst="bentConnector2">
            <a:avLst/>
          </a:prstGeom>
          <a:solidFill>
            <a:schemeClr val="accent1"/>
          </a:solidFill>
          <a:ln w="635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95" name="연결선: 꺾임 94">
            <a:extLst>
              <a:ext uri="{FF2B5EF4-FFF2-40B4-BE49-F238E27FC236}">
                <a16:creationId xmlns:a16="http://schemas.microsoft.com/office/drawing/2014/main" id="{5167B735-9B20-4E0D-B2A1-724FABA69DA7}"/>
              </a:ext>
            </a:extLst>
          </p:cNvPr>
          <p:cNvCxnSpPr>
            <a:cxnSpLocks/>
            <a:stCxn id="54" idx="1"/>
            <a:endCxn id="64" idx="2"/>
          </p:cNvCxnSpPr>
          <p:nvPr/>
        </p:nvCxnSpPr>
        <p:spPr bwMode="auto">
          <a:xfrm rot="10800000">
            <a:off x="4691787" y="3302626"/>
            <a:ext cx="114149" cy="328821"/>
          </a:xfrm>
          <a:prstGeom prst="bentConnector2">
            <a:avLst/>
          </a:prstGeom>
          <a:solidFill>
            <a:schemeClr val="accent1"/>
          </a:solidFill>
          <a:ln w="635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98" name="연결선: 꺾임 97">
            <a:extLst>
              <a:ext uri="{FF2B5EF4-FFF2-40B4-BE49-F238E27FC236}">
                <a16:creationId xmlns:a16="http://schemas.microsoft.com/office/drawing/2014/main" id="{71435FC3-C8DA-4954-B820-3F94EE7441C0}"/>
              </a:ext>
            </a:extLst>
          </p:cNvPr>
          <p:cNvCxnSpPr>
            <a:cxnSpLocks/>
            <a:stCxn id="55" idx="1"/>
            <a:endCxn id="64" idx="2"/>
          </p:cNvCxnSpPr>
          <p:nvPr/>
        </p:nvCxnSpPr>
        <p:spPr bwMode="auto">
          <a:xfrm rot="10800000">
            <a:off x="4691787" y="3302625"/>
            <a:ext cx="114149" cy="694692"/>
          </a:xfrm>
          <a:prstGeom prst="bentConnector2">
            <a:avLst/>
          </a:prstGeom>
          <a:solidFill>
            <a:schemeClr val="accent1"/>
          </a:solidFill>
          <a:ln w="635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1" name="연결선: 꺾임 100">
            <a:extLst>
              <a:ext uri="{FF2B5EF4-FFF2-40B4-BE49-F238E27FC236}">
                <a16:creationId xmlns:a16="http://schemas.microsoft.com/office/drawing/2014/main" id="{0A6FD5B7-BE02-4D4F-8F10-5E08FFCA47A8}"/>
              </a:ext>
            </a:extLst>
          </p:cNvPr>
          <p:cNvCxnSpPr>
            <a:cxnSpLocks/>
            <a:stCxn id="53" idx="1"/>
            <a:endCxn id="64" idx="2"/>
          </p:cNvCxnSpPr>
          <p:nvPr/>
        </p:nvCxnSpPr>
        <p:spPr bwMode="auto">
          <a:xfrm rot="10800000">
            <a:off x="4691787" y="3302626"/>
            <a:ext cx="114149" cy="1060563"/>
          </a:xfrm>
          <a:prstGeom prst="bentConnector2">
            <a:avLst/>
          </a:prstGeom>
          <a:solidFill>
            <a:schemeClr val="accent1"/>
          </a:solidFill>
          <a:ln w="635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4" name="연결선: 꺾임 103">
            <a:extLst>
              <a:ext uri="{FF2B5EF4-FFF2-40B4-BE49-F238E27FC236}">
                <a16:creationId xmlns:a16="http://schemas.microsoft.com/office/drawing/2014/main" id="{34E95559-F597-4357-B32A-B215AF4B1B9D}"/>
              </a:ext>
            </a:extLst>
          </p:cNvPr>
          <p:cNvCxnSpPr>
            <a:cxnSpLocks/>
            <a:stCxn id="59" idx="1"/>
            <a:endCxn id="65" idx="2"/>
          </p:cNvCxnSpPr>
          <p:nvPr/>
        </p:nvCxnSpPr>
        <p:spPr bwMode="auto">
          <a:xfrm rot="10800000">
            <a:off x="6950755" y="3302625"/>
            <a:ext cx="108255" cy="324046"/>
          </a:xfrm>
          <a:prstGeom prst="bentConnector2">
            <a:avLst/>
          </a:prstGeom>
          <a:solidFill>
            <a:schemeClr val="accent1"/>
          </a:solidFill>
          <a:ln w="635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7" name="연결선: 꺾임 106">
            <a:extLst>
              <a:ext uri="{FF2B5EF4-FFF2-40B4-BE49-F238E27FC236}">
                <a16:creationId xmlns:a16="http://schemas.microsoft.com/office/drawing/2014/main" id="{8ABBEF1D-DA97-438F-B9D5-EBE798DB94CB}"/>
              </a:ext>
            </a:extLst>
          </p:cNvPr>
          <p:cNvCxnSpPr>
            <a:cxnSpLocks/>
            <a:stCxn id="60" idx="1"/>
            <a:endCxn id="65" idx="2"/>
          </p:cNvCxnSpPr>
          <p:nvPr/>
        </p:nvCxnSpPr>
        <p:spPr bwMode="auto">
          <a:xfrm rot="10800000">
            <a:off x="6950755" y="3302626"/>
            <a:ext cx="108255" cy="689917"/>
          </a:xfrm>
          <a:prstGeom prst="bentConnector2">
            <a:avLst/>
          </a:prstGeom>
          <a:solidFill>
            <a:schemeClr val="accent1"/>
          </a:solidFill>
          <a:ln w="635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10" name="연결선: 꺾임 109">
            <a:extLst>
              <a:ext uri="{FF2B5EF4-FFF2-40B4-BE49-F238E27FC236}">
                <a16:creationId xmlns:a16="http://schemas.microsoft.com/office/drawing/2014/main" id="{D14842DE-97C4-4F51-8FD4-368F5F4A212D}"/>
              </a:ext>
            </a:extLst>
          </p:cNvPr>
          <p:cNvCxnSpPr>
            <a:cxnSpLocks/>
            <a:stCxn id="58" idx="1"/>
            <a:endCxn id="65" idx="2"/>
          </p:cNvCxnSpPr>
          <p:nvPr/>
        </p:nvCxnSpPr>
        <p:spPr bwMode="auto">
          <a:xfrm rot="10800000">
            <a:off x="6950755" y="3302625"/>
            <a:ext cx="108255" cy="1055788"/>
          </a:xfrm>
          <a:prstGeom prst="bentConnector2">
            <a:avLst/>
          </a:prstGeom>
          <a:solidFill>
            <a:schemeClr val="accent1"/>
          </a:solidFill>
          <a:ln w="635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7CCC1C4B-062F-4F14-AFD1-EAF0D0AFF60D}"/>
              </a:ext>
            </a:extLst>
          </p:cNvPr>
          <p:cNvSpPr/>
          <p:nvPr/>
        </p:nvSpPr>
        <p:spPr bwMode="auto">
          <a:xfrm>
            <a:off x="2366967" y="2852766"/>
            <a:ext cx="2160000" cy="506748"/>
          </a:xfrm>
          <a:prstGeom prst="rect">
            <a:avLst/>
          </a:prstGeom>
          <a:solidFill>
            <a:schemeClr val="bg1">
              <a:lumMod val="85000"/>
            </a:schemeClr>
          </a:solidFill>
          <a:ln w="635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000" dirty="0">
                <a:latin typeface="+mn-lt"/>
              </a:rPr>
              <a:t>SCEU</a:t>
            </a:r>
          </a:p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000" dirty="0">
                <a:latin typeface="+mn-lt"/>
              </a:rPr>
              <a:t>(SAR Control Electronics Unit)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CD313E09-8FEB-47FE-8BFE-E7A34123BFDF}"/>
              </a:ext>
            </a:extLst>
          </p:cNvPr>
          <p:cNvSpPr/>
          <p:nvPr/>
        </p:nvSpPr>
        <p:spPr bwMode="auto">
          <a:xfrm>
            <a:off x="107999" y="2855562"/>
            <a:ext cx="2160000" cy="506748"/>
          </a:xfrm>
          <a:prstGeom prst="rect">
            <a:avLst/>
          </a:prstGeom>
          <a:solidFill>
            <a:schemeClr val="bg1">
              <a:lumMod val="85000"/>
            </a:schemeClr>
          </a:solidFill>
          <a:ln w="635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000" dirty="0">
                <a:latin typeface="+mn-lt"/>
              </a:rPr>
              <a:t>XDAA</a:t>
            </a:r>
          </a:p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000" dirty="0">
                <a:latin typeface="+mn-lt"/>
              </a:rPr>
              <a:t>(X-Band Downlink Antenna Assembly)</a:t>
            </a:r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60D5EC54-62F4-4B1B-8D5D-23D278E5027E}"/>
              </a:ext>
            </a:extLst>
          </p:cNvPr>
          <p:cNvSpPr/>
          <p:nvPr/>
        </p:nvSpPr>
        <p:spPr bwMode="auto">
          <a:xfrm>
            <a:off x="6884904" y="2854165"/>
            <a:ext cx="2160000" cy="506748"/>
          </a:xfrm>
          <a:prstGeom prst="rect">
            <a:avLst/>
          </a:prstGeom>
          <a:solidFill>
            <a:schemeClr val="bg1">
              <a:lumMod val="85000"/>
            </a:schemeClr>
          </a:solidFill>
          <a:ln w="635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000" dirty="0">
                <a:latin typeface="+mn-lt"/>
              </a:rPr>
              <a:t>SAR S/W</a:t>
            </a:r>
          </a:p>
        </p:txBody>
      </p:sp>
      <p:sp>
        <p:nvSpPr>
          <p:cNvPr id="114" name="직사각형 113">
            <a:extLst>
              <a:ext uri="{FF2B5EF4-FFF2-40B4-BE49-F238E27FC236}">
                <a16:creationId xmlns:a16="http://schemas.microsoft.com/office/drawing/2014/main" id="{4833904E-7585-4762-8C60-4D1891CDE9B7}"/>
              </a:ext>
            </a:extLst>
          </p:cNvPr>
          <p:cNvSpPr/>
          <p:nvPr/>
        </p:nvSpPr>
        <p:spPr bwMode="auto">
          <a:xfrm>
            <a:off x="4805935" y="4567861"/>
            <a:ext cx="1980000" cy="324000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algn="ctr" defTabSz="685835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050" dirty="0"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RPC</a:t>
            </a:r>
          </a:p>
          <a:p>
            <a:pPr algn="ctr" defTabSz="685835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900" dirty="0"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(Rx Power Combiner)</a:t>
            </a:r>
          </a:p>
        </p:txBody>
      </p:sp>
      <p:cxnSp>
        <p:nvCxnSpPr>
          <p:cNvPr id="115" name="연결선: 꺾임 114">
            <a:extLst>
              <a:ext uri="{FF2B5EF4-FFF2-40B4-BE49-F238E27FC236}">
                <a16:creationId xmlns:a16="http://schemas.microsoft.com/office/drawing/2014/main" id="{7DBF0B1C-E7A1-4092-8B9E-3D897915B8B8}"/>
              </a:ext>
            </a:extLst>
          </p:cNvPr>
          <p:cNvCxnSpPr>
            <a:cxnSpLocks/>
            <a:stCxn id="114" idx="1"/>
            <a:endCxn id="64" idx="2"/>
          </p:cNvCxnSpPr>
          <p:nvPr/>
        </p:nvCxnSpPr>
        <p:spPr bwMode="auto">
          <a:xfrm rot="10800000">
            <a:off x="4691787" y="3302625"/>
            <a:ext cx="114149" cy="1427236"/>
          </a:xfrm>
          <a:prstGeom prst="bentConnector2">
            <a:avLst/>
          </a:prstGeom>
          <a:solidFill>
            <a:schemeClr val="accent1"/>
          </a:solidFill>
          <a:ln w="635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DECA0CE1-2C5A-4CFA-9A29-FED6DF77C299}"/>
              </a:ext>
            </a:extLst>
          </p:cNvPr>
          <p:cNvSpPr/>
          <p:nvPr/>
        </p:nvSpPr>
        <p:spPr bwMode="auto">
          <a:xfrm>
            <a:off x="4625935" y="2854165"/>
            <a:ext cx="2160000" cy="506748"/>
          </a:xfrm>
          <a:prstGeom prst="rect">
            <a:avLst/>
          </a:prstGeom>
          <a:solidFill>
            <a:schemeClr val="bg1">
              <a:lumMod val="85000"/>
            </a:schemeClr>
          </a:solidFill>
          <a:ln w="635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000" dirty="0">
                <a:latin typeface="+mn-lt"/>
              </a:rPr>
              <a:t>SATA</a:t>
            </a:r>
          </a:p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000" dirty="0">
                <a:latin typeface="+mn-lt"/>
              </a:rPr>
              <a:t>(SAR Antenna &amp; TRM Assembly)</a:t>
            </a:r>
          </a:p>
        </p:txBody>
      </p:sp>
      <p:sp>
        <p:nvSpPr>
          <p:cNvPr id="119" name="사각형: 둥근 모서리 118">
            <a:extLst>
              <a:ext uri="{FF2B5EF4-FFF2-40B4-BE49-F238E27FC236}">
                <a16:creationId xmlns:a16="http://schemas.microsoft.com/office/drawing/2014/main" id="{0C6B35F7-E51B-436B-A60D-DDABB01CC6AF}"/>
              </a:ext>
            </a:extLst>
          </p:cNvPr>
          <p:cNvSpPr/>
          <p:nvPr/>
        </p:nvSpPr>
        <p:spPr bwMode="auto">
          <a:xfrm>
            <a:off x="6884902" y="2536172"/>
            <a:ext cx="2225852" cy="2385668"/>
          </a:xfrm>
          <a:prstGeom prst="roundRect">
            <a:avLst/>
          </a:prstGeom>
          <a:noFill/>
          <a:ln w="57150" cap="flat" cmpd="sng" algn="ctr">
            <a:solidFill>
              <a:schemeClr val="accent2"/>
            </a:solidFill>
            <a:prstDash val="sysDash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4651032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직사각형 310">
            <a:extLst>
              <a:ext uri="{FF2B5EF4-FFF2-40B4-BE49-F238E27FC236}">
                <a16:creationId xmlns:a16="http://schemas.microsoft.com/office/drawing/2014/main" id="{1F078F78-41A5-4D8F-9A1E-5AFE330C7486}"/>
              </a:ext>
            </a:extLst>
          </p:cNvPr>
          <p:cNvSpPr/>
          <p:nvPr/>
        </p:nvSpPr>
        <p:spPr bwMode="auto">
          <a:xfrm>
            <a:off x="4839181" y="5065359"/>
            <a:ext cx="131702" cy="161298"/>
          </a:xfrm>
          <a:prstGeom prst="rect">
            <a:avLst/>
          </a:prstGeom>
          <a:solidFill>
            <a:schemeClr val="bg1">
              <a:lumMod val="85000"/>
            </a:schemeClr>
          </a:solidFill>
          <a:ln w="635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algn="ctr" defTabSz="685835" fontAlgn="base">
              <a:spcBef>
                <a:spcPct val="0"/>
              </a:spcBef>
              <a:spcAft>
                <a:spcPct val="0"/>
              </a:spcAft>
            </a:pPr>
            <a:endParaRPr lang="en-US" altLang="ko-KR" sz="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2" name="직사각형 311">
            <a:extLst>
              <a:ext uri="{FF2B5EF4-FFF2-40B4-BE49-F238E27FC236}">
                <a16:creationId xmlns:a16="http://schemas.microsoft.com/office/drawing/2014/main" id="{9E261E94-7051-41BD-85CF-7BE0B3FD3390}"/>
              </a:ext>
            </a:extLst>
          </p:cNvPr>
          <p:cNvSpPr/>
          <p:nvPr/>
        </p:nvSpPr>
        <p:spPr bwMode="auto">
          <a:xfrm>
            <a:off x="4966743" y="5065359"/>
            <a:ext cx="131702" cy="161298"/>
          </a:xfrm>
          <a:prstGeom prst="rect">
            <a:avLst/>
          </a:prstGeom>
          <a:solidFill>
            <a:schemeClr val="bg1">
              <a:lumMod val="85000"/>
            </a:schemeClr>
          </a:solidFill>
          <a:ln w="635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algn="ctr" defTabSz="685835" fontAlgn="base">
              <a:spcBef>
                <a:spcPct val="0"/>
              </a:spcBef>
              <a:spcAft>
                <a:spcPct val="0"/>
              </a:spcAft>
            </a:pPr>
            <a:endParaRPr lang="en-US" altLang="ko-KR" sz="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3" name="직사각형 312">
            <a:extLst>
              <a:ext uri="{FF2B5EF4-FFF2-40B4-BE49-F238E27FC236}">
                <a16:creationId xmlns:a16="http://schemas.microsoft.com/office/drawing/2014/main" id="{1FFF99E8-AC56-4591-A37A-1868C891D1BC}"/>
              </a:ext>
            </a:extLst>
          </p:cNvPr>
          <p:cNvSpPr/>
          <p:nvPr/>
        </p:nvSpPr>
        <p:spPr bwMode="auto">
          <a:xfrm>
            <a:off x="5095716" y="5067260"/>
            <a:ext cx="131702" cy="161298"/>
          </a:xfrm>
          <a:prstGeom prst="rect">
            <a:avLst/>
          </a:prstGeom>
          <a:solidFill>
            <a:schemeClr val="bg1">
              <a:lumMod val="85000"/>
            </a:schemeClr>
          </a:solidFill>
          <a:ln w="635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algn="ctr" defTabSz="685835" fontAlgn="base">
              <a:spcBef>
                <a:spcPct val="0"/>
              </a:spcBef>
              <a:spcAft>
                <a:spcPct val="0"/>
              </a:spcAft>
            </a:pPr>
            <a:endParaRPr lang="en-US" altLang="ko-KR" sz="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5D263454-BA6F-429F-B0C1-0DDEEC6F1E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Payload Architecture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AA9F1EE-D202-4CD7-8AAE-E32CFB5587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SAR Payload </a:t>
            </a:r>
            <a:r>
              <a:rPr lang="ko-KR" altLang="en-US" dirty="0"/>
              <a:t>구성</a:t>
            </a:r>
            <a:endParaRPr lang="en-US" altLang="ko-KR" dirty="0"/>
          </a:p>
          <a:p>
            <a:endParaRPr lang="en-US" altLang="ko-KR" dirty="0"/>
          </a:p>
        </p:txBody>
      </p:sp>
      <p:sp>
        <p:nvSpPr>
          <p:cNvPr id="255" name="직사각형 254">
            <a:extLst>
              <a:ext uri="{FF2B5EF4-FFF2-40B4-BE49-F238E27FC236}">
                <a16:creationId xmlns:a16="http://schemas.microsoft.com/office/drawing/2014/main" id="{CDD39CE9-595B-46C0-9858-22592EA126D8}"/>
              </a:ext>
            </a:extLst>
          </p:cNvPr>
          <p:cNvSpPr/>
          <p:nvPr/>
        </p:nvSpPr>
        <p:spPr bwMode="auto">
          <a:xfrm>
            <a:off x="1572601" y="1628775"/>
            <a:ext cx="7414238" cy="4314825"/>
          </a:xfrm>
          <a:prstGeom prst="rect">
            <a:avLst/>
          </a:prstGeom>
          <a:solidFill>
            <a:schemeClr val="bg1">
              <a:lumMod val="50000"/>
            </a:schemeClr>
          </a:solidFill>
          <a:ln w="635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algn="ctr" defTabSz="685835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600" dirty="0"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Payload</a:t>
            </a:r>
            <a:endParaRPr kumimoji="1" lang="ko-KR" altLang="en-US" sz="1600" dirty="0">
              <a:latin typeface="Arial" panose="020B0604020202020204" pitchFamily="34" charset="0"/>
              <a:ea typeface="굴림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258" name="직사각형 257">
            <a:extLst>
              <a:ext uri="{FF2B5EF4-FFF2-40B4-BE49-F238E27FC236}">
                <a16:creationId xmlns:a16="http://schemas.microsoft.com/office/drawing/2014/main" id="{3E42927B-F8A1-4665-B8DA-BD4118C1C14F}"/>
              </a:ext>
            </a:extLst>
          </p:cNvPr>
          <p:cNvSpPr/>
          <p:nvPr/>
        </p:nvSpPr>
        <p:spPr bwMode="auto">
          <a:xfrm>
            <a:off x="826102" y="5633135"/>
            <a:ext cx="131702" cy="161298"/>
          </a:xfrm>
          <a:prstGeom prst="rect">
            <a:avLst/>
          </a:prstGeom>
          <a:solidFill>
            <a:schemeClr val="bg1">
              <a:lumMod val="85000"/>
            </a:schemeClr>
          </a:solidFill>
          <a:ln w="635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algn="ctr" defTabSz="685835" fontAlgn="base">
              <a:spcBef>
                <a:spcPct val="0"/>
              </a:spcBef>
              <a:spcAft>
                <a:spcPct val="0"/>
              </a:spcAft>
            </a:pPr>
            <a:endParaRPr lang="en-US" altLang="ko-KR" sz="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9" name="직사각형 258">
            <a:extLst>
              <a:ext uri="{FF2B5EF4-FFF2-40B4-BE49-F238E27FC236}">
                <a16:creationId xmlns:a16="http://schemas.microsoft.com/office/drawing/2014/main" id="{10F98790-FBFA-4141-A1DC-9BC9DCAFE1F0}"/>
              </a:ext>
            </a:extLst>
          </p:cNvPr>
          <p:cNvSpPr/>
          <p:nvPr/>
        </p:nvSpPr>
        <p:spPr bwMode="auto">
          <a:xfrm>
            <a:off x="826102" y="5731044"/>
            <a:ext cx="131702" cy="161298"/>
          </a:xfrm>
          <a:prstGeom prst="rect">
            <a:avLst/>
          </a:prstGeom>
          <a:solidFill>
            <a:schemeClr val="bg1">
              <a:lumMod val="85000"/>
            </a:schemeClr>
          </a:solidFill>
          <a:ln w="635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algn="ctr" defTabSz="685835" fontAlgn="base">
              <a:spcBef>
                <a:spcPct val="0"/>
              </a:spcBef>
              <a:spcAft>
                <a:spcPct val="0"/>
              </a:spcAft>
            </a:pPr>
            <a:endParaRPr lang="en-US" altLang="ko-KR" sz="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0" name="직사각형 259">
            <a:extLst>
              <a:ext uri="{FF2B5EF4-FFF2-40B4-BE49-F238E27FC236}">
                <a16:creationId xmlns:a16="http://schemas.microsoft.com/office/drawing/2014/main" id="{ECB95747-57E9-4AD4-AEC3-07B8076CEDD0}"/>
              </a:ext>
            </a:extLst>
          </p:cNvPr>
          <p:cNvSpPr/>
          <p:nvPr/>
        </p:nvSpPr>
        <p:spPr bwMode="auto">
          <a:xfrm>
            <a:off x="826102" y="5495769"/>
            <a:ext cx="131702" cy="161298"/>
          </a:xfrm>
          <a:prstGeom prst="rect">
            <a:avLst/>
          </a:prstGeom>
          <a:solidFill>
            <a:schemeClr val="bg1">
              <a:lumMod val="85000"/>
            </a:schemeClr>
          </a:solidFill>
          <a:ln w="635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algn="ctr" defTabSz="685835" fontAlgn="base">
              <a:spcBef>
                <a:spcPct val="0"/>
              </a:spcBef>
              <a:spcAft>
                <a:spcPct val="0"/>
              </a:spcAft>
            </a:pPr>
            <a:endParaRPr lang="en-US" altLang="ko-KR" sz="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1" name="직사각형 260">
            <a:extLst>
              <a:ext uri="{FF2B5EF4-FFF2-40B4-BE49-F238E27FC236}">
                <a16:creationId xmlns:a16="http://schemas.microsoft.com/office/drawing/2014/main" id="{2CA34DC1-DC96-45E7-9E7C-CA97C680AD40}"/>
              </a:ext>
            </a:extLst>
          </p:cNvPr>
          <p:cNvSpPr/>
          <p:nvPr/>
        </p:nvSpPr>
        <p:spPr bwMode="auto">
          <a:xfrm>
            <a:off x="826102" y="5310892"/>
            <a:ext cx="131702" cy="161298"/>
          </a:xfrm>
          <a:prstGeom prst="rect">
            <a:avLst/>
          </a:prstGeom>
          <a:solidFill>
            <a:schemeClr val="bg1">
              <a:lumMod val="85000"/>
            </a:schemeClr>
          </a:solidFill>
          <a:ln w="635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algn="ctr" defTabSz="685835" fontAlgn="base">
              <a:spcBef>
                <a:spcPct val="0"/>
              </a:spcBef>
              <a:spcAft>
                <a:spcPct val="0"/>
              </a:spcAft>
            </a:pPr>
            <a:endParaRPr lang="en-US" altLang="ko-KR" sz="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2" name="직사각형 261">
            <a:extLst>
              <a:ext uri="{FF2B5EF4-FFF2-40B4-BE49-F238E27FC236}">
                <a16:creationId xmlns:a16="http://schemas.microsoft.com/office/drawing/2014/main" id="{4A867583-A32D-4122-B88C-15BDF003B6D0}"/>
              </a:ext>
            </a:extLst>
          </p:cNvPr>
          <p:cNvSpPr/>
          <p:nvPr/>
        </p:nvSpPr>
        <p:spPr bwMode="auto">
          <a:xfrm>
            <a:off x="157163" y="1628775"/>
            <a:ext cx="802554" cy="4314825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flat" cmpd="sng" algn="ctr">
            <a:solidFill>
              <a:schemeClr val="tx1"/>
            </a:solidFill>
            <a:prstDash val="dash"/>
            <a:round/>
            <a:headEnd type="none" w="sm" len="sm"/>
            <a:tailEnd type="none" w="sm" len="sm"/>
          </a:ln>
          <a:effectLst/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algn="ctr" defTabSz="685835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500" dirty="0"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Bus</a:t>
            </a:r>
          </a:p>
        </p:txBody>
      </p:sp>
      <p:sp>
        <p:nvSpPr>
          <p:cNvPr id="265" name="직사각형 264">
            <a:extLst>
              <a:ext uri="{FF2B5EF4-FFF2-40B4-BE49-F238E27FC236}">
                <a16:creationId xmlns:a16="http://schemas.microsoft.com/office/drawing/2014/main" id="{70DD3A7D-BA45-407B-AD0B-D12E05A97781}"/>
              </a:ext>
            </a:extLst>
          </p:cNvPr>
          <p:cNvSpPr/>
          <p:nvPr/>
        </p:nvSpPr>
        <p:spPr bwMode="auto">
          <a:xfrm>
            <a:off x="1665545" y="1915475"/>
            <a:ext cx="7242711" cy="3961450"/>
          </a:xfrm>
          <a:prstGeom prst="rect">
            <a:avLst/>
          </a:prstGeom>
          <a:solidFill>
            <a:schemeClr val="bg1">
              <a:lumMod val="65000"/>
            </a:schemeClr>
          </a:solidFill>
          <a:ln w="635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algn="ctr" defTabSz="685835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dirty="0"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SAR</a:t>
            </a:r>
            <a:endParaRPr kumimoji="1" lang="ko-KR" altLang="en-US" sz="1400" dirty="0">
              <a:latin typeface="Arial" panose="020B0604020202020204" pitchFamily="34" charset="0"/>
              <a:ea typeface="굴림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266" name="직사각형 265">
            <a:extLst>
              <a:ext uri="{FF2B5EF4-FFF2-40B4-BE49-F238E27FC236}">
                <a16:creationId xmlns:a16="http://schemas.microsoft.com/office/drawing/2014/main" id="{9E07064F-B75B-481B-B15F-C924CFA45B57}"/>
              </a:ext>
            </a:extLst>
          </p:cNvPr>
          <p:cNvSpPr/>
          <p:nvPr/>
        </p:nvSpPr>
        <p:spPr bwMode="auto">
          <a:xfrm>
            <a:off x="4305040" y="2250407"/>
            <a:ext cx="1971000" cy="2978814"/>
          </a:xfrm>
          <a:prstGeom prst="rect">
            <a:avLst/>
          </a:prstGeom>
          <a:solidFill>
            <a:schemeClr val="bg1">
              <a:lumMod val="85000"/>
            </a:schemeClr>
          </a:solidFill>
          <a:ln w="635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algn="ctr" defTabSz="685835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200" dirty="0"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SCEU</a:t>
            </a: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050" dirty="0"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(SAR Control Electronic Unit)</a:t>
            </a:r>
          </a:p>
          <a:p>
            <a:pPr algn="ctr" defTabSz="685835" fontAlgn="base">
              <a:spcBef>
                <a:spcPct val="0"/>
              </a:spcBef>
              <a:spcAft>
                <a:spcPct val="0"/>
              </a:spcAft>
            </a:pPr>
            <a:endParaRPr kumimoji="1" lang="en-US" altLang="ko-KR" sz="1500" dirty="0">
              <a:latin typeface="Arial" panose="020B0604020202020204" pitchFamily="34" charset="0"/>
              <a:ea typeface="굴림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267" name="직사각형 266">
            <a:extLst>
              <a:ext uri="{FF2B5EF4-FFF2-40B4-BE49-F238E27FC236}">
                <a16:creationId xmlns:a16="http://schemas.microsoft.com/office/drawing/2014/main" id="{86F80B0C-A0C1-4EDC-AF92-0DC9228832B9}"/>
              </a:ext>
            </a:extLst>
          </p:cNvPr>
          <p:cNvSpPr/>
          <p:nvPr/>
        </p:nvSpPr>
        <p:spPr bwMode="auto">
          <a:xfrm>
            <a:off x="1736042" y="2250406"/>
            <a:ext cx="1971000" cy="2978813"/>
          </a:xfrm>
          <a:prstGeom prst="rect">
            <a:avLst/>
          </a:prstGeom>
          <a:solidFill>
            <a:schemeClr val="bg1">
              <a:lumMod val="85000"/>
              <a:alpha val="99000"/>
            </a:schemeClr>
          </a:solidFill>
          <a:ln w="635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algn="ctr" defTabSz="685835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200" dirty="0"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XDAA</a:t>
            </a:r>
          </a:p>
          <a:p>
            <a:pPr algn="ctr" defTabSz="685835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050" dirty="0"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(X-Band Downlink</a:t>
            </a:r>
          </a:p>
          <a:p>
            <a:pPr algn="ctr" defTabSz="685835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050" dirty="0"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Antenna Assembly)</a:t>
            </a:r>
          </a:p>
        </p:txBody>
      </p:sp>
      <p:sp>
        <p:nvSpPr>
          <p:cNvPr id="268" name="직사각형 267">
            <a:extLst>
              <a:ext uri="{FF2B5EF4-FFF2-40B4-BE49-F238E27FC236}">
                <a16:creationId xmlns:a16="http://schemas.microsoft.com/office/drawing/2014/main" id="{1E360966-78FA-4E32-BAD1-53CB2DE8EB29}"/>
              </a:ext>
            </a:extLst>
          </p:cNvPr>
          <p:cNvSpPr/>
          <p:nvPr/>
        </p:nvSpPr>
        <p:spPr bwMode="auto">
          <a:xfrm>
            <a:off x="6881579" y="2251339"/>
            <a:ext cx="1971000" cy="2977876"/>
          </a:xfrm>
          <a:prstGeom prst="rect">
            <a:avLst/>
          </a:prstGeom>
          <a:solidFill>
            <a:schemeClr val="bg1">
              <a:lumMod val="85000"/>
            </a:schemeClr>
          </a:solidFill>
          <a:ln w="635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algn="ctr" defTabSz="685835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200" dirty="0"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SATA</a:t>
            </a:r>
          </a:p>
          <a:p>
            <a:pPr algn="ctr" defTabSz="685835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050" dirty="0"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(SAR Antenna &amp; TRM Assembly)</a:t>
            </a:r>
          </a:p>
        </p:txBody>
      </p:sp>
      <p:cxnSp>
        <p:nvCxnSpPr>
          <p:cNvPr id="273" name="직선 화살표 연결선 272">
            <a:extLst>
              <a:ext uri="{FF2B5EF4-FFF2-40B4-BE49-F238E27FC236}">
                <a16:creationId xmlns:a16="http://schemas.microsoft.com/office/drawing/2014/main" id="{2635229C-8F8A-4706-95AA-C56951FBCA02}"/>
              </a:ext>
            </a:extLst>
          </p:cNvPr>
          <p:cNvCxnSpPr>
            <a:cxnSpLocks/>
          </p:cNvCxnSpPr>
          <p:nvPr/>
        </p:nvCxnSpPr>
        <p:spPr bwMode="auto">
          <a:xfrm>
            <a:off x="6295109" y="4723024"/>
            <a:ext cx="576000" cy="0"/>
          </a:xfrm>
          <a:prstGeom prst="straightConnector1">
            <a:avLst/>
          </a:prstGeom>
          <a:solidFill>
            <a:schemeClr val="accent1"/>
          </a:solidFill>
          <a:ln w="6350" cap="flat" cmpd="sng" algn="ctr">
            <a:solidFill>
              <a:srgbClr val="00B050"/>
            </a:solidFill>
            <a:prstDash val="solid"/>
            <a:round/>
            <a:headEnd type="triangl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74" name="직사각형 273">
            <a:extLst>
              <a:ext uri="{FF2B5EF4-FFF2-40B4-BE49-F238E27FC236}">
                <a16:creationId xmlns:a16="http://schemas.microsoft.com/office/drawing/2014/main" id="{2213A907-0064-472C-93B2-599A5363E60F}"/>
              </a:ext>
            </a:extLst>
          </p:cNvPr>
          <p:cNvSpPr/>
          <p:nvPr/>
        </p:nvSpPr>
        <p:spPr>
          <a:xfrm>
            <a:off x="6133953" y="4754834"/>
            <a:ext cx="928463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ko-KR" sz="9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X-Band</a:t>
            </a:r>
          </a:p>
          <a:p>
            <a:pPr algn="ctr"/>
            <a:r>
              <a:rPr lang="en-US" altLang="ko-KR" sz="9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Tx/Rx</a:t>
            </a:r>
          </a:p>
          <a:p>
            <a:pPr algn="ctr"/>
            <a:r>
              <a:rPr lang="en-US" altLang="ko-KR" sz="9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Chirp</a:t>
            </a:r>
            <a:endParaRPr lang="ko-KR" altLang="en-US" sz="900" dirty="0">
              <a:solidFill>
                <a:srgbClr val="00B0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75" name="직선 화살표 연결선 274">
            <a:extLst>
              <a:ext uri="{FF2B5EF4-FFF2-40B4-BE49-F238E27FC236}">
                <a16:creationId xmlns:a16="http://schemas.microsoft.com/office/drawing/2014/main" id="{F633CDD0-C6E5-4C2A-A246-9B588984735C}"/>
              </a:ext>
            </a:extLst>
          </p:cNvPr>
          <p:cNvCxnSpPr>
            <a:cxnSpLocks/>
          </p:cNvCxnSpPr>
          <p:nvPr/>
        </p:nvCxnSpPr>
        <p:spPr bwMode="auto">
          <a:xfrm>
            <a:off x="6295108" y="3165283"/>
            <a:ext cx="576000" cy="0"/>
          </a:xfrm>
          <a:prstGeom prst="straightConnector1">
            <a:avLst/>
          </a:prstGeom>
          <a:solidFill>
            <a:schemeClr val="accent1"/>
          </a:solidFill>
          <a:ln w="6350" cap="flat" cmpd="sng" algn="ctr">
            <a:solidFill>
              <a:srgbClr val="0070C0"/>
            </a:solidFill>
            <a:prstDash val="solid"/>
            <a:round/>
            <a:headEnd type="triangl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76" name="직사각형 275">
            <a:extLst>
              <a:ext uri="{FF2B5EF4-FFF2-40B4-BE49-F238E27FC236}">
                <a16:creationId xmlns:a16="http://schemas.microsoft.com/office/drawing/2014/main" id="{B096A8B1-DCAC-406B-9D09-C2B787824000}"/>
              </a:ext>
            </a:extLst>
          </p:cNvPr>
          <p:cNvSpPr/>
          <p:nvPr/>
        </p:nvSpPr>
        <p:spPr>
          <a:xfrm>
            <a:off x="6319920" y="2926207"/>
            <a:ext cx="556529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ko-KR" sz="9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TM/TC</a:t>
            </a:r>
            <a:endParaRPr lang="ko-KR" altLang="en-US" sz="900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7" name="직사각형 276">
            <a:extLst>
              <a:ext uri="{FF2B5EF4-FFF2-40B4-BE49-F238E27FC236}">
                <a16:creationId xmlns:a16="http://schemas.microsoft.com/office/drawing/2014/main" id="{313098C3-4521-4029-841B-F99AFE7BF01C}"/>
              </a:ext>
            </a:extLst>
          </p:cNvPr>
          <p:cNvSpPr/>
          <p:nvPr/>
        </p:nvSpPr>
        <p:spPr bwMode="auto">
          <a:xfrm>
            <a:off x="4402820" y="2670580"/>
            <a:ext cx="1809000" cy="324000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algn="ctr" defTabSz="685835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900" dirty="0"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PSD</a:t>
            </a:r>
          </a:p>
          <a:p>
            <a:pPr algn="ctr" defTabSz="685835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900" dirty="0"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(Power Supply for Digital)</a:t>
            </a:r>
          </a:p>
        </p:txBody>
      </p:sp>
      <p:sp>
        <p:nvSpPr>
          <p:cNvPr id="278" name="직사각형 277">
            <a:extLst>
              <a:ext uri="{FF2B5EF4-FFF2-40B4-BE49-F238E27FC236}">
                <a16:creationId xmlns:a16="http://schemas.microsoft.com/office/drawing/2014/main" id="{9B32C842-0FB2-4C5F-93F5-74FD34822E0C}"/>
              </a:ext>
            </a:extLst>
          </p:cNvPr>
          <p:cNvSpPr/>
          <p:nvPr/>
        </p:nvSpPr>
        <p:spPr bwMode="auto">
          <a:xfrm>
            <a:off x="1813418" y="3036451"/>
            <a:ext cx="1809000" cy="324000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algn="ctr" defTabSz="685835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050" dirty="0"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XDA</a:t>
            </a:r>
          </a:p>
          <a:p>
            <a:pPr algn="ctr" defTabSz="685835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050" dirty="0"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(X-Band Downlink Antenna)</a:t>
            </a:r>
          </a:p>
        </p:txBody>
      </p:sp>
      <p:cxnSp>
        <p:nvCxnSpPr>
          <p:cNvPr id="279" name="직선 화살표 연결선 278">
            <a:extLst>
              <a:ext uri="{FF2B5EF4-FFF2-40B4-BE49-F238E27FC236}">
                <a16:creationId xmlns:a16="http://schemas.microsoft.com/office/drawing/2014/main" id="{93F8A1D0-AF95-4855-A9F9-77CF9E7C654E}"/>
              </a:ext>
            </a:extLst>
          </p:cNvPr>
          <p:cNvCxnSpPr>
            <a:cxnSpLocks/>
          </p:cNvCxnSpPr>
          <p:nvPr/>
        </p:nvCxnSpPr>
        <p:spPr bwMode="auto">
          <a:xfrm>
            <a:off x="6304880" y="4350981"/>
            <a:ext cx="576000" cy="0"/>
          </a:xfrm>
          <a:prstGeom prst="straightConnector1">
            <a:avLst/>
          </a:prstGeom>
          <a:solidFill>
            <a:schemeClr val="accent1"/>
          </a:solidFill>
          <a:ln w="6350" cap="flat" cmpd="sng" algn="ctr">
            <a:solidFill>
              <a:srgbClr val="0070C0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80" name="직사각형 279">
            <a:extLst>
              <a:ext uri="{FF2B5EF4-FFF2-40B4-BE49-F238E27FC236}">
                <a16:creationId xmlns:a16="http://schemas.microsoft.com/office/drawing/2014/main" id="{C3C145AB-B6B8-4576-B4A0-1818D15EBFA5}"/>
              </a:ext>
            </a:extLst>
          </p:cNvPr>
          <p:cNvSpPr/>
          <p:nvPr/>
        </p:nvSpPr>
        <p:spPr>
          <a:xfrm>
            <a:off x="6227169" y="4339953"/>
            <a:ext cx="74203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ko-KR" sz="9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Real time</a:t>
            </a:r>
          </a:p>
          <a:p>
            <a:pPr algn="ctr"/>
            <a:r>
              <a:rPr lang="en-US" altLang="ko-KR" sz="9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Control</a:t>
            </a:r>
            <a:endParaRPr lang="ko-KR" altLang="en-US" sz="900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1" name="직사각형 280">
            <a:extLst>
              <a:ext uri="{FF2B5EF4-FFF2-40B4-BE49-F238E27FC236}">
                <a16:creationId xmlns:a16="http://schemas.microsoft.com/office/drawing/2014/main" id="{045BC2DC-E326-49F7-AC21-147FF386668C}"/>
              </a:ext>
            </a:extLst>
          </p:cNvPr>
          <p:cNvSpPr/>
          <p:nvPr/>
        </p:nvSpPr>
        <p:spPr>
          <a:xfrm>
            <a:off x="370259" y="5501173"/>
            <a:ext cx="588001" cy="173715"/>
          </a:xfrm>
          <a:prstGeom prst="rect">
            <a:avLst/>
          </a:prstGeom>
        </p:spPr>
        <p:txBody>
          <a:bodyPr wrap="none">
            <a:noAutofit/>
          </a:bodyPr>
          <a:lstStyle/>
          <a:p>
            <a:pPr algn="r"/>
            <a:r>
              <a:rPr lang="en-US" altLang="ko-KR" sz="825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Power Control</a:t>
            </a:r>
            <a:endParaRPr lang="ko-KR" altLang="en-US" sz="825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2" name="직사각형 281">
            <a:extLst>
              <a:ext uri="{FF2B5EF4-FFF2-40B4-BE49-F238E27FC236}">
                <a16:creationId xmlns:a16="http://schemas.microsoft.com/office/drawing/2014/main" id="{A5B5F751-202A-4414-B7BB-C18437FF95BA}"/>
              </a:ext>
            </a:extLst>
          </p:cNvPr>
          <p:cNvSpPr/>
          <p:nvPr/>
        </p:nvSpPr>
        <p:spPr>
          <a:xfrm>
            <a:off x="370259" y="5628670"/>
            <a:ext cx="588001" cy="173715"/>
          </a:xfrm>
          <a:prstGeom prst="rect">
            <a:avLst/>
          </a:prstGeom>
        </p:spPr>
        <p:txBody>
          <a:bodyPr wrap="none">
            <a:noAutofit/>
          </a:bodyPr>
          <a:lstStyle/>
          <a:p>
            <a:pPr algn="r"/>
            <a:r>
              <a:rPr lang="en-US" altLang="ko-KR" sz="825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PPS</a:t>
            </a:r>
            <a:endParaRPr lang="ko-KR" altLang="en-US" sz="825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3" name="TextBox 282">
            <a:extLst>
              <a:ext uri="{FF2B5EF4-FFF2-40B4-BE49-F238E27FC236}">
                <a16:creationId xmlns:a16="http://schemas.microsoft.com/office/drawing/2014/main" id="{F8EDF06B-87AB-4B27-8570-385BAA2E1184}"/>
              </a:ext>
            </a:extLst>
          </p:cNvPr>
          <p:cNvSpPr txBox="1"/>
          <p:nvPr/>
        </p:nvSpPr>
        <p:spPr>
          <a:xfrm>
            <a:off x="370259" y="5745741"/>
            <a:ext cx="588001" cy="17371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r"/>
            <a:r>
              <a:rPr lang="en-US" altLang="ko-KR" sz="825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28 VDC</a:t>
            </a:r>
            <a:endParaRPr lang="ko-KR" altLang="en-US" sz="825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84" name="연결선: 꺾임 283">
            <a:extLst>
              <a:ext uri="{FF2B5EF4-FFF2-40B4-BE49-F238E27FC236}">
                <a16:creationId xmlns:a16="http://schemas.microsoft.com/office/drawing/2014/main" id="{CC127BFB-CA51-489A-AB05-F5A6C4110D2F}"/>
              </a:ext>
            </a:extLst>
          </p:cNvPr>
          <p:cNvCxnSpPr>
            <a:cxnSpLocks/>
            <a:stCxn id="283" idx="3"/>
            <a:endCxn id="266" idx="2"/>
          </p:cNvCxnSpPr>
          <p:nvPr/>
        </p:nvCxnSpPr>
        <p:spPr>
          <a:xfrm flipV="1">
            <a:off x="958260" y="5229221"/>
            <a:ext cx="4332280" cy="603378"/>
          </a:xfrm>
          <a:prstGeom prst="bentConnector2">
            <a:avLst/>
          </a:prstGeom>
          <a:ln w="63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5" name="연결선: 꺾임 284">
            <a:extLst>
              <a:ext uri="{FF2B5EF4-FFF2-40B4-BE49-F238E27FC236}">
                <a16:creationId xmlns:a16="http://schemas.microsoft.com/office/drawing/2014/main" id="{5E5B36F1-D811-477D-B543-BF4464142583}"/>
              </a:ext>
            </a:extLst>
          </p:cNvPr>
          <p:cNvCxnSpPr>
            <a:cxnSpLocks/>
            <a:stCxn id="283" idx="3"/>
            <a:endCxn id="268" idx="2"/>
          </p:cNvCxnSpPr>
          <p:nvPr/>
        </p:nvCxnSpPr>
        <p:spPr>
          <a:xfrm flipV="1">
            <a:off x="958260" y="5229215"/>
            <a:ext cx="6908819" cy="603384"/>
          </a:xfrm>
          <a:prstGeom prst="bentConnector2">
            <a:avLst/>
          </a:prstGeom>
          <a:ln w="63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6" name="연결선: 꺾임 285">
            <a:extLst>
              <a:ext uri="{FF2B5EF4-FFF2-40B4-BE49-F238E27FC236}">
                <a16:creationId xmlns:a16="http://schemas.microsoft.com/office/drawing/2014/main" id="{03F7EB9D-FE0D-40E9-9FC6-989F8F2EA52C}"/>
              </a:ext>
            </a:extLst>
          </p:cNvPr>
          <p:cNvCxnSpPr>
            <a:cxnSpLocks/>
            <a:stCxn id="283" idx="3"/>
            <a:endCxn id="267" idx="2"/>
          </p:cNvCxnSpPr>
          <p:nvPr/>
        </p:nvCxnSpPr>
        <p:spPr>
          <a:xfrm flipV="1">
            <a:off x="958260" y="5229219"/>
            <a:ext cx="1763282" cy="603380"/>
          </a:xfrm>
          <a:prstGeom prst="bentConnector2">
            <a:avLst/>
          </a:prstGeom>
          <a:ln w="63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8" name="직사각형 287">
            <a:extLst>
              <a:ext uri="{FF2B5EF4-FFF2-40B4-BE49-F238E27FC236}">
                <a16:creationId xmlns:a16="http://schemas.microsoft.com/office/drawing/2014/main" id="{C8AE1597-275C-48DA-BD12-61A27D8A84ED}"/>
              </a:ext>
            </a:extLst>
          </p:cNvPr>
          <p:cNvSpPr/>
          <p:nvPr/>
        </p:nvSpPr>
        <p:spPr>
          <a:xfrm>
            <a:off x="370259" y="5348734"/>
            <a:ext cx="588001" cy="173715"/>
          </a:xfrm>
          <a:prstGeom prst="rect">
            <a:avLst/>
          </a:prstGeom>
        </p:spPr>
        <p:txBody>
          <a:bodyPr wrap="none">
            <a:noAutofit/>
          </a:bodyPr>
          <a:lstStyle/>
          <a:p>
            <a:pPr algn="r"/>
            <a:r>
              <a:rPr lang="en-US" altLang="ko-KR" sz="825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TM/TC</a:t>
            </a:r>
            <a:endParaRPr lang="ko-KR" altLang="en-US" sz="825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89" name="직선 화살표 연결선 288">
            <a:extLst>
              <a:ext uri="{FF2B5EF4-FFF2-40B4-BE49-F238E27FC236}">
                <a16:creationId xmlns:a16="http://schemas.microsoft.com/office/drawing/2014/main" id="{EB7A04E0-39E1-4480-B749-56E1E8E97732}"/>
              </a:ext>
            </a:extLst>
          </p:cNvPr>
          <p:cNvCxnSpPr>
            <a:cxnSpLocks/>
          </p:cNvCxnSpPr>
          <p:nvPr/>
        </p:nvCxnSpPr>
        <p:spPr bwMode="auto">
          <a:xfrm>
            <a:off x="6295108" y="3265651"/>
            <a:ext cx="576000" cy="0"/>
          </a:xfrm>
          <a:prstGeom prst="straightConnector1">
            <a:avLst/>
          </a:prstGeom>
          <a:solidFill>
            <a:schemeClr val="accent1"/>
          </a:solidFill>
          <a:ln w="6350" cap="flat" cmpd="sng" algn="ctr">
            <a:solidFill>
              <a:srgbClr val="0070C0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90" name="직사각형 289">
            <a:extLst>
              <a:ext uri="{FF2B5EF4-FFF2-40B4-BE49-F238E27FC236}">
                <a16:creationId xmlns:a16="http://schemas.microsoft.com/office/drawing/2014/main" id="{219C3A97-ED56-4C65-95B3-EFA0A7936178}"/>
              </a:ext>
            </a:extLst>
          </p:cNvPr>
          <p:cNvSpPr/>
          <p:nvPr/>
        </p:nvSpPr>
        <p:spPr>
          <a:xfrm>
            <a:off x="6318560" y="3274848"/>
            <a:ext cx="55924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ko-KR" sz="9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Power</a:t>
            </a:r>
          </a:p>
          <a:p>
            <a:pPr algn="ctr"/>
            <a:r>
              <a:rPr lang="en-US" altLang="ko-KR" sz="9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Control</a:t>
            </a:r>
            <a:endParaRPr lang="ko-KR" altLang="en-US" sz="900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3" name="직사각형 292">
            <a:extLst>
              <a:ext uri="{FF2B5EF4-FFF2-40B4-BE49-F238E27FC236}">
                <a16:creationId xmlns:a16="http://schemas.microsoft.com/office/drawing/2014/main" id="{CED556D4-DF8D-43FA-A837-95933823A181}"/>
              </a:ext>
            </a:extLst>
          </p:cNvPr>
          <p:cNvSpPr/>
          <p:nvPr/>
        </p:nvSpPr>
        <p:spPr bwMode="auto">
          <a:xfrm>
            <a:off x="1813418" y="3768193"/>
            <a:ext cx="1809000" cy="324000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algn="ctr" defTabSz="685835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050" dirty="0"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XUC</a:t>
            </a:r>
          </a:p>
          <a:p>
            <a:pPr algn="ctr" defTabSz="685835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050" dirty="0"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(X-Band Up Converter)</a:t>
            </a:r>
          </a:p>
        </p:txBody>
      </p:sp>
      <p:sp>
        <p:nvSpPr>
          <p:cNvPr id="294" name="직사각형 293">
            <a:extLst>
              <a:ext uri="{FF2B5EF4-FFF2-40B4-BE49-F238E27FC236}">
                <a16:creationId xmlns:a16="http://schemas.microsoft.com/office/drawing/2014/main" id="{973B8C49-BF74-49C3-B52C-276141BE1412}"/>
              </a:ext>
            </a:extLst>
          </p:cNvPr>
          <p:cNvSpPr/>
          <p:nvPr/>
        </p:nvSpPr>
        <p:spPr bwMode="auto">
          <a:xfrm>
            <a:off x="1813418" y="4134064"/>
            <a:ext cx="1809000" cy="324000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algn="ctr" defTabSz="685835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050" dirty="0"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XPM</a:t>
            </a:r>
          </a:p>
          <a:p>
            <a:pPr algn="ctr" defTabSz="685835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800" dirty="0"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(X-Band Downlink</a:t>
            </a:r>
          </a:p>
          <a:p>
            <a:pPr algn="ctr" defTabSz="685835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800" dirty="0"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Power Module)</a:t>
            </a:r>
          </a:p>
        </p:txBody>
      </p:sp>
      <p:sp>
        <p:nvSpPr>
          <p:cNvPr id="295" name="직사각형 294">
            <a:extLst>
              <a:ext uri="{FF2B5EF4-FFF2-40B4-BE49-F238E27FC236}">
                <a16:creationId xmlns:a16="http://schemas.microsoft.com/office/drawing/2014/main" id="{19C36DC2-7B0A-4B08-A95B-17ADB1EF42C2}"/>
              </a:ext>
            </a:extLst>
          </p:cNvPr>
          <p:cNvSpPr/>
          <p:nvPr/>
        </p:nvSpPr>
        <p:spPr bwMode="auto">
          <a:xfrm>
            <a:off x="4402820" y="3036451"/>
            <a:ext cx="1809000" cy="324000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algn="ctr" defTabSz="685835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900" dirty="0"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SCM</a:t>
            </a:r>
          </a:p>
          <a:p>
            <a:pPr algn="ctr" defTabSz="685835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900" dirty="0"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(SAR Control Module)</a:t>
            </a:r>
          </a:p>
        </p:txBody>
      </p:sp>
      <p:sp>
        <p:nvSpPr>
          <p:cNvPr id="296" name="직사각형 295">
            <a:extLst>
              <a:ext uri="{FF2B5EF4-FFF2-40B4-BE49-F238E27FC236}">
                <a16:creationId xmlns:a16="http://schemas.microsoft.com/office/drawing/2014/main" id="{61D8CF9C-6544-44F2-A1C2-5EEB3C68AAEE}"/>
              </a:ext>
            </a:extLst>
          </p:cNvPr>
          <p:cNvSpPr/>
          <p:nvPr/>
        </p:nvSpPr>
        <p:spPr bwMode="auto">
          <a:xfrm>
            <a:off x="4402820" y="3402322"/>
            <a:ext cx="1809000" cy="324000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algn="ctr" defTabSz="685835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900" dirty="0"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DMM</a:t>
            </a:r>
          </a:p>
          <a:p>
            <a:pPr algn="ctr" defTabSz="685835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900" dirty="0"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(Downlink Modulation Module)</a:t>
            </a:r>
          </a:p>
        </p:txBody>
      </p:sp>
      <p:sp>
        <p:nvSpPr>
          <p:cNvPr id="297" name="직사각형 296">
            <a:extLst>
              <a:ext uri="{FF2B5EF4-FFF2-40B4-BE49-F238E27FC236}">
                <a16:creationId xmlns:a16="http://schemas.microsoft.com/office/drawing/2014/main" id="{5A9671A8-F09B-4A7E-A6D4-58708BC92C20}"/>
              </a:ext>
            </a:extLst>
          </p:cNvPr>
          <p:cNvSpPr/>
          <p:nvPr/>
        </p:nvSpPr>
        <p:spPr bwMode="auto">
          <a:xfrm>
            <a:off x="4402820" y="3768193"/>
            <a:ext cx="1809000" cy="324000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algn="ctr" defTabSz="685835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900" dirty="0"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FMM</a:t>
            </a:r>
          </a:p>
          <a:p>
            <a:pPr algn="ctr" defTabSz="685835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900" dirty="0"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(Flash Memory Module)</a:t>
            </a:r>
          </a:p>
        </p:txBody>
      </p:sp>
      <p:sp>
        <p:nvSpPr>
          <p:cNvPr id="298" name="직사각형 297">
            <a:extLst>
              <a:ext uri="{FF2B5EF4-FFF2-40B4-BE49-F238E27FC236}">
                <a16:creationId xmlns:a16="http://schemas.microsoft.com/office/drawing/2014/main" id="{79A25FAD-5657-4457-8BF6-E5777498E5CB}"/>
              </a:ext>
            </a:extLst>
          </p:cNvPr>
          <p:cNvSpPr/>
          <p:nvPr/>
        </p:nvSpPr>
        <p:spPr bwMode="auto">
          <a:xfrm>
            <a:off x="4402820" y="4134064"/>
            <a:ext cx="1809000" cy="324000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algn="ctr" defTabSz="685835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900" dirty="0"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SGR</a:t>
            </a:r>
          </a:p>
          <a:p>
            <a:pPr algn="ctr" defTabSz="685835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800" dirty="0"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(SAR Signal Generation &amp;</a:t>
            </a:r>
          </a:p>
          <a:p>
            <a:pPr algn="ctr" defTabSz="685835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800" dirty="0"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Receiving Module) </a:t>
            </a:r>
          </a:p>
        </p:txBody>
      </p:sp>
      <p:sp>
        <p:nvSpPr>
          <p:cNvPr id="299" name="직사각형 298">
            <a:extLst>
              <a:ext uri="{FF2B5EF4-FFF2-40B4-BE49-F238E27FC236}">
                <a16:creationId xmlns:a16="http://schemas.microsoft.com/office/drawing/2014/main" id="{28FCC04D-FC0B-4922-B486-10E4CAB38187}"/>
              </a:ext>
            </a:extLst>
          </p:cNvPr>
          <p:cNvSpPr/>
          <p:nvPr/>
        </p:nvSpPr>
        <p:spPr bwMode="auto">
          <a:xfrm>
            <a:off x="4402820" y="4499935"/>
            <a:ext cx="1809000" cy="324000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algn="ctr" defTabSz="685835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900" dirty="0"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FSC</a:t>
            </a:r>
          </a:p>
          <a:p>
            <a:pPr algn="ctr" defTabSz="685835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800" dirty="0"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(Frequency Synthesis &amp;</a:t>
            </a:r>
          </a:p>
          <a:p>
            <a:pPr algn="ctr" defTabSz="685835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800" dirty="0"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Conversion Module)</a:t>
            </a:r>
          </a:p>
        </p:txBody>
      </p:sp>
      <p:sp>
        <p:nvSpPr>
          <p:cNvPr id="300" name="직사각형 299">
            <a:extLst>
              <a:ext uri="{FF2B5EF4-FFF2-40B4-BE49-F238E27FC236}">
                <a16:creationId xmlns:a16="http://schemas.microsoft.com/office/drawing/2014/main" id="{B0B76ECE-235D-476E-929D-1EABDD17C745}"/>
              </a:ext>
            </a:extLst>
          </p:cNvPr>
          <p:cNvSpPr/>
          <p:nvPr/>
        </p:nvSpPr>
        <p:spPr bwMode="auto">
          <a:xfrm>
            <a:off x="4402820" y="4865806"/>
            <a:ext cx="1809000" cy="324000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algn="ctr" defTabSz="685835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900" dirty="0"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PSA</a:t>
            </a: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900" dirty="0"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(Power Supply for Analog)</a:t>
            </a:r>
          </a:p>
        </p:txBody>
      </p:sp>
      <p:sp>
        <p:nvSpPr>
          <p:cNvPr id="301" name="직사각형 300">
            <a:extLst>
              <a:ext uri="{FF2B5EF4-FFF2-40B4-BE49-F238E27FC236}">
                <a16:creationId xmlns:a16="http://schemas.microsoft.com/office/drawing/2014/main" id="{53342B83-4725-49A4-8943-2B0164308097}"/>
              </a:ext>
            </a:extLst>
          </p:cNvPr>
          <p:cNvSpPr/>
          <p:nvPr/>
        </p:nvSpPr>
        <p:spPr bwMode="auto">
          <a:xfrm>
            <a:off x="6965008" y="2670580"/>
            <a:ext cx="1809000" cy="324000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algn="ctr" defTabSz="685835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050" dirty="0"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SAM #0</a:t>
            </a:r>
          </a:p>
          <a:p>
            <a:pPr algn="ctr" defTabSz="685835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900" dirty="0"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(SAR Antenna Module)</a:t>
            </a:r>
          </a:p>
        </p:txBody>
      </p:sp>
      <p:sp>
        <p:nvSpPr>
          <p:cNvPr id="302" name="직사각형 301">
            <a:extLst>
              <a:ext uri="{FF2B5EF4-FFF2-40B4-BE49-F238E27FC236}">
                <a16:creationId xmlns:a16="http://schemas.microsoft.com/office/drawing/2014/main" id="{85D77333-3BD0-4B70-A9C0-4BD79421EBC2}"/>
              </a:ext>
            </a:extLst>
          </p:cNvPr>
          <p:cNvSpPr/>
          <p:nvPr/>
        </p:nvSpPr>
        <p:spPr bwMode="auto">
          <a:xfrm>
            <a:off x="6965008" y="3036451"/>
            <a:ext cx="1809000" cy="324000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050" dirty="0"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TRM #0</a:t>
            </a: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900" dirty="0"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(Transmit / Receive Module)</a:t>
            </a:r>
          </a:p>
        </p:txBody>
      </p:sp>
      <p:sp>
        <p:nvSpPr>
          <p:cNvPr id="303" name="직사각형 302">
            <a:extLst>
              <a:ext uri="{FF2B5EF4-FFF2-40B4-BE49-F238E27FC236}">
                <a16:creationId xmlns:a16="http://schemas.microsoft.com/office/drawing/2014/main" id="{7E9FC50E-FB42-41EE-B583-92569DC3C4D1}"/>
              </a:ext>
            </a:extLst>
          </p:cNvPr>
          <p:cNvSpPr/>
          <p:nvPr/>
        </p:nvSpPr>
        <p:spPr bwMode="auto">
          <a:xfrm>
            <a:off x="6965008" y="4499935"/>
            <a:ext cx="1809000" cy="324000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algn="ctr" defTabSz="685835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050" dirty="0"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TPD</a:t>
            </a:r>
          </a:p>
          <a:p>
            <a:pPr algn="ctr" defTabSz="685835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900" dirty="0"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(Tx Power Divider)</a:t>
            </a:r>
          </a:p>
        </p:txBody>
      </p:sp>
      <p:sp>
        <p:nvSpPr>
          <p:cNvPr id="304" name="직사각형 303">
            <a:extLst>
              <a:ext uri="{FF2B5EF4-FFF2-40B4-BE49-F238E27FC236}">
                <a16:creationId xmlns:a16="http://schemas.microsoft.com/office/drawing/2014/main" id="{4DE9EB56-2192-46F6-890C-BF4781AEF507}"/>
              </a:ext>
            </a:extLst>
          </p:cNvPr>
          <p:cNvSpPr/>
          <p:nvPr/>
        </p:nvSpPr>
        <p:spPr bwMode="auto">
          <a:xfrm>
            <a:off x="6965008" y="3768193"/>
            <a:ext cx="1809000" cy="324000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algn="ctr" defTabSz="685835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050" dirty="0"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SAM #5</a:t>
            </a:r>
          </a:p>
          <a:p>
            <a:pPr algn="ctr" defTabSz="685835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900" dirty="0"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(SAR Antenna Module)</a:t>
            </a:r>
          </a:p>
        </p:txBody>
      </p:sp>
      <p:sp>
        <p:nvSpPr>
          <p:cNvPr id="305" name="직사각형 304">
            <a:extLst>
              <a:ext uri="{FF2B5EF4-FFF2-40B4-BE49-F238E27FC236}">
                <a16:creationId xmlns:a16="http://schemas.microsoft.com/office/drawing/2014/main" id="{E16581D1-83C5-426C-8ECC-24C3069F5421}"/>
              </a:ext>
            </a:extLst>
          </p:cNvPr>
          <p:cNvSpPr/>
          <p:nvPr/>
        </p:nvSpPr>
        <p:spPr bwMode="auto">
          <a:xfrm>
            <a:off x="6965008" y="4134064"/>
            <a:ext cx="1809000" cy="324000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050" dirty="0"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TRM #5</a:t>
            </a: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900" dirty="0"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(Transmit / Receive Module)</a:t>
            </a:r>
          </a:p>
        </p:txBody>
      </p:sp>
      <p:sp>
        <p:nvSpPr>
          <p:cNvPr id="306" name="TextBox 305">
            <a:extLst>
              <a:ext uri="{FF2B5EF4-FFF2-40B4-BE49-F238E27FC236}">
                <a16:creationId xmlns:a16="http://schemas.microsoft.com/office/drawing/2014/main" id="{C722C06C-618A-47D5-8626-8AA792498AC8}"/>
              </a:ext>
            </a:extLst>
          </p:cNvPr>
          <p:cNvSpPr txBox="1"/>
          <p:nvPr/>
        </p:nvSpPr>
        <p:spPr>
          <a:xfrm>
            <a:off x="7748064" y="3347983"/>
            <a:ext cx="2428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sym typeface="Symbol" panose="05050102010706020507" pitchFamily="18" charset="2"/>
              </a:rPr>
              <a:t></a:t>
            </a:r>
            <a:endParaRPr lang="en-US" altLang="ko-KR" sz="800" dirty="0">
              <a:sym typeface="Symbol" panose="05050102010706020507" pitchFamily="18" charset="2"/>
            </a:endParaRPr>
          </a:p>
          <a:p>
            <a:r>
              <a:rPr lang="ko-KR" altLang="en-US" sz="800" dirty="0">
                <a:sym typeface="Symbol" panose="05050102010706020507" pitchFamily="18" charset="2"/>
              </a:rPr>
              <a:t></a:t>
            </a:r>
            <a:endParaRPr lang="ko-KR" altLang="en-US" sz="800" dirty="0"/>
          </a:p>
          <a:p>
            <a:r>
              <a:rPr lang="ko-KR" altLang="en-US" sz="800" dirty="0">
                <a:sym typeface="Symbol" panose="05050102010706020507" pitchFamily="18" charset="2"/>
              </a:rPr>
              <a:t></a:t>
            </a:r>
            <a:endParaRPr lang="ko-KR" altLang="en-US" sz="800" dirty="0"/>
          </a:p>
        </p:txBody>
      </p:sp>
      <p:cxnSp>
        <p:nvCxnSpPr>
          <p:cNvPr id="308" name="연결선: 꺾임 307">
            <a:extLst>
              <a:ext uri="{FF2B5EF4-FFF2-40B4-BE49-F238E27FC236}">
                <a16:creationId xmlns:a16="http://schemas.microsoft.com/office/drawing/2014/main" id="{8E007D85-8C1B-4396-BD2E-58BA956826B4}"/>
              </a:ext>
            </a:extLst>
          </p:cNvPr>
          <p:cNvCxnSpPr>
            <a:cxnSpLocks/>
            <a:stCxn id="282" idx="3"/>
            <a:endCxn id="313" idx="2"/>
          </p:cNvCxnSpPr>
          <p:nvPr/>
        </p:nvCxnSpPr>
        <p:spPr>
          <a:xfrm flipV="1">
            <a:off x="958260" y="5228558"/>
            <a:ext cx="4203307" cy="486970"/>
          </a:xfrm>
          <a:prstGeom prst="bentConnector2">
            <a:avLst/>
          </a:prstGeom>
          <a:ln w="63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6" name="연결선: 꺾임 315">
            <a:extLst>
              <a:ext uri="{FF2B5EF4-FFF2-40B4-BE49-F238E27FC236}">
                <a16:creationId xmlns:a16="http://schemas.microsoft.com/office/drawing/2014/main" id="{8DA21B1B-4AD6-4588-A814-92FA65823561}"/>
              </a:ext>
            </a:extLst>
          </p:cNvPr>
          <p:cNvCxnSpPr>
            <a:cxnSpLocks/>
            <a:stCxn id="281" idx="3"/>
            <a:endCxn id="312" idx="2"/>
          </p:cNvCxnSpPr>
          <p:nvPr/>
        </p:nvCxnSpPr>
        <p:spPr>
          <a:xfrm flipV="1">
            <a:off x="958260" y="5226657"/>
            <a:ext cx="4074334" cy="361374"/>
          </a:xfrm>
          <a:prstGeom prst="bentConnector2">
            <a:avLst/>
          </a:prstGeom>
          <a:ln w="63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9" name="연결선: 꺾임 318">
            <a:extLst>
              <a:ext uri="{FF2B5EF4-FFF2-40B4-BE49-F238E27FC236}">
                <a16:creationId xmlns:a16="http://schemas.microsoft.com/office/drawing/2014/main" id="{2FBB14E9-0A70-4D8D-AFDD-649432B4EB8A}"/>
              </a:ext>
            </a:extLst>
          </p:cNvPr>
          <p:cNvCxnSpPr>
            <a:cxnSpLocks/>
            <a:stCxn id="288" idx="3"/>
            <a:endCxn id="311" idx="2"/>
          </p:cNvCxnSpPr>
          <p:nvPr/>
        </p:nvCxnSpPr>
        <p:spPr>
          <a:xfrm flipV="1">
            <a:off x="958260" y="5226657"/>
            <a:ext cx="3946772" cy="208935"/>
          </a:xfrm>
          <a:prstGeom prst="bentConnector2">
            <a:avLst/>
          </a:prstGeom>
          <a:ln w="63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2" name="직선 화살표 연결선 321">
            <a:extLst>
              <a:ext uri="{FF2B5EF4-FFF2-40B4-BE49-F238E27FC236}">
                <a16:creationId xmlns:a16="http://schemas.microsoft.com/office/drawing/2014/main" id="{070EE555-764B-446E-A74D-A5F0213AD981}"/>
              </a:ext>
            </a:extLst>
          </p:cNvPr>
          <p:cNvCxnSpPr>
            <a:cxnSpLocks/>
          </p:cNvCxnSpPr>
          <p:nvPr/>
        </p:nvCxnSpPr>
        <p:spPr bwMode="auto">
          <a:xfrm>
            <a:off x="3722024" y="3165283"/>
            <a:ext cx="576000" cy="0"/>
          </a:xfrm>
          <a:prstGeom prst="straightConnector1">
            <a:avLst/>
          </a:prstGeom>
          <a:solidFill>
            <a:schemeClr val="accent1"/>
          </a:solidFill>
          <a:ln w="6350" cap="flat" cmpd="sng" algn="ctr">
            <a:solidFill>
              <a:srgbClr val="0070C0"/>
            </a:solidFill>
            <a:prstDash val="solid"/>
            <a:round/>
            <a:headEnd type="triangl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23" name="직사각형 322">
            <a:extLst>
              <a:ext uri="{FF2B5EF4-FFF2-40B4-BE49-F238E27FC236}">
                <a16:creationId xmlns:a16="http://schemas.microsoft.com/office/drawing/2014/main" id="{CD28DCBF-963D-42B9-B45F-0E0A9EED4A1D}"/>
              </a:ext>
            </a:extLst>
          </p:cNvPr>
          <p:cNvSpPr/>
          <p:nvPr/>
        </p:nvSpPr>
        <p:spPr>
          <a:xfrm>
            <a:off x="3746836" y="2926207"/>
            <a:ext cx="556529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ko-KR" sz="9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TM/TC</a:t>
            </a:r>
            <a:endParaRPr lang="ko-KR" altLang="en-US" sz="900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24" name="직선 화살표 연결선 323">
            <a:extLst>
              <a:ext uri="{FF2B5EF4-FFF2-40B4-BE49-F238E27FC236}">
                <a16:creationId xmlns:a16="http://schemas.microsoft.com/office/drawing/2014/main" id="{D5C23AA7-1E96-4CB1-A500-85C4418A159A}"/>
              </a:ext>
            </a:extLst>
          </p:cNvPr>
          <p:cNvCxnSpPr>
            <a:cxnSpLocks/>
          </p:cNvCxnSpPr>
          <p:nvPr/>
        </p:nvCxnSpPr>
        <p:spPr bwMode="auto">
          <a:xfrm>
            <a:off x="3722024" y="3265651"/>
            <a:ext cx="576000" cy="0"/>
          </a:xfrm>
          <a:prstGeom prst="straightConnector1">
            <a:avLst/>
          </a:prstGeom>
          <a:solidFill>
            <a:schemeClr val="accent1"/>
          </a:solidFill>
          <a:ln w="6350" cap="flat" cmpd="sng" algn="ctr">
            <a:solidFill>
              <a:srgbClr val="0070C0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25" name="직사각형 324">
            <a:extLst>
              <a:ext uri="{FF2B5EF4-FFF2-40B4-BE49-F238E27FC236}">
                <a16:creationId xmlns:a16="http://schemas.microsoft.com/office/drawing/2014/main" id="{F073BC5A-EB5E-4C59-9883-61A19F5EFEFB}"/>
              </a:ext>
            </a:extLst>
          </p:cNvPr>
          <p:cNvSpPr/>
          <p:nvPr/>
        </p:nvSpPr>
        <p:spPr>
          <a:xfrm>
            <a:off x="3745476" y="3274848"/>
            <a:ext cx="55924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ko-KR" sz="9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Power</a:t>
            </a:r>
          </a:p>
          <a:p>
            <a:pPr algn="ctr"/>
            <a:r>
              <a:rPr lang="en-US" altLang="ko-KR" sz="9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Control</a:t>
            </a:r>
            <a:endParaRPr lang="ko-KR" altLang="en-US" sz="900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29" name="직선 화살표 연결선 328">
            <a:extLst>
              <a:ext uri="{FF2B5EF4-FFF2-40B4-BE49-F238E27FC236}">
                <a16:creationId xmlns:a16="http://schemas.microsoft.com/office/drawing/2014/main" id="{10A33C96-9163-41E4-9598-378222A70975}"/>
              </a:ext>
            </a:extLst>
          </p:cNvPr>
          <p:cNvCxnSpPr>
            <a:cxnSpLocks/>
          </p:cNvCxnSpPr>
          <p:nvPr/>
        </p:nvCxnSpPr>
        <p:spPr bwMode="auto">
          <a:xfrm>
            <a:off x="3721596" y="3632708"/>
            <a:ext cx="576000" cy="0"/>
          </a:xfrm>
          <a:prstGeom prst="straightConnector1">
            <a:avLst/>
          </a:prstGeom>
          <a:solidFill>
            <a:schemeClr val="accent1"/>
          </a:solidFill>
          <a:ln w="6350" cap="flat" cmpd="sng" algn="ctr">
            <a:solidFill>
              <a:srgbClr val="00B050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30" name="직사각형 329">
            <a:extLst>
              <a:ext uri="{FF2B5EF4-FFF2-40B4-BE49-F238E27FC236}">
                <a16:creationId xmlns:a16="http://schemas.microsoft.com/office/drawing/2014/main" id="{726ED66F-5D67-432B-8F2A-4F76F9F2241D}"/>
              </a:ext>
            </a:extLst>
          </p:cNvPr>
          <p:cNvSpPr/>
          <p:nvPr/>
        </p:nvSpPr>
        <p:spPr>
          <a:xfrm>
            <a:off x="3560440" y="3630014"/>
            <a:ext cx="928463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ko-KR" sz="9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IF-Band</a:t>
            </a:r>
          </a:p>
          <a:p>
            <a:pPr algn="ctr"/>
            <a:r>
              <a:rPr lang="en-US" altLang="ko-KR" sz="9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Mission</a:t>
            </a:r>
          </a:p>
          <a:p>
            <a:pPr algn="ctr"/>
            <a:r>
              <a:rPr lang="en-US" altLang="ko-KR" sz="9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</a:t>
            </a:r>
            <a:endParaRPr lang="ko-KR" altLang="en-US" sz="900" dirty="0">
              <a:solidFill>
                <a:srgbClr val="00B0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3" name="직사각형 332">
            <a:extLst>
              <a:ext uri="{FF2B5EF4-FFF2-40B4-BE49-F238E27FC236}">
                <a16:creationId xmlns:a16="http://schemas.microsoft.com/office/drawing/2014/main" id="{7B8E127A-F0F0-4CA8-B65E-1C4A2DE376D9}"/>
              </a:ext>
            </a:extLst>
          </p:cNvPr>
          <p:cNvSpPr/>
          <p:nvPr/>
        </p:nvSpPr>
        <p:spPr bwMode="auto">
          <a:xfrm>
            <a:off x="1813418" y="3402322"/>
            <a:ext cx="1809000" cy="324000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algn="ctr" defTabSz="685835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050" dirty="0"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XPA</a:t>
            </a:r>
          </a:p>
          <a:p>
            <a:pPr algn="ctr" defTabSz="685835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050" dirty="0"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(X-Band Power Amplifier)</a:t>
            </a:r>
          </a:p>
        </p:txBody>
      </p:sp>
      <p:sp>
        <p:nvSpPr>
          <p:cNvPr id="334" name="직사각형 333">
            <a:extLst>
              <a:ext uri="{FF2B5EF4-FFF2-40B4-BE49-F238E27FC236}">
                <a16:creationId xmlns:a16="http://schemas.microsoft.com/office/drawing/2014/main" id="{22E5EF43-82E2-4CF7-8874-2CB5F850A438}"/>
              </a:ext>
            </a:extLst>
          </p:cNvPr>
          <p:cNvSpPr/>
          <p:nvPr/>
        </p:nvSpPr>
        <p:spPr bwMode="auto">
          <a:xfrm>
            <a:off x="6965008" y="4865806"/>
            <a:ext cx="1809000" cy="324000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algn="ctr" defTabSz="685835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050" dirty="0"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RPC</a:t>
            </a:r>
          </a:p>
          <a:p>
            <a:pPr algn="ctr" defTabSz="685835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900" dirty="0"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(Rx Power Combiner)</a:t>
            </a:r>
          </a:p>
        </p:txBody>
      </p:sp>
    </p:spTree>
    <p:extLst>
      <p:ext uri="{BB962C8B-B14F-4D97-AF65-F5344CB8AC3E}">
        <p14:creationId xmlns:p14="http://schemas.microsoft.com/office/powerpoint/2010/main" val="170814836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D263454-BA6F-429F-B0C1-0DDEEC6F1E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Payload Architecture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AA9F1EE-D202-4CD7-8AAE-E32CFB5587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SAR Payload </a:t>
            </a:r>
            <a:r>
              <a:rPr lang="ko-KR" altLang="en-US" dirty="0"/>
              <a:t>구성 </a:t>
            </a:r>
            <a:r>
              <a:rPr lang="en-US" altLang="ko-KR" dirty="0"/>
              <a:t>– SCEU </a:t>
            </a:r>
            <a:r>
              <a:rPr lang="ko-KR" altLang="en-US" dirty="0"/>
              <a:t>상세</a:t>
            </a:r>
            <a:endParaRPr lang="en-US" altLang="ko-KR" dirty="0"/>
          </a:p>
          <a:p>
            <a:endParaRPr lang="en-US" altLang="ko-KR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411F911E-2A81-42AC-BBE4-FCC539CF17DA}"/>
              </a:ext>
            </a:extLst>
          </p:cNvPr>
          <p:cNvSpPr/>
          <p:nvPr/>
        </p:nvSpPr>
        <p:spPr bwMode="auto">
          <a:xfrm>
            <a:off x="5311153" y="3426748"/>
            <a:ext cx="181426" cy="1215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flat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algn="ctr" defTabSz="685835" fontAlgn="base">
              <a:spcBef>
                <a:spcPct val="0"/>
              </a:spcBef>
              <a:spcAft>
                <a:spcPct val="0"/>
              </a:spcAft>
            </a:pPr>
            <a:endParaRPr lang="en-US" altLang="ko-KR" sz="1200" dirty="0">
              <a:latin typeface="+mn-lt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AAF60AA-3450-4905-98E0-CD9216782ED8}"/>
              </a:ext>
            </a:extLst>
          </p:cNvPr>
          <p:cNvSpPr/>
          <p:nvPr/>
        </p:nvSpPr>
        <p:spPr bwMode="auto">
          <a:xfrm>
            <a:off x="7760500" y="5575921"/>
            <a:ext cx="181426" cy="1215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flat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algn="ctr" defTabSz="685835" fontAlgn="base">
              <a:spcBef>
                <a:spcPct val="0"/>
              </a:spcBef>
              <a:spcAft>
                <a:spcPct val="0"/>
              </a:spcAft>
            </a:pPr>
            <a:endParaRPr lang="en-US" altLang="ko-KR" sz="1200" dirty="0">
              <a:latin typeface="+mn-lt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111FBE1B-A85D-462D-B6FF-8F47AF4AC203}"/>
              </a:ext>
            </a:extLst>
          </p:cNvPr>
          <p:cNvSpPr/>
          <p:nvPr/>
        </p:nvSpPr>
        <p:spPr bwMode="auto">
          <a:xfrm>
            <a:off x="1170139" y="5371568"/>
            <a:ext cx="181426" cy="1215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flat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algn="ctr" defTabSz="685835" fontAlgn="base">
              <a:spcBef>
                <a:spcPct val="0"/>
              </a:spcBef>
              <a:spcAft>
                <a:spcPct val="0"/>
              </a:spcAft>
            </a:pPr>
            <a:endParaRPr lang="en-US" altLang="ko-KR" sz="1200" dirty="0">
              <a:latin typeface="+mn-lt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783EC4FC-C3FE-4032-A103-CB454195CFA3}"/>
              </a:ext>
            </a:extLst>
          </p:cNvPr>
          <p:cNvSpPr/>
          <p:nvPr/>
        </p:nvSpPr>
        <p:spPr bwMode="auto">
          <a:xfrm>
            <a:off x="1170139" y="5250205"/>
            <a:ext cx="181426" cy="1215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flat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algn="ctr" defTabSz="685835" fontAlgn="base">
              <a:spcBef>
                <a:spcPct val="0"/>
              </a:spcBef>
              <a:spcAft>
                <a:spcPct val="0"/>
              </a:spcAft>
            </a:pPr>
            <a:endParaRPr lang="en-US" altLang="ko-KR" sz="1200" dirty="0">
              <a:latin typeface="+mn-lt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ED65201B-D57F-419E-BA45-80B725CF4CE7}"/>
              </a:ext>
            </a:extLst>
          </p:cNvPr>
          <p:cNvSpPr/>
          <p:nvPr/>
        </p:nvSpPr>
        <p:spPr bwMode="auto">
          <a:xfrm>
            <a:off x="1170139" y="5128705"/>
            <a:ext cx="181426" cy="1215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flat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algn="ctr" defTabSz="685835" fontAlgn="base">
              <a:spcBef>
                <a:spcPct val="0"/>
              </a:spcBef>
              <a:spcAft>
                <a:spcPct val="0"/>
              </a:spcAft>
            </a:pPr>
            <a:endParaRPr lang="en-US" altLang="ko-KR" sz="1200" dirty="0">
              <a:latin typeface="+mn-lt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51D05EE5-0D1A-42F0-93F7-DAC4BB19E822}"/>
              </a:ext>
            </a:extLst>
          </p:cNvPr>
          <p:cNvSpPr/>
          <p:nvPr/>
        </p:nvSpPr>
        <p:spPr bwMode="auto">
          <a:xfrm>
            <a:off x="1170139" y="5007341"/>
            <a:ext cx="181426" cy="1215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flat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algn="ctr" defTabSz="685835" fontAlgn="base">
              <a:spcBef>
                <a:spcPct val="0"/>
              </a:spcBef>
              <a:spcAft>
                <a:spcPct val="0"/>
              </a:spcAft>
            </a:pPr>
            <a:endParaRPr lang="en-US" altLang="ko-KR" sz="1200" dirty="0">
              <a:latin typeface="+mn-lt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D7F4EF4F-9449-4057-9E60-366B4490397B}"/>
              </a:ext>
            </a:extLst>
          </p:cNvPr>
          <p:cNvSpPr/>
          <p:nvPr/>
        </p:nvSpPr>
        <p:spPr bwMode="auto">
          <a:xfrm>
            <a:off x="1165976" y="4885911"/>
            <a:ext cx="181426" cy="1215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flat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algn="ctr" defTabSz="685835" fontAlgn="base">
              <a:spcBef>
                <a:spcPct val="0"/>
              </a:spcBef>
              <a:spcAft>
                <a:spcPct val="0"/>
              </a:spcAft>
            </a:pPr>
            <a:endParaRPr lang="en-US" altLang="ko-KR" sz="1200" dirty="0">
              <a:latin typeface="+mn-lt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0162FAA8-C477-484F-A878-FE57258A640F}"/>
              </a:ext>
            </a:extLst>
          </p:cNvPr>
          <p:cNvSpPr/>
          <p:nvPr/>
        </p:nvSpPr>
        <p:spPr bwMode="auto">
          <a:xfrm>
            <a:off x="143447" y="3999303"/>
            <a:ext cx="1203544" cy="1583072"/>
          </a:xfrm>
          <a:prstGeom prst="rect">
            <a:avLst/>
          </a:prstGeom>
          <a:solidFill>
            <a:schemeClr val="bg1">
              <a:lumMod val="85000"/>
            </a:schemeClr>
          </a:solidFill>
          <a:ln w="6350" cap="flat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algn="ctr" defTabSz="685835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500" dirty="0">
                <a:latin typeface="+mn-lt"/>
                <a:ea typeface="굴림" panose="020B0600000101010101" pitchFamily="50" charset="-127"/>
              </a:rPr>
              <a:t>XDAA</a:t>
            </a:r>
          </a:p>
          <a:p>
            <a:pPr algn="ctr" defTabSz="685835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050" dirty="0">
                <a:latin typeface="+mn-lt"/>
                <a:ea typeface="굴림" panose="020B0600000101010101" pitchFamily="50" charset="-127"/>
              </a:rPr>
              <a:t>(X-Band Downlink</a:t>
            </a:r>
          </a:p>
          <a:p>
            <a:pPr algn="ctr" defTabSz="685835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050" dirty="0">
                <a:latin typeface="+mn-lt"/>
                <a:ea typeface="굴림" panose="020B0600000101010101" pitchFamily="50" charset="-127"/>
              </a:rPr>
              <a:t>Antenna Assembly)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EF214B8B-75F2-4172-B756-08D11365AB6D}"/>
              </a:ext>
            </a:extLst>
          </p:cNvPr>
          <p:cNvSpPr/>
          <p:nvPr/>
        </p:nvSpPr>
        <p:spPr bwMode="auto">
          <a:xfrm>
            <a:off x="3580101" y="3464937"/>
            <a:ext cx="181426" cy="1215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flat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algn="ctr" defTabSz="685835" fontAlgn="base">
              <a:spcBef>
                <a:spcPct val="0"/>
              </a:spcBef>
              <a:spcAft>
                <a:spcPct val="0"/>
              </a:spcAft>
            </a:pPr>
            <a:endParaRPr lang="en-US" altLang="ko-KR" sz="1200" dirty="0">
              <a:latin typeface="+mn-lt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FC8B4F0B-5B20-4F24-8BCA-794345F85DBB}"/>
              </a:ext>
            </a:extLst>
          </p:cNvPr>
          <p:cNvSpPr/>
          <p:nvPr/>
        </p:nvSpPr>
        <p:spPr bwMode="auto">
          <a:xfrm>
            <a:off x="3580101" y="3112174"/>
            <a:ext cx="181426" cy="1215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flat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algn="ctr" defTabSz="685835" fontAlgn="base">
              <a:spcBef>
                <a:spcPct val="0"/>
              </a:spcBef>
              <a:spcAft>
                <a:spcPct val="0"/>
              </a:spcAft>
            </a:pPr>
            <a:endParaRPr lang="en-US" altLang="ko-KR" sz="1200" dirty="0">
              <a:latin typeface="+mn-lt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4E2D4065-A2D8-4A87-9332-BA8E82F7CBFE}"/>
              </a:ext>
            </a:extLst>
          </p:cNvPr>
          <p:cNvSpPr/>
          <p:nvPr/>
        </p:nvSpPr>
        <p:spPr bwMode="auto">
          <a:xfrm>
            <a:off x="3580101" y="3710436"/>
            <a:ext cx="181426" cy="1215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flat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algn="ctr" defTabSz="685835" fontAlgn="base">
              <a:spcBef>
                <a:spcPct val="0"/>
              </a:spcBef>
              <a:spcAft>
                <a:spcPct val="0"/>
              </a:spcAft>
            </a:pPr>
            <a:endParaRPr lang="en-US" altLang="ko-KR" sz="1200" dirty="0">
              <a:latin typeface="+mn-lt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4EDFF014-F5E3-4A52-AFB1-5664D117EA0B}"/>
              </a:ext>
            </a:extLst>
          </p:cNvPr>
          <p:cNvSpPr/>
          <p:nvPr/>
        </p:nvSpPr>
        <p:spPr bwMode="auto">
          <a:xfrm>
            <a:off x="5311153" y="2238010"/>
            <a:ext cx="181426" cy="1215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flat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algn="ctr" defTabSz="685835" fontAlgn="base">
              <a:spcBef>
                <a:spcPct val="0"/>
              </a:spcBef>
              <a:spcAft>
                <a:spcPct val="0"/>
              </a:spcAft>
            </a:pPr>
            <a:endParaRPr lang="en-US" altLang="ko-KR" sz="1200" dirty="0">
              <a:latin typeface="+mn-lt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AC6A1E4C-A831-4C7E-BC62-E26144A67E33}"/>
              </a:ext>
            </a:extLst>
          </p:cNvPr>
          <p:cNvSpPr/>
          <p:nvPr/>
        </p:nvSpPr>
        <p:spPr bwMode="auto">
          <a:xfrm>
            <a:off x="5311153" y="2116648"/>
            <a:ext cx="181426" cy="1215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flat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algn="ctr" defTabSz="685835" fontAlgn="base">
              <a:spcBef>
                <a:spcPct val="0"/>
              </a:spcBef>
              <a:spcAft>
                <a:spcPct val="0"/>
              </a:spcAft>
            </a:pPr>
            <a:endParaRPr lang="en-US" altLang="ko-KR" sz="1200" dirty="0">
              <a:latin typeface="+mn-lt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09A45A1C-EB81-4DA9-B576-CA4884A89061}"/>
              </a:ext>
            </a:extLst>
          </p:cNvPr>
          <p:cNvSpPr/>
          <p:nvPr/>
        </p:nvSpPr>
        <p:spPr bwMode="auto">
          <a:xfrm>
            <a:off x="5311153" y="1995148"/>
            <a:ext cx="181426" cy="1215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flat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algn="ctr" defTabSz="685835" fontAlgn="base">
              <a:spcBef>
                <a:spcPct val="0"/>
              </a:spcBef>
              <a:spcAft>
                <a:spcPct val="0"/>
              </a:spcAft>
            </a:pPr>
            <a:endParaRPr lang="en-US" altLang="ko-KR" sz="1200" dirty="0">
              <a:latin typeface="+mn-lt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B32B8A11-C980-43C4-B522-7F95018AA6BC}"/>
              </a:ext>
            </a:extLst>
          </p:cNvPr>
          <p:cNvSpPr/>
          <p:nvPr/>
        </p:nvSpPr>
        <p:spPr bwMode="auto">
          <a:xfrm>
            <a:off x="5311153" y="1873785"/>
            <a:ext cx="181426" cy="1215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flat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algn="ctr" defTabSz="685835" fontAlgn="base">
              <a:spcBef>
                <a:spcPct val="0"/>
              </a:spcBef>
              <a:spcAft>
                <a:spcPct val="0"/>
              </a:spcAft>
            </a:pPr>
            <a:endParaRPr lang="en-US" altLang="ko-KR" sz="1200" dirty="0">
              <a:latin typeface="+mn-lt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6DEBDED3-F814-4749-852A-B1CAB2F6199B}"/>
              </a:ext>
            </a:extLst>
          </p:cNvPr>
          <p:cNvSpPr/>
          <p:nvPr/>
        </p:nvSpPr>
        <p:spPr bwMode="auto">
          <a:xfrm>
            <a:off x="5311153" y="2858448"/>
            <a:ext cx="181426" cy="1215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flat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algn="ctr" defTabSz="685835" fontAlgn="base">
              <a:spcBef>
                <a:spcPct val="0"/>
              </a:spcBef>
              <a:spcAft>
                <a:spcPct val="0"/>
              </a:spcAft>
            </a:pPr>
            <a:endParaRPr lang="en-US" altLang="ko-KR" sz="1200" dirty="0">
              <a:latin typeface="+mn-lt"/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E42980C9-0267-4BC1-A0CA-A61F4D28BEB5}"/>
              </a:ext>
            </a:extLst>
          </p:cNvPr>
          <p:cNvSpPr/>
          <p:nvPr/>
        </p:nvSpPr>
        <p:spPr bwMode="auto">
          <a:xfrm>
            <a:off x="5311153" y="2765660"/>
            <a:ext cx="181426" cy="1215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flat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algn="ctr" defTabSz="685835" fontAlgn="base">
              <a:spcBef>
                <a:spcPct val="0"/>
              </a:spcBef>
              <a:spcAft>
                <a:spcPct val="0"/>
              </a:spcAft>
            </a:pPr>
            <a:endParaRPr lang="en-US" altLang="ko-KR" sz="1200" dirty="0">
              <a:latin typeface="+mn-lt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816333DB-94FB-40D5-B09C-C55440E57622}"/>
              </a:ext>
            </a:extLst>
          </p:cNvPr>
          <p:cNvSpPr/>
          <p:nvPr/>
        </p:nvSpPr>
        <p:spPr bwMode="auto">
          <a:xfrm>
            <a:off x="5311153" y="2563197"/>
            <a:ext cx="181426" cy="1215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flat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algn="ctr" defTabSz="685835" fontAlgn="base">
              <a:spcBef>
                <a:spcPct val="0"/>
              </a:spcBef>
              <a:spcAft>
                <a:spcPct val="0"/>
              </a:spcAft>
            </a:pPr>
            <a:endParaRPr lang="en-US" altLang="ko-KR" sz="1200" dirty="0">
              <a:latin typeface="+mn-lt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D4C5F4A4-771C-4EB0-81C8-8540CD0E7B29}"/>
              </a:ext>
            </a:extLst>
          </p:cNvPr>
          <p:cNvSpPr/>
          <p:nvPr/>
        </p:nvSpPr>
        <p:spPr bwMode="auto">
          <a:xfrm>
            <a:off x="5311153" y="2494221"/>
            <a:ext cx="181426" cy="1215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flat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algn="ctr" defTabSz="685835" fontAlgn="base">
              <a:spcBef>
                <a:spcPct val="0"/>
              </a:spcBef>
              <a:spcAft>
                <a:spcPct val="0"/>
              </a:spcAft>
            </a:pPr>
            <a:endParaRPr lang="en-US" altLang="ko-KR" sz="1200" dirty="0">
              <a:latin typeface="+mn-lt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5E94ADA8-60D7-47AA-B51E-BC191F0EA89F}"/>
              </a:ext>
            </a:extLst>
          </p:cNvPr>
          <p:cNvSpPr/>
          <p:nvPr/>
        </p:nvSpPr>
        <p:spPr bwMode="auto">
          <a:xfrm>
            <a:off x="5311153" y="4073776"/>
            <a:ext cx="181426" cy="1215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flat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algn="ctr" defTabSz="685835" fontAlgn="base">
              <a:spcBef>
                <a:spcPct val="0"/>
              </a:spcBef>
              <a:spcAft>
                <a:spcPct val="0"/>
              </a:spcAft>
            </a:pPr>
            <a:endParaRPr lang="en-US" altLang="ko-KR" sz="1200" dirty="0">
              <a:latin typeface="+mn-lt"/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E99F545D-F5A8-4B25-9392-6A994A78E551}"/>
              </a:ext>
            </a:extLst>
          </p:cNvPr>
          <p:cNvSpPr/>
          <p:nvPr/>
        </p:nvSpPr>
        <p:spPr bwMode="auto">
          <a:xfrm>
            <a:off x="5311153" y="3952414"/>
            <a:ext cx="181426" cy="1215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flat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algn="ctr" defTabSz="685835" fontAlgn="base">
              <a:spcBef>
                <a:spcPct val="0"/>
              </a:spcBef>
              <a:spcAft>
                <a:spcPct val="0"/>
              </a:spcAft>
            </a:pPr>
            <a:endParaRPr lang="en-US" altLang="ko-KR" sz="1200" dirty="0">
              <a:latin typeface="+mn-lt"/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4C654FEA-9B93-4C75-9768-B43AAAAFEFD9}"/>
              </a:ext>
            </a:extLst>
          </p:cNvPr>
          <p:cNvSpPr/>
          <p:nvPr/>
        </p:nvSpPr>
        <p:spPr bwMode="auto">
          <a:xfrm>
            <a:off x="5311153" y="3830914"/>
            <a:ext cx="181426" cy="1215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flat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algn="ctr" defTabSz="685835" fontAlgn="base">
              <a:spcBef>
                <a:spcPct val="0"/>
              </a:spcBef>
              <a:spcAft>
                <a:spcPct val="0"/>
              </a:spcAft>
            </a:pPr>
            <a:endParaRPr lang="en-US" altLang="ko-KR" sz="1200" dirty="0">
              <a:latin typeface="+mn-lt"/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76A47B99-8191-4C3B-A687-00BFADEA1E56}"/>
              </a:ext>
            </a:extLst>
          </p:cNvPr>
          <p:cNvSpPr/>
          <p:nvPr/>
        </p:nvSpPr>
        <p:spPr bwMode="auto">
          <a:xfrm>
            <a:off x="5311153" y="3709552"/>
            <a:ext cx="181426" cy="1215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flat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algn="ctr" defTabSz="685835" fontAlgn="base">
              <a:spcBef>
                <a:spcPct val="0"/>
              </a:spcBef>
              <a:spcAft>
                <a:spcPct val="0"/>
              </a:spcAft>
            </a:pPr>
            <a:endParaRPr lang="en-US" altLang="ko-KR" sz="1200" dirty="0">
              <a:latin typeface="+mn-lt"/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99ED5AE8-0AA1-4533-AAC8-4D1BC3EB872D}"/>
              </a:ext>
            </a:extLst>
          </p:cNvPr>
          <p:cNvSpPr/>
          <p:nvPr/>
        </p:nvSpPr>
        <p:spPr bwMode="auto">
          <a:xfrm>
            <a:off x="5311153" y="4694213"/>
            <a:ext cx="181426" cy="1215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flat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algn="ctr" defTabSz="685835" fontAlgn="base">
              <a:spcBef>
                <a:spcPct val="0"/>
              </a:spcBef>
              <a:spcAft>
                <a:spcPct val="0"/>
              </a:spcAft>
            </a:pPr>
            <a:endParaRPr lang="en-US" altLang="ko-KR" sz="1200" dirty="0">
              <a:latin typeface="+mn-lt"/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F9E20576-9BBC-4AD2-BA64-79D51EB4CB18}"/>
              </a:ext>
            </a:extLst>
          </p:cNvPr>
          <p:cNvSpPr/>
          <p:nvPr/>
        </p:nvSpPr>
        <p:spPr bwMode="auto">
          <a:xfrm>
            <a:off x="5311153" y="4572852"/>
            <a:ext cx="181426" cy="1215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flat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algn="ctr" defTabSz="685835" fontAlgn="base">
              <a:spcBef>
                <a:spcPct val="0"/>
              </a:spcBef>
              <a:spcAft>
                <a:spcPct val="0"/>
              </a:spcAft>
            </a:pPr>
            <a:endParaRPr lang="en-US" altLang="ko-KR" sz="1200" dirty="0">
              <a:latin typeface="+mn-lt"/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32613F2D-E212-4589-9A74-DA6E705E6075}"/>
              </a:ext>
            </a:extLst>
          </p:cNvPr>
          <p:cNvSpPr/>
          <p:nvPr/>
        </p:nvSpPr>
        <p:spPr bwMode="auto">
          <a:xfrm>
            <a:off x="5311153" y="4451352"/>
            <a:ext cx="181426" cy="1215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flat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algn="ctr" defTabSz="685835" fontAlgn="base">
              <a:spcBef>
                <a:spcPct val="0"/>
              </a:spcBef>
              <a:spcAft>
                <a:spcPct val="0"/>
              </a:spcAft>
            </a:pPr>
            <a:endParaRPr lang="en-US" altLang="ko-KR" sz="1200" dirty="0">
              <a:latin typeface="+mn-lt"/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ECD3C840-E76E-48F6-8688-FA85FCD6CE1E}"/>
              </a:ext>
            </a:extLst>
          </p:cNvPr>
          <p:cNvSpPr/>
          <p:nvPr/>
        </p:nvSpPr>
        <p:spPr bwMode="auto">
          <a:xfrm>
            <a:off x="5311153" y="4329988"/>
            <a:ext cx="181426" cy="1215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flat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algn="ctr" defTabSz="685835" fontAlgn="base">
              <a:spcBef>
                <a:spcPct val="0"/>
              </a:spcBef>
              <a:spcAft>
                <a:spcPct val="0"/>
              </a:spcAft>
            </a:pPr>
            <a:endParaRPr lang="en-US" altLang="ko-KR" sz="1200" dirty="0">
              <a:latin typeface="+mn-lt"/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805DE2AA-B072-4681-8870-2E9969A404C6}"/>
              </a:ext>
            </a:extLst>
          </p:cNvPr>
          <p:cNvSpPr/>
          <p:nvPr/>
        </p:nvSpPr>
        <p:spPr bwMode="auto">
          <a:xfrm>
            <a:off x="5311153" y="5314240"/>
            <a:ext cx="181426" cy="1215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flat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algn="ctr" defTabSz="685835" fontAlgn="base">
              <a:spcBef>
                <a:spcPct val="0"/>
              </a:spcBef>
              <a:spcAft>
                <a:spcPct val="0"/>
              </a:spcAft>
            </a:pPr>
            <a:endParaRPr lang="en-US" altLang="ko-KR" sz="1200" dirty="0">
              <a:latin typeface="+mn-lt"/>
            </a:endParaRP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3023A474-52DD-4739-B354-9246C13997A8}"/>
              </a:ext>
            </a:extLst>
          </p:cNvPr>
          <p:cNvSpPr/>
          <p:nvPr/>
        </p:nvSpPr>
        <p:spPr bwMode="auto">
          <a:xfrm>
            <a:off x="5311153" y="5192877"/>
            <a:ext cx="181426" cy="1215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flat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algn="ctr" defTabSz="685835" fontAlgn="base">
              <a:spcBef>
                <a:spcPct val="0"/>
              </a:spcBef>
              <a:spcAft>
                <a:spcPct val="0"/>
              </a:spcAft>
            </a:pPr>
            <a:endParaRPr lang="en-US" altLang="ko-KR" sz="1200" dirty="0">
              <a:latin typeface="+mn-lt"/>
            </a:endParaRP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BB4923BD-BDDC-4791-9D37-D3B67E26C984}"/>
              </a:ext>
            </a:extLst>
          </p:cNvPr>
          <p:cNvSpPr/>
          <p:nvPr/>
        </p:nvSpPr>
        <p:spPr bwMode="auto">
          <a:xfrm>
            <a:off x="5311153" y="5071377"/>
            <a:ext cx="181426" cy="1215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flat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algn="ctr" defTabSz="685835" fontAlgn="base">
              <a:spcBef>
                <a:spcPct val="0"/>
              </a:spcBef>
              <a:spcAft>
                <a:spcPct val="0"/>
              </a:spcAft>
            </a:pPr>
            <a:endParaRPr lang="en-US" altLang="ko-KR" sz="1200" dirty="0">
              <a:latin typeface="+mn-lt"/>
            </a:endParaRP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11939601-7314-4DC6-8DE0-CF9485023165}"/>
              </a:ext>
            </a:extLst>
          </p:cNvPr>
          <p:cNvSpPr/>
          <p:nvPr/>
        </p:nvSpPr>
        <p:spPr bwMode="auto">
          <a:xfrm>
            <a:off x="5311153" y="4950015"/>
            <a:ext cx="181426" cy="1215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flat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algn="ctr" defTabSz="685835" fontAlgn="base">
              <a:spcBef>
                <a:spcPct val="0"/>
              </a:spcBef>
              <a:spcAft>
                <a:spcPct val="0"/>
              </a:spcAft>
            </a:pPr>
            <a:endParaRPr lang="en-US" altLang="ko-KR" sz="1200" dirty="0">
              <a:latin typeface="+mn-lt"/>
            </a:endParaRP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87B3D870-7D36-4E42-8B63-6D11AEEDAFC4}"/>
              </a:ext>
            </a:extLst>
          </p:cNvPr>
          <p:cNvSpPr/>
          <p:nvPr/>
        </p:nvSpPr>
        <p:spPr bwMode="auto">
          <a:xfrm>
            <a:off x="5311153" y="5384749"/>
            <a:ext cx="181426" cy="1215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flat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algn="ctr" defTabSz="685835" fontAlgn="base">
              <a:spcBef>
                <a:spcPct val="0"/>
              </a:spcBef>
              <a:spcAft>
                <a:spcPct val="0"/>
              </a:spcAft>
            </a:pPr>
            <a:endParaRPr lang="en-US" altLang="ko-KR" sz="1200" dirty="0">
              <a:latin typeface="+mn-lt"/>
            </a:endParaRP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3740113D-AEB7-4B8A-949C-DBDA5C7C45CC}"/>
              </a:ext>
            </a:extLst>
          </p:cNvPr>
          <p:cNvSpPr/>
          <p:nvPr/>
        </p:nvSpPr>
        <p:spPr bwMode="auto">
          <a:xfrm>
            <a:off x="5311153" y="5263387"/>
            <a:ext cx="181426" cy="1215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flat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algn="ctr" defTabSz="685835" fontAlgn="base">
              <a:spcBef>
                <a:spcPct val="0"/>
              </a:spcBef>
              <a:spcAft>
                <a:spcPct val="0"/>
              </a:spcAft>
            </a:pPr>
            <a:endParaRPr lang="en-US" altLang="ko-KR" sz="1200" dirty="0">
              <a:latin typeface="+mn-lt"/>
            </a:endParaRP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1B10F016-052C-454D-A0FD-E76DE34FBAE3}"/>
              </a:ext>
            </a:extLst>
          </p:cNvPr>
          <p:cNvSpPr/>
          <p:nvPr/>
        </p:nvSpPr>
        <p:spPr bwMode="auto">
          <a:xfrm>
            <a:off x="5311153" y="5711228"/>
            <a:ext cx="181426" cy="1215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flat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algn="ctr" defTabSz="685835" fontAlgn="base">
              <a:spcBef>
                <a:spcPct val="0"/>
              </a:spcBef>
              <a:spcAft>
                <a:spcPct val="0"/>
              </a:spcAft>
            </a:pPr>
            <a:endParaRPr lang="en-US" altLang="ko-KR" sz="1200" dirty="0">
              <a:latin typeface="+mn-lt"/>
            </a:endParaRP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3D41447B-F4FE-42E1-9FEE-36B71E5C6142}"/>
              </a:ext>
            </a:extLst>
          </p:cNvPr>
          <p:cNvSpPr/>
          <p:nvPr/>
        </p:nvSpPr>
        <p:spPr bwMode="auto">
          <a:xfrm>
            <a:off x="5311153" y="5589865"/>
            <a:ext cx="181426" cy="1215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flat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algn="ctr" defTabSz="685835" fontAlgn="base">
              <a:spcBef>
                <a:spcPct val="0"/>
              </a:spcBef>
              <a:spcAft>
                <a:spcPct val="0"/>
              </a:spcAft>
            </a:pPr>
            <a:endParaRPr lang="en-US" altLang="ko-KR" sz="1200" dirty="0">
              <a:latin typeface="+mn-lt"/>
            </a:endParaRP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A1735AE6-B2C3-4159-B866-44A3AC8D2C33}"/>
              </a:ext>
            </a:extLst>
          </p:cNvPr>
          <p:cNvSpPr/>
          <p:nvPr/>
        </p:nvSpPr>
        <p:spPr bwMode="auto">
          <a:xfrm>
            <a:off x="5311153" y="2667973"/>
            <a:ext cx="181426" cy="1215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flat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algn="ctr" defTabSz="685835" fontAlgn="base">
              <a:spcBef>
                <a:spcPct val="0"/>
              </a:spcBef>
              <a:spcAft>
                <a:spcPct val="0"/>
              </a:spcAft>
            </a:pPr>
            <a:endParaRPr lang="en-US" altLang="ko-KR" sz="1200" dirty="0">
              <a:latin typeface="+mn-lt"/>
            </a:endParaRP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55E8AA76-41AD-498E-B4AC-A8784146C40B}"/>
              </a:ext>
            </a:extLst>
          </p:cNvPr>
          <p:cNvSpPr/>
          <p:nvPr/>
        </p:nvSpPr>
        <p:spPr bwMode="auto">
          <a:xfrm>
            <a:off x="3581500" y="2238010"/>
            <a:ext cx="181426" cy="1215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flat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algn="ctr" defTabSz="685835" fontAlgn="base">
              <a:spcBef>
                <a:spcPct val="0"/>
              </a:spcBef>
              <a:spcAft>
                <a:spcPct val="0"/>
              </a:spcAft>
            </a:pPr>
            <a:endParaRPr lang="en-US" altLang="ko-KR" sz="1200" dirty="0">
              <a:latin typeface="+mn-lt"/>
            </a:endParaRP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9336AF3C-2EDC-4CF1-8C67-42510ECD6C30}"/>
              </a:ext>
            </a:extLst>
          </p:cNvPr>
          <p:cNvSpPr/>
          <p:nvPr/>
        </p:nvSpPr>
        <p:spPr bwMode="auto">
          <a:xfrm>
            <a:off x="3581500" y="2116648"/>
            <a:ext cx="181426" cy="1215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flat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algn="ctr" defTabSz="685835" fontAlgn="base">
              <a:spcBef>
                <a:spcPct val="0"/>
              </a:spcBef>
              <a:spcAft>
                <a:spcPct val="0"/>
              </a:spcAft>
            </a:pPr>
            <a:endParaRPr lang="en-US" altLang="ko-KR" sz="1200" dirty="0">
              <a:latin typeface="+mn-lt"/>
            </a:endParaRP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4FB08F49-C125-4F9C-A3B5-453B28CA6193}"/>
              </a:ext>
            </a:extLst>
          </p:cNvPr>
          <p:cNvSpPr/>
          <p:nvPr/>
        </p:nvSpPr>
        <p:spPr bwMode="auto">
          <a:xfrm>
            <a:off x="3581500" y="1995148"/>
            <a:ext cx="181426" cy="1215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flat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algn="ctr" defTabSz="685835" fontAlgn="base">
              <a:spcBef>
                <a:spcPct val="0"/>
              </a:spcBef>
              <a:spcAft>
                <a:spcPct val="0"/>
              </a:spcAft>
            </a:pPr>
            <a:endParaRPr lang="en-US" altLang="ko-KR" sz="1200" dirty="0">
              <a:latin typeface="+mn-lt"/>
            </a:endParaRP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165C5418-4105-4351-8754-A035EC1AB5ED}"/>
              </a:ext>
            </a:extLst>
          </p:cNvPr>
          <p:cNvSpPr/>
          <p:nvPr/>
        </p:nvSpPr>
        <p:spPr bwMode="auto">
          <a:xfrm>
            <a:off x="3581500" y="1873785"/>
            <a:ext cx="181426" cy="1215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flat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algn="ctr" defTabSz="685835" fontAlgn="base">
              <a:spcBef>
                <a:spcPct val="0"/>
              </a:spcBef>
              <a:spcAft>
                <a:spcPct val="0"/>
              </a:spcAft>
            </a:pPr>
            <a:endParaRPr lang="en-US" altLang="ko-KR" sz="1200" dirty="0">
              <a:latin typeface="+mn-lt"/>
            </a:endParaRP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83EABAC1-FA6D-4337-BA38-AEAAB4F88F8A}"/>
              </a:ext>
            </a:extLst>
          </p:cNvPr>
          <p:cNvSpPr/>
          <p:nvPr/>
        </p:nvSpPr>
        <p:spPr bwMode="auto">
          <a:xfrm>
            <a:off x="3581500" y="2715565"/>
            <a:ext cx="181426" cy="1215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flat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algn="ctr" defTabSz="685835" fontAlgn="base">
              <a:spcBef>
                <a:spcPct val="0"/>
              </a:spcBef>
              <a:spcAft>
                <a:spcPct val="0"/>
              </a:spcAft>
            </a:pPr>
            <a:endParaRPr lang="en-US" altLang="ko-KR" sz="1200" dirty="0">
              <a:latin typeface="+mn-lt"/>
            </a:endParaRP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F64AA2BF-037B-4E7B-A2C9-5AB2EA6B7F38}"/>
              </a:ext>
            </a:extLst>
          </p:cNvPr>
          <p:cNvSpPr/>
          <p:nvPr/>
        </p:nvSpPr>
        <p:spPr bwMode="auto">
          <a:xfrm>
            <a:off x="3581500" y="2644212"/>
            <a:ext cx="181426" cy="1215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flat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algn="ctr" defTabSz="685835" fontAlgn="base">
              <a:spcBef>
                <a:spcPct val="0"/>
              </a:spcBef>
              <a:spcAft>
                <a:spcPct val="0"/>
              </a:spcAft>
            </a:pPr>
            <a:endParaRPr lang="en-US" altLang="ko-KR" sz="1200" dirty="0">
              <a:latin typeface="+mn-lt"/>
            </a:endParaRP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C5764FD8-49A1-4D44-A75C-BEAC2F3E1238}"/>
              </a:ext>
            </a:extLst>
          </p:cNvPr>
          <p:cNvSpPr/>
          <p:nvPr/>
        </p:nvSpPr>
        <p:spPr bwMode="auto">
          <a:xfrm>
            <a:off x="3581500" y="2572721"/>
            <a:ext cx="181426" cy="1215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flat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algn="ctr" defTabSz="685835" fontAlgn="base">
              <a:spcBef>
                <a:spcPct val="0"/>
              </a:spcBef>
              <a:spcAft>
                <a:spcPct val="0"/>
              </a:spcAft>
            </a:pPr>
            <a:endParaRPr lang="en-US" altLang="ko-KR" sz="1200" dirty="0">
              <a:latin typeface="+mn-lt"/>
            </a:endParaRP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6893E79B-31FA-42C0-AF64-2B5011E2707C}"/>
              </a:ext>
            </a:extLst>
          </p:cNvPr>
          <p:cNvSpPr/>
          <p:nvPr/>
        </p:nvSpPr>
        <p:spPr bwMode="auto">
          <a:xfrm>
            <a:off x="3581500" y="2494221"/>
            <a:ext cx="181426" cy="1215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flat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algn="ctr" defTabSz="685835" fontAlgn="base">
              <a:spcBef>
                <a:spcPct val="0"/>
              </a:spcBef>
              <a:spcAft>
                <a:spcPct val="0"/>
              </a:spcAft>
            </a:pPr>
            <a:endParaRPr lang="en-US" altLang="ko-KR" sz="1200" dirty="0">
              <a:latin typeface="+mn-lt"/>
            </a:endParaRP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3040A8FD-AAA5-4DB2-A0E3-1A96A5CE46F5}"/>
              </a:ext>
            </a:extLst>
          </p:cNvPr>
          <p:cNvSpPr/>
          <p:nvPr/>
        </p:nvSpPr>
        <p:spPr bwMode="auto">
          <a:xfrm>
            <a:off x="3581500" y="4073776"/>
            <a:ext cx="181426" cy="1215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flat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algn="ctr" defTabSz="685835" fontAlgn="base">
              <a:spcBef>
                <a:spcPct val="0"/>
              </a:spcBef>
              <a:spcAft>
                <a:spcPct val="0"/>
              </a:spcAft>
            </a:pPr>
            <a:endParaRPr lang="en-US" altLang="ko-KR" sz="1200" dirty="0">
              <a:latin typeface="+mn-lt"/>
            </a:endParaRP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C3930E0B-2631-4BCA-BB1B-051E5134DDF1}"/>
              </a:ext>
            </a:extLst>
          </p:cNvPr>
          <p:cNvSpPr/>
          <p:nvPr/>
        </p:nvSpPr>
        <p:spPr bwMode="auto">
          <a:xfrm>
            <a:off x="3581500" y="3952414"/>
            <a:ext cx="181426" cy="1215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flat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algn="ctr" defTabSz="685835" fontAlgn="base">
              <a:spcBef>
                <a:spcPct val="0"/>
              </a:spcBef>
              <a:spcAft>
                <a:spcPct val="0"/>
              </a:spcAft>
            </a:pPr>
            <a:endParaRPr lang="en-US" altLang="ko-KR" sz="1200" dirty="0">
              <a:latin typeface="+mn-lt"/>
            </a:endParaRP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C9FC4016-AA00-492B-9EB0-D0A2261D53BA}"/>
              </a:ext>
            </a:extLst>
          </p:cNvPr>
          <p:cNvSpPr/>
          <p:nvPr/>
        </p:nvSpPr>
        <p:spPr bwMode="auto">
          <a:xfrm>
            <a:off x="3581500" y="3830914"/>
            <a:ext cx="181426" cy="1215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flat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algn="ctr" defTabSz="685835" fontAlgn="base">
              <a:spcBef>
                <a:spcPct val="0"/>
              </a:spcBef>
              <a:spcAft>
                <a:spcPct val="0"/>
              </a:spcAft>
            </a:pPr>
            <a:endParaRPr lang="en-US" altLang="ko-KR" sz="1200" dirty="0">
              <a:latin typeface="+mn-lt"/>
            </a:endParaRP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47392950-8F87-4B7D-8095-DECDDE2D84F5}"/>
              </a:ext>
            </a:extLst>
          </p:cNvPr>
          <p:cNvSpPr/>
          <p:nvPr/>
        </p:nvSpPr>
        <p:spPr bwMode="auto">
          <a:xfrm>
            <a:off x="3581500" y="3709552"/>
            <a:ext cx="181426" cy="1215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flat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algn="ctr" defTabSz="685835" fontAlgn="base">
              <a:spcBef>
                <a:spcPct val="0"/>
              </a:spcBef>
              <a:spcAft>
                <a:spcPct val="0"/>
              </a:spcAft>
            </a:pPr>
            <a:endParaRPr lang="en-US" altLang="ko-KR" sz="1200" dirty="0">
              <a:latin typeface="+mn-lt"/>
            </a:endParaRPr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3DCA12A0-C742-4D42-B4DC-8F98C01DF687}"/>
              </a:ext>
            </a:extLst>
          </p:cNvPr>
          <p:cNvSpPr/>
          <p:nvPr/>
        </p:nvSpPr>
        <p:spPr bwMode="auto">
          <a:xfrm>
            <a:off x="3581500" y="4694213"/>
            <a:ext cx="181426" cy="1215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flat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algn="ctr" defTabSz="685835" fontAlgn="base">
              <a:spcBef>
                <a:spcPct val="0"/>
              </a:spcBef>
              <a:spcAft>
                <a:spcPct val="0"/>
              </a:spcAft>
            </a:pPr>
            <a:endParaRPr lang="en-US" altLang="ko-KR" sz="1200" dirty="0">
              <a:latin typeface="+mn-lt"/>
            </a:endParaRPr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4C2397E4-9768-4E16-A694-42A333D8CC45}"/>
              </a:ext>
            </a:extLst>
          </p:cNvPr>
          <p:cNvSpPr/>
          <p:nvPr/>
        </p:nvSpPr>
        <p:spPr bwMode="auto">
          <a:xfrm>
            <a:off x="3581500" y="4572852"/>
            <a:ext cx="181426" cy="1215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flat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algn="ctr" defTabSz="685835" fontAlgn="base">
              <a:spcBef>
                <a:spcPct val="0"/>
              </a:spcBef>
              <a:spcAft>
                <a:spcPct val="0"/>
              </a:spcAft>
            </a:pPr>
            <a:endParaRPr lang="en-US" altLang="ko-KR" sz="1200" dirty="0">
              <a:latin typeface="+mn-lt"/>
            </a:endParaRPr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AF9D8344-9672-4388-BB75-ED6461E993D9}"/>
              </a:ext>
            </a:extLst>
          </p:cNvPr>
          <p:cNvSpPr/>
          <p:nvPr/>
        </p:nvSpPr>
        <p:spPr bwMode="auto">
          <a:xfrm>
            <a:off x="3581500" y="4451352"/>
            <a:ext cx="181426" cy="1215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flat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algn="ctr" defTabSz="685835" fontAlgn="base">
              <a:spcBef>
                <a:spcPct val="0"/>
              </a:spcBef>
              <a:spcAft>
                <a:spcPct val="0"/>
              </a:spcAft>
            </a:pPr>
            <a:endParaRPr lang="en-US" altLang="ko-KR" sz="1200" dirty="0">
              <a:latin typeface="+mn-lt"/>
            </a:endParaRPr>
          </a:p>
        </p:txBody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06CAA71D-2C1D-4B15-88E7-7EDDA4E51A19}"/>
              </a:ext>
            </a:extLst>
          </p:cNvPr>
          <p:cNvSpPr/>
          <p:nvPr/>
        </p:nvSpPr>
        <p:spPr bwMode="auto">
          <a:xfrm>
            <a:off x="3581500" y="4329988"/>
            <a:ext cx="181426" cy="1215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flat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algn="ctr" defTabSz="685835" fontAlgn="base">
              <a:spcBef>
                <a:spcPct val="0"/>
              </a:spcBef>
              <a:spcAft>
                <a:spcPct val="0"/>
              </a:spcAft>
            </a:pPr>
            <a:endParaRPr lang="en-US" altLang="ko-KR" sz="1200" dirty="0">
              <a:latin typeface="+mn-lt"/>
            </a:endParaRPr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A8942A28-13CD-4122-84DC-006F9295F7CE}"/>
              </a:ext>
            </a:extLst>
          </p:cNvPr>
          <p:cNvSpPr/>
          <p:nvPr/>
        </p:nvSpPr>
        <p:spPr bwMode="auto">
          <a:xfrm>
            <a:off x="3581500" y="5314240"/>
            <a:ext cx="181426" cy="1215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flat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algn="ctr" defTabSz="685835" fontAlgn="base">
              <a:spcBef>
                <a:spcPct val="0"/>
              </a:spcBef>
              <a:spcAft>
                <a:spcPct val="0"/>
              </a:spcAft>
            </a:pPr>
            <a:endParaRPr lang="en-US" altLang="ko-KR" sz="1200" dirty="0">
              <a:latin typeface="+mn-lt"/>
            </a:endParaRPr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7E5A5654-0D4A-4913-B78B-651FE35FE580}"/>
              </a:ext>
            </a:extLst>
          </p:cNvPr>
          <p:cNvSpPr/>
          <p:nvPr/>
        </p:nvSpPr>
        <p:spPr bwMode="auto">
          <a:xfrm>
            <a:off x="3581500" y="5192877"/>
            <a:ext cx="181426" cy="1215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flat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algn="ctr" defTabSz="685835" fontAlgn="base">
              <a:spcBef>
                <a:spcPct val="0"/>
              </a:spcBef>
              <a:spcAft>
                <a:spcPct val="0"/>
              </a:spcAft>
            </a:pPr>
            <a:endParaRPr lang="en-US" altLang="ko-KR" sz="1200" dirty="0">
              <a:latin typeface="+mn-lt"/>
            </a:endParaRPr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4E3A15B4-2980-4461-93AB-C758E07CF1F1}"/>
              </a:ext>
            </a:extLst>
          </p:cNvPr>
          <p:cNvSpPr/>
          <p:nvPr/>
        </p:nvSpPr>
        <p:spPr bwMode="auto">
          <a:xfrm>
            <a:off x="3581500" y="5071377"/>
            <a:ext cx="181426" cy="1215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flat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algn="ctr" defTabSz="685835" fontAlgn="base">
              <a:spcBef>
                <a:spcPct val="0"/>
              </a:spcBef>
              <a:spcAft>
                <a:spcPct val="0"/>
              </a:spcAft>
            </a:pPr>
            <a:endParaRPr lang="en-US" altLang="ko-KR" sz="1200" dirty="0">
              <a:latin typeface="+mn-lt"/>
            </a:endParaRPr>
          </a:p>
        </p:txBody>
      </p: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90F126A2-BC29-418D-A205-5E3DA1E31E19}"/>
              </a:ext>
            </a:extLst>
          </p:cNvPr>
          <p:cNvSpPr/>
          <p:nvPr/>
        </p:nvSpPr>
        <p:spPr bwMode="auto">
          <a:xfrm>
            <a:off x="3581500" y="4950015"/>
            <a:ext cx="181426" cy="1215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flat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algn="ctr" defTabSz="685835" fontAlgn="base">
              <a:spcBef>
                <a:spcPct val="0"/>
              </a:spcBef>
              <a:spcAft>
                <a:spcPct val="0"/>
              </a:spcAft>
            </a:pPr>
            <a:endParaRPr lang="en-US" altLang="ko-KR" sz="1200" dirty="0">
              <a:latin typeface="+mn-lt"/>
            </a:endParaRPr>
          </a:p>
        </p:txBody>
      </p: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F19BAD93-9E86-4417-B0E5-BEA4F2C0A721}"/>
              </a:ext>
            </a:extLst>
          </p:cNvPr>
          <p:cNvSpPr/>
          <p:nvPr/>
        </p:nvSpPr>
        <p:spPr bwMode="auto">
          <a:xfrm>
            <a:off x="3581500" y="5384749"/>
            <a:ext cx="181426" cy="1215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flat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algn="ctr" defTabSz="685835" fontAlgn="base">
              <a:spcBef>
                <a:spcPct val="0"/>
              </a:spcBef>
              <a:spcAft>
                <a:spcPct val="0"/>
              </a:spcAft>
            </a:pPr>
            <a:endParaRPr lang="en-US" altLang="ko-KR" sz="1200" dirty="0">
              <a:latin typeface="+mn-lt"/>
            </a:endParaRPr>
          </a:p>
        </p:txBody>
      </p: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7751DD90-79CB-4F25-B8D4-F74AF4DB23F2}"/>
              </a:ext>
            </a:extLst>
          </p:cNvPr>
          <p:cNvSpPr/>
          <p:nvPr/>
        </p:nvSpPr>
        <p:spPr bwMode="auto">
          <a:xfrm>
            <a:off x="3581500" y="5263387"/>
            <a:ext cx="181426" cy="1215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flat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algn="ctr" defTabSz="685835" fontAlgn="base">
              <a:spcBef>
                <a:spcPct val="0"/>
              </a:spcBef>
              <a:spcAft>
                <a:spcPct val="0"/>
              </a:spcAft>
            </a:pPr>
            <a:endParaRPr lang="en-US" altLang="ko-KR" sz="1200" dirty="0">
              <a:latin typeface="+mn-lt"/>
            </a:endParaRPr>
          </a:p>
        </p:txBody>
      </p:sp>
      <p:sp>
        <p:nvSpPr>
          <p:cNvPr id="65" name="직사각형 64">
            <a:extLst>
              <a:ext uri="{FF2B5EF4-FFF2-40B4-BE49-F238E27FC236}">
                <a16:creationId xmlns:a16="http://schemas.microsoft.com/office/drawing/2014/main" id="{D8D15928-5EA0-4757-A149-2781907A4B91}"/>
              </a:ext>
            </a:extLst>
          </p:cNvPr>
          <p:cNvSpPr/>
          <p:nvPr/>
        </p:nvSpPr>
        <p:spPr bwMode="auto">
          <a:xfrm>
            <a:off x="3581500" y="5711228"/>
            <a:ext cx="181426" cy="1215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flat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algn="ctr" defTabSz="685835" fontAlgn="base">
              <a:spcBef>
                <a:spcPct val="0"/>
              </a:spcBef>
              <a:spcAft>
                <a:spcPct val="0"/>
              </a:spcAft>
            </a:pPr>
            <a:endParaRPr lang="en-US" altLang="ko-KR" sz="1200" dirty="0">
              <a:latin typeface="+mn-lt"/>
            </a:endParaRPr>
          </a:p>
        </p:txBody>
      </p:sp>
      <p:sp>
        <p:nvSpPr>
          <p:cNvPr id="66" name="직사각형 65">
            <a:extLst>
              <a:ext uri="{FF2B5EF4-FFF2-40B4-BE49-F238E27FC236}">
                <a16:creationId xmlns:a16="http://schemas.microsoft.com/office/drawing/2014/main" id="{09B11318-5137-434D-9E00-ACD26F664829}"/>
              </a:ext>
            </a:extLst>
          </p:cNvPr>
          <p:cNvSpPr/>
          <p:nvPr/>
        </p:nvSpPr>
        <p:spPr bwMode="auto">
          <a:xfrm>
            <a:off x="3581500" y="5589865"/>
            <a:ext cx="181426" cy="1215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flat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algn="ctr" defTabSz="685835" fontAlgn="base">
              <a:spcBef>
                <a:spcPct val="0"/>
              </a:spcBef>
              <a:spcAft>
                <a:spcPct val="0"/>
              </a:spcAft>
            </a:pPr>
            <a:endParaRPr lang="en-US" altLang="ko-KR" sz="1200" dirty="0">
              <a:latin typeface="+mn-lt"/>
            </a:endParaRPr>
          </a:p>
        </p:txBody>
      </p:sp>
      <p:sp>
        <p:nvSpPr>
          <p:cNvPr id="67" name="직사각형 66">
            <a:extLst>
              <a:ext uri="{FF2B5EF4-FFF2-40B4-BE49-F238E27FC236}">
                <a16:creationId xmlns:a16="http://schemas.microsoft.com/office/drawing/2014/main" id="{73B4414F-FF42-434F-BB8F-2A2C5D81A70B}"/>
              </a:ext>
            </a:extLst>
          </p:cNvPr>
          <p:cNvSpPr/>
          <p:nvPr/>
        </p:nvSpPr>
        <p:spPr bwMode="auto">
          <a:xfrm>
            <a:off x="3581500" y="2854600"/>
            <a:ext cx="181426" cy="1215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flat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algn="ctr" defTabSz="685835" fontAlgn="base">
              <a:spcBef>
                <a:spcPct val="0"/>
              </a:spcBef>
              <a:spcAft>
                <a:spcPct val="0"/>
              </a:spcAft>
            </a:pPr>
            <a:endParaRPr lang="en-US" altLang="ko-KR" sz="1200" dirty="0">
              <a:latin typeface="+mn-lt"/>
            </a:endParaRPr>
          </a:p>
        </p:txBody>
      </p:sp>
      <p:sp>
        <p:nvSpPr>
          <p:cNvPr id="68" name="직사각형 67">
            <a:extLst>
              <a:ext uri="{FF2B5EF4-FFF2-40B4-BE49-F238E27FC236}">
                <a16:creationId xmlns:a16="http://schemas.microsoft.com/office/drawing/2014/main" id="{5F92A7A4-6C6D-4DDB-B7CB-6664EB1595CC}"/>
              </a:ext>
            </a:extLst>
          </p:cNvPr>
          <p:cNvSpPr/>
          <p:nvPr/>
        </p:nvSpPr>
        <p:spPr bwMode="auto">
          <a:xfrm>
            <a:off x="3581500" y="2789788"/>
            <a:ext cx="181426" cy="1215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flat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algn="ctr" defTabSz="685835" fontAlgn="base">
              <a:spcBef>
                <a:spcPct val="0"/>
              </a:spcBef>
              <a:spcAft>
                <a:spcPct val="0"/>
              </a:spcAft>
            </a:pPr>
            <a:endParaRPr lang="en-US" altLang="ko-KR" sz="1200" dirty="0">
              <a:latin typeface="+mn-lt"/>
            </a:endParaRPr>
          </a:p>
        </p:txBody>
      </p:sp>
      <p:sp>
        <p:nvSpPr>
          <p:cNvPr id="69" name="직사각형 68">
            <a:extLst>
              <a:ext uri="{FF2B5EF4-FFF2-40B4-BE49-F238E27FC236}">
                <a16:creationId xmlns:a16="http://schemas.microsoft.com/office/drawing/2014/main" id="{31F58693-B6DE-4D8D-A8F2-FF0F909E70D4}"/>
              </a:ext>
            </a:extLst>
          </p:cNvPr>
          <p:cNvSpPr/>
          <p:nvPr/>
        </p:nvSpPr>
        <p:spPr bwMode="auto">
          <a:xfrm>
            <a:off x="7755520" y="3784817"/>
            <a:ext cx="181426" cy="1215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flat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algn="ctr" defTabSz="685835" fontAlgn="base">
              <a:spcBef>
                <a:spcPct val="0"/>
              </a:spcBef>
              <a:spcAft>
                <a:spcPct val="0"/>
              </a:spcAft>
            </a:pPr>
            <a:endParaRPr lang="en-US" altLang="ko-KR" sz="1200" dirty="0">
              <a:latin typeface="+mn-lt"/>
            </a:endParaRPr>
          </a:p>
        </p:txBody>
      </p:sp>
      <p:sp>
        <p:nvSpPr>
          <p:cNvPr id="70" name="직사각형 69">
            <a:extLst>
              <a:ext uri="{FF2B5EF4-FFF2-40B4-BE49-F238E27FC236}">
                <a16:creationId xmlns:a16="http://schemas.microsoft.com/office/drawing/2014/main" id="{FE5D9613-85ED-4002-B524-D2D64F77FA27}"/>
              </a:ext>
            </a:extLst>
          </p:cNvPr>
          <p:cNvSpPr/>
          <p:nvPr/>
        </p:nvSpPr>
        <p:spPr bwMode="auto">
          <a:xfrm>
            <a:off x="7755520" y="4149044"/>
            <a:ext cx="181426" cy="1215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flat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algn="ctr" defTabSz="685835" fontAlgn="base">
              <a:spcBef>
                <a:spcPct val="0"/>
              </a:spcBef>
              <a:spcAft>
                <a:spcPct val="0"/>
              </a:spcAft>
            </a:pPr>
            <a:endParaRPr lang="en-US" altLang="ko-KR" sz="1200" dirty="0">
              <a:latin typeface="+mn-lt"/>
            </a:endParaRPr>
          </a:p>
        </p:txBody>
      </p:sp>
      <p:sp>
        <p:nvSpPr>
          <p:cNvPr id="71" name="직사각형 70">
            <a:extLst>
              <a:ext uri="{FF2B5EF4-FFF2-40B4-BE49-F238E27FC236}">
                <a16:creationId xmlns:a16="http://schemas.microsoft.com/office/drawing/2014/main" id="{5BFDF970-9EE0-4B5F-8D7A-B9ABF7538D3E}"/>
              </a:ext>
            </a:extLst>
          </p:cNvPr>
          <p:cNvSpPr/>
          <p:nvPr/>
        </p:nvSpPr>
        <p:spPr bwMode="auto">
          <a:xfrm>
            <a:off x="7755520" y="4027681"/>
            <a:ext cx="181426" cy="1215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flat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algn="ctr" defTabSz="685835" fontAlgn="base">
              <a:spcBef>
                <a:spcPct val="0"/>
              </a:spcBef>
              <a:spcAft>
                <a:spcPct val="0"/>
              </a:spcAft>
            </a:pPr>
            <a:endParaRPr lang="en-US" altLang="ko-KR" sz="1200" dirty="0">
              <a:latin typeface="+mn-lt"/>
            </a:endParaRPr>
          </a:p>
        </p:txBody>
      </p:sp>
      <p:sp>
        <p:nvSpPr>
          <p:cNvPr id="72" name="직사각형 71">
            <a:extLst>
              <a:ext uri="{FF2B5EF4-FFF2-40B4-BE49-F238E27FC236}">
                <a16:creationId xmlns:a16="http://schemas.microsoft.com/office/drawing/2014/main" id="{4CC1EA26-4A51-4C48-A216-B12196A97A7A}"/>
              </a:ext>
            </a:extLst>
          </p:cNvPr>
          <p:cNvSpPr/>
          <p:nvPr/>
        </p:nvSpPr>
        <p:spPr bwMode="auto">
          <a:xfrm>
            <a:off x="7755520" y="3906181"/>
            <a:ext cx="181426" cy="1215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flat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algn="ctr" defTabSz="685835" fontAlgn="base">
              <a:spcBef>
                <a:spcPct val="0"/>
              </a:spcBef>
              <a:spcAft>
                <a:spcPct val="0"/>
              </a:spcAft>
            </a:pPr>
            <a:endParaRPr lang="en-US" altLang="ko-KR" sz="1200" dirty="0">
              <a:latin typeface="+mn-lt"/>
            </a:endParaRPr>
          </a:p>
        </p:txBody>
      </p:sp>
      <p:sp>
        <p:nvSpPr>
          <p:cNvPr id="73" name="직사각형 72">
            <a:extLst>
              <a:ext uri="{FF2B5EF4-FFF2-40B4-BE49-F238E27FC236}">
                <a16:creationId xmlns:a16="http://schemas.microsoft.com/office/drawing/2014/main" id="{091697F0-BD76-4313-9124-04E862D86ED6}"/>
              </a:ext>
            </a:extLst>
          </p:cNvPr>
          <p:cNvSpPr/>
          <p:nvPr/>
        </p:nvSpPr>
        <p:spPr bwMode="auto">
          <a:xfrm>
            <a:off x="7755520" y="2855341"/>
            <a:ext cx="181426" cy="1215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flat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algn="ctr" defTabSz="685835" fontAlgn="base">
              <a:spcBef>
                <a:spcPct val="0"/>
              </a:spcBef>
              <a:spcAft>
                <a:spcPct val="0"/>
              </a:spcAft>
            </a:pPr>
            <a:endParaRPr lang="en-US" altLang="ko-KR" sz="1200" dirty="0">
              <a:latin typeface="+mn-lt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8579DA65-FCAD-46E4-BB55-E6316E2C19AC}"/>
              </a:ext>
            </a:extLst>
          </p:cNvPr>
          <p:cNvSpPr/>
          <p:nvPr/>
        </p:nvSpPr>
        <p:spPr bwMode="auto">
          <a:xfrm>
            <a:off x="7755520" y="2733976"/>
            <a:ext cx="181426" cy="1215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flat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algn="ctr" defTabSz="685835" fontAlgn="base">
              <a:spcBef>
                <a:spcPct val="0"/>
              </a:spcBef>
              <a:spcAft>
                <a:spcPct val="0"/>
              </a:spcAft>
            </a:pPr>
            <a:endParaRPr lang="en-US" altLang="ko-KR" sz="1200" dirty="0">
              <a:latin typeface="+mn-lt"/>
            </a:endParaRPr>
          </a:p>
        </p:txBody>
      </p:sp>
      <p:sp>
        <p:nvSpPr>
          <p:cNvPr id="75" name="직사각형 74">
            <a:extLst>
              <a:ext uri="{FF2B5EF4-FFF2-40B4-BE49-F238E27FC236}">
                <a16:creationId xmlns:a16="http://schemas.microsoft.com/office/drawing/2014/main" id="{422A2BE4-980E-457B-84FC-754EE8B7645C}"/>
              </a:ext>
            </a:extLst>
          </p:cNvPr>
          <p:cNvSpPr/>
          <p:nvPr/>
        </p:nvSpPr>
        <p:spPr bwMode="auto">
          <a:xfrm>
            <a:off x="7755520" y="2560089"/>
            <a:ext cx="181426" cy="1215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flat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algn="ctr" defTabSz="685835" fontAlgn="base">
              <a:spcBef>
                <a:spcPct val="0"/>
              </a:spcBef>
              <a:spcAft>
                <a:spcPct val="0"/>
              </a:spcAft>
            </a:pPr>
            <a:endParaRPr lang="en-US" altLang="ko-KR" sz="1200" dirty="0">
              <a:latin typeface="+mn-lt"/>
            </a:endParaRPr>
          </a:p>
        </p:txBody>
      </p: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7A3BD71A-C90C-4DA2-A59D-2687E3B8A49B}"/>
              </a:ext>
            </a:extLst>
          </p:cNvPr>
          <p:cNvSpPr/>
          <p:nvPr/>
        </p:nvSpPr>
        <p:spPr bwMode="auto">
          <a:xfrm>
            <a:off x="7755520" y="2491114"/>
            <a:ext cx="181426" cy="1215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flat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algn="ctr" defTabSz="685835" fontAlgn="base">
              <a:spcBef>
                <a:spcPct val="0"/>
              </a:spcBef>
              <a:spcAft>
                <a:spcPct val="0"/>
              </a:spcAft>
            </a:pPr>
            <a:endParaRPr lang="en-US" altLang="ko-KR" sz="1200" dirty="0">
              <a:latin typeface="+mn-lt"/>
            </a:endParaRPr>
          </a:p>
        </p:txBody>
      </p:sp>
      <p:sp>
        <p:nvSpPr>
          <p:cNvPr id="77" name="직사각형 76">
            <a:extLst>
              <a:ext uri="{FF2B5EF4-FFF2-40B4-BE49-F238E27FC236}">
                <a16:creationId xmlns:a16="http://schemas.microsoft.com/office/drawing/2014/main" id="{6DAB7A63-9FBD-4C14-991D-A222F05FE41B}"/>
              </a:ext>
            </a:extLst>
          </p:cNvPr>
          <p:cNvSpPr/>
          <p:nvPr/>
        </p:nvSpPr>
        <p:spPr bwMode="auto">
          <a:xfrm>
            <a:off x="7755520" y="2664865"/>
            <a:ext cx="181426" cy="1215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flat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algn="ctr" defTabSz="685835" fontAlgn="base">
              <a:spcBef>
                <a:spcPct val="0"/>
              </a:spcBef>
              <a:spcAft>
                <a:spcPct val="0"/>
              </a:spcAft>
            </a:pPr>
            <a:endParaRPr lang="en-US" altLang="ko-KR" sz="1200" dirty="0">
              <a:latin typeface="+mn-lt"/>
            </a:endParaRPr>
          </a:p>
        </p:txBody>
      </p:sp>
      <p:sp>
        <p:nvSpPr>
          <p:cNvPr id="78" name="직사각형 77">
            <a:extLst>
              <a:ext uri="{FF2B5EF4-FFF2-40B4-BE49-F238E27FC236}">
                <a16:creationId xmlns:a16="http://schemas.microsoft.com/office/drawing/2014/main" id="{048014F6-CD50-4BBC-BC03-4749F8C3F83E}"/>
              </a:ext>
            </a:extLst>
          </p:cNvPr>
          <p:cNvSpPr/>
          <p:nvPr/>
        </p:nvSpPr>
        <p:spPr bwMode="auto">
          <a:xfrm>
            <a:off x="1170139" y="2858448"/>
            <a:ext cx="181426" cy="1215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flat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algn="ctr" defTabSz="685835" fontAlgn="base">
              <a:spcBef>
                <a:spcPct val="0"/>
              </a:spcBef>
              <a:spcAft>
                <a:spcPct val="0"/>
              </a:spcAft>
            </a:pPr>
            <a:endParaRPr lang="en-US" altLang="ko-KR" sz="1200" dirty="0">
              <a:latin typeface="+mn-lt"/>
            </a:endParaRPr>
          </a:p>
        </p:txBody>
      </p:sp>
      <p:sp>
        <p:nvSpPr>
          <p:cNvPr id="79" name="직사각형 78">
            <a:extLst>
              <a:ext uri="{FF2B5EF4-FFF2-40B4-BE49-F238E27FC236}">
                <a16:creationId xmlns:a16="http://schemas.microsoft.com/office/drawing/2014/main" id="{9404359F-A4A7-43E6-AFF5-6C1A4C30176B}"/>
              </a:ext>
            </a:extLst>
          </p:cNvPr>
          <p:cNvSpPr/>
          <p:nvPr/>
        </p:nvSpPr>
        <p:spPr bwMode="auto">
          <a:xfrm>
            <a:off x="1170139" y="2676361"/>
            <a:ext cx="181426" cy="1215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flat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algn="ctr" defTabSz="685835" fontAlgn="base">
              <a:spcBef>
                <a:spcPct val="0"/>
              </a:spcBef>
              <a:spcAft>
                <a:spcPct val="0"/>
              </a:spcAft>
            </a:pPr>
            <a:endParaRPr lang="en-US" altLang="ko-KR" sz="1200" dirty="0">
              <a:latin typeface="+mn-lt"/>
            </a:endParaRPr>
          </a:p>
        </p:txBody>
      </p:sp>
      <p:sp>
        <p:nvSpPr>
          <p:cNvPr id="80" name="직사각형 79">
            <a:extLst>
              <a:ext uri="{FF2B5EF4-FFF2-40B4-BE49-F238E27FC236}">
                <a16:creationId xmlns:a16="http://schemas.microsoft.com/office/drawing/2014/main" id="{2BAFACC6-F35C-4BF9-9009-2B2774943CAE}"/>
              </a:ext>
            </a:extLst>
          </p:cNvPr>
          <p:cNvSpPr/>
          <p:nvPr/>
        </p:nvSpPr>
        <p:spPr bwMode="auto">
          <a:xfrm>
            <a:off x="1170139" y="2572721"/>
            <a:ext cx="181426" cy="1215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flat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algn="ctr" defTabSz="685835" fontAlgn="base">
              <a:spcBef>
                <a:spcPct val="0"/>
              </a:spcBef>
              <a:spcAft>
                <a:spcPct val="0"/>
              </a:spcAft>
            </a:pPr>
            <a:endParaRPr lang="en-US" altLang="ko-KR" sz="1200" dirty="0">
              <a:latin typeface="+mn-lt"/>
            </a:endParaRPr>
          </a:p>
        </p:txBody>
      </p:sp>
      <p:sp>
        <p:nvSpPr>
          <p:cNvPr id="81" name="직사각형 80">
            <a:extLst>
              <a:ext uri="{FF2B5EF4-FFF2-40B4-BE49-F238E27FC236}">
                <a16:creationId xmlns:a16="http://schemas.microsoft.com/office/drawing/2014/main" id="{E7651FA6-CFC6-47CF-9011-19F9D0509F61}"/>
              </a:ext>
            </a:extLst>
          </p:cNvPr>
          <p:cNvSpPr/>
          <p:nvPr/>
        </p:nvSpPr>
        <p:spPr bwMode="auto">
          <a:xfrm>
            <a:off x="1170139" y="2494221"/>
            <a:ext cx="181426" cy="1215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flat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algn="ctr" defTabSz="685835" fontAlgn="base">
              <a:spcBef>
                <a:spcPct val="0"/>
              </a:spcBef>
              <a:spcAft>
                <a:spcPct val="0"/>
              </a:spcAft>
            </a:pPr>
            <a:endParaRPr lang="en-US" altLang="ko-KR" sz="1200" dirty="0">
              <a:latin typeface="+mn-lt"/>
            </a:endParaRPr>
          </a:p>
        </p:txBody>
      </p:sp>
      <p:sp>
        <p:nvSpPr>
          <p:cNvPr id="82" name="직사각형 81">
            <a:extLst>
              <a:ext uri="{FF2B5EF4-FFF2-40B4-BE49-F238E27FC236}">
                <a16:creationId xmlns:a16="http://schemas.microsoft.com/office/drawing/2014/main" id="{FC062D96-B6F3-45C9-989D-4323442ECDF2}"/>
              </a:ext>
            </a:extLst>
          </p:cNvPr>
          <p:cNvSpPr/>
          <p:nvPr/>
        </p:nvSpPr>
        <p:spPr bwMode="auto">
          <a:xfrm>
            <a:off x="7755520" y="4764313"/>
            <a:ext cx="181426" cy="1215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flat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algn="ctr" defTabSz="685835" fontAlgn="base">
              <a:spcBef>
                <a:spcPct val="0"/>
              </a:spcBef>
              <a:spcAft>
                <a:spcPct val="0"/>
              </a:spcAft>
            </a:pPr>
            <a:endParaRPr lang="en-US" altLang="ko-KR" sz="1200" dirty="0">
              <a:latin typeface="+mn-lt"/>
            </a:endParaRPr>
          </a:p>
        </p:txBody>
      </p:sp>
      <p:sp>
        <p:nvSpPr>
          <p:cNvPr id="83" name="직사각형 82">
            <a:extLst>
              <a:ext uri="{FF2B5EF4-FFF2-40B4-BE49-F238E27FC236}">
                <a16:creationId xmlns:a16="http://schemas.microsoft.com/office/drawing/2014/main" id="{586EA564-ACD3-47A8-807F-6FA519179AE9}"/>
              </a:ext>
            </a:extLst>
          </p:cNvPr>
          <p:cNvSpPr/>
          <p:nvPr/>
        </p:nvSpPr>
        <p:spPr bwMode="auto">
          <a:xfrm>
            <a:off x="7755520" y="4642949"/>
            <a:ext cx="181426" cy="1215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flat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algn="ctr" defTabSz="685835" fontAlgn="base">
              <a:spcBef>
                <a:spcPct val="0"/>
              </a:spcBef>
              <a:spcAft>
                <a:spcPct val="0"/>
              </a:spcAft>
            </a:pPr>
            <a:endParaRPr lang="en-US" altLang="ko-KR" sz="1200" dirty="0">
              <a:latin typeface="+mn-lt"/>
            </a:endParaRPr>
          </a:p>
        </p:txBody>
      </p:sp>
      <p:sp>
        <p:nvSpPr>
          <p:cNvPr id="84" name="직사각형 83">
            <a:extLst>
              <a:ext uri="{FF2B5EF4-FFF2-40B4-BE49-F238E27FC236}">
                <a16:creationId xmlns:a16="http://schemas.microsoft.com/office/drawing/2014/main" id="{6D8560DD-428E-442A-9C09-D04031346FC9}"/>
              </a:ext>
            </a:extLst>
          </p:cNvPr>
          <p:cNvSpPr/>
          <p:nvPr/>
        </p:nvSpPr>
        <p:spPr bwMode="auto">
          <a:xfrm>
            <a:off x="7755520" y="4521449"/>
            <a:ext cx="181426" cy="1215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flat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algn="ctr" defTabSz="685835" fontAlgn="base">
              <a:spcBef>
                <a:spcPct val="0"/>
              </a:spcBef>
              <a:spcAft>
                <a:spcPct val="0"/>
              </a:spcAft>
            </a:pPr>
            <a:endParaRPr lang="en-US" altLang="ko-KR" sz="1200" dirty="0">
              <a:latin typeface="+mn-lt"/>
            </a:endParaRPr>
          </a:p>
        </p:txBody>
      </p:sp>
      <p:sp>
        <p:nvSpPr>
          <p:cNvPr id="85" name="직사각형 84">
            <a:extLst>
              <a:ext uri="{FF2B5EF4-FFF2-40B4-BE49-F238E27FC236}">
                <a16:creationId xmlns:a16="http://schemas.microsoft.com/office/drawing/2014/main" id="{14F82187-3237-4617-9641-007F12C37861}"/>
              </a:ext>
            </a:extLst>
          </p:cNvPr>
          <p:cNvSpPr/>
          <p:nvPr/>
        </p:nvSpPr>
        <p:spPr bwMode="auto">
          <a:xfrm>
            <a:off x="7755520" y="4400088"/>
            <a:ext cx="181426" cy="1215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flat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algn="ctr" defTabSz="685835" fontAlgn="base">
              <a:spcBef>
                <a:spcPct val="0"/>
              </a:spcBef>
              <a:spcAft>
                <a:spcPct val="0"/>
              </a:spcAft>
            </a:pPr>
            <a:endParaRPr lang="en-US" altLang="ko-KR" sz="1200" dirty="0">
              <a:latin typeface="+mn-lt"/>
            </a:endParaRPr>
          </a:p>
        </p:txBody>
      </p:sp>
      <p:sp>
        <p:nvSpPr>
          <p:cNvPr id="86" name="직사각형 85">
            <a:extLst>
              <a:ext uri="{FF2B5EF4-FFF2-40B4-BE49-F238E27FC236}">
                <a16:creationId xmlns:a16="http://schemas.microsoft.com/office/drawing/2014/main" id="{7DC88CB8-AF9C-48FF-B3C7-852B3180F7F9}"/>
              </a:ext>
            </a:extLst>
          </p:cNvPr>
          <p:cNvSpPr/>
          <p:nvPr/>
        </p:nvSpPr>
        <p:spPr bwMode="auto">
          <a:xfrm>
            <a:off x="1170139" y="2238010"/>
            <a:ext cx="181426" cy="1215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flat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algn="ctr" defTabSz="685835" fontAlgn="base">
              <a:spcBef>
                <a:spcPct val="0"/>
              </a:spcBef>
              <a:spcAft>
                <a:spcPct val="0"/>
              </a:spcAft>
            </a:pPr>
            <a:endParaRPr lang="en-US" altLang="ko-KR" sz="1200" dirty="0">
              <a:latin typeface="+mn-lt"/>
            </a:endParaRPr>
          </a:p>
        </p:txBody>
      </p:sp>
      <p:sp>
        <p:nvSpPr>
          <p:cNvPr id="87" name="직사각형 86">
            <a:extLst>
              <a:ext uri="{FF2B5EF4-FFF2-40B4-BE49-F238E27FC236}">
                <a16:creationId xmlns:a16="http://schemas.microsoft.com/office/drawing/2014/main" id="{B323AB0C-FE14-45C0-8BC3-BB4776DB9620}"/>
              </a:ext>
            </a:extLst>
          </p:cNvPr>
          <p:cNvSpPr/>
          <p:nvPr/>
        </p:nvSpPr>
        <p:spPr bwMode="auto">
          <a:xfrm>
            <a:off x="1170139" y="2116648"/>
            <a:ext cx="181426" cy="1215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flat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algn="ctr" defTabSz="685835" fontAlgn="base">
              <a:spcBef>
                <a:spcPct val="0"/>
              </a:spcBef>
              <a:spcAft>
                <a:spcPct val="0"/>
              </a:spcAft>
            </a:pPr>
            <a:endParaRPr lang="en-US" altLang="ko-KR" sz="1200" dirty="0">
              <a:latin typeface="+mn-lt"/>
            </a:endParaRPr>
          </a:p>
        </p:txBody>
      </p:sp>
      <p:sp>
        <p:nvSpPr>
          <p:cNvPr id="88" name="직사각형 87">
            <a:extLst>
              <a:ext uri="{FF2B5EF4-FFF2-40B4-BE49-F238E27FC236}">
                <a16:creationId xmlns:a16="http://schemas.microsoft.com/office/drawing/2014/main" id="{60CCE4D9-D77E-4769-AE4E-E122E5475ABF}"/>
              </a:ext>
            </a:extLst>
          </p:cNvPr>
          <p:cNvSpPr/>
          <p:nvPr/>
        </p:nvSpPr>
        <p:spPr bwMode="auto">
          <a:xfrm>
            <a:off x="1170139" y="1995148"/>
            <a:ext cx="181426" cy="1215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flat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algn="ctr" defTabSz="685835" fontAlgn="base">
              <a:spcBef>
                <a:spcPct val="0"/>
              </a:spcBef>
              <a:spcAft>
                <a:spcPct val="0"/>
              </a:spcAft>
            </a:pPr>
            <a:endParaRPr lang="en-US" altLang="ko-KR" sz="1200" dirty="0">
              <a:latin typeface="+mn-lt"/>
            </a:endParaRPr>
          </a:p>
        </p:txBody>
      </p:sp>
      <p:sp>
        <p:nvSpPr>
          <p:cNvPr id="89" name="직사각형 88">
            <a:extLst>
              <a:ext uri="{FF2B5EF4-FFF2-40B4-BE49-F238E27FC236}">
                <a16:creationId xmlns:a16="http://schemas.microsoft.com/office/drawing/2014/main" id="{2C8E32CE-D939-4AB9-9848-4ECA160A54C3}"/>
              </a:ext>
            </a:extLst>
          </p:cNvPr>
          <p:cNvSpPr/>
          <p:nvPr/>
        </p:nvSpPr>
        <p:spPr bwMode="auto">
          <a:xfrm>
            <a:off x="1170139" y="1873785"/>
            <a:ext cx="181426" cy="1215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flat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algn="ctr" defTabSz="685835" fontAlgn="base">
              <a:spcBef>
                <a:spcPct val="0"/>
              </a:spcBef>
              <a:spcAft>
                <a:spcPct val="0"/>
              </a:spcAft>
            </a:pPr>
            <a:endParaRPr lang="en-US" altLang="ko-KR" sz="1200" dirty="0">
              <a:latin typeface="+mn-lt"/>
            </a:endParaRPr>
          </a:p>
        </p:txBody>
      </p:sp>
      <p:sp>
        <p:nvSpPr>
          <p:cNvPr id="90" name="직사각형 89">
            <a:extLst>
              <a:ext uri="{FF2B5EF4-FFF2-40B4-BE49-F238E27FC236}">
                <a16:creationId xmlns:a16="http://schemas.microsoft.com/office/drawing/2014/main" id="{3437B525-B21F-4255-B062-F116693746FA}"/>
              </a:ext>
            </a:extLst>
          </p:cNvPr>
          <p:cNvSpPr/>
          <p:nvPr/>
        </p:nvSpPr>
        <p:spPr bwMode="auto">
          <a:xfrm>
            <a:off x="1848279" y="1440785"/>
            <a:ext cx="5451197" cy="4678578"/>
          </a:xfrm>
          <a:prstGeom prst="rect">
            <a:avLst/>
          </a:prstGeom>
          <a:solidFill>
            <a:schemeClr val="bg1">
              <a:lumMod val="85000"/>
            </a:schemeClr>
          </a:solidFill>
          <a:ln w="6350" cap="flat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algn="ctr" defTabSz="685835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500" dirty="0">
                <a:latin typeface="+mn-lt"/>
                <a:ea typeface="굴림" panose="020B0600000101010101" pitchFamily="50" charset="-127"/>
              </a:rPr>
              <a:t>SCEU (SAR Control Electronics Unit)</a:t>
            </a:r>
          </a:p>
        </p:txBody>
      </p:sp>
      <p:sp>
        <p:nvSpPr>
          <p:cNvPr id="91" name="직사각형 90">
            <a:extLst>
              <a:ext uri="{FF2B5EF4-FFF2-40B4-BE49-F238E27FC236}">
                <a16:creationId xmlns:a16="http://schemas.microsoft.com/office/drawing/2014/main" id="{D6787901-A6D0-4B37-9EE3-EAF9C1DFCFC9}"/>
              </a:ext>
            </a:extLst>
          </p:cNvPr>
          <p:cNvSpPr/>
          <p:nvPr/>
        </p:nvSpPr>
        <p:spPr bwMode="auto">
          <a:xfrm>
            <a:off x="143447" y="1439000"/>
            <a:ext cx="1211107" cy="1583072"/>
          </a:xfrm>
          <a:prstGeom prst="rect">
            <a:avLst/>
          </a:prstGeom>
          <a:solidFill>
            <a:schemeClr val="bg1">
              <a:lumMod val="50000"/>
            </a:schemeClr>
          </a:solidFill>
          <a:ln w="6350" cap="flat" cmpd="sng" algn="ctr">
            <a:solidFill>
              <a:schemeClr val="tx1"/>
            </a:solidFill>
            <a:prstDash val="dash"/>
            <a:round/>
            <a:headEnd type="none" w="sm" len="sm"/>
            <a:tailEnd type="none" w="sm" len="sm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algn="ctr" defTabSz="685835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500" dirty="0">
                <a:latin typeface="+mn-lt"/>
                <a:ea typeface="굴림" panose="020B0600000101010101" pitchFamily="50" charset="-127"/>
              </a:rPr>
              <a:t>Bus</a:t>
            </a:r>
          </a:p>
        </p:txBody>
      </p:sp>
      <p:sp>
        <p:nvSpPr>
          <p:cNvPr id="92" name="직사각형 91">
            <a:extLst>
              <a:ext uri="{FF2B5EF4-FFF2-40B4-BE49-F238E27FC236}">
                <a16:creationId xmlns:a16="http://schemas.microsoft.com/office/drawing/2014/main" id="{24B96C98-4C32-4832-9A35-6329A4233A8A}"/>
              </a:ext>
            </a:extLst>
          </p:cNvPr>
          <p:cNvSpPr/>
          <p:nvPr/>
        </p:nvSpPr>
        <p:spPr bwMode="auto">
          <a:xfrm>
            <a:off x="7755518" y="1439000"/>
            <a:ext cx="1190076" cy="4678578"/>
          </a:xfrm>
          <a:prstGeom prst="rect">
            <a:avLst/>
          </a:prstGeom>
          <a:solidFill>
            <a:schemeClr val="bg1">
              <a:lumMod val="85000"/>
            </a:schemeClr>
          </a:solidFill>
          <a:ln w="6350" cap="flat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algn="ctr" defTabSz="685835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500" dirty="0">
                <a:latin typeface="+mn-lt"/>
                <a:ea typeface="굴림" panose="020B0600000101010101" pitchFamily="50" charset="-127"/>
              </a:rPr>
              <a:t>SATA</a:t>
            </a:r>
          </a:p>
          <a:p>
            <a:pPr algn="ctr" defTabSz="685835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050" dirty="0">
                <a:latin typeface="+mn-lt"/>
                <a:ea typeface="굴림" panose="020B0600000101010101" pitchFamily="50" charset="-127"/>
              </a:rPr>
              <a:t>(SAR Antenna &amp;</a:t>
            </a:r>
          </a:p>
          <a:p>
            <a:pPr algn="ctr" defTabSz="685835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050" dirty="0">
                <a:latin typeface="+mn-lt"/>
                <a:ea typeface="굴림" panose="020B0600000101010101" pitchFamily="50" charset="-127"/>
              </a:rPr>
              <a:t>TRM Assembly)</a:t>
            </a:r>
          </a:p>
        </p:txBody>
      </p:sp>
      <p:sp>
        <p:nvSpPr>
          <p:cNvPr id="93" name="직사각형 92">
            <a:extLst>
              <a:ext uri="{FF2B5EF4-FFF2-40B4-BE49-F238E27FC236}">
                <a16:creationId xmlns:a16="http://schemas.microsoft.com/office/drawing/2014/main" id="{CCFA59C0-9181-4DDE-84CC-51C19F24F1CD}"/>
              </a:ext>
            </a:extLst>
          </p:cNvPr>
          <p:cNvSpPr/>
          <p:nvPr/>
        </p:nvSpPr>
        <p:spPr bwMode="auto">
          <a:xfrm>
            <a:off x="3581502" y="2493947"/>
            <a:ext cx="1915000" cy="48600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algn="ctr" defTabSz="685835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200" dirty="0">
                <a:latin typeface="+mn-lt"/>
                <a:ea typeface="굴림" panose="020B0600000101010101" pitchFamily="50" charset="-127"/>
              </a:rPr>
              <a:t>SCM</a:t>
            </a:r>
          </a:p>
          <a:p>
            <a:pPr algn="ctr" defTabSz="685835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050" dirty="0">
                <a:latin typeface="+mn-lt"/>
                <a:ea typeface="굴림" panose="020B0600000101010101" pitchFamily="50" charset="-127"/>
              </a:rPr>
              <a:t>(SAR Control Module)</a:t>
            </a:r>
          </a:p>
        </p:txBody>
      </p:sp>
      <p:sp>
        <p:nvSpPr>
          <p:cNvPr id="94" name="직사각형 93">
            <a:extLst>
              <a:ext uri="{FF2B5EF4-FFF2-40B4-BE49-F238E27FC236}">
                <a16:creationId xmlns:a16="http://schemas.microsoft.com/office/drawing/2014/main" id="{ED76874D-3E1A-4CEF-8683-522C72587E01}"/>
              </a:ext>
            </a:extLst>
          </p:cNvPr>
          <p:cNvSpPr/>
          <p:nvPr/>
        </p:nvSpPr>
        <p:spPr bwMode="auto">
          <a:xfrm>
            <a:off x="3581502" y="3709463"/>
            <a:ext cx="1915000" cy="48600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algn="ctr" defTabSz="685835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200" dirty="0">
                <a:latin typeface="+mn-lt"/>
                <a:ea typeface="굴림" panose="020B0600000101010101" pitchFamily="50" charset="-127"/>
              </a:rPr>
              <a:t>FMM</a:t>
            </a:r>
          </a:p>
          <a:p>
            <a:pPr algn="ctr" defTabSz="685835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050" dirty="0">
                <a:latin typeface="+mn-lt"/>
                <a:ea typeface="굴림" panose="020B0600000101010101" pitchFamily="50" charset="-127"/>
              </a:rPr>
              <a:t>(Flash Memory Module)</a:t>
            </a:r>
          </a:p>
        </p:txBody>
      </p:sp>
      <p:sp>
        <p:nvSpPr>
          <p:cNvPr id="95" name="직사각형 94">
            <a:extLst>
              <a:ext uri="{FF2B5EF4-FFF2-40B4-BE49-F238E27FC236}">
                <a16:creationId xmlns:a16="http://schemas.microsoft.com/office/drawing/2014/main" id="{9FD13040-F67E-4921-839E-09CA1338313F}"/>
              </a:ext>
            </a:extLst>
          </p:cNvPr>
          <p:cNvSpPr/>
          <p:nvPr/>
        </p:nvSpPr>
        <p:spPr bwMode="auto">
          <a:xfrm>
            <a:off x="3581502" y="4329764"/>
            <a:ext cx="1915000" cy="48600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algn="ctr" defTabSz="685835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200" dirty="0">
                <a:latin typeface="+mn-lt"/>
                <a:ea typeface="굴림" panose="020B0600000101010101" pitchFamily="50" charset="-127"/>
              </a:rPr>
              <a:t>SGR</a:t>
            </a:r>
          </a:p>
          <a:p>
            <a:pPr algn="ctr" defTabSz="685835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050" dirty="0">
                <a:latin typeface="+mn-lt"/>
                <a:ea typeface="굴림" panose="020B0600000101010101" pitchFamily="50" charset="-127"/>
              </a:rPr>
              <a:t>(SAR Signal Generation &amp;</a:t>
            </a:r>
          </a:p>
          <a:p>
            <a:pPr algn="ctr" defTabSz="685835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050" dirty="0">
                <a:latin typeface="+mn-lt"/>
                <a:ea typeface="굴림" panose="020B0600000101010101" pitchFamily="50" charset="-127"/>
              </a:rPr>
              <a:t>Receiving Module)</a:t>
            </a:r>
          </a:p>
        </p:txBody>
      </p:sp>
      <p:sp>
        <p:nvSpPr>
          <p:cNvPr id="96" name="직사각형 95">
            <a:extLst>
              <a:ext uri="{FF2B5EF4-FFF2-40B4-BE49-F238E27FC236}">
                <a16:creationId xmlns:a16="http://schemas.microsoft.com/office/drawing/2014/main" id="{96033A47-2F9C-4569-8FFC-38BAFE1FD424}"/>
              </a:ext>
            </a:extLst>
          </p:cNvPr>
          <p:cNvSpPr/>
          <p:nvPr/>
        </p:nvSpPr>
        <p:spPr bwMode="auto">
          <a:xfrm>
            <a:off x="3581502" y="4950064"/>
            <a:ext cx="1915000" cy="48600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algn="ctr" defTabSz="685835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200" dirty="0">
                <a:latin typeface="+mn-lt"/>
                <a:ea typeface="굴림" panose="020B0600000101010101" pitchFamily="50" charset="-127"/>
              </a:rPr>
              <a:t>FSC</a:t>
            </a:r>
          </a:p>
          <a:p>
            <a:pPr algn="ctr" defTabSz="685835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050" dirty="0">
                <a:latin typeface="+mn-lt"/>
                <a:ea typeface="굴림" panose="020B0600000101010101" pitchFamily="50" charset="-127"/>
              </a:rPr>
              <a:t>(Frequency Synthesis &amp;</a:t>
            </a:r>
          </a:p>
          <a:p>
            <a:pPr algn="ctr" defTabSz="685835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050" dirty="0">
                <a:latin typeface="+mn-lt"/>
                <a:ea typeface="굴림" panose="020B0600000101010101" pitchFamily="50" charset="-127"/>
              </a:rPr>
              <a:t>Conversion Module)</a:t>
            </a:r>
          </a:p>
        </p:txBody>
      </p:sp>
      <p:sp>
        <p:nvSpPr>
          <p:cNvPr id="97" name="직사각형 96">
            <a:extLst>
              <a:ext uri="{FF2B5EF4-FFF2-40B4-BE49-F238E27FC236}">
                <a16:creationId xmlns:a16="http://schemas.microsoft.com/office/drawing/2014/main" id="{1A5C85D0-F0A9-478F-BE8F-4CE53EDEE311}"/>
              </a:ext>
            </a:extLst>
          </p:cNvPr>
          <p:cNvSpPr/>
          <p:nvPr/>
        </p:nvSpPr>
        <p:spPr bwMode="auto">
          <a:xfrm>
            <a:off x="3581502" y="5544487"/>
            <a:ext cx="1915000" cy="48600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algn="ctr" defTabSz="685835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200" dirty="0">
                <a:latin typeface="+mn-lt"/>
                <a:ea typeface="굴림" panose="020B0600000101010101" pitchFamily="50" charset="-127"/>
              </a:rPr>
              <a:t>PSA</a:t>
            </a:r>
          </a:p>
          <a:p>
            <a:pPr algn="ctr" defTabSz="685835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050" dirty="0">
                <a:latin typeface="+mn-lt"/>
                <a:ea typeface="굴림" panose="020B0600000101010101" pitchFamily="50" charset="-127"/>
              </a:rPr>
              <a:t>(Power Supply for Analog)</a:t>
            </a:r>
          </a:p>
        </p:txBody>
      </p:sp>
      <p:sp>
        <p:nvSpPr>
          <p:cNvPr id="98" name="직사각형 97">
            <a:extLst>
              <a:ext uri="{FF2B5EF4-FFF2-40B4-BE49-F238E27FC236}">
                <a16:creationId xmlns:a16="http://schemas.microsoft.com/office/drawing/2014/main" id="{B582B3D5-02A3-4346-B518-7F43BE69E252}"/>
              </a:ext>
            </a:extLst>
          </p:cNvPr>
          <p:cNvSpPr/>
          <p:nvPr/>
        </p:nvSpPr>
        <p:spPr bwMode="auto">
          <a:xfrm>
            <a:off x="3581502" y="1873647"/>
            <a:ext cx="1915000" cy="48600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algn="ctr" defTabSz="685835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200" dirty="0">
                <a:latin typeface="+mn-lt"/>
                <a:ea typeface="굴림" panose="020B0600000101010101" pitchFamily="50" charset="-127"/>
              </a:rPr>
              <a:t>PSD</a:t>
            </a:r>
          </a:p>
          <a:p>
            <a:pPr algn="ctr" defTabSz="685835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050" dirty="0">
                <a:latin typeface="+mn-lt"/>
                <a:ea typeface="굴림" panose="020B0600000101010101" pitchFamily="50" charset="-127"/>
              </a:rPr>
              <a:t>(Power Supply for Digital)</a:t>
            </a:r>
          </a:p>
        </p:txBody>
      </p:sp>
      <p:cxnSp>
        <p:nvCxnSpPr>
          <p:cNvPr id="99" name="꺾인 연결선 34">
            <a:extLst>
              <a:ext uri="{FF2B5EF4-FFF2-40B4-BE49-F238E27FC236}">
                <a16:creationId xmlns:a16="http://schemas.microsoft.com/office/drawing/2014/main" id="{8D9ADD16-1E21-42D2-BDAA-6E19E021D1AE}"/>
              </a:ext>
            </a:extLst>
          </p:cNvPr>
          <p:cNvCxnSpPr>
            <a:cxnSpLocks/>
            <a:stCxn id="114" idx="2"/>
            <a:endCxn id="97" idx="1"/>
          </p:cNvCxnSpPr>
          <p:nvPr/>
        </p:nvCxnSpPr>
        <p:spPr>
          <a:xfrm rot="16200000" flipH="1">
            <a:off x="2319667" y="4525654"/>
            <a:ext cx="564746" cy="1958919"/>
          </a:xfrm>
          <a:prstGeom prst="bentConnector2">
            <a:avLst/>
          </a:prstGeom>
          <a:ln w="63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직사각형 99">
            <a:extLst>
              <a:ext uri="{FF2B5EF4-FFF2-40B4-BE49-F238E27FC236}">
                <a16:creationId xmlns:a16="http://schemas.microsoft.com/office/drawing/2014/main" id="{4C31163C-E0A1-4EA3-91F8-53B24AEE20C8}"/>
              </a:ext>
            </a:extLst>
          </p:cNvPr>
          <p:cNvSpPr/>
          <p:nvPr/>
        </p:nvSpPr>
        <p:spPr bwMode="auto">
          <a:xfrm>
            <a:off x="1553227" y="2218040"/>
            <a:ext cx="0" cy="0"/>
          </a:xfrm>
          <a:prstGeom prst="rect">
            <a:avLst/>
          </a:prstGeom>
          <a:solidFill>
            <a:schemeClr val="accent1"/>
          </a:solidFill>
          <a:ln w="6350" cap="flat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algn="ctr" defTabSz="685835" fontAlgn="base">
              <a:spcBef>
                <a:spcPct val="0"/>
              </a:spcBef>
              <a:spcAft>
                <a:spcPct val="0"/>
              </a:spcAft>
            </a:pPr>
            <a:endParaRPr lang="en-US" altLang="ko-KR" sz="900" dirty="0">
              <a:latin typeface="+mn-lt"/>
              <a:cs typeface="Arial" panose="020B0604020202020204" pitchFamily="34" charset="0"/>
            </a:endParaRPr>
          </a:p>
        </p:txBody>
      </p:sp>
      <p:grpSp>
        <p:nvGrpSpPr>
          <p:cNvPr id="101" name="그룹 100">
            <a:extLst>
              <a:ext uri="{FF2B5EF4-FFF2-40B4-BE49-F238E27FC236}">
                <a16:creationId xmlns:a16="http://schemas.microsoft.com/office/drawing/2014/main" id="{5BC893FE-3448-43FA-92DE-8790A9E004EF}"/>
              </a:ext>
            </a:extLst>
          </p:cNvPr>
          <p:cNvGrpSpPr/>
          <p:nvPr/>
        </p:nvGrpSpPr>
        <p:grpSpPr>
          <a:xfrm>
            <a:off x="1583431" y="2018389"/>
            <a:ext cx="81000" cy="84870"/>
            <a:chOff x="9621427" y="5156166"/>
            <a:chExt cx="108000" cy="113159"/>
          </a:xfrm>
        </p:grpSpPr>
        <p:sp>
          <p:nvSpPr>
            <p:cNvPr id="102" name="직사각형 101">
              <a:extLst>
                <a:ext uri="{FF2B5EF4-FFF2-40B4-BE49-F238E27FC236}">
                  <a16:creationId xmlns:a16="http://schemas.microsoft.com/office/drawing/2014/main" id="{4242AACC-4E74-4CDB-87D4-6102E2F17171}"/>
                </a:ext>
              </a:extLst>
            </p:cNvPr>
            <p:cNvSpPr/>
            <p:nvPr/>
          </p:nvSpPr>
          <p:spPr bwMode="auto">
            <a:xfrm>
              <a:off x="9621427" y="5158745"/>
              <a:ext cx="104400" cy="104400"/>
            </a:xfrm>
            <a:prstGeom prst="rect">
              <a:avLst/>
            </a:prstGeom>
            <a:solidFill>
              <a:schemeClr val="bg1">
                <a:alpha val="0"/>
              </a:schemeClr>
            </a:solidFill>
            <a:ln w="6350" cap="flat" cmpd="sng" algn="ctr">
              <a:noFill/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68580" tIns="34290" rIns="68580" bIns="34290" numCol="1" rtlCol="0" anchor="t" anchorCtr="0" compatLnSpc="1">
              <a:prstTxWarp prst="textNoShape">
                <a:avLst/>
              </a:prstTxWarp>
            </a:bodyPr>
            <a:lstStyle/>
            <a:p>
              <a:pPr algn="ctr" defTabSz="685835" fontAlgn="base">
                <a:spcBef>
                  <a:spcPct val="0"/>
                </a:spcBef>
                <a:spcAft>
                  <a:spcPct val="0"/>
                </a:spcAft>
              </a:pPr>
              <a:endParaRPr lang="en-US" altLang="ko-KR" sz="900" dirty="0">
                <a:latin typeface="+mn-lt"/>
                <a:cs typeface="Arial" panose="020B0604020202020204" pitchFamily="34" charset="0"/>
              </a:endParaRPr>
            </a:p>
          </p:txBody>
        </p:sp>
        <p:grpSp>
          <p:nvGrpSpPr>
            <p:cNvPr id="103" name="그룹 102">
              <a:extLst>
                <a:ext uri="{FF2B5EF4-FFF2-40B4-BE49-F238E27FC236}">
                  <a16:creationId xmlns:a16="http://schemas.microsoft.com/office/drawing/2014/main" id="{5598F04B-AEC7-42D0-B9F3-A0A0DD1994BD}"/>
                </a:ext>
              </a:extLst>
            </p:cNvPr>
            <p:cNvGrpSpPr/>
            <p:nvPr/>
          </p:nvGrpSpPr>
          <p:grpSpPr>
            <a:xfrm>
              <a:off x="9621427" y="5156166"/>
              <a:ext cx="108000" cy="113159"/>
              <a:chOff x="10846836" y="2933955"/>
              <a:chExt cx="108000" cy="113159"/>
            </a:xfrm>
          </p:grpSpPr>
          <p:sp>
            <p:nvSpPr>
              <p:cNvPr id="104" name="원호 103">
                <a:extLst>
                  <a:ext uri="{FF2B5EF4-FFF2-40B4-BE49-F238E27FC236}">
                    <a16:creationId xmlns:a16="http://schemas.microsoft.com/office/drawing/2014/main" id="{B1BC64D8-2EA9-4BF8-9F92-B160E62D1EC2}"/>
                  </a:ext>
                </a:extLst>
              </p:cNvPr>
              <p:cNvSpPr/>
              <p:nvPr/>
            </p:nvSpPr>
            <p:spPr>
              <a:xfrm>
                <a:off x="10846836" y="2939114"/>
                <a:ext cx="108000" cy="108000"/>
              </a:xfrm>
              <a:prstGeom prst="arc">
                <a:avLst/>
              </a:prstGeom>
              <a:ln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 sz="1350"/>
              </a:p>
            </p:txBody>
          </p:sp>
          <p:sp>
            <p:nvSpPr>
              <p:cNvPr id="105" name="원호 104">
                <a:extLst>
                  <a:ext uri="{FF2B5EF4-FFF2-40B4-BE49-F238E27FC236}">
                    <a16:creationId xmlns:a16="http://schemas.microsoft.com/office/drawing/2014/main" id="{1E16F7F8-F7BF-4F7D-B06D-9C11BF322147}"/>
                  </a:ext>
                </a:extLst>
              </p:cNvPr>
              <p:cNvSpPr/>
              <p:nvPr/>
            </p:nvSpPr>
            <p:spPr>
              <a:xfrm rot="5400000">
                <a:off x="10846836" y="2933955"/>
                <a:ext cx="108000" cy="108000"/>
              </a:xfrm>
              <a:prstGeom prst="arc">
                <a:avLst/>
              </a:prstGeom>
              <a:ln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 sz="1350"/>
              </a:p>
            </p:txBody>
          </p:sp>
        </p:grpSp>
      </p:grpSp>
      <p:sp>
        <p:nvSpPr>
          <p:cNvPr id="106" name="직사각형 105">
            <a:extLst>
              <a:ext uri="{FF2B5EF4-FFF2-40B4-BE49-F238E27FC236}">
                <a16:creationId xmlns:a16="http://schemas.microsoft.com/office/drawing/2014/main" id="{7DE70CD1-1541-480B-83C5-BADD69586F9F}"/>
              </a:ext>
            </a:extLst>
          </p:cNvPr>
          <p:cNvSpPr/>
          <p:nvPr/>
        </p:nvSpPr>
        <p:spPr bwMode="auto">
          <a:xfrm>
            <a:off x="1603565" y="2758602"/>
            <a:ext cx="0" cy="0"/>
          </a:xfrm>
          <a:prstGeom prst="rect">
            <a:avLst/>
          </a:prstGeom>
          <a:solidFill>
            <a:schemeClr val="accent1"/>
          </a:solidFill>
          <a:ln w="6350" cap="flat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algn="ctr" defTabSz="685835" fontAlgn="base">
              <a:spcBef>
                <a:spcPct val="0"/>
              </a:spcBef>
              <a:spcAft>
                <a:spcPct val="0"/>
              </a:spcAft>
            </a:pPr>
            <a:endParaRPr lang="en-US" altLang="ko-KR" sz="900" dirty="0">
              <a:latin typeface="+mn-lt"/>
              <a:cs typeface="Arial" panose="020B0604020202020204" pitchFamily="34" charset="0"/>
            </a:endParaRPr>
          </a:p>
        </p:txBody>
      </p:sp>
      <p:grpSp>
        <p:nvGrpSpPr>
          <p:cNvPr id="107" name="그룹 106">
            <a:extLst>
              <a:ext uri="{FF2B5EF4-FFF2-40B4-BE49-F238E27FC236}">
                <a16:creationId xmlns:a16="http://schemas.microsoft.com/office/drawing/2014/main" id="{25245724-8979-4DD8-8396-A3D66A83615F}"/>
              </a:ext>
            </a:extLst>
          </p:cNvPr>
          <p:cNvGrpSpPr/>
          <p:nvPr/>
        </p:nvGrpSpPr>
        <p:grpSpPr>
          <a:xfrm>
            <a:off x="1583431" y="2578000"/>
            <a:ext cx="81000" cy="354042"/>
            <a:chOff x="9621427" y="5156166"/>
            <a:chExt cx="108000" cy="113159"/>
          </a:xfrm>
        </p:grpSpPr>
        <p:sp>
          <p:nvSpPr>
            <p:cNvPr id="108" name="직사각형 107">
              <a:extLst>
                <a:ext uri="{FF2B5EF4-FFF2-40B4-BE49-F238E27FC236}">
                  <a16:creationId xmlns:a16="http://schemas.microsoft.com/office/drawing/2014/main" id="{7163B0E8-8E5B-49B0-8E76-D883C6BC56F7}"/>
                </a:ext>
              </a:extLst>
            </p:cNvPr>
            <p:cNvSpPr/>
            <p:nvPr/>
          </p:nvSpPr>
          <p:spPr bwMode="auto">
            <a:xfrm>
              <a:off x="9621427" y="5158745"/>
              <a:ext cx="104400" cy="104400"/>
            </a:xfrm>
            <a:prstGeom prst="rect">
              <a:avLst/>
            </a:prstGeom>
            <a:solidFill>
              <a:schemeClr val="bg1">
                <a:alpha val="0"/>
              </a:schemeClr>
            </a:solidFill>
            <a:ln w="6350" cap="flat" cmpd="sng" algn="ctr">
              <a:noFill/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68580" tIns="34290" rIns="68580" bIns="34290" numCol="1" rtlCol="0" anchor="t" anchorCtr="0" compatLnSpc="1">
              <a:prstTxWarp prst="textNoShape">
                <a:avLst/>
              </a:prstTxWarp>
            </a:bodyPr>
            <a:lstStyle/>
            <a:p>
              <a:pPr algn="ctr" defTabSz="685835" fontAlgn="base">
                <a:spcBef>
                  <a:spcPct val="0"/>
                </a:spcBef>
                <a:spcAft>
                  <a:spcPct val="0"/>
                </a:spcAft>
              </a:pPr>
              <a:endParaRPr lang="en-US" altLang="ko-KR" sz="900" dirty="0">
                <a:latin typeface="+mn-lt"/>
                <a:cs typeface="Arial" panose="020B0604020202020204" pitchFamily="34" charset="0"/>
              </a:endParaRPr>
            </a:p>
          </p:txBody>
        </p:sp>
        <p:grpSp>
          <p:nvGrpSpPr>
            <p:cNvPr id="109" name="그룹 108">
              <a:extLst>
                <a:ext uri="{FF2B5EF4-FFF2-40B4-BE49-F238E27FC236}">
                  <a16:creationId xmlns:a16="http://schemas.microsoft.com/office/drawing/2014/main" id="{EC148E52-0754-41BF-AEE4-07936474C89C}"/>
                </a:ext>
              </a:extLst>
            </p:cNvPr>
            <p:cNvGrpSpPr/>
            <p:nvPr/>
          </p:nvGrpSpPr>
          <p:grpSpPr>
            <a:xfrm>
              <a:off x="9621427" y="5156166"/>
              <a:ext cx="108000" cy="113159"/>
              <a:chOff x="10846836" y="2933955"/>
              <a:chExt cx="108000" cy="113159"/>
            </a:xfrm>
          </p:grpSpPr>
          <p:sp>
            <p:nvSpPr>
              <p:cNvPr id="110" name="원호 109">
                <a:extLst>
                  <a:ext uri="{FF2B5EF4-FFF2-40B4-BE49-F238E27FC236}">
                    <a16:creationId xmlns:a16="http://schemas.microsoft.com/office/drawing/2014/main" id="{BF49095C-CCD9-4A93-80B0-0610083023A8}"/>
                  </a:ext>
                </a:extLst>
              </p:cNvPr>
              <p:cNvSpPr/>
              <p:nvPr/>
            </p:nvSpPr>
            <p:spPr>
              <a:xfrm>
                <a:off x="10846836" y="2939114"/>
                <a:ext cx="108000" cy="108000"/>
              </a:xfrm>
              <a:prstGeom prst="arc">
                <a:avLst/>
              </a:prstGeom>
              <a:ln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 sz="1350"/>
              </a:p>
            </p:txBody>
          </p:sp>
          <p:sp>
            <p:nvSpPr>
              <p:cNvPr id="111" name="원호 110">
                <a:extLst>
                  <a:ext uri="{FF2B5EF4-FFF2-40B4-BE49-F238E27FC236}">
                    <a16:creationId xmlns:a16="http://schemas.microsoft.com/office/drawing/2014/main" id="{EEB82B8D-C9B0-4699-9753-52372A219B0E}"/>
                  </a:ext>
                </a:extLst>
              </p:cNvPr>
              <p:cNvSpPr/>
              <p:nvPr/>
            </p:nvSpPr>
            <p:spPr>
              <a:xfrm rot="5400000">
                <a:off x="10846836" y="2933955"/>
                <a:ext cx="108000" cy="108000"/>
              </a:xfrm>
              <a:prstGeom prst="arc">
                <a:avLst/>
              </a:prstGeom>
              <a:ln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 sz="1350"/>
              </a:p>
            </p:txBody>
          </p:sp>
        </p:grpSp>
      </p:grpSp>
      <p:cxnSp>
        <p:nvCxnSpPr>
          <p:cNvPr id="112" name="직선 화살표 연결선 111">
            <a:extLst>
              <a:ext uri="{FF2B5EF4-FFF2-40B4-BE49-F238E27FC236}">
                <a16:creationId xmlns:a16="http://schemas.microsoft.com/office/drawing/2014/main" id="{73F6BE5E-7759-47D4-96B8-5F12ED60487F}"/>
              </a:ext>
            </a:extLst>
          </p:cNvPr>
          <p:cNvCxnSpPr>
            <a:cxnSpLocks/>
            <a:stCxn id="108" idx="0"/>
            <a:endCxn id="102" idx="2"/>
          </p:cNvCxnSpPr>
          <p:nvPr/>
        </p:nvCxnSpPr>
        <p:spPr bwMode="auto">
          <a:xfrm flipV="1">
            <a:off x="1622581" y="2098625"/>
            <a:ext cx="0" cy="487446"/>
          </a:xfrm>
          <a:prstGeom prst="straightConnector1">
            <a:avLst/>
          </a:prstGeom>
          <a:solidFill>
            <a:schemeClr val="accent1"/>
          </a:solidFill>
          <a:ln w="63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113" name="그룹 112">
            <a:extLst>
              <a:ext uri="{FF2B5EF4-FFF2-40B4-BE49-F238E27FC236}">
                <a16:creationId xmlns:a16="http://schemas.microsoft.com/office/drawing/2014/main" id="{1F580562-1C9D-4DCD-B495-5840912415AF}"/>
              </a:ext>
            </a:extLst>
          </p:cNvPr>
          <p:cNvGrpSpPr/>
          <p:nvPr/>
        </p:nvGrpSpPr>
        <p:grpSpPr>
          <a:xfrm>
            <a:off x="1583431" y="5142507"/>
            <a:ext cx="81000" cy="84870"/>
            <a:chOff x="9621427" y="5156166"/>
            <a:chExt cx="108000" cy="113159"/>
          </a:xfrm>
        </p:grpSpPr>
        <p:sp>
          <p:nvSpPr>
            <p:cNvPr id="114" name="직사각형 113">
              <a:extLst>
                <a:ext uri="{FF2B5EF4-FFF2-40B4-BE49-F238E27FC236}">
                  <a16:creationId xmlns:a16="http://schemas.microsoft.com/office/drawing/2014/main" id="{D5D2E226-F4F8-47B6-9CDE-D07A70B528C0}"/>
                </a:ext>
              </a:extLst>
            </p:cNvPr>
            <p:cNvSpPr/>
            <p:nvPr/>
          </p:nvSpPr>
          <p:spPr bwMode="auto">
            <a:xfrm>
              <a:off x="9621427" y="5158745"/>
              <a:ext cx="104400" cy="104400"/>
            </a:xfrm>
            <a:prstGeom prst="rect">
              <a:avLst/>
            </a:prstGeom>
            <a:solidFill>
              <a:schemeClr val="bg1">
                <a:alpha val="0"/>
              </a:schemeClr>
            </a:solidFill>
            <a:ln w="6350" cap="flat" cmpd="sng" algn="ctr">
              <a:noFill/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68580" tIns="34290" rIns="68580" bIns="34290" numCol="1" rtlCol="0" anchor="t" anchorCtr="0" compatLnSpc="1">
              <a:prstTxWarp prst="textNoShape">
                <a:avLst/>
              </a:prstTxWarp>
            </a:bodyPr>
            <a:lstStyle/>
            <a:p>
              <a:pPr algn="ctr" defTabSz="685835" fontAlgn="base">
                <a:spcBef>
                  <a:spcPct val="0"/>
                </a:spcBef>
                <a:spcAft>
                  <a:spcPct val="0"/>
                </a:spcAft>
              </a:pPr>
              <a:endParaRPr lang="en-US" altLang="ko-KR" sz="900" dirty="0">
                <a:latin typeface="+mn-lt"/>
                <a:cs typeface="Arial" panose="020B0604020202020204" pitchFamily="34" charset="0"/>
              </a:endParaRPr>
            </a:p>
          </p:txBody>
        </p:sp>
        <p:grpSp>
          <p:nvGrpSpPr>
            <p:cNvPr id="115" name="그룹 114">
              <a:extLst>
                <a:ext uri="{FF2B5EF4-FFF2-40B4-BE49-F238E27FC236}">
                  <a16:creationId xmlns:a16="http://schemas.microsoft.com/office/drawing/2014/main" id="{DBC41E2D-EE62-4BDC-A692-E32ABDDFEBDD}"/>
                </a:ext>
              </a:extLst>
            </p:cNvPr>
            <p:cNvGrpSpPr/>
            <p:nvPr/>
          </p:nvGrpSpPr>
          <p:grpSpPr>
            <a:xfrm>
              <a:off x="9621427" y="5156166"/>
              <a:ext cx="108000" cy="113159"/>
              <a:chOff x="10846836" y="2933955"/>
              <a:chExt cx="108000" cy="113159"/>
            </a:xfrm>
          </p:grpSpPr>
          <p:sp>
            <p:nvSpPr>
              <p:cNvPr id="116" name="원호 115">
                <a:extLst>
                  <a:ext uri="{FF2B5EF4-FFF2-40B4-BE49-F238E27FC236}">
                    <a16:creationId xmlns:a16="http://schemas.microsoft.com/office/drawing/2014/main" id="{921E10F8-CD26-48FA-95AC-50811CE92E91}"/>
                  </a:ext>
                </a:extLst>
              </p:cNvPr>
              <p:cNvSpPr/>
              <p:nvPr/>
            </p:nvSpPr>
            <p:spPr>
              <a:xfrm>
                <a:off x="10846836" y="2939114"/>
                <a:ext cx="108000" cy="108000"/>
              </a:xfrm>
              <a:prstGeom prst="arc">
                <a:avLst/>
              </a:prstGeom>
              <a:ln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 sz="1350"/>
              </a:p>
            </p:txBody>
          </p:sp>
          <p:sp>
            <p:nvSpPr>
              <p:cNvPr id="117" name="원호 116">
                <a:extLst>
                  <a:ext uri="{FF2B5EF4-FFF2-40B4-BE49-F238E27FC236}">
                    <a16:creationId xmlns:a16="http://schemas.microsoft.com/office/drawing/2014/main" id="{C757F0D9-190E-4610-BD33-EC08F617424A}"/>
                  </a:ext>
                </a:extLst>
              </p:cNvPr>
              <p:cNvSpPr/>
              <p:nvPr/>
            </p:nvSpPr>
            <p:spPr>
              <a:xfrm rot="5400000">
                <a:off x="10846836" y="2933955"/>
                <a:ext cx="108000" cy="108000"/>
              </a:xfrm>
              <a:prstGeom prst="arc">
                <a:avLst/>
              </a:prstGeom>
              <a:ln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 sz="1350"/>
              </a:p>
            </p:txBody>
          </p:sp>
        </p:grpSp>
      </p:grpSp>
      <p:cxnSp>
        <p:nvCxnSpPr>
          <p:cNvPr id="118" name="직선 화살표 연결선 117">
            <a:extLst>
              <a:ext uri="{FF2B5EF4-FFF2-40B4-BE49-F238E27FC236}">
                <a16:creationId xmlns:a16="http://schemas.microsoft.com/office/drawing/2014/main" id="{99ABE94B-F66D-49BB-BE0C-0642E8129500}"/>
              </a:ext>
            </a:extLst>
          </p:cNvPr>
          <p:cNvCxnSpPr>
            <a:cxnSpLocks/>
            <a:stCxn id="114" idx="0"/>
            <a:endCxn id="108" idx="2"/>
          </p:cNvCxnSpPr>
          <p:nvPr/>
        </p:nvCxnSpPr>
        <p:spPr bwMode="auto">
          <a:xfrm flipV="1">
            <a:off x="1622581" y="2912708"/>
            <a:ext cx="0" cy="2231734"/>
          </a:xfrm>
          <a:prstGeom prst="straightConnector1">
            <a:avLst/>
          </a:prstGeom>
          <a:solidFill>
            <a:schemeClr val="accent1"/>
          </a:solidFill>
          <a:ln w="63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19" name="직선 화살표 연결선 118">
            <a:extLst>
              <a:ext uri="{FF2B5EF4-FFF2-40B4-BE49-F238E27FC236}">
                <a16:creationId xmlns:a16="http://schemas.microsoft.com/office/drawing/2014/main" id="{C40A99EB-23F7-463A-AC97-1359F4A69157}"/>
              </a:ext>
            </a:extLst>
          </p:cNvPr>
          <p:cNvCxnSpPr>
            <a:cxnSpLocks/>
            <a:stCxn id="46" idx="1"/>
            <a:endCxn id="89" idx="3"/>
          </p:cNvCxnSpPr>
          <p:nvPr/>
        </p:nvCxnSpPr>
        <p:spPr bwMode="auto">
          <a:xfrm flipH="1">
            <a:off x="1351564" y="1934534"/>
            <a:ext cx="2229936" cy="0"/>
          </a:xfrm>
          <a:prstGeom prst="straightConnector1">
            <a:avLst/>
          </a:prstGeom>
          <a:solidFill>
            <a:schemeClr val="accent1"/>
          </a:solidFill>
          <a:ln w="6350" cap="flat" cmpd="sng" algn="ctr">
            <a:solidFill>
              <a:srgbClr val="FF0000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20" name="꺾인 연결선 34">
            <a:extLst>
              <a:ext uri="{FF2B5EF4-FFF2-40B4-BE49-F238E27FC236}">
                <a16:creationId xmlns:a16="http://schemas.microsoft.com/office/drawing/2014/main" id="{9D64FC55-BBDC-49C4-B837-C3543E94A9C3}"/>
              </a:ext>
            </a:extLst>
          </p:cNvPr>
          <p:cNvCxnSpPr>
            <a:cxnSpLocks/>
            <a:stCxn id="89" idx="3"/>
            <a:endCxn id="102" idx="0"/>
          </p:cNvCxnSpPr>
          <p:nvPr/>
        </p:nvCxnSpPr>
        <p:spPr>
          <a:xfrm>
            <a:off x="1351564" y="1934534"/>
            <a:ext cx="271017" cy="85789"/>
          </a:xfrm>
          <a:prstGeom prst="bentConnector2">
            <a:avLst/>
          </a:prstGeom>
          <a:ln w="6350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직선 화살표 연결선 120">
            <a:extLst>
              <a:ext uri="{FF2B5EF4-FFF2-40B4-BE49-F238E27FC236}">
                <a16:creationId xmlns:a16="http://schemas.microsoft.com/office/drawing/2014/main" id="{3704D4F1-AF81-4247-B818-7E3C79C6665F}"/>
              </a:ext>
            </a:extLst>
          </p:cNvPr>
          <p:cNvCxnSpPr>
            <a:cxnSpLocks/>
            <a:stCxn id="80" idx="3"/>
            <a:endCxn id="49" idx="1"/>
          </p:cNvCxnSpPr>
          <p:nvPr/>
        </p:nvCxnSpPr>
        <p:spPr bwMode="auto">
          <a:xfrm>
            <a:off x="1351564" y="2633471"/>
            <a:ext cx="2229936" cy="0"/>
          </a:xfrm>
          <a:prstGeom prst="straightConnector1">
            <a:avLst/>
          </a:prstGeom>
          <a:solidFill>
            <a:schemeClr val="accent1"/>
          </a:solidFill>
          <a:ln w="6350" cap="flat" cmpd="sng" algn="ctr">
            <a:solidFill>
              <a:srgbClr val="0070C0"/>
            </a:solidFill>
            <a:prstDash val="solid"/>
            <a:round/>
            <a:headEnd type="triangl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22" name="직선 화살표 연결선 121">
            <a:extLst>
              <a:ext uri="{FF2B5EF4-FFF2-40B4-BE49-F238E27FC236}">
                <a16:creationId xmlns:a16="http://schemas.microsoft.com/office/drawing/2014/main" id="{89B910C3-C71B-4085-AE94-080A577F21CE}"/>
              </a:ext>
            </a:extLst>
          </p:cNvPr>
          <p:cNvCxnSpPr>
            <a:cxnSpLocks/>
            <a:endCxn id="48" idx="1"/>
          </p:cNvCxnSpPr>
          <p:nvPr/>
        </p:nvCxnSpPr>
        <p:spPr bwMode="auto">
          <a:xfrm>
            <a:off x="1351564" y="2704960"/>
            <a:ext cx="2229936" cy="0"/>
          </a:xfrm>
          <a:prstGeom prst="straightConnector1">
            <a:avLst/>
          </a:prstGeom>
          <a:solidFill>
            <a:schemeClr val="accent1"/>
          </a:solidFill>
          <a:ln w="6350" cap="flat" cmpd="sng" algn="ctr">
            <a:solidFill>
              <a:srgbClr val="0070C0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23" name="직사각형 122">
            <a:extLst>
              <a:ext uri="{FF2B5EF4-FFF2-40B4-BE49-F238E27FC236}">
                <a16:creationId xmlns:a16="http://schemas.microsoft.com/office/drawing/2014/main" id="{68B0E201-EFA5-4812-BFFD-5DA7655EAF87}"/>
              </a:ext>
            </a:extLst>
          </p:cNvPr>
          <p:cNvSpPr/>
          <p:nvPr/>
        </p:nvSpPr>
        <p:spPr>
          <a:xfrm>
            <a:off x="2816201" y="2265281"/>
            <a:ext cx="641522" cy="3231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750" dirty="0">
                <a:solidFill>
                  <a:srgbClr val="FF0000"/>
                </a:solidFill>
                <a:latin typeface="+mn-lt"/>
                <a:cs typeface="Arial" panose="020B0604020202020204" pitchFamily="34" charset="0"/>
              </a:rPr>
              <a:t>Secondary</a:t>
            </a:r>
          </a:p>
          <a:p>
            <a:pPr algn="ctr"/>
            <a:r>
              <a:rPr lang="en-US" altLang="ko-KR" sz="750" dirty="0">
                <a:solidFill>
                  <a:srgbClr val="FF0000"/>
                </a:solidFill>
                <a:latin typeface="+mn-lt"/>
                <a:cs typeface="Arial" panose="020B0604020202020204" pitchFamily="34" charset="0"/>
              </a:rPr>
              <a:t>Voltage</a:t>
            </a:r>
            <a:endParaRPr lang="ko-KR" altLang="en-US" sz="750" dirty="0">
              <a:solidFill>
                <a:srgbClr val="FF0000"/>
              </a:solidFill>
              <a:latin typeface="+mn-lt"/>
              <a:cs typeface="Arial" panose="020B0604020202020204" pitchFamily="34" charset="0"/>
            </a:endParaRPr>
          </a:p>
        </p:txBody>
      </p:sp>
      <p:cxnSp>
        <p:nvCxnSpPr>
          <p:cNvPr id="124" name="꺾인 연결선 34">
            <a:extLst>
              <a:ext uri="{FF2B5EF4-FFF2-40B4-BE49-F238E27FC236}">
                <a16:creationId xmlns:a16="http://schemas.microsoft.com/office/drawing/2014/main" id="{7AA8DAE3-E575-4B1C-810D-82A0C4E04AAD}"/>
              </a:ext>
            </a:extLst>
          </p:cNvPr>
          <p:cNvCxnSpPr>
            <a:cxnSpLocks/>
            <a:stCxn id="128" idx="2"/>
            <a:endCxn id="94" idx="1"/>
          </p:cNvCxnSpPr>
          <p:nvPr/>
        </p:nvCxnSpPr>
        <p:spPr>
          <a:xfrm rot="16200000" flipH="1">
            <a:off x="2863997" y="3234958"/>
            <a:ext cx="556295" cy="878714"/>
          </a:xfrm>
          <a:prstGeom prst="bentConnector2">
            <a:avLst/>
          </a:prstGeom>
          <a:ln w="63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꺾인 연결선 34">
            <a:extLst>
              <a:ext uri="{FF2B5EF4-FFF2-40B4-BE49-F238E27FC236}">
                <a16:creationId xmlns:a16="http://schemas.microsoft.com/office/drawing/2014/main" id="{CCB499CA-059D-46E2-9B95-6E2F8D2E8613}"/>
              </a:ext>
            </a:extLst>
          </p:cNvPr>
          <p:cNvCxnSpPr>
            <a:cxnSpLocks/>
            <a:stCxn id="128" idx="2"/>
            <a:endCxn id="58" idx="1"/>
          </p:cNvCxnSpPr>
          <p:nvPr/>
        </p:nvCxnSpPr>
        <p:spPr>
          <a:xfrm rot="16200000" flipH="1">
            <a:off x="2644860" y="3454095"/>
            <a:ext cx="994570" cy="878714"/>
          </a:xfrm>
          <a:prstGeom prst="bentConnector2">
            <a:avLst/>
          </a:prstGeom>
          <a:ln w="63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꺾인 연결선 34">
            <a:extLst>
              <a:ext uri="{FF2B5EF4-FFF2-40B4-BE49-F238E27FC236}">
                <a16:creationId xmlns:a16="http://schemas.microsoft.com/office/drawing/2014/main" id="{0354E15A-5239-49AA-B86F-466AC25ED9EC}"/>
              </a:ext>
            </a:extLst>
          </p:cNvPr>
          <p:cNvCxnSpPr>
            <a:cxnSpLocks/>
            <a:stCxn id="67" idx="1"/>
            <a:endCxn id="209" idx="2"/>
          </p:cNvCxnSpPr>
          <p:nvPr/>
        </p:nvCxnSpPr>
        <p:spPr>
          <a:xfrm rot="10800000">
            <a:off x="2702006" y="2893618"/>
            <a:ext cx="879494" cy="21733"/>
          </a:xfrm>
          <a:prstGeom prst="bentConnector2">
            <a:avLst/>
          </a:prstGeom>
          <a:ln w="6350">
            <a:solidFill>
              <a:srgbClr val="0070C0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7" name="그룹 126">
            <a:extLst>
              <a:ext uri="{FF2B5EF4-FFF2-40B4-BE49-F238E27FC236}">
                <a16:creationId xmlns:a16="http://schemas.microsoft.com/office/drawing/2014/main" id="{D777353D-797A-47DE-A3E1-976BC9881C86}"/>
              </a:ext>
            </a:extLst>
          </p:cNvPr>
          <p:cNvGrpSpPr/>
          <p:nvPr/>
        </p:nvGrpSpPr>
        <p:grpSpPr>
          <a:xfrm>
            <a:off x="2663635" y="3315933"/>
            <a:ext cx="81000" cy="84870"/>
            <a:chOff x="9621427" y="5156166"/>
            <a:chExt cx="108000" cy="113159"/>
          </a:xfrm>
        </p:grpSpPr>
        <p:sp>
          <p:nvSpPr>
            <p:cNvPr id="128" name="직사각형 127">
              <a:extLst>
                <a:ext uri="{FF2B5EF4-FFF2-40B4-BE49-F238E27FC236}">
                  <a16:creationId xmlns:a16="http://schemas.microsoft.com/office/drawing/2014/main" id="{CE2EF991-96B8-48D3-BF30-07FD7045B433}"/>
                </a:ext>
              </a:extLst>
            </p:cNvPr>
            <p:cNvSpPr/>
            <p:nvPr/>
          </p:nvSpPr>
          <p:spPr bwMode="auto">
            <a:xfrm>
              <a:off x="9621427" y="5158745"/>
              <a:ext cx="104400" cy="104400"/>
            </a:xfrm>
            <a:prstGeom prst="rect">
              <a:avLst/>
            </a:prstGeom>
            <a:solidFill>
              <a:schemeClr val="bg1">
                <a:alpha val="0"/>
              </a:schemeClr>
            </a:solidFill>
            <a:ln w="6350" cap="flat" cmpd="sng" algn="ctr">
              <a:noFill/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68580" tIns="34290" rIns="68580" bIns="34290" numCol="1" rtlCol="0" anchor="t" anchorCtr="0" compatLnSpc="1">
              <a:prstTxWarp prst="textNoShape">
                <a:avLst/>
              </a:prstTxWarp>
            </a:bodyPr>
            <a:lstStyle/>
            <a:p>
              <a:pPr algn="ctr" defTabSz="685835" fontAlgn="base">
                <a:spcBef>
                  <a:spcPct val="0"/>
                </a:spcBef>
                <a:spcAft>
                  <a:spcPct val="0"/>
                </a:spcAft>
              </a:pPr>
              <a:endParaRPr lang="en-US" altLang="ko-KR" sz="900" dirty="0">
                <a:latin typeface="+mn-lt"/>
                <a:cs typeface="Arial" panose="020B0604020202020204" pitchFamily="34" charset="0"/>
              </a:endParaRPr>
            </a:p>
          </p:txBody>
        </p:sp>
        <p:grpSp>
          <p:nvGrpSpPr>
            <p:cNvPr id="129" name="그룹 128">
              <a:extLst>
                <a:ext uri="{FF2B5EF4-FFF2-40B4-BE49-F238E27FC236}">
                  <a16:creationId xmlns:a16="http://schemas.microsoft.com/office/drawing/2014/main" id="{D666F117-BF06-40D5-9AE1-173FBA0EBC86}"/>
                </a:ext>
              </a:extLst>
            </p:cNvPr>
            <p:cNvGrpSpPr/>
            <p:nvPr/>
          </p:nvGrpSpPr>
          <p:grpSpPr>
            <a:xfrm>
              <a:off x="9621427" y="5156166"/>
              <a:ext cx="108000" cy="113159"/>
              <a:chOff x="10846836" y="2933955"/>
              <a:chExt cx="108000" cy="113159"/>
            </a:xfrm>
          </p:grpSpPr>
          <p:sp>
            <p:nvSpPr>
              <p:cNvPr id="130" name="원호 129">
                <a:extLst>
                  <a:ext uri="{FF2B5EF4-FFF2-40B4-BE49-F238E27FC236}">
                    <a16:creationId xmlns:a16="http://schemas.microsoft.com/office/drawing/2014/main" id="{D8751A70-0B1A-44AB-BE5D-09AE067A762E}"/>
                  </a:ext>
                </a:extLst>
              </p:cNvPr>
              <p:cNvSpPr/>
              <p:nvPr/>
            </p:nvSpPr>
            <p:spPr>
              <a:xfrm>
                <a:off x="10846836" y="2939114"/>
                <a:ext cx="108000" cy="108000"/>
              </a:xfrm>
              <a:prstGeom prst="arc">
                <a:avLst/>
              </a:prstGeom>
              <a:ln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 sz="1350"/>
              </a:p>
            </p:txBody>
          </p:sp>
          <p:sp>
            <p:nvSpPr>
              <p:cNvPr id="131" name="원호 130">
                <a:extLst>
                  <a:ext uri="{FF2B5EF4-FFF2-40B4-BE49-F238E27FC236}">
                    <a16:creationId xmlns:a16="http://schemas.microsoft.com/office/drawing/2014/main" id="{E0440251-4AF7-43D0-9DA8-8D5A1025224C}"/>
                  </a:ext>
                </a:extLst>
              </p:cNvPr>
              <p:cNvSpPr/>
              <p:nvPr/>
            </p:nvSpPr>
            <p:spPr>
              <a:xfrm rot="5400000">
                <a:off x="10846836" y="2933955"/>
                <a:ext cx="108000" cy="108000"/>
              </a:xfrm>
              <a:prstGeom prst="arc">
                <a:avLst/>
              </a:prstGeom>
              <a:ln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 sz="1350"/>
              </a:p>
            </p:txBody>
          </p:sp>
        </p:grpSp>
      </p:grpSp>
      <p:cxnSp>
        <p:nvCxnSpPr>
          <p:cNvPr id="132" name="꺾인 연결선 34">
            <a:extLst>
              <a:ext uri="{FF2B5EF4-FFF2-40B4-BE49-F238E27FC236}">
                <a16:creationId xmlns:a16="http://schemas.microsoft.com/office/drawing/2014/main" id="{2C7E4845-EA06-4B7C-BD03-2677226290E1}"/>
              </a:ext>
            </a:extLst>
          </p:cNvPr>
          <p:cNvCxnSpPr>
            <a:cxnSpLocks/>
            <a:stCxn id="128" idx="2"/>
            <a:endCxn id="62" idx="1"/>
          </p:cNvCxnSpPr>
          <p:nvPr/>
        </p:nvCxnSpPr>
        <p:spPr>
          <a:xfrm rot="16200000" flipH="1">
            <a:off x="2334845" y="3764108"/>
            <a:ext cx="1614596" cy="878714"/>
          </a:xfrm>
          <a:prstGeom prst="bentConnector2">
            <a:avLst/>
          </a:prstGeom>
          <a:ln w="63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꺾인 연결선 34">
            <a:extLst>
              <a:ext uri="{FF2B5EF4-FFF2-40B4-BE49-F238E27FC236}">
                <a16:creationId xmlns:a16="http://schemas.microsoft.com/office/drawing/2014/main" id="{3E112484-87B9-432F-B99D-EAC543437CB2}"/>
              </a:ext>
            </a:extLst>
          </p:cNvPr>
          <p:cNvCxnSpPr>
            <a:cxnSpLocks/>
            <a:stCxn id="128" idx="2"/>
            <a:endCxn id="66" idx="1"/>
          </p:cNvCxnSpPr>
          <p:nvPr/>
        </p:nvCxnSpPr>
        <p:spPr>
          <a:xfrm rot="16200000" flipH="1">
            <a:off x="2014921" y="4084034"/>
            <a:ext cx="2254446" cy="878714"/>
          </a:xfrm>
          <a:prstGeom prst="bentConnector2">
            <a:avLst/>
          </a:prstGeom>
          <a:ln w="63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꺾인 연결선 34">
            <a:extLst>
              <a:ext uri="{FF2B5EF4-FFF2-40B4-BE49-F238E27FC236}">
                <a16:creationId xmlns:a16="http://schemas.microsoft.com/office/drawing/2014/main" id="{B058A54E-FA63-472E-9457-395BCDFE1B53}"/>
              </a:ext>
            </a:extLst>
          </p:cNvPr>
          <p:cNvCxnSpPr>
            <a:cxnSpLocks/>
            <a:stCxn id="209" idx="0"/>
            <a:endCxn id="44" idx="1"/>
          </p:cNvCxnSpPr>
          <p:nvPr/>
        </p:nvCxnSpPr>
        <p:spPr>
          <a:xfrm rot="5400000" flipH="1" flipV="1">
            <a:off x="2937265" y="1942138"/>
            <a:ext cx="408978" cy="879495"/>
          </a:xfrm>
          <a:prstGeom prst="bentConnector2">
            <a:avLst/>
          </a:prstGeom>
          <a:ln w="63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5" name="직사각형 134">
            <a:extLst>
              <a:ext uri="{FF2B5EF4-FFF2-40B4-BE49-F238E27FC236}">
                <a16:creationId xmlns:a16="http://schemas.microsoft.com/office/drawing/2014/main" id="{82FEC224-0E7D-467A-98D0-AA38E1762E02}"/>
              </a:ext>
            </a:extLst>
          </p:cNvPr>
          <p:cNvSpPr/>
          <p:nvPr/>
        </p:nvSpPr>
        <p:spPr>
          <a:xfrm>
            <a:off x="1906939" y="2993969"/>
            <a:ext cx="872355" cy="3231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750" dirty="0">
                <a:solidFill>
                  <a:srgbClr val="0070C0"/>
                </a:solidFill>
                <a:latin typeface="+mn-lt"/>
                <a:cs typeface="Arial" panose="020B0604020202020204" pitchFamily="34" charset="0"/>
              </a:rPr>
              <a:t>Monitoring</a:t>
            </a:r>
          </a:p>
          <a:p>
            <a:pPr algn="ctr"/>
            <a:r>
              <a:rPr lang="en-US" altLang="ko-KR" sz="750" dirty="0">
                <a:solidFill>
                  <a:srgbClr val="0070C0"/>
                </a:solidFill>
                <a:latin typeface="+mn-lt"/>
                <a:cs typeface="Arial" panose="020B0604020202020204" pitchFamily="34" charset="0"/>
              </a:rPr>
              <a:t>(Temp, Voltage)</a:t>
            </a:r>
          </a:p>
        </p:txBody>
      </p:sp>
      <p:sp>
        <p:nvSpPr>
          <p:cNvPr id="136" name="직사각형 135">
            <a:extLst>
              <a:ext uri="{FF2B5EF4-FFF2-40B4-BE49-F238E27FC236}">
                <a16:creationId xmlns:a16="http://schemas.microsoft.com/office/drawing/2014/main" id="{4A6E4DA2-7A9C-4CD2-A991-8B700150D272}"/>
              </a:ext>
            </a:extLst>
          </p:cNvPr>
          <p:cNvSpPr/>
          <p:nvPr/>
        </p:nvSpPr>
        <p:spPr>
          <a:xfrm>
            <a:off x="904098" y="1840180"/>
            <a:ext cx="437941" cy="20774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altLang="ko-KR" sz="750" dirty="0">
                <a:solidFill>
                  <a:srgbClr val="FF0000"/>
                </a:solidFill>
                <a:latin typeface="+mn-lt"/>
                <a:cs typeface="Arial" panose="020B0604020202020204" pitchFamily="34" charset="0"/>
              </a:rPr>
              <a:t>+28 V</a:t>
            </a:r>
            <a:endParaRPr lang="ko-KR" altLang="en-US" sz="750" dirty="0">
              <a:solidFill>
                <a:srgbClr val="FF0000"/>
              </a:solidFill>
              <a:latin typeface="+mn-lt"/>
              <a:cs typeface="Arial" panose="020B0604020202020204" pitchFamily="34" charset="0"/>
            </a:endParaRPr>
          </a:p>
        </p:txBody>
      </p:sp>
      <p:cxnSp>
        <p:nvCxnSpPr>
          <p:cNvPr id="137" name="꺾인 연결선 34">
            <a:extLst>
              <a:ext uri="{FF2B5EF4-FFF2-40B4-BE49-F238E27FC236}">
                <a16:creationId xmlns:a16="http://schemas.microsoft.com/office/drawing/2014/main" id="{E1241D3C-9FBE-4A19-A122-8F80D34EFA6D}"/>
              </a:ext>
            </a:extLst>
          </p:cNvPr>
          <p:cNvCxnSpPr>
            <a:cxnSpLocks/>
            <a:stCxn id="249" idx="2"/>
            <a:endCxn id="29" idx="3"/>
          </p:cNvCxnSpPr>
          <p:nvPr/>
        </p:nvCxnSpPr>
        <p:spPr>
          <a:xfrm rot="5400000">
            <a:off x="5661771" y="3356963"/>
            <a:ext cx="244147" cy="582530"/>
          </a:xfrm>
          <a:prstGeom prst="bentConnector2">
            <a:avLst/>
          </a:prstGeom>
          <a:ln w="63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꺾인 연결선 34">
            <a:extLst>
              <a:ext uri="{FF2B5EF4-FFF2-40B4-BE49-F238E27FC236}">
                <a16:creationId xmlns:a16="http://schemas.microsoft.com/office/drawing/2014/main" id="{F69B0A16-EE2A-4307-B019-8A03D591C452}"/>
              </a:ext>
            </a:extLst>
          </p:cNvPr>
          <p:cNvCxnSpPr>
            <a:cxnSpLocks/>
            <a:stCxn id="143" idx="2"/>
            <a:endCxn id="33" idx="3"/>
          </p:cNvCxnSpPr>
          <p:nvPr/>
        </p:nvCxnSpPr>
        <p:spPr>
          <a:xfrm rot="5400000">
            <a:off x="5556647" y="3869576"/>
            <a:ext cx="457096" cy="585230"/>
          </a:xfrm>
          <a:prstGeom prst="bentConnector2">
            <a:avLst/>
          </a:prstGeom>
          <a:ln w="63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9" name="직사각형 138">
            <a:extLst>
              <a:ext uri="{FF2B5EF4-FFF2-40B4-BE49-F238E27FC236}">
                <a16:creationId xmlns:a16="http://schemas.microsoft.com/office/drawing/2014/main" id="{E4A968A9-5BFD-4B3D-A558-DD0A9F9E80C4}"/>
              </a:ext>
            </a:extLst>
          </p:cNvPr>
          <p:cNvSpPr/>
          <p:nvPr/>
        </p:nvSpPr>
        <p:spPr bwMode="auto">
          <a:xfrm>
            <a:off x="6076322" y="2672583"/>
            <a:ext cx="0" cy="0"/>
          </a:xfrm>
          <a:prstGeom prst="rect">
            <a:avLst/>
          </a:prstGeom>
          <a:solidFill>
            <a:schemeClr val="accent1"/>
          </a:solidFill>
          <a:ln w="6350" cap="flat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algn="ctr" defTabSz="685835" fontAlgn="base">
              <a:spcBef>
                <a:spcPct val="0"/>
              </a:spcBef>
              <a:spcAft>
                <a:spcPct val="0"/>
              </a:spcAft>
            </a:pPr>
            <a:endParaRPr lang="en-US" altLang="ko-KR" sz="900" dirty="0">
              <a:latin typeface="+mn-lt"/>
              <a:cs typeface="Arial" panose="020B0604020202020204" pitchFamily="34" charset="0"/>
            </a:endParaRPr>
          </a:p>
        </p:txBody>
      </p:sp>
      <p:cxnSp>
        <p:nvCxnSpPr>
          <p:cNvPr id="140" name="꺾인 연결선 34">
            <a:extLst>
              <a:ext uri="{FF2B5EF4-FFF2-40B4-BE49-F238E27FC236}">
                <a16:creationId xmlns:a16="http://schemas.microsoft.com/office/drawing/2014/main" id="{33033ABE-A316-4113-8CEB-47036CDB4E61}"/>
              </a:ext>
            </a:extLst>
          </p:cNvPr>
          <p:cNvCxnSpPr>
            <a:cxnSpLocks/>
            <a:stCxn id="20" idx="3"/>
            <a:endCxn id="148" idx="0"/>
          </p:cNvCxnSpPr>
          <p:nvPr/>
        </p:nvCxnSpPr>
        <p:spPr>
          <a:xfrm>
            <a:off x="5492579" y="2055897"/>
            <a:ext cx="585230" cy="519081"/>
          </a:xfrm>
          <a:prstGeom prst="bentConnector2">
            <a:avLst/>
          </a:prstGeom>
          <a:ln w="6350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1" name="직사각형 140">
            <a:extLst>
              <a:ext uri="{FF2B5EF4-FFF2-40B4-BE49-F238E27FC236}">
                <a16:creationId xmlns:a16="http://schemas.microsoft.com/office/drawing/2014/main" id="{DE7506D1-63D8-45A3-B89D-D24886029D25}"/>
              </a:ext>
            </a:extLst>
          </p:cNvPr>
          <p:cNvSpPr/>
          <p:nvPr/>
        </p:nvSpPr>
        <p:spPr>
          <a:xfrm>
            <a:off x="5500323" y="1779692"/>
            <a:ext cx="641522" cy="3231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750" dirty="0">
                <a:solidFill>
                  <a:srgbClr val="FF0000"/>
                </a:solidFill>
                <a:latin typeface="+mn-lt"/>
                <a:cs typeface="Arial" panose="020B0604020202020204" pitchFamily="34" charset="0"/>
              </a:rPr>
              <a:t>Secondary</a:t>
            </a:r>
          </a:p>
          <a:p>
            <a:pPr algn="ctr"/>
            <a:r>
              <a:rPr lang="en-US" altLang="ko-KR" sz="750" dirty="0">
                <a:solidFill>
                  <a:srgbClr val="FF0000"/>
                </a:solidFill>
                <a:latin typeface="+mn-lt"/>
                <a:cs typeface="Arial" panose="020B0604020202020204" pitchFamily="34" charset="0"/>
              </a:rPr>
              <a:t>Voltage</a:t>
            </a:r>
            <a:endParaRPr lang="ko-KR" altLang="en-US" sz="750" dirty="0">
              <a:solidFill>
                <a:srgbClr val="FF0000"/>
              </a:solidFill>
              <a:latin typeface="+mn-lt"/>
              <a:cs typeface="Arial" panose="020B0604020202020204" pitchFamily="34" charset="0"/>
            </a:endParaRPr>
          </a:p>
        </p:txBody>
      </p:sp>
      <p:grpSp>
        <p:nvGrpSpPr>
          <p:cNvPr id="142" name="그룹 141">
            <a:extLst>
              <a:ext uri="{FF2B5EF4-FFF2-40B4-BE49-F238E27FC236}">
                <a16:creationId xmlns:a16="http://schemas.microsoft.com/office/drawing/2014/main" id="{B8C65E68-F70E-4BF4-9EA1-29D027BA2392}"/>
              </a:ext>
            </a:extLst>
          </p:cNvPr>
          <p:cNvGrpSpPr/>
          <p:nvPr/>
        </p:nvGrpSpPr>
        <p:grpSpPr>
          <a:xfrm>
            <a:off x="6038658" y="3853409"/>
            <a:ext cx="81000" cy="84870"/>
            <a:chOff x="9621427" y="5156166"/>
            <a:chExt cx="108000" cy="113159"/>
          </a:xfrm>
        </p:grpSpPr>
        <p:sp>
          <p:nvSpPr>
            <p:cNvPr id="143" name="직사각형 142">
              <a:extLst>
                <a:ext uri="{FF2B5EF4-FFF2-40B4-BE49-F238E27FC236}">
                  <a16:creationId xmlns:a16="http://schemas.microsoft.com/office/drawing/2014/main" id="{C80C3B8F-E349-442B-BCF2-E6CC56CB7B80}"/>
                </a:ext>
              </a:extLst>
            </p:cNvPr>
            <p:cNvSpPr/>
            <p:nvPr/>
          </p:nvSpPr>
          <p:spPr bwMode="auto">
            <a:xfrm>
              <a:off x="9621427" y="5158745"/>
              <a:ext cx="104400" cy="104400"/>
            </a:xfrm>
            <a:prstGeom prst="rect">
              <a:avLst/>
            </a:prstGeom>
            <a:solidFill>
              <a:schemeClr val="bg1">
                <a:alpha val="0"/>
              </a:schemeClr>
            </a:solidFill>
            <a:ln w="6350" cap="flat" cmpd="sng" algn="ctr">
              <a:noFill/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68580" tIns="34290" rIns="68580" bIns="34290" numCol="1" rtlCol="0" anchor="t" anchorCtr="0" compatLnSpc="1">
              <a:prstTxWarp prst="textNoShape">
                <a:avLst/>
              </a:prstTxWarp>
            </a:bodyPr>
            <a:lstStyle/>
            <a:p>
              <a:pPr algn="ctr" defTabSz="685835" fontAlgn="base">
                <a:spcBef>
                  <a:spcPct val="0"/>
                </a:spcBef>
                <a:spcAft>
                  <a:spcPct val="0"/>
                </a:spcAft>
              </a:pPr>
              <a:endParaRPr lang="en-US" altLang="ko-KR" sz="900" dirty="0">
                <a:latin typeface="+mn-lt"/>
                <a:cs typeface="Arial" panose="020B0604020202020204" pitchFamily="34" charset="0"/>
              </a:endParaRPr>
            </a:p>
          </p:txBody>
        </p:sp>
        <p:grpSp>
          <p:nvGrpSpPr>
            <p:cNvPr id="144" name="그룹 143">
              <a:extLst>
                <a:ext uri="{FF2B5EF4-FFF2-40B4-BE49-F238E27FC236}">
                  <a16:creationId xmlns:a16="http://schemas.microsoft.com/office/drawing/2014/main" id="{504295E8-CF49-4492-85C7-9C5C9AD7EF00}"/>
                </a:ext>
              </a:extLst>
            </p:cNvPr>
            <p:cNvGrpSpPr/>
            <p:nvPr/>
          </p:nvGrpSpPr>
          <p:grpSpPr>
            <a:xfrm>
              <a:off x="9621427" y="5156166"/>
              <a:ext cx="108000" cy="113159"/>
              <a:chOff x="10846836" y="2933955"/>
              <a:chExt cx="108000" cy="113159"/>
            </a:xfrm>
          </p:grpSpPr>
          <p:sp>
            <p:nvSpPr>
              <p:cNvPr id="145" name="원호 144">
                <a:extLst>
                  <a:ext uri="{FF2B5EF4-FFF2-40B4-BE49-F238E27FC236}">
                    <a16:creationId xmlns:a16="http://schemas.microsoft.com/office/drawing/2014/main" id="{3F2F28F8-0835-4A04-870F-C49E723E97B3}"/>
                  </a:ext>
                </a:extLst>
              </p:cNvPr>
              <p:cNvSpPr/>
              <p:nvPr/>
            </p:nvSpPr>
            <p:spPr>
              <a:xfrm>
                <a:off x="10846836" y="2939114"/>
                <a:ext cx="108000" cy="108000"/>
              </a:xfrm>
              <a:prstGeom prst="arc">
                <a:avLst/>
              </a:prstGeom>
              <a:ln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 sz="1350"/>
              </a:p>
            </p:txBody>
          </p:sp>
          <p:sp>
            <p:nvSpPr>
              <p:cNvPr id="146" name="원호 145">
                <a:extLst>
                  <a:ext uri="{FF2B5EF4-FFF2-40B4-BE49-F238E27FC236}">
                    <a16:creationId xmlns:a16="http://schemas.microsoft.com/office/drawing/2014/main" id="{0CE976E9-7A42-4AAF-9471-46C65A4A5720}"/>
                  </a:ext>
                </a:extLst>
              </p:cNvPr>
              <p:cNvSpPr/>
              <p:nvPr/>
            </p:nvSpPr>
            <p:spPr>
              <a:xfrm rot="5400000">
                <a:off x="10846836" y="2933955"/>
                <a:ext cx="108000" cy="108000"/>
              </a:xfrm>
              <a:prstGeom prst="arc">
                <a:avLst/>
              </a:prstGeom>
              <a:ln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 sz="1350"/>
              </a:p>
            </p:txBody>
          </p:sp>
        </p:grpSp>
      </p:grpSp>
      <p:grpSp>
        <p:nvGrpSpPr>
          <p:cNvPr id="147" name="그룹 146">
            <a:extLst>
              <a:ext uri="{FF2B5EF4-FFF2-40B4-BE49-F238E27FC236}">
                <a16:creationId xmlns:a16="http://schemas.microsoft.com/office/drawing/2014/main" id="{E5D92716-ABE3-4A3A-B741-94E566F93BDA}"/>
              </a:ext>
            </a:extLst>
          </p:cNvPr>
          <p:cNvGrpSpPr/>
          <p:nvPr/>
        </p:nvGrpSpPr>
        <p:grpSpPr>
          <a:xfrm>
            <a:off x="6038658" y="2565800"/>
            <a:ext cx="81000" cy="402677"/>
            <a:chOff x="9621427" y="5156166"/>
            <a:chExt cx="108000" cy="113159"/>
          </a:xfrm>
        </p:grpSpPr>
        <p:sp>
          <p:nvSpPr>
            <p:cNvPr id="148" name="직사각형 147">
              <a:extLst>
                <a:ext uri="{FF2B5EF4-FFF2-40B4-BE49-F238E27FC236}">
                  <a16:creationId xmlns:a16="http://schemas.microsoft.com/office/drawing/2014/main" id="{0C0F1F26-5DA4-47BB-9DDC-FDD26E7801C4}"/>
                </a:ext>
              </a:extLst>
            </p:cNvPr>
            <p:cNvSpPr/>
            <p:nvPr/>
          </p:nvSpPr>
          <p:spPr bwMode="auto">
            <a:xfrm>
              <a:off x="9621427" y="5158745"/>
              <a:ext cx="104400" cy="104400"/>
            </a:xfrm>
            <a:prstGeom prst="rect">
              <a:avLst/>
            </a:prstGeom>
            <a:solidFill>
              <a:schemeClr val="bg1">
                <a:alpha val="0"/>
              </a:schemeClr>
            </a:solidFill>
            <a:ln w="6350" cap="flat" cmpd="sng" algn="ctr">
              <a:noFill/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68580" tIns="34290" rIns="68580" bIns="34290" numCol="1" rtlCol="0" anchor="t" anchorCtr="0" compatLnSpc="1">
              <a:prstTxWarp prst="textNoShape">
                <a:avLst/>
              </a:prstTxWarp>
            </a:bodyPr>
            <a:lstStyle/>
            <a:p>
              <a:pPr algn="ctr" defTabSz="685835" fontAlgn="base">
                <a:spcBef>
                  <a:spcPct val="0"/>
                </a:spcBef>
                <a:spcAft>
                  <a:spcPct val="0"/>
                </a:spcAft>
              </a:pPr>
              <a:endParaRPr lang="en-US" altLang="ko-KR" sz="900" dirty="0">
                <a:latin typeface="+mn-lt"/>
                <a:cs typeface="Arial" panose="020B0604020202020204" pitchFamily="34" charset="0"/>
              </a:endParaRPr>
            </a:p>
          </p:txBody>
        </p:sp>
        <p:grpSp>
          <p:nvGrpSpPr>
            <p:cNvPr id="149" name="그룹 148">
              <a:extLst>
                <a:ext uri="{FF2B5EF4-FFF2-40B4-BE49-F238E27FC236}">
                  <a16:creationId xmlns:a16="http://schemas.microsoft.com/office/drawing/2014/main" id="{8CF4CF50-B34F-4C30-9556-524B0CDDE0AF}"/>
                </a:ext>
              </a:extLst>
            </p:cNvPr>
            <p:cNvGrpSpPr/>
            <p:nvPr/>
          </p:nvGrpSpPr>
          <p:grpSpPr>
            <a:xfrm>
              <a:off x="9621427" y="5156166"/>
              <a:ext cx="108000" cy="113159"/>
              <a:chOff x="10846836" y="2933955"/>
              <a:chExt cx="108000" cy="113159"/>
            </a:xfrm>
          </p:grpSpPr>
          <p:sp>
            <p:nvSpPr>
              <p:cNvPr id="150" name="원호 149">
                <a:extLst>
                  <a:ext uri="{FF2B5EF4-FFF2-40B4-BE49-F238E27FC236}">
                    <a16:creationId xmlns:a16="http://schemas.microsoft.com/office/drawing/2014/main" id="{B28FC232-554E-40B4-8FC2-AC1F949B34F0}"/>
                  </a:ext>
                </a:extLst>
              </p:cNvPr>
              <p:cNvSpPr/>
              <p:nvPr/>
            </p:nvSpPr>
            <p:spPr>
              <a:xfrm>
                <a:off x="10846836" y="2939114"/>
                <a:ext cx="108000" cy="108000"/>
              </a:xfrm>
              <a:prstGeom prst="arc">
                <a:avLst/>
              </a:prstGeom>
              <a:ln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 sz="1350"/>
              </a:p>
            </p:txBody>
          </p:sp>
          <p:sp>
            <p:nvSpPr>
              <p:cNvPr id="151" name="원호 150">
                <a:extLst>
                  <a:ext uri="{FF2B5EF4-FFF2-40B4-BE49-F238E27FC236}">
                    <a16:creationId xmlns:a16="http://schemas.microsoft.com/office/drawing/2014/main" id="{6D37BF79-D494-4578-8627-19FDAEA9064A}"/>
                  </a:ext>
                </a:extLst>
              </p:cNvPr>
              <p:cNvSpPr/>
              <p:nvPr/>
            </p:nvSpPr>
            <p:spPr>
              <a:xfrm rot="5400000">
                <a:off x="10846836" y="2933955"/>
                <a:ext cx="108000" cy="108000"/>
              </a:xfrm>
              <a:prstGeom prst="arc">
                <a:avLst/>
              </a:prstGeom>
              <a:ln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 sz="1350"/>
              </a:p>
            </p:txBody>
          </p:sp>
        </p:grpSp>
      </p:grpSp>
      <p:sp>
        <p:nvSpPr>
          <p:cNvPr id="152" name="직사각형 151">
            <a:extLst>
              <a:ext uri="{FF2B5EF4-FFF2-40B4-BE49-F238E27FC236}">
                <a16:creationId xmlns:a16="http://schemas.microsoft.com/office/drawing/2014/main" id="{F86255E1-802B-4EBD-A9CB-15FB9D2BC209}"/>
              </a:ext>
            </a:extLst>
          </p:cNvPr>
          <p:cNvSpPr/>
          <p:nvPr/>
        </p:nvSpPr>
        <p:spPr bwMode="auto">
          <a:xfrm>
            <a:off x="5654669" y="5494330"/>
            <a:ext cx="0" cy="0"/>
          </a:xfrm>
          <a:prstGeom prst="rect">
            <a:avLst/>
          </a:prstGeom>
          <a:solidFill>
            <a:schemeClr val="accent1"/>
          </a:solidFill>
          <a:ln w="6350" cap="flat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algn="ctr" defTabSz="685835" fontAlgn="base">
              <a:spcBef>
                <a:spcPct val="0"/>
              </a:spcBef>
              <a:spcAft>
                <a:spcPct val="0"/>
              </a:spcAft>
            </a:pPr>
            <a:endParaRPr lang="en-US" altLang="ko-KR" sz="900" dirty="0">
              <a:latin typeface="+mn-lt"/>
              <a:cs typeface="Arial" panose="020B0604020202020204" pitchFamily="34" charset="0"/>
            </a:endParaRPr>
          </a:p>
        </p:txBody>
      </p:sp>
      <p:sp>
        <p:nvSpPr>
          <p:cNvPr id="153" name="직사각형 152">
            <a:extLst>
              <a:ext uri="{FF2B5EF4-FFF2-40B4-BE49-F238E27FC236}">
                <a16:creationId xmlns:a16="http://schemas.microsoft.com/office/drawing/2014/main" id="{DA4A1599-0E72-4B21-877F-808BDB4B1017}"/>
              </a:ext>
            </a:extLst>
          </p:cNvPr>
          <p:cNvSpPr/>
          <p:nvPr/>
        </p:nvSpPr>
        <p:spPr>
          <a:xfrm>
            <a:off x="5601376" y="5349051"/>
            <a:ext cx="641522" cy="3231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750" dirty="0">
                <a:solidFill>
                  <a:srgbClr val="FF0000"/>
                </a:solidFill>
                <a:latin typeface="+mn-lt"/>
                <a:cs typeface="Arial" panose="020B0604020202020204" pitchFamily="34" charset="0"/>
              </a:rPr>
              <a:t>Secondary</a:t>
            </a:r>
          </a:p>
          <a:p>
            <a:pPr algn="ctr"/>
            <a:r>
              <a:rPr lang="en-US" altLang="ko-KR" sz="750" dirty="0">
                <a:solidFill>
                  <a:srgbClr val="FF0000"/>
                </a:solidFill>
                <a:latin typeface="+mn-lt"/>
                <a:cs typeface="Arial" panose="020B0604020202020204" pitchFamily="34" charset="0"/>
              </a:rPr>
              <a:t>Voltage</a:t>
            </a:r>
            <a:endParaRPr lang="ko-KR" altLang="en-US" sz="750" dirty="0">
              <a:solidFill>
                <a:srgbClr val="FF0000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154" name="직사각형 153">
            <a:extLst>
              <a:ext uri="{FF2B5EF4-FFF2-40B4-BE49-F238E27FC236}">
                <a16:creationId xmlns:a16="http://schemas.microsoft.com/office/drawing/2014/main" id="{797058D1-8B47-4FEB-B01C-994F20CFAFC8}"/>
              </a:ext>
            </a:extLst>
          </p:cNvPr>
          <p:cNvSpPr/>
          <p:nvPr/>
        </p:nvSpPr>
        <p:spPr>
          <a:xfrm>
            <a:off x="6611213" y="2928870"/>
            <a:ext cx="492443" cy="3231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750" dirty="0">
                <a:solidFill>
                  <a:srgbClr val="0070C0"/>
                </a:solidFill>
                <a:latin typeface="+mn-lt"/>
                <a:cs typeface="Arial" panose="020B0604020202020204" pitchFamily="34" charset="0"/>
              </a:rPr>
              <a:t>Power</a:t>
            </a:r>
          </a:p>
          <a:p>
            <a:pPr algn="ctr"/>
            <a:r>
              <a:rPr lang="en-US" altLang="ko-KR" sz="750" dirty="0">
                <a:solidFill>
                  <a:srgbClr val="0070C0"/>
                </a:solidFill>
                <a:latin typeface="+mn-lt"/>
                <a:cs typeface="Arial" panose="020B0604020202020204" pitchFamily="34" charset="0"/>
              </a:rPr>
              <a:t>Control</a:t>
            </a:r>
            <a:endParaRPr lang="ko-KR" altLang="en-US" sz="750" dirty="0">
              <a:solidFill>
                <a:srgbClr val="0070C0"/>
              </a:solidFill>
              <a:latin typeface="+mn-lt"/>
              <a:cs typeface="Arial" panose="020B0604020202020204" pitchFamily="34" charset="0"/>
            </a:endParaRPr>
          </a:p>
        </p:txBody>
      </p:sp>
      <p:cxnSp>
        <p:nvCxnSpPr>
          <p:cNvPr id="155" name="꺾인 연결선 34">
            <a:extLst>
              <a:ext uri="{FF2B5EF4-FFF2-40B4-BE49-F238E27FC236}">
                <a16:creationId xmlns:a16="http://schemas.microsoft.com/office/drawing/2014/main" id="{C8B3FDC5-0EE1-4868-A131-F8900FC38613}"/>
              </a:ext>
            </a:extLst>
          </p:cNvPr>
          <p:cNvCxnSpPr>
            <a:cxnSpLocks/>
            <a:stCxn id="22" idx="3"/>
            <a:endCxn id="235" idx="0"/>
          </p:cNvCxnSpPr>
          <p:nvPr/>
        </p:nvCxnSpPr>
        <p:spPr>
          <a:xfrm>
            <a:off x="5492579" y="2919198"/>
            <a:ext cx="1618771" cy="1671796"/>
          </a:xfrm>
          <a:prstGeom prst="bentConnector2">
            <a:avLst/>
          </a:prstGeom>
          <a:ln w="63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직선 화살표 연결선 155">
            <a:extLst>
              <a:ext uri="{FF2B5EF4-FFF2-40B4-BE49-F238E27FC236}">
                <a16:creationId xmlns:a16="http://schemas.microsoft.com/office/drawing/2014/main" id="{D77283C9-63E1-4B54-865F-0D9733A9FA62}"/>
              </a:ext>
            </a:extLst>
          </p:cNvPr>
          <p:cNvCxnSpPr>
            <a:cxnSpLocks/>
            <a:stCxn id="45" idx="1"/>
            <a:endCxn id="88" idx="3"/>
          </p:cNvCxnSpPr>
          <p:nvPr/>
        </p:nvCxnSpPr>
        <p:spPr bwMode="auto">
          <a:xfrm flipH="1">
            <a:off x="1351564" y="2055896"/>
            <a:ext cx="2229936" cy="0"/>
          </a:xfrm>
          <a:prstGeom prst="straightConnector1">
            <a:avLst/>
          </a:prstGeom>
          <a:solidFill>
            <a:schemeClr val="accent1"/>
          </a:solidFill>
          <a:ln w="6350" cap="flat" cmpd="sng" algn="ctr">
            <a:solidFill>
              <a:srgbClr val="0070C0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57" name="직사각형 156">
            <a:extLst>
              <a:ext uri="{FF2B5EF4-FFF2-40B4-BE49-F238E27FC236}">
                <a16:creationId xmlns:a16="http://schemas.microsoft.com/office/drawing/2014/main" id="{82E6F213-11E2-4958-B9BD-726B3BE36009}"/>
              </a:ext>
            </a:extLst>
          </p:cNvPr>
          <p:cNvSpPr/>
          <p:nvPr/>
        </p:nvSpPr>
        <p:spPr>
          <a:xfrm>
            <a:off x="557043" y="1961848"/>
            <a:ext cx="790601" cy="20774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altLang="ko-KR" sz="750" dirty="0">
                <a:solidFill>
                  <a:srgbClr val="0070C0"/>
                </a:solidFill>
                <a:latin typeface="+mn-lt"/>
                <a:cs typeface="Arial" panose="020B0604020202020204" pitchFamily="34" charset="0"/>
              </a:rPr>
              <a:t>Power Control</a:t>
            </a:r>
            <a:endParaRPr lang="ko-KR" altLang="en-US" sz="750" dirty="0">
              <a:solidFill>
                <a:srgbClr val="0070C0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158" name="직사각형 157">
            <a:extLst>
              <a:ext uri="{FF2B5EF4-FFF2-40B4-BE49-F238E27FC236}">
                <a16:creationId xmlns:a16="http://schemas.microsoft.com/office/drawing/2014/main" id="{266A3320-9A3B-4FC6-ABA7-ABEB51D34514}"/>
              </a:ext>
            </a:extLst>
          </p:cNvPr>
          <p:cNvSpPr/>
          <p:nvPr/>
        </p:nvSpPr>
        <p:spPr>
          <a:xfrm>
            <a:off x="5583864" y="2257986"/>
            <a:ext cx="555223" cy="3231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ko-KR" sz="750" dirty="0">
                <a:solidFill>
                  <a:srgbClr val="0070C0"/>
                </a:solidFill>
                <a:latin typeface="+mn-lt"/>
                <a:cs typeface="Arial" panose="020B0604020202020204" pitchFamily="34" charset="0"/>
              </a:rPr>
              <a:t>Power</a:t>
            </a:r>
          </a:p>
          <a:p>
            <a:pPr algn="ctr"/>
            <a:r>
              <a:rPr lang="en-US" altLang="ko-KR" sz="750" dirty="0">
                <a:solidFill>
                  <a:srgbClr val="0070C0"/>
                </a:solidFill>
                <a:latin typeface="+mn-lt"/>
                <a:cs typeface="Arial" panose="020B0604020202020204" pitchFamily="34" charset="0"/>
              </a:rPr>
              <a:t>Control</a:t>
            </a:r>
            <a:endParaRPr lang="ko-KR" altLang="en-US" sz="750" dirty="0">
              <a:solidFill>
                <a:srgbClr val="0070C0"/>
              </a:solidFill>
              <a:latin typeface="+mn-lt"/>
              <a:cs typeface="Arial" panose="020B0604020202020204" pitchFamily="34" charset="0"/>
            </a:endParaRPr>
          </a:p>
        </p:txBody>
      </p:sp>
      <p:cxnSp>
        <p:nvCxnSpPr>
          <p:cNvPr id="159" name="꺾인 연결선 34">
            <a:extLst>
              <a:ext uri="{FF2B5EF4-FFF2-40B4-BE49-F238E27FC236}">
                <a16:creationId xmlns:a16="http://schemas.microsoft.com/office/drawing/2014/main" id="{4AF23DEE-8787-46E9-B5D5-50AC275C9DF2}"/>
              </a:ext>
            </a:extLst>
          </p:cNvPr>
          <p:cNvCxnSpPr>
            <a:cxnSpLocks/>
            <a:stCxn id="25" idx="3"/>
            <a:endCxn id="18" idx="3"/>
          </p:cNvCxnSpPr>
          <p:nvPr/>
        </p:nvCxnSpPr>
        <p:spPr>
          <a:xfrm flipV="1">
            <a:off x="5492579" y="2298760"/>
            <a:ext cx="9525" cy="256211"/>
          </a:xfrm>
          <a:prstGeom prst="bentConnector3">
            <a:avLst>
              <a:gd name="adj1" fmla="val 1800000"/>
            </a:avLst>
          </a:prstGeom>
          <a:ln w="63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0" name="직선 화살표 연결선 159">
            <a:extLst>
              <a:ext uri="{FF2B5EF4-FFF2-40B4-BE49-F238E27FC236}">
                <a16:creationId xmlns:a16="http://schemas.microsoft.com/office/drawing/2014/main" id="{FD0B1A16-2317-4D1C-8F5D-F8371DA493BD}"/>
              </a:ext>
            </a:extLst>
          </p:cNvPr>
          <p:cNvCxnSpPr>
            <a:cxnSpLocks/>
            <a:stCxn id="31" idx="3"/>
          </p:cNvCxnSpPr>
          <p:nvPr/>
        </p:nvCxnSpPr>
        <p:spPr bwMode="auto">
          <a:xfrm>
            <a:off x="5492577" y="4633600"/>
            <a:ext cx="2262942" cy="0"/>
          </a:xfrm>
          <a:prstGeom prst="straightConnector1">
            <a:avLst/>
          </a:prstGeom>
          <a:solidFill>
            <a:schemeClr val="accent1"/>
          </a:solidFill>
          <a:ln w="6350" cap="flat" cmpd="sng" algn="ctr">
            <a:solidFill>
              <a:srgbClr val="0070C0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61" name="직선 화살표 연결선 160">
            <a:extLst>
              <a:ext uri="{FF2B5EF4-FFF2-40B4-BE49-F238E27FC236}">
                <a16:creationId xmlns:a16="http://schemas.microsoft.com/office/drawing/2014/main" id="{10E582B3-0045-48EC-8712-4ED94342D5BF}"/>
              </a:ext>
            </a:extLst>
          </p:cNvPr>
          <p:cNvCxnSpPr>
            <a:cxnSpLocks/>
            <a:stCxn id="24" idx="3"/>
            <a:endCxn id="75" idx="1"/>
          </p:cNvCxnSpPr>
          <p:nvPr/>
        </p:nvCxnSpPr>
        <p:spPr bwMode="auto">
          <a:xfrm flipV="1">
            <a:off x="5492577" y="2620839"/>
            <a:ext cx="2262942" cy="0"/>
          </a:xfrm>
          <a:prstGeom prst="straightConnector1">
            <a:avLst/>
          </a:prstGeom>
          <a:solidFill>
            <a:schemeClr val="accent1"/>
          </a:solidFill>
          <a:ln w="6350" cap="flat" cmpd="sng" algn="ctr">
            <a:solidFill>
              <a:srgbClr val="0070C0"/>
            </a:solidFill>
            <a:prstDash val="solid"/>
            <a:round/>
            <a:headEnd type="triangl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62" name="꺾인 연결선 34">
            <a:extLst>
              <a:ext uri="{FF2B5EF4-FFF2-40B4-BE49-F238E27FC236}">
                <a16:creationId xmlns:a16="http://schemas.microsoft.com/office/drawing/2014/main" id="{53EC5D65-A9CA-4685-B2A9-24AAE9961D7D}"/>
              </a:ext>
            </a:extLst>
          </p:cNvPr>
          <p:cNvCxnSpPr>
            <a:cxnSpLocks/>
            <a:stCxn id="168" idx="2"/>
            <a:endCxn id="28" idx="3"/>
          </p:cNvCxnSpPr>
          <p:nvPr/>
        </p:nvCxnSpPr>
        <p:spPr>
          <a:xfrm rot="5400000">
            <a:off x="5552651" y="2899227"/>
            <a:ext cx="932366" cy="1052508"/>
          </a:xfrm>
          <a:prstGeom prst="bentConnector2">
            <a:avLst/>
          </a:prstGeom>
          <a:ln w="63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꺾인 연결선 34">
            <a:extLst>
              <a:ext uri="{FF2B5EF4-FFF2-40B4-BE49-F238E27FC236}">
                <a16:creationId xmlns:a16="http://schemas.microsoft.com/office/drawing/2014/main" id="{74C3B696-A937-453C-BEB5-B6AE5E7BC3D9}"/>
              </a:ext>
            </a:extLst>
          </p:cNvPr>
          <p:cNvCxnSpPr>
            <a:cxnSpLocks/>
            <a:stCxn id="168" idx="2"/>
            <a:endCxn id="32" idx="3"/>
          </p:cNvCxnSpPr>
          <p:nvPr/>
        </p:nvCxnSpPr>
        <p:spPr>
          <a:xfrm rot="5400000">
            <a:off x="5242431" y="3209445"/>
            <a:ext cx="1552803" cy="1052508"/>
          </a:xfrm>
          <a:prstGeom prst="bentConnector2">
            <a:avLst/>
          </a:prstGeom>
          <a:ln w="63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4" name="직사각형 163">
            <a:extLst>
              <a:ext uri="{FF2B5EF4-FFF2-40B4-BE49-F238E27FC236}">
                <a16:creationId xmlns:a16="http://schemas.microsoft.com/office/drawing/2014/main" id="{EDACD71E-1057-457A-8A21-D67BB70A4752}"/>
              </a:ext>
            </a:extLst>
          </p:cNvPr>
          <p:cNvSpPr/>
          <p:nvPr/>
        </p:nvSpPr>
        <p:spPr bwMode="auto">
          <a:xfrm>
            <a:off x="6546435" y="2798044"/>
            <a:ext cx="0" cy="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algn="ctr" defTabSz="685835" fontAlgn="base">
              <a:spcBef>
                <a:spcPct val="0"/>
              </a:spcBef>
              <a:spcAft>
                <a:spcPct val="0"/>
              </a:spcAft>
            </a:pPr>
            <a:endParaRPr lang="en-US" altLang="ko-KR" sz="900" dirty="0">
              <a:latin typeface="+mn-lt"/>
              <a:cs typeface="Arial" panose="020B0604020202020204" pitchFamily="34" charset="0"/>
            </a:endParaRPr>
          </a:p>
        </p:txBody>
      </p:sp>
      <p:cxnSp>
        <p:nvCxnSpPr>
          <p:cNvPr id="165" name="꺾인 연결선 34">
            <a:extLst>
              <a:ext uri="{FF2B5EF4-FFF2-40B4-BE49-F238E27FC236}">
                <a16:creationId xmlns:a16="http://schemas.microsoft.com/office/drawing/2014/main" id="{A2A977BD-BDE8-412A-B414-2791211FEF19}"/>
              </a:ext>
            </a:extLst>
          </p:cNvPr>
          <p:cNvCxnSpPr>
            <a:cxnSpLocks/>
            <a:stCxn id="23" idx="3"/>
            <a:endCxn id="168" idx="0"/>
          </p:cNvCxnSpPr>
          <p:nvPr/>
        </p:nvCxnSpPr>
        <p:spPr>
          <a:xfrm>
            <a:off x="5492579" y="2826410"/>
            <a:ext cx="1052508" cy="54589"/>
          </a:xfrm>
          <a:prstGeom prst="bentConnector2">
            <a:avLst/>
          </a:prstGeom>
          <a:ln w="6350">
            <a:solidFill>
              <a:srgbClr val="0070C0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6" name="직사각형 165">
            <a:extLst>
              <a:ext uri="{FF2B5EF4-FFF2-40B4-BE49-F238E27FC236}">
                <a16:creationId xmlns:a16="http://schemas.microsoft.com/office/drawing/2014/main" id="{EF0A4D7E-C9EE-49F0-8B9C-466E3DBC5CAD}"/>
              </a:ext>
            </a:extLst>
          </p:cNvPr>
          <p:cNvSpPr/>
          <p:nvPr/>
        </p:nvSpPr>
        <p:spPr>
          <a:xfrm>
            <a:off x="6137473" y="3133276"/>
            <a:ext cx="479618" cy="20774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750" dirty="0">
                <a:solidFill>
                  <a:srgbClr val="0070C0"/>
                </a:solidFill>
                <a:latin typeface="+mn-lt"/>
                <a:cs typeface="Arial" panose="020B0604020202020204" pitchFamily="34" charset="0"/>
              </a:rPr>
              <a:t>TM/TC</a:t>
            </a:r>
          </a:p>
        </p:txBody>
      </p:sp>
      <p:grpSp>
        <p:nvGrpSpPr>
          <p:cNvPr id="167" name="그룹 166">
            <a:extLst>
              <a:ext uri="{FF2B5EF4-FFF2-40B4-BE49-F238E27FC236}">
                <a16:creationId xmlns:a16="http://schemas.microsoft.com/office/drawing/2014/main" id="{9AC49A3A-9F54-447C-8F2A-FD8C399D40D6}"/>
              </a:ext>
            </a:extLst>
          </p:cNvPr>
          <p:cNvGrpSpPr/>
          <p:nvPr/>
        </p:nvGrpSpPr>
        <p:grpSpPr>
          <a:xfrm>
            <a:off x="6505935" y="2879064"/>
            <a:ext cx="81000" cy="84870"/>
            <a:chOff x="9621427" y="5156166"/>
            <a:chExt cx="108000" cy="113159"/>
          </a:xfrm>
        </p:grpSpPr>
        <p:sp>
          <p:nvSpPr>
            <p:cNvPr id="168" name="직사각형 167">
              <a:extLst>
                <a:ext uri="{FF2B5EF4-FFF2-40B4-BE49-F238E27FC236}">
                  <a16:creationId xmlns:a16="http://schemas.microsoft.com/office/drawing/2014/main" id="{2C58071B-DD1A-4F30-B222-0B9F9013A116}"/>
                </a:ext>
              </a:extLst>
            </p:cNvPr>
            <p:cNvSpPr/>
            <p:nvPr/>
          </p:nvSpPr>
          <p:spPr bwMode="auto">
            <a:xfrm>
              <a:off x="9621427" y="5158745"/>
              <a:ext cx="104400" cy="104400"/>
            </a:xfrm>
            <a:prstGeom prst="rect">
              <a:avLst/>
            </a:prstGeom>
            <a:solidFill>
              <a:schemeClr val="bg1">
                <a:alpha val="0"/>
              </a:schemeClr>
            </a:solidFill>
            <a:ln w="6350" cap="flat" cmpd="sng" algn="ctr">
              <a:noFill/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68580" tIns="34290" rIns="68580" bIns="34290" numCol="1" rtlCol="0" anchor="t" anchorCtr="0" compatLnSpc="1">
              <a:prstTxWarp prst="textNoShape">
                <a:avLst/>
              </a:prstTxWarp>
            </a:bodyPr>
            <a:lstStyle/>
            <a:p>
              <a:pPr algn="ctr" defTabSz="685835" fontAlgn="base">
                <a:spcBef>
                  <a:spcPct val="0"/>
                </a:spcBef>
                <a:spcAft>
                  <a:spcPct val="0"/>
                </a:spcAft>
              </a:pPr>
              <a:endParaRPr lang="en-US" altLang="ko-KR" sz="900" dirty="0">
                <a:latin typeface="+mn-lt"/>
                <a:cs typeface="Arial" panose="020B0604020202020204" pitchFamily="34" charset="0"/>
              </a:endParaRPr>
            </a:p>
          </p:txBody>
        </p:sp>
        <p:grpSp>
          <p:nvGrpSpPr>
            <p:cNvPr id="169" name="그룹 168">
              <a:extLst>
                <a:ext uri="{FF2B5EF4-FFF2-40B4-BE49-F238E27FC236}">
                  <a16:creationId xmlns:a16="http://schemas.microsoft.com/office/drawing/2014/main" id="{92F501F3-9288-4624-8091-38F0EFD1832A}"/>
                </a:ext>
              </a:extLst>
            </p:cNvPr>
            <p:cNvGrpSpPr/>
            <p:nvPr/>
          </p:nvGrpSpPr>
          <p:grpSpPr>
            <a:xfrm>
              <a:off x="9621427" y="5156166"/>
              <a:ext cx="108000" cy="113159"/>
              <a:chOff x="10846836" y="2933955"/>
              <a:chExt cx="108000" cy="113159"/>
            </a:xfrm>
          </p:grpSpPr>
          <p:sp>
            <p:nvSpPr>
              <p:cNvPr id="170" name="원호 169">
                <a:extLst>
                  <a:ext uri="{FF2B5EF4-FFF2-40B4-BE49-F238E27FC236}">
                    <a16:creationId xmlns:a16="http://schemas.microsoft.com/office/drawing/2014/main" id="{D790369A-8898-42DC-AB9D-F11A8B080709}"/>
                  </a:ext>
                </a:extLst>
              </p:cNvPr>
              <p:cNvSpPr/>
              <p:nvPr/>
            </p:nvSpPr>
            <p:spPr>
              <a:xfrm>
                <a:off x="10846836" y="2939114"/>
                <a:ext cx="108000" cy="108000"/>
              </a:xfrm>
              <a:prstGeom prst="arc">
                <a:avLst/>
              </a:prstGeom>
              <a:ln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 sz="1350"/>
              </a:p>
            </p:txBody>
          </p:sp>
          <p:sp>
            <p:nvSpPr>
              <p:cNvPr id="171" name="원호 170">
                <a:extLst>
                  <a:ext uri="{FF2B5EF4-FFF2-40B4-BE49-F238E27FC236}">
                    <a16:creationId xmlns:a16="http://schemas.microsoft.com/office/drawing/2014/main" id="{0B28EA45-A69E-4129-AEBE-DECF2D28FF7F}"/>
                  </a:ext>
                </a:extLst>
              </p:cNvPr>
              <p:cNvSpPr/>
              <p:nvPr/>
            </p:nvSpPr>
            <p:spPr>
              <a:xfrm rot="5400000">
                <a:off x="10846836" y="2933955"/>
                <a:ext cx="108000" cy="108000"/>
              </a:xfrm>
              <a:prstGeom prst="arc">
                <a:avLst/>
              </a:prstGeom>
              <a:ln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 sz="1350"/>
              </a:p>
            </p:txBody>
          </p:sp>
        </p:grpSp>
      </p:grpSp>
      <p:sp>
        <p:nvSpPr>
          <p:cNvPr id="172" name="직사각형 171">
            <a:extLst>
              <a:ext uri="{FF2B5EF4-FFF2-40B4-BE49-F238E27FC236}">
                <a16:creationId xmlns:a16="http://schemas.microsoft.com/office/drawing/2014/main" id="{A3A8C2EE-9296-4ACD-848E-A3B874B0C623}"/>
              </a:ext>
            </a:extLst>
          </p:cNvPr>
          <p:cNvSpPr/>
          <p:nvPr/>
        </p:nvSpPr>
        <p:spPr>
          <a:xfrm>
            <a:off x="7762873" y="2532792"/>
            <a:ext cx="479618" cy="20774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750" dirty="0">
                <a:solidFill>
                  <a:srgbClr val="0070C0"/>
                </a:solidFill>
                <a:latin typeface="+mn-lt"/>
                <a:cs typeface="Arial" panose="020B0604020202020204" pitchFamily="34" charset="0"/>
              </a:rPr>
              <a:t>TM/TC</a:t>
            </a:r>
          </a:p>
        </p:txBody>
      </p:sp>
      <p:sp>
        <p:nvSpPr>
          <p:cNvPr id="173" name="직사각형 172">
            <a:extLst>
              <a:ext uri="{FF2B5EF4-FFF2-40B4-BE49-F238E27FC236}">
                <a16:creationId xmlns:a16="http://schemas.microsoft.com/office/drawing/2014/main" id="{A01CDF83-8CC1-4CD0-9FC6-68B7934466C2}"/>
              </a:ext>
            </a:extLst>
          </p:cNvPr>
          <p:cNvSpPr/>
          <p:nvPr/>
        </p:nvSpPr>
        <p:spPr>
          <a:xfrm>
            <a:off x="7760500" y="4552585"/>
            <a:ext cx="995070" cy="20774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750" dirty="0">
                <a:solidFill>
                  <a:srgbClr val="0070C0"/>
                </a:solidFill>
                <a:latin typeface="+mn-lt"/>
                <a:cs typeface="Arial" panose="020B0604020202020204" pitchFamily="34" charset="0"/>
              </a:rPr>
              <a:t>Real Time Control</a:t>
            </a:r>
          </a:p>
        </p:txBody>
      </p:sp>
      <p:sp>
        <p:nvSpPr>
          <p:cNvPr id="174" name="직사각형 173">
            <a:extLst>
              <a:ext uri="{FF2B5EF4-FFF2-40B4-BE49-F238E27FC236}">
                <a16:creationId xmlns:a16="http://schemas.microsoft.com/office/drawing/2014/main" id="{BE84B5DD-E226-4A15-8AC8-B3B53BC774FE}"/>
              </a:ext>
            </a:extLst>
          </p:cNvPr>
          <p:cNvSpPr/>
          <p:nvPr/>
        </p:nvSpPr>
        <p:spPr>
          <a:xfrm>
            <a:off x="5628717" y="4749920"/>
            <a:ext cx="546945" cy="3231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750" dirty="0">
                <a:solidFill>
                  <a:srgbClr val="00B050"/>
                </a:solidFill>
                <a:latin typeface="+mn-lt"/>
                <a:cs typeface="Arial" panose="020B0604020202020204" pitchFamily="34" charset="0"/>
              </a:rPr>
              <a:t>IF-Band</a:t>
            </a:r>
          </a:p>
          <a:p>
            <a:pPr algn="ctr"/>
            <a:r>
              <a:rPr lang="en-US" altLang="ko-KR" sz="750" dirty="0">
                <a:solidFill>
                  <a:srgbClr val="00B050"/>
                </a:solidFill>
                <a:latin typeface="+mn-lt"/>
                <a:cs typeface="Arial" panose="020B0604020202020204" pitchFamily="34" charset="0"/>
              </a:rPr>
              <a:t>Tx Chirp</a:t>
            </a:r>
            <a:endParaRPr lang="ko-KR" altLang="en-US" sz="750" dirty="0">
              <a:solidFill>
                <a:srgbClr val="00B050"/>
              </a:solidFill>
              <a:latin typeface="+mn-lt"/>
              <a:cs typeface="Arial" panose="020B0604020202020204" pitchFamily="34" charset="0"/>
            </a:endParaRPr>
          </a:p>
        </p:txBody>
      </p:sp>
      <p:cxnSp>
        <p:nvCxnSpPr>
          <p:cNvPr id="175" name="꺾인 연결선 34">
            <a:extLst>
              <a:ext uri="{FF2B5EF4-FFF2-40B4-BE49-F238E27FC236}">
                <a16:creationId xmlns:a16="http://schemas.microsoft.com/office/drawing/2014/main" id="{EB0C6A6B-A501-476A-AA51-F8C9EAC5BA35}"/>
              </a:ext>
            </a:extLst>
          </p:cNvPr>
          <p:cNvCxnSpPr>
            <a:cxnSpLocks/>
            <a:stCxn id="41" idx="3"/>
            <a:endCxn id="34" idx="3"/>
          </p:cNvCxnSpPr>
          <p:nvPr/>
        </p:nvCxnSpPr>
        <p:spPr>
          <a:xfrm flipV="1">
            <a:off x="5492579" y="5374992"/>
            <a:ext cx="9525" cy="275624"/>
          </a:xfrm>
          <a:prstGeom prst="bentConnector3">
            <a:avLst>
              <a:gd name="adj1" fmla="val 1800000"/>
            </a:avLst>
          </a:prstGeom>
          <a:ln w="63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꺾인 연결선 34">
            <a:extLst>
              <a:ext uri="{FF2B5EF4-FFF2-40B4-BE49-F238E27FC236}">
                <a16:creationId xmlns:a16="http://schemas.microsoft.com/office/drawing/2014/main" id="{015F2B98-58EB-4F7F-AE0D-F79197537D5E}"/>
              </a:ext>
            </a:extLst>
          </p:cNvPr>
          <p:cNvCxnSpPr>
            <a:cxnSpLocks/>
            <a:stCxn id="30" idx="3"/>
            <a:endCxn id="37" idx="3"/>
          </p:cNvCxnSpPr>
          <p:nvPr/>
        </p:nvCxnSpPr>
        <p:spPr>
          <a:xfrm>
            <a:off x="5492579" y="4754963"/>
            <a:ext cx="9525" cy="255801"/>
          </a:xfrm>
          <a:prstGeom prst="bentConnector3">
            <a:avLst>
              <a:gd name="adj1" fmla="val 1800000"/>
            </a:avLst>
          </a:prstGeom>
          <a:ln w="63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7" name="직사각형 176">
            <a:extLst>
              <a:ext uri="{FF2B5EF4-FFF2-40B4-BE49-F238E27FC236}">
                <a16:creationId xmlns:a16="http://schemas.microsoft.com/office/drawing/2014/main" id="{18900EAC-3586-44B3-A187-2D9581045D92}"/>
              </a:ext>
            </a:extLst>
          </p:cNvPr>
          <p:cNvSpPr/>
          <p:nvPr/>
        </p:nvSpPr>
        <p:spPr>
          <a:xfrm>
            <a:off x="7757115" y="5043856"/>
            <a:ext cx="893193" cy="20774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750" dirty="0">
                <a:solidFill>
                  <a:srgbClr val="00B050"/>
                </a:solidFill>
                <a:latin typeface="+mn-lt"/>
                <a:cs typeface="Arial" panose="020B0604020202020204" pitchFamily="34" charset="0"/>
              </a:rPr>
              <a:t>X-Band Tx Chirp</a:t>
            </a:r>
            <a:endParaRPr lang="ko-KR" altLang="en-US" sz="750" dirty="0">
              <a:solidFill>
                <a:srgbClr val="00B050"/>
              </a:solidFill>
              <a:latin typeface="+mn-lt"/>
              <a:cs typeface="Arial" panose="020B0604020202020204" pitchFamily="34" charset="0"/>
            </a:endParaRPr>
          </a:p>
        </p:txBody>
      </p:sp>
      <p:cxnSp>
        <p:nvCxnSpPr>
          <p:cNvPr id="178" name="직선 화살표 연결선 177">
            <a:extLst>
              <a:ext uri="{FF2B5EF4-FFF2-40B4-BE49-F238E27FC236}">
                <a16:creationId xmlns:a16="http://schemas.microsoft.com/office/drawing/2014/main" id="{0C05C4FF-A472-45D1-9ECD-1F6DF0434AD9}"/>
              </a:ext>
            </a:extLst>
          </p:cNvPr>
          <p:cNvCxnSpPr>
            <a:cxnSpLocks/>
            <a:endCxn id="36" idx="3"/>
          </p:cNvCxnSpPr>
          <p:nvPr/>
        </p:nvCxnSpPr>
        <p:spPr bwMode="auto">
          <a:xfrm flipH="1">
            <a:off x="5492577" y="5132127"/>
            <a:ext cx="2262942" cy="0"/>
          </a:xfrm>
          <a:prstGeom prst="straightConnector1">
            <a:avLst/>
          </a:prstGeom>
          <a:solidFill>
            <a:schemeClr val="accent1"/>
          </a:solidFill>
          <a:ln w="6350" cap="flat" cmpd="sng" algn="ctr">
            <a:solidFill>
              <a:srgbClr val="00B050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79" name="직사각형 178">
            <a:extLst>
              <a:ext uri="{FF2B5EF4-FFF2-40B4-BE49-F238E27FC236}">
                <a16:creationId xmlns:a16="http://schemas.microsoft.com/office/drawing/2014/main" id="{A9D68DFC-A14C-44EC-B592-BC07A8FF0507}"/>
              </a:ext>
            </a:extLst>
          </p:cNvPr>
          <p:cNvSpPr/>
          <p:nvPr/>
        </p:nvSpPr>
        <p:spPr>
          <a:xfrm>
            <a:off x="7764260" y="5165299"/>
            <a:ext cx="902811" cy="20774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750" dirty="0">
                <a:solidFill>
                  <a:srgbClr val="00B050"/>
                </a:solidFill>
                <a:latin typeface="+mn-lt"/>
                <a:cs typeface="Arial" panose="020B0604020202020204" pitchFamily="34" charset="0"/>
              </a:rPr>
              <a:t>X-Band Rx Chirp</a:t>
            </a:r>
            <a:endParaRPr lang="ko-KR" altLang="en-US" sz="750" dirty="0">
              <a:solidFill>
                <a:srgbClr val="00B050"/>
              </a:solidFill>
              <a:latin typeface="+mn-lt"/>
              <a:cs typeface="Arial" panose="020B0604020202020204" pitchFamily="34" charset="0"/>
            </a:endParaRPr>
          </a:p>
        </p:txBody>
      </p:sp>
      <p:cxnSp>
        <p:nvCxnSpPr>
          <p:cNvPr id="180" name="직선 화살표 연결선 179">
            <a:extLst>
              <a:ext uri="{FF2B5EF4-FFF2-40B4-BE49-F238E27FC236}">
                <a16:creationId xmlns:a16="http://schemas.microsoft.com/office/drawing/2014/main" id="{E711925C-5BD3-468E-B309-FDD50B1050EB}"/>
              </a:ext>
            </a:extLst>
          </p:cNvPr>
          <p:cNvCxnSpPr>
            <a:cxnSpLocks/>
            <a:endCxn id="35" idx="3"/>
          </p:cNvCxnSpPr>
          <p:nvPr/>
        </p:nvCxnSpPr>
        <p:spPr bwMode="auto">
          <a:xfrm flipH="1">
            <a:off x="5492577" y="5253627"/>
            <a:ext cx="2262942" cy="0"/>
          </a:xfrm>
          <a:prstGeom prst="straightConnector1">
            <a:avLst/>
          </a:prstGeom>
          <a:solidFill>
            <a:schemeClr val="accent1"/>
          </a:solidFill>
          <a:ln w="6350" cap="flat" cmpd="sng" algn="ctr">
            <a:solidFill>
              <a:srgbClr val="00B050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1" name="꺾인 연결선 34">
            <a:extLst>
              <a:ext uri="{FF2B5EF4-FFF2-40B4-BE49-F238E27FC236}">
                <a16:creationId xmlns:a16="http://schemas.microsoft.com/office/drawing/2014/main" id="{54A8961F-E0BA-43DA-98A1-D0B797DC1A52}"/>
              </a:ext>
            </a:extLst>
          </p:cNvPr>
          <p:cNvCxnSpPr>
            <a:cxnSpLocks/>
            <a:stCxn id="61" idx="1"/>
            <a:endCxn id="185" idx="2"/>
          </p:cNvCxnSpPr>
          <p:nvPr/>
        </p:nvCxnSpPr>
        <p:spPr>
          <a:xfrm rot="10800000">
            <a:off x="3448715" y="5049090"/>
            <a:ext cx="132785" cy="83038"/>
          </a:xfrm>
          <a:prstGeom prst="bentConnector2">
            <a:avLst/>
          </a:prstGeom>
          <a:ln w="6350">
            <a:solidFill>
              <a:srgbClr val="00B05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꺾인 연결선 34">
            <a:extLst>
              <a:ext uri="{FF2B5EF4-FFF2-40B4-BE49-F238E27FC236}">
                <a16:creationId xmlns:a16="http://schemas.microsoft.com/office/drawing/2014/main" id="{0D39268F-A194-4B69-8236-8CA7CBF1E18A}"/>
              </a:ext>
            </a:extLst>
          </p:cNvPr>
          <p:cNvCxnSpPr>
            <a:cxnSpLocks/>
            <a:stCxn id="185" idx="0"/>
            <a:endCxn id="55" idx="1"/>
          </p:cNvCxnSpPr>
          <p:nvPr/>
        </p:nvCxnSpPr>
        <p:spPr>
          <a:xfrm rot="5400000" flipH="1" flipV="1">
            <a:off x="3407194" y="4796484"/>
            <a:ext cx="215826" cy="132785"/>
          </a:xfrm>
          <a:prstGeom prst="bentConnector2">
            <a:avLst/>
          </a:prstGeom>
          <a:ln w="63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3" name="직사각형 182">
            <a:extLst>
              <a:ext uri="{FF2B5EF4-FFF2-40B4-BE49-F238E27FC236}">
                <a16:creationId xmlns:a16="http://schemas.microsoft.com/office/drawing/2014/main" id="{AEA08F2C-3985-455B-AC78-E21F9623DD68}"/>
              </a:ext>
            </a:extLst>
          </p:cNvPr>
          <p:cNvSpPr/>
          <p:nvPr/>
        </p:nvSpPr>
        <p:spPr>
          <a:xfrm>
            <a:off x="2947069" y="4700415"/>
            <a:ext cx="556563" cy="3231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750" dirty="0">
                <a:solidFill>
                  <a:srgbClr val="00B050"/>
                </a:solidFill>
                <a:latin typeface="+mn-lt"/>
                <a:cs typeface="Arial" panose="020B0604020202020204" pitchFamily="34" charset="0"/>
              </a:rPr>
              <a:t>IF-Band</a:t>
            </a:r>
          </a:p>
          <a:p>
            <a:pPr algn="ctr"/>
            <a:r>
              <a:rPr lang="en-US" altLang="ko-KR" sz="750" dirty="0">
                <a:solidFill>
                  <a:srgbClr val="00B050"/>
                </a:solidFill>
                <a:latin typeface="+mn-lt"/>
                <a:cs typeface="Arial" panose="020B0604020202020204" pitchFamily="34" charset="0"/>
              </a:rPr>
              <a:t>Rx Chirp</a:t>
            </a:r>
            <a:endParaRPr lang="ko-KR" altLang="en-US" sz="750" dirty="0">
              <a:solidFill>
                <a:srgbClr val="00B050"/>
              </a:solidFill>
              <a:latin typeface="+mn-lt"/>
              <a:cs typeface="Arial" panose="020B0604020202020204" pitchFamily="34" charset="0"/>
            </a:endParaRPr>
          </a:p>
        </p:txBody>
      </p:sp>
      <p:grpSp>
        <p:nvGrpSpPr>
          <p:cNvPr id="184" name="그룹 183">
            <a:extLst>
              <a:ext uri="{FF2B5EF4-FFF2-40B4-BE49-F238E27FC236}">
                <a16:creationId xmlns:a16="http://schemas.microsoft.com/office/drawing/2014/main" id="{F29785CE-D669-4B06-926B-1DDE8876F371}"/>
              </a:ext>
            </a:extLst>
          </p:cNvPr>
          <p:cNvGrpSpPr/>
          <p:nvPr/>
        </p:nvGrpSpPr>
        <p:grpSpPr>
          <a:xfrm>
            <a:off x="3409566" y="4968855"/>
            <a:ext cx="81000" cy="84870"/>
            <a:chOff x="9621427" y="5156166"/>
            <a:chExt cx="108000" cy="113159"/>
          </a:xfrm>
        </p:grpSpPr>
        <p:sp>
          <p:nvSpPr>
            <p:cNvPr id="185" name="직사각형 184">
              <a:extLst>
                <a:ext uri="{FF2B5EF4-FFF2-40B4-BE49-F238E27FC236}">
                  <a16:creationId xmlns:a16="http://schemas.microsoft.com/office/drawing/2014/main" id="{B1D8C7E7-0027-4D9C-9475-6DC43DAB3AD3}"/>
                </a:ext>
              </a:extLst>
            </p:cNvPr>
            <p:cNvSpPr/>
            <p:nvPr/>
          </p:nvSpPr>
          <p:spPr bwMode="auto">
            <a:xfrm>
              <a:off x="9621427" y="5158745"/>
              <a:ext cx="104400" cy="104400"/>
            </a:xfrm>
            <a:prstGeom prst="rect">
              <a:avLst/>
            </a:prstGeom>
            <a:solidFill>
              <a:schemeClr val="bg1">
                <a:alpha val="0"/>
              </a:schemeClr>
            </a:solidFill>
            <a:ln w="6350" cap="flat" cmpd="sng" algn="ctr">
              <a:noFill/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68580" tIns="34290" rIns="68580" bIns="34290" numCol="1" rtlCol="0" anchor="t" anchorCtr="0" compatLnSpc="1">
              <a:prstTxWarp prst="textNoShape">
                <a:avLst/>
              </a:prstTxWarp>
            </a:bodyPr>
            <a:lstStyle/>
            <a:p>
              <a:pPr algn="ctr" defTabSz="685835" fontAlgn="base">
                <a:spcBef>
                  <a:spcPct val="0"/>
                </a:spcBef>
                <a:spcAft>
                  <a:spcPct val="0"/>
                </a:spcAft>
              </a:pPr>
              <a:endParaRPr lang="en-US" altLang="ko-KR" sz="900" dirty="0">
                <a:latin typeface="+mn-lt"/>
                <a:cs typeface="Arial" panose="020B0604020202020204" pitchFamily="34" charset="0"/>
              </a:endParaRPr>
            </a:p>
          </p:txBody>
        </p:sp>
        <p:grpSp>
          <p:nvGrpSpPr>
            <p:cNvPr id="186" name="그룹 185">
              <a:extLst>
                <a:ext uri="{FF2B5EF4-FFF2-40B4-BE49-F238E27FC236}">
                  <a16:creationId xmlns:a16="http://schemas.microsoft.com/office/drawing/2014/main" id="{737D8FBF-991F-413C-97FB-33D06304DABA}"/>
                </a:ext>
              </a:extLst>
            </p:cNvPr>
            <p:cNvGrpSpPr/>
            <p:nvPr/>
          </p:nvGrpSpPr>
          <p:grpSpPr>
            <a:xfrm>
              <a:off x="9621427" y="5156166"/>
              <a:ext cx="108000" cy="113159"/>
              <a:chOff x="10846836" y="2933955"/>
              <a:chExt cx="108000" cy="113159"/>
            </a:xfrm>
          </p:grpSpPr>
          <p:sp>
            <p:nvSpPr>
              <p:cNvPr id="187" name="원호 186">
                <a:extLst>
                  <a:ext uri="{FF2B5EF4-FFF2-40B4-BE49-F238E27FC236}">
                    <a16:creationId xmlns:a16="http://schemas.microsoft.com/office/drawing/2014/main" id="{F8FF9A25-0210-44CE-ABF1-8D92F349F459}"/>
                  </a:ext>
                </a:extLst>
              </p:cNvPr>
              <p:cNvSpPr/>
              <p:nvPr/>
            </p:nvSpPr>
            <p:spPr>
              <a:xfrm>
                <a:off x="10846836" y="2939114"/>
                <a:ext cx="108000" cy="108000"/>
              </a:xfrm>
              <a:prstGeom prst="arc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 sz="1350"/>
              </a:p>
            </p:txBody>
          </p:sp>
          <p:sp>
            <p:nvSpPr>
              <p:cNvPr id="188" name="원호 187">
                <a:extLst>
                  <a:ext uri="{FF2B5EF4-FFF2-40B4-BE49-F238E27FC236}">
                    <a16:creationId xmlns:a16="http://schemas.microsoft.com/office/drawing/2014/main" id="{35F61869-FB6C-4BA7-BF53-2500AF0C575D}"/>
                  </a:ext>
                </a:extLst>
              </p:cNvPr>
              <p:cNvSpPr/>
              <p:nvPr/>
            </p:nvSpPr>
            <p:spPr>
              <a:xfrm rot="5400000">
                <a:off x="10846836" y="2933955"/>
                <a:ext cx="108000" cy="108000"/>
              </a:xfrm>
              <a:prstGeom prst="arc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 sz="1350"/>
              </a:p>
            </p:txBody>
          </p:sp>
        </p:grpSp>
      </p:grpSp>
      <p:cxnSp>
        <p:nvCxnSpPr>
          <p:cNvPr id="189" name="꺾인 연결선 34">
            <a:extLst>
              <a:ext uri="{FF2B5EF4-FFF2-40B4-BE49-F238E27FC236}">
                <a16:creationId xmlns:a16="http://schemas.microsoft.com/office/drawing/2014/main" id="{5D027180-FB0A-4F6E-8FCC-3070BAA271FC}"/>
              </a:ext>
            </a:extLst>
          </p:cNvPr>
          <p:cNvCxnSpPr>
            <a:cxnSpLocks/>
            <a:stCxn id="57" idx="1"/>
            <a:endCxn id="193" idx="2"/>
          </p:cNvCxnSpPr>
          <p:nvPr/>
        </p:nvCxnSpPr>
        <p:spPr>
          <a:xfrm rot="10800000">
            <a:off x="3454213" y="4432212"/>
            <a:ext cx="127287" cy="79889"/>
          </a:xfrm>
          <a:prstGeom prst="bentConnector2">
            <a:avLst/>
          </a:prstGeom>
          <a:ln w="6350">
            <a:solidFill>
              <a:srgbClr val="00B05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꺾인 연결선 34">
            <a:extLst>
              <a:ext uri="{FF2B5EF4-FFF2-40B4-BE49-F238E27FC236}">
                <a16:creationId xmlns:a16="http://schemas.microsoft.com/office/drawing/2014/main" id="{7973D820-F935-4E08-B39C-DB1918F6FEFD}"/>
              </a:ext>
            </a:extLst>
          </p:cNvPr>
          <p:cNvCxnSpPr>
            <a:cxnSpLocks/>
            <a:stCxn id="193" idx="0"/>
            <a:endCxn id="51" idx="1"/>
          </p:cNvCxnSpPr>
          <p:nvPr/>
        </p:nvCxnSpPr>
        <p:spPr>
          <a:xfrm rot="5400000" flipH="1" flipV="1">
            <a:off x="3408163" y="4180576"/>
            <a:ext cx="219386" cy="127287"/>
          </a:xfrm>
          <a:prstGeom prst="bentConnector2">
            <a:avLst/>
          </a:prstGeom>
          <a:ln w="63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1" name="직사각형 190">
            <a:extLst>
              <a:ext uri="{FF2B5EF4-FFF2-40B4-BE49-F238E27FC236}">
                <a16:creationId xmlns:a16="http://schemas.microsoft.com/office/drawing/2014/main" id="{AAFBE853-23D9-4249-9BC1-E3960C42FD2C}"/>
              </a:ext>
            </a:extLst>
          </p:cNvPr>
          <p:cNvSpPr/>
          <p:nvPr/>
        </p:nvSpPr>
        <p:spPr>
          <a:xfrm>
            <a:off x="3005184" y="4094967"/>
            <a:ext cx="508474" cy="3231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750" dirty="0">
                <a:solidFill>
                  <a:srgbClr val="00B050"/>
                </a:solidFill>
                <a:latin typeface="+mn-lt"/>
                <a:cs typeface="Arial" panose="020B0604020202020204" pitchFamily="34" charset="0"/>
              </a:rPr>
              <a:t>Mission</a:t>
            </a:r>
          </a:p>
          <a:p>
            <a:pPr algn="ctr"/>
            <a:r>
              <a:rPr lang="en-US" altLang="ko-KR" sz="750" dirty="0">
                <a:solidFill>
                  <a:srgbClr val="00B050"/>
                </a:solidFill>
                <a:latin typeface="+mn-lt"/>
                <a:cs typeface="Arial" panose="020B0604020202020204" pitchFamily="34" charset="0"/>
              </a:rPr>
              <a:t>Data</a:t>
            </a:r>
            <a:endParaRPr lang="ko-KR" altLang="en-US" sz="750" dirty="0">
              <a:solidFill>
                <a:srgbClr val="00B050"/>
              </a:solidFill>
              <a:latin typeface="+mn-lt"/>
              <a:cs typeface="Arial" panose="020B0604020202020204" pitchFamily="34" charset="0"/>
            </a:endParaRPr>
          </a:p>
        </p:txBody>
      </p:sp>
      <p:grpSp>
        <p:nvGrpSpPr>
          <p:cNvPr id="192" name="그룹 191">
            <a:extLst>
              <a:ext uri="{FF2B5EF4-FFF2-40B4-BE49-F238E27FC236}">
                <a16:creationId xmlns:a16="http://schemas.microsoft.com/office/drawing/2014/main" id="{D8E5BC11-AC09-4BF7-AB23-2F47A5FDFB0B}"/>
              </a:ext>
            </a:extLst>
          </p:cNvPr>
          <p:cNvGrpSpPr/>
          <p:nvPr/>
        </p:nvGrpSpPr>
        <p:grpSpPr>
          <a:xfrm>
            <a:off x="3415063" y="4351977"/>
            <a:ext cx="81000" cy="84870"/>
            <a:chOff x="9621427" y="5156166"/>
            <a:chExt cx="108000" cy="113159"/>
          </a:xfrm>
        </p:grpSpPr>
        <p:sp>
          <p:nvSpPr>
            <p:cNvPr id="193" name="직사각형 192">
              <a:extLst>
                <a:ext uri="{FF2B5EF4-FFF2-40B4-BE49-F238E27FC236}">
                  <a16:creationId xmlns:a16="http://schemas.microsoft.com/office/drawing/2014/main" id="{E3DA1E88-EF14-4F02-82CC-CF27BB93A9CF}"/>
                </a:ext>
              </a:extLst>
            </p:cNvPr>
            <p:cNvSpPr/>
            <p:nvPr/>
          </p:nvSpPr>
          <p:spPr bwMode="auto">
            <a:xfrm>
              <a:off x="9621427" y="5158745"/>
              <a:ext cx="104400" cy="104400"/>
            </a:xfrm>
            <a:prstGeom prst="rect">
              <a:avLst/>
            </a:prstGeom>
            <a:solidFill>
              <a:schemeClr val="bg1">
                <a:alpha val="0"/>
              </a:schemeClr>
            </a:solidFill>
            <a:ln w="6350" cap="flat" cmpd="sng" algn="ctr">
              <a:noFill/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68580" tIns="34290" rIns="68580" bIns="34290" numCol="1" rtlCol="0" anchor="t" anchorCtr="0" compatLnSpc="1">
              <a:prstTxWarp prst="textNoShape">
                <a:avLst/>
              </a:prstTxWarp>
            </a:bodyPr>
            <a:lstStyle/>
            <a:p>
              <a:pPr algn="ctr" defTabSz="685835" fontAlgn="base">
                <a:spcBef>
                  <a:spcPct val="0"/>
                </a:spcBef>
                <a:spcAft>
                  <a:spcPct val="0"/>
                </a:spcAft>
              </a:pPr>
              <a:endParaRPr lang="en-US" altLang="ko-KR" sz="900" dirty="0">
                <a:latin typeface="+mn-lt"/>
                <a:cs typeface="Arial" panose="020B0604020202020204" pitchFamily="34" charset="0"/>
              </a:endParaRPr>
            </a:p>
          </p:txBody>
        </p:sp>
        <p:grpSp>
          <p:nvGrpSpPr>
            <p:cNvPr id="194" name="그룹 193">
              <a:extLst>
                <a:ext uri="{FF2B5EF4-FFF2-40B4-BE49-F238E27FC236}">
                  <a16:creationId xmlns:a16="http://schemas.microsoft.com/office/drawing/2014/main" id="{5C22AD5F-902F-4089-AE77-AD76B08ED6CF}"/>
                </a:ext>
              </a:extLst>
            </p:cNvPr>
            <p:cNvGrpSpPr/>
            <p:nvPr/>
          </p:nvGrpSpPr>
          <p:grpSpPr>
            <a:xfrm>
              <a:off x="9621427" y="5156166"/>
              <a:ext cx="108000" cy="113159"/>
              <a:chOff x="10846836" y="2933955"/>
              <a:chExt cx="108000" cy="113159"/>
            </a:xfrm>
          </p:grpSpPr>
          <p:sp>
            <p:nvSpPr>
              <p:cNvPr id="195" name="원호 194">
                <a:extLst>
                  <a:ext uri="{FF2B5EF4-FFF2-40B4-BE49-F238E27FC236}">
                    <a16:creationId xmlns:a16="http://schemas.microsoft.com/office/drawing/2014/main" id="{11DEE5E7-3D5E-449E-93CB-B20AF70DE82F}"/>
                  </a:ext>
                </a:extLst>
              </p:cNvPr>
              <p:cNvSpPr/>
              <p:nvPr/>
            </p:nvSpPr>
            <p:spPr>
              <a:xfrm>
                <a:off x="10846836" y="2939114"/>
                <a:ext cx="108000" cy="108000"/>
              </a:xfrm>
              <a:prstGeom prst="arc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 sz="1350"/>
              </a:p>
            </p:txBody>
          </p:sp>
          <p:sp>
            <p:nvSpPr>
              <p:cNvPr id="196" name="원호 195">
                <a:extLst>
                  <a:ext uri="{FF2B5EF4-FFF2-40B4-BE49-F238E27FC236}">
                    <a16:creationId xmlns:a16="http://schemas.microsoft.com/office/drawing/2014/main" id="{4400B7E6-C8D0-4F74-ACEF-89BD82014F13}"/>
                  </a:ext>
                </a:extLst>
              </p:cNvPr>
              <p:cNvSpPr/>
              <p:nvPr/>
            </p:nvSpPr>
            <p:spPr>
              <a:xfrm rot="5400000">
                <a:off x="10846836" y="2933955"/>
                <a:ext cx="108000" cy="108000"/>
              </a:xfrm>
              <a:prstGeom prst="arc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 sz="1350"/>
              </a:p>
            </p:txBody>
          </p:sp>
        </p:grpSp>
      </p:grpSp>
      <p:sp>
        <p:nvSpPr>
          <p:cNvPr id="197" name="직사각형 196">
            <a:extLst>
              <a:ext uri="{FF2B5EF4-FFF2-40B4-BE49-F238E27FC236}">
                <a16:creationId xmlns:a16="http://schemas.microsoft.com/office/drawing/2014/main" id="{615C1486-2686-4ECE-BD20-9E5E11085F80}"/>
              </a:ext>
            </a:extLst>
          </p:cNvPr>
          <p:cNvSpPr/>
          <p:nvPr/>
        </p:nvSpPr>
        <p:spPr>
          <a:xfrm>
            <a:off x="628017" y="5097190"/>
            <a:ext cx="737702" cy="20774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750" dirty="0">
                <a:solidFill>
                  <a:srgbClr val="00B050"/>
                </a:solidFill>
                <a:latin typeface="+mn-lt"/>
                <a:cs typeface="Arial" panose="020B0604020202020204" pitchFamily="34" charset="0"/>
              </a:rPr>
              <a:t>Mission Data</a:t>
            </a:r>
            <a:endParaRPr lang="ko-KR" altLang="en-US" sz="750" dirty="0">
              <a:solidFill>
                <a:srgbClr val="00B050"/>
              </a:solidFill>
              <a:latin typeface="+mn-lt"/>
              <a:cs typeface="Arial" panose="020B0604020202020204" pitchFamily="34" charset="0"/>
            </a:endParaRPr>
          </a:p>
        </p:txBody>
      </p:sp>
      <p:cxnSp>
        <p:nvCxnSpPr>
          <p:cNvPr id="198" name="꺾인 연결선 34">
            <a:extLst>
              <a:ext uri="{FF2B5EF4-FFF2-40B4-BE49-F238E27FC236}">
                <a16:creationId xmlns:a16="http://schemas.microsoft.com/office/drawing/2014/main" id="{65FA3462-958C-4906-AB32-FDC84324BFE7}"/>
              </a:ext>
            </a:extLst>
          </p:cNvPr>
          <p:cNvCxnSpPr>
            <a:cxnSpLocks/>
            <a:stCxn id="201" idx="0"/>
            <a:endCxn id="56" idx="1"/>
          </p:cNvCxnSpPr>
          <p:nvPr/>
        </p:nvCxnSpPr>
        <p:spPr>
          <a:xfrm rot="5400000" flipH="1" flipV="1">
            <a:off x="3074522" y="4467562"/>
            <a:ext cx="340938" cy="673018"/>
          </a:xfrm>
          <a:prstGeom prst="bentConnector2">
            <a:avLst/>
          </a:prstGeom>
          <a:ln w="635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9" name="직사각형 198">
            <a:extLst>
              <a:ext uri="{FF2B5EF4-FFF2-40B4-BE49-F238E27FC236}">
                <a16:creationId xmlns:a16="http://schemas.microsoft.com/office/drawing/2014/main" id="{38B578E4-7954-42E8-A9DB-18E4F497314C}"/>
              </a:ext>
            </a:extLst>
          </p:cNvPr>
          <p:cNvSpPr/>
          <p:nvPr/>
        </p:nvSpPr>
        <p:spPr>
          <a:xfrm>
            <a:off x="2893505" y="5235520"/>
            <a:ext cx="627096" cy="20774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750" dirty="0">
                <a:solidFill>
                  <a:srgbClr val="7030A0"/>
                </a:solidFill>
                <a:latin typeface="+mn-lt"/>
                <a:cs typeface="Arial" panose="020B0604020202020204" pitchFamily="34" charset="0"/>
              </a:rPr>
              <a:t>Ref. Clock</a:t>
            </a:r>
            <a:endParaRPr lang="ko-KR" altLang="en-US" sz="750" dirty="0">
              <a:solidFill>
                <a:srgbClr val="7030A0"/>
              </a:solidFill>
              <a:latin typeface="+mn-lt"/>
              <a:cs typeface="Arial" panose="020B0604020202020204" pitchFamily="34" charset="0"/>
            </a:endParaRPr>
          </a:p>
        </p:txBody>
      </p:sp>
      <p:grpSp>
        <p:nvGrpSpPr>
          <p:cNvPr id="200" name="그룹 199">
            <a:extLst>
              <a:ext uri="{FF2B5EF4-FFF2-40B4-BE49-F238E27FC236}">
                <a16:creationId xmlns:a16="http://schemas.microsoft.com/office/drawing/2014/main" id="{3C5589D0-037D-42CE-86A3-ED33C617F622}"/>
              </a:ext>
            </a:extLst>
          </p:cNvPr>
          <p:cNvGrpSpPr/>
          <p:nvPr/>
        </p:nvGrpSpPr>
        <p:grpSpPr>
          <a:xfrm>
            <a:off x="2869332" y="4972605"/>
            <a:ext cx="81000" cy="84870"/>
            <a:chOff x="9621427" y="5156166"/>
            <a:chExt cx="108000" cy="113159"/>
          </a:xfrm>
        </p:grpSpPr>
        <p:sp>
          <p:nvSpPr>
            <p:cNvPr id="201" name="직사각형 200">
              <a:extLst>
                <a:ext uri="{FF2B5EF4-FFF2-40B4-BE49-F238E27FC236}">
                  <a16:creationId xmlns:a16="http://schemas.microsoft.com/office/drawing/2014/main" id="{6F232ECE-10D8-46A3-9B17-44BFA930DA1E}"/>
                </a:ext>
              </a:extLst>
            </p:cNvPr>
            <p:cNvSpPr/>
            <p:nvPr/>
          </p:nvSpPr>
          <p:spPr bwMode="auto">
            <a:xfrm>
              <a:off x="9621427" y="5158745"/>
              <a:ext cx="104400" cy="104400"/>
            </a:xfrm>
            <a:prstGeom prst="rect">
              <a:avLst/>
            </a:prstGeom>
            <a:solidFill>
              <a:schemeClr val="bg1">
                <a:alpha val="0"/>
              </a:schemeClr>
            </a:solidFill>
            <a:ln w="6350" cap="flat" cmpd="sng" algn="ctr">
              <a:noFill/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68580" tIns="34290" rIns="68580" bIns="34290" numCol="1" rtlCol="0" anchor="t" anchorCtr="0" compatLnSpc="1">
              <a:prstTxWarp prst="textNoShape">
                <a:avLst/>
              </a:prstTxWarp>
            </a:bodyPr>
            <a:lstStyle/>
            <a:p>
              <a:pPr algn="ctr" defTabSz="685835" fontAlgn="base">
                <a:spcBef>
                  <a:spcPct val="0"/>
                </a:spcBef>
                <a:spcAft>
                  <a:spcPct val="0"/>
                </a:spcAft>
              </a:pPr>
              <a:endParaRPr lang="en-US" altLang="ko-KR" sz="900" dirty="0">
                <a:latin typeface="+mn-lt"/>
                <a:cs typeface="Arial" panose="020B0604020202020204" pitchFamily="34" charset="0"/>
              </a:endParaRPr>
            </a:p>
          </p:txBody>
        </p:sp>
        <p:grpSp>
          <p:nvGrpSpPr>
            <p:cNvPr id="202" name="그룹 201">
              <a:extLst>
                <a:ext uri="{FF2B5EF4-FFF2-40B4-BE49-F238E27FC236}">
                  <a16:creationId xmlns:a16="http://schemas.microsoft.com/office/drawing/2014/main" id="{055EAB0A-5852-45B5-97FB-D0A8B1B5A9A9}"/>
                </a:ext>
              </a:extLst>
            </p:cNvPr>
            <p:cNvGrpSpPr/>
            <p:nvPr/>
          </p:nvGrpSpPr>
          <p:grpSpPr>
            <a:xfrm>
              <a:off x="9621427" y="5156166"/>
              <a:ext cx="108000" cy="113159"/>
              <a:chOff x="10846836" y="2933955"/>
              <a:chExt cx="108000" cy="113159"/>
            </a:xfrm>
          </p:grpSpPr>
          <p:sp>
            <p:nvSpPr>
              <p:cNvPr id="203" name="원호 202">
                <a:extLst>
                  <a:ext uri="{FF2B5EF4-FFF2-40B4-BE49-F238E27FC236}">
                    <a16:creationId xmlns:a16="http://schemas.microsoft.com/office/drawing/2014/main" id="{1A63DA49-19D9-48F0-A29B-1A50FDDF8F79}"/>
                  </a:ext>
                </a:extLst>
              </p:cNvPr>
              <p:cNvSpPr/>
              <p:nvPr/>
            </p:nvSpPr>
            <p:spPr>
              <a:xfrm>
                <a:off x="10846836" y="2939114"/>
                <a:ext cx="108000" cy="108000"/>
              </a:xfrm>
              <a:prstGeom prst="arc">
                <a:avLst/>
              </a:prstGeom>
              <a:ln>
                <a:solidFill>
                  <a:srgbClr val="7030A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 sz="1350"/>
              </a:p>
            </p:txBody>
          </p:sp>
          <p:sp>
            <p:nvSpPr>
              <p:cNvPr id="204" name="원호 203">
                <a:extLst>
                  <a:ext uri="{FF2B5EF4-FFF2-40B4-BE49-F238E27FC236}">
                    <a16:creationId xmlns:a16="http://schemas.microsoft.com/office/drawing/2014/main" id="{812D96A7-045F-4E3D-8B53-D0E81CD6EEEC}"/>
                  </a:ext>
                </a:extLst>
              </p:cNvPr>
              <p:cNvSpPr/>
              <p:nvPr/>
            </p:nvSpPr>
            <p:spPr>
              <a:xfrm rot="5400000">
                <a:off x="10846836" y="2933955"/>
                <a:ext cx="108000" cy="108000"/>
              </a:xfrm>
              <a:prstGeom prst="arc">
                <a:avLst/>
              </a:prstGeom>
              <a:ln>
                <a:solidFill>
                  <a:srgbClr val="7030A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 sz="1350"/>
              </a:p>
            </p:txBody>
          </p:sp>
        </p:grpSp>
      </p:grpSp>
      <p:cxnSp>
        <p:nvCxnSpPr>
          <p:cNvPr id="205" name="꺾인 연결선 34">
            <a:extLst>
              <a:ext uri="{FF2B5EF4-FFF2-40B4-BE49-F238E27FC236}">
                <a16:creationId xmlns:a16="http://schemas.microsoft.com/office/drawing/2014/main" id="{9303BD5E-6372-4484-A995-C9988593613F}"/>
              </a:ext>
            </a:extLst>
          </p:cNvPr>
          <p:cNvCxnSpPr>
            <a:cxnSpLocks/>
            <a:stCxn id="60" idx="1"/>
            <a:endCxn id="201" idx="2"/>
          </p:cNvCxnSpPr>
          <p:nvPr/>
        </p:nvCxnSpPr>
        <p:spPr>
          <a:xfrm rot="10800000">
            <a:off x="2908485" y="5052841"/>
            <a:ext cx="673018" cy="200788"/>
          </a:xfrm>
          <a:prstGeom prst="bentConnector2">
            <a:avLst/>
          </a:prstGeom>
          <a:ln w="6350">
            <a:solidFill>
              <a:srgbClr val="7030A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" name="꺾인 연결선 34">
            <a:extLst>
              <a:ext uri="{FF2B5EF4-FFF2-40B4-BE49-F238E27FC236}">
                <a16:creationId xmlns:a16="http://schemas.microsoft.com/office/drawing/2014/main" id="{6B0EBB11-88BD-4A2E-8D8E-2BC5E768C24F}"/>
              </a:ext>
            </a:extLst>
          </p:cNvPr>
          <p:cNvCxnSpPr>
            <a:cxnSpLocks/>
            <a:stCxn id="224" idx="1"/>
            <a:endCxn id="197" idx="3"/>
          </p:cNvCxnSpPr>
          <p:nvPr/>
        </p:nvCxnSpPr>
        <p:spPr>
          <a:xfrm rot="10800000" flipV="1">
            <a:off x="1365720" y="3349177"/>
            <a:ext cx="2215783" cy="1851888"/>
          </a:xfrm>
          <a:prstGeom prst="bentConnector3">
            <a:avLst>
              <a:gd name="adj1" fmla="val 50000"/>
            </a:avLst>
          </a:prstGeom>
          <a:ln w="63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7" name="꺾인 연결선 34">
            <a:extLst>
              <a:ext uri="{FF2B5EF4-FFF2-40B4-BE49-F238E27FC236}">
                <a16:creationId xmlns:a16="http://schemas.microsoft.com/office/drawing/2014/main" id="{5493C9E1-652A-449E-9007-8C943AC6B5A1}"/>
              </a:ext>
            </a:extLst>
          </p:cNvPr>
          <p:cNvCxnSpPr>
            <a:cxnSpLocks/>
            <a:stCxn id="68" idx="1"/>
            <a:endCxn id="12" idx="3"/>
          </p:cNvCxnSpPr>
          <p:nvPr/>
        </p:nvCxnSpPr>
        <p:spPr>
          <a:xfrm rot="10800000" flipV="1">
            <a:off x="1351567" y="2850537"/>
            <a:ext cx="2229935" cy="2217554"/>
          </a:xfrm>
          <a:prstGeom prst="bentConnector3">
            <a:avLst>
              <a:gd name="adj1" fmla="val 91006"/>
            </a:avLst>
          </a:prstGeom>
          <a:ln w="63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8" name="그룹 207">
            <a:extLst>
              <a:ext uri="{FF2B5EF4-FFF2-40B4-BE49-F238E27FC236}">
                <a16:creationId xmlns:a16="http://schemas.microsoft.com/office/drawing/2014/main" id="{DDB7B033-3283-4008-A834-6BD6EB8F944B}"/>
              </a:ext>
            </a:extLst>
          </p:cNvPr>
          <p:cNvGrpSpPr/>
          <p:nvPr/>
        </p:nvGrpSpPr>
        <p:grpSpPr>
          <a:xfrm>
            <a:off x="2662855" y="2578784"/>
            <a:ext cx="81000" cy="333021"/>
            <a:chOff x="9621427" y="5156166"/>
            <a:chExt cx="108000" cy="113159"/>
          </a:xfrm>
        </p:grpSpPr>
        <p:sp>
          <p:nvSpPr>
            <p:cNvPr id="209" name="직사각형 208">
              <a:extLst>
                <a:ext uri="{FF2B5EF4-FFF2-40B4-BE49-F238E27FC236}">
                  <a16:creationId xmlns:a16="http://schemas.microsoft.com/office/drawing/2014/main" id="{E191344B-1216-4726-A685-84A49169B729}"/>
                </a:ext>
              </a:extLst>
            </p:cNvPr>
            <p:cNvSpPr/>
            <p:nvPr/>
          </p:nvSpPr>
          <p:spPr bwMode="auto">
            <a:xfrm>
              <a:off x="9621427" y="5158745"/>
              <a:ext cx="104400" cy="104400"/>
            </a:xfrm>
            <a:prstGeom prst="rect">
              <a:avLst/>
            </a:prstGeom>
            <a:solidFill>
              <a:schemeClr val="bg1">
                <a:alpha val="0"/>
              </a:schemeClr>
            </a:solidFill>
            <a:ln w="6350" cap="flat" cmpd="sng" algn="ctr">
              <a:noFill/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68580" tIns="34290" rIns="68580" bIns="34290" numCol="1" rtlCol="0" anchor="t" anchorCtr="0" compatLnSpc="1">
              <a:prstTxWarp prst="textNoShape">
                <a:avLst/>
              </a:prstTxWarp>
            </a:bodyPr>
            <a:lstStyle/>
            <a:p>
              <a:pPr algn="ctr" defTabSz="685835" fontAlgn="base">
                <a:spcBef>
                  <a:spcPct val="0"/>
                </a:spcBef>
                <a:spcAft>
                  <a:spcPct val="0"/>
                </a:spcAft>
              </a:pPr>
              <a:endParaRPr lang="en-US" altLang="ko-KR" sz="900" dirty="0">
                <a:latin typeface="+mn-lt"/>
                <a:cs typeface="Arial" panose="020B0604020202020204" pitchFamily="34" charset="0"/>
              </a:endParaRPr>
            </a:p>
          </p:txBody>
        </p:sp>
        <p:grpSp>
          <p:nvGrpSpPr>
            <p:cNvPr id="210" name="그룹 209">
              <a:extLst>
                <a:ext uri="{FF2B5EF4-FFF2-40B4-BE49-F238E27FC236}">
                  <a16:creationId xmlns:a16="http://schemas.microsoft.com/office/drawing/2014/main" id="{C007A9EC-DA05-4706-B38F-D8D3C2A1C449}"/>
                </a:ext>
              </a:extLst>
            </p:cNvPr>
            <p:cNvGrpSpPr/>
            <p:nvPr/>
          </p:nvGrpSpPr>
          <p:grpSpPr>
            <a:xfrm>
              <a:off x="9621427" y="5156166"/>
              <a:ext cx="108000" cy="113159"/>
              <a:chOff x="10846836" y="2933955"/>
              <a:chExt cx="108000" cy="113159"/>
            </a:xfrm>
          </p:grpSpPr>
          <p:sp>
            <p:nvSpPr>
              <p:cNvPr id="211" name="원호 210">
                <a:extLst>
                  <a:ext uri="{FF2B5EF4-FFF2-40B4-BE49-F238E27FC236}">
                    <a16:creationId xmlns:a16="http://schemas.microsoft.com/office/drawing/2014/main" id="{4FAC1AAB-712B-45CA-A65D-6A4B5067BD72}"/>
                  </a:ext>
                </a:extLst>
              </p:cNvPr>
              <p:cNvSpPr/>
              <p:nvPr/>
            </p:nvSpPr>
            <p:spPr>
              <a:xfrm>
                <a:off x="10846836" y="2939114"/>
                <a:ext cx="108000" cy="108000"/>
              </a:xfrm>
              <a:prstGeom prst="arc">
                <a:avLst/>
              </a:prstGeom>
              <a:ln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 sz="1350"/>
              </a:p>
            </p:txBody>
          </p:sp>
          <p:sp>
            <p:nvSpPr>
              <p:cNvPr id="212" name="원호 211">
                <a:extLst>
                  <a:ext uri="{FF2B5EF4-FFF2-40B4-BE49-F238E27FC236}">
                    <a16:creationId xmlns:a16="http://schemas.microsoft.com/office/drawing/2014/main" id="{574BABF8-76AD-4464-9077-5162F40F2897}"/>
                  </a:ext>
                </a:extLst>
              </p:cNvPr>
              <p:cNvSpPr/>
              <p:nvPr/>
            </p:nvSpPr>
            <p:spPr>
              <a:xfrm rot="5400000">
                <a:off x="10846836" y="2933955"/>
                <a:ext cx="108000" cy="108000"/>
              </a:xfrm>
              <a:prstGeom prst="arc">
                <a:avLst/>
              </a:prstGeom>
              <a:ln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 sz="1350"/>
              </a:p>
            </p:txBody>
          </p:sp>
        </p:grpSp>
      </p:grpSp>
      <p:sp>
        <p:nvSpPr>
          <p:cNvPr id="213" name="직사각형 212">
            <a:extLst>
              <a:ext uri="{FF2B5EF4-FFF2-40B4-BE49-F238E27FC236}">
                <a16:creationId xmlns:a16="http://schemas.microsoft.com/office/drawing/2014/main" id="{795FBD4E-637A-4F3A-8706-A82536B90CB5}"/>
              </a:ext>
            </a:extLst>
          </p:cNvPr>
          <p:cNvSpPr/>
          <p:nvPr/>
        </p:nvSpPr>
        <p:spPr>
          <a:xfrm>
            <a:off x="857657" y="4980130"/>
            <a:ext cx="479619" cy="20774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altLang="ko-KR" sz="750" dirty="0">
                <a:solidFill>
                  <a:srgbClr val="0070C0"/>
                </a:solidFill>
                <a:latin typeface="+mn-lt"/>
                <a:cs typeface="Arial" panose="020B0604020202020204" pitchFamily="34" charset="0"/>
              </a:rPr>
              <a:t>TM/TC</a:t>
            </a:r>
          </a:p>
        </p:txBody>
      </p:sp>
      <p:cxnSp>
        <p:nvCxnSpPr>
          <p:cNvPr id="214" name="직선 화살표 연결선 213">
            <a:extLst>
              <a:ext uri="{FF2B5EF4-FFF2-40B4-BE49-F238E27FC236}">
                <a16:creationId xmlns:a16="http://schemas.microsoft.com/office/drawing/2014/main" id="{60B5667C-4F40-4693-A1D7-6312086E303C}"/>
              </a:ext>
            </a:extLst>
          </p:cNvPr>
          <p:cNvCxnSpPr>
            <a:cxnSpLocks/>
            <a:stCxn id="128" idx="0"/>
            <a:endCxn id="209" idx="2"/>
          </p:cNvCxnSpPr>
          <p:nvPr/>
        </p:nvCxnSpPr>
        <p:spPr bwMode="auto">
          <a:xfrm flipH="1" flipV="1">
            <a:off x="2702005" y="2893618"/>
            <a:ext cx="781" cy="424250"/>
          </a:xfrm>
          <a:prstGeom prst="straightConnector1">
            <a:avLst/>
          </a:prstGeom>
          <a:solidFill>
            <a:schemeClr val="accent1"/>
          </a:solidFill>
          <a:ln w="6350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15" name="직사각형 214">
            <a:extLst>
              <a:ext uri="{FF2B5EF4-FFF2-40B4-BE49-F238E27FC236}">
                <a16:creationId xmlns:a16="http://schemas.microsoft.com/office/drawing/2014/main" id="{03CDC213-D305-4830-8849-6834AD2F0EE8}"/>
              </a:ext>
            </a:extLst>
          </p:cNvPr>
          <p:cNvSpPr/>
          <p:nvPr/>
        </p:nvSpPr>
        <p:spPr>
          <a:xfrm>
            <a:off x="862421" y="2514343"/>
            <a:ext cx="479619" cy="20774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altLang="ko-KR" sz="750" dirty="0">
                <a:solidFill>
                  <a:srgbClr val="0070C0"/>
                </a:solidFill>
                <a:latin typeface="+mn-lt"/>
                <a:cs typeface="Arial" panose="020B0604020202020204" pitchFamily="34" charset="0"/>
              </a:rPr>
              <a:t>TM/TC</a:t>
            </a:r>
          </a:p>
        </p:txBody>
      </p:sp>
      <p:sp>
        <p:nvSpPr>
          <p:cNvPr id="216" name="직사각형 215">
            <a:extLst>
              <a:ext uri="{FF2B5EF4-FFF2-40B4-BE49-F238E27FC236}">
                <a16:creationId xmlns:a16="http://schemas.microsoft.com/office/drawing/2014/main" id="{B67D8E4B-2B91-4CF9-8278-674A76791053}"/>
              </a:ext>
            </a:extLst>
          </p:cNvPr>
          <p:cNvSpPr/>
          <p:nvPr/>
        </p:nvSpPr>
        <p:spPr>
          <a:xfrm>
            <a:off x="970728" y="2621321"/>
            <a:ext cx="377026" cy="20774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altLang="ko-KR" sz="750" dirty="0">
                <a:solidFill>
                  <a:srgbClr val="0070C0"/>
                </a:solidFill>
                <a:latin typeface="+mn-lt"/>
                <a:cs typeface="Arial" panose="020B0604020202020204" pitchFamily="34" charset="0"/>
              </a:rPr>
              <a:t>PPS</a:t>
            </a:r>
          </a:p>
        </p:txBody>
      </p:sp>
      <p:cxnSp>
        <p:nvCxnSpPr>
          <p:cNvPr id="217" name="꺾인 연결선 34">
            <a:extLst>
              <a:ext uri="{FF2B5EF4-FFF2-40B4-BE49-F238E27FC236}">
                <a16:creationId xmlns:a16="http://schemas.microsoft.com/office/drawing/2014/main" id="{96F5BEC8-5D08-4797-BC91-EBFFF78EFDF3}"/>
              </a:ext>
            </a:extLst>
          </p:cNvPr>
          <p:cNvCxnSpPr>
            <a:cxnSpLocks/>
            <a:stCxn id="47" idx="1"/>
            <a:endCxn id="13" idx="3"/>
          </p:cNvCxnSpPr>
          <p:nvPr/>
        </p:nvCxnSpPr>
        <p:spPr>
          <a:xfrm rot="10800000" flipV="1">
            <a:off x="1347402" y="2776314"/>
            <a:ext cx="2234099" cy="2170346"/>
          </a:xfrm>
          <a:prstGeom prst="bentConnector3">
            <a:avLst>
              <a:gd name="adj1" fmla="val 94447"/>
            </a:avLst>
          </a:prstGeom>
          <a:ln w="63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8" name="직사각형 217">
            <a:extLst>
              <a:ext uri="{FF2B5EF4-FFF2-40B4-BE49-F238E27FC236}">
                <a16:creationId xmlns:a16="http://schemas.microsoft.com/office/drawing/2014/main" id="{00AE1BF9-D4BA-480D-92D2-B60CC0B907BD}"/>
              </a:ext>
            </a:extLst>
          </p:cNvPr>
          <p:cNvSpPr/>
          <p:nvPr/>
        </p:nvSpPr>
        <p:spPr>
          <a:xfrm>
            <a:off x="546678" y="4854400"/>
            <a:ext cx="790601" cy="20774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altLang="ko-KR" sz="750" dirty="0">
                <a:solidFill>
                  <a:srgbClr val="0070C0"/>
                </a:solidFill>
                <a:latin typeface="+mn-lt"/>
                <a:cs typeface="Arial" panose="020B0604020202020204" pitchFamily="34" charset="0"/>
              </a:rPr>
              <a:t>Power Control</a:t>
            </a:r>
          </a:p>
        </p:txBody>
      </p:sp>
      <p:cxnSp>
        <p:nvCxnSpPr>
          <p:cNvPr id="219" name="직선 화살표 연결선 218">
            <a:extLst>
              <a:ext uri="{FF2B5EF4-FFF2-40B4-BE49-F238E27FC236}">
                <a16:creationId xmlns:a16="http://schemas.microsoft.com/office/drawing/2014/main" id="{9ADC6A9E-3E90-4C5E-BDFA-11745615353A}"/>
              </a:ext>
            </a:extLst>
          </p:cNvPr>
          <p:cNvCxnSpPr>
            <a:cxnSpLocks/>
            <a:stCxn id="42" idx="3"/>
            <a:endCxn id="77" idx="1"/>
          </p:cNvCxnSpPr>
          <p:nvPr/>
        </p:nvCxnSpPr>
        <p:spPr bwMode="auto">
          <a:xfrm flipV="1">
            <a:off x="5492577" y="2725614"/>
            <a:ext cx="2262942" cy="0"/>
          </a:xfrm>
          <a:prstGeom prst="straightConnector1">
            <a:avLst/>
          </a:prstGeom>
          <a:solidFill>
            <a:schemeClr val="accent1"/>
          </a:solidFill>
          <a:ln w="6350" cap="flat" cmpd="sng" algn="ctr">
            <a:solidFill>
              <a:srgbClr val="0070C0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20" name="직사각형 219">
            <a:extLst>
              <a:ext uri="{FF2B5EF4-FFF2-40B4-BE49-F238E27FC236}">
                <a16:creationId xmlns:a16="http://schemas.microsoft.com/office/drawing/2014/main" id="{0300171B-E576-4B6E-B896-FEDD6F2B661D}"/>
              </a:ext>
            </a:extLst>
          </p:cNvPr>
          <p:cNvSpPr/>
          <p:nvPr/>
        </p:nvSpPr>
        <p:spPr>
          <a:xfrm>
            <a:off x="7762874" y="2637568"/>
            <a:ext cx="790601" cy="20774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750" dirty="0">
                <a:solidFill>
                  <a:srgbClr val="0070C0"/>
                </a:solidFill>
                <a:latin typeface="+mn-lt"/>
                <a:cs typeface="Arial" panose="020B0604020202020204" pitchFamily="34" charset="0"/>
              </a:rPr>
              <a:t>Power Control</a:t>
            </a:r>
          </a:p>
        </p:txBody>
      </p:sp>
      <p:sp>
        <p:nvSpPr>
          <p:cNvPr id="221" name="직사각형 220">
            <a:extLst>
              <a:ext uri="{FF2B5EF4-FFF2-40B4-BE49-F238E27FC236}">
                <a16:creationId xmlns:a16="http://schemas.microsoft.com/office/drawing/2014/main" id="{69AECCA9-6D40-49A4-A7C6-5881F687F00B}"/>
              </a:ext>
            </a:extLst>
          </p:cNvPr>
          <p:cNvSpPr/>
          <p:nvPr/>
        </p:nvSpPr>
        <p:spPr>
          <a:xfrm>
            <a:off x="7759497" y="4672381"/>
            <a:ext cx="998991" cy="3231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750" dirty="0">
                <a:solidFill>
                  <a:srgbClr val="00B050"/>
                </a:solidFill>
                <a:latin typeface="+mn-lt"/>
                <a:cs typeface="Arial" panose="020B0604020202020204" pitchFamily="34" charset="0"/>
              </a:rPr>
              <a:t>X-Band Tx Chirp</a:t>
            </a:r>
          </a:p>
          <a:p>
            <a:r>
              <a:rPr lang="en-US" altLang="ko-KR" sz="750" dirty="0">
                <a:solidFill>
                  <a:srgbClr val="00B050"/>
                </a:solidFill>
                <a:latin typeface="+mn-lt"/>
                <a:cs typeface="Arial" panose="020B0604020202020204" pitchFamily="34" charset="0"/>
              </a:rPr>
              <a:t>(Direct Generation)</a:t>
            </a:r>
            <a:endParaRPr lang="ko-KR" altLang="en-US" sz="750" dirty="0">
              <a:solidFill>
                <a:srgbClr val="00B050"/>
              </a:solidFill>
              <a:latin typeface="+mn-lt"/>
              <a:cs typeface="Arial" panose="020B0604020202020204" pitchFamily="34" charset="0"/>
            </a:endParaRPr>
          </a:p>
        </p:txBody>
      </p:sp>
      <p:cxnSp>
        <p:nvCxnSpPr>
          <p:cNvPr id="222" name="직선 화살표 연결선 221">
            <a:extLst>
              <a:ext uri="{FF2B5EF4-FFF2-40B4-BE49-F238E27FC236}">
                <a16:creationId xmlns:a16="http://schemas.microsoft.com/office/drawing/2014/main" id="{83CF07FB-D29F-4EBE-A7D3-104CDBF0DDAD}"/>
              </a:ext>
            </a:extLst>
          </p:cNvPr>
          <p:cNvCxnSpPr>
            <a:cxnSpLocks/>
            <a:endCxn id="30" idx="3"/>
          </p:cNvCxnSpPr>
          <p:nvPr/>
        </p:nvCxnSpPr>
        <p:spPr bwMode="auto">
          <a:xfrm flipH="1" flipV="1">
            <a:off x="5492577" y="4754963"/>
            <a:ext cx="2262942" cy="0"/>
          </a:xfrm>
          <a:prstGeom prst="straightConnector1">
            <a:avLst/>
          </a:prstGeom>
          <a:solidFill>
            <a:schemeClr val="accent1"/>
          </a:solidFill>
          <a:ln w="6350" cap="flat" cmpd="sng" algn="ctr">
            <a:solidFill>
              <a:srgbClr val="00B050"/>
            </a:solidFill>
            <a:prstDash val="dash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23" name="꺾인 연결선 34">
            <a:extLst>
              <a:ext uri="{FF2B5EF4-FFF2-40B4-BE49-F238E27FC236}">
                <a16:creationId xmlns:a16="http://schemas.microsoft.com/office/drawing/2014/main" id="{52C13913-B3C6-4835-A9CB-0CE3AEEF3455}"/>
              </a:ext>
            </a:extLst>
          </p:cNvPr>
          <p:cNvCxnSpPr>
            <a:cxnSpLocks/>
            <a:stCxn id="43" idx="1"/>
            <a:endCxn id="50" idx="1"/>
          </p:cNvCxnSpPr>
          <p:nvPr/>
        </p:nvCxnSpPr>
        <p:spPr>
          <a:xfrm rot="10800000" flipV="1">
            <a:off x="3581500" y="2298759"/>
            <a:ext cx="9525" cy="256211"/>
          </a:xfrm>
          <a:prstGeom prst="bentConnector3">
            <a:avLst>
              <a:gd name="adj1" fmla="val 2115000"/>
            </a:avLst>
          </a:prstGeom>
          <a:ln w="63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4" name="직사각형 223">
            <a:extLst>
              <a:ext uri="{FF2B5EF4-FFF2-40B4-BE49-F238E27FC236}">
                <a16:creationId xmlns:a16="http://schemas.microsoft.com/office/drawing/2014/main" id="{CCAF4970-E811-402A-AA04-522C68056E1F}"/>
              </a:ext>
            </a:extLst>
          </p:cNvPr>
          <p:cNvSpPr/>
          <p:nvPr/>
        </p:nvSpPr>
        <p:spPr bwMode="auto">
          <a:xfrm>
            <a:off x="3581502" y="3106177"/>
            <a:ext cx="1915000" cy="48600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algn="ctr" defTabSz="685835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200" dirty="0">
                <a:latin typeface="+mn-lt"/>
                <a:ea typeface="굴림" panose="020B0600000101010101" pitchFamily="50" charset="-127"/>
              </a:rPr>
              <a:t>DMM</a:t>
            </a:r>
          </a:p>
          <a:p>
            <a:pPr algn="ctr" defTabSz="685835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050" dirty="0">
                <a:latin typeface="+mn-lt"/>
                <a:ea typeface="굴림" panose="020B0600000101010101" pitchFamily="50" charset="-127"/>
              </a:rPr>
              <a:t>(Downlink Modulation Module)</a:t>
            </a:r>
          </a:p>
        </p:txBody>
      </p:sp>
      <p:cxnSp>
        <p:nvCxnSpPr>
          <p:cNvPr id="225" name="꺾인 연결선 34">
            <a:extLst>
              <a:ext uri="{FF2B5EF4-FFF2-40B4-BE49-F238E27FC236}">
                <a16:creationId xmlns:a16="http://schemas.microsoft.com/office/drawing/2014/main" id="{8EF240B0-FC16-4209-B353-3972F38FB0C1}"/>
              </a:ext>
            </a:extLst>
          </p:cNvPr>
          <p:cNvCxnSpPr>
            <a:cxnSpLocks/>
            <a:stCxn id="17" idx="1"/>
            <a:endCxn id="15" idx="1"/>
          </p:cNvCxnSpPr>
          <p:nvPr/>
        </p:nvCxnSpPr>
        <p:spPr>
          <a:xfrm rot="10800000">
            <a:off x="3580102" y="3525687"/>
            <a:ext cx="9525" cy="245498"/>
          </a:xfrm>
          <a:prstGeom prst="bentConnector3">
            <a:avLst>
              <a:gd name="adj1" fmla="val 1800000"/>
            </a:avLst>
          </a:prstGeom>
          <a:ln w="63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6" name="직사각형 225">
            <a:extLst>
              <a:ext uri="{FF2B5EF4-FFF2-40B4-BE49-F238E27FC236}">
                <a16:creationId xmlns:a16="http://schemas.microsoft.com/office/drawing/2014/main" id="{C21EBB47-37E3-440F-9951-C4AEAC9E5DF9}"/>
              </a:ext>
            </a:extLst>
          </p:cNvPr>
          <p:cNvSpPr/>
          <p:nvPr/>
        </p:nvSpPr>
        <p:spPr>
          <a:xfrm>
            <a:off x="2982314" y="3507219"/>
            <a:ext cx="508474" cy="3231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750" dirty="0">
                <a:solidFill>
                  <a:srgbClr val="00B050"/>
                </a:solidFill>
                <a:latin typeface="+mn-lt"/>
                <a:cs typeface="Arial" panose="020B0604020202020204" pitchFamily="34" charset="0"/>
              </a:rPr>
              <a:t>Mission</a:t>
            </a:r>
          </a:p>
          <a:p>
            <a:pPr algn="ctr"/>
            <a:r>
              <a:rPr lang="en-US" altLang="ko-KR" sz="750" dirty="0">
                <a:solidFill>
                  <a:srgbClr val="00B050"/>
                </a:solidFill>
                <a:latin typeface="+mn-lt"/>
                <a:cs typeface="Arial" panose="020B0604020202020204" pitchFamily="34" charset="0"/>
              </a:rPr>
              <a:t>Data</a:t>
            </a:r>
            <a:endParaRPr lang="ko-KR" altLang="en-US" sz="750" dirty="0">
              <a:solidFill>
                <a:srgbClr val="00B050"/>
              </a:solidFill>
              <a:latin typeface="+mn-lt"/>
              <a:cs typeface="Arial" panose="020B0604020202020204" pitchFamily="34" charset="0"/>
            </a:endParaRPr>
          </a:p>
        </p:txBody>
      </p:sp>
      <p:cxnSp>
        <p:nvCxnSpPr>
          <p:cNvPr id="227" name="꺾인 연결선 34">
            <a:extLst>
              <a:ext uri="{FF2B5EF4-FFF2-40B4-BE49-F238E27FC236}">
                <a16:creationId xmlns:a16="http://schemas.microsoft.com/office/drawing/2014/main" id="{5EFB5F79-729F-4C95-9B38-9D8B9181EA4A}"/>
              </a:ext>
            </a:extLst>
          </p:cNvPr>
          <p:cNvCxnSpPr>
            <a:cxnSpLocks/>
            <a:stCxn id="148" idx="2"/>
            <a:endCxn id="224" idx="3"/>
          </p:cNvCxnSpPr>
          <p:nvPr/>
        </p:nvCxnSpPr>
        <p:spPr>
          <a:xfrm rot="5400000">
            <a:off x="5585809" y="2857178"/>
            <a:ext cx="402692" cy="581308"/>
          </a:xfrm>
          <a:prstGeom prst="bentConnector2">
            <a:avLst/>
          </a:prstGeom>
          <a:ln w="63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8" name="꺾인 연결선 34">
            <a:extLst>
              <a:ext uri="{FF2B5EF4-FFF2-40B4-BE49-F238E27FC236}">
                <a16:creationId xmlns:a16="http://schemas.microsoft.com/office/drawing/2014/main" id="{CAF9BE6C-E499-4C84-A04E-21AFF35868B5}"/>
              </a:ext>
            </a:extLst>
          </p:cNvPr>
          <p:cNvCxnSpPr>
            <a:cxnSpLocks/>
            <a:stCxn id="114" idx="2"/>
            <a:endCxn id="10" idx="3"/>
          </p:cNvCxnSpPr>
          <p:nvPr/>
        </p:nvCxnSpPr>
        <p:spPr>
          <a:xfrm rot="5400000">
            <a:off x="1442968" y="5131339"/>
            <a:ext cx="88213" cy="271017"/>
          </a:xfrm>
          <a:prstGeom prst="bentConnector2">
            <a:avLst/>
          </a:prstGeom>
          <a:ln w="63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9" name="직사각형 228">
            <a:extLst>
              <a:ext uri="{FF2B5EF4-FFF2-40B4-BE49-F238E27FC236}">
                <a16:creationId xmlns:a16="http://schemas.microsoft.com/office/drawing/2014/main" id="{1FF50B43-BB5E-496B-9D19-DBF16E1BB70F}"/>
              </a:ext>
            </a:extLst>
          </p:cNvPr>
          <p:cNvSpPr/>
          <p:nvPr/>
        </p:nvSpPr>
        <p:spPr>
          <a:xfrm>
            <a:off x="897473" y="5226220"/>
            <a:ext cx="437941" cy="20774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altLang="ko-KR" sz="750" dirty="0">
                <a:solidFill>
                  <a:srgbClr val="FF0000"/>
                </a:solidFill>
                <a:latin typeface="+mn-lt"/>
                <a:cs typeface="Arial" panose="020B0604020202020204" pitchFamily="34" charset="0"/>
              </a:rPr>
              <a:t>+28 V</a:t>
            </a:r>
            <a:endParaRPr lang="ko-KR" altLang="en-US" sz="750" dirty="0">
              <a:solidFill>
                <a:srgbClr val="FF0000"/>
              </a:solidFill>
              <a:latin typeface="+mn-lt"/>
              <a:cs typeface="Arial" panose="020B0604020202020204" pitchFamily="34" charset="0"/>
            </a:endParaRPr>
          </a:p>
        </p:txBody>
      </p:sp>
      <p:cxnSp>
        <p:nvCxnSpPr>
          <p:cNvPr id="230" name="꺾인 연결선 34">
            <a:extLst>
              <a:ext uri="{FF2B5EF4-FFF2-40B4-BE49-F238E27FC236}">
                <a16:creationId xmlns:a16="http://schemas.microsoft.com/office/drawing/2014/main" id="{B320E5C0-D37B-4037-96FD-B79705F82E28}"/>
              </a:ext>
            </a:extLst>
          </p:cNvPr>
          <p:cNvCxnSpPr>
            <a:cxnSpLocks/>
            <a:stCxn id="114" idx="2"/>
            <a:endCxn id="231" idx="1"/>
          </p:cNvCxnSpPr>
          <p:nvPr/>
        </p:nvCxnSpPr>
        <p:spPr>
          <a:xfrm rot="16200000" flipH="1">
            <a:off x="2527311" y="4318012"/>
            <a:ext cx="960408" cy="2769869"/>
          </a:xfrm>
          <a:prstGeom prst="bentConnector2">
            <a:avLst/>
          </a:prstGeom>
          <a:ln w="6350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1" name="직사각형 230">
            <a:extLst>
              <a:ext uri="{FF2B5EF4-FFF2-40B4-BE49-F238E27FC236}">
                <a16:creationId xmlns:a16="http://schemas.microsoft.com/office/drawing/2014/main" id="{AE16D086-FC25-4402-B0FB-CA4EC76AF138}"/>
              </a:ext>
            </a:extLst>
          </p:cNvPr>
          <p:cNvSpPr/>
          <p:nvPr/>
        </p:nvSpPr>
        <p:spPr bwMode="auto">
          <a:xfrm>
            <a:off x="4392450" y="6183148"/>
            <a:ext cx="0" cy="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flat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algn="ctr" defTabSz="685835" fontAlgn="base">
              <a:spcBef>
                <a:spcPct val="0"/>
              </a:spcBef>
              <a:spcAft>
                <a:spcPct val="0"/>
              </a:spcAft>
            </a:pPr>
            <a:endParaRPr lang="en-US" altLang="ko-KR" sz="1200" dirty="0">
              <a:latin typeface="+mn-lt"/>
            </a:endParaRPr>
          </a:p>
        </p:txBody>
      </p:sp>
      <p:cxnSp>
        <p:nvCxnSpPr>
          <p:cNvPr id="232" name="꺾인 연결선 34">
            <a:extLst>
              <a:ext uri="{FF2B5EF4-FFF2-40B4-BE49-F238E27FC236}">
                <a16:creationId xmlns:a16="http://schemas.microsoft.com/office/drawing/2014/main" id="{5CF5FAD0-4BCE-40A0-95A7-4FC5498F7F91}"/>
              </a:ext>
            </a:extLst>
          </p:cNvPr>
          <p:cNvCxnSpPr>
            <a:cxnSpLocks/>
            <a:stCxn id="231" idx="3"/>
            <a:endCxn id="8" idx="1"/>
          </p:cNvCxnSpPr>
          <p:nvPr/>
        </p:nvCxnSpPr>
        <p:spPr>
          <a:xfrm flipV="1">
            <a:off x="4392452" y="5636669"/>
            <a:ext cx="3368050" cy="546480"/>
          </a:xfrm>
          <a:prstGeom prst="bentConnector3">
            <a:avLst>
              <a:gd name="adj1" fmla="val 93905"/>
            </a:avLst>
          </a:prstGeom>
          <a:ln w="63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3" name="직사각형 232">
            <a:extLst>
              <a:ext uri="{FF2B5EF4-FFF2-40B4-BE49-F238E27FC236}">
                <a16:creationId xmlns:a16="http://schemas.microsoft.com/office/drawing/2014/main" id="{4BA5D674-3CFE-4BB9-8912-271F09B8E392}"/>
              </a:ext>
            </a:extLst>
          </p:cNvPr>
          <p:cNvSpPr/>
          <p:nvPr/>
        </p:nvSpPr>
        <p:spPr>
          <a:xfrm>
            <a:off x="7666902" y="5540275"/>
            <a:ext cx="437941" cy="20774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altLang="ko-KR" sz="750" dirty="0">
                <a:solidFill>
                  <a:srgbClr val="FF0000"/>
                </a:solidFill>
                <a:latin typeface="+mn-lt"/>
                <a:cs typeface="Arial" panose="020B0604020202020204" pitchFamily="34" charset="0"/>
              </a:rPr>
              <a:t>+28 V</a:t>
            </a:r>
            <a:endParaRPr lang="ko-KR" altLang="en-US" sz="750" dirty="0">
              <a:solidFill>
                <a:srgbClr val="FF0000"/>
              </a:solidFill>
              <a:latin typeface="+mn-lt"/>
              <a:cs typeface="Arial" panose="020B0604020202020204" pitchFamily="34" charset="0"/>
            </a:endParaRPr>
          </a:p>
        </p:txBody>
      </p:sp>
      <p:grpSp>
        <p:nvGrpSpPr>
          <p:cNvPr id="234" name="그룹 233">
            <a:extLst>
              <a:ext uri="{FF2B5EF4-FFF2-40B4-BE49-F238E27FC236}">
                <a16:creationId xmlns:a16="http://schemas.microsoft.com/office/drawing/2014/main" id="{7B137C0D-2CED-40CE-BE01-12EBF5D01FFB}"/>
              </a:ext>
            </a:extLst>
          </p:cNvPr>
          <p:cNvGrpSpPr/>
          <p:nvPr/>
        </p:nvGrpSpPr>
        <p:grpSpPr>
          <a:xfrm>
            <a:off x="7072199" y="4585918"/>
            <a:ext cx="81000" cy="222652"/>
            <a:chOff x="9621427" y="5156166"/>
            <a:chExt cx="108000" cy="113159"/>
          </a:xfrm>
        </p:grpSpPr>
        <p:sp>
          <p:nvSpPr>
            <p:cNvPr id="235" name="직사각형 234">
              <a:extLst>
                <a:ext uri="{FF2B5EF4-FFF2-40B4-BE49-F238E27FC236}">
                  <a16:creationId xmlns:a16="http://schemas.microsoft.com/office/drawing/2014/main" id="{7EE19CF7-B5B3-4CAF-B293-2AE78079ACD4}"/>
                </a:ext>
              </a:extLst>
            </p:cNvPr>
            <p:cNvSpPr/>
            <p:nvPr/>
          </p:nvSpPr>
          <p:spPr bwMode="auto">
            <a:xfrm>
              <a:off x="9621427" y="5158745"/>
              <a:ext cx="104400" cy="104400"/>
            </a:xfrm>
            <a:prstGeom prst="rect">
              <a:avLst/>
            </a:prstGeom>
            <a:solidFill>
              <a:schemeClr val="bg1">
                <a:alpha val="0"/>
              </a:schemeClr>
            </a:solidFill>
            <a:ln w="6350" cap="flat" cmpd="sng" algn="ctr">
              <a:noFill/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68580" tIns="34290" rIns="68580" bIns="34290" numCol="1" rtlCol="0" anchor="t" anchorCtr="0" compatLnSpc="1">
              <a:prstTxWarp prst="textNoShape">
                <a:avLst/>
              </a:prstTxWarp>
            </a:bodyPr>
            <a:lstStyle/>
            <a:p>
              <a:pPr algn="ctr" defTabSz="685835" fontAlgn="base">
                <a:spcBef>
                  <a:spcPct val="0"/>
                </a:spcBef>
                <a:spcAft>
                  <a:spcPct val="0"/>
                </a:spcAft>
              </a:pPr>
              <a:endParaRPr lang="en-US" altLang="ko-KR" sz="900" dirty="0">
                <a:latin typeface="+mn-lt"/>
                <a:cs typeface="Arial" panose="020B0604020202020204" pitchFamily="34" charset="0"/>
              </a:endParaRPr>
            </a:p>
          </p:txBody>
        </p:sp>
        <p:grpSp>
          <p:nvGrpSpPr>
            <p:cNvPr id="236" name="그룹 235">
              <a:extLst>
                <a:ext uri="{FF2B5EF4-FFF2-40B4-BE49-F238E27FC236}">
                  <a16:creationId xmlns:a16="http://schemas.microsoft.com/office/drawing/2014/main" id="{4CDA3A48-4885-452B-8E46-597F22E049DF}"/>
                </a:ext>
              </a:extLst>
            </p:cNvPr>
            <p:cNvGrpSpPr/>
            <p:nvPr/>
          </p:nvGrpSpPr>
          <p:grpSpPr>
            <a:xfrm>
              <a:off x="9621427" y="5156166"/>
              <a:ext cx="108000" cy="113159"/>
              <a:chOff x="10846836" y="2933955"/>
              <a:chExt cx="108000" cy="113159"/>
            </a:xfrm>
          </p:grpSpPr>
          <p:sp>
            <p:nvSpPr>
              <p:cNvPr id="237" name="원호 236">
                <a:extLst>
                  <a:ext uri="{FF2B5EF4-FFF2-40B4-BE49-F238E27FC236}">
                    <a16:creationId xmlns:a16="http://schemas.microsoft.com/office/drawing/2014/main" id="{782D0D7A-C6D7-4E2D-A252-090EFE1E80B5}"/>
                  </a:ext>
                </a:extLst>
              </p:cNvPr>
              <p:cNvSpPr/>
              <p:nvPr/>
            </p:nvSpPr>
            <p:spPr>
              <a:xfrm>
                <a:off x="10846836" y="2939114"/>
                <a:ext cx="108000" cy="108000"/>
              </a:xfrm>
              <a:prstGeom prst="arc">
                <a:avLst/>
              </a:prstGeom>
              <a:ln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 sz="1350"/>
              </a:p>
            </p:txBody>
          </p:sp>
          <p:sp>
            <p:nvSpPr>
              <p:cNvPr id="238" name="원호 237">
                <a:extLst>
                  <a:ext uri="{FF2B5EF4-FFF2-40B4-BE49-F238E27FC236}">
                    <a16:creationId xmlns:a16="http://schemas.microsoft.com/office/drawing/2014/main" id="{7F9E4736-A934-4013-B502-11AE1710F823}"/>
                  </a:ext>
                </a:extLst>
              </p:cNvPr>
              <p:cNvSpPr/>
              <p:nvPr/>
            </p:nvSpPr>
            <p:spPr>
              <a:xfrm rot="5400000">
                <a:off x="10846836" y="2933955"/>
                <a:ext cx="108000" cy="108000"/>
              </a:xfrm>
              <a:prstGeom prst="arc">
                <a:avLst/>
              </a:prstGeom>
              <a:ln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 sz="1350"/>
              </a:p>
            </p:txBody>
          </p:sp>
        </p:grpSp>
      </p:grpSp>
      <p:grpSp>
        <p:nvGrpSpPr>
          <p:cNvPr id="239" name="그룹 238">
            <a:extLst>
              <a:ext uri="{FF2B5EF4-FFF2-40B4-BE49-F238E27FC236}">
                <a16:creationId xmlns:a16="http://schemas.microsoft.com/office/drawing/2014/main" id="{5CBBEE02-CF56-462E-9754-213168CC66BC}"/>
              </a:ext>
            </a:extLst>
          </p:cNvPr>
          <p:cNvGrpSpPr/>
          <p:nvPr/>
        </p:nvGrpSpPr>
        <p:grpSpPr>
          <a:xfrm>
            <a:off x="7072199" y="5079822"/>
            <a:ext cx="81000" cy="222652"/>
            <a:chOff x="9621427" y="5156166"/>
            <a:chExt cx="108000" cy="113159"/>
          </a:xfrm>
        </p:grpSpPr>
        <p:sp>
          <p:nvSpPr>
            <p:cNvPr id="240" name="직사각형 239">
              <a:extLst>
                <a:ext uri="{FF2B5EF4-FFF2-40B4-BE49-F238E27FC236}">
                  <a16:creationId xmlns:a16="http://schemas.microsoft.com/office/drawing/2014/main" id="{AAC27DD6-232A-41B4-93AB-CC89E765B714}"/>
                </a:ext>
              </a:extLst>
            </p:cNvPr>
            <p:cNvSpPr/>
            <p:nvPr/>
          </p:nvSpPr>
          <p:spPr bwMode="auto">
            <a:xfrm>
              <a:off x="9621427" y="5158745"/>
              <a:ext cx="104400" cy="104400"/>
            </a:xfrm>
            <a:prstGeom prst="rect">
              <a:avLst/>
            </a:prstGeom>
            <a:solidFill>
              <a:schemeClr val="bg1">
                <a:alpha val="0"/>
              </a:schemeClr>
            </a:solidFill>
            <a:ln w="6350" cap="flat" cmpd="sng" algn="ctr">
              <a:noFill/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68580" tIns="34290" rIns="68580" bIns="34290" numCol="1" rtlCol="0" anchor="t" anchorCtr="0" compatLnSpc="1">
              <a:prstTxWarp prst="textNoShape">
                <a:avLst/>
              </a:prstTxWarp>
            </a:bodyPr>
            <a:lstStyle/>
            <a:p>
              <a:pPr algn="ctr" defTabSz="685835" fontAlgn="base">
                <a:spcBef>
                  <a:spcPct val="0"/>
                </a:spcBef>
                <a:spcAft>
                  <a:spcPct val="0"/>
                </a:spcAft>
              </a:pPr>
              <a:endParaRPr lang="en-US" altLang="ko-KR" sz="900" dirty="0">
                <a:latin typeface="+mn-lt"/>
                <a:cs typeface="Arial" panose="020B0604020202020204" pitchFamily="34" charset="0"/>
              </a:endParaRPr>
            </a:p>
          </p:txBody>
        </p:sp>
        <p:grpSp>
          <p:nvGrpSpPr>
            <p:cNvPr id="241" name="그룹 240">
              <a:extLst>
                <a:ext uri="{FF2B5EF4-FFF2-40B4-BE49-F238E27FC236}">
                  <a16:creationId xmlns:a16="http://schemas.microsoft.com/office/drawing/2014/main" id="{272A8225-3470-4EB8-A805-D27DB161EEEC}"/>
                </a:ext>
              </a:extLst>
            </p:cNvPr>
            <p:cNvGrpSpPr/>
            <p:nvPr/>
          </p:nvGrpSpPr>
          <p:grpSpPr>
            <a:xfrm>
              <a:off x="9621427" y="5156166"/>
              <a:ext cx="108000" cy="113159"/>
              <a:chOff x="10846836" y="2933955"/>
              <a:chExt cx="108000" cy="113159"/>
            </a:xfrm>
          </p:grpSpPr>
          <p:sp>
            <p:nvSpPr>
              <p:cNvPr id="242" name="원호 241">
                <a:extLst>
                  <a:ext uri="{FF2B5EF4-FFF2-40B4-BE49-F238E27FC236}">
                    <a16:creationId xmlns:a16="http://schemas.microsoft.com/office/drawing/2014/main" id="{0999EB71-E339-4657-9AB3-781B17AB17D9}"/>
                  </a:ext>
                </a:extLst>
              </p:cNvPr>
              <p:cNvSpPr/>
              <p:nvPr/>
            </p:nvSpPr>
            <p:spPr>
              <a:xfrm>
                <a:off x="10846836" y="2939114"/>
                <a:ext cx="108000" cy="108000"/>
              </a:xfrm>
              <a:prstGeom prst="arc">
                <a:avLst/>
              </a:prstGeom>
              <a:ln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 sz="1350"/>
              </a:p>
            </p:txBody>
          </p:sp>
          <p:sp>
            <p:nvSpPr>
              <p:cNvPr id="243" name="원호 242">
                <a:extLst>
                  <a:ext uri="{FF2B5EF4-FFF2-40B4-BE49-F238E27FC236}">
                    <a16:creationId xmlns:a16="http://schemas.microsoft.com/office/drawing/2014/main" id="{10E47577-1E58-4DCA-82A7-63AC5A49BB45}"/>
                  </a:ext>
                </a:extLst>
              </p:cNvPr>
              <p:cNvSpPr/>
              <p:nvPr/>
            </p:nvSpPr>
            <p:spPr>
              <a:xfrm rot="5400000">
                <a:off x="10846836" y="2933955"/>
                <a:ext cx="108000" cy="108000"/>
              </a:xfrm>
              <a:prstGeom prst="arc">
                <a:avLst/>
              </a:prstGeom>
              <a:ln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 sz="1350"/>
              </a:p>
            </p:txBody>
          </p:sp>
        </p:grpSp>
      </p:grpSp>
      <p:cxnSp>
        <p:nvCxnSpPr>
          <p:cNvPr id="244" name="꺾인 연결선 34">
            <a:extLst>
              <a:ext uri="{FF2B5EF4-FFF2-40B4-BE49-F238E27FC236}">
                <a16:creationId xmlns:a16="http://schemas.microsoft.com/office/drawing/2014/main" id="{AB1A6494-4634-4D48-BB9F-EC009408E810}"/>
              </a:ext>
            </a:extLst>
          </p:cNvPr>
          <p:cNvCxnSpPr>
            <a:cxnSpLocks/>
            <a:stCxn id="240" idx="2"/>
            <a:endCxn id="97" idx="3"/>
          </p:cNvCxnSpPr>
          <p:nvPr/>
        </p:nvCxnSpPr>
        <p:spPr>
          <a:xfrm rot="5400000">
            <a:off x="6055339" y="4731475"/>
            <a:ext cx="497174" cy="1614849"/>
          </a:xfrm>
          <a:prstGeom prst="bentConnector2">
            <a:avLst/>
          </a:prstGeom>
          <a:ln w="63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5" name="직선 화살표 연결선 244">
            <a:extLst>
              <a:ext uri="{FF2B5EF4-FFF2-40B4-BE49-F238E27FC236}">
                <a16:creationId xmlns:a16="http://schemas.microsoft.com/office/drawing/2014/main" id="{6EE79894-27D3-4BE9-845A-033401CF64DA}"/>
              </a:ext>
            </a:extLst>
          </p:cNvPr>
          <p:cNvCxnSpPr>
            <a:cxnSpLocks/>
            <a:stCxn id="240" idx="0"/>
            <a:endCxn id="238" idx="2"/>
          </p:cNvCxnSpPr>
          <p:nvPr/>
        </p:nvCxnSpPr>
        <p:spPr bwMode="auto">
          <a:xfrm flipV="1">
            <a:off x="7111349" y="4798420"/>
            <a:ext cx="0" cy="286476"/>
          </a:xfrm>
          <a:prstGeom prst="straightConnector1">
            <a:avLst/>
          </a:prstGeom>
          <a:solidFill>
            <a:schemeClr val="accent1"/>
          </a:solidFill>
          <a:ln w="6350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46" name="직사각형 245">
            <a:extLst>
              <a:ext uri="{FF2B5EF4-FFF2-40B4-BE49-F238E27FC236}">
                <a16:creationId xmlns:a16="http://schemas.microsoft.com/office/drawing/2014/main" id="{E995029F-FD2E-491F-8205-34487B023708}"/>
              </a:ext>
            </a:extLst>
          </p:cNvPr>
          <p:cNvSpPr/>
          <p:nvPr/>
        </p:nvSpPr>
        <p:spPr>
          <a:xfrm>
            <a:off x="1743871" y="4906049"/>
            <a:ext cx="737702" cy="3231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750" dirty="0">
                <a:solidFill>
                  <a:srgbClr val="00B050"/>
                </a:solidFill>
                <a:latin typeface="+mn-lt"/>
                <a:cs typeface="Arial" panose="020B0604020202020204" pitchFamily="34" charset="0"/>
              </a:rPr>
              <a:t>IF-Band</a:t>
            </a:r>
          </a:p>
          <a:p>
            <a:pPr algn="ctr"/>
            <a:r>
              <a:rPr lang="en-US" altLang="ko-KR" sz="750" dirty="0">
                <a:solidFill>
                  <a:srgbClr val="00B050"/>
                </a:solidFill>
                <a:latin typeface="+mn-lt"/>
                <a:cs typeface="Arial" panose="020B0604020202020204" pitchFamily="34" charset="0"/>
              </a:rPr>
              <a:t>Mission Data</a:t>
            </a:r>
          </a:p>
        </p:txBody>
      </p:sp>
      <p:cxnSp>
        <p:nvCxnSpPr>
          <p:cNvPr id="247" name="꺾인 연결선 34">
            <a:extLst>
              <a:ext uri="{FF2B5EF4-FFF2-40B4-BE49-F238E27FC236}">
                <a16:creationId xmlns:a16="http://schemas.microsoft.com/office/drawing/2014/main" id="{C4D91E3C-6E2A-4910-94F3-A10141E07D18}"/>
              </a:ext>
            </a:extLst>
          </p:cNvPr>
          <p:cNvCxnSpPr>
            <a:cxnSpLocks/>
            <a:stCxn id="168" idx="2"/>
            <a:endCxn id="7" idx="3"/>
          </p:cNvCxnSpPr>
          <p:nvPr/>
        </p:nvCxnSpPr>
        <p:spPr>
          <a:xfrm rot="5400000">
            <a:off x="5754730" y="2697145"/>
            <a:ext cx="528201" cy="1052508"/>
          </a:xfrm>
          <a:prstGeom prst="bentConnector2">
            <a:avLst/>
          </a:prstGeom>
          <a:ln w="63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48" name="그룹 247">
            <a:extLst>
              <a:ext uri="{FF2B5EF4-FFF2-40B4-BE49-F238E27FC236}">
                <a16:creationId xmlns:a16="http://schemas.microsoft.com/office/drawing/2014/main" id="{4BA1B908-3F83-4EAE-8A84-D87DA2C2FA93}"/>
              </a:ext>
            </a:extLst>
          </p:cNvPr>
          <p:cNvGrpSpPr/>
          <p:nvPr/>
        </p:nvGrpSpPr>
        <p:grpSpPr>
          <a:xfrm>
            <a:off x="6035958" y="3445920"/>
            <a:ext cx="81000" cy="84870"/>
            <a:chOff x="9621427" y="5156166"/>
            <a:chExt cx="108000" cy="113159"/>
          </a:xfrm>
        </p:grpSpPr>
        <p:sp>
          <p:nvSpPr>
            <p:cNvPr id="249" name="직사각형 248">
              <a:extLst>
                <a:ext uri="{FF2B5EF4-FFF2-40B4-BE49-F238E27FC236}">
                  <a16:creationId xmlns:a16="http://schemas.microsoft.com/office/drawing/2014/main" id="{B809D775-1824-4A00-AC36-CE40F748D8F9}"/>
                </a:ext>
              </a:extLst>
            </p:cNvPr>
            <p:cNvSpPr/>
            <p:nvPr/>
          </p:nvSpPr>
          <p:spPr bwMode="auto">
            <a:xfrm>
              <a:off x="9621427" y="5158745"/>
              <a:ext cx="104400" cy="104400"/>
            </a:xfrm>
            <a:prstGeom prst="rect">
              <a:avLst/>
            </a:prstGeom>
            <a:solidFill>
              <a:schemeClr val="bg1">
                <a:alpha val="0"/>
              </a:schemeClr>
            </a:solidFill>
            <a:ln w="6350" cap="flat" cmpd="sng" algn="ctr">
              <a:noFill/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68580" tIns="34290" rIns="68580" bIns="34290" numCol="1" rtlCol="0" anchor="t" anchorCtr="0" compatLnSpc="1">
              <a:prstTxWarp prst="textNoShape">
                <a:avLst/>
              </a:prstTxWarp>
            </a:bodyPr>
            <a:lstStyle/>
            <a:p>
              <a:pPr algn="ctr" defTabSz="685835" fontAlgn="base">
                <a:spcBef>
                  <a:spcPct val="0"/>
                </a:spcBef>
                <a:spcAft>
                  <a:spcPct val="0"/>
                </a:spcAft>
              </a:pPr>
              <a:endParaRPr lang="en-US" altLang="ko-KR" sz="900" dirty="0">
                <a:latin typeface="+mn-lt"/>
                <a:cs typeface="Arial" panose="020B0604020202020204" pitchFamily="34" charset="0"/>
              </a:endParaRPr>
            </a:p>
          </p:txBody>
        </p:sp>
        <p:grpSp>
          <p:nvGrpSpPr>
            <p:cNvPr id="250" name="그룹 249">
              <a:extLst>
                <a:ext uri="{FF2B5EF4-FFF2-40B4-BE49-F238E27FC236}">
                  <a16:creationId xmlns:a16="http://schemas.microsoft.com/office/drawing/2014/main" id="{5E3EF818-8F42-4288-ACC1-49C50DBD8ED8}"/>
                </a:ext>
              </a:extLst>
            </p:cNvPr>
            <p:cNvGrpSpPr/>
            <p:nvPr/>
          </p:nvGrpSpPr>
          <p:grpSpPr>
            <a:xfrm>
              <a:off x="9621427" y="5156166"/>
              <a:ext cx="108000" cy="113159"/>
              <a:chOff x="10846836" y="2933955"/>
              <a:chExt cx="108000" cy="113159"/>
            </a:xfrm>
          </p:grpSpPr>
          <p:sp>
            <p:nvSpPr>
              <p:cNvPr id="251" name="원호 250">
                <a:extLst>
                  <a:ext uri="{FF2B5EF4-FFF2-40B4-BE49-F238E27FC236}">
                    <a16:creationId xmlns:a16="http://schemas.microsoft.com/office/drawing/2014/main" id="{0EEF5BB2-3FB9-4C9E-834D-67C93C82CC63}"/>
                  </a:ext>
                </a:extLst>
              </p:cNvPr>
              <p:cNvSpPr/>
              <p:nvPr/>
            </p:nvSpPr>
            <p:spPr>
              <a:xfrm>
                <a:off x="10846836" y="2939114"/>
                <a:ext cx="108000" cy="108000"/>
              </a:xfrm>
              <a:prstGeom prst="arc">
                <a:avLst/>
              </a:prstGeom>
              <a:ln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 sz="1350"/>
              </a:p>
            </p:txBody>
          </p:sp>
          <p:sp>
            <p:nvSpPr>
              <p:cNvPr id="252" name="원호 251">
                <a:extLst>
                  <a:ext uri="{FF2B5EF4-FFF2-40B4-BE49-F238E27FC236}">
                    <a16:creationId xmlns:a16="http://schemas.microsoft.com/office/drawing/2014/main" id="{F9BA4840-3145-4CC1-9306-B61D788EE2CF}"/>
                  </a:ext>
                </a:extLst>
              </p:cNvPr>
              <p:cNvSpPr/>
              <p:nvPr/>
            </p:nvSpPr>
            <p:spPr>
              <a:xfrm rot="5400000">
                <a:off x="10846836" y="2933955"/>
                <a:ext cx="108000" cy="108000"/>
              </a:xfrm>
              <a:prstGeom prst="arc">
                <a:avLst/>
              </a:prstGeom>
              <a:ln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 sz="1350"/>
              </a:p>
            </p:txBody>
          </p:sp>
        </p:grpSp>
      </p:grpSp>
      <p:cxnSp>
        <p:nvCxnSpPr>
          <p:cNvPr id="253" name="직선 화살표 연결선 252">
            <a:extLst>
              <a:ext uri="{FF2B5EF4-FFF2-40B4-BE49-F238E27FC236}">
                <a16:creationId xmlns:a16="http://schemas.microsoft.com/office/drawing/2014/main" id="{D56D6E6E-43C7-4A9F-B5D2-5F8A37810095}"/>
              </a:ext>
            </a:extLst>
          </p:cNvPr>
          <p:cNvCxnSpPr>
            <a:cxnSpLocks/>
            <a:stCxn id="249" idx="0"/>
            <a:endCxn id="148" idx="2"/>
          </p:cNvCxnSpPr>
          <p:nvPr/>
        </p:nvCxnSpPr>
        <p:spPr bwMode="auto">
          <a:xfrm flipV="1">
            <a:off x="6075107" y="2946487"/>
            <a:ext cx="0" cy="501368"/>
          </a:xfrm>
          <a:prstGeom prst="straightConnector1">
            <a:avLst/>
          </a:prstGeom>
          <a:solidFill>
            <a:schemeClr val="accent1"/>
          </a:solidFill>
          <a:ln w="63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54" name="직선 화살표 연결선 253">
            <a:extLst>
              <a:ext uri="{FF2B5EF4-FFF2-40B4-BE49-F238E27FC236}">
                <a16:creationId xmlns:a16="http://schemas.microsoft.com/office/drawing/2014/main" id="{F833146A-3F8B-4FF2-B6D4-47334B0A8F9E}"/>
              </a:ext>
            </a:extLst>
          </p:cNvPr>
          <p:cNvCxnSpPr>
            <a:cxnSpLocks/>
            <a:stCxn id="143" idx="0"/>
            <a:endCxn id="249" idx="2"/>
          </p:cNvCxnSpPr>
          <p:nvPr/>
        </p:nvCxnSpPr>
        <p:spPr bwMode="auto">
          <a:xfrm flipH="1" flipV="1">
            <a:off x="6075107" y="3526153"/>
            <a:ext cx="0" cy="329189"/>
          </a:xfrm>
          <a:prstGeom prst="straightConnector1">
            <a:avLst/>
          </a:prstGeom>
          <a:solidFill>
            <a:schemeClr val="accent1"/>
          </a:solidFill>
          <a:ln w="63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139004364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직사각형 581">
            <a:extLst>
              <a:ext uri="{FF2B5EF4-FFF2-40B4-BE49-F238E27FC236}">
                <a16:creationId xmlns:a16="http://schemas.microsoft.com/office/drawing/2014/main" id="{38DFCB68-C843-4224-A31B-1C03ED0F40D1}"/>
              </a:ext>
            </a:extLst>
          </p:cNvPr>
          <p:cNvSpPr/>
          <p:nvPr/>
        </p:nvSpPr>
        <p:spPr bwMode="auto">
          <a:xfrm>
            <a:off x="2186812" y="4091941"/>
            <a:ext cx="181426" cy="1215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flat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algn="ctr" defTabSz="685835" fontAlgn="base">
              <a:spcBef>
                <a:spcPct val="0"/>
              </a:spcBef>
              <a:spcAft>
                <a:spcPct val="0"/>
              </a:spcAft>
            </a:pPr>
            <a:endParaRPr lang="en-US" altLang="ko-KR" sz="1200" dirty="0">
              <a:latin typeface="+mn-lt"/>
            </a:endParaRPr>
          </a:p>
        </p:txBody>
      </p:sp>
      <p:sp>
        <p:nvSpPr>
          <p:cNvPr id="583" name="직사각형 582">
            <a:extLst>
              <a:ext uri="{FF2B5EF4-FFF2-40B4-BE49-F238E27FC236}">
                <a16:creationId xmlns:a16="http://schemas.microsoft.com/office/drawing/2014/main" id="{9C895C6D-4968-475B-B7C4-E5737E941253}"/>
              </a:ext>
            </a:extLst>
          </p:cNvPr>
          <p:cNvSpPr/>
          <p:nvPr/>
        </p:nvSpPr>
        <p:spPr bwMode="auto">
          <a:xfrm>
            <a:off x="2454818" y="2054439"/>
            <a:ext cx="181426" cy="1215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flat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algn="ctr" defTabSz="685835" fontAlgn="base">
              <a:spcBef>
                <a:spcPct val="0"/>
              </a:spcBef>
              <a:spcAft>
                <a:spcPct val="0"/>
              </a:spcAft>
            </a:pPr>
            <a:endParaRPr lang="en-US" altLang="ko-KR" sz="1200" dirty="0">
              <a:latin typeface="+mn-lt"/>
            </a:endParaRPr>
          </a:p>
        </p:txBody>
      </p:sp>
      <p:sp>
        <p:nvSpPr>
          <p:cNvPr id="379" name="직사각형 378">
            <a:extLst>
              <a:ext uri="{FF2B5EF4-FFF2-40B4-BE49-F238E27FC236}">
                <a16:creationId xmlns:a16="http://schemas.microsoft.com/office/drawing/2014/main" id="{A4D1D105-A468-4483-A0E3-5DF670F625FD}"/>
              </a:ext>
            </a:extLst>
          </p:cNvPr>
          <p:cNvSpPr/>
          <p:nvPr/>
        </p:nvSpPr>
        <p:spPr bwMode="auto">
          <a:xfrm>
            <a:off x="3364620" y="2458305"/>
            <a:ext cx="181426" cy="1215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flat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algn="ctr" defTabSz="685835" fontAlgn="base">
              <a:spcBef>
                <a:spcPct val="0"/>
              </a:spcBef>
              <a:spcAft>
                <a:spcPct val="0"/>
              </a:spcAft>
            </a:pPr>
            <a:endParaRPr lang="en-US" altLang="ko-KR" sz="1200" dirty="0">
              <a:latin typeface="+mn-lt"/>
            </a:endParaRPr>
          </a:p>
        </p:txBody>
      </p:sp>
      <p:sp>
        <p:nvSpPr>
          <p:cNvPr id="380" name="직사각형 379">
            <a:extLst>
              <a:ext uri="{FF2B5EF4-FFF2-40B4-BE49-F238E27FC236}">
                <a16:creationId xmlns:a16="http://schemas.microsoft.com/office/drawing/2014/main" id="{CCA155B1-4D42-45DA-802D-4AB510600C9C}"/>
              </a:ext>
            </a:extLst>
          </p:cNvPr>
          <p:cNvSpPr/>
          <p:nvPr/>
        </p:nvSpPr>
        <p:spPr bwMode="auto">
          <a:xfrm>
            <a:off x="3096614" y="2584064"/>
            <a:ext cx="181426" cy="1215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flat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algn="ctr" defTabSz="685835" fontAlgn="base">
              <a:spcBef>
                <a:spcPct val="0"/>
              </a:spcBef>
              <a:spcAft>
                <a:spcPct val="0"/>
              </a:spcAft>
            </a:pPr>
            <a:endParaRPr lang="en-US" altLang="ko-KR" sz="1200" dirty="0">
              <a:latin typeface="+mn-lt"/>
            </a:endParaRPr>
          </a:p>
        </p:txBody>
      </p:sp>
      <p:sp>
        <p:nvSpPr>
          <p:cNvPr id="381" name="직사각형 380">
            <a:extLst>
              <a:ext uri="{FF2B5EF4-FFF2-40B4-BE49-F238E27FC236}">
                <a16:creationId xmlns:a16="http://schemas.microsoft.com/office/drawing/2014/main" id="{8CD61F02-BDC3-45BE-85DF-1EDB28F83388}"/>
              </a:ext>
            </a:extLst>
          </p:cNvPr>
          <p:cNvSpPr/>
          <p:nvPr/>
        </p:nvSpPr>
        <p:spPr bwMode="auto">
          <a:xfrm>
            <a:off x="3364620" y="3188423"/>
            <a:ext cx="181426" cy="1215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flat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algn="ctr" defTabSz="685835" fontAlgn="base">
              <a:spcBef>
                <a:spcPct val="0"/>
              </a:spcBef>
              <a:spcAft>
                <a:spcPct val="0"/>
              </a:spcAft>
            </a:pPr>
            <a:endParaRPr lang="en-US" altLang="ko-KR" sz="1200" dirty="0">
              <a:latin typeface="+mn-lt"/>
            </a:endParaRPr>
          </a:p>
        </p:txBody>
      </p:sp>
      <p:sp>
        <p:nvSpPr>
          <p:cNvPr id="382" name="직사각형 381">
            <a:extLst>
              <a:ext uri="{FF2B5EF4-FFF2-40B4-BE49-F238E27FC236}">
                <a16:creationId xmlns:a16="http://schemas.microsoft.com/office/drawing/2014/main" id="{7509DD2C-9AC7-4D3E-9655-70D27CCFF16D}"/>
              </a:ext>
            </a:extLst>
          </p:cNvPr>
          <p:cNvSpPr/>
          <p:nvPr/>
        </p:nvSpPr>
        <p:spPr bwMode="auto">
          <a:xfrm>
            <a:off x="3096614" y="3322808"/>
            <a:ext cx="181426" cy="1215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flat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algn="ctr" defTabSz="685835" fontAlgn="base">
              <a:spcBef>
                <a:spcPct val="0"/>
              </a:spcBef>
              <a:spcAft>
                <a:spcPct val="0"/>
              </a:spcAft>
            </a:pPr>
            <a:endParaRPr lang="en-US" altLang="ko-KR" sz="1200" dirty="0">
              <a:latin typeface="+mn-lt"/>
            </a:endParaRPr>
          </a:p>
        </p:txBody>
      </p:sp>
      <p:sp>
        <p:nvSpPr>
          <p:cNvPr id="383" name="직사각형 382">
            <a:extLst>
              <a:ext uri="{FF2B5EF4-FFF2-40B4-BE49-F238E27FC236}">
                <a16:creationId xmlns:a16="http://schemas.microsoft.com/office/drawing/2014/main" id="{35B8E4A4-D523-4A90-A27C-559070CFD02A}"/>
              </a:ext>
            </a:extLst>
          </p:cNvPr>
          <p:cNvSpPr/>
          <p:nvPr/>
        </p:nvSpPr>
        <p:spPr bwMode="auto">
          <a:xfrm>
            <a:off x="3364620" y="3943613"/>
            <a:ext cx="181426" cy="1215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flat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algn="ctr" defTabSz="685835" fontAlgn="base">
              <a:spcBef>
                <a:spcPct val="0"/>
              </a:spcBef>
              <a:spcAft>
                <a:spcPct val="0"/>
              </a:spcAft>
            </a:pPr>
            <a:endParaRPr lang="en-US" altLang="ko-KR" sz="1200" dirty="0">
              <a:latin typeface="+mn-lt"/>
            </a:endParaRPr>
          </a:p>
        </p:txBody>
      </p:sp>
      <p:sp>
        <p:nvSpPr>
          <p:cNvPr id="384" name="직사각형 383">
            <a:extLst>
              <a:ext uri="{FF2B5EF4-FFF2-40B4-BE49-F238E27FC236}">
                <a16:creationId xmlns:a16="http://schemas.microsoft.com/office/drawing/2014/main" id="{41CCFA2A-0CFE-4938-9E07-6344406F16BE}"/>
              </a:ext>
            </a:extLst>
          </p:cNvPr>
          <p:cNvSpPr/>
          <p:nvPr/>
        </p:nvSpPr>
        <p:spPr bwMode="auto">
          <a:xfrm>
            <a:off x="3096614" y="4077998"/>
            <a:ext cx="181426" cy="1215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flat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algn="ctr" defTabSz="685835" fontAlgn="base">
              <a:spcBef>
                <a:spcPct val="0"/>
              </a:spcBef>
              <a:spcAft>
                <a:spcPct val="0"/>
              </a:spcAft>
            </a:pPr>
            <a:endParaRPr lang="en-US" altLang="ko-KR" sz="1200" dirty="0">
              <a:latin typeface="+mn-lt"/>
            </a:endParaRPr>
          </a:p>
        </p:txBody>
      </p:sp>
      <p:sp>
        <p:nvSpPr>
          <p:cNvPr id="385" name="직사각형 384">
            <a:extLst>
              <a:ext uri="{FF2B5EF4-FFF2-40B4-BE49-F238E27FC236}">
                <a16:creationId xmlns:a16="http://schemas.microsoft.com/office/drawing/2014/main" id="{F5097147-95EE-4010-AB9F-259124D37965}"/>
              </a:ext>
            </a:extLst>
          </p:cNvPr>
          <p:cNvSpPr/>
          <p:nvPr/>
        </p:nvSpPr>
        <p:spPr bwMode="auto">
          <a:xfrm>
            <a:off x="3364620" y="4689859"/>
            <a:ext cx="181426" cy="1215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flat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algn="ctr" defTabSz="685835" fontAlgn="base">
              <a:spcBef>
                <a:spcPct val="0"/>
              </a:spcBef>
              <a:spcAft>
                <a:spcPct val="0"/>
              </a:spcAft>
            </a:pPr>
            <a:endParaRPr lang="en-US" altLang="ko-KR" sz="1200" dirty="0">
              <a:latin typeface="+mn-lt"/>
            </a:endParaRPr>
          </a:p>
        </p:txBody>
      </p:sp>
      <p:sp>
        <p:nvSpPr>
          <p:cNvPr id="386" name="직사각형 385">
            <a:extLst>
              <a:ext uri="{FF2B5EF4-FFF2-40B4-BE49-F238E27FC236}">
                <a16:creationId xmlns:a16="http://schemas.microsoft.com/office/drawing/2014/main" id="{6ECBFF0D-8B72-4D00-B656-161229F48299}"/>
              </a:ext>
            </a:extLst>
          </p:cNvPr>
          <p:cNvSpPr/>
          <p:nvPr/>
        </p:nvSpPr>
        <p:spPr bwMode="auto">
          <a:xfrm>
            <a:off x="3096614" y="4824244"/>
            <a:ext cx="181426" cy="1215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flat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algn="ctr" defTabSz="685835" fontAlgn="base">
              <a:spcBef>
                <a:spcPct val="0"/>
              </a:spcBef>
              <a:spcAft>
                <a:spcPct val="0"/>
              </a:spcAft>
            </a:pPr>
            <a:endParaRPr lang="en-US" altLang="ko-KR" sz="1200" dirty="0">
              <a:latin typeface="+mn-lt"/>
            </a:endParaRPr>
          </a:p>
        </p:txBody>
      </p:sp>
      <p:sp>
        <p:nvSpPr>
          <p:cNvPr id="387" name="직사각형 386">
            <a:extLst>
              <a:ext uri="{FF2B5EF4-FFF2-40B4-BE49-F238E27FC236}">
                <a16:creationId xmlns:a16="http://schemas.microsoft.com/office/drawing/2014/main" id="{3AE6C431-5B3F-4C01-A250-4F52343020A2}"/>
              </a:ext>
            </a:extLst>
          </p:cNvPr>
          <p:cNvSpPr/>
          <p:nvPr/>
        </p:nvSpPr>
        <p:spPr bwMode="auto">
          <a:xfrm>
            <a:off x="3364620" y="5466583"/>
            <a:ext cx="181426" cy="1215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flat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algn="ctr" defTabSz="685835" fontAlgn="base">
              <a:spcBef>
                <a:spcPct val="0"/>
              </a:spcBef>
              <a:spcAft>
                <a:spcPct val="0"/>
              </a:spcAft>
            </a:pPr>
            <a:endParaRPr lang="en-US" altLang="ko-KR" sz="1200" dirty="0">
              <a:latin typeface="+mn-lt"/>
            </a:endParaRPr>
          </a:p>
        </p:txBody>
      </p:sp>
      <p:sp>
        <p:nvSpPr>
          <p:cNvPr id="388" name="직사각형 387">
            <a:extLst>
              <a:ext uri="{FF2B5EF4-FFF2-40B4-BE49-F238E27FC236}">
                <a16:creationId xmlns:a16="http://schemas.microsoft.com/office/drawing/2014/main" id="{B79FC6A9-03E0-4D92-BA91-D031787A1061}"/>
              </a:ext>
            </a:extLst>
          </p:cNvPr>
          <p:cNvSpPr/>
          <p:nvPr/>
        </p:nvSpPr>
        <p:spPr bwMode="auto">
          <a:xfrm>
            <a:off x="3096614" y="5600968"/>
            <a:ext cx="181426" cy="1215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flat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algn="ctr" defTabSz="685835" fontAlgn="base">
              <a:spcBef>
                <a:spcPct val="0"/>
              </a:spcBef>
              <a:spcAft>
                <a:spcPct val="0"/>
              </a:spcAft>
            </a:pPr>
            <a:endParaRPr lang="en-US" altLang="ko-KR" sz="1200" dirty="0">
              <a:latin typeface="+mn-lt"/>
            </a:endParaRPr>
          </a:p>
        </p:txBody>
      </p:sp>
      <p:sp>
        <p:nvSpPr>
          <p:cNvPr id="540" name="직사각형 539">
            <a:extLst>
              <a:ext uri="{FF2B5EF4-FFF2-40B4-BE49-F238E27FC236}">
                <a16:creationId xmlns:a16="http://schemas.microsoft.com/office/drawing/2014/main" id="{5254E1DA-47ED-48F4-A25D-06DDE7E898F7}"/>
              </a:ext>
            </a:extLst>
          </p:cNvPr>
          <p:cNvSpPr/>
          <p:nvPr/>
        </p:nvSpPr>
        <p:spPr bwMode="auto">
          <a:xfrm>
            <a:off x="4761967" y="2656043"/>
            <a:ext cx="181426" cy="1215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flat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algn="ctr" defTabSz="685835" fontAlgn="base">
              <a:spcBef>
                <a:spcPct val="0"/>
              </a:spcBef>
              <a:spcAft>
                <a:spcPct val="0"/>
              </a:spcAft>
            </a:pPr>
            <a:endParaRPr lang="en-US" altLang="ko-KR" sz="1200" dirty="0">
              <a:latin typeface="+mn-lt"/>
            </a:endParaRPr>
          </a:p>
        </p:txBody>
      </p:sp>
      <p:sp>
        <p:nvSpPr>
          <p:cNvPr id="541" name="직사각형 540">
            <a:extLst>
              <a:ext uri="{FF2B5EF4-FFF2-40B4-BE49-F238E27FC236}">
                <a16:creationId xmlns:a16="http://schemas.microsoft.com/office/drawing/2014/main" id="{6760F269-BB4D-4016-870B-8C0F7EC846AC}"/>
              </a:ext>
            </a:extLst>
          </p:cNvPr>
          <p:cNvSpPr/>
          <p:nvPr/>
        </p:nvSpPr>
        <p:spPr bwMode="auto">
          <a:xfrm>
            <a:off x="4761967" y="3397112"/>
            <a:ext cx="181426" cy="1215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flat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algn="ctr" defTabSz="685835" fontAlgn="base">
              <a:spcBef>
                <a:spcPct val="0"/>
              </a:spcBef>
              <a:spcAft>
                <a:spcPct val="0"/>
              </a:spcAft>
            </a:pPr>
            <a:endParaRPr lang="en-US" altLang="ko-KR" sz="1200" dirty="0">
              <a:latin typeface="+mn-lt"/>
            </a:endParaRPr>
          </a:p>
        </p:txBody>
      </p:sp>
      <p:sp>
        <p:nvSpPr>
          <p:cNvPr id="542" name="직사각형 541">
            <a:extLst>
              <a:ext uri="{FF2B5EF4-FFF2-40B4-BE49-F238E27FC236}">
                <a16:creationId xmlns:a16="http://schemas.microsoft.com/office/drawing/2014/main" id="{00028FC8-EF02-4167-ABC6-327C36DEA434}"/>
              </a:ext>
            </a:extLst>
          </p:cNvPr>
          <p:cNvSpPr/>
          <p:nvPr/>
        </p:nvSpPr>
        <p:spPr bwMode="auto">
          <a:xfrm>
            <a:off x="4757537" y="4138732"/>
            <a:ext cx="181426" cy="1215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flat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algn="ctr" defTabSz="685835" fontAlgn="base">
              <a:spcBef>
                <a:spcPct val="0"/>
              </a:spcBef>
              <a:spcAft>
                <a:spcPct val="0"/>
              </a:spcAft>
            </a:pPr>
            <a:endParaRPr lang="en-US" altLang="ko-KR" sz="1200" dirty="0">
              <a:latin typeface="+mn-lt"/>
            </a:endParaRPr>
          </a:p>
        </p:txBody>
      </p:sp>
      <p:sp>
        <p:nvSpPr>
          <p:cNvPr id="543" name="직사각형 542">
            <a:extLst>
              <a:ext uri="{FF2B5EF4-FFF2-40B4-BE49-F238E27FC236}">
                <a16:creationId xmlns:a16="http://schemas.microsoft.com/office/drawing/2014/main" id="{917FD4A8-DD46-4F89-936E-D3D085796B7A}"/>
              </a:ext>
            </a:extLst>
          </p:cNvPr>
          <p:cNvSpPr/>
          <p:nvPr/>
        </p:nvSpPr>
        <p:spPr bwMode="auto">
          <a:xfrm>
            <a:off x="4754377" y="4905915"/>
            <a:ext cx="181426" cy="1215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flat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algn="ctr" defTabSz="685835" fontAlgn="base">
              <a:spcBef>
                <a:spcPct val="0"/>
              </a:spcBef>
              <a:spcAft>
                <a:spcPct val="0"/>
              </a:spcAft>
            </a:pPr>
            <a:endParaRPr lang="en-US" altLang="ko-KR" sz="1200" dirty="0">
              <a:latin typeface="+mn-lt"/>
            </a:endParaRPr>
          </a:p>
        </p:txBody>
      </p:sp>
      <p:sp>
        <p:nvSpPr>
          <p:cNvPr id="544" name="직사각형 543">
            <a:extLst>
              <a:ext uri="{FF2B5EF4-FFF2-40B4-BE49-F238E27FC236}">
                <a16:creationId xmlns:a16="http://schemas.microsoft.com/office/drawing/2014/main" id="{4774630B-CAED-42AA-8D97-5890B15D88E3}"/>
              </a:ext>
            </a:extLst>
          </p:cNvPr>
          <p:cNvSpPr/>
          <p:nvPr/>
        </p:nvSpPr>
        <p:spPr bwMode="auto">
          <a:xfrm>
            <a:off x="4752947" y="5664243"/>
            <a:ext cx="181426" cy="1215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flat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algn="ctr" defTabSz="685835" fontAlgn="base">
              <a:spcBef>
                <a:spcPct val="0"/>
              </a:spcBef>
              <a:spcAft>
                <a:spcPct val="0"/>
              </a:spcAft>
            </a:pPr>
            <a:endParaRPr lang="en-US" altLang="ko-KR" sz="1200" dirty="0">
              <a:latin typeface="+mn-lt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5D263454-BA6F-429F-B0C1-0DDEEC6F1E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Payload Architecture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AA9F1EE-D202-4CD7-8AAE-E32CFB5587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SAR Payload </a:t>
            </a:r>
            <a:r>
              <a:rPr lang="ko-KR" altLang="en-US" dirty="0"/>
              <a:t>구성 </a:t>
            </a:r>
            <a:r>
              <a:rPr lang="en-US" altLang="ko-KR" dirty="0"/>
              <a:t>– SATA </a:t>
            </a:r>
            <a:r>
              <a:rPr lang="ko-KR" altLang="en-US" dirty="0"/>
              <a:t>상세</a:t>
            </a:r>
            <a:endParaRPr lang="en-US" altLang="ko-KR" dirty="0"/>
          </a:p>
          <a:p>
            <a:endParaRPr lang="en-US" altLang="ko-KR" dirty="0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0162FAA8-C477-484F-A878-FE57258A640F}"/>
              </a:ext>
            </a:extLst>
          </p:cNvPr>
          <p:cNvSpPr/>
          <p:nvPr/>
        </p:nvSpPr>
        <p:spPr bwMode="auto">
          <a:xfrm>
            <a:off x="143447" y="3506547"/>
            <a:ext cx="1203544" cy="2561060"/>
          </a:xfrm>
          <a:prstGeom prst="rect">
            <a:avLst/>
          </a:prstGeom>
          <a:solidFill>
            <a:schemeClr val="bg1">
              <a:lumMod val="85000"/>
            </a:schemeClr>
          </a:solidFill>
          <a:ln w="6350" cap="flat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algn="ctr" defTabSz="685835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500" dirty="0">
                <a:latin typeface="+mn-lt"/>
                <a:ea typeface="굴림" panose="020B0600000101010101" pitchFamily="50" charset="-127"/>
              </a:rPr>
              <a:t>SCEU</a:t>
            </a:r>
          </a:p>
          <a:p>
            <a:pPr algn="ctr" defTabSz="685835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050" dirty="0">
                <a:latin typeface="+mn-lt"/>
                <a:ea typeface="굴림" panose="020B0600000101010101" pitchFamily="50" charset="-127"/>
              </a:rPr>
              <a:t>(SAR Control</a:t>
            </a:r>
          </a:p>
          <a:p>
            <a:pPr algn="ctr" defTabSz="685835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050" dirty="0">
                <a:latin typeface="+mn-lt"/>
                <a:ea typeface="굴림" panose="020B0600000101010101" pitchFamily="50" charset="-127"/>
              </a:rPr>
              <a:t>Electronic Unit)</a:t>
            </a:r>
          </a:p>
        </p:txBody>
      </p:sp>
      <p:sp>
        <p:nvSpPr>
          <p:cNvPr id="86" name="직사각형 85">
            <a:extLst>
              <a:ext uri="{FF2B5EF4-FFF2-40B4-BE49-F238E27FC236}">
                <a16:creationId xmlns:a16="http://schemas.microsoft.com/office/drawing/2014/main" id="{7DC88CB8-AF9C-48FF-B3C7-852B3180F7F9}"/>
              </a:ext>
            </a:extLst>
          </p:cNvPr>
          <p:cNvSpPr/>
          <p:nvPr/>
        </p:nvSpPr>
        <p:spPr bwMode="auto">
          <a:xfrm>
            <a:off x="1170139" y="2186254"/>
            <a:ext cx="181426" cy="1215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flat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algn="ctr" defTabSz="685835" fontAlgn="base">
              <a:spcBef>
                <a:spcPct val="0"/>
              </a:spcBef>
              <a:spcAft>
                <a:spcPct val="0"/>
              </a:spcAft>
            </a:pPr>
            <a:endParaRPr lang="en-US" altLang="ko-KR" sz="1200" dirty="0">
              <a:latin typeface="+mn-lt"/>
            </a:endParaRPr>
          </a:p>
        </p:txBody>
      </p:sp>
      <p:sp>
        <p:nvSpPr>
          <p:cNvPr id="87" name="직사각형 86">
            <a:extLst>
              <a:ext uri="{FF2B5EF4-FFF2-40B4-BE49-F238E27FC236}">
                <a16:creationId xmlns:a16="http://schemas.microsoft.com/office/drawing/2014/main" id="{B323AB0C-FE14-45C0-8BC3-BB4776DB9620}"/>
              </a:ext>
            </a:extLst>
          </p:cNvPr>
          <p:cNvSpPr/>
          <p:nvPr/>
        </p:nvSpPr>
        <p:spPr bwMode="auto">
          <a:xfrm>
            <a:off x="1170139" y="2064892"/>
            <a:ext cx="181426" cy="1215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flat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algn="ctr" defTabSz="685835" fontAlgn="base">
              <a:spcBef>
                <a:spcPct val="0"/>
              </a:spcBef>
              <a:spcAft>
                <a:spcPct val="0"/>
              </a:spcAft>
            </a:pPr>
            <a:endParaRPr lang="en-US" altLang="ko-KR" sz="1200" dirty="0">
              <a:latin typeface="+mn-lt"/>
            </a:endParaRPr>
          </a:p>
        </p:txBody>
      </p:sp>
      <p:sp>
        <p:nvSpPr>
          <p:cNvPr id="88" name="직사각형 87">
            <a:extLst>
              <a:ext uri="{FF2B5EF4-FFF2-40B4-BE49-F238E27FC236}">
                <a16:creationId xmlns:a16="http://schemas.microsoft.com/office/drawing/2014/main" id="{60CCE4D9-D77E-4769-AE4E-E122E5475ABF}"/>
              </a:ext>
            </a:extLst>
          </p:cNvPr>
          <p:cNvSpPr/>
          <p:nvPr/>
        </p:nvSpPr>
        <p:spPr bwMode="auto">
          <a:xfrm>
            <a:off x="1170139" y="1943392"/>
            <a:ext cx="181426" cy="1215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flat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algn="ctr" defTabSz="685835" fontAlgn="base">
              <a:spcBef>
                <a:spcPct val="0"/>
              </a:spcBef>
              <a:spcAft>
                <a:spcPct val="0"/>
              </a:spcAft>
            </a:pPr>
            <a:endParaRPr lang="en-US" altLang="ko-KR" sz="1200" dirty="0">
              <a:latin typeface="+mn-lt"/>
            </a:endParaRPr>
          </a:p>
        </p:txBody>
      </p:sp>
      <p:sp>
        <p:nvSpPr>
          <p:cNvPr id="89" name="직사각형 88">
            <a:extLst>
              <a:ext uri="{FF2B5EF4-FFF2-40B4-BE49-F238E27FC236}">
                <a16:creationId xmlns:a16="http://schemas.microsoft.com/office/drawing/2014/main" id="{2C8E32CE-D939-4AB9-9848-4ECA160A54C3}"/>
              </a:ext>
            </a:extLst>
          </p:cNvPr>
          <p:cNvSpPr/>
          <p:nvPr/>
        </p:nvSpPr>
        <p:spPr bwMode="auto">
          <a:xfrm>
            <a:off x="1170139" y="1822029"/>
            <a:ext cx="181426" cy="1215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flat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algn="ctr" defTabSz="685835" fontAlgn="base">
              <a:spcBef>
                <a:spcPct val="0"/>
              </a:spcBef>
              <a:spcAft>
                <a:spcPct val="0"/>
              </a:spcAft>
            </a:pPr>
            <a:endParaRPr lang="en-US" altLang="ko-KR" sz="1200" dirty="0">
              <a:latin typeface="+mn-lt"/>
            </a:endParaRPr>
          </a:p>
        </p:txBody>
      </p:sp>
      <p:sp>
        <p:nvSpPr>
          <p:cNvPr id="90" name="직사각형 89">
            <a:extLst>
              <a:ext uri="{FF2B5EF4-FFF2-40B4-BE49-F238E27FC236}">
                <a16:creationId xmlns:a16="http://schemas.microsoft.com/office/drawing/2014/main" id="{3437B525-B21F-4255-B062-F116693746FA}"/>
              </a:ext>
            </a:extLst>
          </p:cNvPr>
          <p:cNvSpPr/>
          <p:nvPr/>
        </p:nvSpPr>
        <p:spPr bwMode="auto">
          <a:xfrm>
            <a:off x="1981000" y="1389029"/>
            <a:ext cx="6868754" cy="4678578"/>
          </a:xfrm>
          <a:prstGeom prst="rect">
            <a:avLst/>
          </a:prstGeom>
          <a:solidFill>
            <a:schemeClr val="bg1">
              <a:lumMod val="85000"/>
            </a:schemeClr>
          </a:solidFill>
          <a:ln w="6350" cap="flat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algn="ctr" defTabSz="685835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500" dirty="0">
                <a:latin typeface="+mn-lt"/>
                <a:ea typeface="굴림" panose="020B0600000101010101" pitchFamily="50" charset="-127"/>
              </a:rPr>
              <a:t>SATA (SAR Antenna &amp; TRM Assembly)</a:t>
            </a:r>
          </a:p>
        </p:txBody>
      </p:sp>
      <p:sp>
        <p:nvSpPr>
          <p:cNvPr id="91" name="직사각형 90">
            <a:extLst>
              <a:ext uri="{FF2B5EF4-FFF2-40B4-BE49-F238E27FC236}">
                <a16:creationId xmlns:a16="http://schemas.microsoft.com/office/drawing/2014/main" id="{D6787901-A6D0-4B37-9EE3-EAF9C1DFCFC9}"/>
              </a:ext>
            </a:extLst>
          </p:cNvPr>
          <p:cNvSpPr/>
          <p:nvPr/>
        </p:nvSpPr>
        <p:spPr bwMode="auto">
          <a:xfrm>
            <a:off x="143447" y="1387244"/>
            <a:ext cx="1211107" cy="1583072"/>
          </a:xfrm>
          <a:prstGeom prst="rect">
            <a:avLst/>
          </a:prstGeom>
          <a:solidFill>
            <a:schemeClr val="bg1">
              <a:lumMod val="50000"/>
            </a:schemeClr>
          </a:solidFill>
          <a:ln w="6350" cap="flat" cmpd="sng" algn="ctr">
            <a:solidFill>
              <a:schemeClr val="tx1"/>
            </a:solidFill>
            <a:prstDash val="dash"/>
            <a:round/>
            <a:headEnd type="none" w="sm" len="sm"/>
            <a:tailEnd type="none" w="sm" len="sm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algn="ctr" defTabSz="685835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500" dirty="0">
                <a:latin typeface="+mn-lt"/>
                <a:ea typeface="굴림" panose="020B0600000101010101" pitchFamily="50" charset="-127"/>
              </a:rPr>
              <a:t>Bus</a:t>
            </a:r>
          </a:p>
        </p:txBody>
      </p:sp>
      <p:sp>
        <p:nvSpPr>
          <p:cNvPr id="93" name="직사각형 92">
            <a:extLst>
              <a:ext uri="{FF2B5EF4-FFF2-40B4-BE49-F238E27FC236}">
                <a16:creationId xmlns:a16="http://schemas.microsoft.com/office/drawing/2014/main" id="{CCFA59C0-9181-4DDE-84CC-51C19F24F1CD}"/>
              </a:ext>
            </a:extLst>
          </p:cNvPr>
          <p:cNvSpPr/>
          <p:nvPr/>
        </p:nvSpPr>
        <p:spPr bwMode="auto">
          <a:xfrm>
            <a:off x="6781874" y="2994288"/>
            <a:ext cx="1915000" cy="48600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algn="ctr" defTabSz="685835"/>
            <a:r>
              <a:rPr lang="en-US" altLang="ko-KR" sz="1200" dirty="0">
                <a:latin typeface="+mn-lt"/>
              </a:rPr>
              <a:t>SAM #1</a:t>
            </a:r>
          </a:p>
          <a:p>
            <a:pPr algn="ctr" defTabSz="685835"/>
            <a:r>
              <a:rPr lang="en-US" altLang="ko-KR" sz="1050" dirty="0">
                <a:latin typeface="+mn-lt"/>
              </a:rPr>
              <a:t>(SAR Antenna Module)</a:t>
            </a:r>
          </a:p>
        </p:txBody>
      </p:sp>
      <p:sp>
        <p:nvSpPr>
          <p:cNvPr id="94" name="직사각형 93">
            <a:extLst>
              <a:ext uri="{FF2B5EF4-FFF2-40B4-BE49-F238E27FC236}">
                <a16:creationId xmlns:a16="http://schemas.microsoft.com/office/drawing/2014/main" id="{ED76874D-3E1A-4CEF-8683-522C72587E01}"/>
              </a:ext>
            </a:extLst>
          </p:cNvPr>
          <p:cNvSpPr/>
          <p:nvPr/>
        </p:nvSpPr>
        <p:spPr bwMode="auto">
          <a:xfrm>
            <a:off x="6781874" y="4503091"/>
            <a:ext cx="1915000" cy="48600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algn="ctr" defTabSz="685835"/>
            <a:r>
              <a:rPr lang="en-US" altLang="ko-KR" sz="1200" dirty="0">
                <a:latin typeface="+mn-lt"/>
              </a:rPr>
              <a:t>SAM #3</a:t>
            </a:r>
          </a:p>
          <a:p>
            <a:pPr algn="ctr" defTabSz="685835"/>
            <a:r>
              <a:rPr lang="en-US" altLang="ko-KR" sz="1050" dirty="0">
                <a:latin typeface="+mn-lt"/>
              </a:rPr>
              <a:t>(SAR Antenna Module)</a:t>
            </a:r>
          </a:p>
        </p:txBody>
      </p:sp>
      <p:sp>
        <p:nvSpPr>
          <p:cNvPr id="95" name="직사각형 94">
            <a:extLst>
              <a:ext uri="{FF2B5EF4-FFF2-40B4-BE49-F238E27FC236}">
                <a16:creationId xmlns:a16="http://schemas.microsoft.com/office/drawing/2014/main" id="{9FD13040-F67E-4921-839E-09CA1338313F}"/>
              </a:ext>
            </a:extLst>
          </p:cNvPr>
          <p:cNvSpPr/>
          <p:nvPr/>
        </p:nvSpPr>
        <p:spPr bwMode="auto">
          <a:xfrm>
            <a:off x="6781874" y="5261419"/>
            <a:ext cx="1915000" cy="48600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algn="ctr" defTabSz="685835"/>
            <a:r>
              <a:rPr lang="en-US" altLang="ko-KR" sz="1200" dirty="0">
                <a:latin typeface="+mn-lt"/>
              </a:rPr>
              <a:t>SAM #4</a:t>
            </a:r>
          </a:p>
          <a:p>
            <a:pPr algn="ctr" defTabSz="685835"/>
            <a:r>
              <a:rPr lang="en-US" altLang="ko-KR" sz="1050" dirty="0">
                <a:latin typeface="+mn-lt"/>
              </a:rPr>
              <a:t>(SAR Antenna Module)</a:t>
            </a:r>
          </a:p>
        </p:txBody>
      </p:sp>
      <p:sp>
        <p:nvSpPr>
          <p:cNvPr id="96" name="직사각형 95">
            <a:extLst>
              <a:ext uri="{FF2B5EF4-FFF2-40B4-BE49-F238E27FC236}">
                <a16:creationId xmlns:a16="http://schemas.microsoft.com/office/drawing/2014/main" id="{96033A47-2F9C-4569-8FFC-38BAFE1FD424}"/>
              </a:ext>
            </a:extLst>
          </p:cNvPr>
          <p:cNvSpPr/>
          <p:nvPr/>
        </p:nvSpPr>
        <p:spPr bwMode="auto">
          <a:xfrm>
            <a:off x="2454818" y="1659980"/>
            <a:ext cx="1091228" cy="3968138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algn="ctr" defTabSz="685835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200" dirty="0">
                <a:latin typeface="+mn-lt"/>
                <a:ea typeface="굴림" panose="020B0600000101010101" pitchFamily="50" charset="-127"/>
              </a:rPr>
              <a:t>TPD</a:t>
            </a:r>
          </a:p>
          <a:p>
            <a:pPr algn="ctr" defTabSz="685835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900" dirty="0">
                <a:latin typeface="+mn-lt"/>
                <a:ea typeface="굴림" panose="020B0600000101010101" pitchFamily="50" charset="-127"/>
              </a:rPr>
              <a:t>(Tx Power Divider)</a:t>
            </a:r>
          </a:p>
        </p:txBody>
      </p:sp>
      <p:sp>
        <p:nvSpPr>
          <p:cNvPr id="98" name="직사각형 97">
            <a:extLst>
              <a:ext uri="{FF2B5EF4-FFF2-40B4-BE49-F238E27FC236}">
                <a16:creationId xmlns:a16="http://schemas.microsoft.com/office/drawing/2014/main" id="{B582B3D5-02A3-4346-B518-7F43BE69E252}"/>
              </a:ext>
            </a:extLst>
          </p:cNvPr>
          <p:cNvSpPr/>
          <p:nvPr/>
        </p:nvSpPr>
        <p:spPr bwMode="auto">
          <a:xfrm>
            <a:off x="6781874" y="2253219"/>
            <a:ext cx="1915000" cy="48600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algn="ctr" defTabSz="685835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200" dirty="0">
                <a:latin typeface="+mn-lt"/>
                <a:ea typeface="굴림" panose="020B0600000101010101" pitchFamily="50" charset="-127"/>
              </a:rPr>
              <a:t>SAM #0</a:t>
            </a:r>
          </a:p>
          <a:p>
            <a:pPr algn="ctr" defTabSz="685835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050" dirty="0">
                <a:latin typeface="+mn-lt"/>
                <a:ea typeface="굴림" panose="020B0600000101010101" pitchFamily="50" charset="-127"/>
              </a:rPr>
              <a:t>(SAR Antenna Module)</a:t>
            </a:r>
          </a:p>
        </p:txBody>
      </p:sp>
      <p:sp>
        <p:nvSpPr>
          <p:cNvPr id="136" name="직사각형 135">
            <a:extLst>
              <a:ext uri="{FF2B5EF4-FFF2-40B4-BE49-F238E27FC236}">
                <a16:creationId xmlns:a16="http://schemas.microsoft.com/office/drawing/2014/main" id="{4A6E4DA2-7A9C-4CD2-A991-8B700150D272}"/>
              </a:ext>
            </a:extLst>
          </p:cNvPr>
          <p:cNvSpPr/>
          <p:nvPr/>
        </p:nvSpPr>
        <p:spPr>
          <a:xfrm>
            <a:off x="904098" y="2435401"/>
            <a:ext cx="437941" cy="20774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altLang="ko-KR" sz="750" dirty="0">
                <a:solidFill>
                  <a:srgbClr val="FF0000"/>
                </a:solidFill>
                <a:latin typeface="+mn-lt"/>
                <a:cs typeface="Arial" panose="020B0604020202020204" pitchFamily="34" charset="0"/>
              </a:rPr>
              <a:t>+28 V</a:t>
            </a:r>
            <a:endParaRPr lang="ko-KR" altLang="en-US" sz="750" dirty="0">
              <a:solidFill>
                <a:srgbClr val="FF0000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197" name="직사각형 196">
            <a:extLst>
              <a:ext uri="{FF2B5EF4-FFF2-40B4-BE49-F238E27FC236}">
                <a16:creationId xmlns:a16="http://schemas.microsoft.com/office/drawing/2014/main" id="{615C1486-2686-4ECE-BD20-9E5E11085F80}"/>
              </a:ext>
            </a:extLst>
          </p:cNvPr>
          <p:cNvSpPr/>
          <p:nvPr/>
        </p:nvSpPr>
        <p:spPr>
          <a:xfrm>
            <a:off x="444180" y="4832316"/>
            <a:ext cx="902811" cy="20774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750" dirty="0">
                <a:solidFill>
                  <a:srgbClr val="009900"/>
                </a:solidFill>
                <a:latin typeface="+mn-lt"/>
                <a:cs typeface="Arial" panose="020B0604020202020204" pitchFamily="34" charset="0"/>
              </a:rPr>
              <a:t>X-Band Rx </a:t>
            </a:r>
            <a:r>
              <a:rPr lang="en-US" altLang="ko-KR" sz="750" dirty="0" err="1">
                <a:solidFill>
                  <a:srgbClr val="009900"/>
                </a:solidFill>
                <a:latin typeface="+mn-lt"/>
                <a:cs typeface="Arial" panose="020B0604020202020204" pitchFamily="34" charset="0"/>
              </a:rPr>
              <a:t>Chrip</a:t>
            </a:r>
            <a:endParaRPr lang="ko-KR" altLang="en-US" sz="750" dirty="0">
              <a:solidFill>
                <a:srgbClr val="009900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213" name="직사각형 212">
            <a:extLst>
              <a:ext uri="{FF2B5EF4-FFF2-40B4-BE49-F238E27FC236}">
                <a16:creationId xmlns:a16="http://schemas.microsoft.com/office/drawing/2014/main" id="{795FBD4E-637A-4F3A-8706-A82536B90CB5}"/>
              </a:ext>
            </a:extLst>
          </p:cNvPr>
          <p:cNvSpPr/>
          <p:nvPr/>
        </p:nvSpPr>
        <p:spPr>
          <a:xfrm>
            <a:off x="294246" y="5112968"/>
            <a:ext cx="1052745" cy="20774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altLang="ko-KR" sz="750">
                <a:solidFill>
                  <a:srgbClr val="0070C0"/>
                </a:solidFill>
                <a:latin typeface="+mn-lt"/>
                <a:cs typeface="Arial" panose="020B0604020202020204" pitchFamily="34" charset="0"/>
              </a:rPr>
              <a:t>Real Time Control</a:t>
            </a:r>
            <a:endParaRPr lang="en-US" altLang="ko-KR" sz="750" dirty="0">
              <a:solidFill>
                <a:srgbClr val="0070C0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218" name="직사각형 217">
            <a:extLst>
              <a:ext uri="{FF2B5EF4-FFF2-40B4-BE49-F238E27FC236}">
                <a16:creationId xmlns:a16="http://schemas.microsoft.com/office/drawing/2014/main" id="{00AE1BF9-D4BA-480D-92D2-B60CC0B907BD}"/>
              </a:ext>
            </a:extLst>
          </p:cNvPr>
          <p:cNvSpPr/>
          <p:nvPr/>
        </p:nvSpPr>
        <p:spPr>
          <a:xfrm>
            <a:off x="556390" y="4972642"/>
            <a:ext cx="790601" cy="20774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altLang="ko-KR" sz="750" dirty="0">
                <a:solidFill>
                  <a:srgbClr val="0070C0"/>
                </a:solidFill>
                <a:latin typeface="+mn-lt"/>
                <a:cs typeface="Arial" panose="020B0604020202020204" pitchFamily="34" charset="0"/>
              </a:rPr>
              <a:t>Power Control</a:t>
            </a:r>
          </a:p>
        </p:txBody>
      </p:sp>
      <p:sp>
        <p:nvSpPr>
          <p:cNvPr id="224" name="직사각형 223">
            <a:extLst>
              <a:ext uri="{FF2B5EF4-FFF2-40B4-BE49-F238E27FC236}">
                <a16:creationId xmlns:a16="http://schemas.microsoft.com/office/drawing/2014/main" id="{CCAF4970-E811-402A-AA04-522C68056E1F}"/>
              </a:ext>
            </a:extLst>
          </p:cNvPr>
          <p:cNvSpPr/>
          <p:nvPr/>
        </p:nvSpPr>
        <p:spPr bwMode="auto">
          <a:xfrm>
            <a:off x="6781874" y="3735908"/>
            <a:ext cx="1915000" cy="48600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algn="ctr" defTabSz="685835"/>
            <a:r>
              <a:rPr lang="en-US" altLang="ko-KR" sz="1200" dirty="0">
                <a:latin typeface="+mn-lt"/>
              </a:rPr>
              <a:t>SAM #2</a:t>
            </a:r>
          </a:p>
          <a:p>
            <a:pPr algn="ctr" defTabSz="685835"/>
            <a:r>
              <a:rPr lang="en-US" altLang="ko-KR" sz="1050" dirty="0">
                <a:latin typeface="+mn-lt"/>
              </a:rPr>
              <a:t>(SAR Antenna Module)</a:t>
            </a:r>
          </a:p>
        </p:txBody>
      </p:sp>
      <p:cxnSp>
        <p:nvCxnSpPr>
          <p:cNvPr id="230" name="꺾인 연결선 34">
            <a:extLst>
              <a:ext uri="{FF2B5EF4-FFF2-40B4-BE49-F238E27FC236}">
                <a16:creationId xmlns:a16="http://schemas.microsoft.com/office/drawing/2014/main" id="{B320E5C0-D37B-4037-96FD-B79705F82E28}"/>
              </a:ext>
            </a:extLst>
          </p:cNvPr>
          <p:cNvCxnSpPr>
            <a:cxnSpLocks/>
            <a:stCxn id="593" idx="2"/>
            <a:endCxn id="447" idx="1"/>
          </p:cNvCxnSpPr>
          <p:nvPr/>
        </p:nvCxnSpPr>
        <p:spPr>
          <a:xfrm rot="16200000" flipH="1">
            <a:off x="2146206" y="4559155"/>
            <a:ext cx="1171548" cy="2007702"/>
          </a:xfrm>
          <a:prstGeom prst="bentConnector2">
            <a:avLst/>
          </a:prstGeom>
          <a:ln w="6350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1" name="직사각형 230">
            <a:extLst>
              <a:ext uri="{FF2B5EF4-FFF2-40B4-BE49-F238E27FC236}">
                <a16:creationId xmlns:a16="http://schemas.microsoft.com/office/drawing/2014/main" id="{AE16D086-FC25-4402-B0FB-CA4EC76AF138}"/>
              </a:ext>
            </a:extLst>
          </p:cNvPr>
          <p:cNvSpPr/>
          <p:nvPr/>
        </p:nvSpPr>
        <p:spPr bwMode="auto">
          <a:xfrm>
            <a:off x="7368538" y="6131392"/>
            <a:ext cx="0" cy="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flat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algn="ctr" defTabSz="685835" fontAlgn="base">
              <a:spcBef>
                <a:spcPct val="0"/>
              </a:spcBef>
              <a:spcAft>
                <a:spcPct val="0"/>
              </a:spcAft>
            </a:pPr>
            <a:endParaRPr lang="en-US" altLang="ko-KR" sz="1200" dirty="0">
              <a:latin typeface="+mn-lt"/>
            </a:endParaRPr>
          </a:p>
        </p:txBody>
      </p:sp>
      <p:sp>
        <p:nvSpPr>
          <p:cNvPr id="305" name="직사각형 304">
            <a:extLst>
              <a:ext uri="{FF2B5EF4-FFF2-40B4-BE49-F238E27FC236}">
                <a16:creationId xmlns:a16="http://schemas.microsoft.com/office/drawing/2014/main" id="{717B3BF2-1DFB-42B0-A2F2-EE00A38B51FB}"/>
              </a:ext>
            </a:extLst>
          </p:cNvPr>
          <p:cNvSpPr/>
          <p:nvPr/>
        </p:nvSpPr>
        <p:spPr bwMode="auto">
          <a:xfrm>
            <a:off x="4106584" y="2460305"/>
            <a:ext cx="181426" cy="1215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flat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algn="ctr" defTabSz="685835" fontAlgn="base">
              <a:spcBef>
                <a:spcPct val="0"/>
              </a:spcBef>
              <a:spcAft>
                <a:spcPct val="0"/>
              </a:spcAft>
            </a:pPr>
            <a:endParaRPr lang="en-US" altLang="ko-KR" sz="1200" dirty="0">
              <a:latin typeface="+mn-lt"/>
            </a:endParaRPr>
          </a:p>
        </p:txBody>
      </p:sp>
      <p:cxnSp>
        <p:nvCxnSpPr>
          <p:cNvPr id="311" name="꺾인 연결선 34">
            <a:extLst>
              <a:ext uri="{FF2B5EF4-FFF2-40B4-BE49-F238E27FC236}">
                <a16:creationId xmlns:a16="http://schemas.microsoft.com/office/drawing/2014/main" id="{A8A364C1-F9C9-451C-AC0E-F3DEA5FE56BB}"/>
              </a:ext>
            </a:extLst>
          </p:cNvPr>
          <p:cNvCxnSpPr>
            <a:cxnSpLocks/>
            <a:stCxn id="379" idx="3"/>
            <a:endCxn id="305" idx="1"/>
          </p:cNvCxnSpPr>
          <p:nvPr/>
        </p:nvCxnSpPr>
        <p:spPr>
          <a:xfrm>
            <a:off x="3546046" y="2519055"/>
            <a:ext cx="560538" cy="2000"/>
          </a:xfrm>
          <a:prstGeom prst="bentConnector3">
            <a:avLst>
              <a:gd name="adj1" fmla="val 50000"/>
            </a:avLst>
          </a:prstGeom>
          <a:ln w="6350">
            <a:solidFill>
              <a:srgbClr val="0099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4" name="직사각형 313">
            <a:extLst>
              <a:ext uri="{FF2B5EF4-FFF2-40B4-BE49-F238E27FC236}">
                <a16:creationId xmlns:a16="http://schemas.microsoft.com/office/drawing/2014/main" id="{4211CA00-2FF9-4A89-821E-FF17210D8002}"/>
              </a:ext>
            </a:extLst>
          </p:cNvPr>
          <p:cNvSpPr/>
          <p:nvPr/>
        </p:nvSpPr>
        <p:spPr bwMode="auto">
          <a:xfrm>
            <a:off x="4106584" y="2586064"/>
            <a:ext cx="181426" cy="1215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flat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algn="ctr" defTabSz="685835" fontAlgn="base">
              <a:spcBef>
                <a:spcPct val="0"/>
              </a:spcBef>
              <a:spcAft>
                <a:spcPct val="0"/>
              </a:spcAft>
            </a:pPr>
            <a:endParaRPr lang="en-US" altLang="ko-KR" sz="1200" dirty="0">
              <a:latin typeface="+mn-lt"/>
            </a:endParaRPr>
          </a:p>
        </p:txBody>
      </p:sp>
      <p:sp>
        <p:nvSpPr>
          <p:cNvPr id="315" name="직사각형 314">
            <a:extLst>
              <a:ext uri="{FF2B5EF4-FFF2-40B4-BE49-F238E27FC236}">
                <a16:creationId xmlns:a16="http://schemas.microsoft.com/office/drawing/2014/main" id="{E0327B00-30D7-4F96-BD05-2E98887FFAAC}"/>
              </a:ext>
            </a:extLst>
          </p:cNvPr>
          <p:cNvSpPr/>
          <p:nvPr/>
        </p:nvSpPr>
        <p:spPr bwMode="auto">
          <a:xfrm>
            <a:off x="4106584" y="3190423"/>
            <a:ext cx="181426" cy="1215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flat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algn="ctr" defTabSz="685835" fontAlgn="base">
              <a:spcBef>
                <a:spcPct val="0"/>
              </a:spcBef>
              <a:spcAft>
                <a:spcPct val="0"/>
              </a:spcAft>
            </a:pPr>
            <a:endParaRPr lang="en-US" altLang="ko-KR" sz="1200" dirty="0">
              <a:latin typeface="+mn-lt"/>
            </a:endParaRPr>
          </a:p>
        </p:txBody>
      </p:sp>
      <p:sp>
        <p:nvSpPr>
          <p:cNvPr id="316" name="직사각형 315">
            <a:extLst>
              <a:ext uri="{FF2B5EF4-FFF2-40B4-BE49-F238E27FC236}">
                <a16:creationId xmlns:a16="http://schemas.microsoft.com/office/drawing/2014/main" id="{EA458A94-4DF1-42FA-8E2B-4A375B4DAF2A}"/>
              </a:ext>
            </a:extLst>
          </p:cNvPr>
          <p:cNvSpPr/>
          <p:nvPr/>
        </p:nvSpPr>
        <p:spPr bwMode="auto">
          <a:xfrm>
            <a:off x="4106584" y="3324808"/>
            <a:ext cx="181426" cy="1215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flat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algn="ctr" defTabSz="685835" fontAlgn="base">
              <a:spcBef>
                <a:spcPct val="0"/>
              </a:spcBef>
              <a:spcAft>
                <a:spcPct val="0"/>
              </a:spcAft>
            </a:pPr>
            <a:endParaRPr lang="en-US" altLang="ko-KR" sz="1200" dirty="0">
              <a:latin typeface="+mn-lt"/>
            </a:endParaRPr>
          </a:p>
        </p:txBody>
      </p:sp>
      <p:sp>
        <p:nvSpPr>
          <p:cNvPr id="317" name="직사각형 316">
            <a:extLst>
              <a:ext uri="{FF2B5EF4-FFF2-40B4-BE49-F238E27FC236}">
                <a16:creationId xmlns:a16="http://schemas.microsoft.com/office/drawing/2014/main" id="{CF63B5FA-CD2B-4271-8491-640E6DB3D2F9}"/>
              </a:ext>
            </a:extLst>
          </p:cNvPr>
          <p:cNvSpPr/>
          <p:nvPr/>
        </p:nvSpPr>
        <p:spPr bwMode="auto">
          <a:xfrm>
            <a:off x="4106584" y="3945613"/>
            <a:ext cx="181426" cy="1215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flat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algn="ctr" defTabSz="685835" fontAlgn="base">
              <a:spcBef>
                <a:spcPct val="0"/>
              </a:spcBef>
              <a:spcAft>
                <a:spcPct val="0"/>
              </a:spcAft>
            </a:pPr>
            <a:endParaRPr lang="en-US" altLang="ko-KR" sz="1200" dirty="0">
              <a:latin typeface="+mn-lt"/>
            </a:endParaRPr>
          </a:p>
        </p:txBody>
      </p:sp>
      <p:sp>
        <p:nvSpPr>
          <p:cNvPr id="318" name="직사각형 317">
            <a:extLst>
              <a:ext uri="{FF2B5EF4-FFF2-40B4-BE49-F238E27FC236}">
                <a16:creationId xmlns:a16="http://schemas.microsoft.com/office/drawing/2014/main" id="{020A5EE8-2BE2-42C8-BBE7-B0D2FDCAD8E2}"/>
              </a:ext>
            </a:extLst>
          </p:cNvPr>
          <p:cNvSpPr/>
          <p:nvPr/>
        </p:nvSpPr>
        <p:spPr bwMode="auto">
          <a:xfrm>
            <a:off x="4106584" y="4079998"/>
            <a:ext cx="181426" cy="1215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flat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algn="ctr" defTabSz="685835" fontAlgn="base">
              <a:spcBef>
                <a:spcPct val="0"/>
              </a:spcBef>
              <a:spcAft>
                <a:spcPct val="0"/>
              </a:spcAft>
            </a:pPr>
            <a:endParaRPr lang="en-US" altLang="ko-KR" sz="1200" dirty="0">
              <a:latin typeface="+mn-lt"/>
            </a:endParaRPr>
          </a:p>
        </p:txBody>
      </p:sp>
      <p:sp>
        <p:nvSpPr>
          <p:cNvPr id="319" name="직사각형 318">
            <a:extLst>
              <a:ext uri="{FF2B5EF4-FFF2-40B4-BE49-F238E27FC236}">
                <a16:creationId xmlns:a16="http://schemas.microsoft.com/office/drawing/2014/main" id="{F6C2225B-1557-4056-8868-5AB90872D5AB}"/>
              </a:ext>
            </a:extLst>
          </p:cNvPr>
          <p:cNvSpPr/>
          <p:nvPr/>
        </p:nvSpPr>
        <p:spPr bwMode="auto">
          <a:xfrm>
            <a:off x="4106584" y="4691859"/>
            <a:ext cx="181426" cy="1215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flat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algn="ctr" defTabSz="685835" fontAlgn="base">
              <a:spcBef>
                <a:spcPct val="0"/>
              </a:spcBef>
              <a:spcAft>
                <a:spcPct val="0"/>
              </a:spcAft>
            </a:pPr>
            <a:endParaRPr lang="en-US" altLang="ko-KR" sz="1200" dirty="0">
              <a:latin typeface="+mn-lt"/>
            </a:endParaRPr>
          </a:p>
        </p:txBody>
      </p:sp>
      <p:sp>
        <p:nvSpPr>
          <p:cNvPr id="320" name="직사각형 319">
            <a:extLst>
              <a:ext uri="{FF2B5EF4-FFF2-40B4-BE49-F238E27FC236}">
                <a16:creationId xmlns:a16="http://schemas.microsoft.com/office/drawing/2014/main" id="{13835FDE-D020-4FA2-8453-2D5768D81005}"/>
              </a:ext>
            </a:extLst>
          </p:cNvPr>
          <p:cNvSpPr/>
          <p:nvPr/>
        </p:nvSpPr>
        <p:spPr bwMode="auto">
          <a:xfrm>
            <a:off x="4106584" y="4826244"/>
            <a:ext cx="181426" cy="1215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flat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algn="ctr" defTabSz="685835" fontAlgn="base">
              <a:spcBef>
                <a:spcPct val="0"/>
              </a:spcBef>
              <a:spcAft>
                <a:spcPct val="0"/>
              </a:spcAft>
            </a:pPr>
            <a:endParaRPr lang="en-US" altLang="ko-KR" sz="1200" dirty="0">
              <a:latin typeface="+mn-lt"/>
            </a:endParaRPr>
          </a:p>
        </p:txBody>
      </p:sp>
      <p:sp>
        <p:nvSpPr>
          <p:cNvPr id="321" name="직사각형 320">
            <a:extLst>
              <a:ext uri="{FF2B5EF4-FFF2-40B4-BE49-F238E27FC236}">
                <a16:creationId xmlns:a16="http://schemas.microsoft.com/office/drawing/2014/main" id="{C5886A73-FA75-4605-BF9A-7A50B8C06D5E}"/>
              </a:ext>
            </a:extLst>
          </p:cNvPr>
          <p:cNvSpPr/>
          <p:nvPr/>
        </p:nvSpPr>
        <p:spPr bwMode="auto">
          <a:xfrm>
            <a:off x="4106584" y="5468583"/>
            <a:ext cx="181426" cy="1215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flat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algn="ctr" defTabSz="685835" fontAlgn="base">
              <a:spcBef>
                <a:spcPct val="0"/>
              </a:spcBef>
              <a:spcAft>
                <a:spcPct val="0"/>
              </a:spcAft>
            </a:pPr>
            <a:endParaRPr lang="en-US" altLang="ko-KR" sz="1200" dirty="0">
              <a:latin typeface="+mn-lt"/>
            </a:endParaRPr>
          </a:p>
        </p:txBody>
      </p:sp>
      <p:sp>
        <p:nvSpPr>
          <p:cNvPr id="322" name="직사각형 321">
            <a:extLst>
              <a:ext uri="{FF2B5EF4-FFF2-40B4-BE49-F238E27FC236}">
                <a16:creationId xmlns:a16="http://schemas.microsoft.com/office/drawing/2014/main" id="{8D14E041-B297-449D-B68F-CB72B4160F20}"/>
              </a:ext>
            </a:extLst>
          </p:cNvPr>
          <p:cNvSpPr/>
          <p:nvPr/>
        </p:nvSpPr>
        <p:spPr bwMode="auto">
          <a:xfrm>
            <a:off x="4106584" y="5602968"/>
            <a:ext cx="181426" cy="1215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flat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algn="ctr" defTabSz="685835" fontAlgn="base">
              <a:spcBef>
                <a:spcPct val="0"/>
              </a:spcBef>
              <a:spcAft>
                <a:spcPct val="0"/>
              </a:spcAft>
            </a:pPr>
            <a:endParaRPr lang="en-US" altLang="ko-KR" sz="1200" dirty="0">
              <a:latin typeface="+mn-lt"/>
            </a:endParaRPr>
          </a:p>
        </p:txBody>
      </p:sp>
      <p:sp>
        <p:nvSpPr>
          <p:cNvPr id="296" name="직사각형 295">
            <a:extLst>
              <a:ext uri="{FF2B5EF4-FFF2-40B4-BE49-F238E27FC236}">
                <a16:creationId xmlns:a16="http://schemas.microsoft.com/office/drawing/2014/main" id="{CB71343A-BAF4-4EA2-8CD5-28162B6DB28B}"/>
              </a:ext>
            </a:extLst>
          </p:cNvPr>
          <p:cNvSpPr/>
          <p:nvPr/>
        </p:nvSpPr>
        <p:spPr bwMode="auto">
          <a:xfrm>
            <a:off x="2186812" y="2210810"/>
            <a:ext cx="1091228" cy="3579020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algn="ctr" defTabSz="685835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200" dirty="0">
                <a:latin typeface="+mn-lt"/>
                <a:ea typeface="굴림" panose="020B0600000101010101" pitchFamily="50" charset="-127"/>
              </a:rPr>
              <a:t>RPC</a:t>
            </a:r>
          </a:p>
          <a:p>
            <a:pPr algn="ctr" defTabSz="685835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900" dirty="0">
                <a:latin typeface="+mn-lt"/>
                <a:ea typeface="굴림" panose="020B0600000101010101" pitchFamily="50" charset="-127"/>
              </a:rPr>
              <a:t>(Rx Power Combiner)</a:t>
            </a:r>
          </a:p>
        </p:txBody>
      </p:sp>
      <p:cxnSp>
        <p:nvCxnSpPr>
          <p:cNvPr id="391" name="꺾인 연결선 34">
            <a:extLst>
              <a:ext uri="{FF2B5EF4-FFF2-40B4-BE49-F238E27FC236}">
                <a16:creationId xmlns:a16="http://schemas.microsoft.com/office/drawing/2014/main" id="{3811F475-1001-4F56-9DE1-23166B7DA5FC}"/>
              </a:ext>
            </a:extLst>
          </p:cNvPr>
          <p:cNvCxnSpPr>
            <a:cxnSpLocks/>
            <a:stCxn id="381" idx="3"/>
            <a:endCxn id="315" idx="1"/>
          </p:cNvCxnSpPr>
          <p:nvPr/>
        </p:nvCxnSpPr>
        <p:spPr>
          <a:xfrm>
            <a:off x="3546046" y="3249173"/>
            <a:ext cx="560538" cy="2000"/>
          </a:xfrm>
          <a:prstGeom prst="bentConnector3">
            <a:avLst>
              <a:gd name="adj1" fmla="val 50000"/>
            </a:avLst>
          </a:prstGeom>
          <a:ln w="6350">
            <a:solidFill>
              <a:srgbClr val="0099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4" name="꺾인 연결선 34">
            <a:extLst>
              <a:ext uri="{FF2B5EF4-FFF2-40B4-BE49-F238E27FC236}">
                <a16:creationId xmlns:a16="http://schemas.microsoft.com/office/drawing/2014/main" id="{A561C6B4-FBA9-45A8-83B7-47CFA3632340}"/>
              </a:ext>
            </a:extLst>
          </p:cNvPr>
          <p:cNvCxnSpPr>
            <a:cxnSpLocks/>
            <a:stCxn id="383" idx="3"/>
            <a:endCxn id="317" idx="1"/>
          </p:cNvCxnSpPr>
          <p:nvPr/>
        </p:nvCxnSpPr>
        <p:spPr>
          <a:xfrm>
            <a:off x="3546046" y="4004363"/>
            <a:ext cx="560538" cy="2000"/>
          </a:xfrm>
          <a:prstGeom prst="bentConnector3">
            <a:avLst>
              <a:gd name="adj1" fmla="val 50000"/>
            </a:avLst>
          </a:prstGeom>
          <a:ln w="6350">
            <a:solidFill>
              <a:srgbClr val="0099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7" name="꺾인 연결선 34">
            <a:extLst>
              <a:ext uri="{FF2B5EF4-FFF2-40B4-BE49-F238E27FC236}">
                <a16:creationId xmlns:a16="http://schemas.microsoft.com/office/drawing/2014/main" id="{F2A85640-E4BD-4DE3-856B-4EE32B609B8F}"/>
              </a:ext>
            </a:extLst>
          </p:cNvPr>
          <p:cNvCxnSpPr>
            <a:cxnSpLocks/>
            <a:stCxn id="385" idx="3"/>
            <a:endCxn id="319" idx="1"/>
          </p:cNvCxnSpPr>
          <p:nvPr/>
        </p:nvCxnSpPr>
        <p:spPr>
          <a:xfrm>
            <a:off x="3546046" y="4750609"/>
            <a:ext cx="560538" cy="2000"/>
          </a:xfrm>
          <a:prstGeom prst="bentConnector3">
            <a:avLst>
              <a:gd name="adj1" fmla="val 50000"/>
            </a:avLst>
          </a:prstGeom>
          <a:ln w="6350">
            <a:solidFill>
              <a:srgbClr val="0099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0" name="꺾인 연결선 34">
            <a:extLst>
              <a:ext uri="{FF2B5EF4-FFF2-40B4-BE49-F238E27FC236}">
                <a16:creationId xmlns:a16="http://schemas.microsoft.com/office/drawing/2014/main" id="{4F8E4CF8-9BE0-4DCC-8C4A-F255259F18D2}"/>
              </a:ext>
            </a:extLst>
          </p:cNvPr>
          <p:cNvCxnSpPr>
            <a:cxnSpLocks/>
            <a:stCxn id="387" idx="3"/>
            <a:endCxn id="321" idx="1"/>
          </p:cNvCxnSpPr>
          <p:nvPr/>
        </p:nvCxnSpPr>
        <p:spPr>
          <a:xfrm>
            <a:off x="3546046" y="5527333"/>
            <a:ext cx="560538" cy="2000"/>
          </a:xfrm>
          <a:prstGeom prst="bentConnector3">
            <a:avLst>
              <a:gd name="adj1" fmla="val 50000"/>
            </a:avLst>
          </a:prstGeom>
          <a:ln w="6350">
            <a:solidFill>
              <a:srgbClr val="0099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3" name="꺾인 연결선 34">
            <a:extLst>
              <a:ext uri="{FF2B5EF4-FFF2-40B4-BE49-F238E27FC236}">
                <a16:creationId xmlns:a16="http://schemas.microsoft.com/office/drawing/2014/main" id="{165D4A91-EDB6-48C2-B2E3-EA41376BD388}"/>
              </a:ext>
            </a:extLst>
          </p:cNvPr>
          <p:cNvCxnSpPr>
            <a:cxnSpLocks/>
            <a:stCxn id="388" idx="3"/>
            <a:endCxn id="322" idx="1"/>
          </p:cNvCxnSpPr>
          <p:nvPr/>
        </p:nvCxnSpPr>
        <p:spPr>
          <a:xfrm>
            <a:off x="3278040" y="5661718"/>
            <a:ext cx="828544" cy="2000"/>
          </a:xfrm>
          <a:prstGeom prst="bentConnector3">
            <a:avLst>
              <a:gd name="adj1" fmla="val 50000"/>
            </a:avLst>
          </a:prstGeom>
          <a:ln w="6350">
            <a:solidFill>
              <a:srgbClr val="009900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6" name="꺾인 연결선 34">
            <a:extLst>
              <a:ext uri="{FF2B5EF4-FFF2-40B4-BE49-F238E27FC236}">
                <a16:creationId xmlns:a16="http://schemas.microsoft.com/office/drawing/2014/main" id="{4AEF2B2F-31AA-4EA1-B5EA-D1B95989BBA9}"/>
              </a:ext>
            </a:extLst>
          </p:cNvPr>
          <p:cNvCxnSpPr>
            <a:cxnSpLocks/>
            <a:stCxn id="386" idx="3"/>
            <a:endCxn id="320" idx="1"/>
          </p:cNvCxnSpPr>
          <p:nvPr/>
        </p:nvCxnSpPr>
        <p:spPr>
          <a:xfrm>
            <a:off x="3278040" y="4884994"/>
            <a:ext cx="828544" cy="2000"/>
          </a:xfrm>
          <a:prstGeom prst="bentConnector3">
            <a:avLst>
              <a:gd name="adj1" fmla="val 50000"/>
            </a:avLst>
          </a:prstGeom>
          <a:ln w="6350">
            <a:solidFill>
              <a:srgbClr val="009900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0" name="꺾인 연결선 34">
            <a:extLst>
              <a:ext uri="{FF2B5EF4-FFF2-40B4-BE49-F238E27FC236}">
                <a16:creationId xmlns:a16="http://schemas.microsoft.com/office/drawing/2014/main" id="{70F25CBA-025D-4B1B-A505-5ADD670E6F61}"/>
              </a:ext>
            </a:extLst>
          </p:cNvPr>
          <p:cNvCxnSpPr>
            <a:cxnSpLocks/>
            <a:stCxn id="384" idx="3"/>
            <a:endCxn id="318" idx="1"/>
          </p:cNvCxnSpPr>
          <p:nvPr/>
        </p:nvCxnSpPr>
        <p:spPr>
          <a:xfrm>
            <a:off x="3278040" y="4138748"/>
            <a:ext cx="828544" cy="2000"/>
          </a:xfrm>
          <a:prstGeom prst="bentConnector3">
            <a:avLst>
              <a:gd name="adj1" fmla="val 50000"/>
            </a:avLst>
          </a:prstGeom>
          <a:ln w="6350">
            <a:solidFill>
              <a:srgbClr val="009900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4" name="꺾인 연결선 34">
            <a:extLst>
              <a:ext uri="{FF2B5EF4-FFF2-40B4-BE49-F238E27FC236}">
                <a16:creationId xmlns:a16="http://schemas.microsoft.com/office/drawing/2014/main" id="{51C97AFF-FAE0-4497-86E6-D658034F4DD4}"/>
              </a:ext>
            </a:extLst>
          </p:cNvPr>
          <p:cNvCxnSpPr>
            <a:cxnSpLocks/>
            <a:stCxn id="382" idx="3"/>
            <a:endCxn id="316" idx="1"/>
          </p:cNvCxnSpPr>
          <p:nvPr/>
        </p:nvCxnSpPr>
        <p:spPr>
          <a:xfrm>
            <a:off x="3278040" y="3383558"/>
            <a:ext cx="828544" cy="2000"/>
          </a:xfrm>
          <a:prstGeom prst="bentConnector3">
            <a:avLst>
              <a:gd name="adj1" fmla="val 50000"/>
            </a:avLst>
          </a:prstGeom>
          <a:ln w="6350">
            <a:solidFill>
              <a:srgbClr val="009900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8" name="꺾인 연결선 34">
            <a:extLst>
              <a:ext uri="{FF2B5EF4-FFF2-40B4-BE49-F238E27FC236}">
                <a16:creationId xmlns:a16="http://schemas.microsoft.com/office/drawing/2014/main" id="{305D411F-B70A-466C-BA08-B074A0EFA55C}"/>
              </a:ext>
            </a:extLst>
          </p:cNvPr>
          <p:cNvCxnSpPr>
            <a:cxnSpLocks/>
            <a:stCxn id="380" idx="3"/>
            <a:endCxn id="314" idx="1"/>
          </p:cNvCxnSpPr>
          <p:nvPr/>
        </p:nvCxnSpPr>
        <p:spPr>
          <a:xfrm>
            <a:off x="3278040" y="2644814"/>
            <a:ext cx="828544" cy="2000"/>
          </a:xfrm>
          <a:prstGeom prst="bentConnector3">
            <a:avLst>
              <a:gd name="adj1" fmla="val 50000"/>
            </a:avLst>
          </a:prstGeom>
          <a:ln w="6350">
            <a:solidFill>
              <a:srgbClr val="009900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1" name="꺾인 연결선 34">
            <a:extLst>
              <a:ext uri="{FF2B5EF4-FFF2-40B4-BE49-F238E27FC236}">
                <a16:creationId xmlns:a16="http://schemas.microsoft.com/office/drawing/2014/main" id="{F1B6309E-553D-4EDE-B55F-71BA888BE937}"/>
              </a:ext>
            </a:extLst>
          </p:cNvPr>
          <p:cNvCxnSpPr>
            <a:cxnSpLocks/>
            <a:stCxn id="294" idx="3"/>
            <a:endCxn id="98" idx="1"/>
          </p:cNvCxnSpPr>
          <p:nvPr/>
        </p:nvCxnSpPr>
        <p:spPr>
          <a:xfrm flipV="1">
            <a:off x="6021584" y="2496219"/>
            <a:ext cx="760290" cy="1151"/>
          </a:xfrm>
          <a:prstGeom prst="bentConnector3">
            <a:avLst>
              <a:gd name="adj1" fmla="val 50000"/>
            </a:avLst>
          </a:prstGeom>
          <a:ln w="6350">
            <a:solidFill>
              <a:srgbClr val="0099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4" name="꺾인 연결선 34">
            <a:extLst>
              <a:ext uri="{FF2B5EF4-FFF2-40B4-BE49-F238E27FC236}">
                <a16:creationId xmlns:a16="http://schemas.microsoft.com/office/drawing/2014/main" id="{BD0536B1-1595-4C9B-8F97-95FF00032D85}"/>
              </a:ext>
            </a:extLst>
          </p:cNvPr>
          <p:cNvCxnSpPr>
            <a:cxnSpLocks/>
            <a:stCxn id="291" idx="3"/>
            <a:endCxn id="93" idx="1"/>
          </p:cNvCxnSpPr>
          <p:nvPr/>
        </p:nvCxnSpPr>
        <p:spPr>
          <a:xfrm flipV="1">
            <a:off x="6021584" y="3237288"/>
            <a:ext cx="760290" cy="1151"/>
          </a:xfrm>
          <a:prstGeom prst="bentConnector3">
            <a:avLst>
              <a:gd name="adj1" fmla="val 50000"/>
            </a:avLst>
          </a:prstGeom>
          <a:ln w="6350">
            <a:solidFill>
              <a:srgbClr val="0099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7" name="꺾인 연결선 34">
            <a:extLst>
              <a:ext uri="{FF2B5EF4-FFF2-40B4-BE49-F238E27FC236}">
                <a16:creationId xmlns:a16="http://schemas.microsoft.com/office/drawing/2014/main" id="{64E7F6AA-C291-4EAD-914F-7D6F9B11302D}"/>
              </a:ext>
            </a:extLst>
          </p:cNvPr>
          <p:cNvCxnSpPr>
            <a:cxnSpLocks/>
            <a:stCxn id="295" idx="3"/>
            <a:endCxn id="224" idx="1"/>
          </p:cNvCxnSpPr>
          <p:nvPr/>
        </p:nvCxnSpPr>
        <p:spPr>
          <a:xfrm flipV="1">
            <a:off x="6021584" y="3978908"/>
            <a:ext cx="760290" cy="1151"/>
          </a:xfrm>
          <a:prstGeom prst="bentConnector3">
            <a:avLst>
              <a:gd name="adj1" fmla="val 50000"/>
            </a:avLst>
          </a:prstGeom>
          <a:ln w="6350">
            <a:solidFill>
              <a:srgbClr val="0099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0" name="꺾인 연결선 34">
            <a:extLst>
              <a:ext uri="{FF2B5EF4-FFF2-40B4-BE49-F238E27FC236}">
                <a16:creationId xmlns:a16="http://schemas.microsoft.com/office/drawing/2014/main" id="{FA05311B-5751-436D-AA4A-0B3F8C218A35}"/>
              </a:ext>
            </a:extLst>
          </p:cNvPr>
          <p:cNvCxnSpPr>
            <a:cxnSpLocks/>
            <a:stCxn id="292" idx="3"/>
            <a:endCxn id="94" idx="1"/>
          </p:cNvCxnSpPr>
          <p:nvPr/>
        </p:nvCxnSpPr>
        <p:spPr>
          <a:xfrm flipV="1">
            <a:off x="6021584" y="4746091"/>
            <a:ext cx="760290" cy="1151"/>
          </a:xfrm>
          <a:prstGeom prst="bentConnector3">
            <a:avLst>
              <a:gd name="adj1" fmla="val 50000"/>
            </a:avLst>
          </a:prstGeom>
          <a:ln w="6350">
            <a:solidFill>
              <a:srgbClr val="0099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3" name="꺾인 연결선 34">
            <a:extLst>
              <a:ext uri="{FF2B5EF4-FFF2-40B4-BE49-F238E27FC236}">
                <a16:creationId xmlns:a16="http://schemas.microsoft.com/office/drawing/2014/main" id="{EF040B4B-308E-4025-B40A-FB9DF439489B}"/>
              </a:ext>
            </a:extLst>
          </p:cNvPr>
          <p:cNvCxnSpPr>
            <a:cxnSpLocks/>
            <a:stCxn id="293" idx="3"/>
            <a:endCxn id="95" idx="1"/>
          </p:cNvCxnSpPr>
          <p:nvPr/>
        </p:nvCxnSpPr>
        <p:spPr>
          <a:xfrm flipV="1">
            <a:off x="6021584" y="5504419"/>
            <a:ext cx="760290" cy="1151"/>
          </a:xfrm>
          <a:prstGeom prst="bentConnector3">
            <a:avLst>
              <a:gd name="adj1" fmla="val 50000"/>
            </a:avLst>
          </a:prstGeom>
          <a:ln w="6350">
            <a:solidFill>
              <a:srgbClr val="0099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6" name="직사각형 435">
            <a:extLst>
              <a:ext uri="{FF2B5EF4-FFF2-40B4-BE49-F238E27FC236}">
                <a16:creationId xmlns:a16="http://schemas.microsoft.com/office/drawing/2014/main" id="{D81CE794-07F4-4257-B0B1-0C28EFCD5BBC}"/>
              </a:ext>
            </a:extLst>
          </p:cNvPr>
          <p:cNvSpPr/>
          <p:nvPr/>
        </p:nvSpPr>
        <p:spPr>
          <a:xfrm>
            <a:off x="867372" y="5253295"/>
            <a:ext cx="479619" cy="20774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altLang="ko-KR" sz="750" dirty="0">
                <a:solidFill>
                  <a:srgbClr val="0070C0"/>
                </a:solidFill>
                <a:latin typeface="+mn-lt"/>
                <a:cs typeface="Arial" panose="020B0604020202020204" pitchFamily="34" charset="0"/>
              </a:rPr>
              <a:t>TM/TC</a:t>
            </a:r>
          </a:p>
        </p:txBody>
      </p:sp>
      <p:cxnSp>
        <p:nvCxnSpPr>
          <p:cNvPr id="439" name="꺾인 연결선 34">
            <a:extLst>
              <a:ext uri="{FF2B5EF4-FFF2-40B4-BE49-F238E27FC236}">
                <a16:creationId xmlns:a16="http://schemas.microsoft.com/office/drawing/2014/main" id="{1EBAEEB1-551E-403A-ABA7-AFFE95A3FA23}"/>
              </a:ext>
            </a:extLst>
          </p:cNvPr>
          <p:cNvCxnSpPr>
            <a:cxnSpLocks/>
            <a:stCxn id="218" idx="3"/>
            <a:endCxn id="442" idx="1"/>
          </p:cNvCxnSpPr>
          <p:nvPr/>
        </p:nvCxnSpPr>
        <p:spPr>
          <a:xfrm>
            <a:off x="1346991" y="5076517"/>
            <a:ext cx="2388611" cy="1161358"/>
          </a:xfrm>
          <a:prstGeom prst="bentConnector3">
            <a:avLst>
              <a:gd name="adj1" fmla="val 12383"/>
            </a:avLst>
          </a:prstGeom>
          <a:ln w="63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2" name="직사각형 441">
            <a:extLst>
              <a:ext uri="{FF2B5EF4-FFF2-40B4-BE49-F238E27FC236}">
                <a16:creationId xmlns:a16="http://schemas.microsoft.com/office/drawing/2014/main" id="{DA34010B-7571-46FD-8F3C-A19C759FCD7C}"/>
              </a:ext>
            </a:extLst>
          </p:cNvPr>
          <p:cNvSpPr/>
          <p:nvPr/>
        </p:nvSpPr>
        <p:spPr bwMode="auto">
          <a:xfrm>
            <a:off x="3735602" y="6237874"/>
            <a:ext cx="0" cy="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flat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algn="ctr" defTabSz="685835" fontAlgn="base">
              <a:spcBef>
                <a:spcPct val="0"/>
              </a:spcBef>
              <a:spcAft>
                <a:spcPct val="0"/>
              </a:spcAft>
            </a:pPr>
            <a:endParaRPr lang="en-US" altLang="ko-KR" sz="1200" dirty="0">
              <a:latin typeface="+mn-lt"/>
            </a:endParaRPr>
          </a:p>
        </p:txBody>
      </p:sp>
      <p:cxnSp>
        <p:nvCxnSpPr>
          <p:cNvPr id="445" name="꺾인 연결선 34">
            <a:extLst>
              <a:ext uri="{FF2B5EF4-FFF2-40B4-BE49-F238E27FC236}">
                <a16:creationId xmlns:a16="http://schemas.microsoft.com/office/drawing/2014/main" id="{7E65CB9F-0E48-4273-B404-FB74A9AE5B56}"/>
              </a:ext>
            </a:extLst>
          </p:cNvPr>
          <p:cNvCxnSpPr>
            <a:cxnSpLocks/>
            <a:stCxn id="442" idx="3"/>
            <a:endCxn id="540" idx="2"/>
          </p:cNvCxnSpPr>
          <p:nvPr/>
        </p:nvCxnSpPr>
        <p:spPr>
          <a:xfrm flipV="1">
            <a:off x="3735603" y="2777543"/>
            <a:ext cx="1117077" cy="3460332"/>
          </a:xfrm>
          <a:prstGeom prst="bentConnector2">
            <a:avLst/>
          </a:prstGeom>
          <a:ln w="63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7" name="직사각형 446">
            <a:extLst>
              <a:ext uri="{FF2B5EF4-FFF2-40B4-BE49-F238E27FC236}">
                <a16:creationId xmlns:a16="http://schemas.microsoft.com/office/drawing/2014/main" id="{8D21D76B-92A2-4E52-8C75-ED298DCD89AA}"/>
              </a:ext>
            </a:extLst>
          </p:cNvPr>
          <p:cNvSpPr/>
          <p:nvPr/>
        </p:nvSpPr>
        <p:spPr bwMode="auto">
          <a:xfrm>
            <a:off x="3735831" y="6148779"/>
            <a:ext cx="0" cy="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flat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algn="ctr" defTabSz="685835" fontAlgn="base">
              <a:spcBef>
                <a:spcPct val="0"/>
              </a:spcBef>
              <a:spcAft>
                <a:spcPct val="0"/>
              </a:spcAft>
            </a:pPr>
            <a:endParaRPr lang="en-US" altLang="ko-KR" sz="1200" dirty="0">
              <a:latin typeface="+mn-lt"/>
            </a:endParaRPr>
          </a:p>
        </p:txBody>
      </p:sp>
      <p:sp>
        <p:nvSpPr>
          <p:cNvPr id="454" name="직사각형 453">
            <a:extLst>
              <a:ext uri="{FF2B5EF4-FFF2-40B4-BE49-F238E27FC236}">
                <a16:creationId xmlns:a16="http://schemas.microsoft.com/office/drawing/2014/main" id="{411DE712-8AA6-4CB0-A0C5-4A8698A694A8}"/>
              </a:ext>
            </a:extLst>
          </p:cNvPr>
          <p:cNvSpPr/>
          <p:nvPr/>
        </p:nvSpPr>
        <p:spPr>
          <a:xfrm>
            <a:off x="453798" y="4691990"/>
            <a:ext cx="893193" cy="20774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750">
                <a:solidFill>
                  <a:srgbClr val="009900"/>
                </a:solidFill>
                <a:latin typeface="+mn-lt"/>
                <a:cs typeface="Arial" panose="020B0604020202020204" pitchFamily="34" charset="0"/>
              </a:rPr>
              <a:t>X-Band Tx Chirp</a:t>
            </a:r>
            <a:endParaRPr lang="ko-KR" altLang="en-US" sz="750" dirty="0">
              <a:solidFill>
                <a:srgbClr val="009900"/>
              </a:solidFill>
              <a:latin typeface="+mn-lt"/>
              <a:cs typeface="Arial" panose="020B0604020202020204" pitchFamily="34" charset="0"/>
            </a:endParaRPr>
          </a:p>
        </p:txBody>
      </p:sp>
      <p:cxnSp>
        <p:nvCxnSpPr>
          <p:cNvPr id="459" name="꺾인 연결선 34">
            <a:extLst>
              <a:ext uri="{FF2B5EF4-FFF2-40B4-BE49-F238E27FC236}">
                <a16:creationId xmlns:a16="http://schemas.microsoft.com/office/drawing/2014/main" id="{2134E9DC-D9A5-4259-B002-74606416205A}"/>
              </a:ext>
            </a:extLst>
          </p:cNvPr>
          <p:cNvCxnSpPr>
            <a:cxnSpLocks/>
            <a:stCxn id="442" idx="3"/>
            <a:endCxn id="541" idx="2"/>
          </p:cNvCxnSpPr>
          <p:nvPr/>
        </p:nvCxnSpPr>
        <p:spPr>
          <a:xfrm flipV="1">
            <a:off x="3735603" y="3518612"/>
            <a:ext cx="1117077" cy="2719263"/>
          </a:xfrm>
          <a:prstGeom prst="bentConnector2">
            <a:avLst/>
          </a:prstGeom>
          <a:ln w="63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2" name="꺾인 연결선 34">
            <a:extLst>
              <a:ext uri="{FF2B5EF4-FFF2-40B4-BE49-F238E27FC236}">
                <a16:creationId xmlns:a16="http://schemas.microsoft.com/office/drawing/2014/main" id="{AA9E8F23-43AA-4F56-836F-72EBB0156BA6}"/>
              </a:ext>
            </a:extLst>
          </p:cNvPr>
          <p:cNvCxnSpPr>
            <a:cxnSpLocks/>
            <a:stCxn id="442" idx="3"/>
            <a:endCxn id="542" idx="2"/>
          </p:cNvCxnSpPr>
          <p:nvPr/>
        </p:nvCxnSpPr>
        <p:spPr>
          <a:xfrm flipV="1">
            <a:off x="3735603" y="4260232"/>
            <a:ext cx="1112647" cy="1977643"/>
          </a:xfrm>
          <a:prstGeom prst="bentConnector2">
            <a:avLst/>
          </a:prstGeom>
          <a:ln w="63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5" name="꺾인 연결선 34">
            <a:extLst>
              <a:ext uri="{FF2B5EF4-FFF2-40B4-BE49-F238E27FC236}">
                <a16:creationId xmlns:a16="http://schemas.microsoft.com/office/drawing/2014/main" id="{5156F602-4A2D-46B4-A894-156212EE653F}"/>
              </a:ext>
            </a:extLst>
          </p:cNvPr>
          <p:cNvCxnSpPr>
            <a:cxnSpLocks/>
            <a:stCxn id="442" idx="3"/>
            <a:endCxn id="543" idx="2"/>
          </p:cNvCxnSpPr>
          <p:nvPr/>
        </p:nvCxnSpPr>
        <p:spPr>
          <a:xfrm flipV="1">
            <a:off x="3735603" y="5027415"/>
            <a:ext cx="1109487" cy="1210460"/>
          </a:xfrm>
          <a:prstGeom prst="bentConnector2">
            <a:avLst/>
          </a:prstGeom>
          <a:ln w="63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8" name="꺾인 연결선 34">
            <a:extLst>
              <a:ext uri="{FF2B5EF4-FFF2-40B4-BE49-F238E27FC236}">
                <a16:creationId xmlns:a16="http://schemas.microsoft.com/office/drawing/2014/main" id="{794B19AE-C9C4-435F-A17A-CF64CFF1AAEF}"/>
              </a:ext>
            </a:extLst>
          </p:cNvPr>
          <p:cNvCxnSpPr>
            <a:cxnSpLocks/>
            <a:stCxn id="442" idx="3"/>
            <a:endCxn id="544" idx="2"/>
          </p:cNvCxnSpPr>
          <p:nvPr/>
        </p:nvCxnSpPr>
        <p:spPr>
          <a:xfrm flipV="1">
            <a:off x="3735603" y="5785743"/>
            <a:ext cx="1108057" cy="452132"/>
          </a:xfrm>
          <a:prstGeom prst="bentConnector2">
            <a:avLst/>
          </a:prstGeom>
          <a:ln w="63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8" name="직사각형 457">
            <a:extLst>
              <a:ext uri="{FF2B5EF4-FFF2-40B4-BE49-F238E27FC236}">
                <a16:creationId xmlns:a16="http://schemas.microsoft.com/office/drawing/2014/main" id="{774956A3-5F8A-47DB-B60C-104435F45B89}"/>
              </a:ext>
            </a:extLst>
          </p:cNvPr>
          <p:cNvSpPr/>
          <p:nvPr/>
        </p:nvSpPr>
        <p:spPr bwMode="auto">
          <a:xfrm>
            <a:off x="5249411" y="2660130"/>
            <a:ext cx="181426" cy="1215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flat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algn="ctr" defTabSz="685835" fontAlgn="base">
              <a:spcBef>
                <a:spcPct val="0"/>
              </a:spcBef>
              <a:spcAft>
                <a:spcPct val="0"/>
              </a:spcAft>
            </a:pPr>
            <a:endParaRPr lang="en-US" altLang="ko-KR" sz="1200" dirty="0">
              <a:latin typeface="+mn-lt"/>
            </a:endParaRPr>
          </a:p>
        </p:txBody>
      </p:sp>
      <p:sp>
        <p:nvSpPr>
          <p:cNvPr id="471" name="직사각형 470">
            <a:extLst>
              <a:ext uri="{FF2B5EF4-FFF2-40B4-BE49-F238E27FC236}">
                <a16:creationId xmlns:a16="http://schemas.microsoft.com/office/drawing/2014/main" id="{4D39E392-6793-41F1-9655-0888755A99CD}"/>
              </a:ext>
            </a:extLst>
          </p:cNvPr>
          <p:cNvSpPr/>
          <p:nvPr/>
        </p:nvSpPr>
        <p:spPr bwMode="auto">
          <a:xfrm>
            <a:off x="5651976" y="2660130"/>
            <a:ext cx="181426" cy="1215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flat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algn="ctr" defTabSz="685835" fontAlgn="base">
              <a:spcBef>
                <a:spcPct val="0"/>
              </a:spcBef>
              <a:spcAft>
                <a:spcPct val="0"/>
              </a:spcAft>
            </a:pPr>
            <a:endParaRPr lang="en-US" altLang="ko-KR" sz="1200" dirty="0">
              <a:latin typeface="+mn-lt"/>
            </a:endParaRPr>
          </a:p>
        </p:txBody>
      </p:sp>
      <p:sp>
        <p:nvSpPr>
          <p:cNvPr id="472" name="직사각형 471">
            <a:extLst>
              <a:ext uri="{FF2B5EF4-FFF2-40B4-BE49-F238E27FC236}">
                <a16:creationId xmlns:a16="http://schemas.microsoft.com/office/drawing/2014/main" id="{5021A912-8FAA-4802-A765-F4D1689DE9B9}"/>
              </a:ext>
            </a:extLst>
          </p:cNvPr>
          <p:cNvSpPr/>
          <p:nvPr/>
        </p:nvSpPr>
        <p:spPr bwMode="auto">
          <a:xfrm>
            <a:off x="4326076" y="2660130"/>
            <a:ext cx="181426" cy="1215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flat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algn="ctr" defTabSz="685835" fontAlgn="base">
              <a:spcBef>
                <a:spcPct val="0"/>
              </a:spcBef>
              <a:spcAft>
                <a:spcPct val="0"/>
              </a:spcAft>
            </a:pPr>
            <a:endParaRPr lang="en-US" altLang="ko-KR" sz="1200" dirty="0">
              <a:latin typeface="+mn-lt"/>
            </a:endParaRPr>
          </a:p>
        </p:txBody>
      </p:sp>
      <p:sp>
        <p:nvSpPr>
          <p:cNvPr id="473" name="직사각형 472">
            <a:extLst>
              <a:ext uri="{FF2B5EF4-FFF2-40B4-BE49-F238E27FC236}">
                <a16:creationId xmlns:a16="http://schemas.microsoft.com/office/drawing/2014/main" id="{78AA9DB6-3E6F-484D-BB10-17329F8A39AE}"/>
              </a:ext>
            </a:extLst>
          </p:cNvPr>
          <p:cNvSpPr/>
          <p:nvPr/>
        </p:nvSpPr>
        <p:spPr bwMode="auto">
          <a:xfrm>
            <a:off x="3735373" y="6348647"/>
            <a:ext cx="0" cy="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flat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algn="ctr" defTabSz="685835" fontAlgn="base">
              <a:spcBef>
                <a:spcPct val="0"/>
              </a:spcBef>
              <a:spcAft>
                <a:spcPct val="0"/>
              </a:spcAft>
            </a:pPr>
            <a:endParaRPr lang="en-US" altLang="ko-KR" sz="1200" dirty="0">
              <a:latin typeface="+mn-lt"/>
            </a:endParaRPr>
          </a:p>
        </p:txBody>
      </p:sp>
      <p:sp>
        <p:nvSpPr>
          <p:cNvPr id="474" name="직사각형 473">
            <a:extLst>
              <a:ext uri="{FF2B5EF4-FFF2-40B4-BE49-F238E27FC236}">
                <a16:creationId xmlns:a16="http://schemas.microsoft.com/office/drawing/2014/main" id="{5446AEE5-26F4-492C-BF5C-615290E8A4B6}"/>
              </a:ext>
            </a:extLst>
          </p:cNvPr>
          <p:cNvSpPr/>
          <p:nvPr/>
        </p:nvSpPr>
        <p:spPr bwMode="auto">
          <a:xfrm>
            <a:off x="3735373" y="6432788"/>
            <a:ext cx="0" cy="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flat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algn="ctr" defTabSz="685835" fontAlgn="base">
              <a:spcBef>
                <a:spcPct val="0"/>
              </a:spcBef>
              <a:spcAft>
                <a:spcPct val="0"/>
              </a:spcAft>
            </a:pPr>
            <a:endParaRPr lang="en-US" altLang="ko-KR" sz="1200" dirty="0">
              <a:latin typeface="+mn-lt"/>
            </a:endParaRPr>
          </a:p>
        </p:txBody>
      </p:sp>
      <p:cxnSp>
        <p:nvCxnSpPr>
          <p:cNvPr id="475" name="꺾인 연결선 34">
            <a:extLst>
              <a:ext uri="{FF2B5EF4-FFF2-40B4-BE49-F238E27FC236}">
                <a16:creationId xmlns:a16="http://schemas.microsoft.com/office/drawing/2014/main" id="{04989597-2286-4F3C-8C40-0C8BCC498DF2}"/>
              </a:ext>
            </a:extLst>
          </p:cNvPr>
          <p:cNvCxnSpPr>
            <a:cxnSpLocks/>
            <a:stCxn id="213" idx="3"/>
            <a:endCxn id="473" idx="1"/>
          </p:cNvCxnSpPr>
          <p:nvPr/>
        </p:nvCxnSpPr>
        <p:spPr>
          <a:xfrm>
            <a:off x="1346991" y="5216843"/>
            <a:ext cx="2388382" cy="1131805"/>
          </a:xfrm>
          <a:prstGeom prst="bentConnector3">
            <a:avLst>
              <a:gd name="adj1" fmla="val 8258"/>
            </a:avLst>
          </a:prstGeom>
          <a:ln w="63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9" name="꺾인 연결선 34">
            <a:extLst>
              <a:ext uri="{FF2B5EF4-FFF2-40B4-BE49-F238E27FC236}">
                <a16:creationId xmlns:a16="http://schemas.microsoft.com/office/drawing/2014/main" id="{B975562B-D13B-4B63-AF86-E9E0BAAA5855}"/>
              </a:ext>
            </a:extLst>
          </p:cNvPr>
          <p:cNvCxnSpPr>
            <a:cxnSpLocks/>
            <a:stCxn id="436" idx="3"/>
            <a:endCxn id="474" idx="1"/>
          </p:cNvCxnSpPr>
          <p:nvPr/>
        </p:nvCxnSpPr>
        <p:spPr>
          <a:xfrm>
            <a:off x="1346991" y="5357170"/>
            <a:ext cx="2388382" cy="1075619"/>
          </a:xfrm>
          <a:prstGeom prst="bentConnector3">
            <a:avLst>
              <a:gd name="adj1" fmla="val 4379"/>
            </a:avLst>
          </a:prstGeom>
          <a:ln w="63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3" name="꺾인 연결선 34">
            <a:extLst>
              <a:ext uri="{FF2B5EF4-FFF2-40B4-BE49-F238E27FC236}">
                <a16:creationId xmlns:a16="http://schemas.microsoft.com/office/drawing/2014/main" id="{0A306CA3-E09F-4F59-BD23-66B49D7F2DBD}"/>
              </a:ext>
            </a:extLst>
          </p:cNvPr>
          <p:cNvCxnSpPr>
            <a:cxnSpLocks/>
            <a:stCxn id="473" idx="3"/>
            <a:endCxn id="458" idx="2"/>
          </p:cNvCxnSpPr>
          <p:nvPr/>
        </p:nvCxnSpPr>
        <p:spPr>
          <a:xfrm flipV="1">
            <a:off x="3735374" y="2781630"/>
            <a:ext cx="1604750" cy="3567018"/>
          </a:xfrm>
          <a:prstGeom prst="bentConnector2">
            <a:avLst/>
          </a:prstGeom>
          <a:ln w="63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6" name="직사각형 485">
            <a:extLst>
              <a:ext uri="{FF2B5EF4-FFF2-40B4-BE49-F238E27FC236}">
                <a16:creationId xmlns:a16="http://schemas.microsoft.com/office/drawing/2014/main" id="{08EF2BF0-5A8F-4269-B47C-7582EEDC99B1}"/>
              </a:ext>
            </a:extLst>
          </p:cNvPr>
          <p:cNvSpPr/>
          <p:nvPr/>
        </p:nvSpPr>
        <p:spPr bwMode="auto">
          <a:xfrm>
            <a:off x="5249411" y="3401199"/>
            <a:ext cx="181426" cy="1215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flat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algn="ctr" defTabSz="685835" fontAlgn="base">
              <a:spcBef>
                <a:spcPct val="0"/>
              </a:spcBef>
              <a:spcAft>
                <a:spcPct val="0"/>
              </a:spcAft>
            </a:pPr>
            <a:endParaRPr lang="en-US" altLang="ko-KR" sz="1200" dirty="0">
              <a:latin typeface="+mn-lt"/>
            </a:endParaRPr>
          </a:p>
        </p:txBody>
      </p:sp>
      <p:sp>
        <p:nvSpPr>
          <p:cNvPr id="487" name="직사각형 486">
            <a:extLst>
              <a:ext uri="{FF2B5EF4-FFF2-40B4-BE49-F238E27FC236}">
                <a16:creationId xmlns:a16="http://schemas.microsoft.com/office/drawing/2014/main" id="{BE62F723-DDEE-40B7-84EF-5DAD52E580DA}"/>
              </a:ext>
            </a:extLst>
          </p:cNvPr>
          <p:cNvSpPr/>
          <p:nvPr/>
        </p:nvSpPr>
        <p:spPr bwMode="auto">
          <a:xfrm>
            <a:off x="5651976" y="3401199"/>
            <a:ext cx="181426" cy="1215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flat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algn="ctr" defTabSz="685835" fontAlgn="base">
              <a:spcBef>
                <a:spcPct val="0"/>
              </a:spcBef>
              <a:spcAft>
                <a:spcPct val="0"/>
              </a:spcAft>
            </a:pPr>
            <a:endParaRPr lang="en-US" altLang="ko-KR" sz="1200" dirty="0">
              <a:latin typeface="+mn-lt"/>
            </a:endParaRPr>
          </a:p>
        </p:txBody>
      </p:sp>
      <p:sp>
        <p:nvSpPr>
          <p:cNvPr id="488" name="직사각형 487">
            <a:extLst>
              <a:ext uri="{FF2B5EF4-FFF2-40B4-BE49-F238E27FC236}">
                <a16:creationId xmlns:a16="http://schemas.microsoft.com/office/drawing/2014/main" id="{B9923762-EA20-49F2-8BC2-F9B1D8B1543C}"/>
              </a:ext>
            </a:extLst>
          </p:cNvPr>
          <p:cNvSpPr/>
          <p:nvPr/>
        </p:nvSpPr>
        <p:spPr bwMode="auto">
          <a:xfrm>
            <a:off x="4326076" y="3401199"/>
            <a:ext cx="181426" cy="1215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flat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algn="ctr" defTabSz="685835" fontAlgn="base">
              <a:spcBef>
                <a:spcPct val="0"/>
              </a:spcBef>
              <a:spcAft>
                <a:spcPct val="0"/>
              </a:spcAft>
            </a:pPr>
            <a:endParaRPr lang="en-US" altLang="ko-KR" sz="1200" dirty="0">
              <a:latin typeface="+mn-lt"/>
            </a:endParaRPr>
          </a:p>
        </p:txBody>
      </p:sp>
      <p:sp>
        <p:nvSpPr>
          <p:cNvPr id="489" name="직사각형 488">
            <a:extLst>
              <a:ext uri="{FF2B5EF4-FFF2-40B4-BE49-F238E27FC236}">
                <a16:creationId xmlns:a16="http://schemas.microsoft.com/office/drawing/2014/main" id="{10AB2D42-EA82-47F6-825A-90A3B4AF179A}"/>
              </a:ext>
            </a:extLst>
          </p:cNvPr>
          <p:cNvSpPr/>
          <p:nvPr/>
        </p:nvSpPr>
        <p:spPr bwMode="auto">
          <a:xfrm>
            <a:off x="5244981" y="4142819"/>
            <a:ext cx="181426" cy="1215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flat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algn="ctr" defTabSz="685835" fontAlgn="base">
              <a:spcBef>
                <a:spcPct val="0"/>
              </a:spcBef>
              <a:spcAft>
                <a:spcPct val="0"/>
              </a:spcAft>
            </a:pPr>
            <a:endParaRPr lang="en-US" altLang="ko-KR" sz="1200" dirty="0">
              <a:latin typeface="+mn-lt"/>
            </a:endParaRPr>
          </a:p>
        </p:txBody>
      </p:sp>
      <p:sp>
        <p:nvSpPr>
          <p:cNvPr id="490" name="직사각형 489">
            <a:extLst>
              <a:ext uri="{FF2B5EF4-FFF2-40B4-BE49-F238E27FC236}">
                <a16:creationId xmlns:a16="http://schemas.microsoft.com/office/drawing/2014/main" id="{C041AAD9-2144-44F6-AA93-BBC934216012}"/>
              </a:ext>
            </a:extLst>
          </p:cNvPr>
          <p:cNvSpPr/>
          <p:nvPr/>
        </p:nvSpPr>
        <p:spPr bwMode="auto">
          <a:xfrm>
            <a:off x="5647546" y="4142819"/>
            <a:ext cx="181426" cy="1215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flat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algn="ctr" defTabSz="685835" fontAlgn="base">
              <a:spcBef>
                <a:spcPct val="0"/>
              </a:spcBef>
              <a:spcAft>
                <a:spcPct val="0"/>
              </a:spcAft>
            </a:pPr>
            <a:endParaRPr lang="en-US" altLang="ko-KR" sz="1200" dirty="0">
              <a:latin typeface="+mn-lt"/>
            </a:endParaRPr>
          </a:p>
        </p:txBody>
      </p:sp>
      <p:sp>
        <p:nvSpPr>
          <p:cNvPr id="491" name="직사각형 490">
            <a:extLst>
              <a:ext uri="{FF2B5EF4-FFF2-40B4-BE49-F238E27FC236}">
                <a16:creationId xmlns:a16="http://schemas.microsoft.com/office/drawing/2014/main" id="{EDE17100-4045-4801-94C3-E1A73DB42F4D}"/>
              </a:ext>
            </a:extLst>
          </p:cNvPr>
          <p:cNvSpPr/>
          <p:nvPr/>
        </p:nvSpPr>
        <p:spPr bwMode="auto">
          <a:xfrm>
            <a:off x="4321646" y="4142819"/>
            <a:ext cx="181426" cy="1215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flat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algn="ctr" defTabSz="685835" fontAlgn="base">
              <a:spcBef>
                <a:spcPct val="0"/>
              </a:spcBef>
              <a:spcAft>
                <a:spcPct val="0"/>
              </a:spcAft>
            </a:pPr>
            <a:endParaRPr lang="en-US" altLang="ko-KR" sz="1200" dirty="0">
              <a:latin typeface="+mn-lt"/>
            </a:endParaRPr>
          </a:p>
        </p:txBody>
      </p:sp>
      <p:sp>
        <p:nvSpPr>
          <p:cNvPr id="492" name="직사각형 491">
            <a:extLst>
              <a:ext uri="{FF2B5EF4-FFF2-40B4-BE49-F238E27FC236}">
                <a16:creationId xmlns:a16="http://schemas.microsoft.com/office/drawing/2014/main" id="{B60632DE-04FA-4BB2-AC81-7BDCEBE44D7B}"/>
              </a:ext>
            </a:extLst>
          </p:cNvPr>
          <p:cNvSpPr/>
          <p:nvPr/>
        </p:nvSpPr>
        <p:spPr bwMode="auto">
          <a:xfrm>
            <a:off x="5241821" y="4910002"/>
            <a:ext cx="181426" cy="1215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flat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algn="ctr" defTabSz="685835" fontAlgn="base">
              <a:spcBef>
                <a:spcPct val="0"/>
              </a:spcBef>
              <a:spcAft>
                <a:spcPct val="0"/>
              </a:spcAft>
            </a:pPr>
            <a:endParaRPr lang="en-US" altLang="ko-KR" sz="1200" dirty="0">
              <a:latin typeface="+mn-lt"/>
            </a:endParaRPr>
          </a:p>
        </p:txBody>
      </p:sp>
      <p:sp>
        <p:nvSpPr>
          <p:cNvPr id="493" name="직사각형 492">
            <a:extLst>
              <a:ext uri="{FF2B5EF4-FFF2-40B4-BE49-F238E27FC236}">
                <a16:creationId xmlns:a16="http://schemas.microsoft.com/office/drawing/2014/main" id="{F8CF7C61-90E7-47B7-A82A-D30866872DB5}"/>
              </a:ext>
            </a:extLst>
          </p:cNvPr>
          <p:cNvSpPr/>
          <p:nvPr/>
        </p:nvSpPr>
        <p:spPr bwMode="auto">
          <a:xfrm>
            <a:off x="5644386" y="4910002"/>
            <a:ext cx="181426" cy="1215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flat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algn="ctr" defTabSz="685835" fontAlgn="base">
              <a:spcBef>
                <a:spcPct val="0"/>
              </a:spcBef>
              <a:spcAft>
                <a:spcPct val="0"/>
              </a:spcAft>
            </a:pPr>
            <a:endParaRPr lang="en-US" altLang="ko-KR" sz="1200" dirty="0">
              <a:latin typeface="+mn-lt"/>
            </a:endParaRPr>
          </a:p>
        </p:txBody>
      </p:sp>
      <p:sp>
        <p:nvSpPr>
          <p:cNvPr id="494" name="직사각형 493">
            <a:extLst>
              <a:ext uri="{FF2B5EF4-FFF2-40B4-BE49-F238E27FC236}">
                <a16:creationId xmlns:a16="http://schemas.microsoft.com/office/drawing/2014/main" id="{E4ECB4C4-8338-4B43-9465-8ABB4B5B2428}"/>
              </a:ext>
            </a:extLst>
          </p:cNvPr>
          <p:cNvSpPr/>
          <p:nvPr/>
        </p:nvSpPr>
        <p:spPr bwMode="auto">
          <a:xfrm>
            <a:off x="4318486" y="4910002"/>
            <a:ext cx="181426" cy="1215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flat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algn="ctr" defTabSz="685835" fontAlgn="base">
              <a:spcBef>
                <a:spcPct val="0"/>
              </a:spcBef>
              <a:spcAft>
                <a:spcPct val="0"/>
              </a:spcAft>
            </a:pPr>
            <a:endParaRPr lang="en-US" altLang="ko-KR" sz="1200" dirty="0">
              <a:latin typeface="+mn-lt"/>
            </a:endParaRPr>
          </a:p>
        </p:txBody>
      </p:sp>
      <p:sp>
        <p:nvSpPr>
          <p:cNvPr id="495" name="직사각형 494">
            <a:extLst>
              <a:ext uri="{FF2B5EF4-FFF2-40B4-BE49-F238E27FC236}">
                <a16:creationId xmlns:a16="http://schemas.microsoft.com/office/drawing/2014/main" id="{5C717704-C226-474D-9FAB-7A4C5B2DB047}"/>
              </a:ext>
            </a:extLst>
          </p:cNvPr>
          <p:cNvSpPr/>
          <p:nvPr/>
        </p:nvSpPr>
        <p:spPr bwMode="auto">
          <a:xfrm>
            <a:off x="5240391" y="5668330"/>
            <a:ext cx="181426" cy="1215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flat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algn="ctr" defTabSz="685835" fontAlgn="base">
              <a:spcBef>
                <a:spcPct val="0"/>
              </a:spcBef>
              <a:spcAft>
                <a:spcPct val="0"/>
              </a:spcAft>
            </a:pPr>
            <a:endParaRPr lang="en-US" altLang="ko-KR" sz="1200" dirty="0">
              <a:latin typeface="+mn-lt"/>
            </a:endParaRPr>
          </a:p>
        </p:txBody>
      </p:sp>
      <p:sp>
        <p:nvSpPr>
          <p:cNvPr id="496" name="직사각형 495">
            <a:extLst>
              <a:ext uri="{FF2B5EF4-FFF2-40B4-BE49-F238E27FC236}">
                <a16:creationId xmlns:a16="http://schemas.microsoft.com/office/drawing/2014/main" id="{83EA260B-FFC0-45DC-B98B-7D8DD8BDE79E}"/>
              </a:ext>
            </a:extLst>
          </p:cNvPr>
          <p:cNvSpPr/>
          <p:nvPr/>
        </p:nvSpPr>
        <p:spPr bwMode="auto">
          <a:xfrm>
            <a:off x="5642956" y="5668330"/>
            <a:ext cx="181426" cy="1215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flat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algn="ctr" defTabSz="685835" fontAlgn="base">
              <a:spcBef>
                <a:spcPct val="0"/>
              </a:spcBef>
              <a:spcAft>
                <a:spcPct val="0"/>
              </a:spcAft>
            </a:pPr>
            <a:endParaRPr lang="en-US" altLang="ko-KR" sz="1200" dirty="0">
              <a:latin typeface="+mn-lt"/>
            </a:endParaRPr>
          </a:p>
        </p:txBody>
      </p:sp>
      <p:sp>
        <p:nvSpPr>
          <p:cNvPr id="497" name="직사각형 496">
            <a:extLst>
              <a:ext uri="{FF2B5EF4-FFF2-40B4-BE49-F238E27FC236}">
                <a16:creationId xmlns:a16="http://schemas.microsoft.com/office/drawing/2014/main" id="{C9E45807-0011-43FB-9DD7-FA95830D5360}"/>
              </a:ext>
            </a:extLst>
          </p:cNvPr>
          <p:cNvSpPr/>
          <p:nvPr/>
        </p:nvSpPr>
        <p:spPr bwMode="auto">
          <a:xfrm>
            <a:off x="4317056" y="5668330"/>
            <a:ext cx="181426" cy="1215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flat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algn="ctr" defTabSz="685835" fontAlgn="base">
              <a:spcBef>
                <a:spcPct val="0"/>
              </a:spcBef>
              <a:spcAft>
                <a:spcPct val="0"/>
              </a:spcAft>
            </a:pPr>
            <a:endParaRPr lang="en-US" altLang="ko-KR" sz="1200" dirty="0">
              <a:latin typeface="+mn-lt"/>
            </a:endParaRPr>
          </a:p>
        </p:txBody>
      </p:sp>
      <p:cxnSp>
        <p:nvCxnSpPr>
          <p:cNvPr id="498" name="꺾인 연결선 34">
            <a:extLst>
              <a:ext uri="{FF2B5EF4-FFF2-40B4-BE49-F238E27FC236}">
                <a16:creationId xmlns:a16="http://schemas.microsoft.com/office/drawing/2014/main" id="{29BF280F-0236-4653-B4AD-5FC9F5C68061}"/>
              </a:ext>
            </a:extLst>
          </p:cNvPr>
          <p:cNvCxnSpPr>
            <a:cxnSpLocks/>
            <a:stCxn id="473" idx="3"/>
            <a:endCxn id="486" idx="2"/>
          </p:cNvCxnSpPr>
          <p:nvPr/>
        </p:nvCxnSpPr>
        <p:spPr>
          <a:xfrm flipV="1">
            <a:off x="3735374" y="3522699"/>
            <a:ext cx="1604750" cy="2825949"/>
          </a:xfrm>
          <a:prstGeom prst="bentConnector2">
            <a:avLst/>
          </a:prstGeom>
          <a:ln w="63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1" name="꺾인 연결선 34">
            <a:extLst>
              <a:ext uri="{FF2B5EF4-FFF2-40B4-BE49-F238E27FC236}">
                <a16:creationId xmlns:a16="http://schemas.microsoft.com/office/drawing/2014/main" id="{4A3E4A18-DB6A-41FF-ABCA-3AE6351DC493}"/>
              </a:ext>
            </a:extLst>
          </p:cNvPr>
          <p:cNvCxnSpPr>
            <a:cxnSpLocks/>
            <a:stCxn id="473" idx="3"/>
            <a:endCxn id="489" idx="2"/>
          </p:cNvCxnSpPr>
          <p:nvPr/>
        </p:nvCxnSpPr>
        <p:spPr>
          <a:xfrm flipV="1">
            <a:off x="3735374" y="4264319"/>
            <a:ext cx="1600320" cy="2084329"/>
          </a:xfrm>
          <a:prstGeom prst="bentConnector2">
            <a:avLst/>
          </a:prstGeom>
          <a:ln w="63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4" name="꺾인 연결선 34">
            <a:extLst>
              <a:ext uri="{FF2B5EF4-FFF2-40B4-BE49-F238E27FC236}">
                <a16:creationId xmlns:a16="http://schemas.microsoft.com/office/drawing/2014/main" id="{B315BEE8-8070-405A-87F7-4FA283CE3905}"/>
              </a:ext>
            </a:extLst>
          </p:cNvPr>
          <p:cNvCxnSpPr>
            <a:cxnSpLocks/>
            <a:stCxn id="473" idx="3"/>
            <a:endCxn id="492" idx="2"/>
          </p:cNvCxnSpPr>
          <p:nvPr/>
        </p:nvCxnSpPr>
        <p:spPr>
          <a:xfrm flipV="1">
            <a:off x="3735374" y="5031502"/>
            <a:ext cx="1597160" cy="1317146"/>
          </a:xfrm>
          <a:prstGeom prst="bentConnector2">
            <a:avLst/>
          </a:prstGeom>
          <a:ln w="63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7" name="꺾인 연결선 34">
            <a:extLst>
              <a:ext uri="{FF2B5EF4-FFF2-40B4-BE49-F238E27FC236}">
                <a16:creationId xmlns:a16="http://schemas.microsoft.com/office/drawing/2014/main" id="{874062D2-970C-4ACC-8F4F-5122547D9711}"/>
              </a:ext>
            </a:extLst>
          </p:cNvPr>
          <p:cNvCxnSpPr>
            <a:cxnSpLocks/>
            <a:stCxn id="473" idx="3"/>
            <a:endCxn id="495" idx="2"/>
          </p:cNvCxnSpPr>
          <p:nvPr/>
        </p:nvCxnSpPr>
        <p:spPr>
          <a:xfrm flipV="1">
            <a:off x="3735374" y="5789830"/>
            <a:ext cx="1595730" cy="558818"/>
          </a:xfrm>
          <a:prstGeom prst="bentConnector2">
            <a:avLst/>
          </a:prstGeom>
          <a:ln w="63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0" name="꺾인 연결선 34">
            <a:extLst>
              <a:ext uri="{FF2B5EF4-FFF2-40B4-BE49-F238E27FC236}">
                <a16:creationId xmlns:a16="http://schemas.microsoft.com/office/drawing/2014/main" id="{F454C826-C22B-4066-A7B9-516404EF36DC}"/>
              </a:ext>
            </a:extLst>
          </p:cNvPr>
          <p:cNvCxnSpPr>
            <a:cxnSpLocks/>
            <a:stCxn id="474" idx="3"/>
            <a:endCxn id="471" idx="2"/>
          </p:cNvCxnSpPr>
          <p:nvPr/>
        </p:nvCxnSpPr>
        <p:spPr>
          <a:xfrm flipV="1">
            <a:off x="3735374" y="2781630"/>
            <a:ext cx="2007315" cy="3651159"/>
          </a:xfrm>
          <a:prstGeom prst="bentConnector2">
            <a:avLst/>
          </a:prstGeom>
          <a:ln w="63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3" name="꺾인 연결선 34">
            <a:extLst>
              <a:ext uri="{FF2B5EF4-FFF2-40B4-BE49-F238E27FC236}">
                <a16:creationId xmlns:a16="http://schemas.microsoft.com/office/drawing/2014/main" id="{E8EA689C-F653-449C-A62B-DE6B58BDC8ED}"/>
              </a:ext>
            </a:extLst>
          </p:cNvPr>
          <p:cNvCxnSpPr>
            <a:cxnSpLocks/>
            <a:stCxn id="474" idx="3"/>
            <a:endCxn id="487" idx="2"/>
          </p:cNvCxnSpPr>
          <p:nvPr/>
        </p:nvCxnSpPr>
        <p:spPr>
          <a:xfrm flipV="1">
            <a:off x="3735374" y="3522699"/>
            <a:ext cx="2007315" cy="2910090"/>
          </a:xfrm>
          <a:prstGeom prst="bentConnector2">
            <a:avLst/>
          </a:prstGeom>
          <a:ln w="63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6" name="꺾인 연결선 34">
            <a:extLst>
              <a:ext uri="{FF2B5EF4-FFF2-40B4-BE49-F238E27FC236}">
                <a16:creationId xmlns:a16="http://schemas.microsoft.com/office/drawing/2014/main" id="{1F89C1EC-4DFF-4B43-B149-83BFDEF58904}"/>
              </a:ext>
            </a:extLst>
          </p:cNvPr>
          <p:cNvCxnSpPr>
            <a:cxnSpLocks/>
            <a:stCxn id="474" idx="3"/>
            <a:endCxn id="490" idx="2"/>
          </p:cNvCxnSpPr>
          <p:nvPr/>
        </p:nvCxnSpPr>
        <p:spPr>
          <a:xfrm flipV="1">
            <a:off x="3735374" y="4264319"/>
            <a:ext cx="2002885" cy="2168470"/>
          </a:xfrm>
          <a:prstGeom prst="bentConnector2">
            <a:avLst/>
          </a:prstGeom>
          <a:ln w="63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9" name="꺾인 연결선 34">
            <a:extLst>
              <a:ext uri="{FF2B5EF4-FFF2-40B4-BE49-F238E27FC236}">
                <a16:creationId xmlns:a16="http://schemas.microsoft.com/office/drawing/2014/main" id="{4B306734-0C4B-4BB2-AE71-23AEE9139E1B}"/>
              </a:ext>
            </a:extLst>
          </p:cNvPr>
          <p:cNvCxnSpPr>
            <a:cxnSpLocks/>
            <a:stCxn id="474" idx="3"/>
            <a:endCxn id="493" idx="2"/>
          </p:cNvCxnSpPr>
          <p:nvPr/>
        </p:nvCxnSpPr>
        <p:spPr>
          <a:xfrm flipV="1">
            <a:off x="3735374" y="5031502"/>
            <a:ext cx="1999725" cy="1401287"/>
          </a:xfrm>
          <a:prstGeom prst="bentConnector2">
            <a:avLst/>
          </a:prstGeom>
          <a:ln w="63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2" name="꺾인 연결선 34">
            <a:extLst>
              <a:ext uri="{FF2B5EF4-FFF2-40B4-BE49-F238E27FC236}">
                <a16:creationId xmlns:a16="http://schemas.microsoft.com/office/drawing/2014/main" id="{371746BD-626F-46B7-920F-7890E4A7C09A}"/>
              </a:ext>
            </a:extLst>
          </p:cNvPr>
          <p:cNvCxnSpPr>
            <a:cxnSpLocks/>
            <a:stCxn id="474" idx="3"/>
            <a:endCxn id="496" idx="2"/>
          </p:cNvCxnSpPr>
          <p:nvPr/>
        </p:nvCxnSpPr>
        <p:spPr>
          <a:xfrm flipV="1">
            <a:off x="3735374" y="5789830"/>
            <a:ext cx="1998295" cy="642959"/>
          </a:xfrm>
          <a:prstGeom prst="bentConnector2">
            <a:avLst/>
          </a:prstGeom>
          <a:ln w="63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5" name="꺾인 연결선 34">
            <a:extLst>
              <a:ext uri="{FF2B5EF4-FFF2-40B4-BE49-F238E27FC236}">
                <a16:creationId xmlns:a16="http://schemas.microsoft.com/office/drawing/2014/main" id="{5FD018DD-F05E-4DFA-AEC0-67BB7C57530C}"/>
              </a:ext>
            </a:extLst>
          </p:cNvPr>
          <p:cNvCxnSpPr>
            <a:cxnSpLocks/>
            <a:stCxn id="447" idx="3"/>
            <a:endCxn id="472" idx="2"/>
          </p:cNvCxnSpPr>
          <p:nvPr/>
        </p:nvCxnSpPr>
        <p:spPr>
          <a:xfrm flipV="1">
            <a:off x="3735832" y="2781630"/>
            <a:ext cx="680957" cy="3367150"/>
          </a:xfrm>
          <a:prstGeom prst="bentConnector2">
            <a:avLst/>
          </a:prstGeom>
          <a:ln w="63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8" name="꺾인 연결선 34">
            <a:extLst>
              <a:ext uri="{FF2B5EF4-FFF2-40B4-BE49-F238E27FC236}">
                <a16:creationId xmlns:a16="http://schemas.microsoft.com/office/drawing/2014/main" id="{54D2A978-8C15-4FFF-8BEC-1C7319991C17}"/>
              </a:ext>
            </a:extLst>
          </p:cNvPr>
          <p:cNvCxnSpPr>
            <a:cxnSpLocks/>
            <a:stCxn id="447" idx="3"/>
            <a:endCxn id="488" idx="2"/>
          </p:cNvCxnSpPr>
          <p:nvPr/>
        </p:nvCxnSpPr>
        <p:spPr>
          <a:xfrm flipV="1">
            <a:off x="3735832" y="3522699"/>
            <a:ext cx="680957" cy="2626081"/>
          </a:xfrm>
          <a:prstGeom prst="bentConnector2">
            <a:avLst/>
          </a:prstGeom>
          <a:ln w="63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1" name="꺾인 연결선 34">
            <a:extLst>
              <a:ext uri="{FF2B5EF4-FFF2-40B4-BE49-F238E27FC236}">
                <a16:creationId xmlns:a16="http://schemas.microsoft.com/office/drawing/2014/main" id="{DEC2F309-A2D8-4917-AF5D-D6D65FA03DFA}"/>
              </a:ext>
            </a:extLst>
          </p:cNvPr>
          <p:cNvCxnSpPr>
            <a:cxnSpLocks/>
            <a:stCxn id="447" idx="3"/>
            <a:endCxn id="491" idx="2"/>
          </p:cNvCxnSpPr>
          <p:nvPr/>
        </p:nvCxnSpPr>
        <p:spPr>
          <a:xfrm flipV="1">
            <a:off x="3735832" y="4264319"/>
            <a:ext cx="676527" cy="1884461"/>
          </a:xfrm>
          <a:prstGeom prst="bentConnector2">
            <a:avLst/>
          </a:prstGeom>
          <a:ln w="63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4" name="꺾인 연결선 34">
            <a:extLst>
              <a:ext uri="{FF2B5EF4-FFF2-40B4-BE49-F238E27FC236}">
                <a16:creationId xmlns:a16="http://schemas.microsoft.com/office/drawing/2014/main" id="{93B4A5CF-D920-41B8-91C6-88AB68704D28}"/>
              </a:ext>
            </a:extLst>
          </p:cNvPr>
          <p:cNvCxnSpPr>
            <a:cxnSpLocks/>
            <a:stCxn id="447" idx="3"/>
            <a:endCxn id="494" idx="2"/>
          </p:cNvCxnSpPr>
          <p:nvPr/>
        </p:nvCxnSpPr>
        <p:spPr>
          <a:xfrm flipV="1">
            <a:off x="3735832" y="5031502"/>
            <a:ext cx="673367" cy="1117278"/>
          </a:xfrm>
          <a:prstGeom prst="bentConnector2">
            <a:avLst/>
          </a:prstGeom>
          <a:ln w="63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7" name="꺾인 연결선 34">
            <a:extLst>
              <a:ext uri="{FF2B5EF4-FFF2-40B4-BE49-F238E27FC236}">
                <a16:creationId xmlns:a16="http://schemas.microsoft.com/office/drawing/2014/main" id="{F7647838-C408-4B81-8C39-305D5DACA293}"/>
              </a:ext>
            </a:extLst>
          </p:cNvPr>
          <p:cNvCxnSpPr>
            <a:cxnSpLocks/>
            <a:stCxn id="447" idx="3"/>
            <a:endCxn id="497" idx="2"/>
          </p:cNvCxnSpPr>
          <p:nvPr/>
        </p:nvCxnSpPr>
        <p:spPr>
          <a:xfrm flipV="1">
            <a:off x="3735832" y="5789830"/>
            <a:ext cx="671937" cy="358950"/>
          </a:xfrm>
          <a:prstGeom prst="bentConnector2">
            <a:avLst/>
          </a:prstGeom>
          <a:ln w="63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1" name="직사각형 290">
            <a:extLst>
              <a:ext uri="{FF2B5EF4-FFF2-40B4-BE49-F238E27FC236}">
                <a16:creationId xmlns:a16="http://schemas.microsoft.com/office/drawing/2014/main" id="{FCCB0219-1308-418B-9F80-E5C56AC97C7C}"/>
              </a:ext>
            </a:extLst>
          </p:cNvPr>
          <p:cNvSpPr/>
          <p:nvPr/>
        </p:nvSpPr>
        <p:spPr bwMode="auto">
          <a:xfrm>
            <a:off x="4106584" y="2950439"/>
            <a:ext cx="1915000" cy="57600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algn="ctr" defTabSz="685835"/>
            <a:r>
              <a:rPr lang="en-US" altLang="ko-KR" sz="1200" dirty="0">
                <a:latin typeface="+mn-lt"/>
              </a:rPr>
              <a:t>TRM #1</a:t>
            </a:r>
          </a:p>
          <a:p>
            <a:pPr algn="ctr" defTabSz="685835"/>
            <a:r>
              <a:rPr lang="en-US" altLang="ko-KR" sz="1050" dirty="0">
                <a:latin typeface="+mn-lt"/>
              </a:rPr>
              <a:t>(SAR Antenna Module)</a:t>
            </a:r>
          </a:p>
        </p:txBody>
      </p:sp>
      <p:sp>
        <p:nvSpPr>
          <p:cNvPr id="292" name="직사각형 291">
            <a:extLst>
              <a:ext uri="{FF2B5EF4-FFF2-40B4-BE49-F238E27FC236}">
                <a16:creationId xmlns:a16="http://schemas.microsoft.com/office/drawing/2014/main" id="{F3B31B32-DCFF-4D49-BEEF-025B6B2CB353}"/>
              </a:ext>
            </a:extLst>
          </p:cNvPr>
          <p:cNvSpPr/>
          <p:nvPr/>
        </p:nvSpPr>
        <p:spPr bwMode="auto">
          <a:xfrm>
            <a:off x="4106584" y="4459242"/>
            <a:ext cx="1915000" cy="57600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algn="ctr" defTabSz="685835"/>
            <a:r>
              <a:rPr lang="en-US" altLang="ko-KR" sz="1200" dirty="0">
                <a:latin typeface="+mn-lt"/>
              </a:rPr>
              <a:t>TRM #3</a:t>
            </a:r>
          </a:p>
          <a:p>
            <a:pPr algn="ctr" defTabSz="685835"/>
            <a:r>
              <a:rPr lang="en-US" altLang="ko-KR" sz="1050" dirty="0">
                <a:latin typeface="+mn-lt"/>
              </a:rPr>
              <a:t>(SAR Antenna Module)</a:t>
            </a:r>
          </a:p>
        </p:txBody>
      </p:sp>
      <p:sp>
        <p:nvSpPr>
          <p:cNvPr id="293" name="직사각형 292">
            <a:extLst>
              <a:ext uri="{FF2B5EF4-FFF2-40B4-BE49-F238E27FC236}">
                <a16:creationId xmlns:a16="http://schemas.microsoft.com/office/drawing/2014/main" id="{0083C94F-C8E3-4946-AD57-F0D726812CD2}"/>
              </a:ext>
            </a:extLst>
          </p:cNvPr>
          <p:cNvSpPr/>
          <p:nvPr/>
        </p:nvSpPr>
        <p:spPr bwMode="auto">
          <a:xfrm>
            <a:off x="4106584" y="5217570"/>
            <a:ext cx="1915000" cy="57600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algn="ctr" defTabSz="685835"/>
            <a:r>
              <a:rPr lang="en-US" altLang="ko-KR" sz="1200" dirty="0">
                <a:latin typeface="+mn-lt"/>
              </a:rPr>
              <a:t>TRM #4</a:t>
            </a:r>
          </a:p>
          <a:p>
            <a:pPr algn="ctr" defTabSz="685835"/>
            <a:r>
              <a:rPr lang="en-US" altLang="ko-KR" sz="1050" dirty="0">
                <a:latin typeface="+mn-lt"/>
              </a:rPr>
              <a:t>(SAR Antenna Module)</a:t>
            </a:r>
          </a:p>
        </p:txBody>
      </p:sp>
      <p:sp>
        <p:nvSpPr>
          <p:cNvPr id="294" name="직사각형 293">
            <a:extLst>
              <a:ext uri="{FF2B5EF4-FFF2-40B4-BE49-F238E27FC236}">
                <a16:creationId xmlns:a16="http://schemas.microsoft.com/office/drawing/2014/main" id="{D6EB1F7E-D48A-488E-A583-75386D078680}"/>
              </a:ext>
            </a:extLst>
          </p:cNvPr>
          <p:cNvSpPr/>
          <p:nvPr/>
        </p:nvSpPr>
        <p:spPr bwMode="auto">
          <a:xfrm>
            <a:off x="4106584" y="2209370"/>
            <a:ext cx="1915000" cy="57600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algn="ctr" defTabSz="685835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200" dirty="0">
                <a:latin typeface="+mn-lt"/>
                <a:ea typeface="굴림" panose="020B0600000101010101" pitchFamily="50" charset="-127"/>
              </a:rPr>
              <a:t>TRM #0</a:t>
            </a:r>
          </a:p>
          <a:p>
            <a:pPr algn="ctr" defTabSz="685835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050" dirty="0">
                <a:latin typeface="+mn-lt"/>
                <a:ea typeface="굴림" panose="020B0600000101010101" pitchFamily="50" charset="-127"/>
              </a:rPr>
              <a:t>(SAR Antenna Module)</a:t>
            </a:r>
          </a:p>
        </p:txBody>
      </p:sp>
      <p:sp>
        <p:nvSpPr>
          <p:cNvPr id="295" name="직사각형 294">
            <a:extLst>
              <a:ext uri="{FF2B5EF4-FFF2-40B4-BE49-F238E27FC236}">
                <a16:creationId xmlns:a16="http://schemas.microsoft.com/office/drawing/2014/main" id="{290445F6-D49A-4B96-AD71-A4DEBA448735}"/>
              </a:ext>
            </a:extLst>
          </p:cNvPr>
          <p:cNvSpPr/>
          <p:nvPr/>
        </p:nvSpPr>
        <p:spPr bwMode="auto">
          <a:xfrm>
            <a:off x="4106584" y="3692059"/>
            <a:ext cx="1915000" cy="57600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algn="ctr" defTabSz="685835"/>
            <a:r>
              <a:rPr lang="en-US" altLang="ko-KR" sz="1200" dirty="0">
                <a:latin typeface="+mn-lt"/>
              </a:rPr>
              <a:t>TRM #2</a:t>
            </a:r>
          </a:p>
          <a:p>
            <a:pPr algn="ctr" defTabSz="685835"/>
            <a:r>
              <a:rPr lang="en-US" altLang="ko-KR" sz="1050" dirty="0">
                <a:latin typeface="+mn-lt"/>
              </a:rPr>
              <a:t>(SAR Antenna Module)</a:t>
            </a:r>
          </a:p>
        </p:txBody>
      </p:sp>
      <p:sp>
        <p:nvSpPr>
          <p:cNvPr id="556" name="직사각형 555">
            <a:extLst>
              <a:ext uri="{FF2B5EF4-FFF2-40B4-BE49-F238E27FC236}">
                <a16:creationId xmlns:a16="http://schemas.microsoft.com/office/drawing/2014/main" id="{8F030E10-EE5E-4148-A1C0-C060B1561C9A}"/>
              </a:ext>
            </a:extLst>
          </p:cNvPr>
          <p:cNvSpPr/>
          <p:nvPr/>
        </p:nvSpPr>
        <p:spPr>
          <a:xfrm>
            <a:off x="4196500" y="2612125"/>
            <a:ext cx="437941" cy="20774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altLang="ko-KR" sz="750" dirty="0">
                <a:solidFill>
                  <a:srgbClr val="FF0000"/>
                </a:solidFill>
                <a:latin typeface="+mn-lt"/>
                <a:cs typeface="Arial" panose="020B0604020202020204" pitchFamily="34" charset="0"/>
              </a:rPr>
              <a:t>+28 V</a:t>
            </a:r>
            <a:endParaRPr lang="ko-KR" altLang="en-US" sz="750" dirty="0">
              <a:solidFill>
                <a:srgbClr val="FF0000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557" name="직사각형 556">
            <a:extLst>
              <a:ext uri="{FF2B5EF4-FFF2-40B4-BE49-F238E27FC236}">
                <a16:creationId xmlns:a16="http://schemas.microsoft.com/office/drawing/2014/main" id="{4C9A258F-3475-442B-86B8-4E6F51DAEE55}"/>
              </a:ext>
            </a:extLst>
          </p:cNvPr>
          <p:cNvSpPr/>
          <p:nvPr/>
        </p:nvSpPr>
        <p:spPr>
          <a:xfrm>
            <a:off x="4196500" y="3353194"/>
            <a:ext cx="437941" cy="20774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altLang="ko-KR" sz="750" dirty="0">
                <a:solidFill>
                  <a:srgbClr val="FF0000"/>
                </a:solidFill>
                <a:latin typeface="+mn-lt"/>
                <a:cs typeface="Arial" panose="020B0604020202020204" pitchFamily="34" charset="0"/>
              </a:rPr>
              <a:t>+28 V</a:t>
            </a:r>
            <a:endParaRPr lang="ko-KR" altLang="en-US" sz="750" dirty="0">
              <a:solidFill>
                <a:srgbClr val="FF0000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558" name="직사각형 557">
            <a:extLst>
              <a:ext uri="{FF2B5EF4-FFF2-40B4-BE49-F238E27FC236}">
                <a16:creationId xmlns:a16="http://schemas.microsoft.com/office/drawing/2014/main" id="{C9EE224F-A8F6-47BF-BA55-D3C59088C9CA}"/>
              </a:ext>
            </a:extLst>
          </p:cNvPr>
          <p:cNvSpPr/>
          <p:nvPr/>
        </p:nvSpPr>
        <p:spPr>
          <a:xfrm>
            <a:off x="4196500" y="4094814"/>
            <a:ext cx="437941" cy="20774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altLang="ko-KR" sz="750" dirty="0">
                <a:solidFill>
                  <a:srgbClr val="FF0000"/>
                </a:solidFill>
                <a:latin typeface="+mn-lt"/>
                <a:cs typeface="Arial" panose="020B0604020202020204" pitchFamily="34" charset="0"/>
              </a:rPr>
              <a:t>+28 V</a:t>
            </a:r>
            <a:endParaRPr lang="ko-KR" altLang="en-US" sz="750" dirty="0">
              <a:solidFill>
                <a:srgbClr val="FF0000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559" name="직사각형 558">
            <a:extLst>
              <a:ext uri="{FF2B5EF4-FFF2-40B4-BE49-F238E27FC236}">
                <a16:creationId xmlns:a16="http://schemas.microsoft.com/office/drawing/2014/main" id="{50C4C1E5-D365-42DC-A545-4187D472AAF0}"/>
              </a:ext>
            </a:extLst>
          </p:cNvPr>
          <p:cNvSpPr/>
          <p:nvPr/>
        </p:nvSpPr>
        <p:spPr>
          <a:xfrm>
            <a:off x="4196500" y="4861997"/>
            <a:ext cx="437941" cy="20774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altLang="ko-KR" sz="750" dirty="0">
                <a:solidFill>
                  <a:srgbClr val="FF0000"/>
                </a:solidFill>
                <a:latin typeface="+mn-lt"/>
                <a:cs typeface="Arial" panose="020B0604020202020204" pitchFamily="34" charset="0"/>
              </a:rPr>
              <a:t>+28 V</a:t>
            </a:r>
            <a:endParaRPr lang="ko-KR" altLang="en-US" sz="750" dirty="0">
              <a:solidFill>
                <a:srgbClr val="FF0000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560" name="직사각형 559">
            <a:extLst>
              <a:ext uri="{FF2B5EF4-FFF2-40B4-BE49-F238E27FC236}">
                <a16:creationId xmlns:a16="http://schemas.microsoft.com/office/drawing/2014/main" id="{18DA7980-4D0E-43A7-8E7B-011750CB536C}"/>
              </a:ext>
            </a:extLst>
          </p:cNvPr>
          <p:cNvSpPr/>
          <p:nvPr/>
        </p:nvSpPr>
        <p:spPr>
          <a:xfrm>
            <a:off x="4196500" y="5620325"/>
            <a:ext cx="437941" cy="20774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altLang="ko-KR" sz="750" dirty="0">
                <a:solidFill>
                  <a:srgbClr val="FF0000"/>
                </a:solidFill>
                <a:latin typeface="+mn-lt"/>
                <a:cs typeface="Arial" panose="020B0604020202020204" pitchFamily="34" charset="0"/>
              </a:rPr>
              <a:t>+28 V</a:t>
            </a:r>
            <a:endParaRPr lang="ko-KR" altLang="en-US" sz="750" dirty="0">
              <a:solidFill>
                <a:srgbClr val="FF0000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561" name="직사각형 560">
            <a:extLst>
              <a:ext uri="{FF2B5EF4-FFF2-40B4-BE49-F238E27FC236}">
                <a16:creationId xmlns:a16="http://schemas.microsoft.com/office/drawing/2014/main" id="{88AEAB63-876C-4B49-8660-C6D08F895B55}"/>
              </a:ext>
            </a:extLst>
          </p:cNvPr>
          <p:cNvSpPr/>
          <p:nvPr/>
        </p:nvSpPr>
        <p:spPr>
          <a:xfrm>
            <a:off x="4613568" y="2496709"/>
            <a:ext cx="492444" cy="3231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750" dirty="0">
                <a:solidFill>
                  <a:srgbClr val="0070C0"/>
                </a:solidFill>
                <a:latin typeface="+mn-lt"/>
                <a:cs typeface="Arial" panose="020B0604020202020204" pitchFamily="34" charset="0"/>
              </a:rPr>
              <a:t>Power</a:t>
            </a:r>
          </a:p>
          <a:p>
            <a:pPr algn="ctr"/>
            <a:r>
              <a:rPr lang="en-US" altLang="ko-KR" sz="750" dirty="0">
                <a:solidFill>
                  <a:srgbClr val="0070C0"/>
                </a:solidFill>
                <a:latin typeface="+mn-lt"/>
                <a:cs typeface="Arial" panose="020B0604020202020204" pitchFamily="34" charset="0"/>
              </a:rPr>
              <a:t>Control</a:t>
            </a:r>
            <a:endParaRPr lang="ko-KR" altLang="en-US" sz="750" dirty="0">
              <a:solidFill>
                <a:srgbClr val="0070C0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562" name="직사각형 561">
            <a:extLst>
              <a:ext uri="{FF2B5EF4-FFF2-40B4-BE49-F238E27FC236}">
                <a16:creationId xmlns:a16="http://schemas.microsoft.com/office/drawing/2014/main" id="{BA407401-6E4C-4819-ADFD-E2A2D8AD7153}"/>
              </a:ext>
            </a:extLst>
          </p:cNvPr>
          <p:cNvSpPr/>
          <p:nvPr/>
        </p:nvSpPr>
        <p:spPr>
          <a:xfrm>
            <a:off x="4613568" y="3237778"/>
            <a:ext cx="492444" cy="3231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750" dirty="0">
                <a:solidFill>
                  <a:srgbClr val="0070C0"/>
                </a:solidFill>
                <a:latin typeface="+mn-lt"/>
                <a:cs typeface="Arial" panose="020B0604020202020204" pitchFamily="34" charset="0"/>
              </a:rPr>
              <a:t>Power</a:t>
            </a:r>
          </a:p>
          <a:p>
            <a:pPr algn="ctr"/>
            <a:r>
              <a:rPr lang="en-US" altLang="ko-KR" sz="750" dirty="0">
                <a:solidFill>
                  <a:srgbClr val="0070C0"/>
                </a:solidFill>
                <a:latin typeface="+mn-lt"/>
                <a:cs typeface="Arial" panose="020B0604020202020204" pitchFamily="34" charset="0"/>
              </a:rPr>
              <a:t>Control</a:t>
            </a:r>
            <a:endParaRPr lang="ko-KR" altLang="en-US" sz="750" dirty="0">
              <a:solidFill>
                <a:srgbClr val="0070C0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563" name="직사각형 562">
            <a:extLst>
              <a:ext uri="{FF2B5EF4-FFF2-40B4-BE49-F238E27FC236}">
                <a16:creationId xmlns:a16="http://schemas.microsoft.com/office/drawing/2014/main" id="{AAC97179-07ED-4C7A-BB34-BCBC4412CFC2}"/>
              </a:ext>
            </a:extLst>
          </p:cNvPr>
          <p:cNvSpPr/>
          <p:nvPr/>
        </p:nvSpPr>
        <p:spPr>
          <a:xfrm>
            <a:off x="4613568" y="3979398"/>
            <a:ext cx="492444" cy="3231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750" dirty="0">
                <a:solidFill>
                  <a:srgbClr val="0070C0"/>
                </a:solidFill>
                <a:latin typeface="+mn-lt"/>
                <a:cs typeface="Arial" panose="020B0604020202020204" pitchFamily="34" charset="0"/>
              </a:rPr>
              <a:t>Power</a:t>
            </a:r>
          </a:p>
          <a:p>
            <a:pPr algn="ctr"/>
            <a:r>
              <a:rPr lang="en-US" altLang="ko-KR" sz="750" dirty="0">
                <a:solidFill>
                  <a:srgbClr val="0070C0"/>
                </a:solidFill>
                <a:latin typeface="+mn-lt"/>
                <a:cs typeface="Arial" panose="020B0604020202020204" pitchFamily="34" charset="0"/>
              </a:rPr>
              <a:t>Control</a:t>
            </a:r>
            <a:endParaRPr lang="ko-KR" altLang="en-US" sz="750" dirty="0">
              <a:solidFill>
                <a:srgbClr val="0070C0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564" name="직사각형 563">
            <a:extLst>
              <a:ext uri="{FF2B5EF4-FFF2-40B4-BE49-F238E27FC236}">
                <a16:creationId xmlns:a16="http://schemas.microsoft.com/office/drawing/2014/main" id="{8E5A9666-8092-437B-9365-55D2E697E256}"/>
              </a:ext>
            </a:extLst>
          </p:cNvPr>
          <p:cNvSpPr/>
          <p:nvPr/>
        </p:nvSpPr>
        <p:spPr>
          <a:xfrm>
            <a:off x="4613568" y="4746581"/>
            <a:ext cx="492444" cy="3231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750" dirty="0">
                <a:solidFill>
                  <a:srgbClr val="0070C0"/>
                </a:solidFill>
                <a:latin typeface="+mn-lt"/>
                <a:cs typeface="Arial" panose="020B0604020202020204" pitchFamily="34" charset="0"/>
              </a:rPr>
              <a:t>Power</a:t>
            </a:r>
          </a:p>
          <a:p>
            <a:pPr algn="ctr"/>
            <a:r>
              <a:rPr lang="en-US" altLang="ko-KR" sz="750" dirty="0">
                <a:solidFill>
                  <a:srgbClr val="0070C0"/>
                </a:solidFill>
                <a:latin typeface="+mn-lt"/>
                <a:cs typeface="Arial" panose="020B0604020202020204" pitchFamily="34" charset="0"/>
              </a:rPr>
              <a:t>Control</a:t>
            </a:r>
            <a:endParaRPr lang="ko-KR" altLang="en-US" sz="750" dirty="0">
              <a:solidFill>
                <a:srgbClr val="0070C0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565" name="직사각형 564">
            <a:extLst>
              <a:ext uri="{FF2B5EF4-FFF2-40B4-BE49-F238E27FC236}">
                <a16:creationId xmlns:a16="http://schemas.microsoft.com/office/drawing/2014/main" id="{18B44E75-A893-428C-8E85-234E2528B005}"/>
              </a:ext>
            </a:extLst>
          </p:cNvPr>
          <p:cNvSpPr/>
          <p:nvPr/>
        </p:nvSpPr>
        <p:spPr>
          <a:xfrm>
            <a:off x="4613568" y="5504909"/>
            <a:ext cx="492444" cy="3231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750" dirty="0">
                <a:solidFill>
                  <a:srgbClr val="0070C0"/>
                </a:solidFill>
                <a:latin typeface="+mn-lt"/>
                <a:cs typeface="Arial" panose="020B0604020202020204" pitchFamily="34" charset="0"/>
              </a:rPr>
              <a:t>Power</a:t>
            </a:r>
          </a:p>
          <a:p>
            <a:pPr algn="ctr"/>
            <a:r>
              <a:rPr lang="en-US" altLang="ko-KR" sz="750" dirty="0">
                <a:solidFill>
                  <a:srgbClr val="0070C0"/>
                </a:solidFill>
                <a:latin typeface="+mn-lt"/>
                <a:cs typeface="Arial" panose="020B0604020202020204" pitchFamily="34" charset="0"/>
              </a:rPr>
              <a:t>Control</a:t>
            </a:r>
            <a:endParaRPr lang="ko-KR" altLang="en-US" sz="750" dirty="0">
              <a:solidFill>
                <a:srgbClr val="0070C0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566" name="직사각형 565">
            <a:extLst>
              <a:ext uri="{FF2B5EF4-FFF2-40B4-BE49-F238E27FC236}">
                <a16:creationId xmlns:a16="http://schemas.microsoft.com/office/drawing/2014/main" id="{8C371295-AB42-470B-BED1-781F29B3BC28}"/>
              </a:ext>
            </a:extLst>
          </p:cNvPr>
          <p:cNvSpPr/>
          <p:nvPr/>
        </p:nvSpPr>
        <p:spPr>
          <a:xfrm>
            <a:off x="5038630" y="2496709"/>
            <a:ext cx="620683" cy="3231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750" dirty="0">
                <a:solidFill>
                  <a:srgbClr val="0070C0"/>
                </a:solidFill>
                <a:latin typeface="+mn-lt"/>
                <a:cs typeface="Arial" panose="020B0604020202020204" pitchFamily="34" charset="0"/>
              </a:rPr>
              <a:t>Real Time</a:t>
            </a:r>
          </a:p>
          <a:p>
            <a:pPr algn="ctr"/>
            <a:r>
              <a:rPr lang="en-US" altLang="ko-KR" sz="750" dirty="0">
                <a:solidFill>
                  <a:srgbClr val="0070C0"/>
                </a:solidFill>
                <a:latin typeface="+mn-lt"/>
                <a:cs typeface="Arial" panose="020B0604020202020204" pitchFamily="34" charset="0"/>
              </a:rPr>
              <a:t>Control</a:t>
            </a:r>
          </a:p>
        </p:txBody>
      </p:sp>
      <p:sp>
        <p:nvSpPr>
          <p:cNvPr id="567" name="직사각형 566">
            <a:extLst>
              <a:ext uri="{FF2B5EF4-FFF2-40B4-BE49-F238E27FC236}">
                <a16:creationId xmlns:a16="http://schemas.microsoft.com/office/drawing/2014/main" id="{B3F6C0A7-4EBF-4567-B34C-DB41784E5A6D}"/>
              </a:ext>
            </a:extLst>
          </p:cNvPr>
          <p:cNvSpPr/>
          <p:nvPr/>
        </p:nvSpPr>
        <p:spPr>
          <a:xfrm>
            <a:off x="5053057" y="3237778"/>
            <a:ext cx="591829" cy="3231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750" dirty="0">
                <a:solidFill>
                  <a:srgbClr val="0070C0"/>
                </a:solidFill>
                <a:cs typeface="Arial" panose="020B0604020202020204" pitchFamily="34" charset="0"/>
              </a:rPr>
              <a:t>Real Time</a:t>
            </a:r>
          </a:p>
          <a:p>
            <a:pPr algn="ctr"/>
            <a:r>
              <a:rPr lang="en-US" altLang="ko-KR" sz="750" dirty="0">
                <a:solidFill>
                  <a:srgbClr val="0070C0"/>
                </a:solidFill>
                <a:cs typeface="Arial" panose="020B0604020202020204" pitchFamily="34" charset="0"/>
              </a:rPr>
              <a:t>Control</a:t>
            </a:r>
          </a:p>
        </p:txBody>
      </p:sp>
      <p:sp>
        <p:nvSpPr>
          <p:cNvPr id="568" name="직사각형 567">
            <a:extLst>
              <a:ext uri="{FF2B5EF4-FFF2-40B4-BE49-F238E27FC236}">
                <a16:creationId xmlns:a16="http://schemas.microsoft.com/office/drawing/2014/main" id="{46729CF0-800A-495B-A13A-DF3C7E06B845}"/>
              </a:ext>
            </a:extLst>
          </p:cNvPr>
          <p:cNvSpPr/>
          <p:nvPr/>
        </p:nvSpPr>
        <p:spPr>
          <a:xfrm>
            <a:off x="5053057" y="3979398"/>
            <a:ext cx="591829" cy="3231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750" dirty="0">
                <a:solidFill>
                  <a:srgbClr val="0070C0"/>
                </a:solidFill>
                <a:cs typeface="Arial" panose="020B0604020202020204" pitchFamily="34" charset="0"/>
              </a:rPr>
              <a:t>Real Time</a:t>
            </a:r>
          </a:p>
          <a:p>
            <a:pPr algn="ctr"/>
            <a:r>
              <a:rPr lang="en-US" altLang="ko-KR" sz="750" dirty="0">
                <a:solidFill>
                  <a:srgbClr val="0070C0"/>
                </a:solidFill>
                <a:cs typeface="Arial" panose="020B0604020202020204" pitchFamily="34" charset="0"/>
              </a:rPr>
              <a:t>Control</a:t>
            </a:r>
          </a:p>
        </p:txBody>
      </p:sp>
      <p:sp>
        <p:nvSpPr>
          <p:cNvPr id="569" name="직사각형 568">
            <a:extLst>
              <a:ext uri="{FF2B5EF4-FFF2-40B4-BE49-F238E27FC236}">
                <a16:creationId xmlns:a16="http://schemas.microsoft.com/office/drawing/2014/main" id="{073A02C5-35B2-4660-BFBC-D5B35D4D1B12}"/>
              </a:ext>
            </a:extLst>
          </p:cNvPr>
          <p:cNvSpPr/>
          <p:nvPr/>
        </p:nvSpPr>
        <p:spPr>
          <a:xfrm>
            <a:off x="5053057" y="4746581"/>
            <a:ext cx="591829" cy="3231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750" dirty="0">
                <a:solidFill>
                  <a:srgbClr val="0070C0"/>
                </a:solidFill>
                <a:cs typeface="Arial" panose="020B0604020202020204" pitchFamily="34" charset="0"/>
              </a:rPr>
              <a:t>Real Time</a:t>
            </a:r>
          </a:p>
          <a:p>
            <a:pPr algn="ctr"/>
            <a:r>
              <a:rPr lang="en-US" altLang="ko-KR" sz="750" dirty="0">
                <a:solidFill>
                  <a:srgbClr val="0070C0"/>
                </a:solidFill>
                <a:cs typeface="Arial" panose="020B0604020202020204" pitchFamily="34" charset="0"/>
              </a:rPr>
              <a:t>Control</a:t>
            </a:r>
          </a:p>
        </p:txBody>
      </p:sp>
      <p:sp>
        <p:nvSpPr>
          <p:cNvPr id="570" name="직사각형 569">
            <a:extLst>
              <a:ext uri="{FF2B5EF4-FFF2-40B4-BE49-F238E27FC236}">
                <a16:creationId xmlns:a16="http://schemas.microsoft.com/office/drawing/2014/main" id="{A9AB5F27-6B0A-414C-85B7-773E1E382943}"/>
              </a:ext>
            </a:extLst>
          </p:cNvPr>
          <p:cNvSpPr/>
          <p:nvPr/>
        </p:nvSpPr>
        <p:spPr>
          <a:xfrm>
            <a:off x="5053057" y="5504909"/>
            <a:ext cx="591829" cy="3231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750" dirty="0">
                <a:solidFill>
                  <a:srgbClr val="0070C0"/>
                </a:solidFill>
                <a:cs typeface="Arial" panose="020B0604020202020204" pitchFamily="34" charset="0"/>
              </a:rPr>
              <a:t>Real Time</a:t>
            </a:r>
          </a:p>
          <a:p>
            <a:pPr algn="ctr"/>
            <a:r>
              <a:rPr lang="en-US" altLang="ko-KR" sz="750" dirty="0">
                <a:solidFill>
                  <a:srgbClr val="0070C0"/>
                </a:solidFill>
                <a:cs typeface="Arial" panose="020B0604020202020204" pitchFamily="34" charset="0"/>
              </a:rPr>
              <a:t>Control</a:t>
            </a:r>
          </a:p>
        </p:txBody>
      </p:sp>
      <p:sp>
        <p:nvSpPr>
          <p:cNvPr id="571" name="직사각형 570">
            <a:extLst>
              <a:ext uri="{FF2B5EF4-FFF2-40B4-BE49-F238E27FC236}">
                <a16:creationId xmlns:a16="http://schemas.microsoft.com/office/drawing/2014/main" id="{133855B1-86C5-432D-9348-027D8AA8A2D5}"/>
              </a:ext>
            </a:extLst>
          </p:cNvPr>
          <p:cNvSpPr/>
          <p:nvPr/>
        </p:nvSpPr>
        <p:spPr>
          <a:xfrm>
            <a:off x="5505914" y="2590161"/>
            <a:ext cx="479618" cy="20774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750" dirty="0">
                <a:solidFill>
                  <a:srgbClr val="0070C0"/>
                </a:solidFill>
                <a:latin typeface="+mn-lt"/>
                <a:cs typeface="Arial" panose="020B0604020202020204" pitchFamily="34" charset="0"/>
              </a:rPr>
              <a:t>TM/TC</a:t>
            </a:r>
            <a:endParaRPr lang="ko-KR" altLang="en-US" sz="750" dirty="0">
              <a:solidFill>
                <a:srgbClr val="0070C0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572" name="직사각형 571">
            <a:extLst>
              <a:ext uri="{FF2B5EF4-FFF2-40B4-BE49-F238E27FC236}">
                <a16:creationId xmlns:a16="http://schemas.microsoft.com/office/drawing/2014/main" id="{6EBA3976-A734-492C-A870-42357C097887}"/>
              </a:ext>
            </a:extLst>
          </p:cNvPr>
          <p:cNvSpPr/>
          <p:nvPr/>
        </p:nvSpPr>
        <p:spPr>
          <a:xfrm>
            <a:off x="5505914" y="3331230"/>
            <a:ext cx="479618" cy="20774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750" dirty="0">
                <a:solidFill>
                  <a:srgbClr val="0070C0"/>
                </a:solidFill>
                <a:cs typeface="Arial" panose="020B0604020202020204" pitchFamily="34" charset="0"/>
              </a:rPr>
              <a:t>TM/TC</a:t>
            </a:r>
            <a:endParaRPr lang="ko-KR" altLang="en-US" sz="750" dirty="0">
              <a:solidFill>
                <a:srgbClr val="0070C0"/>
              </a:solidFill>
              <a:cs typeface="Arial" panose="020B0604020202020204" pitchFamily="34" charset="0"/>
            </a:endParaRPr>
          </a:p>
        </p:txBody>
      </p:sp>
      <p:sp>
        <p:nvSpPr>
          <p:cNvPr id="573" name="직사각형 572">
            <a:extLst>
              <a:ext uri="{FF2B5EF4-FFF2-40B4-BE49-F238E27FC236}">
                <a16:creationId xmlns:a16="http://schemas.microsoft.com/office/drawing/2014/main" id="{9B6605DD-6864-48B6-A3FB-B2C4CBB511DD}"/>
              </a:ext>
            </a:extLst>
          </p:cNvPr>
          <p:cNvSpPr/>
          <p:nvPr/>
        </p:nvSpPr>
        <p:spPr>
          <a:xfrm>
            <a:off x="5505914" y="4072850"/>
            <a:ext cx="479618" cy="20774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750" dirty="0">
                <a:solidFill>
                  <a:srgbClr val="0070C0"/>
                </a:solidFill>
                <a:cs typeface="Arial" panose="020B0604020202020204" pitchFamily="34" charset="0"/>
              </a:rPr>
              <a:t>TM/TC</a:t>
            </a:r>
            <a:endParaRPr lang="ko-KR" altLang="en-US" sz="750" dirty="0">
              <a:solidFill>
                <a:srgbClr val="0070C0"/>
              </a:solidFill>
              <a:cs typeface="Arial" panose="020B0604020202020204" pitchFamily="34" charset="0"/>
            </a:endParaRPr>
          </a:p>
        </p:txBody>
      </p:sp>
      <p:sp>
        <p:nvSpPr>
          <p:cNvPr id="574" name="직사각형 573">
            <a:extLst>
              <a:ext uri="{FF2B5EF4-FFF2-40B4-BE49-F238E27FC236}">
                <a16:creationId xmlns:a16="http://schemas.microsoft.com/office/drawing/2014/main" id="{1E88842C-3CA2-40B6-A8B6-95898A6DB927}"/>
              </a:ext>
            </a:extLst>
          </p:cNvPr>
          <p:cNvSpPr/>
          <p:nvPr/>
        </p:nvSpPr>
        <p:spPr>
          <a:xfrm>
            <a:off x="5505914" y="4840033"/>
            <a:ext cx="479618" cy="20774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750" dirty="0">
                <a:solidFill>
                  <a:srgbClr val="0070C0"/>
                </a:solidFill>
                <a:cs typeface="Arial" panose="020B0604020202020204" pitchFamily="34" charset="0"/>
              </a:rPr>
              <a:t>TM/TC</a:t>
            </a:r>
            <a:endParaRPr lang="ko-KR" altLang="en-US" sz="750" dirty="0">
              <a:solidFill>
                <a:srgbClr val="0070C0"/>
              </a:solidFill>
              <a:cs typeface="Arial" panose="020B0604020202020204" pitchFamily="34" charset="0"/>
            </a:endParaRPr>
          </a:p>
        </p:txBody>
      </p:sp>
      <p:sp>
        <p:nvSpPr>
          <p:cNvPr id="575" name="직사각형 574">
            <a:extLst>
              <a:ext uri="{FF2B5EF4-FFF2-40B4-BE49-F238E27FC236}">
                <a16:creationId xmlns:a16="http://schemas.microsoft.com/office/drawing/2014/main" id="{0468F005-415F-4C0A-B625-08F0039BF5D6}"/>
              </a:ext>
            </a:extLst>
          </p:cNvPr>
          <p:cNvSpPr/>
          <p:nvPr/>
        </p:nvSpPr>
        <p:spPr>
          <a:xfrm>
            <a:off x="5505914" y="5598361"/>
            <a:ext cx="479618" cy="20774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750" dirty="0">
                <a:solidFill>
                  <a:srgbClr val="0070C0"/>
                </a:solidFill>
                <a:cs typeface="Arial" panose="020B0604020202020204" pitchFamily="34" charset="0"/>
              </a:rPr>
              <a:t>TM/TC</a:t>
            </a:r>
            <a:endParaRPr lang="ko-KR" altLang="en-US" sz="750" dirty="0">
              <a:solidFill>
                <a:srgbClr val="0070C0"/>
              </a:solidFill>
              <a:cs typeface="Arial" panose="020B0604020202020204" pitchFamily="34" charset="0"/>
            </a:endParaRPr>
          </a:p>
        </p:txBody>
      </p:sp>
      <p:cxnSp>
        <p:nvCxnSpPr>
          <p:cNvPr id="584" name="꺾인 연결선 34">
            <a:extLst>
              <a:ext uri="{FF2B5EF4-FFF2-40B4-BE49-F238E27FC236}">
                <a16:creationId xmlns:a16="http://schemas.microsoft.com/office/drawing/2014/main" id="{F022F2A7-6F97-41F9-B84A-48B8378FEEB8}"/>
              </a:ext>
            </a:extLst>
          </p:cNvPr>
          <p:cNvCxnSpPr>
            <a:cxnSpLocks/>
            <a:stCxn id="197" idx="3"/>
            <a:endCxn id="582" idx="1"/>
          </p:cNvCxnSpPr>
          <p:nvPr/>
        </p:nvCxnSpPr>
        <p:spPr>
          <a:xfrm flipV="1">
            <a:off x="1346991" y="4152691"/>
            <a:ext cx="839821" cy="783500"/>
          </a:xfrm>
          <a:prstGeom prst="bentConnector3">
            <a:avLst>
              <a:gd name="adj1" fmla="val 67580"/>
            </a:avLst>
          </a:prstGeom>
          <a:ln w="6350">
            <a:solidFill>
              <a:srgbClr val="009900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7" name="꺾인 연결선 34">
            <a:extLst>
              <a:ext uri="{FF2B5EF4-FFF2-40B4-BE49-F238E27FC236}">
                <a16:creationId xmlns:a16="http://schemas.microsoft.com/office/drawing/2014/main" id="{05EE7B9A-FE4F-4E0E-8299-27B0540BB260}"/>
              </a:ext>
            </a:extLst>
          </p:cNvPr>
          <p:cNvCxnSpPr>
            <a:cxnSpLocks/>
            <a:stCxn id="454" idx="3"/>
            <a:endCxn id="583" idx="1"/>
          </p:cNvCxnSpPr>
          <p:nvPr/>
        </p:nvCxnSpPr>
        <p:spPr>
          <a:xfrm flipV="1">
            <a:off x="1346991" y="2115189"/>
            <a:ext cx="1107827" cy="2680676"/>
          </a:xfrm>
          <a:prstGeom prst="bentConnector3">
            <a:avLst>
              <a:gd name="adj1" fmla="val 42835"/>
            </a:avLst>
          </a:prstGeom>
          <a:ln w="6350">
            <a:solidFill>
              <a:srgbClr val="0099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92" name="그룹 591">
            <a:extLst>
              <a:ext uri="{FF2B5EF4-FFF2-40B4-BE49-F238E27FC236}">
                <a16:creationId xmlns:a16="http://schemas.microsoft.com/office/drawing/2014/main" id="{34B0D632-F953-441E-A581-C7D20E40D78C}"/>
              </a:ext>
            </a:extLst>
          </p:cNvPr>
          <p:cNvGrpSpPr/>
          <p:nvPr/>
        </p:nvGrpSpPr>
        <p:grpSpPr>
          <a:xfrm>
            <a:off x="1688979" y="4735811"/>
            <a:ext cx="81000" cy="255368"/>
            <a:chOff x="9621427" y="5156166"/>
            <a:chExt cx="108000" cy="113159"/>
          </a:xfrm>
        </p:grpSpPr>
        <p:sp>
          <p:nvSpPr>
            <p:cNvPr id="593" name="직사각형 592">
              <a:extLst>
                <a:ext uri="{FF2B5EF4-FFF2-40B4-BE49-F238E27FC236}">
                  <a16:creationId xmlns:a16="http://schemas.microsoft.com/office/drawing/2014/main" id="{47662DA6-520A-4641-8255-193929AF47B0}"/>
                </a:ext>
              </a:extLst>
            </p:cNvPr>
            <p:cNvSpPr/>
            <p:nvPr/>
          </p:nvSpPr>
          <p:spPr bwMode="auto">
            <a:xfrm>
              <a:off x="9621427" y="5158745"/>
              <a:ext cx="104400" cy="104400"/>
            </a:xfrm>
            <a:prstGeom prst="rect">
              <a:avLst/>
            </a:prstGeom>
            <a:solidFill>
              <a:schemeClr val="bg1">
                <a:alpha val="0"/>
              </a:schemeClr>
            </a:solidFill>
            <a:ln w="6350" cap="flat" cmpd="sng" algn="ctr">
              <a:noFill/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68580" tIns="34290" rIns="68580" bIns="34290" numCol="1" rtlCol="0" anchor="t" anchorCtr="0" compatLnSpc="1">
              <a:prstTxWarp prst="textNoShape">
                <a:avLst/>
              </a:prstTxWarp>
            </a:bodyPr>
            <a:lstStyle/>
            <a:p>
              <a:pPr algn="ctr" defTabSz="685835" fontAlgn="base">
                <a:spcBef>
                  <a:spcPct val="0"/>
                </a:spcBef>
                <a:spcAft>
                  <a:spcPct val="0"/>
                </a:spcAft>
              </a:pPr>
              <a:endParaRPr lang="en-US" altLang="ko-KR" sz="900" dirty="0">
                <a:latin typeface="+mn-lt"/>
                <a:cs typeface="Arial" panose="020B0604020202020204" pitchFamily="34" charset="0"/>
              </a:endParaRPr>
            </a:p>
          </p:txBody>
        </p:sp>
        <p:grpSp>
          <p:nvGrpSpPr>
            <p:cNvPr id="594" name="그룹 593">
              <a:extLst>
                <a:ext uri="{FF2B5EF4-FFF2-40B4-BE49-F238E27FC236}">
                  <a16:creationId xmlns:a16="http://schemas.microsoft.com/office/drawing/2014/main" id="{EFB6B73E-CC11-4ED0-B6B2-290576DC071D}"/>
                </a:ext>
              </a:extLst>
            </p:cNvPr>
            <p:cNvGrpSpPr/>
            <p:nvPr/>
          </p:nvGrpSpPr>
          <p:grpSpPr>
            <a:xfrm>
              <a:off x="9621427" y="5156166"/>
              <a:ext cx="108000" cy="113159"/>
              <a:chOff x="10846836" y="2933955"/>
              <a:chExt cx="108000" cy="113159"/>
            </a:xfrm>
          </p:grpSpPr>
          <p:sp>
            <p:nvSpPr>
              <p:cNvPr id="595" name="원호 594">
                <a:extLst>
                  <a:ext uri="{FF2B5EF4-FFF2-40B4-BE49-F238E27FC236}">
                    <a16:creationId xmlns:a16="http://schemas.microsoft.com/office/drawing/2014/main" id="{1059AEB5-BD5A-48DB-BF63-FD77E2EA7B50}"/>
                  </a:ext>
                </a:extLst>
              </p:cNvPr>
              <p:cNvSpPr/>
              <p:nvPr/>
            </p:nvSpPr>
            <p:spPr>
              <a:xfrm>
                <a:off x="10846836" y="2939114"/>
                <a:ext cx="108000" cy="108000"/>
              </a:xfrm>
              <a:prstGeom prst="arc">
                <a:avLst/>
              </a:prstGeom>
              <a:ln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 sz="1350"/>
              </a:p>
            </p:txBody>
          </p:sp>
          <p:sp>
            <p:nvSpPr>
              <p:cNvPr id="596" name="원호 595">
                <a:extLst>
                  <a:ext uri="{FF2B5EF4-FFF2-40B4-BE49-F238E27FC236}">
                    <a16:creationId xmlns:a16="http://schemas.microsoft.com/office/drawing/2014/main" id="{6B1A2070-2F41-4786-B5D3-343D9327A2BE}"/>
                  </a:ext>
                </a:extLst>
              </p:cNvPr>
              <p:cNvSpPr/>
              <p:nvPr/>
            </p:nvSpPr>
            <p:spPr>
              <a:xfrm rot="5400000">
                <a:off x="10846836" y="2933955"/>
                <a:ext cx="108000" cy="108000"/>
              </a:xfrm>
              <a:prstGeom prst="arc">
                <a:avLst/>
              </a:prstGeom>
              <a:ln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 sz="1350"/>
              </a:p>
            </p:txBody>
          </p:sp>
        </p:grpSp>
      </p:grpSp>
      <p:cxnSp>
        <p:nvCxnSpPr>
          <p:cNvPr id="603" name="꺾인 연결선 34">
            <a:extLst>
              <a:ext uri="{FF2B5EF4-FFF2-40B4-BE49-F238E27FC236}">
                <a16:creationId xmlns:a16="http://schemas.microsoft.com/office/drawing/2014/main" id="{194248A5-316E-46F1-8538-287F830D2538}"/>
              </a:ext>
            </a:extLst>
          </p:cNvPr>
          <p:cNvCxnSpPr>
            <a:cxnSpLocks/>
            <a:stCxn id="136" idx="3"/>
            <a:endCxn id="593" idx="0"/>
          </p:cNvCxnSpPr>
          <p:nvPr/>
        </p:nvCxnSpPr>
        <p:spPr>
          <a:xfrm>
            <a:off x="1342039" y="2539276"/>
            <a:ext cx="386090" cy="2202355"/>
          </a:xfrm>
          <a:prstGeom prst="bentConnector2">
            <a:avLst/>
          </a:prstGeom>
          <a:ln w="6350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9" name="직사각형 608">
            <a:extLst>
              <a:ext uri="{FF2B5EF4-FFF2-40B4-BE49-F238E27FC236}">
                <a16:creationId xmlns:a16="http://schemas.microsoft.com/office/drawing/2014/main" id="{30C10DCD-4E20-4753-85A9-ADF8A91BACE5}"/>
              </a:ext>
            </a:extLst>
          </p:cNvPr>
          <p:cNvSpPr/>
          <p:nvPr/>
        </p:nvSpPr>
        <p:spPr>
          <a:xfrm>
            <a:off x="3038207" y="2492523"/>
            <a:ext cx="301686" cy="3231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750" dirty="0">
                <a:solidFill>
                  <a:srgbClr val="009900"/>
                </a:solidFill>
                <a:latin typeface="+mn-lt"/>
                <a:cs typeface="Arial" panose="020B0604020202020204" pitchFamily="34" charset="0"/>
              </a:rPr>
              <a:t>Rx</a:t>
            </a:r>
          </a:p>
          <a:p>
            <a:pPr algn="ctr"/>
            <a:r>
              <a:rPr lang="en-US" altLang="ko-KR" sz="750" dirty="0">
                <a:solidFill>
                  <a:srgbClr val="009900"/>
                </a:solidFill>
                <a:latin typeface="+mn-lt"/>
                <a:cs typeface="Arial" panose="020B0604020202020204" pitchFamily="34" charset="0"/>
              </a:rPr>
              <a:t>#0</a:t>
            </a:r>
            <a:endParaRPr lang="ko-KR" altLang="en-US" sz="750" dirty="0">
              <a:solidFill>
                <a:srgbClr val="009900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610" name="직사각형 609">
            <a:extLst>
              <a:ext uri="{FF2B5EF4-FFF2-40B4-BE49-F238E27FC236}">
                <a16:creationId xmlns:a16="http://schemas.microsoft.com/office/drawing/2014/main" id="{DAA9B48D-A557-4DD9-8ABF-5E165353A96C}"/>
              </a:ext>
            </a:extLst>
          </p:cNvPr>
          <p:cNvSpPr/>
          <p:nvPr/>
        </p:nvSpPr>
        <p:spPr>
          <a:xfrm>
            <a:off x="3038207" y="3214266"/>
            <a:ext cx="301686" cy="3231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750" dirty="0">
                <a:solidFill>
                  <a:srgbClr val="009900"/>
                </a:solidFill>
                <a:latin typeface="+mn-lt"/>
                <a:cs typeface="Arial" panose="020B0604020202020204" pitchFamily="34" charset="0"/>
              </a:rPr>
              <a:t>Rx</a:t>
            </a:r>
          </a:p>
          <a:p>
            <a:pPr algn="ctr"/>
            <a:r>
              <a:rPr lang="en-US" altLang="ko-KR" sz="750" dirty="0">
                <a:solidFill>
                  <a:srgbClr val="009900"/>
                </a:solidFill>
                <a:latin typeface="+mn-lt"/>
                <a:cs typeface="Arial" panose="020B0604020202020204" pitchFamily="34" charset="0"/>
              </a:rPr>
              <a:t>#1</a:t>
            </a:r>
            <a:endParaRPr lang="ko-KR" altLang="en-US" sz="750" dirty="0">
              <a:solidFill>
                <a:srgbClr val="009900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611" name="직사각형 610">
            <a:extLst>
              <a:ext uri="{FF2B5EF4-FFF2-40B4-BE49-F238E27FC236}">
                <a16:creationId xmlns:a16="http://schemas.microsoft.com/office/drawing/2014/main" id="{3D515396-109D-46B5-A456-0BD448238169}"/>
              </a:ext>
            </a:extLst>
          </p:cNvPr>
          <p:cNvSpPr/>
          <p:nvPr/>
        </p:nvSpPr>
        <p:spPr>
          <a:xfrm>
            <a:off x="3038207" y="3970519"/>
            <a:ext cx="301686" cy="3231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750" dirty="0">
                <a:solidFill>
                  <a:srgbClr val="009900"/>
                </a:solidFill>
                <a:latin typeface="+mn-lt"/>
                <a:cs typeface="Arial" panose="020B0604020202020204" pitchFamily="34" charset="0"/>
              </a:rPr>
              <a:t>Rx</a:t>
            </a:r>
          </a:p>
          <a:p>
            <a:pPr algn="ctr"/>
            <a:r>
              <a:rPr lang="en-US" altLang="ko-KR" sz="750" dirty="0">
                <a:solidFill>
                  <a:srgbClr val="009900"/>
                </a:solidFill>
                <a:latin typeface="+mn-lt"/>
                <a:cs typeface="Arial" panose="020B0604020202020204" pitchFamily="34" charset="0"/>
              </a:rPr>
              <a:t>#2</a:t>
            </a:r>
            <a:endParaRPr lang="ko-KR" altLang="en-US" sz="750" dirty="0">
              <a:solidFill>
                <a:srgbClr val="009900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612" name="직사각형 611">
            <a:extLst>
              <a:ext uri="{FF2B5EF4-FFF2-40B4-BE49-F238E27FC236}">
                <a16:creationId xmlns:a16="http://schemas.microsoft.com/office/drawing/2014/main" id="{7ADA00C4-E7DE-42A3-B6FD-AC1BDDDCA935}"/>
              </a:ext>
            </a:extLst>
          </p:cNvPr>
          <p:cNvSpPr/>
          <p:nvPr/>
        </p:nvSpPr>
        <p:spPr>
          <a:xfrm>
            <a:off x="3038207" y="4718139"/>
            <a:ext cx="301686" cy="3231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750" dirty="0">
                <a:solidFill>
                  <a:srgbClr val="009900"/>
                </a:solidFill>
                <a:latin typeface="+mn-lt"/>
                <a:cs typeface="Arial" panose="020B0604020202020204" pitchFamily="34" charset="0"/>
              </a:rPr>
              <a:t>Rx</a:t>
            </a:r>
          </a:p>
          <a:p>
            <a:pPr algn="ctr"/>
            <a:r>
              <a:rPr lang="en-US" altLang="ko-KR" sz="750" dirty="0">
                <a:solidFill>
                  <a:srgbClr val="009900"/>
                </a:solidFill>
                <a:latin typeface="+mn-lt"/>
                <a:cs typeface="Arial" panose="020B0604020202020204" pitchFamily="34" charset="0"/>
              </a:rPr>
              <a:t>#3</a:t>
            </a:r>
            <a:endParaRPr lang="ko-KR" altLang="en-US" sz="750" dirty="0">
              <a:solidFill>
                <a:srgbClr val="009900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613" name="직사각형 612">
            <a:extLst>
              <a:ext uri="{FF2B5EF4-FFF2-40B4-BE49-F238E27FC236}">
                <a16:creationId xmlns:a16="http://schemas.microsoft.com/office/drawing/2014/main" id="{8F93E8AD-B6D6-4361-BC61-CCDFE38BD89C}"/>
              </a:ext>
            </a:extLst>
          </p:cNvPr>
          <p:cNvSpPr/>
          <p:nvPr/>
        </p:nvSpPr>
        <p:spPr>
          <a:xfrm>
            <a:off x="3038207" y="5500265"/>
            <a:ext cx="301686" cy="3231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750" dirty="0">
                <a:solidFill>
                  <a:srgbClr val="009900"/>
                </a:solidFill>
                <a:latin typeface="+mn-lt"/>
                <a:cs typeface="Arial" panose="020B0604020202020204" pitchFamily="34" charset="0"/>
              </a:rPr>
              <a:t>Rx</a:t>
            </a:r>
            <a:br>
              <a:rPr lang="en-US" altLang="ko-KR" sz="750" dirty="0">
                <a:solidFill>
                  <a:srgbClr val="009900"/>
                </a:solidFill>
                <a:latin typeface="+mn-lt"/>
                <a:cs typeface="Arial" panose="020B0604020202020204" pitchFamily="34" charset="0"/>
              </a:rPr>
            </a:br>
            <a:r>
              <a:rPr lang="en-US" altLang="ko-KR" sz="750" dirty="0">
                <a:solidFill>
                  <a:srgbClr val="009900"/>
                </a:solidFill>
                <a:latin typeface="+mn-lt"/>
                <a:cs typeface="Arial" panose="020B0604020202020204" pitchFamily="34" charset="0"/>
              </a:rPr>
              <a:t>#4</a:t>
            </a:r>
            <a:endParaRPr lang="ko-KR" altLang="en-US" sz="750" dirty="0">
              <a:solidFill>
                <a:srgbClr val="009900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614" name="직사각형 613">
            <a:extLst>
              <a:ext uri="{FF2B5EF4-FFF2-40B4-BE49-F238E27FC236}">
                <a16:creationId xmlns:a16="http://schemas.microsoft.com/office/drawing/2014/main" id="{D6D9CD35-B03E-4979-BFD9-D57CC8F6BB24}"/>
              </a:ext>
            </a:extLst>
          </p:cNvPr>
          <p:cNvSpPr/>
          <p:nvPr/>
        </p:nvSpPr>
        <p:spPr>
          <a:xfrm>
            <a:off x="3311376" y="2317117"/>
            <a:ext cx="301686" cy="3231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750" dirty="0">
                <a:solidFill>
                  <a:srgbClr val="009900"/>
                </a:solidFill>
                <a:latin typeface="+mn-lt"/>
                <a:cs typeface="Arial" panose="020B0604020202020204" pitchFamily="34" charset="0"/>
              </a:rPr>
              <a:t>Tx</a:t>
            </a:r>
          </a:p>
          <a:p>
            <a:pPr algn="ctr"/>
            <a:r>
              <a:rPr lang="en-US" altLang="ko-KR" sz="750" dirty="0">
                <a:solidFill>
                  <a:srgbClr val="009900"/>
                </a:solidFill>
                <a:latin typeface="+mn-lt"/>
                <a:cs typeface="Arial" panose="020B0604020202020204" pitchFamily="34" charset="0"/>
              </a:rPr>
              <a:t>#0</a:t>
            </a:r>
            <a:endParaRPr lang="ko-KR" altLang="en-US" sz="750" dirty="0">
              <a:solidFill>
                <a:srgbClr val="009900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615" name="직사각형 614">
            <a:extLst>
              <a:ext uri="{FF2B5EF4-FFF2-40B4-BE49-F238E27FC236}">
                <a16:creationId xmlns:a16="http://schemas.microsoft.com/office/drawing/2014/main" id="{426F104E-6686-4045-A10B-2EE90C78B5D9}"/>
              </a:ext>
            </a:extLst>
          </p:cNvPr>
          <p:cNvSpPr/>
          <p:nvPr/>
        </p:nvSpPr>
        <p:spPr>
          <a:xfrm>
            <a:off x="3311376" y="3073364"/>
            <a:ext cx="301686" cy="3231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750" dirty="0">
                <a:solidFill>
                  <a:srgbClr val="009900"/>
                </a:solidFill>
                <a:latin typeface="+mn-lt"/>
                <a:cs typeface="Arial" panose="020B0604020202020204" pitchFamily="34" charset="0"/>
              </a:rPr>
              <a:t>Tx</a:t>
            </a:r>
          </a:p>
          <a:p>
            <a:pPr algn="ctr"/>
            <a:r>
              <a:rPr lang="en-US" altLang="ko-KR" sz="750" dirty="0">
                <a:solidFill>
                  <a:srgbClr val="009900"/>
                </a:solidFill>
                <a:latin typeface="+mn-lt"/>
                <a:cs typeface="Arial" panose="020B0604020202020204" pitchFamily="34" charset="0"/>
              </a:rPr>
              <a:t>#1</a:t>
            </a:r>
            <a:endParaRPr lang="ko-KR" altLang="en-US" sz="750" dirty="0">
              <a:solidFill>
                <a:srgbClr val="009900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616" name="직사각형 615">
            <a:extLst>
              <a:ext uri="{FF2B5EF4-FFF2-40B4-BE49-F238E27FC236}">
                <a16:creationId xmlns:a16="http://schemas.microsoft.com/office/drawing/2014/main" id="{832AC778-290C-48BF-864D-03BB1B6B4D92}"/>
              </a:ext>
            </a:extLst>
          </p:cNvPr>
          <p:cNvSpPr/>
          <p:nvPr/>
        </p:nvSpPr>
        <p:spPr>
          <a:xfrm>
            <a:off x="3311376" y="3829617"/>
            <a:ext cx="301686" cy="3231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750" dirty="0">
                <a:solidFill>
                  <a:srgbClr val="009900"/>
                </a:solidFill>
                <a:latin typeface="+mn-lt"/>
                <a:cs typeface="Arial" panose="020B0604020202020204" pitchFamily="34" charset="0"/>
              </a:rPr>
              <a:t>Tx</a:t>
            </a:r>
          </a:p>
          <a:p>
            <a:pPr algn="ctr"/>
            <a:r>
              <a:rPr lang="en-US" altLang="ko-KR" sz="750" dirty="0">
                <a:solidFill>
                  <a:srgbClr val="009900"/>
                </a:solidFill>
                <a:latin typeface="+mn-lt"/>
                <a:cs typeface="Arial" panose="020B0604020202020204" pitchFamily="34" charset="0"/>
              </a:rPr>
              <a:t>#2</a:t>
            </a:r>
            <a:endParaRPr lang="ko-KR" altLang="en-US" sz="750" dirty="0">
              <a:solidFill>
                <a:srgbClr val="009900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617" name="직사각형 616">
            <a:extLst>
              <a:ext uri="{FF2B5EF4-FFF2-40B4-BE49-F238E27FC236}">
                <a16:creationId xmlns:a16="http://schemas.microsoft.com/office/drawing/2014/main" id="{A5473593-B936-4B8E-8A94-2CAC7CF3AF09}"/>
              </a:ext>
            </a:extLst>
          </p:cNvPr>
          <p:cNvSpPr/>
          <p:nvPr/>
        </p:nvSpPr>
        <p:spPr>
          <a:xfrm>
            <a:off x="3311376" y="4577237"/>
            <a:ext cx="301686" cy="3231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750" dirty="0">
                <a:solidFill>
                  <a:srgbClr val="009900"/>
                </a:solidFill>
                <a:latin typeface="+mn-lt"/>
                <a:cs typeface="Arial" panose="020B0604020202020204" pitchFamily="34" charset="0"/>
              </a:rPr>
              <a:t>Tx</a:t>
            </a:r>
          </a:p>
          <a:p>
            <a:pPr algn="ctr"/>
            <a:r>
              <a:rPr lang="en-US" altLang="ko-KR" sz="750" dirty="0">
                <a:solidFill>
                  <a:srgbClr val="009900"/>
                </a:solidFill>
                <a:latin typeface="+mn-lt"/>
                <a:cs typeface="Arial" panose="020B0604020202020204" pitchFamily="34" charset="0"/>
              </a:rPr>
              <a:t>#3</a:t>
            </a:r>
            <a:endParaRPr lang="ko-KR" altLang="en-US" sz="750" dirty="0">
              <a:solidFill>
                <a:srgbClr val="009900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618" name="직사각형 617">
            <a:extLst>
              <a:ext uri="{FF2B5EF4-FFF2-40B4-BE49-F238E27FC236}">
                <a16:creationId xmlns:a16="http://schemas.microsoft.com/office/drawing/2014/main" id="{4B77BBE6-C9E2-4261-9206-E0C4DBD63474}"/>
              </a:ext>
            </a:extLst>
          </p:cNvPr>
          <p:cNvSpPr/>
          <p:nvPr/>
        </p:nvSpPr>
        <p:spPr>
          <a:xfrm>
            <a:off x="3311376" y="5359363"/>
            <a:ext cx="301686" cy="3231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750" dirty="0">
                <a:solidFill>
                  <a:srgbClr val="009900"/>
                </a:solidFill>
                <a:latin typeface="+mn-lt"/>
                <a:cs typeface="Arial" panose="020B0604020202020204" pitchFamily="34" charset="0"/>
              </a:rPr>
              <a:t>Tx</a:t>
            </a:r>
            <a:br>
              <a:rPr lang="en-US" altLang="ko-KR" sz="750" dirty="0">
                <a:solidFill>
                  <a:srgbClr val="009900"/>
                </a:solidFill>
                <a:latin typeface="+mn-lt"/>
                <a:cs typeface="Arial" panose="020B0604020202020204" pitchFamily="34" charset="0"/>
              </a:rPr>
            </a:br>
            <a:r>
              <a:rPr lang="en-US" altLang="ko-KR" sz="750" dirty="0">
                <a:solidFill>
                  <a:srgbClr val="009900"/>
                </a:solidFill>
                <a:latin typeface="+mn-lt"/>
                <a:cs typeface="Arial" panose="020B0604020202020204" pitchFamily="34" charset="0"/>
              </a:rPr>
              <a:t>#4</a:t>
            </a:r>
            <a:endParaRPr lang="ko-KR" altLang="en-US" sz="750" dirty="0">
              <a:solidFill>
                <a:srgbClr val="009900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629" name="직사각형 628">
            <a:extLst>
              <a:ext uri="{FF2B5EF4-FFF2-40B4-BE49-F238E27FC236}">
                <a16:creationId xmlns:a16="http://schemas.microsoft.com/office/drawing/2014/main" id="{06E6799B-4D96-41C3-AA12-A5EE0D8624C4}"/>
              </a:ext>
            </a:extLst>
          </p:cNvPr>
          <p:cNvSpPr/>
          <p:nvPr/>
        </p:nvSpPr>
        <p:spPr>
          <a:xfrm>
            <a:off x="3501338" y="2222656"/>
            <a:ext cx="679993" cy="3231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750" dirty="0">
                <a:solidFill>
                  <a:srgbClr val="009900"/>
                </a:solidFill>
                <a:latin typeface="+mn-lt"/>
                <a:cs typeface="Arial" panose="020B0604020202020204" pitchFamily="34" charset="0"/>
              </a:rPr>
              <a:t>X-Band</a:t>
            </a:r>
          </a:p>
          <a:p>
            <a:pPr algn="ctr"/>
            <a:r>
              <a:rPr lang="en-US" altLang="ko-KR" sz="750" dirty="0">
                <a:solidFill>
                  <a:srgbClr val="009900"/>
                </a:solidFill>
                <a:latin typeface="+mn-lt"/>
                <a:cs typeface="Arial" panose="020B0604020202020204" pitchFamily="34" charset="0"/>
              </a:rPr>
              <a:t>Tx Chirp #0</a:t>
            </a:r>
            <a:endParaRPr lang="ko-KR" altLang="en-US" sz="750" dirty="0">
              <a:solidFill>
                <a:srgbClr val="009900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630" name="직사각형 629">
            <a:extLst>
              <a:ext uri="{FF2B5EF4-FFF2-40B4-BE49-F238E27FC236}">
                <a16:creationId xmlns:a16="http://schemas.microsoft.com/office/drawing/2014/main" id="{4263F551-696B-470E-8140-D848D4FD3D74}"/>
              </a:ext>
            </a:extLst>
          </p:cNvPr>
          <p:cNvSpPr/>
          <p:nvPr/>
        </p:nvSpPr>
        <p:spPr>
          <a:xfrm>
            <a:off x="3501338" y="2951617"/>
            <a:ext cx="679994" cy="3231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750" dirty="0">
                <a:solidFill>
                  <a:srgbClr val="009900"/>
                </a:solidFill>
                <a:latin typeface="+mn-lt"/>
                <a:cs typeface="Arial" panose="020B0604020202020204" pitchFamily="34" charset="0"/>
              </a:rPr>
              <a:t>X-Band</a:t>
            </a:r>
          </a:p>
          <a:p>
            <a:pPr algn="ctr"/>
            <a:r>
              <a:rPr lang="en-US" altLang="ko-KR" sz="750" dirty="0">
                <a:solidFill>
                  <a:srgbClr val="009900"/>
                </a:solidFill>
                <a:latin typeface="+mn-lt"/>
                <a:cs typeface="Arial" panose="020B0604020202020204" pitchFamily="34" charset="0"/>
              </a:rPr>
              <a:t>Tx Chirp #1</a:t>
            </a:r>
            <a:endParaRPr lang="ko-KR" altLang="en-US" sz="750" dirty="0">
              <a:solidFill>
                <a:srgbClr val="009900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631" name="직사각형 630">
            <a:extLst>
              <a:ext uri="{FF2B5EF4-FFF2-40B4-BE49-F238E27FC236}">
                <a16:creationId xmlns:a16="http://schemas.microsoft.com/office/drawing/2014/main" id="{87454CE3-5F81-4A90-8A55-FC02B22D2A0E}"/>
              </a:ext>
            </a:extLst>
          </p:cNvPr>
          <p:cNvSpPr/>
          <p:nvPr/>
        </p:nvSpPr>
        <p:spPr>
          <a:xfrm>
            <a:off x="3501338" y="3698927"/>
            <a:ext cx="679994" cy="3231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750" dirty="0">
                <a:solidFill>
                  <a:srgbClr val="009900"/>
                </a:solidFill>
                <a:latin typeface="+mn-lt"/>
                <a:cs typeface="Arial" panose="020B0604020202020204" pitchFamily="34" charset="0"/>
              </a:rPr>
              <a:t>X-Band</a:t>
            </a:r>
          </a:p>
          <a:p>
            <a:pPr algn="ctr"/>
            <a:r>
              <a:rPr lang="en-US" altLang="ko-KR" sz="750" dirty="0">
                <a:solidFill>
                  <a:srgbClr val="009900"/>
                </a:solidFill>
                <a:latin typeface="+mn-lt"/>
                <a:cs typeface="Arial" panose="020B0604020202020204" pitchFamily="34" charset="0"/>
              </a:rPr>
              <a:t>Tx Chirp #2</a:t>
            </a:r>
            <a:endParaRPr lang="ko-KR" altLang="en-US" sz="750" dirty="0">
              <a:solidFill>
                <a:srgbClr val="009900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632" name="직사각형 631">
            <a:extLst>
              <a:ext uri="{FF2B5EF4-FFF2-40B4-BE49-F238E27FC236}">
                <a16:creationId xmlns:a16="http://schemas.microsoft.com/office/drawing/2014/main" id="{471D2E24-CE49-4D4B-9E77-F8659A038B6C}"/>
              </a:ext>
            </a:extLst>
          </p:cNvPr>
          <p:cNvSpPr/>
          <p:nvPr/>
        </p:nvSpPr>
        <p:spPr>
          <a:xfrm>
            <a:off x="3501338" y="4445926"/>
            <a:ext cx="679994" cy="3231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750" dirty="0">
                <a:solidFill>
                  <a:srgbClr val="009900"/>
                </a:solidFill>
                <a:latin typeface="+mn-lt"/>
                <a:cs typeface="Arial" panose="020B0604020202020204" pitchFamily="34" charset="0"/>
              </a:rPr>
              <a:t>X-Band</a:t>
            </a:r>
          </a:p>
          <a:p>
            <a:pPr algn="ctr"/>
            <a:r>
              <a:rPr lang="en-US" altLang="ko-KR" sz="750" dirty="0">
                <a:solidFill>
                  <a:srgbClr val="009900"/>
                </a:solidFill>
                <a:latin typeface="+mn-lt"/>
                <a:cs typeface="Arial" panose="020B0604020202020204" pitchFamily="34" charset="0"/>
              </a:rPr>
              <a:t>Tx Chirp #3</a:t>
            </a:r>
            <a:endParaRPr lang="ko-KR" altLang="en-US" sz="750" dirty="0">
              <a:solidFill>
                <a:srgbClr val="009900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633" name="직사각형 632">
            <a:extLst>
              <a:ext uri="{FF2B5EF4-FFF2-40B4-BE49-F238E27FC236}">
                <a16:creationId xmlns:a16="http://schemas.microsoft.com/office/drawing/2014/main" id="{490D190A-13A9-4329-A497-A93C2A4E0819}"/>
              </a:ext>
            </a:extLst>
          </p:cNvPr>
          <p:cNvSpPr/>
          <p:nvPr/>
        </p:nvSpPr>
        <p:spPr>
          <a:xfrm>
            <a:off x="3501338" y="5226681"/>
            <a:ext cx="679994" cy="3231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750" dirty="0">
                <a:solidFill>
                  <a:srgbClr val="009900"/>
                </a:solidFill>
                <a:latin typeface="+mn-lt"/>
                <a:cs typeface="Arial" panose="020B0604020202020204" pitchFamily="34" charset="0"/>
              </a:rPr>
              <a:t>X-Band</a:t>
            </a:r>
          </a:p>
          <a:p>
            <a:pPr algn="ctr"/>
            <a:r>
              <a:rPr lang="en-US" altLang="ko-KR" sz="750" dirty="0">
                <a:solidFill>
                  <a:srgbClr val="009900"/>
                </a:solidFill>
                <a:latin typeface="+mn-lt"/>
                <a:cs typeface="Arial" panose="020B0604020202020204" pitchFamily="34" charset="0"/>
              </a:rPr>
              <a:t>Tx Chirp #4</a:t>
            </a:r>
            <a:endParaRPr lang="ko-KR" altLang="en-US" sz="750" dirty="0">
              <a:solidFill>
                <a:srgbClr val="009900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634" name="직사각형 633">
            <a:extLst>
              <a:ext uri="{FF2B5EF4-FFF2-40B4-BE49-F238E27FC236}">
                <a16:creationId xmlns:a16="http://schemas.microsoft.com/office/drawing/2014/main" id="{8F3EBCAE-090C-402A-8B2C-C9D41D549440}"/>
              </a:ext>
            </a:extLst>
          </p:cNvPr>
          <p:cNvSpPr/>
          <p:nvPr/>
        </p:nvSpPr>
        <p:spPr>
          <a:xfrm>
            <a:off x="3476403" y="2616596"/>
            <a:ext cx="689612" cy="3231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750" dirty="0">
                <a:solidFill>
                  <a:srgbClr val="009900"/>
                </a:solidFill>
                <a:latin typeface="+mn-lt"/>
                <a:cs typeface="Arial" panose="020B0604020202020204" pitchFamily="34" charset="0"/>
              </a:rPr>
              <a:t>X-Band</a:t>
            </a:r>
          </a:p>
          <a:p>
            <a:pPr algn="ctr"/>
            <a:r>
              <a:rPr lang="en-US" altLang="ko-KR" sz="750" dirty="0">
                <a:solidFill>
                  <a:srgbClr val="009900"/>
                </a:solidFill>
                <a:latin typeface="+mn-lt"/>
                <a:cs typeface="Arial" panose="020B0604020202020204" pitchFamily="34" charset="0"/>
              </a:rPr>
              <a:t>Rx Chirp #0</a:t>
            </a:r>
            <a:endParaRPr lang="ko-KR" altLang="en-US" sz="750" dirty="0">
              <a:solidFill>
                <a:srgbClr val="009900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635" name="직사각형 634">
            <a:extLst>
              <a:ext uri="{FF2B5EF4-FFF2-40B4-BE49-F238E27FC236}">
                <a16:creationId xmlns:a16="http://schemas.microsoft.com/office/drawing/2014/main" id="{5F5EF645-FA9E-4260-B4EC-4511D22DA667}"/>
              </a:ext>
            </a:extLst>
          </p:cNvPr>
          <p:cNvSpPr/>
          <p:nvPr/>
        </p:nvSpPr>
        <p:spPr>
          <a:xfrm>
            <a:off x="3476403" y="3345557"/>
            <a:ext cx="689612" cy="3231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750" dirty="0">
                <a:solidFill>
                  <a:srgbClr val="009900"/>
                </a:solidFill>
                <a:latin typeface="+mn-lt"/>
                <a:cs typeface="Arial" panose="020B0604020202020204" pitchFamily="34" charset="0"/>
              </a:rPr>
              <a:t>X-Band</a:t>
            </a:r>
          </a:p>
          <a:p>
            <a:pPr algn="ctr"/>
            <a:r>
              <a:rPr lang="en-US" altLang="ko-KR" sz="750" dirty="0">
                <a:solidFill>
                  <a:srgbClr val="009900"/>
                </a:solidFill>
                <a:latin typeface="+mn-lt"/>
                <a:cs typeface="Arial" panose="020B0604020202020204" pitchFamily="34" charset="0"/>
              </a:rPr>
              <a:t>Rx Chirp #1</a:t>
            </a:r>
            <a:endParaRPr lang="ko-KR" altLang="en-US" sz="750" dirty="0">
              <a:solidFill>
                <a:srgbClr val="009900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636" name="직사각형 635">
            <a:extLst>
              <a:ext uri="{FF2B5EF4-FFF2-40B4-BE49-F238E27FC236}">
                <a16:creationId xmlns:a16="http://schemas.microsoft.com/office/drawing/2014/main" id="{CCF2D89B-CBE6-403F-B168-34D4391AEAE2}"/>
              </a:ext>
            </a:extLst>
          </p:cNvPr>
          <p:cNvSpPr/>
          <p:nvPr/>
        </p:nvSpPr>
        <p:spPr>
          <a:xfrm>
            <a:off x="3476403" y="4092867"/>
            <a:ext cx="689612" cy="3231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750" dirty="0">
                <a:solidFill>
                  <a:srgbClr val="009900"/>
                </a:solidFill>
                <a:latin typeface="+mn-lt"/>
                <a:cs typeface="Arial" panose="020B0604020202020204" pitchFamily="34" charset="0"/>
              </a:rPr>
              <a:t>X-Band</a:t>
            </a:r>
          </a:p>
          <a:p>
            <a:pPr algn="ctr"/>
            <a:r>
              <a:rPr lang="en-US" altLang="ko-KR" sz="750" dirty="0">
                <a:solidFill>
                  <a:srgbClr val="009900"/>
                </a:solidFill>
                <a:latin typeface="+mn-lt"/>
                <a:cs typeface="Arial" panose="020B0604020202020204" pitchFamily="34" charset="0"/>
              </a:rPr>
              <a:t>Rx Chirp #2</a:t>
            </a:r>
            <a:endParaRPr lang="ko-KR" altLang="en-US" sz="750" dirty="0">
              <a:solidFill>
                <a:srgbClr val="009900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637" name="직사각형 636">
            <a:extLst>
              <a:ext uri="{FF2B5EF4-FFF2-40B4-BE49-F238E27FC236}">
                <a16:creationId xmlns:a16="http://schemas.microsoft.com/office/drawing/2014/main" id="{C8657D16-D8B6-4A73-9F65-75665D8F9662}"/>
              </a:ext>
            </a:extLst>
          </p:cNvPr>
          <p:cNvSpPr/>
          <p:nvPr/>
        </p:nvSpPr>
        <p:spPr>
          <a:xfrm>
            <a:off x="3476403" y="4839866"/>
            <a:ext cx="689612" cy="3231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750" dirty="0">
                <a:solidFill>
                  <a:srgbClr val="009900"/>
                </a:solidFill>
                <a:latin typeface="+mn-lt"/>
                <a:cs typeface="Arial" panose="020B0604020202020204" pitchFamily="34" charset="0"/>
              </a:rPr>
              <a:t>X-Band</a:t>
            </a:r>
          </a:p>
          <a:p>
            <a:pPr algn="ctr"/>
            <a:r>
              <a:rPr lang="en-US" altLang="ko-KR" sz="750" dirty="0">
                <a:solidFill>
                  <a:srgbClr val="009900"/>
                </a:solidFill>
                <a:latin typeface="+mn-lt"/>
                <a:cs typeface="Arial" panose="020B0604020202020204" pitchFamily="34" charset="0"/>
              </a:rPr>
              <a:t>Rx Chirp #3</a:t>
            </a:r>
            <a:endParaRPr lang="ko-KR" altLang="en-US" sz="750" dirty="0">
              <a:solidFill>
                <a:srgbClr val="009900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638" name="직사각형 637">
            <a:extLst>
              <a:ext uri="{FF2B5EF4-FFF2-40B4-BE49-F238E27FC236}">
                <a16:creationId xmlns:a16="http://schemas.microsoft.com/office/drawing/2014/main" id="{B08A1C47-D8C3-42D8-AD11-063F6A76123A}"/>
              </a:ext>
            </a:extLst>
          </p:cNvPr>
          <p:cNvSpPr/>
          <p:nvPr/>
        </p:nvSpPr>
        <p:spPr>
          <a:xfrm>
            <a:off x="3476403" y="5620621"/>
            <a:ext cx="689612" cy="3231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750" dirty="0">
                <a:solidFill>
                  <a:srgbClr val="009900"/>
                </a:solidFill>
                <a:latin typeface="+mn-lt"/>
                <a:cs typeface="Arial" panose="020B0604020202020204" pitchFamily="34" charset="0"/>
              </a:rPr>
              <a:t>X-Band</a:t>
            </a:r>
          </a:p>
          <a:p>
            <a:pPr algn="ctr"/>
            <a:r>
              <a:rPr lang="en-US" altLang="ko-KR" sz="750" dirty="0">
                <a:solidFill>
                  <a:srgbClr val="009900"/>
                </a:solidFill>
                <a:latin typeface="+mn-lt"/>
                <a:cs typeface="Arial" panose="020B0604020202020204" pitchFamily="34" charset="0"/>
              </a:rPr>
              <a:t>Rx Chirp #4</a:t>
            </a:r>
            <a:endParaRPr lang="ko-KR" altLang="en-US" sz="750" dirty="0">
              <a:solidFill>
                <a:srgbClr val="009900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639" name="직사각형 638">
            <a:extLst>
              <a:ext uri="{FF2B5EF4-FFF2-40B4-BE49-F238E27FC236}">
                <a16:creationId xmlns:a16="http://schemas.microsoft.com/office/drawing/2014/main" id="{2B3511F6-4C30-402E-9AA8-4778CCA34B6B}"/>
              </a:ext>
            </a:extLst>
          </p:cNvPr>
          <p:cNvSpPr/>
          <p:nvPr/>
        </p:nvSpPr>
        <p:spPr>
          <a:xfrm>
            <a:off x="6005610" y="2176653"/>
            <a:ext cx="824265" cy="3231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750" dirty="0">
                <a:solidFill>
                  <a:srgbClr val="009900"/>
                </a:solidFill>
                <a:latin typeface="+mn-lt"/>
                <a:cs typeface="Arial" panose="020B0604020202020204" pitchFamily="34" charset="0"/>
              </a:rPr>
              <a:t>X-Band</a:t>
            </a:r>
          </a:p>
          <a:p>
            <a:pPr algn="ctr"/>
            <a:r>
              <a:rPr lang="en-US" altLang="ko-KR" sz="750" dirty="0">
                <a:solidFill>
                  <a:srgbClr val="009900"/>
                </a:solidFill>
                <a:latin typeface="+mn-lt"/>
                <a:cs typeface="Arial" panose="020B0604020202020204" pitchFamily="34" charset="0"/>
              </a:rPr>
              <a:t>Tx/Rx Chirp #0</a:t>
            </a:r>
            <a:endParaRPr lang="ko-KR" altLang="en-US" sz="750" dirty="0">
              <a:solidFill>
                <a:srgbClr val="009900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640" name="직사각형 639">
            <a:extLst>
              <a:ext uri="{FF2B5EF4-FFF2-40B4-BE49-F238E27FC236}">
                <a16:creationId xmlns:a16="http://schemas.microsoft.com/office/drawing/2014/main" id="{68A2750D-B134-448B-A4AD-3113F76A339C}"/>
              </a:ext>
            </a:extLst>
          </p:cNvPr>
          <p:cNvSpPr/>
          <p:nvPr/>
        </p:nvSpPr>
        <p:spPr>
          <a:xfrm>
            <a:off x="6005611" y="2905614"/>
            <a:ext cx="824265" cy="3231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750" dirty="0">
                <a:solidFill>
                  <a:srgbClr val="009900"/>
                </a:solidFill>
                <a:latin typeface="+mn-lt"/>
                <a:cs typeface="Arial" panose="020B0604020202020204" pitchFamily="34" charset="0"/>
              </a:rPr>
              <a:t>X-Band</a:t>
            </a:r>
          </a:p>
          <a:p>
            <a:pPr algn="ctr"/>
            <a:r>
              <a:rPr lang="en-US" altLang="ko-KR" sz="750" dirty="0">
                <a:solidFill>
                  <a:srgbClr val="009900"/>
                </a:solidFill>
                <a:latin typeface="+mn-lt"/>
                <a:cs typeface="Arial" panose="020B0604020202020204" pitchFamily="34" charset="0"/>
              </a:rPr>
              <a:t>Tx/Rx Chirp #1</a:t>
            </a:r>
            <a:endParaRPr lang="ko-KR" altLang="en-US" sz="750" dirty="0">
              <a:solidFill>
                <a:srgbClr val="009900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641" name="직사각형 640">
            <a:extLst>
              <a:ext uri="{FF2B5EF4-FFF2-40B4-BE49-F238E27FC236}">
                <a16:creationId xmlns:a16="http://schemas.microsoft.com/office/drawing/2014/main" id="{6A4BBCE5-A8BB-4E2E-9713-7AC444EDF947}"/>
              </a:ext>
            </a:extLst>
          </p:cNvPr>
          <p:cNvSpPr/>
          <p:nvPr/>
        </p:nvSpPr>
        <p:spPr>
          <a:xfrm>
            <a:off x="6005611" y="3652924"/>
            <a:ext cx="824265" cy="3231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750" dirty="0">
                <a:solidFill>
                  <a:srgbClr val="009900"/>
                </a:solidFill>
                <a:latin typeface="+mn-lt"/>
                <a:cs typeface="Arial" panose="020B0604020202020204" pitchFamily="34" charset="0"/>
              </a:rPr>
              <a:t>X-Band</a:t>
            </a:r>
          </a:p>
          <a:p>
            <a:pPr algn="ctr"/>
            <a:r>
              <a:rPr lang="en-US" altLang="ko-KR" sz="750" dirty="0">
                <a:solidFill>
                  <a:srgbClr val="009900"/>
                </a:solidFill>
                <a:latin typeface="+mn-lt"/>
                <a:cs typeface="Arial" panose="020B0604020202020204" pitchFamily="34" charset="0"/>
              </a:rPr>
              <a:t>Tx/Rx Chirp #2</a:t>
            </a:r>
            <a:endParaRPr lang="ko-KR" altLang="en-US" sz="750" dirty="0">
              <a:solidFill>
                <a:srgbClr val="009900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642" name="직사각형 641">
            <a:extLst>
              <a:ext uri="{FF2B5EF4-FFF2-40B4-BE49-F238E27FC236}">
                <a16:creationId xmlns:a16="http://schemas.microsoft.com/office/drawing/2014/main" id="{6CE00131-0E2B-42C9-9C27-C504B263DB98}"/>
              </a:ext>
            </a:extLst>
          </p:cNvPr>
          <p:cNvSpPr/>
          <p:nvPr/>
        </p:nvSpPr>
        <p:spPr>
          <a:xfrm>
            <a:off x="6005611" y="4399923"/>
            <a:ext cx="824265" cy="3231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750" dirty="0">
                <a:solidFill>
                  <a:srgbClr val="009900"/>
                </a:solidFill>
                <a:latin typeface="+mn-lt"/>
                <a:cs typeface="Arial" panose="020B0604020202020204" pitchFamily="34" charset="0"/>
              </a:rPr>
              <a:t>X-Band</a:t>
            </a:r>
          </a:p>
          <a:p>
            <a:pPr algn="ctr"/>
            <a:r>
              <a:rPr lang="en-US" altLang="ko-KR" sz="750" dirty="0">
                <a:solidFill>
                  <a:srgbClr val="009900"/>
                </a:solidFill>
                <a:latin typeface="+mn-lt"/>
                <a:cs typeface="Arial" panose="020B0604020202020204" pitchFamily="34" charset="0"/>
              </a:rPr>
              <a:t>Tx/Rx Chirp #3</a:t>
            </a:r>
            <a:endParaRPr lang="ko-KR" altLang="en-US" sz="750" dirty="0">
              <a:solidFill>
                <a:srgbClr val="009900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643" name="직사각형 642">
            <a:extLst>
              <a:ext uri="{FF2B5EF4-FFF2-40B4-BE49-F238E27FC236}">
                <a16:creationId xmlns:a16="http://schemas.microsoft.com/office/drawing/2014/main" id="{5A64A73F-EA6B-4B3C-A9B1-5E192D4A46AA}"/>
              </a:ext>
            </a:extLst>
          </p:cNvPr>
          <p:cNvSpPr/>
          <p:nvPr/>
        </p:nvSpPr>
        <p:spPr>
          <a:xfrm>
            <a:off x="6005611" y="5180678"/>
            <a:ext cx="824265" cy="3231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750" dirty="0">
                <a:solidFill>
                  <a:srgbClr val="009900"/>
                </a:solidFill>
                <a:latin typeface="+mn-lt"/>
                <a:cs typeface="Arial" panose="020B0604020202020204" pitchFamily="34" charset="0"/>
              </a:rPr>
              <a:t>X-Band</a:t>
            </a:r>
          </a:p>
          <a:p>
            <a:pPr algn="ctr"/>
            <a:r>
              <a:rPr lang="en-US" altLang="ko-KR" sz="750" dirty="0">
                <a:solidFill>
                  <a:srgbClr val="009900"/>
                </a:solidFill>
                <a:latin typeface="+mn-lt"/>
                <a:cs typeface="Arial" panose="020B0604020202020204" pitchFamily="34" charset="0"/>
              </a:rPr>
              <a:t>Tx/Rx Chirp #4</a:t>
            </a:r>
            <a:endParaRPr lang="ko-KR" altLang="en-US" sz="750" dirty="0">
              <a:solidFill>
                <a:srgbClr val="009900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644" name="직사각형 643">
            <a:extLst>
              <a:ext uri="{FF2B5EF4-FFF2-40B4-BE49-F238E27FC236}">
                <a16:creationId xmlns:a16="http://schemas.microsoft.com/office/drawing/2014/main" id="{AE615548-7874-408D-85BF-097FEBF63BF7}"/>
              </a:ext>
            </a:extLst>
          </p:cNvPr>
          <p:cNvSpPr/>
          <p:nvPr/>
        </p:nvSpPr>
        <p:spPr>
          <a:xfrm>
            <a:off x="2132062" y="3990948"/>
            <a:ext cx="572594" cy="3231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750" dirty="0">
                <a:solidFill>
                  <a:srgbClr val="009900"/>
                </a:solidFill>
                <a:latin typeface="+mn-lt"/>
                <a:cs typeface="Arial" panose="020B0604020202020204" pitchFamily="34" charset="0"/>
              </a:rPr>
              <a:t>Rx</a:t>
            </a:r>
          </a:p>
          <a:p>
            <a:pPr algn="ctr"/>
            <a:r>
              <a:rPr lang="en-US" altLang="ko-KR" sz="750" dirty="0">
                <a:solidFill>
                  <a:srgbClr val="009900"/>
                </a:solidFill>
                <a:latin typeface="+mn-lt"/>
                <a:cs typeface="Arial" panose="020B0604020202020204" pitchFamily="34" charset="0"/>
              </a:rPr>
              <a:t>Common</a:t>
            </a:r>
            <a:endParaRPr lang="ko-KR" altLang="en-US" sz="750" dirty="0">
              <a:solidFill>
                <a:srgbClr val="009900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645" name="직사각형 644">
            <a:extLst>
              <a:ext uri="{FF2B5EF4-FFF2-40B4-BE49-F238E27FC236}">
                <a16:creationId xmlns:a16="http://schemas.microsoft.com/office/drawing/2014/main" id="{72E16D14-593E-4F93-A131-B9BF6B391E38}"/>
              </a:ext>
            </a:extLst>
          </p:cNvPr>
          <p:cNvSpPr/>
          <p:nvPr/>
        </p:nvSpPr>
        <p:spPr>
          <a:xfrm>
            <a:off x="2413885" y="1943211"/>
            <a:ext cx="572594" cy="3231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750">
                <a:solidFill>
                  <a:srgbClr val="009900"/>
                </a:solidFill>
                <a:latin typeface="+mn-lt"/>
                <a:cs typeface="Arial" panose="020B0604020202020204" pitchFamily="34" charset="0"/>
              </a:rPr>
              <a:t>Tx</a:t>
            </a:r>
            <a:endParaRPr lang="en-US" altLang="ko-KR" sz="750" dirty="0">
              <a:solidFill>
                <a:srgbClr val="009900"/>
              </a:solidFill>
              <a:latin typeface="+mn-lt"/>
              <a:cs typeface="Arial" panose="020B0604020202020204" pitchFamily="34" charset="0"/>
            </a:endParaRPr>
          </a:p>
          <a:p>
            <a:pPr algn="ctr"/>
            <a:r>
              <a:rPr lang="en-US" altLang="ko-KR" sz="750" dirty="0">
                <a:solidFill>
                  <a:srgbClr val="009900"/>
                </a:solidFill>
                <a:latin typeface="+mn-lt"/>
                <a:cs typeface="Arial" panose="020B0604020202020204" pitchFamily="34" charset="0"/>
              </a:rPr>
              <a:t>Common</a:t>
            </a:r>
            <a:endParaRPr lang="ko-KR" altLang="en-US" sz="750" dirty="0">
              <a:solidFill>
                <a:srgbClr val="009900"/>
              </a:solidFill>
              <a:latin typeface="+mn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025671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직사각형 581">
            <a:extLst>
              <a:ext uri="{FF2B5EF4-FFF2-40B4-BE49-F238E27FC236}">
                <a16:creationId xmlns:a16="http://schemas.microsoft.com/office/drawing/2014/main" id="{38DFCB68-C843-4224-A31B-1C03ED0F40D1}"/>
              </a:ext>
            </a:extLst>
          </p:cNvPr>
          <p:cNvSpPr/>
          <p:nvPr/>
        </p:nvSpPr>
        <p:spPr bwMode="auto">
          <a:xfrm>
            <a:off x="2186812" y="4091941"/>
            <a:ext cx="181426" cy="1215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flat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algn="ctr" defTabSz="685835" fontAlgn="base">
              <a:spcBef>
                <a:spcPct val="0"/>
              </a:spcBef>
              <a:spcAft>
                <a:spcPct val="0"/>
              </a:spcAft>
            </a:pPr>
            <a:endParaRPr lang="en-US" altLang="ko-KR" sz="1200" dirty="0">
              <a:latin typeface="+mn-lt"/>
            </a:endParaRPr>
          </a:p>
        </p:txBody>
      </p:sp>
      <p:sp>
        <p:nvSpPr>
          <p:cNvPr id="583" name="직사각형 582">
            <a:extLst>
              <a:ext uri="{FF2B5EF4-FFF2-40B4-BE49-F238E27FC236}">
                <a16:creationId xmlns:a16="http://schemas.microsoft.com/office/drawing/2014/main" id="{9C895C6D-4968-475B-B7C4-E5737E941253}"/>
              </a:ext>
            </a:extLst>
          </p:cNvPr>
          <p:cNvSpPr/>
          <p:nvPr/>
        </p:nvSpPr>
        <p:spPr bwMode="auto">
          <a:xfrm>
            <a:off x="2454818" y="2054439"/>
            <a:ext cx="181426" cy="1215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flat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algn="ctr" defTabSz="685835" fontAlgn="base">
              <a:spcBef>
                <a:spcPct val="0"/>
              </a:spcBef>
              <a:spcAft>
                <a:spcPct val="0"/>
              </a:spcAft>
            </a:pPr>
            <a:endParaRPr lang="en-US" altLang="ko-KR" sz="1200" dirty="0">
              <a:latin typeface="+mn-lt"/>
            </a:endParaRPr>
          </a:p>
        </p:txBody>
      </p:sp>
      <p:sp>
        <p:nvSpPr>
          <p:cNvPr id="540" name="직사각형 539">
            <a:extLst>
              <a:ext uri="{FF2B5EF4-FFF2-40B4-BE49-F238E27FC236}">
                <a16:creationId xmlns:a16="http://schemas.microsoft.com/office/drawing/2014/main" id="{5254E1DA-47ED-48F4-A25D-06DDE7E898F7}"/>
              </a:ext>
            </a:extLst>
          </p:cNvPr>
          <p:cNvSpPr/>
          <p:nvPr/>
        </p:nvSpPr>
        <p:spPr bwMode="auto">
          <a:xfrm>
            <a:off x="5227787" y="3173632"/>
            <a:ext cx="181426" cy="1215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flat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algn="ctr" defTabSz="685835" fontAlgn="base">
              <a:spcBef>
                <a:spcPct val="0"/>
              </a:spcBef>
              <a:spcAft>
                <a:spcPct val="0"/>
              </a:spcAft>
            </a:pPr>
            <a:endParaRPr lang="en-US" altLang="ko-KR" sz="1200" dirty="0">
              <a:latin typeface="+mn-lt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5D263454-BA6F-429F-B0C1-0DDEEC6F1E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Payload Architecture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AA9F1EE-D202-4CD7-8AAE-E32CFB5587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SAR Payload </a:t>
            </a:r>
            <a:r>
              <a:rPr lang="ko-KR" altLang="en-US" dirty="0"/>
              <a:t>구성 </a:t>
            </a:r>
            <a:r>
              <a:rPr lang="en-US" altLang="ko-KR" dirty="0"/>
              <a:t>– XDAA </a:t>
            </a:r>
            <a:r>
              <a:rPr lang="ko-KR" altLang="en-US" dirty="0"/>
              <a:t>상세</a:t>
            </a:r>
            <a:endParaRPr lang="en-US" altLang="ko-KR" dirty="0"/>
          </a:p>
          <a:p>
            <a:endParaRPr lang="en-US" altLang="ko-KR" dirty="0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0162FAA8-C477-484F-A878-FE57258A640F}"/>
              </a:ext>
            </a:extLst>
          </p:cNvPr>
          <p:cNvSpPr/>
          <p:nvPr/>
        </p:nvSpPr>
        <p:spPr bwMode="auto">
          <a:xfrm>
            <a:off x="143447" y="3506547"/>
            <a:ext cx="1203544" cy="2230019"/>
          </a:xfrm>
          <a:prstGeom prst="rect">
            <a:avLst/>
          </a:prstGeom>
          <a:solidFill>
            <a:schemeClr val="bg1">
              <a:lumMod val="85000"/>
            </a:schemeClr>
          </a:solidFill>
          <a:ln w="6350" cap="flat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algn="ctr" defTabSz="685835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500" dirty="0">
                <a:latin typeface="+mn-lt"/>
                <a:ea typeface="굴림" panose="020B0600000101010101" pitchFamily="50" charset="-127"/>
              </a:rPr>
              <a:t>SCEU</a:t>
            </a:r>
          </a:p>
          <a:p>
            <a:pPr algn="ctr" defTabSz="685835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050" dirty="0">
                <a:latin typeface="+mn-lt"/>
                <a:ea typeface="굴림" panose="020B0600000101010101" pitchFamily="50" charset="-127"/>
              </a:rPr>
              <a:t>(SAR Control</a:t>
            </a:r>
          </a:p>
          <a:p>
            <a:pPr algn="ctr" defTabSz="685835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050" dirty="0">
                <a:latin typeface="+mn-lt"/>
                <a:ea typeface="굴림" panose="020B0600000101010101" pitchFamily="50" charset="-127"/>
              </a:rPr>
              <a:t>Electronic Unit)</a:t>
            </a:r>
          </a:p>
        </p:txBody>
      </p:sp>
      <p:sp>
        <p:nvSpPr>
          <p:cNvPr id="86" name="직사각형 85">
            <a:extLst>
              <a:ext uri="{FF2B5EF4-FFF2-40B4-BE49-F238E27FC236}">
                <a16:creationId xmlns:a16="http://schemas.microsoft.com/office/drawing/2014/main" id="{7DC88CB8-AF9C-48FF-B3C7-852B3180F7F9}"/>
              </a:ext>
            </a:extLst>
          </p:cNvPr>
          <p:cNvSpPr/>
          <p:nvPr/>
        </p:nvSpPr>
        <p:spPr bwMode="auto">
          <a:xfrm>
            <a:off x="1170139" y="2186254"/>
            <a:ext cx="181426" cy="1215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flat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algn="ctr" defTabSz="685835" fontAlgn="base">
              <a:spcBef>
                <a:spcPct val="0"/>
              </a:spcBef>
              <a:spcAft>
                <a:spcPct val="0"/>
              </a:spcAft>
            </a:pPr>
            <a:endParaRPr lang="en-US" altLang="ko-KR" sz="1200" dirty="0">
              <a:latin typeface="+mn-lt"/>
            </a:endParaRPr>
          </a:p>
        </p:txBody>
      </p:sp>
      <p:sp>
        <p:nvSpPr>
          <p:cNvPr id="87" name="직사각형 86">
            <a:extLst>
              <a:ext uri="{FF2B5EF4-FFF2-40B4-BE49-F238E27FC236}">
                <a16:creationId xmlns:a16="http://schemas.microsoft.com/office/drawing/2014/main" id="{B323AB0C-FE14-45C0-8BC3-BB4776DB9620}"/>
              </a:ext>
            </a:extLst>
          </p:cNvPr>
          <p:cNvSpPr/>
          <p:nvPr/>
        </p:nvSpPr>
        <p:spPr bwMode="auto">
          <a:xfrm>
            <a:off x="1170139" y="2064892"/>
            <a:ext cx="181426" cy="1215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flat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algn="ctr" defTabSz="685835" fontAlgn="base">
              <a:spcBef>
                <a:spcPct val="0"/>
              </a:spcBef>
              <a:spcAft>
                <a:spcPct val="0"/>
              </a:spcAft>
            </a:pPr>
            <a:endParaRPr lang="en-US" altLang="ko-KR" sz="1200" dirty="0">
              <a:latin typeface="+mn-lt"/>
            </a:endParaRPr>
          </a:p>
        </p:txBody>
      </p:sp>
      <p:sp>
        <p:nvSpPr>
          <p:cNvPr id="88" name="직사각형 87">
            <a:extLst>
              <a:ext uri="{FF2B5EF4-FFF2-40B4-BE49-F238E27FC236}">
                <a16:creationId xmlns:a16="http://schemas.microsoft.com/office/drawing/2014/main" id="{60CCE4D9-D77E-4769-AE4E-E122E5475ABF}"/>
              </a:ext>
            </a:extLst>
          </p:cNvPr>
          <p:cNvSpPr/>
          <p:nvPr/>
        </p:nvSpPr>
        <p:spPr bwMode="auto">
          <a:xfrm>
            <a:off x="1170139" y="1943392"/>
            <a:ext cx="181426" cy="1215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flat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algn="ctr" defTabSz="685835" fontAlgn="base">
              <a:spcBef>
                <a:spcPct val="0"/>
              </a:spcBef>
              <a:spcAft>
                <a:spcPct val="0"/>
              </a:spcAft>
            </a:pPr>
            <a:endParaRPr lang="en-US" altLang="ko-KR" sz="1200" dirty="0">
              <a:latin typeface="+mn-lt"/>
            </a:endParaRPr>
          </a:p>
        </p:txBody>
      </p:sp>
      <p:sp>
        <p:nvSpPr>
          <p:cNvPr id="89" name="직사각형 88">
            <a:extLst>
              <a:ext uri="{FF2B5EF4-FFF2-40B4-BE49-F238E27FC236}">
                <a16:creationId xmlns:a16="http://schemas.microsoft.com/office/drawing/2014/main" id="{2C8E32CE-D939-4AB9-9848-4ECA160A54C3}"/>
              </a:ext>
            </a:extLst>
          </p:cNvPr>
          <p:cNvSpPr/>
          <p:nvPr/>
        </p:nvSpPr>
        <p:spPr bwMode="auto">
          <a:xfrm>
            <a:off x="1170139" y="1822029"/>
            <a:ext cx="181426" cy="1215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flat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algn="ctr" defTabSz="685835" fontAlgn="base">
              <a:spcBef>
                <a:spcPct val="0"/>
              </a:spcBef>
              <a:spcAft>
                <a:spcPct val="0"/>
              </a:spcAft>
            </a:pPr>
            <a:endParaRPr lang="en-US" altLang="ko-KR" sz="1200" dirty="0">
              <a:latin typeface="+mn-lt"/>
            </a:endParaRPr>
          </a:p>
        </p:txBody>
      </p:sp>
      <p:sp>
        <p:nvSpPr>
          <p:cNvPr id="90" name="직사각형 89">
            <a:extLst>
              <a:ext uri="{FF2B5EF4-FFF2-40B4-BE49-F238E27FC236}">
                <a16:creationId xmlns:a16="http://schemas.microsoft.com/office/drawing/2014/main" id="{3437B525-B21F-4255-B062-F116693746FA}"/>
              </a:ext>
            </a:extLst>
          </p:cNvPr>
          <p:cNvSpPr/>
          <p:nvPr/>
        </p:nvSpPr>
        <p:spPr bwMode="auto">
          <a:xfrm>
            <a:off x="1981000" y="1651361"/>
            <a:ext cx="6868754" cy="3995059"/>
          </a:xfrm>
          <a:prstGeom prst="rect">
            <a:avLst/>
          </a:prstGeom>
          <a:solidFill>
            <a:schemeClr val="bg1">
              <a:lumMod val="85000"/>
            </a:schemeClr>
          </a:solidFill>
          <a:ln w="6350" cap="flat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algn="ctr" defTabSz="685835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500" dirty="0">
                <a:latin typeface="+mn-lt"/>
                <a:ea typeface="굴림" panose="020B0600000101010101" pitchFamily="50" charset="-127"/>
              </a:rPr>
              <a:t>XDAA (X-Band Downlink  Antenna Assembly)</a:t>
            </a:r>
          </a:p>
        </p:txBody>
      </p:sp>
      <p:sp>
        <p:nvSpPr>
          <p:cNvPr id="91" name="직사각형 90">
            <a:extLst>
              <a:ext uri="{FF2B5EF4-FFF2-40B4-BE49-F238E27FC236}">
                <a16:creationId xmlns:a16="http://schemas.microsoft.com/office/drawing/2014/main" id="{D6787901-A6D0-4B37-9EE3-EAF9C1DFCFC9}"/>
              </a:ext>
            </a:extLst>
          </p:cNvPr>
          <p:cNvSpPr/>
          <p:nvPr/>
        </p:nvSpPr>
        <p:spPr bwMode="auto">
          <a:xfrm>
            <a:off x="143447" y="1651360"/>
            <a:ext cx="1211107" cy="1318955"/>
          </a:xfrm>
          <a:prstGeom prst="rect">
            <a:avLst/>
          </a:prstGeom>
          <a:solidFill>
            <a:schemeClr val="bg1">
              <a:lumMod val="50000"/>
            </a:schemeClr>
          </a:solidFill>
          <a:ln w="6350" cap="flat" cmpd="sng" algn="ctr">
            <a:solidFill>
              <a:schemeClr val="tx1"/>
            </a:solidFill>
            <a:prstDash val="dash"/>
            <a:round/>
            <a:headEnd type="none" w="sm" len="sm"/>
            <a:tailEnd type="none" w="sm" len="sm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algn="ctr" defTabSz="685835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500" dirty="0">
                <a:latin typeface="+mn-lt"/>
                <a:ea typeface="굴림" panose="020B0600000101010101" pitchFamily="50" charset="-127"/>
              </a:rPr>
              <a:t>Bus</a:t>
            </a:r>
          </a:p>
        </p:txBody>
      </p:sp>
      <p:sp>
        <p:nvSpPr>
          <p:cNvPr id="98" name="직사각형 97">
            <a:extLst>
              <a:ext uri="{FF2B5EF4-FFF2-40B4-BE49-F238E27FC236}">
                <a16:creationId xmlns:a16="http://schemas.microsoft.com/office/drawing/2014/main" id="{B582B3D5-02A3-4346-B518-7F43BE69E252}"/>
              </a:ext>
            </a:extLst>
          </p:cNvPr>
          <p:cNvSpPr/>
          <p:nvPr/>
        </p:nvSpPr>
        <p:spPr bwMode="auto">
          <a:xfrm>
            <a:off x="6994252" y="2231511"/>
            <a:ext cx="1692000" cy="108000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algn="ctr" defTabSz="685835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200" dirty="0">
                <a:latin typeface="+mn-lt"/>
                <a:ea typeface="굴림" panose="020B0600000101010101" pitchFamily="50" charset="-127"/>
              </a:rPr>
              <a:t>XDA</a:t>
            </a:r>
          </a:p>
          <a:p>
            <a:pPr algn="ctr" defTabSz="685835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050" dirty="0">
                <a:latin typeface="+mn-lt"/>
                <a:ea typeface="굴림" panose="020B0600000101010101" pitchFamily="50" charset="-127"/>
              </a:rPr>
              <a:t>(X-Band Downlink Antenna)</a:t>
            </a:r>
          </a:p>
        </p:txBody>
      </p:sp>
      <p:sp>
        <p:nvSpPr>
          <p:cNvPr id="136" name="직사각형 135">
            <a:extLst>
              <a:ext uri="{FF2B5EF4-FFF2-40B4-BE49-F238E27FC236}">
                <a16:creationId xmlns:a16="http://schemas.microsoft.com/office/drawing/2014/main" id="{4A6E4DA2-7A9C-4CD2-A991-8B700150D272}"/>
              </a:ext>
            </a:extLst>
          </p:cNvPr>
          <p:cNvSpPr/>
          <p:nvPr/>
        </p:nvSpPr>
        <p:spPr>
          <a:xfrm>
            <a:off x="904098" y="2435401"/>
            <a:ext cx="437941" cy="20774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altLang="ko-KR" sz="750" dirty="0">
                <a:solidFill>
                  <a:srgbClr val="FF0000"/>
                </a:solidFill>
                <a:latin typeface="+mn-lt"/>
                <a:cs typeface="Arial" panose="020B0604020202020204" pitchFamily="34" charset="0"/>
              </a:rPr>
              <a:t>+28 V</a:t>
            </a:r>
            <a:endParaRPr lang="ko-KR" altLang="en-US" sz="750" dirty="0">
              <a:solidFill>
                <a:srgbClr val="FF0000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197" name="직사각형 196">
            <a:extLst>
              <a:ext uri="{FF2B5EF4-FFF2-40B4-BE49-F238E27FC236}">
                <a16:creationId xmlns:a16="http://schemas.microsoft.com/office/drawing/2014/main" id="{615C1486-2686-4ECE-BD20-9E5E11085F80}"/>
              </a:ext>
            </a:extLst>
          </p:cNvPr>
          <p:cNvSpPr/>
          <p:nvPr/>
        </p:nvSpPr>
        <p:spPr>
          <a:xfrm>
            <a:off x="240598" y="4832316"/>
            <a:ext cx="1106393" cy="20774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750" dirty="0">
                <a:solidFill>
                  <a:srgbClr val="009900"/>
                </a:solidFill>
                <a:latin typeface="+mn-lt"/>
                <a:cs typeface="Arial" panose="020B0604020202020204" pitchFamily="34" charset="0"/>
              </a:rPr>
              <a:t>IF-Band Mission Data</a:t>
            </a:r>
            <a:endParaRPr lang="ko-KR" altLang="en-US" sz="750" dirty="0">
              <a:solidFill>
                <a:srgbClr val="009900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218" name="직사각형 217">
            <a:extLst>
              <a:ext uri="{FF2B5EF4-FFF2-40B4-BE49-F238E27FC236}">
                <a16:creationId xmlns:a16="http://schemas.microsoft.com/office/drawing/2014/main" id="{00AE1BF9-D4BA-480D-92D2-B60CC0B907BD}"/>
              </a:ext>
            </a:extLst>
          </p:cNvPr>
          <p:cNvSpPr/>
          <p:nvPr/>
        </p:nvSpPr>
        <p:spPr>
          <a:xfrm>
            <a:off x="556390" y="4972642"/>
            <a:ext cx="790601" cy="20774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altLang="ko-KR" sz="750" dirty="0">
                <a:solidFill>
                  <a:srgbClr val="0070C0"/>
                </a:solidFill>
                <a:latin typeface="+mn-lt"/>
                <a:cs typeface="Arial" panose="020B0604020202020204" pitchFamily="34" charset="0"/>
              </a:rPr>
              <a:t>Power Control</a:t>
            </a:r>
          </a:p>
        </p:txBody>
      </p:sp>
      <p:cxnSp>
        <p:nvCxnSpPr>
          <p:cNvPr id="230" name="꺾인 연결선 34">
            <a:extLst>
              <a:ext uri="{FF2B5EF4-FFF2-40B4-BE49-F238E27FC236}">
                <a16:creationId xmlns:a16="http://schemas.microsoft.com/office/drawing/2014/main" id="{B320E5C0-D37B-4037-96FD-B79705F82E28}"/>
              </a:ext>
            </a:extLst>
          </p:cNvPr>
          <p:cNvCxnSpPr>
            <a:cxnSpLocks/>
            <a:stCxn id="593" idx="2"/>
            <a:endCxn id="174" idx="2"/>
          </p:cNvCxnSpPr>
          <p:nvPr/>
        </p:nvCxnSpPr>
        <p:spPr>
          <a:xfrm rot="16200000" flipH="1">
            <a:off x="2347581" y="4357385"/>
            <a:ext cx="229800" cy="1468705"/>
          </a:xfrm>
          <a:prstGeom prst="bentConnector3">
            <a:avLst>
              <a:gd name="adj1" fmla="val 199478"/>
            </a:avLst>
          </a:prstGeom>
          <a:ln w="63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1" name="직사각형 230">
            <a:extLst>
              <a:ext uri="{FF2B5EF4-FFF2-40B4-BE49-F238E27FC236}">
                <a16:creationId xmlns:a16="http://schemas.microsoft.com/office/drawing/2014/main" id="{AE16D086-FC25-4402-B0FB-CA4EC76AF138}"/>
              </a:ext>
            </a:extLst>
          </p:cNvPr>
          <p:cNvSpPr/>
          <p:nvPr/>
        </p:nvSpPr>
        <p:spPr bwMode="auto">
          <a:xfrm>
            <a:off x="7368538" y="6131392"/>
            <a:ext cx="0" cy="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flat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algn="ctr" defTabSz="685835" fontAlgn="base">
              <a:spcBef>
                <a:spcPct val="0"/>
              </a:spcBef>
              <a:spcAft>
                <a:spcPct val="0"/>
              </a:spcAft>
            </a:pPr>
            <a:endParaRPr lang="en-US" altLang="ko-KR" sz="1200" dirty="0">
              <a:latin typeface="+mn-lt"/>
            </a:endParaRPr>
          </a:p>
        </p:txBody>
      </p:sp>
      <p:sp>
        <p:nvSpPr>
          <p:cNvPr id="296" name="직사각형 295">
            <a:extLst>
              <a:ext uri="{FF2B5EF4-FFF2-40B4-BE49-F238E27FC236}">
                <a16:creationId xmlns:a16="http://schemas.microsoft.com/office/drawing/2014/main" id="{CB71343A-BAF4-4EA2-8CD5-28162B6DB28B}"/>
              </a:ext>
            </a:extLst>
          </p:cNvPr>
          <p:cNvSpPr/>
          <p:nvPr/>
        </p:nvSpPr>
        <p:spPr bwMode="auto">
          <a:xfrm>
            <a:off x="2350834" y="2231511"/>
            <a:ext cx="1692000" cy="108000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algn="ctr" defTabSz="685835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200" dirty="0">
                <a:latin typeface="+mn-lt"/>
                <a:ea typeface="굴림" panose="020B0600000101010101" pitchFamily="50" charset="-127"/>
              </a:rPr>
              <a:t>XUC</a:t>
            </a:r>
          </a:p>
          <a:p>
            <a:pPr algn="ctr" defTabSz="685835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900" dirty="0">
                <a:latin typeface="+mn-lt"/>
                <a:ea typeface="굴림" panose="020B0600000101010101" pitchFamily="50" charset="-127"/>
              </a:rPr>
              <a:t>(X-Band Up Converter)</a:t>
            </a:r>
          </a:p>
        </p:txBody>
      </p:sp>
      <p:sp>
        <p:nvSpPr>
          <p:cNvPr id="436" name="직사각형 435">
            <a:extLst>
              <a:ext uri="{FF2B5EF4-FFF2-40B4-BE49-F238E27FC236}">
                <a16:creationId xmlns:a16="http://schemas.microsoft.com/office/drawing/2014/main" id="{D81CE794-07F4-4257-B0B1-0C28EFCD5BBC}"/>
              </a:ext>
            </a:extLst>
          </p:cNvPr>
          <p:cNvSpPr/>
          <p:nvPr/>
        </p:nvSpPr>
        <p:spPr>
          <a:xfrm>
            <a:off x="867372" y="5253295"/>
            <a:ext cx="479619" cy="20774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altLang="ko-KR" sz="750" dirty="0">
                <a:solidFill>
                  <a:srgbClr val="0070C0"/>
                </a:solidFill>
                <a:latin typeface="+mn-lt"/>
                <a:cs typeface="Arial" panose="020B0604020202020204" pitchFamily="34" charset="0"/>
              </a:rPr>
              <a:t>TM/TC</a:t>
            </a:r>
          </a:p>
        </p:txBody>
      </p:sp>
      <p:cxnSp>
        <p:nvCxnSpPr>
          <p:cNvPr id="439" name="꺾인 연결선 34">
            <a:extLst>
              <a:ext uri="{FF2B5EF4-FFF2-40B4-BE49-F238E27FC236}">
                <a16:creationId xmlns:a16="http://schemas.microsoft.com/office/drawing/2014/main" id="{1EBAEEB1-551E-403A-ABA7-AFFE95A3FA23}"/>
              </a:ext>
            </a:extLst>
          </p:cNvPr>
          <p:cNvCxnSpPr>
            <a:cxnSpLocks/>
            <a:stCxn id="218" idx="3"/>
            <a:endCxn id="442" idx="1"/>
          </p:cNvCxnSpPr>
          <p:nvPr/>
        </p:nvCxnSpPr>
        <p:spPr>
          <a:xfrm>
            <a:off x="1346991" y="5076517"/>
            <a:ext cx="2388611" cy="876686"/>
          </a:xfrm>
          <a:prstGeom prst="bentConnector3">
            <a:avLst>
              <a:gd name="adj1" fmla="val 12994"/>
            </a:avLst>
          </a:prstGeom>
          <a:ln w="63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2" name="직사각형 441">
            <a:extLst>
              <a:ext uri="{FF2B5EF4-FFF2-40B4-BE49-F238E27FC236}">
                <a16:creationId xmlns:a16="http://schemas.microsoft.com/office/drawing/2014/main" id="{DA34010B-7571-46FD-8F3C-A19C759FCD7C}"/>
              </a:ext>
            </a:extLst>
          </p:cNvPr>
          <p:cNvSpPr/>
          <p:nvPr/>
        </p:nvSpPr>
        <p:spPr bwMode="auto">
          <a:xfrm>
            <a:off x="3735602" y="5953202"/>
            <a:ext cx="0" cy="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flat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algn="ctr" defTabSz="685835" fontAlgn="base">
              <a:spcBef>
                <a:spcPct val="0"/>
              </a:spcBef>
              <a:spcAft>
                <a:spcPct val="0"/>
              </a:spcAft>
            </a:pPr>
            <a:endParaRPr lang="en-US" altLang="ko-KR" sz="1200" dirty="0">
              <a:latin typeface="+mn-lt"/>
            </a:endParaRPr>
          </a:p>
        </p:txBody>
      </p:sp>
      <p:cxnSp>
        <p:nvCxnSpPr>
          <p:cNvPr id="445" name="꺾인 연결선 34">
            <a:extLst>
              <a:ext uri="{FF2B5EF4-FFF2-40B4-BE49-F238E27FC236}">
                <a16:creationId xmlns:a16="http://schemas.microsoft.com/office/drawing/2014/main" id="{7E65CB9F-0E48-4273-B404-FB74A9AE5B56}"/>
              </a:ext>
            </a:extLst>
          </p:cNvPr>
          <p:cNvCxnSpPr>
            <a:cxnSpLocks/>
            <a:stCxn id="442" idx="3"/>
            <a:endCxn id="210" idx="2"/>
          </p:cNvCxnSpPr>
          <p:nvPr/>
        </p:nvCxnSpPr>
        <p:spPr>
          <a:xfrm flipH="1" flipV="1">
            <a:off x="3224143" y="3311511"/>
            <a:ext cx="511460" cy="2641692"/>
          </a:xfrm>
          <a:prstGeom prst="bentConnector4">
            <a:avLst>
              <a:gd name="adj1" fmla="val -135577"/>
              <a:gd name="adj2" fmla="val 84326"/>
            </a:avLst>
          </a:prstGeom>
          <a:ln w="63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8" name="직사각형 457">
            <a:extLst>
              <a:ext uri="{FF2B5EF4-FFF2-40B4-BE49-F238E27FC236}">
                <a16:creationId xmlns:a16="http://schemas.microsoft.com/office/drawing/2014/main" id="{774956A3-5F8A-47DB-B60C-104435F45B89}"/>
              </a:ext>
            </a:extLst>
          </p:cNvPr>
          <p:cNvSpPr/>
          <p:nvPr/>
        </p:nvSpPr>
        <p:spPr bwMode="auto">
          <a:xfrm>
            <a:off x="5715231" y="3177719"/>
            <a:ext cx="181426" cy="1215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flat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algn="ctr" defTabSz="685835" fontAlgn="base">
              <a:spcBef>
                <a:spcPct val="0"/>
              </a:spcBef>
              <a:spcAft>
                <a:spcPct val="0"/>
              </a:spcAft>
            </a:pPr>
            <a:endParaRPr lang="en-US" altLang="ko-KR" sz="1200" dirty="0">
              <a:latin typeface="+mn-lt"/>
            </a:endParaRPr>
          </a:p>
        </p:txBody>
      </p:sp>
      <p:sp>
        <p:nvSpPr>
          <p:cNvPr id="471" name="직사각형 470">
            <a:extLst>
              <a:ext uri="{FF2B5EF4-FFF2-40B4-BE49-F238E27FC236}">
                <a16:creationId xmlns:a16="http://schemas.microsoft.com/office/drawing/2014/main" id="{4D39E392-6793-41F1-9655-0888755A99CD}"/>
              </a:ext>
            </a:extLst>
          </p:cNvPr>
          <p:cNvSpPr/>
          <p:nvPr/>
        </p:nvSpPr>
        <p:spPr bwMode="auto">
          <a:xfrm>
            <a:off x="6117796" y="3177719"/>
            <a:ext cx="181426" cy="1215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flat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algn="ctr" defTabSz="685835" fontAlgn="base">
              <a:spcBef>
                <a:spcPct val="0"/>
              </a:spcBef>
              <a:spcAft>
                <a:spcPct val="0"/>
              </a:spcAft>
            </a:pPr>
            <a:endParaRPr lang="en-US" altLang="ko-KR" sz="1200" dirty="0">
              <a:latin typeface="+mn-lt"/>
            </a:endParaRPr>
          </a:p>
        </p:txBody>
      </p:sp>
      <p:sp>
        <p:nvSpPr>
          <p:cNvPr id="472" name="직사각형 471">
            <a:extLst>
              <a:ext uri="{FF2B5EF4-FFF2-40B4-BE49-F238E27FC236}">
                <a16:creationId xmlns:a16="http://schemas.microsoft.com/office/drawing/2014/main" id="{5021A912-8FAA-4802-A765-F4D1689DE9B9}"/>
              </a:ext>
            </a:extLst>
          </p:cNvPr>
          <p:cNvSpPr/>
          <p:nvPr/>
        </p:nvSpPr>
        <p:spPr bwMode="auto">
          <a:xfrm>
            <a:off x="4791896" y="3177719"/>
            <a:ext cx="181426" cy="1215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flat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algn="ctr" defTabSz="685835" fontAlgn="base">
              <a:spcBef>
                <a:spcPct val="0"/>
              </a:spcBef>
              <a:spcAft>
                <a:spcPct val="0"/>
              </a:spcAft>
            </a:pPr>
            <a:endParaRPr lang="en-US" altLang="ko-KR" sz="1200" dirty="0">
              <a:latin typeface="+mn-lt"/>
            </a:endParaRPr>
          </a:p>
        </p:txBody>
      </p:sp>
      <p:sp>
        <p:nvSpPr>
          <p:cNvPr id="474" name="직사각형 473">
            <a:extLst>
              <a:ext uri="{FF2B5EF4-FFF2-40B4-BE49-F238E27FC236}">
                <a16:creationId xmlns:a16="http://schemas.microsoft.com/office/drawing/2014/main" id="{5446AEE5-26F4-492C-BF5C-615290E8A4B6}"/>
              </a:ext>
            </a:extLst>
          </p:cNvPr>
          <p:cNvSpPr/>
          <p:nvPr/>
        </p:nvSpPr>
        <p:spPr bwMode="auto">
          <a:xfrm>
            <a:off x="3735373" y="6148116"/>
            <a:ext cx="0" cy="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flat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algn="ctr" defTabSz="685835" fontAlgn="base">
              <a:spcBef>
                <a:spcPct val="0"/>
              </a:spcBef>
              <a:spcAft>
                <a:spcPct val="0"/>
              </a:spcAft>
            </a:pPr>
            <a:endParaRPr lang="en-US" altLang="ko-KR" sz="1200" dirty="0">
              <a:latin typeface="+mn-lt"/>
            </a:endParaRPr>
          </a:p>
        </p:txBody>
      </p:sp>
      <p:cxnSp>
        <p:nvCxnSpPr>
          <p:cNvPr id="479" name="꺾인 연결선 34">
            <a:extLst>
              <a:ext uri="{FF2B5EF4-FFF2-40B4-BE49-F238E27FC236}">
                <a16:creationId xmlns:a16="http://schemas.microsoft.com/office/drawing/2014/main" id="{B975562B-D13B-4B63-AF86-E9E0BAAA5855}"/>
              </a:ext>
            </a:extLst>
          </p:cNvPr>
          <p:cNvCxnSpPr>
            <a:cxnSpLocks/>
            <a:stCxn id="436" idx="3"/>
            <a:endCxn id="474" idx="1"/>
          </p:cNvCxnSpPr>
          <p:nvPr/>
        </p:nvCxnSpPr>
        <p:spPr>
          <a:xfrm>
            <a:off x="1346991" y="5357170"/>
            <a:ext cx="2388382" cy="790947"/>
          </a:xfrm>
          <a:prstGeom prst="bentConnector3">
            <a:avLst>
              <a:gd name="adj1" fmla="val 7380"/>
            </a:avLst>
          </a:prstGeom>
          <a:ln w="63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0" name="꺾인 연결선 34">
            <a:extLst>
              <a:ext uri="{FF2B5EF4-FFF2-40B4-BE49-F238E27FC236}">
                <a16:creationId xmlns:a16="http://schemas.microsoft.com/office/drawing/2014/main" id="{F454C826-C22B-4066-A7B9-516404EF36DC}"/>
              </a:ext>
            </a:extLst>
          </p:cNvPr>
          <p:cNvCxnSpPr>
            <a:cxnSpLocks/>
            <a:stCxn id="474" idx="3"/>
            <a:endCxn id="571" idx="2"/>
          </p:cNvCxnSpPr>
          <p:nvPr/>
        </p:nvCxnSpPr>
        <p:spPr>
          <a:xfrm flipV="1">
            <a:off x="3735374" y="3311511"/>
            <a:ext cx="2476169" cy="2836606"/>
          </a:xfrm>
          <a:prstGeom prst="bentConnector2">
            <a:avLst/>
          </a:prstGeom>
          <a:ln w="63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5" name="꺾인 연결선 34">
            <a:extLst>
              <a:ext uri="{FF2B5EF4-FFF2-40B4-BE49-F238E27FC236}">
                <a16:creationId xmlns:a16="http://schemas.microsoft.com/office/drawing/2014/main" id="{5FD018DD-F05E-4DFA-AEC0-67BB7C57530C}"/>
              </a:ext>
            </a:extLst>
          </p:cNvPr>
          <p:cNvCxnSpPr>
            <a:cxnSpLocks/>
            <a:stCxn id="174" idx="3"/>
            <a:endCxn id="556" idx="2"/>
          </p:cNvCxnSpPr>
          <p:nvPr/>
        </p:nvCxnSpPr>
        <p:spPr>
          <a:xfrm flipV="1">
            <a:off x="4042834" y="3311511"/>
            <a:ext cx="1030196" cy="1355127"/>
          </a:xfrm>
          <a:prstGeom prst="bentConnector2">
            <a:avLst/>
          </a:prstGeom>
          <a:ln w="63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4" name="직사각형 293">
            <a:extLst>
              <a:ext uri="{FF2B5EF4-FFF2-40B4-BE49-F238E27FC236}">
                <a16:creationId xmlns:a16="http://schemas.microsoft.com/office/drawing/2014/main" id="{D6EB1F7E-D48A-488E-A583-75386D078680}"/>
              </a:ext>
            </a:extLst>
          </p:cNvPr>
          <p:cNvSpPr/>
          <p:nvPr/>
        </p:nvSpPr>
        <p:spPr bwMode="auto">
          <a:xfrm>
            <a:off x="4684548" y="2231511"/>
            <a:ext cx="1692000" cy="108000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algn="ctr" defTabSz="685835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200" dirty="0">
                <a:latin typeface="+mn-lt"/>
                <a:ea typeface="굴림" panose="020B0600000101010101" pitchFamily="50" charset="-127"/>
              </a:rPr>
              <a:t>XPA</a:t>
            </a:r>
          </a:p>
          <a:p>
            <a:pPr algn="ctr" defTabSz="685835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050" dirty="0">
                <a:latin typeface="+mn-lt"/>
                <a:ea typeface="굴림" panose="020B0600000101010101" pitchFamily="50" charset="-127"/>
              </a:rPr>
              <a:t>(X-Band Power Amplifier)</a:t>
            </a:r>
          </a:p>
        </p:txBody>
      </p:sp>
      <p:sp>
        <p:nvSpPr>
          <p:cNvPr id="556" name="직사각형 555">
            <a:extLst>
              <a:ext uri="{FF2B5EF4-FFF2-40B4-BE49-F238E27FC236}">
                <a16:creationId xmlns:a16="http://schemas.microsoft.com/office/drawing/2014/main" id="{8F030E10-EE5E-4148-A1C0-C060B1561C9A}"/>
              </a:ext>
            </a:extLst>
          </p:cNvPr>
          <p:cNvSpPr/>
          <p:nvPr/>
        </p:nvSpPr>
        <p:spPr>
          <a:xfrm>
            <a:off x="4726621" y="3103762"/>
            <a:ext cx="692818" cy="20774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altLang="ko-KR" sz="750" dirty="0">
                <a:solidFill>
                  <a:srgbClr val="FF0000"/>
                </a:solidFill>
                <a:latin typeface="+mn-lt"/>
                <a:cs typeface="Arial" panose="020B0604020202020204" pitchFamily="34" charset="0"/>
              </a:rPr>
              <a:t>+28 V, +5 V</a:t>
            </a:r>
            <a:endParaRPr lang="ko-KR" altLang="en-US" sz="750" dirty="0">
              <a:solidFill>
                <a:srgbClr val="FF0000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561" name="직사각형 560">
            <a:extLst>
              <a:ext uri="{FF2B5EF4-FFF2-40B4-BE49-F238E27FC236}">
                <a16:creationId xmlns:a16="http://schemas.microsoft.com/office/drawing/2014/main" id="{88AEAB63-876C-4B49-8660-C6D08F895B55}"/>
              </a:ext>
            </a:extLst>
          </p:cNvPr>
          <p:cNvSpPr/>
          <p:nvPr/>
        </p:nvSpPr>
        <p:spPr>
          <a:xfrm>
            <a:off x="5433064" y="2988346"/>
            <a:ext cx="492444" cy="3231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750" dirty="0">
                <a:solidFill>
                  <a:srgbClr val="0070C0"/>
                </a:solidFill>
                <a:latin typeface="+mn-lt"/>
                <a:cs typeface="Arial" panose="020B0604020202020204" pitchFamily="34" charset="0"/>
              </a:rPr>
              <a:t>Power</a:t>
            </a:r>
          </a:p>
          <a:p>
            <a:pPr algn="ctr"/>
            <a:r>
              <a:rPr lang="en-US" altLang="ko-KR" sz="750" dirty="0">
                <a:solidFill>
                  <a:srgbClr val="0070C0"/>
                </a:solidFill>
                <a:latin typeface="+mn-lt"/>
                <a:cs typeface="Arial" panose="020B0604020202020204" pitchFamily="34" charset="0"/>
              </a:rPr>
              <a:t>Control</a:t>
            </a:r>
            <a:endParaRPr lang="ko-KR" altLang="en-US" sz="750" dirty="0">
              <a:solidFill>
                <a:srgbClr val="0070C0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571" name="직사각형 570">
            <a:extLst>
              <a:ext uri="{FF2B5EF4-FFF2-40B4-BE49-F238E27FC236}">
                <a16:creationId xmlns:a16="http://schemas.microsoft.com/office/drawing/2014/main" id="{133855B1-86C5-432D-9348-027D8AA8A2D5}"/>
              </a:ext>
            </a:extLst>
          </p:cNvPr>
          <p:cNvSpPr/>
          <p:nvPr/>
        </p:nvSpPr>
        <p:spPr>
          <a:xfrm>
            <a:off x="5971734" y="3103762"/>
            <a:ext cx="479618" cy="20774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750" dirty="0">
                <a:solidFill>
                  <a:srgbClr val="0070C0"/>
                </a:solidFill>
                <a:latin typeface="+mn-lt"/>
                <a:cs typeface="Arial" panose="020B0604020202020204" pitchFamily="34" charset="0"/>
              </a:rPr>
              <a:t>TM/TC</a:t>
            </a:r>
            <a:endParaRPr lang="ko-KR" altLang="en-US" sz="750" dirty="0">
              <a:solidFill>
                <a:srgbClr val="0070C0"/>
              </a:solidFill>
              <a:latin typeface="+mn-lt"/>
              <a:cs typeface="Arial" panose="020B0604020202020204" pitchFamily="34" charset="0"/>
            </a:endParaRPr>
          </a:p>
        </p:txBody>
      </p:sp>
      <p:cxnSp>
        <p:nvCxnSpPr>
          <p:cNvPr id="584" name="꺾인 연결선 34">
            <a:extLst>
              <a:ext uri="{FF2B5EF4-FFF2-40B4-BE49-F238E27FC236}">
                <a16:creationId xmlns:a16="http://schemas.microsoft.com/office/drawing/2014/main" id="{F022F2A7-6F97-41F9-B84A-48B8378FEEB8}"/>
              </a:ext>
            </a:extLst>
          </p:cNvPr>
          <p:cNvCxnSpPr>
            <a:cxnSpLocks/>
            <a:stCxn id="296" idx="1"/>
            <a:endCxn id="197" idx="3"/>
          </p:cNvCxnSpPr>
          <p:nvPr/>
        </p:nvCxnSpPr>
        <p:spPr>
          <a:xfrm rot="10800000" flipV="1">
            <a:off x="1346992" y="2771511"/>
            <a:ext cx="1003843" cy="2164680"/>
          </a:xfrm>
          <a:prstGeom prst="bentConnector3">
            <a:avLst>
              <a:gd name="adj1" fmla="val 50000"/>
            </a:avLst>
          </a:prstGeom>
          <a:ln w="6350">
            <a:solidFill>
              <a:srgbClr val="009900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92" name="그룹 591">
            <a:extLst>
              <a:ext uri="{FF2B5EF4-FFF2-40B4-BE49-F238E27FC236}">
                <a16:creationId xmlns:a16="http://schemas.microsoft.com/office/drawing/2014/main" id="{34B0D632-F953-441E-A581-C7D20E40D78C}"/>
              </a:ext>
            </a:extLst>
          </p:cNvPr>
          <p:cNvGrpSpPr/>
          <p:nvPr/>
        </p:nvGrpSpPr>
        <p:grpSpPr>
          <a:xfrm>
            <a:off x="1688979" y="4893469"/>
            <a:ext cx="81000" cy="88185"/>
            <a:chOff x="9621427" y="5156166"/>
            <a:chExt cx="108000" cy="113159"/>
          </a:xfrm>
        </p:grpSpPr>
        <p:sp>
          <p:nvSpPr>
            <p:cNvPr id="593" name="직사각형 592">
              <a:extLst>
                <a:ext uri="{FF2B5EF4-FFF2-40B4-BE49-F238E27FC236}">
                  <a16:creationId xmlns:a16="http://schemas.microsoft.com/office/drawing/2014/main" id="{47662DA6-520A-4641-8255-193929AF47B0}"/>
                </a:ext>
              </a:extLst>
            </p:cNvPr>
            <p:cNvSpPr/>
            <p:nvPr/>
          </p:nvSpPr>
          <p:spPr bwMode="auto">
            <a:xfrm>
              <a:off x="9621427" y="5158745"/>
              <a:ext cx="104400" cy="104400"/>
            </a:xfrm>
            <a:prstGeom prst="rect">
              <a:avLst/>
            </a:prstGeom>
            <a:solidFill>
              <a:schemeClr val="bg1">
                <a:alpha val="0"/>
              </a:schemeClr>
            </a:solidFill>
            <a:ln w="6350" cap="flat" cmpd="sng" algn="ctr">
              <a:noFill/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68580" tIns="34290" rIns="68580" bIns="34290" numCol="1" rtlCol="0" anchor="t" anchorCtr="0" compatLnSpc="1">
              <a:prstTxWarp prst="textNoShape">
                <a:avLst/>
              </a:prstTxWarp>
            </a:bodyPr>
            <a:lstStyle/>
            <a:p>
              <a:pPr algn="ctr" defTabSz="685835" fontAlgn="base">
                <a:spcBef>
                  <a:spcPct val="0"/>
                </a:spcBef>
                <a:spcAft>
                  <a:spcPct val="0"/>
                </a:spcAft>
              </a:pPr>
              <a:endParaRPr lang="en-US" altLang="ko-KR" sz="900" dirty="0">
                <a:latin typeface="+mn-lt"/>
                <a:cs typeface="Arial" panose="020B0604020202020204" pitchFamily="34" charset="0"/>
              </a:endParaRPr>
            </a:p>
          </p:txBody>
        </p:sp>
        <p:grpSp>
          <p:nvGrpSpPr>
            <p:cNvPr id="594" name="그룹 593">
              <a:extLst>
                <a:ext uri="{FF2B5EF4-FFF2-40B4-BE49-F238E27FC236}">
                  <a16:creationId xmlns:a16="http://schemas.microsoft.com/office/drawing/2014/main" id="{EFB6B73E-CC11-4ED0-B6B2-290576DC071D}"/>
                </a:ext>
              </a:extLst>
            </p:cNvPr>
            <p:cNvGrpSpPr/>
            <p:nvPr/>
          </p:nvGrpSpPr>
          <p:grpSpPr>
            <a:xfrm>
              <a:off x="9621427" y="5156166"/>
              <a:ext cx="108000" cy="113159"/>
              <a:chOff x="10846836" y="2933955"/>
              <a:chExt cx="108000" cy="113159"/>
            </a:xfrm>
          </p:grpSpPr>
          <p:sp>
            <p:nvSpPr>
              <p:cNvPr id="595" name="원호 594">
                <a:extLst>
                  <a:ext uri="{FF2B5EF4-FFF2-40B4-BE49-F238E27FC236}">
                    <a16:creationId xmlns:a16="http://schemas.microsoft.com/office/drawing/2014/main" id="{1059AEB5-BD5A-48DB-BF63-FD77E2EA7B50}"/>
                  </a:ext>
                </a:extLst>
              </p:cNvPr>
              <p:cNvSpPr/>
              <p:nvPr/>
            </p:nvSpPr>
            <p:spPr>
              <a:xfrm>
                <a:off x="10846836" y="2939114"/>
                <a:ext cx="108000" cy="108000"/>
              </a:xfrm>
              <a:prstGeom prst="arc">
                <a:avLst/>
              </a:prstGeom>
              <a:ln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 sz="1350"/>
              </a:p>
            </p:txBody>
          </p:sp>
          <p:sp>
            <p:nvSpPr>
              <p:cNvPr id="596" name="원호 595">
                <a:extLst>
                  <a:ext uri="{FF2B5EF4-FFF2-40B4-BE49-F238E27FC236}">
                    <a16:creationId xmlns:a16="http://schemas.microsoft.com/office/drawing/2014/main" id="{6B1A2070-2F41-4786-B5D3-343D9327A2BE}"/>
                  </a:ext>
                </a:extLst>
              </p:cNvPr>
              <p:cNvSpPr/>
              <p:nvPr/>
            </p:nvSpPr>
            <p:spPr>
              <a:xfrm rot="5400000">
                <a:off x="10846836" y="2933955"/>
                <a:ext cx="108000" cy="108000"/>
              </a:xfrm>
              <a:prstGeom prst="arc">
                <a:avLst/>
              </a:prstGeom>
              <a:ln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 sz="1350"/>
              </a:p>
            </p:txBody>
          </p:sp>
        </p:grpSp>
      </p:grpSp>
      <p:cxnSp>
        <p:nvCxnSpPr>
          <p:cNvPr id="603" name="꺾인 연결선 34">
            <a:extLst>
              <a:ext uri="{FF2B5EF4-FFF2-40B4-BE49-F238E27FC236}">
                <a16:creationId xmlns:a16="http://schemas.microsoft.com/office/drawing/2014/main" id="{194248A5-316E-46F1-8538-287F830D2538}"/>
              </a:ext>
            </a:extLst>
          </p:cNvPr>
          <p:cNvCxnSpPr>
            <a:cxnSpLocks/>
            <a:stCxn id="136" idx="3"/>
            <a:endCxn id="593" idx="0"/>
          </p:cNvCxnSpPr>
          <p:nvPr/>
        </p:nvCxnSpPr>
        <p:spPr>
          <a:xfrm>
            <a:off x="1342039" y="2539276"/>
            <a:ext cx="386090" cy="2356203"/>
          </a:xfrm>
          <a:prstGeom prst="bentConnector2">
            <a:avLst/>
          </a:prstGeom>
          <a:ln w="6350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9" name="직사각형 638">
            <a:extLst>
              <a:ext uri="{FF2B5EF4-FFF2-40B4-BE49-F238E27FC236}">
                <a16:creationId xmlns:a16="http://schemas.microsoft.com/office/drawing/2014/main" id="{2B3511F6-4C30-402E-9AA8-4778CCA34B6B}"/>
              </a:ext>
            </a:extLst>
          </p:cNvPr>
          <p:cNvSpPr/>
          <p:nvPr/>
        </p:nvSpPr>
        <p:spPr>
          <a:xfrm>
            <a:off x="6316308" y="2444066"/>
            <a:ext cx="737702" cy="3231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750" dirty="0">
                <a:solidFill>
                  <a:srgbClr val="009900"/>
                </a:solidFill>
                <a:latin typeface="+mn-lt"/>
                <a:cs typeface="Arial" panose="020B0604020202020204" pitchFamily="34" charset="0"/>
              </a:rPr>
              <a:t>X-Band</a:t>
            </a:r>
          </a:p>
          <a:p>
            <a:pPr algn="ctr"/>
            <a:r>
              <a:rPr lang="en-US" altLang="ko-KR" sz="750" dirty="0">
                <a:solidFill>
                  <a:srgbClr val="009900"/>
                </a:solidFill>
                <a:latin typeface="+mn-lt"/>
                <a:cs typeface="Arial" panose="020B0604020202020204" pitchFamily="34" charset="0"/>
              </a:rPr>
              <a:t>Mission Data</a:t>
            </a:r>
            <a:endParaRPr lang="ko-KR" altLang="en-US" sz="750" dirty="0">
              <a:solidFill>
                <a:srgbClr val="009900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174" name="직사각형 173">
            <a:extLst>
              <a:ext uri="{FF2B5EF4-FFF2-40B4-BE49-F238E27FC236}">
                <a16:creationId xmlns:a16="http://schemas.microsoft.com/office/drawing/2014/main" id="{6A3428EB-2917-477D-9D95-9C82FCC9090F}"/>
              </a:ext>
            </a:extLst>
          </p:cNvPr>
          <p:cNvSpPr/>
          <p:nvPr/>
        </p:nvSpPr>
        <p:spPr bwMode="auto">
          <a:xfrm>
            <a:off x="2350834" y="4126638"/>
            <a:ext cx="1692000" cy="108000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algn="ctr" defTabSz="685835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200" dirty="0">
                <a:latin typeface="+mn-lt"/>
                <a:ea typeface="굴림" panose="020B0600000101010101" pitchFamily="50" charset="-127"/>
              </a:rPr>
              <a:t>XPM</a:t>
            </a:r>
          </a:p>
          <a:p>
            <a:pPr algn="ctr" defTabSz="685835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900" dirty="0">
                <a:latin typeface="+mn-lt"/>
                <a:ea typeface="굴림" panose="020B0600000101010101" pitchFamily="50" charset="-127"/>
              </a:rPr>
              <a:t>(X-Band Downlink Power Module)</a:t>
            </a:r>
          </a:p>
        </p:txBody>
      </p: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D5BE6A75-BE37-4A53-9324-B88055D1F712}"/>
              </a:ext>
            </a:extLst>
          </p:cNvPr>
          <p:cNvCxnSpPr>
            <a:stCxn id="296" idx="3"/>
            <a:endCxn id="294" idx="1"/>
          </p:cNvCxnSpPr>
          <p:nvPr/>
        </p:nvCxnSpPr>
        <p:spPr bwMode="auto">
          <a:xfrm>
            <a:off x="4042834" y="2771511"/>
            <a:ext cx="641714" cy="0"/>
          </a:xfrm>
          <a:prstGeom prst="straightConnector1">
            <a:avLst/>
          </a:prstGeom>
          <a:solidFill>
            <a:schemeClr val="accent1"/>
          </a:solidFill>
          <a:ln w="6350" cap="flat" cmpd="sng" algn="ctr">
            <a:solidFill>
              <a:srgbClr val="009900"/>
            </a:solidFill>
            <a:prstDash val="solid"/>
            <a:round/>
            <a:headEnd type="none" w="sm" len="sm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6" name="직선 화살표 연결선 185">
            <a:extLst>
              <a:ext uri="{FF2B5EF4-FFF2-40B4-BE49-F238E27FC236}">
                <a16:creationId xmlns:a16="http://schemas.microsoft.com/office/drawing/2014/main" id="{467F0332-000E-405D-A548-708CF58E82C5}"/>
              </a:ext>
            </a:extLst>
          </p:cNvPr>
          <p:cNvCxnSpPr>
            <a:stCxn id="294" idx="3"/>
            <a:endCxn id="98" idx="1"/>
          </p:cNvCxnSpPr>
          <p:nvPr/>
        </p:nvCxnSpPr>
        <p:spPr bwMode="auto">
          <a:xfrm>
            <a:off x="6376548" y="2771511"/>
            <a:ext cx="617704" cy="0"/>
          </a:xfrm>
          <a:prstGeom prst="straightConnector1">
            <a:avLst/>
          </a:prstGeom>
          <a:solidFill>
            <a:schemeClr val="accent1"/>
          </a:solidFill>
          <a:ln w="6350" cap="flat" cmpd="sng" algn="ctr">
            <a:solidFill>
              <a:srgbClr val="009900"/>
            </a:solidFill>
            <a:prstDash val="solid"/>
            <a:round/>
            <a:headEnd type="none" w="sm" len="sm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89" name="직사각형 188">
            <a:extLst>
              <a:ext uri="{FF2B5EF4-FFF2-40B4-BE49-F238E27FC236}">
                <a16:creationId xmlns:a16="http://schemas.microsoft.com/office/drawing/2014/main" id="{7243B8BE-3B3B-4E11-98AB-F12CB711CCB5}"/>
              </a:ext>
            </a:extLst>
          </p:cNvPr>
          <p:cNvSpPr/>
          <p:nvPr/>
        </p:nvSpPr>
        <p:spPr>
          <a:xfrm>
            <a:off x="4011317" y="2444066"/>
            <a:ext cx="737702" cy="3231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750" dirty="0">
                <a:solidFill>
                  <a:srgbClr val="009900"/>
                </a:solidFill>
                <a:latin typeface="+mn-lt"/>
                <a:cs typeface="Arial" panose="020B0604020202020204" pitchFamily="34" charset="0"/>
              </a:rPr>
              <a:t>X-Band</a:t>
            </a:r>
          </a:p>
          <a:p>
            <a:pPr algn="ctr"/>
            <a:r>
              <a:rPr lang="en-US" altLang="ko-KR" sz="750" dirty="0">
                <a:solidFill>
                  <a:srgbClr val="009900"/>
                </a:solidFill>
                <a:latin typeface="+mn-lt"/>
                <a:cs typeface="Arial" panose="020B0604020202020204" pitchFamily="34" charset="0"/>
              </a:rPr>
              <a:t>Mission Data</a:t>
            </a:r>
            <a:endParaRPr lang="ko-KR" altLang="en-US" sz="750" dirty="0">
              <a:solidFill>
                <a:srgbClr val="009900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207" name="직사각형 206">
            <a:extLst>
              <a:ext uri="{FF2B5EF4-FFF2-40B4-BE49-F238E27FC236}">
                <a16:creationId xmlns:a16="http://schemas.microsoft.com/office/drawing/2014/main" id="{A9958D6D-47F9-4462-9816-11534CF52D7E}"/>
              </a:ext>
            </a:extLst>
          </p:cNvPr>
          <p:cNvSpPr/>
          <p:nvPr/>
        </p:nvSpPr>
        <p:spPr>
          <a:xfrm>
            <a:off x="2579895" y="3103762"/>
            <a:ext cx="385042" cy="20774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altLang="ko-KR" sz="750" dirty="0">
                <a:solidFill>
                  <a:srgbClr val="FF0000"/>
                </a:solidFill>
                <a:latin typeface="+mn-lt"/>
                <a:cs typeface="Arial" panose="020B0604020202020204" pitchFamily="34" charset="0"/>
              </a:rPr>
              <a:t>+5 V</a:t>
            </a:r>
            <a:endParaRPr lang="ko-KR" altLang="en-US" sz="750" dirty="0">
              <a:solidFill>
                <a:srgbClr val="FF0000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210" name="직사각형 209">
            <a:extLst>
              <a:ext uri="{FF2B5EF4-FFF2-40B4-BE49-F238E27FC236}">
                <a16:creationId xmlns:a16="http://schemas.microsoft.com/office/drawing/2014/main" id="{72FC77A0-A29C-4F22-B64C-C6AA677BAA4A}"/>
              </a:ext>
            </a:extLst>
          </p:cNvPr>
          <p:cNvSpPr/>
          <p:nvPr/>
        </p:nvSpPr>
        <p:spPr>
          <a:xfrm>
            <a:off x="2977921" y="2988346"/>
            <a:ext cx="492444" cy="3231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750" dirty="0">
                <a:solidFill>
                  <a:srgbClr val="0070C0"/>
                </a:solidFill>
                <a:latin typeface="+mn-lt"/>
                <a:cs typeface="Arial" panose="020B0604020202020204" pitchFamily="34" charset="0"/>
              </a:rPr>
              <a:t>Power</a:t>
            </a:r>
          </a:p>
          <a:p>
            <a:pPr algn="ctr"/>
            <a:r>
              <a:rPr lang="en-US" altLang="ko-KR" sz="750" dirty="0">
                <a:solidFill>
                  <a:srgbClr val="0070C0"/>
                </a:solidFill>
                <a:latin typeface="+mn-lt"/>
                <a:cs typeface="Arial" panose="020B0604020202020204" pitchFamily="34" charset="0"/>
              </a:rPr>
              <a:t>Control</a:t>
            </a:r>
            <a:endParaRPr lang="ko-KR" altLang="en-US" sz="750" dirty="0">
              <a:solidFill>
                <a:srgbClr val="0070C0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211" name="직사각형 210">
            <a:extLst>
              <a:ext uri="{FF2B5EF4-FFF2-40B4-BE49-F238E27FC236}">
                <a16:creationId xmlns:a16="http://schemas.microsoft.com/office/drawing/2014/main" id="{DDDF2E9A-CE43-4BAF-8BAE-901AA28AE31E}"/>
              </a:ext>
            </a:extLst>
          </p:cNvPr>
          <p:cNvSpPr/>
          <p:nvPr/>
        </p:nvSpPr>
        <p:spPr>
          <a:xfrm>
            <a:off x="3516591" y="3103762"/>
            <a:ext cx="479618" cy="20774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750" dirty="0">
                <a:solidFill>
                  <a:srgbClr val="0070C0"/>
                </a:solidFill>
                <a:latin typeface="+mn-lt"/>
                <a:cs typeface="Arial" panose="020B0604020202020204" pitchFamily="34" charset="0"/>
              </a:rPr>
              <a:t>TM/TC</a:t>
            </a:r>
            <a:endParaRPr lang="ko-KR" altLang="en-US" sz="750" dirty="0">
              <a:solidFill>
                <a:srgbClr val="0070C0"/>
              </a:solidFill>
              <a:latin typeface="+mn-lt"/>
              <a:cs typeface="Arial" panose="020B0604020202020204" pitchFamily="34" charset="0"/>
            </a:endParaRPr>
          </a:p>
        </p:txBody>
      </p:sp>
      <p:cxnSp>
        <p:nvCxnSpPr>
          <p:cNvPr id="214" name="꺾인 연결선 34">
            <a:extLst>
              <a:ext uri="{FF2B5EF4-FFF2-40B4-BE49-F238E27FC236}">
                <a16:creationId xmlns:a16="http://schemas.microsoft.com/office/drawing/2014/main" id="{BB3EDCBD-864E-4E49-967D-B3FD3D63B98B}"/>
              </a:ext>
            </a:extLst>
          </p:cNvPr>
          <p:cNvCxnSpPr>
            <a:cxnSpLocks/>
            <a:stCxn id="174" idx="0"/>
            <a:endCxn id="207" idx="2"/>
          </p:cNvCxnSpPr>
          <p:nvPr/>
        </p:nvCxnSpPr>
        <p:spPr>
          <a:xfrm rot="16200000" flipV="1">
            <a:off x="2577062" y="3506866"/>
            <a:ext cx="815127" cy="424418"/>
          </a:xfrm>
          <a:prstGeom prst="bentConnector3">
            <a:avLst>
              <a:gd name="adj1" fmla="val 27564"/>
            </a:avLst>
          </a:prstGeom>
          <a:ln w="63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0" name="꺾인 연결선 34">
            <a:extLst>
              <a:ext uri="{FF2B5EF4-FFF2-40B4-BE49-F238E27FC236}">
                <a16:creationId xmlns:a16="http://schemas.microsoft.com/office/drawing/2014/main" id="{A5BC873F-DF09-4DC7-A641-60424749F8EE}"/>
              </a:ext>
            </a:extLst>
          </p:cNvPr>
          <p:cNvCxnSpPr>
            <a:cxnSpLocks/>
            <a:stCxn id="442" idx="3"/>
            <a:endCxn id="561" idx="2"/>
          </p:cNvCxnSpPr>
          <p:nvPr/>
        </p:nvCxnSpPr>
        <p:spPr>
          <a:xfrm flipV="1">
            <a:off x="3735603" y="3311511"/>
            <a:ext cx="1943683" cy="2641692"/>
          </a:xfrm>
          <a:prstGeom prst="bentConnector2">
            <a:avLst/>
          </a:prstGeom>
          <a:ln w="63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523319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직사각형 581">
            <a:extLst>
              <a:ext uri="{FF2B5EF4-FFF2-40B4-BE49-F238E27FC236}">
                <a16:creationId xmlns:a16="http://schemas.microsoft.com/office/drawing/2014/main" id="{38DFCB68-C843-4224-A31B-1C03ED0F40D1}"/>
              </a:ext>
            </a:extLst>
          </p:cNvPr>
          <p:cNvSpPr/>
          <p:nvPr/>
        </p:nvSpPr>
        <p:spPr bwMode="auto">
          <a:xfrm>
            <a:off x="2186812" y="4091941"/>
            <a:ext cx="181426" cy="1215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flat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algn="ctr" defTabSz="685835" fontAlgn="base">
              <a:spcBef>
                <a:spcPct val="0"/>
              </a:spcBef>
              <a:spcAft>
                <a:spcPct val="0"/>
              </a:spcAft>
            </a:pPr>
            <a:endParaRPr lang="en-US" altLang="ko-KR" sz="1200" dirty="0">
              <a:latin typeface="+mn-lt"/>
            </a:endParaRPr>
          </a:p>
        </p:txBody>
      </p:sp>
      <p:sp>
        <p:nvSpPr>
          <p:cNvPr id="583" name="직사각형 582">
            <a:extLst>
              <a:ext uri="{FF2B5EF4-FFF2-40B4-BE49-F238E27FC236}">
                <a16:creationId xmlns:a16="http://schemas.microsoft.com/office/drawing/2014/main" id="{9C895C6D-4968-475B-B7C4-E5737E941253}"/>
              </a:ext>
            </a:extLst>
          </p:cNvPr>
          <p:cNvSpPr/>
          <p:nvPr/>
        </p:nvSpPr>
        <p:spPr bwMode="auto">
          <a:xfrm>
            <a:off x="2454818" y="2054439"/>
            <a:ext cx="181426" cy="1215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flat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algn="ctr" defTabSz="685835" fontAlgn="base">
              <a:spcBef>
                <a:spcPct val="0"/>
              </a:spcBef>
              <a:spcAft>
                <a:spcPct val="0"/>
              </a:spcAft>
            </a:pPr>
            <a:endParaRPr lang="en-US" altLang="ko-KR" sz="1200" dirty="0">
              <a:latin typeface="+mn-lt"/>
            </a:endParaRPr>
          </a:p>
        </p:txBody>
      </p:sp>
      <p:sp>
        <p:nvSpPr>
          <p:cNvPr id="540" name="직사각형 539">
            <a:extLst>
              <a:ext uri="{FF2B5EF4-FFF2-40B4-BE49-F238E27FC236}">
                <a16:creationId xmlns:a16="http://schemas.microsoft.com/office/drawing/2014/main" id="{5254E1DA-47ED-48F4-A25D-06DDE7E898F7}"/>
              </a:ext>
            </a:extLst>
          </p:cNvPr>
          <p:cNvSpPr/>
          <p:nvPr/>
        </p:nvSpPr>
        <p:spPr bwMode="auto">
          <a:xfrm>
            <a:off x="5227787" y="3173632"/>
            <a:ext cx="181426" cy="1215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flat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algn="ctr" defTabSz="685835" fontAlgn="base">
              <a:spcBef>
                <a:spcPct val="0"/>
              </a:spcBef>
              <a:spcAft>
                <a:spcPct val="0"/>
              </a:spcAft>
            </a:pPr>
            <a:endParaRPr lang="en-US" altLang="ko-KR" sz="1200" dirty="0">
              <a:latin typeface="+mn-lt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5D263454-BA6F-429F-B0C1-0DDEEC6F1E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Payload Architecture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AA9F1EE-D202-4CD7-8AAE-E32CFB5587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SAR Payload </a:t>
            </a:r>
            <a:r>
              <a:rPr lang="ko-KR" altLang="en-US" dirty="0"/>
              <a:t>구성 </a:t>
            </a:r>
            <a:r>
              <a:rPr lang="en-US" altLang="ko-KR" dirty="0"/>
              <a:t>– XDAA </a:t>
            </a:r>
            <a:r>
              <a:rPr lang="ko-KR" altLang="en-US" dirty="0"/>
              <a:t>상세 </a:t>
            </a:r>
            <a:r>
              <a:rPr lang="en-US" altLang="ko-KR" dirty="0"/>
              <a:t>(Phased Array Antenna Version)</a:t>
            </a:r>
          </a:p>
          <a:p>
            <a:endParaRPr lang="en-US" altLang="ko-KR" dirty="0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0162FAA8-C477-484F-A878-FE57258A640F}"/>
              </a:ext>
            </a:extLst>
          </p:cNvPr>
          <p:cNvSpPr/>
          <p:nvPr/>
        </p:nvSpPr>
        <p:spPr bwMode="auto">
          <a:xfrm>
            <a:off x="143447" y="3506547"/>
            <a:ext cx="1203544" cy="2230019"/>
          </a:xfrm>
          <a:prstGeom prst="rect">
            <a:avLst/>
          </a:prstGeom>
          <a:solidFill>
            <a:schemeClr val="bg1">
              <a:lumMod val="85000"/>
            </a:schemeClr>
          </a:solidFill>
          <a:ln w="6350" cap="flat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algn="ctr" defTabSz="685835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500" dirty="0">
                <a:latin typeface="+mn-lt"/>
                <a:ea typeface="굴림" panose="020B0600000101010101" pitchFamily="50" charset="-127"/>
              </a:rPr>
              <a:t>SCEU</a:t>
            </a:r>
          </a:p>
          <a:p>
            <a:pPr algn="ctr" defTabSz="685835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050" dirty="0">
                <a:latin typeface="+mn-lt"/>
                <a:ea typeface="굴림" panose="020B0600000101010101" pitchFamily="50" charset="-127"/>
              </a:rPr>
              <a:t>(SAR Control</a:t>
            </a:r>
          </a:p>
          <a:p>
            <a:pPr algn="ctr" defTabSz="685835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050" dirty="0">
                <a:latin typeface="+mn-lt"/>
                <a:ea typeface="굴림" panose="020B0600000101010101" pitchFamily="50" charset="-127"/>
              </a:rPr>
              <a:t>Electronic Unit)</a:t>
            </a:r>
          </a:p>
        </p:txBody>
      </p:sp>
      <p:sp>
        <p:nvSpPr>
          <p:cNvPr id="86" name="직사각형 85">
            <a:extLst>
              <a:ext uri="{FF2B5EF4-FFF2-40B4-BE49-F238E27FC236}">
                <a16:creationId xmlns:a16="http://schemas.microsoft.com/office/drawing/2014/main" id="{7DC88CB8-AF9C-48FF-B3C7-852B3180F7F9}"/>
              </a:ext>
            </a:extLst>
          </p:cNvPr>
          <p:cNvSpPr/>
          <p:nvPr/>
        </p:nvSpPr>
        <p:spPr bwMode="auto">
          <a:xfrm>
            <a:off x="1170139" y="2186254"/>
            <a:ext cx="181426" cy="1215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flat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algn="ctr" defTabSz="685835" fontAlgn="base">
              <a:spcBef>
                <a:spcPct val="0"/>
              </a:spcBef>
              <a:spcAft>
                <a:spcPct val="0"/>
              </a:spcAft>
            </a:pPr>
            <a:endParaRPr lang="en-US" altLang="ko-KR" sz="1200" dirty="0">
              <a:latin typeface="+mn-lt"/>
            </a:endParaRPr>
          </a:p>
        </p:txBody>
      </p:sp>
      <p:sp>
        <p:nvSpPr>
          <p:cNvPr id="87" name="직사각형 86">
            <a:extLst>
              <a:ext uri="{FF2B5EF4-FFF2-40B4-BE49-F238E27FC236}">
                <a16:creationId xmlns:a16="http://schemas.microsoft.com/office/drawing/2014/main" id="{B323AB0C-FE14-45C0-8BC3-BB4776DB9620}"/>
              </a:ext>
            </a:extLst>
          </p:cNvPr>
          <p:cNvSpPr/>
          <p:nvPr/>
        </p:nvSpPr>
        <p:spPr bwMode="auto">
          <a:xfrm>
            <a:off x="1170139" y="2064892"/>
            <a:ext cx="181426" cy="1215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flat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algn="ctr" defTabSz="685835" fontAlgn="base">
              <a:spcBef>
                <a:spcPct val="0"/>
              </a:spcBef>
              <a:spcAft>
                <a:spcPct val="0"/>
              </a:spcAft>
            </a:pPr>
            <a:endParaRPr lang="en-US" altLang="ko-KR" sz="1200" dirty="0">
              <a:latin typeface="+mn-lt"/>
            </a:endParaRPr>
          </a:p>
        </p:txBody>
      </p:sp>
      <p:sp>
        <p:nvSpPr>
          <p:cNvPr id="88" name="직사각형 87">
            <a:extLst>
              <a:ext uri="{FF2B5EF4-FFF2-40B4-BE49-F238E27FC236}">
                <a16:creationId xmlns:a16="http://schemas.microsoft.com/office/drawing/2014/main" id="{60CCE4D9-D77E-4769-AE4E-E122E5475ABF}"/>
              </a:ext>
            </a:extLst>
          </p:cNvPr>
          <p:cNvSpPr/>
          <p:nvPr/>
        </p:nvSpPr>
        <p:spPr bwMode="auto">
          <a:xfrm>
            <a:off x="1170139" y="1943392"/>
            <a:ext cx="181426" cy="1215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flat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algn="ctr" defTabSz="685835" fontAlgn="base">
              <a:spcBef>
                <a:spcPct val="0"/>
              </a:spcBef>
              <a:spcAft>
                <a:spcPct val="0"/>
              </a:spcAft>
            </a:pPr>
            <a:endParaRPr lang="en-US" altLang="ko-KR" sz="1200" dirty="0">
              <a:latin typeface="+mn-lt"/>
            </a:endParaRPr>
          </a:p>
        </p:txBody>
      </p:sp>
      <p:sp>
        <p:nvSpPr>
          <p:cNvPr id="89" name="직사각형 88">
            <a:extLst>
              <a:ext uri="{FF2B5EF4-FFF2-40B4-BE49-F238E27FC236}">
                <a16:creationId xmlns:a16="http://schemas.microsoft.com/office/drawing/2014/main" id="{2C8E32CE-D939-4AB9-9848-4ECA160A54C3}"/>
              </a:ext>
            </a:extLst>
          </p:cNvPr>
          <p:cNvSpPr/>
          <p:nvPr/>
        </p:nvSpPr>
        <p:spPr bwMode="auto">
          <a:xfrm>
            <a:off x="1170139" y="1822029"/>
            <a:ext cx="181426" cy="1215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flat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algn="ctr" defTabSz="685835" fontAlgn="base">
              <a:spcBef>
                <a:spcPct val="0"/>
              </a:spcBef>
              <a:spcAft>
                <a:spcPct val="0"/>
              </a:spcAft>
            </a:pPr>
            <a:endParaRPr lang="en-US" altLang="ko-KR" sz="1200" dirty="0">
              <a:latin typeface="+mn-lt"/>
            </a:endParaRPr>
          </a:p>
        </p:txBody>
      </p:sp>
      <p:sp>
        <p:nvSpPr>
          <p:cNvPr id="90" name="직사각형 89">
            <a:extLst>
              <a:ext uri="{FF2B5EF4-FFF2-40B4-BE49-F238E27FC236}">
                <a16:creationId xmlns:a16="http://schemas.microsoft.com/office/drawing/2014/main" id="{3437B525-B21F-4255-B062-F116693746FA}"/>
              </a:ext>
            </a:extLst>
          </p:cNvPr>
          <p:cNvSpPr/>
          <p:nvPr/>
        </p:nvSpPr>
        <p:spPr bwMode="auto">
          <a:xfrm>
            <a:off x="1981000" y="1651361"/>
            <a:ext cx="6868754" cy="3995059"/>
          </a:xfrm>
          <a:prstGeom prst="rect">
            <a:avLst/>
          </a:prstGeom>
          <a:solidFill>
            <a:schemeClr val="bg1">
              <a:lumMod val="85000"/>
            </a:schemeClr>
          </a:solidFill>
          <a:ln w="6350" cap="flat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algn="ctr" defTabSz="685835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500" dirty="0">
                <a:latin typeface="+mn-lt"/>
                <a:ea typeface="굴림" panose="020B0600000101010101" pitchFamily="50" charset="-127"/>
              </a:rPr>
              <a:t>XDAA (X-Band Downlink  Antenna Assembly)</a:t>
            </a:r>
          </a:p>
        </p:txBody>
      </p:sp>
      <p:sp>
        <p:nvSpPr>
          <p:cNvPr id="91" name="직사각형 90">
            <a:extLst>
              <a:ext uri="{FF2B5EF4-FFF2-40B4-BE49-F238E27FC236}">
                <a16:creationId xmlns:a16="http://schemas.microsoft.com/office/drawing/2014/main" id="{D6787901-A6D0-4B37-9EE3-EAF9C1DFCFC9}"/>
              </a:ext>
            </a:extLst>
          </p:cNvPr>
          <p:cNvSpPr/>
          <p:nvPr/>
        </p:nvSpPr>
        <p:spPr bwMode="auto">
          <a:xfrm>
            <a:off x="143447" y="1651360"/>
            <a:ext cx="1211107" cy="1318955"/>
          </a:xfrm>
          <a:prstGeom prst="rect">
            <a:avLst/>
          </a:prstGeom>
          <a:solidFill>
            <a:schemeClr val="bg1">
              <a:lumMod val="50000"/>
            </a:schemeClr>
          </a:solidFill>
          <a:ln w="6350" cap="flat" cmpd="sng" algn="ctr">
            <a:solidFill>
              <a:schemeClr val="tx1"/>
            </a:solidFill>
            <a:prstDash val="dash"/>
            <a:round/>
            <a:headEnd type="none" w="sm" len="sm"/>
            <a:tailEnd type="none" w="sm" len="sm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algn="ctr" defTabSz="685835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500" dirty="0">
                <a:latin typeface="+mn-lt"/>
                <a:ea typeface="굴림" panose="020B0600000101010101" pitchFamily="50" charset="-127"/>
              </a:rPr>
              <a:t>Bus</a:t>
            </a:r>
          </a:p>
        </p:txBody>
      </p:sp>
      <p:sp>
        <p:nvSpPr>
          <p:cNvPr id="98" name="직사각형 97">
            <a:extLst>
              <a:ext uri="{FF2B5EF4-FFF2-40B4-BE49-F238E27FC236}">
                <a16:creationId xmlns:a16="http://schemas.microsoft.com/office/drawing/2014/main" id="{B582B3D5-02A3-4346-B518-7F43BE69E252}"/>
              </a:ext>
            </a:extLst>
          </p:cNvPr>
          <p:cNvSpPr/>
          <p:nvPr/>
        </p:nvSpPr>
        <p:spPr bwMode="auto">
          <a:xfrm>
            <a:off x="7054010" y="2443328"/>
            <a:ext cx="1632242" cy="656367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algn="ctr" defTabSz="685835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200" dirty="0">
                <a:latin typeface="+mn-lt"/>
                <a:ea typeface="굴림" panose="020B0600000101010101" pitchFamily="50" charset="-127"/>
              </a:rPr>
              <a:t>XAM #0</a:t>
            </a:r>
          </a:p>
          <a:p>
            <a:pPr algn="ctr" defTabSz="685835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050" dirty="0">
                <a:latin typeface="+mn-lt"/>
                <a:ea typeface="굴림" panose="020B0600000101010101" pitchFamily="50" charset="-127"/>
              </a:rPr>
              <a:t>(X-Band Antenna Module)</a:t>
            </a:r>
          </a:p>
        </p:txBody>
      </p:sp>
      <p:sp>
        <p:nvSpPr>
          <p:cNvPr id="136" name="직사각형 135">
            <a:extLst>
              <a:ext uri="{FF2B5EF4-FFF2-40B4-BE49-F238E27FC236}">
                <a16:creationId xmlns:a16="http://schemas.microsoft.com/office/drawing/2014/main" id="{4A6E4DA2-7A9C-4CD2-A991-8B700150D272}"/>
              </a:ext>
            </a:extLst>
          </p:cNvPr>
          <p:cNvSpPr/>
          <p:nvPr/>
        </p:nvSpPr>
        <p:spPr>
          <a:xfrm>
            <a:off x="904098" y="2435401"/>
            <a:ext cx="437941" cy="20774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altLang="ko-KR" sz="750" dirty="0">
                <a:solidFill>
                  <a:srgbClr val="FF0000"/>
                </a:solidFill>
                <a:latin typeface="+mn-lt"/>
                <a:cs typeface="Arial" panose="020B0604020202020204" pitchFamily="34" charset="0"/>
              </a:rPr>
              <a:t>+28 V</a:t>
            </a:r>
            <a:endParaRPr lang="ko-KR" altLang="en-US" sz="750" dirty="0">
              <a:solidFill>
                <a:srgbClr val="FF0000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197" name="직사각형 196">
            <a:extLst>
              <a:ext uri="{FF2B5EF4-FFF2-40B4-BE49-F238E27FC236}">
                <a16:creationId xmlns:a16="http://schemas.microsoft.com/office/drawing/2014/main" id="{615C1486-2686-4ECE-BD20-9E5E11085F80}"/>
              </a:ext>
            </a:extLst>
          </p:cNvPr>
          <p:cNvSpPr/>
          <p:nvPr/>
        </p:nvSpPr>
        <p:spPr>
          <a:xfrm>
            <a:off x="240598" y="4832316"/>
            <a:ext cx="1106393" cy="20774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750" dirty="0">
                <a:solidFill>
                  <a:srgbClr val="009900"/>
                </a:solidFill>
                <a:latin typeface="+mn-lt"/>
                <a:cs typeface="Arial" panose="020B0604020202020204" pitchFamily="34" charset="0"/>
              </a:rPr>
              <a:t>IF-Band Mission Data</a:t>
            </a:r>
            <a:endParaRPr lang="ko-KR" altLang="en-US" sz="750" dirty="0">
              <a:solidFill>
                <a:srgbClr val="009900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218" name="직사각형 217">
            <a:extLst>
              <a:ext uri="{FF2B5EF4-FFF2-40B4-BE49-F238E27FC236}">
                <a16:creationId xmlns:a16="http://schemas.microsoft.com/office/drawing/2014/main" id="{00AE1BF9-D4BA-480D-92D2-B60CC0B907BD}"/>
              </a:ext>
            </a:extLst>
          </p:cNvPr>
          <p:cNvSpPr/>
          <p:nvPr/>
        </p:nvSpPr>
        <p:spPr>
          <a:xfrm>
            <a:off x="556390" y="4972642"/>
            <a:ext cx="790601" cy="20774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altLang="ko-KR" sz="750" dirty="0">
                <a:solidFill>
                  <a:srgbClr val="0070C0"/>
                </a:solidFill>
                <a:latin typeface="+mn-lt"/>
                <a:cs typeface="Arial" panose="020B0604020202020204" pitchFamily="34" charset="0"/>
              </a:rPr>
              <a:t>Power Control</a:t>
            </a:r>
          </a:p>
        </p:txBody>
      </p:sp>
      <p:cxnSp>
        <p:nvCxnSpPr>
          <p:cNvPr id="230" name="꺾인 연결선 34">
            <a:extLst>
              <a:ext uri="{FF2B5EF4-FFF2-40B4-BE49-F238E27FC236}">
                <a16:creationId xmlns:a16="http://schemas.microsoft.com/office/drawing/2014/main" id="{B320E5C0-D37B-4037-96FD-B79705F82E28}"/>
              </a:ext>
            </a:extLst>
          </p:cNvPr>
          <p:cNvCxnSpPr>
            <a:cxnSpLocks/>
            <a:stCxn id="593" idx="2"/>
            <a:endCxn id="174" idx="2"/>
          </p:cNvCxnSpPr>
          <p:nvPr/>
        </p:nvCxnSpPr>
        <p:spPr>
          <a:xfrm rot="16200000" flipH="1">
            <a:off x="2323875" y="4381091"/>
            <a:ext cx="331213" cy="1522705"/>
          </a:xfrm>
          <a:prstGeom prst="bentConnector3">
            <a:avLst>
              <a:gd name="adj1" fmla="val 249758"/>
            </a:avLst>
          </a:prstGeom>
          <a:ln w="63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1" name="직사각형 230">
            <a:extLst>
              <a:ext uri="{FF2B5EF4-FFF2-40B4-BE49-F238E27FC236}">
                <a16:creationId xmlns:a16="http://schemas.microsoft.com/office/drawing/2014/main" id="{AE16D086-FC25-4402-B0FB-CA4EC76AF138}"/>
              </a:ext>
            </a:extLst>
          </p:cNvPr>
          <p:cNvSpPr/>
          <p:nvPr/>
        </p:nvSpPr>
        <p:spPr bwMode="auto">
          <a:xfrm>
            <a:off x="7368538" y="6131392"/>
            <a:ext cx="0" cy="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flat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algn="ctr" defTabSz="685835" fontAlgn="base">
              <a:spcBef>
                <a:spcPct val="0"/>
              </a:spcBef>
              <a:spcAft>
                <a:spcPct val="0"/>
              </a:spcAft>
            </a:pPr>
            <a:endParaRPr lang="en-US" altLang="ko-KR" sz="1200" dirty="0">
              <a:latin typeface="+mn-lt"/>
            </a:endParaRPr>
          </a:p>
        </p:txBody>
      </p:sp>
      <p:sp>
        <p:nvSpPr>
          <p:cNvPr id="296" name="직사각형 295">
            <a:extLst>
              <a:ext uri="{FF2B5EF4-FFF2-40B4-BE49-F238E27FC236}">
                <a16:creationId xmlns:a16="http://schemas.microsoft.com/office/drawing/2014/main" id="{CB71343A-BAF4-4EA2-8CD5-28162B6DB28B}"/>
              </a:ext>
            </a:extLst>
          </p:cNvPr>
          <p:cNvSpPr/>
          <p:nvPr/>
        </p:nvSpPr>
        <p:spPr bwMode="auto">
          <a:xfrm>
            <a:off x="2066168" y="2231511"/>
            <a:ext cx="1214457" cy="108000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algn="ctr" defTabSz="685835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200" dirty="0">
                <a:latin typeface="+mn-lt"/>
                <a:ea typeface="굴림" panose="020B0600000101010101" pitchFamily="50" charset="-127"/>
              </a:rPr>
              <a:t>XUC</a:t>
            </a:r>
          </a:p>
          <a:p>
            <a:pPr algn="ctr" defTabSz="685835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900" dirty="0">
                <a:latin typeface="+mn-lt"/>
                <a:ea typeface="굴림" panose="020B0600000101010101" pitchFamily="50" charset="-127"/>
              </a:rPr>
              <a:t>(X-Band Up Converter)</a:t>
            </a:r>
          </a:p>
        </p:txBody>
      </p:sp>
      <p:sp>
        <p:nvSpPr>
          <p:cNvPr id="436" name="직사각형 435">
            <a:extLst>
              <a:ext uri="{FF2B5EF4-FFF2-40B4-BE49-F238E27FC236}">
                <a16:creationId xmlns:a16="http://schemas.microsoft.com/office/drawing/2014/main" id="{D81CE794-07F4-4257-B0B1-0C28EFCD5BBC}"/>
              </a:ext>
            </a:extLst>
          </p:cNvPr>
          <p:cNvSpPr/>
          <p:nvPr/>
        </p:nvSpPr>
        <p:spPr>
          <a:xfrm>
            <a:off x="867372" y="5132525"/>
            <a:ext cx="479619" cy="20774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altLang="ko-KR" sz="750" dirty="0">
                <a:solidFill>
                  <a:srgbClr val="0070C0"/>
                </a:solidFill>
                <a:latin typeface="+mn-lt"/>
                <a:cs typeface="Arial" panose="020B0604020202020204" pitchFamily="34" charset="0"/>
              </a:rPr>
              <a:t>TM/TC</a:t>
            </a:r>
          </a:p>
        </p:txBody>
      </p:sp>
      <p:cxnSp>
        <p:nvCxnSpPr>
          <p:cNvPr id="439" name="꺾인 연결선 34">
            <a:extLst>
              <a:ext uri="{FF2B5EF4-FFF2-40B4-BE49-F238E27FC236}">
                <a16:creationId xmlns:a16="http://schemas.microsoft.com/office/drawing/2014/main" id="{1EBAEEB1-551E-403A-ABA7-AFFE95A3FA23}"/>
              </a:ext>
            </a:extLst>
          </p:cNvPr>
          <p:cNvCxnSpPr>
            <a:cxnSpLocks/>
            <a:stCxn id="218" idx="3"/>
            <a:endCxn id="442" idx="1"/>
          </p:cNvCxnSpPr>
          <p:nvPr/>
        </p:nvCxnSpPr>
        <p:spPr>
          <a:xfrm>
            <a:off x="1346991" y="5076517"/>
            <a:ext cx="2034931" cy="876686"/>
          </a:xfrm>
          <a:prstGeom prst="bentConnector3">
            <a:avLst>
              <a:gd name="adj1" fmla="val 13543"/>
            </a:avLst>
          </a:prstGeom>
          <a:ln w="63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2" name="직사각형 441">
            <a:extLst>
              <a:ext uri="{FF2B5EF4-FFF2-40B4-BE49-F238E27FC236}">
                <a16:creationId xmlns:a16="http://schemas.microsoft.com/office/drawing/2014/main" id="{DA34010B-7571-46FD-8F3C-A19C759FCD7C}"/>
              </a:ext>
            </a:extLst>
          </p:cNvPr>
          <p:cNvSpPr/>
          <p:nvPr/>
        </p:nvSpPr>
        <p:spPr bwMode="auto">
          <a:xfrm>
            <a:off x="3381922" y="5953202"/>
            <a:ext cx="0" cy="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flat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algn="ctr" defTabSz="685835" fontAlgn="base">
              <a:spcBef>
                <a:spcPct val="0"/>
              </a:spcBef>
              <a:spcAft>
                <a:spcPct val="0"/>
              </a:spcAft>
            </a:pPr>
            <a:endParaRPr lang="en-US" altLang="ko-KR" sz="1200" dirty="0">
              <a:latin typeface="+mn-lt"/>
            </a:endParaRPr>
          </a:p>
        </p:txBody>
      </p:sp>
      <p:cxnSp>
        <p:nvCxnSpPr>
          <p:cNvPr id="445" name="꺾인 연결선 34">
            <a:extLst>
              <a:ext uri="{FF2B5EF4-FFF2-40B4-BE49-F238E27FC236}">
                <a16:creationId xmlns:a16="http://schemas.microsoft.com/office/drawing/2014/main" id="{7E65CB9F-0E48-4273-B404-FB74A9AE5B56}"/>
              </a:ext>
            </a:extLst>
          </p:cNvPr>
          <p:cNvCxnSpPr>
            <a:cxnSpLocks/>
            <a:stCxn id="100" idx="1"/>
            <a:endCxn id="210" idx="2"/>
          </p:cNvCxnSpPr>
          <p:nvPr/>
        </p:nvCxnSpPr>
        <p:spPr>
          <a:xfrm rot="10800000">
            <a:off x="2939472" y="3311512"/>
            <a:ext cx="703457" cy="413229"/>
          </a:xfrm>
          <a:prstGeom prst="bentConnector2">
            <a:avLst/>
          </a:prstGeom>
          <a:ln w="63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4" name="직사각형 473">
            <a:extLst>
              <a:ext uri="{FF2B5EF4-FFF2-40B4-BE49-F238E27FC236}">
                <a16:creationId xmlns:a16="http://schemas.microsoft.com/office/drawing/2014/main" id="{5446AEE5-26F4-492C-BF5C-615290E8A4B6}"/>
              </a:ext>
            </a:extLst>
          </p:cNvPr>
          <p:cNvSpPr/>
          <p:nvPr/>
        </p:nvSpPr>
        <p:spPr bwMode="auto">
          <a:xfrm>
            <a:off x="3735373" y="6096360"/>
            <a:ext cx="0" cy="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flat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algn="ctr" defTabSz="685835" fontAlgn="base">
              <a:spcBef>
                <a:spcPct val="0"/>
              </a:spcBef>
              <a:spcAft>
                <a:spcPct val="0"/>
              </a:spcAft>
            </a:pPr>
            <a:endParaRPr lang="en-US" altLang="ko-KR" sz="1200" dirty="0">
              <a:latin typeface="+mn-lt"/>
            </a:endParaRPr>
          </a:p>
        </p:txBody>
      </p:sp>
      <p:cxnSp>
        <p:nvCxnSpPr>
          <p:cNvPr id="479" name="꺾인 연결선 34">
            <a:extLst>
              <a:ext uri="{FF2B5EF4-FFF2-40B4-BE49-F238E27FC236}">
                <a16:creationId xmlns:a16="http://schemas.microsoft.com/office/drawing/2014/main" id="{B975562B-D13B-4B63-AF86-E9E0BAAA5855}"/>
              </a:ext>
            </a:extLst>
          </p:cNvPr>
          <p:cNvCxnSpPr>
            <a:cxnSpLocks/>
            <a:stCxn id="436" idx="3"/>
            <a:endCxn id="474" idx="1"/>
          </p:cNvCxnSpPr>
          <p:nvPr/>
        </p:nvCxnSpPr>
        <p:spPr>
          <a:xfrm>
            <a:off x="1346991" y="5236400"/>
            <a:ext cx="2388382" cy="859961"/>
          </a:xfrm>
          <a:prstGeom prst="bentConnector3">
            <a:avLst>
              <a:gd name="adj1" fmla="val 7742"/>
            </a:avLst>
          </a:prstGeom>
          <a:ln w="6350">
            <a:solidFill>
              <a:srgbClr val="0070C0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0" name="꺾인 연결선 34">
            <a:extLst>
              <a:ext uri="{FF2B5EF4-FFF2-40B4-BE49-F238E27FC236}">
                <a16:creationId xmlns:a16="http://schemas.microsoft.com/office/drawing/2014/main" id="{F454C826-C22B-4066-A7B9-516404EF36DC}"/>
              </a:ext>
            </a:extLst>
          </p:cNvPr>
          <p:cNvCxnSpPr>
            <a:cxnSpLocks/>
            <a:stCxn id="474" idx="3"/>
            <a:endCxn id="92" idx="2"/>
          </p:cNvCxnSpPr>
          <p:nvPr/>
        </p:nvCxnSpPr>
        <p:spPr>
          <a:xfrm flipV="1">
            <a:off x="3735374" y="5304174"/>
            <a:ext cx="3921621" cy="792187"/>
          </a:xfrm>
          <a:prstGeom prst="bentConnector2">
            <a:avLst/>
          </a:prstGeom>
          <a:ln w="63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5" name="꺾인 연결선 34">
            <a:extLst>
              <a:ext uri="{FF2B5EF4-FFF2-40B4-BE49-F238E27FC236}">
                <a16:creationId xmlns:a16="http://schemas.microsoft.com/office/drawing/2014/main" id="{5FD018DD-F05E-4DFA-AEC0-67BB7C57530C}"/>
              </a:ext>
            </a:extLst>
          </p:cNvPr>
          <p:cNvCxnSpPr>
            <a:cxnSpLocks/>
            <a:stCxn id="174" idx="3"/>
            <a:endCxn id="556" idx="2"/>
          </p:cNvCxnSpPr>
          <p:nvPr/>
        </p:nvCxnSpPr>
        <p:spPr>
          <a:xfrm flipV="1">
            <a:off x="4150834" y="3094343"/>
            <a:ext cx="798682" cy="1853708"/>
          </a:xfrm>
          <a:prstGeom prst="bentConnector2">
            <a:avLst/>
          </a:prstGeom>
          <a:ln w="63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4" name="직사각형 293">
            <a:extLst>
              <a:ext uri="{FF2B5EF4-FFF2-40B4-BE49-F238E27FC236}">
                <a16:creationId xmlns:a16="http://schemas.microsoft.com/office/drawing/2014/main" id="{D6EB1F7E-D48A-488E-A583-75386D078680}"/>
              </a:ext>
            </a:extLst>
          </p:cNvPr>
          <p:cNvSpPr/>
          <p:nvPr/>
        </p:nvSpPr>
        <p:spPr bwMode="auto">
          <a:xfrm>
            <a:off x="4744306" y="2443328"/>
            <a:ext cx="1632242" cy="656367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algn="ctr" defTabSz="685835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200" dirty="0">
                <a:latin typeface="+mn-lt"/>
                <a:ea typeface="굴림" panose="020B0600000101010101" pitchFamily="50" charset="-127"/>
              </a:rPr>
              <a:t>XTM #0</a:t>
            </a:r>
          </a:p>
          <a:p>
            <a:pPr algn="ctr" defTabSz="685835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050" dirty="0">
                <a:latin typeface="+mn-lt"/>
                <a:ea typeface="굴림" panose="020B0600000101010101" pitchFamily="50" charset="-127"/>
              </a:rPr>
              <a:t>(X-Band Transmit Module)</a:t>
            </a:r>
          </a:p>
        </p:txBody>
      </p:sp>
      <p:sp>
        <p:nvSpPr>
          <p:cNvPr id="556" name="직사각형 555">
            <a:extLst>
              <a:ext uri="{FF2B5EF4-FFF2-40B4-BE49-F238E27FC236}">
                <a16:creationId xmlns:a16="http://schemas.microsoft.com/office/drawing/2014/main" id="{8F030E10-EE5E-4148-A1C0-C060B1561C9A}"/>
              </a:ext>
            </a:extLst>
          </p:cNvPr>
          <p:cNvSpPr/>
          <p:nvPr/>
        </p:nvSpPr>
        <p:spPr>
          <a:xfrm>
            <a:off x="4695248" y="2771178"/>
            <a:ext cx="508536" cy="3231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altLang="ko-KR" sz="750" dirty="0">
                <a:solidFill>
                  <a:srgbClr val="FF0000"/>
                </a:solidFill>
                <a:latin typeface="+mn-lt"/>
                <a:cs typeface="Arial" panose="020B0604020202020204" pitchFamily="34" charset="0"/>
              </a:rPr>
              <a:t>Second</a:t>
            </a:r>
          </a:p>
          <a:p>
            <a:pPr algn="r"/>
            <a:r>
              <a:rPr lang="en-US" altLang="ko-KR" sz="750" dirty="0">
                <a:solidFill>
                  <a:srgbClr val="FF0000"/>
                </a:solidFill>
                <a:latin typeface="+mn-lt"/>
                <a:cs typeface="Arial" panose="020B0604020202020204" pitchFamily="34" charset="0"/>
              </a:rPr>
              <a:t>Voltage</a:t>
            </a:r>
            <a:endParaRPr lang="ko-KR" altLang="en-US" sz="750" dirty="0">
              <a:solidFill>
                <a:srgbClr val="FF0000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561" name="직사각형 560">
            <a:extLst>
              <a:ext uri="{FF2B5EF4-FFF2-40B4-BE49-F238E27FC236}">
                <a16:creationId xmlns:a16="http://schemas.microsoft.com/office/drawing/2014/main" id="{88AEAB63-876C-4B49-8660-C6D08F895B55}"/>
              </a:ext>
            </a:extLst>
          </p:cNvPr>
          <p:cNvSpPr/>
          <p:nvPr/>
        </p:nvSpPr>
        <p:spPr>
          <a:xfrm>
            <a:off x="5482611" y="2891946"/>
            <a:ext cx="479618" cy="20774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750" dirty="0">
                <a:solidFill>
                  <a:srgbClr val="0070C0"/>
                </a:solidFill>
                <a:latin typeface="+mn-lt"/>
                <a:cs typeface="Arial" panose="020B0604020202020204" pitchFamily="34" charset="0"/>
              </a:rPr>
              <a:t>TM/TC</a:t>
            </a:r>
            <a:endParaRPr lang="ko-KR" altLang="en-US" sz="750" dirty="0">
              <a:solidFill>
                <a:srgbClr val="0070C0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571" name="직사각형 570">
            <a:extLst>
              <a:ext uri="{FF2B5EF4-FFF2-40B4-BE49-F238E27FC236}">
                <a16:creationId xmlns:a16="http://schemas.microsoft.com/office/drawing/2014/main" id="{133855B1-86C5-432D-9348-027D8AA8A2D5}"/>
              </a:ext>
            </a:extLst>
          </p:cNvPr>
          <p:cNvSpPr/>
          <p:nvPr/>
        </p:nvSpPr>
        <p:spPr>
          <a:xfrm>
            <a:off x="5814943" y="2776530"/>
            <a:ext cx="620683" cy="3231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750" dirty="0">
                <a:solidFill>
                  <a:srgbClr val="0070C0"/>
                </a:solidFill>
                <a:latin typeface="+mn-lt"/>
                <a:cs typeface="Arial" panose="020B0604020202020204" pitchFamily="34" charset="0"/>
              </a:rPr>
              <a:t>Real Time</a:t>
            </a:r>
          </a:p>
          <a:p>
            <a:pPr algn="ctr"/>
            <a:r>
              <a:rPr lang="en-US" altLang="ko-KR" sz="750" dirty="0">
                <a:solidFill>
                  <a:srgbClr val="0070C0"/>
                </a:solidFill>
                <a:latin typeface="+mn-lt"/>
                <a:cs typeface="Arial" panose="020B0604020202020204" pitchFamily="34" charset="0"/>
              </a:rPr>
              <a:t>Control</a:t>
            </a:r>
            <a:endParaRPr lang="ko-KR" altLang="en-US" sz="750" dirty="0">
              <a:solidFill>
                <a:srgbClr val="0070C0"/>
              </a:solidFill>
              <a:latin typeface="+mn-lt"/>
              <a:cs typeface="Arial" panose="020B0604020202020204" pitchFamily="34" charset="0"/>
            </a:endParaRPr>
          </a:p>
        </p:txBody>
      </p:sp>
      <p:cxnSp>
        <p:nvCxnSpPr>
          <p:cNvPr id="584" name="꺾인 연결선 34">
            <a:extLst>
              <a:ext uri="{FF2B5EF4-FFF2-40B4-BE49-F238E27FC236}">
                <a16:creationId xmlns:a16="http://schemas.microsoft.com/office/drawing/2014/main" id="{F022F2A7-6F97-41F9-B84A-48B8378FEEB8}"/>
              </a:ext>
            </a:extLst>
          </p:cNvPr>
          <p:cNvCxnSpPr>
            <a:cxnSpLocks/>
            <a:stCxn id="296" idx="1"/>
            <a:endCxn id="197" idx="3"/>
          </p:cNvCxnSpPr>
          <p:nvPr/>
        </p:nvCxnSpPr>
        <p:spPr>
          <a:xfrm rot="10800000" flipV="1">
            <a:off x="1346992" y="2771511"/>
            <a:ext cx="719177" cy="2164680"/>
          </a:xfrm>
          <a:prstGeom prst="bentConnector3">
            <a:avLst>
              <a:gd name="adj1" fmla="val 33207"/>
            </a:avLst>
          </a:prstGeom>
          <a:ln w="6350">
            <a:solidFill>
              <a:srgbClr val="009900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92" name="그룹 591">
            <a:extLst>
              <a:ext uri="{FF2B5EF4-FFF2-40B4-BE49-F238E27FC236}">
                <a16:creationId xmlns:a16="http://schemas.microsoft.com/office/drawing/2014/main" id="{34B0D632-F953-441E-A581-C7D20E40D78C}"/>
              </a:ext>
            </a:extLst>
          </p:cNvPr>
          <p:cNvGrpSpPr/>
          <p:nvPr/>
        </p:nvGrpSpPr>
        <p:grpSpPr>
          <a:xfrm>
            <a:off x="1688979" y="4893469"/>
            <a:ext cx="81000" cy="88185"/>
            <a:chOff x="9621427" y="5156166"/>
            <a:chExt cx="108000" cy="113159"/>
          </a:xfrm>
        </p:grpSpPr>
        <p:sp>
          <p:nvSpPr>
            <p:cNvPr id="593" name="직사각형 592">
              <a:extLst>
                <a:ext uri="{FF2B5EF4-FFF2-40B4-BE49-F238E27FC236}">
                  <a16:creationId xmlns:a16="http://schemas.microsoft.com/office/drawing/2014/main" id="{47662DA6-520A-4641-8255-193929AF47B0}"/>
                </a:ext>
              </a:extLst>
            </p:cNvPr>
            <p:cNvSpPr/>
            <p:nvPr/>
          </p:nvSpPr>
          <p:spPr bwMode="auto">
            <a:xfrm>
              <a:off x="9621427" y="5158745"/>
              <a:ext cx="104400" cy="104400"/>
            </a:xfrm>
            <a:prstGeom prst="rect">
              <a:avLst/>
            </a:prstGeom>
            <a:solidFill>
              <a:schemeClr val="bg1">
                <a:alpha val="0"/>
              </a:schemeClr>
            </a:solidFill>
            <a:ln w="6350" cap="flat" cmpd="sng" algn="ctr">
              <a:noFill/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68580" tIns="34290" rIns="68580" bIns="34290" numCol="1" rtlCol="0" anchor="t" anchorCtr="0" compatLnSpc="1">
              <a:prstTxWarp prst="textNoShape">
                <a:avLst/>
              </a:prstTxWarp>
            </a:bodyPr>
            <a:lstStyle/>
            <a:p>
              <a:pPr algn="ctr" defTabSz="685835" fontAlgn="base">
                <a:spcBef>
                  <a:spcPct val="0"/>
                </a:spcBef>
                <a:spcAft>
                  <a:spcPct val="0"/>
                </a:spcAft>
              </a:pPr>
              <a:endParaRPr lang="en-US" altLang="ko-KR" sz="900" dirty="0">
                <a:latin typeface="+mn-lt"/>
                <a:cs typeface="Arial" panose="020B0604020202020204" pitchFamily="34" charset="0"/>
              </a:endParaRPr>
            </a:p>
          </p:txBody>
        </p:sp>
        <p:grpSp>
          <p:nvGrpSpPr>
            <p:cNvPr id="594" name="그룹 593">
              <a:extLst>
                <a:ext uri="{FF2B5EF4-FFF2-40B4-BE49-F238E27FC236}">
                  <a16:creationId xmlns:a16="http://schemas.microsoft.com/office/drawing/2014/main" id="{EFB6B73E-CC11-4ED0-B6B2-290576DC071D}"/>
                </a:ext>
              </a:extLst>
            </p:cNvPr>
            <p:cNvGrpSpPr/>
            <p:nvPr/>
          </p:nvGrpSpPr>
          <p:grpSpPr>
            <a:xfrm>
              <a:off x="9621427" y="5156166"/>
              <a:ext cx="108000" cy="113159"/>
              <a:chOff x="10846836" y="2933955"/>
              <a:chExt cx="108000" cy="113159"/>
            </a:xfrm>
          </p:grpSpPr>
          <p:sp>
            <p:nvSpPr>
              <p:cNvPr id="595" name="원호 594">
                <a:extLst>
                  <a:ext uri="{FF2B5EF4-FFF2-40B4-BE49-F238E27FC236}">
                    <a16:creationId xmlns:a16="http://schemas.microsoft.com/office/drawing/2014/main" id="{1059AEB5-BD5A-48DB-BF63-FD77E2EA7B50}"/>
                  </a:ext>
                </a:extLst>
              </p:cNvPr>
              <p:cNvSpPr/>
              <p:nvPr/>
            </p:nvSpPr>
            <p:spPr>
              <a:xfrm>
                <a:off x="10846836" y="2939114"/>
                <a:ext cx="108000" cy="108000"/>
              </a:xfrm>
              <a:prstGeom prst="arc">
                <a:avLst/>
              </a:prstGeom>
              <a:ln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 sz="1350"/>
              </a:p>
            </p:txBody>
          </p:sp>
          <p:sp>
            <p:nvSpPr>
              <p:cNvPr id="596" name="원호 595">
                <a:extLst>
                  <a:ext uri="{FF2B5EF4-FFF2-40B4-BE49-F238E27FC236}">
                    <a16:creationId xmlns:a16="http://schemas.microsoft.com/office/drawing/2014/main" id="{6B1A2070-2F41-4786-B5D3-343D9327A2BE}"/>
                  </a:ext>
                </a:extLst>
              </p:cNvPr>
              <p:cNvSpPr/>
              <p:nvPr/>
            </p:nvSpPr>
            <p:spPr>
              <a:xfrm rot="5400000">
                <a:off x="10846836" y="2933955"/>
                <a:ext cx="108000" cy="108000"/>
              </a:xfrm>
              <a:prstGeom prst="arc">
                <a:avLst/>
              </a:prstGeom>
              <a:ln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 sz="1350"/>
              </a:p>
            </p:txBody>
          </p:sp>
        </p:grpSp>
      </p:grpSp>
      <p:cxnSp>
        <p:nvCxnSpPr>
          <p:cNvPr id="603" name="꺾인 연결선 34">
            <a:extLst>
              <a:ext uri="{FF2B5EF4-FFF2-40B4-BE49-F238E27FC236}">
                <a16:creationId xmlns:a16="http://schemas.microsoft.com/office/drawing/2014/main" id="{194248A5-316E-46F1-8538-287F830D2538}"/>
              </a:ext>
            </a:extLst>
          </p:cNvPr>
          <p:cNvCxnSpPr>
            <a:cxnSpLocks/>
            <a:stCxn id="136" idx="3"/>
            <a:endCxn id="593" idx="0"/>
          </p:cNvCxnSpPr>
          <p:nvPr/>
        </p:nvCxnSpPr>
        <p:spPr>
          <a:xfrm>
            <a:off x="1342039" y="2539276"/>
            <a:ext cx="386090" cy="2356203"/>
          </a:xfrm>
          <a:prstGeom prst="bentConnector2">
            <a:avLst/>
          </a:prstGeom>
          <a:ln w="6350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9" name="직사각형 638">
            <a:extLst>
              <a:ext uri="{FF2B5EF4-FFF2-40B4-BE49-F238E27FC236}">
                <a16:creationId xmlns:a16="http://schemas.microsoft.com/office/drawing/2014/main" id="{2B3511F6-4C30-402E-9AA8-4778CCA34B6B}"/>
              </a:ext>
            </a:extLst>
          </p:cNvPr>
          <p:cNvSpPr/>
          <p:nvPr/>
        </p:nvSpPr>
        <p:spPr>
          <a:xfrm>
            <a:off x="6275662" y="2444066"/>
            <a:ext cx="870751" cy="3231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750" dirty="0">
                <a:solidFill>
                  <a:srgbClr val="009900"/>
                </a:solidFill>
                <a:latin typeface="+mn-lt"/>
                <a:cs typeface="Arial" panose="020B0604020202020204" pitchFamily="34" charset="0"/>
              </a:rPr>
              <a:t>X-Band</a:t>
            </a:r>
          </a:p>
          <a:p>
            <a:pPr algn="ctr"/>
            <a:r>
              <a:rPr lang="en-US" altLang="ko-KR" sz="750" dirty="0">
                <a:solidFill>
                  <a:srgbClr val="009900"/>
                </a:solidFill>
                <a:latin typeface="+mn-lt"/>
                <a:cs typeface="Arial" panose="020B0604020202020204" pitchFamily="34" charset="0"/>
              </a:rPr>
              <a:t>Mission Data #0</a:t>
            </a:r>
            <a:endParaRPr lang="ko-KR" altLang="en-US" sz="750" dirty="0">
              <a:solidFill>
                <a:srgbClr val="009900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174" name="직사각형 173">
            <a:extLst>
              <a:ext uri="{FF2B5EF4-FFF2-40B4-BE49-F238E27FC236}">
                <a16:creationId xmlns:a16="http://schemas.microsoft.com/office/drawing/2014/main" id="{6A3428EB-2917-477D-9D95-9C82FCC9090F}"/>
              </a:ext>
            </a:extLst>
          </p:cNvPr>
          <p:cNvSpPr/>
          <p:nvPr/>
        </p:nvSpPr>
        <p:spPr bwMode="auto">
          <a:xfrm>
            <a:off x="2350834" y="4588051"/>
            <a:ext cx="1800000" cy="72000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algn="ctr" defTabSz="685835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200" dirty="0">
                <a:latin typeface="+mn-lt"/>
                <a:ea typeface="굴림" panose="020B0600000101010101" pitchFamily="50" charset="-127"/>
              </a:rPr>
              <a:t>XPM</a:t>
            </a:r>
          </a:p>
          <a:p>
            <a:pPr algn="ctr" defTabSz="685835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900" dirty="0">
                <a:latin typeface="+mn-lt"/>
                <a:ea typeface="굴림" panose="020B0600000101010101" pitchFamily="50" charset="-127"/>
              </a:rPr>
              <a:t>(X-Band Downlink Power Module)</a:t>
            </a:r>
          </a:p>
        </p:txBody>
      </p: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D5BE6A75-BE37-4A53-9324-B88055D1F712}"/>
              </a:ext>
            </a:extLst>
          </p:cNvPr>
          <p:cNvCxnSpPr>
            <a:cxnSpLocks/>
            <a:stCxn id="296" idx="3"/>
            <a:endCxn id="120" idx="1"/>
          </p:cNvCxnSpPr>
          <p:nvPr/>
        </p:nvCxnSpPr>
        <p:spPr bwMode="auto">
          <a:xfrm flipV="1">
            <a:off x="3280625" y="2767231"/>
            <a:ext cx="304347" cy="4280"/>
          </a:xfrm>
          <a:prstGeom prst="straightConnector1">
            <a:avLst/>
          </a:prstGeom>
          <a:solidFill>
            <a:schemeClr val="accent1"/>
          </a:solidFill>
          <a:ln w="6350" cap="flat" cmpd="sng" algn="ctr">
            <a:solidFill>
              <a:srgbClr val="009900"/>
            </a:solidFill>
            <a:prstDash val="solid"/>
            <a:round/>
            <a:headEnd type="none" w="sm" len="sm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6" name="직선 화살표 연결선 185">
            <a:extLst>
              <a:ext uri="{FF2B5EF4-FFF2-40B4-BE49-F238E27FC236}">
                <a16:creationId xmlns:a16="http://schemas.microsoft.com/office/drawing/2014/main" id="{467F0332-000E-405D-A548-708CF58E82C5}"/>
              </a:ext>
            </a:extLst>
          </p:cNvPr>
          <p:cNvCxnSpPr>
            <a:cxnSpLocks/>
            <a:stCxn id="294" idx="3"/>
            <a:endCxn id="98" idx="1"/>
          </p:cNvCxnSpPr>
          <p:nvPr/>
        </p:nvCxnSpPr>
        <p:spPr bwMode="auto">
          <a:xfrm>
            <a:off x="6376548" y="2771512"/>
            <a:ext cx="677462" cy="0"/>
          </a:xfrm>
          <a:prstGeom prst="straightConnector1">
            <a:avLst/>
          </a:prstGeom>
          <a:solidFill>
            <a:schemeClr val="accent1"/>
          </a:solidFill>
          <a:ln w="6350" cap="flat" cmpd="sng" algn="ctr">
            <a:solidFill>
              <a:srgbClr val="009900"/>
            </a:solidFill>
            <a:prstDash val="solid"/>
            <a:round/>
            <a:headEnd type="none" w="sm" len="sm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07" name="직사각형 206">
            <a:extLst>
              <a:ext uri="{FF2B5EF4-FFF2-40B4-BE49-F238E27FC236}">
                <a16:creationId xmlns:a16="http://schemas.microsoft.com/office/drawing/2014/main" id="{A9958D6D-47F9-4462-9816-11534CF52D7E}"/>
              </a:ext>
            </a:extLst>
          </p:cNvPr>
          <p:cNvSpPr/>
          <p:nvPr/>
        </p:nvSpPr>
        <p:spPr>
          <a:xfrm>
            <a:off x="2102717" y="2991621"/>
            <a:ext cx="508536" cy="3231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altLang="ko-KR" sz="750" dirty="0">
                <a:solidFill>
                  <a:srgbClr val="FF0000"/>
                </a:solidFill>
                <a:latin typeface="+mn-lt"/>
                <a:cs typeface="Arial" panose="020B0604020202020204" pitchFamily="34" charset="0"/>
              </a:rPr>
              <a:t>Second</a:t>
            </a:r>
          </a:p>
          <a:p>
            <a:pPr algn="r"/>
            <a:r>
              <a:rPr lang="en-US" altLang="ko-KR" sz="750" dirty="0">
                <a:solidFill>
                  <a:srgbClr val="FF0000"/>
                </a:solidFill>
                <a:latin typeface="+mn-lt"/>
                <a:cs typeface="Arial" panose="020B0604020202020204" pitchFamily="34" charset="0"/>
              </a:rPr>
              <a:t>Voltage</a:t>
            </a:r>
            <a:endParaRPr lang="ko-KR" altLang="en-US" sz="750" dirty="0">
              <a:solidFill>
                <a:srgbClr val="FF0000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210" name="직사각형 209">
            <a:extLst>
              <a:ext uri="{FF2B5EF4-FFF2-40B4-BE49-F238E27FC236}">
                <a16:creationId xmlns:a16="http://schemas.microsoft.com/office/drawing/2014/main" id="{72FC77A0-A29C-4F22-B64C-C6AA677BAA4A}"/>
              </a:ext>
            </a:extLst>
          </p:cNvPr>
          <p:cNvSpPr/>
          <p:nvPr/>
        </p:nvSpPr>
        <p:spPr>
          <a:xfrm>
            <a:off x="2693249" y="2988346"/>
            <a:ext cx="492444" cy="3231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750" dirty="0">
                <a:solidFill>
                  <a:srgbClr val="0070C0"/>
                </a:solidFill>
                <a:latin typeface="+mn-lt"/>
                <a:cs typeface="Arial" panose="020B0604020202020204" pitchFamily="34" charset="0"/>
              </a:rPr>
              <a:t>Power</a:t>
            </a:r>
          </a:p>
          <a:p>
            <a:pPr algn="ctr"/>
            <a:r>
              <a:rPr lang="en-US" altLang="ko-KR" sz="750" dirty="0">
                <a:solidFill>
                  <a:srgbClr val="0070C0"/>
                </a:solidFill>
                <a:latin typeface="+mn-lt"/>
                <a:cs typeface="Arial" panose="020B0604020202020204" pitchFamily="34" charset="0"/>
              </a:rPr>
              <a:t>Control</a:t>
            </a:r>
            <a:endParaRPr lang="ko-KR" altLang="en-US" sz="750" dirty="0">
              <a:solidFill>
                <a:srgbClr val="0070C0"/>
              </a:solidFill>
              <a:latin typeface="+mn-lt"/>
              <a:cs typeface="Arial" panose="020B0604020202020204" pitchFamily="34" charset="0"/>
            </a:endParaRPr>
          </a:p>
        </p:txBody>
      </p:sp>
      <p:cxnSp>
        <p:nvCxnSpPr>
          <p:cNvPr id="214" name="꺾인 연결선 34">
            <a:extLst>
              <a:ext uri="{FF2B5EF4-FFF2-40B4-BE49-F238E27FC236}">
                <a16:creationId xmlns:a16="http://schemas.microsoft.com/office/drawing/2014/main" id="{BB3EDCBD-864E-4E49-967D-B3FD3D63B98B}"/>
              </a:ext>
            </a:extLst>
          </p:cNvPr>
          <p:cNvCxnSpPr>
            <a:cxnSpLocks/>
            <a:stCxn id="174" idx="0"/>
            <a:endCxn id="207" idx="2"/>
          </p:cNvCxnSpPr>
          <p:nvPr/>
        </p:nvCxnSpPr>
        <p:spPr>
          <a:xfrm rot="16200000" flipV="1">
            <a:off x="2167278" y="3504494"/>
            <a:ext cx="1273265" cy="893849"/>
          </a:xfrm>
          <a:prstGeom prst="bentConnector3">
            <a:avLst>
              <a:gd name="adj1" fmla="val 50000"/>
            </a:avLst>
          </a:prstGeom>
          <a:ln w="63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0" name="꺾인 연결선 34">
            <a:extLst>
              <a:ext uri="{FF2B5EF4-FFF2-40B4-BE49-F238E27FC236}">
                <a16:creationId xmlns:a16="http://schemas.microsoft.com/office/drawing/2014/main" id="{A5BC873F-DF09-4DC7-A641-60424749F8EE}"/>
              </a:ext>
            </a:extLst>
          </p:cNvPr>
          <p:cNvCxnSpPr>
            <a:cxnSpLocks/>
            <a:stCxn id="442" idx="3"/>
            <a:endCxn id="94" idx="2"/>
          </p:cNvCxnSpPr>
          <p:nvPr/>
        </p:nvCxnSpPr>
        <p:spPr>
          <a:xfrm flipV="1">
            <a:off x="3381923" y="5308051"/>
            <a:ext cx="353124" cy="645152"/>
          </a:xfrm>
          <a:prstGeom prst="bentConnector2">
            <a:avLst/>
          </a:prstGeom>
          <a:ln w="63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F0F79953-00F6-4CD5-AE30-AC0F46E3ECF8}"/>
              </a:ext>
            </a:extLst>
          </p:cNvPr>
          <p:cNvSpPr/>
          <p:nvPr/>
        </p:nvSpPr>
        <p:spPr bwMode="auto">
          <a:xfrm>
            <a:off x="6329540" y="4584174"/>
            <a:ext cx="1800000" cy="72000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algn="ctr" defTabSz="685835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200" dirty="0">
                <a:latin typeface="+mn-lt"/>
                <a:ea typeface="굴림" panose="020B0600000101010101" pitchFamily="50" charset="-127"/>
              </a:rPr>
              <a:t>XCM</a:t>
            </a:r>
          </a:p>
          <a:p>
            <a:pPr algn="ctr" defTabSz="685835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900" dirty="0">
                <a:latin typeface="+mn-lt"/>
                <a:ea typeface="굴림" panose="020B0600000101010101" pitchFamily="50" charset="-127"/>
              </a:rPr>
              <a:t>(X-Band Downlink Control Module)</a:t>
            </a:r>
          </a:p>
        </p:txBody>
      </p:sp>
      <p:sp>
        <p:nvSpPr>
          <p:cNvPr id="70" name="직사각형 69">
            <a:extLst>
              <a:ext uri="{FF2B5EF4-FFF2-40B4-BE49-F238E27FC236}">
                <a16:creationId xmlns:a16="http://schemas.microsoft.com/office/drawing/2014/main" id="{E713630C-ECFB-4483-83A2-4B1A81DFDFA2}"/>
              </a:ext>
            </a:extLst>
          </p:cNvPr>
          <p:cNvSpPr/>
          <p:nvPr/>
        </p:nvSpPr>
        <p:spPr bwMode="auto">
          <a:xfrm>
            <a:off x="7054010" y="3597156"/>
            <a:ext cx="1632242" cy="656367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algn="ctr" defTabSz="685835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200" dirty="0">
                <a:latin typeface="+mn-lt"/>
                <a:ea typeface="굴림" panose="020B0600000101010101" pitchFamily="50" charset="-127"/>
              </a:rPr>
              <a:t>XAM #7</a:t>
            </a:r>
          </a:p>
          <a:p>
            <a:pPr algn="ctr" defTabSz="685835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050" dirty="0">
                <a:latin typeface="+mn-lt"/>
                <a:ea typeface="굴림" panose="020B0600000101010101" pitchFamily="50" charset="-127"/>
              </a:rPr>
              <a:t>(X-Band Antenna Module)</a:t>
            </a:r>
          </a:p>
        </p:txBody>
      </p:sp>
      <p:sp>
        <p:nvSpPr>
          <p:cNvPr id="75" name="직사각형 74">
            <a:extLst>
              <a:ext uri="{FF2B5EF4-FFF2-40B4-BE49-F238E27FC236}">
                <a16:creationId xmlns:a16="http://schemas.microsoft.com/office/drawing/2014/main" id="{5ED2DF7E-9301-46BF-9D62-A93B00F3A698}"/>
              </a:ext>
            </a:extLst>
          </p:cNvPr>
          <p:cNvSpPr/>
          <p:nvPr/>
        </p:nvSpPr>
        <p:spPr>
          <a:xfrm>
            <a:off x="6275662" y="3597894"/>
            <a:ext cx="870751" cy="3231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750" dirty="0">
                <a:solidFill>
                  <a:srgbClr val="009900"/>
                </a:solidFill>
                <a:latin typeface="+mn-lt"/>
                <a:cs typeface="Arial" panose="020B0604020202020204" pitchFamily="34" charset="0"/>
              </a:rPr>
              <a:t>X-Band</a:t>
            </a:r>
          </a:p>
          <a:p>
            <a:pPr algn="ctr"/>
            <a:r>
              <a:rPr lang="en-US" altLang="ko-KR" sz="750" dirty="0">
                <a:solidFill>
                  <a:srgbClr val="009900"/>
                </a:solidFill>
                <a:latin typeface="+mn-lt"/>
                <a:cs typeface="Arial" panose="020B0604020202020204" pitchFamily="34" charset="0"/>
              </a:rPr>
              <a:t>Mission Data #7</a:t>
            </a:r>
            <a:endParaRPr lang="ko-KR" altLang="en-US" sz="750" dirty="0">
              <a:solidFill>
                <a:srgbClr val="009900"/>
              </a:solidFill>
              <a:latin typeface="+mn-lt"/>
              <a:cs typeface="Arial" panose="020B0604020202020204" pitchFamily="34" charset="0"/>
            </a:endParaRPr>
          </a:p>
        </p:txBody>
      </p:sp>
      <p:cxnSp>
        <p:nvCxnSpPr>
          <p:cNvPr id="76" name="직선 화살표 연결선 75">
            <a:extLst>
              <a:ext uri="{FF2B5EF4-FFF2-40B4-BE49-F238E27FC236}">
                <a16:creationId xmlns:a16="http://schemas.microsoft.com/office/drawing/2014/main" id="{4B9612B1-5D32-48E2-9D05-41AA343E916C}"/>
              </a:ext>
            </a:extLst>
          </p:cNvPr>
          <p:cNvCxnSpPr>
            <a:cxnSpLocks/>
            <a:stCxn id="71" idx="3"/>
            <a:endCxn id="70" idx="1"/>
          </p:cNvCxnSpPr>
          <p:nvPr/>
        </p:nvCxnSpPr>
        <p:spPr bwMode="auto">
          <a:xfrm>
            <a:off x="6376548" y="3925340"/>
            <a:ext cx="677462" cy="0"/>
          </a:xfrm>
          <a:prstGeom prst="straightConnector1">
            <a:avLst/>
          </a:prstGeom>
          <a:solidFill>
            <a:schemeClr val="accent1"/>
          </a:solidFill>
          <a:ln w="6350" cap="flat" cmpd="sng" algn="ctr">
            <a:solidFill>
              <a:srgbClr val="009900"/>
            </a:solidFill>
            <a:prstDash val="solid"/>
            <a:round/>
            <a:headEnd type="none" w="sm" len="sm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7" name="꺾인 연결선 34">
            <a:extLst>
              <a:ext uri="{FF2B5EF4-FFF2-40B4-BE49-F238E27FC236}">
                <a16:creationId xmlns:a16="http://schemas.microsoft.com/office/drawing/2014/main" id="{DA201E89-6EBE-492F-A6C3-2E3E964BB75E}"/>
              </a:ext>
            </a:extLst>
          </p:cNvPr>
          <p:cNvCxnSpPr>
            <a:cxnSpLocks/>
            <a:stCxn id="174" idx="3"/>
            <a:endCxn id="72" idx="2"/>
          </p:cNvCxnSpPr>
          <p:nvPr/>
        </p:nvCxnSpPr>
        <p:spPr>
          <a:xfrm flipV="1">
            <a:off x="4150834" y="4256799"/>
            <a:ext cx="798683" cy="691252"/>
          </a:xfrm>
          <a:prstGeom prst="bentConnector2">
            <a:avLst/>
          </a:prstGeom>
          <a:ln w="63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TextBox 79">
            <a:extLst>
              <a:ext uri="{FF2B5EF4-FFF2-40B4-BE49-F238E27FC236}">
                <a16:creationId xmlns:a16="http://schemas.microsoft.com/office/drawing/2014/main" id="{71C174F0-C3C9-49BE-A2E5-5C8F57064A6D}"/>
              </a:ext>
            </a:extLst>
          </p:cNvPr>
          <p:cNvSpPr txBox="1"/>
          <p:nvPr/>
        </p:nvSpPr>
        <p:spPr>
          <a:xfrm>
            <a:off x="5429777" y="3116595"/>
            <a:ext cx="2428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sym typeface="Symbol" panose="05050102010706020507" pitchFamily="18" charset="2"/>
              </a:rPr>
              <a:t></a:t>
            </a:r>
            <a:endParaRPr lang="en-US" altLang="ko-KR" sz="800" dirty="0">
              <a:sym typeface="Symbol" panose="05050102010706020507" pitchFamily="18" charset="2"/>
            </a:endParaRPr>
          </a:p>
          <a:p>
            <a:r>
              <a:rPr lang="ko-KR" altLang="en-US" sz="800" dirty="0">
                <a:sym typeface="Symbol" panose="05050102010706020507" pitchFamily="18" charset="2"/>
              </a:rPr>
              <a:t></a:t>
            </a:r>
            <a:endParaRPr lang="ko-KR" altLang="en-US" sz="800" dirty="0"/>
          </a:p>
          <a:p>
            <a:r>
              <a:rPr lang="ko-KR" altLang="en-US" sz="800" dirty="0">
                <a:sym typeface="Symbol" panose="05050102010706020507" pitchFamily="18" charset="2"/>
              </a:rPr>
              <a:t></a:t>
            </a:r>
            <a:endParaRPr lang="ko-KR" altLang="en-US" sz="800" dirty="0"/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3947A302-2A0A-4ABC-BCFC-059284EA24E7}"/>
              </a:ext>
            </a:extLst>
          </p:cNvPr>
          <p:cNvSpPr txBox="1"/>
          <p:nvPr/>
        </p:nvSpPr>
        <p:spPr>
          <a:xfrm>
            <a:off x="7748687" y="3116594"/>
            <a:ext cx="2428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sym typeface="Symbol" panose="05050102010706020507" pitchFamily="18" charset="2"/>
              </a:rPr>
              <a:t></a:t>
            </a:r>
            <a:endParaRPr lang="en-US" altLang="ko-KR" sz="800" dirty="0">
              <a:sym typeface="Symbol" panose="05050102010706020507" pitchFamily="18" charset="2"/>
            </a:endParaRPr>
          </a:p>
          <a:p>
            <a:r>
              <a:rPr lang="ko-KR" altLang="en-US" sz="800" dirty="0">
                <a:sym typeface="Symbol" panose="05050102010706020507" pitchFamily="18" charset="2"/>
              </a:rPr>
              <a:t></a:t>
            </a:r>
            <a:endParaRPr lang="ko-KR" altLang="en-US" sz="800" dirty="0"/>
          </a:p>
          <a:p>
            <a:r>
              <a:rPr lang="ko-KR" altLang="en-US" sz="800" dirty="0">
                <a:sym typeface="Symbol" panose="05050102010706020507" pitchFamily="18" charset="2"/>
              </a:rPr>
              <a:t></a:t>
            </a:r>
            <a:endParaRPr lang="ko-KR" altLang="en-US" sz="800" dirty="0"/>
          </a:p>
        </p:txBody>
      </p:sp>
      <p:sp>
        <p:nvSpPr>
          <p:cNvPr id="84" name="직사각형 83">
            <a:extLst>
              <a:ext uri="{FF2B5EF4-FFF2-40B4-BE49-F238E27FC236}">
                <a16:creationId xmlns:a16="http://schemas.microsoft.com/office/drawing/2014/main" id="{5C553E9C-F31F-4C7A-9E75-93DB5F59389A}"/>
              </a:ext>
            </a:extLst>
          </p:cNvPr>
          <p:cNvSpPr/>
          <p:nvPr/>
        </p:nvSpPr>
        <p:spPr>
          <a:xfrm>
            <a:off x="7068600" y="4981009"/>
            <a:ext cx="492444" cy="3231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750" dirty="0">
                <a:solidFill>
                  <a:srgbClr val="0070C0"/>
                </a:solidFill>
                <a:latin typeface="+mn-lt"/>
                <a:cs typeface="Arial" panose="020B0604020202020204" pitchFamily="34" charset="0"/>
              </a:rPr>
              <a:t>Power</a:t>
            </a:r>
          </a:p>
          <a:p>
            <a:pPr algn="ctr"/>
            <a:r>
              <a:rPr lang="en-US" altLang="ko-KR" sz="750" dirty="0">
                <a:solidFill>
                  <a:srgbClr val="0070C0"/>
                </a:solidFill>
                <a:latin typeface="+mn-lt"/>
                <a:cs typeface="Arial" panose="020B0604020202020204" pitchFamily="34" charset="0"/>
              </a:rPr>
              <a:t>Control</a:t>
            </a:r>
            <a:endParaRPr lang="ko-KR" altLang="en-US" sz="750" dirty="0">
              <a:solidFill>
                <a:srgbClr val="0070C0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85" name="직사각형 84">
            <a:extLst>
              <a:ext uri="{FF2B5EF4-FFF2-40B4-BE49-F238E27FC236}">
                <a16:creationId xmlns:a16="http://schemas.microsoft.com/office/drawing/2014/main" id="{F347A0C1-2937-4071-87BA-F876C261A2EA}"/>
              </a:ext>
            </a:extLst>
          </p:cNvPr>
          <p:cNvSpPr/>
          <p:nvPr/>
        </p:nvSpPr>
        <p:spPr>
          <a:xfrm>
            <a:off x="6277266" y="4972480"/>
            <a:ext cx="620683" cy="3231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750" dirty="0">
                <a:solidFill>
                  <a:srgbClr val="0070C0"/>
                </a:solidFill>
                <a:latin typeface="+mn-lt"/>
                <a:cs typeface="Arial" panose="020B0604020202020204" pitchFamily="34" charset="0"/>
              </a:rPr>
              <a:t>Real Time</a:t>
            </a:r>
          </a:p>
          <a:p>
            <a:pPr algn="ctr"/>
            <a:r>
              <a:rPr lang="en-US" altLang="ko-KR" sz="750" dirty="0">
                <a:solidFill>
                  <a:srgbClr val="0070C0"/>
                </a:solidFill>
                <a:latin typeface="+mn-lt"/>
                <a:cs typeface="Arial" panose="020B0604020202020204" pitchFamily="34" charset="0"/>
              </a:rPr>
              <a:t>Control</a:t>
            </a:r>
            <a:endParaRPr lang="ko-KR" altLang="en-US" sz="750" dirty="0">
              <a:solidFill>
                <a:srgbClr val="0070C0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92" name="직사각형 91">
            <a:extLst>
              <a:ext uri="{FF2B5EF4-FFF2-40B4-BE49-F238E27FC236}">
                <a16:creationId xmlns:a16="http://schemas.microsoft.com/office/drawing/2014/main" id="{F1801008-52CA-4098-8E7A-9A9361A87C31}"/>
              </a:ext>
            </a:extLst>
          </p:cNvPr>
          <p:cNvSpPr/>
          <p:nvPr/>
        </p:nvSpPr>
        <p:spPr>
          <a:xfrm>
            <a:off x="7417186" y="5096425"/>
            <a:ext cx="479618" cy="20774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ko-KR" sz="750" dirty="0">
                <a:solidFill>
                  <a:srgbClr val="0070C0"/>
                </a:solidFill>
                <a:latin typeface="+mn-lt"/>
                <a:cs typeface="Arial" panose="020B0604020202020204" pitchFamily="34" charset="0"/>
              </a:rPr>
              <a:t>TM/TC</a:t>
            </a:r>
            <a:endParaRPr lang="ko-KR" altLang="en-US" sz="750" dirty="0">
              <a:solidFill>
                <a:srgbClr val="0070C0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93" name="직사각형 92">
            <a:extLst>
              <a:ext uri="{FF2B5EF4-FFF2-40B4-BE49-F238E27FC236}">
                <a16:creationId xmlns:a16="http://schemas.microsoft.com/office/drawing/2014/main" id="{E9DEBA0F-4BDF-4E71-8398-CF900CF19525}"/>
              </a:ext>
            </a:extLst>
          </p:cNvPr>
          <p:cNvSpPr/>
          <p:nvPr/>
        </p:nvSpPr>
        <p:spPr>
          <a:xfrm>
            <a:off x="6724489" y="5096425"/>
            <a:ext cx="479618" cy="20774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750" dirty="0">
                <a:solidFill>
                  <a:srgbClr val="0070C0"/>
                </a:solidFill>
                <a:latin typeface="+mn-lt"/>
                <a:cs typeface="Arial" panose="020B0604020202020204" pitchFamily="34" charset="0"/>
              </a:rPr>
              <a:t>TM/TC</a:t>
            </a:r>
          </a:p>
        </p:txBody>
      </p:sp>
      <p:sp>
        <p:nvSpPr>
          <p:cNvPr id="94" name="직사각형 93">
            <a:extLst>
              <a:ext uri="{FF2B5EF4-FFF2-40B4-BE49-F238E27FC236}">
                <a16:creationId xmlns:a16="http://schemas.microsoft.com/office/drawing/2014/main" id="{58D13820-F8EA-4512-94EF-A1DE6F054000}"/>
              </a:ext>
            </a:extLst>
          </p:cNvPr>
          <p:cNvSpPr/>
          <p:nvPr/>
        </p:nvSpPr>
        <p:spPr>
          <a:xfrm>
            <a:off x="3488825" y="4984886"/>
            <a:ext cx="492444" cy="3231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750" dirty="0">
                <a:solidFill>
                  <a:srgbClr val="0070C0"/>
                </a:solidFill>
                <a:latin typeface="+mn-lt"/>
                <a:cs typeface="Arial" panose="020B0604020202020204" pitchFamily="34" charset="0"/>
              </a:rPr>
              <a:t>Power</a:t>
            </a:r>
          </a:p>
          <a:p>
            <a:pPr algn="ctr"/>
            <a:r>
              <a:rPr lang="en-US" altLang="ko-KR" sz="750" dirty="0">
                <a:solidFill>
                  <a:srgbClr val="0070C0"/>
                </a:solidFill>
                <a:latin typeface="+mn-lt"/>
                <a:cs typeface="Arial" panose="020B0604020202020204" pitchFamily="34" charset="0"/>
              </a:rPr>
              <a:t>Control</a:t>
            </a:r>
            <a:endParaRPr lang="ko-KR" altLang="en-US" sz="750" dirty="0">
              <a:solidFill>
                <a:srgbClr val="0070C0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100" name="직사각형 99">
            <a:extLst>
              <a:ext uri="{FF2B5EF4-FFF2-40B4-BE49-F238E27FC236}">
                <a16:creationId xmlns:a16="http://schemas.microsoft.com/office/drawing/2014/main" id="{094A8C25-333F-4704-AF0B-074E78686960}"/>
              </a:ext>
            </a:extLst>
          </p:cNvPr>
          <p:cNvSpPr/>
          <p:nvPr/>
        </p:nvSpPr>
        <p:spPr bwMode="auto">
          <a:xfrm>
            <a:off x="3642928" y="3724739"/>
            <a:ext cx="0" cy="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flat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algn="ctr" defTabSz="685835" fontAlgn="base">
              <a:spcBef>
                <a:spcPct val="0"/>
              </a:spcBef>
              <a:spcAft>
                <a:spcPct val="0"/>
              </a:spcAft>
            </a:pPr>
            <a:endParaRPr lang="en-US" altLang="ko-KR" sz="1200" dirty="0">
              <a:latin typeface="+mn-lt"/>
            </a:endParaRPr>
          </a:p>
        </p:txBody>
      </p:sp>
      <p:cxnSp>
        <p:nvCxnSpPr>
          <p:cNvPr id="102" name="꺾인 연결선 34">
            <a:extLst>
              <a:ext uri="{FF2B5EF4-FFF2-40B4-BE49-F238E27FC236}">
                <a16:creationId xmlns:a16="http://schemas.microsoft.com/office/drawing/2014/main" id="{411C3355-E8F8-4F48-90CA-192A00403A08}"/>
              </a:ext>
            </a:extLst>
          </p:cNvPr>
          <p:cNvCxnSpPr>
            <a:cxnSpLocks/>
            <a:stCxn id="179" idx="0"/>
            <a:endCxn id="100" idx="3"/>
          </p:cNvCxnSpPr>
          <p:nvPr/>
        </p:nvCxnSpPr>
        <p:spPr>
          <a:xfrm rot="16200000" flipV="1">
            <a:off x="3399071" y="3968598"/>
            <a:ext cx="1182616" cy="694899"/>
          </a:xfrm>
          <a:prstGeom prst="bentConnector2">
            <a:avLst/>
          </a:prstGeom>
          <a:ln w="6350">
            <a:solidFill>
              <a:srgbClr val="0070C0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직사각형 108">
            <a:extLst>
              <a:ext uri="{FF2B5EF4-FFF2-40B4-BE49-F238E27FC236}">
                <a16:creationId xmlns:a16="http://schemas.microsoft.com/office/drawing/2014/main" id="{41FCB7AC-0E78-4A78-BEF3-38F1F5D05374}"/>
              </a:ext>
            </a:extLst>
          </p:cNvPr>
          <p:cNvSpPr/>
          <p:nvPr/>
        </p:nvSpPr>
        <p:spPr>
          <a:xfrm>
            <a:off x="5110279" y="2776530"/>
            <a:ext cx="492444" cy="3231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750" dirty="0">
                <a:solidFill>
                  <a:srgbClr val="0070C0"/>
                </a:solidFill>
                <a:latin typeface="+mn-lt"/>
                <a:cs typeface="Arial" panose="020B0604020202020204" pitchFamily="34" charset="0"/>
              </a:rPr>
              <a:t>Power</a:t>
            </a:r>
          </a:p>
          <a:p>
            <a:pPr algn="ctr"/>
            <a:r>
              <a:rPr lang="en-US" altLang="ko-KR" sz="750" dirty="0">
                <a:solidFill>
                  <a:srgbClr val="0070C0"/>
                </a:solidFill>
                <a:latin typeface="+mn-lt"/>
                <a:cs typeface="Arial" panose="020B0604020202020204" pitchFamily="34" charset="0"/>
              </a:rPr>
              <a:t>Control</a:t>
            </a:r>
            <a:endParaRPr lang="ko-KR" altLang="en-US" sz="750" dirty="0">
              <a:solidFill>
                <a:srgbClr val="0070C0"/>
              </a:solidFill>
              <a:latin typeface="+mn-lt"/>
              <a:cs typeface="Arial" panose="020B0604020202020204" pitchFamily="34" charset="0"/>
            </a:endParaRPr>
          </a:p>
        </p:txBody>
      </p:sp>
      <p:cxnSp>
        <p:nvCxnSpPr>
          <p:cNvPr id="111" name="꺾인 연결선 34">
            <a:extLst>
              <a:ext uri="{FF2B5EF4-FFF2-40B4-BE49-F238E27FC236}">
                <a16:creationId xmlns:a16="http://schemas.microsoft.com/office/drawing/2014/main" id="{124AF247-1F1E-44F8-A4AC-2B078F085175}"/>
              </a:ext>
            </a:extLst>
          </p:cNvPr>
          <p:cNvCxnSpPr>
            <a:cxnSpLocks/>
            <a:endCxn id="109" idx="2"/>
          </p:cNvCxnSpPr>
          <p:nvPr/>
        </p:nvCxnSpPr>
        <p:spPr>
          <a:xfrm rot="16200000" flipV="1">
            <a:off x="4589367" y="3866829"/>
            <a:ext cx="1536774" cy="2505"/>
          </a:xfrm>
          <a:prstGeom prst="bentConnector3">
            <a:avLst>
              <a:gd name="adj1" fmla="val 50000"/>
            </a:avLst>
          </a:prstGeom>
          <a:ln w="6350">
            <a:solidFill>
              <a:srgbClr val="0070C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꺾인 연결선 34">
            <a:extLst>
              <a:ext uri="{FF2B5EF4-FFF2-40B4-BE49-F238E27FC236}">
                <a16:creationId xmlns:a16="http://schemas.microsoft.com/office/drawing/2014/main" id="{B8E5D98A-2E35-484A-A230-2E12E1A5CD04}"/>
              </a:ext>
            </a:extLst>
          </p:cNvPr>
          <p:cNvCxnSpPr>
            <a:cxnSpLocks/>
            <a:stCxn id="191" idx="0"/>
            <a:endCxn id="110" idx="2"/>
          </p:cNvCxnSpPr>
          <p:nvPr/>
        </p:nvCxnSpPr>
        <p:spPr>
          <a:xfrm rot="5400000" flipH="1" flipV="1">
            <a:off x="5163348" y="4445327"/>
            <a:ext cx="384957" cy="1350"/>
          </a:xfrm>
          <a:prstGeom prst="bentConnector3">
            <a:avLst>
              <a:gd name="adj1" fmla="val 50000"/>
            </a:avLst>
          </a:prstGeom>
          <a:ln w="6350">
            <a:solidFill>
              <a:srgbClr val="0070C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0" name="직사각형 119">
            <a:extLst>
              <a:ext uri="{FF2B5EF4-FFF2-40B4-BE49-F238E27FC236}">
                <a16:creationId xmlns:a16="http://schemas.microsoft.com/office/drawing/2014/main" id="{1370CE6D-F12D-4C4A-80F4-185EDAECA354}"/>
              </a:ext>
            </a:extLst>
          </p:cNvPr>
          <p:cNvSpPr/>
          <p:nvPr/>
        </p:nvSpPr>
        <p:spPr bwMode="auto">
          <a:xfrm>
            <a:off x="3584972" y="2227231"/>
            <a:ext cx="846852" cy="108000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algn="ctr" defTabSz="685835" fontAlgn="base">
              <a:spcBef>
                <a:spcPct val="0"/>
              </a:spcBef>
              <a:spcAft>
                <a:spcPct val="0"/>
              </a:spcAft>
            </a:pPr>
            <a:r>
              <a:rPr lang="en-US" altLang="ko-KR" sz="1200" dirty="0">
                <a:latin typeface="+mn-lt"/>
              </a:rPr>
              <a:t>DPD</a:t>
            </a:r>
            <a:endParaRPr kumimoji="1" lang="en-US" altLang="ko-KR" sz="1200" dirty="0">
              <a:latin typeface="+mn-lt"/>
              <a:ea typeface="굴림" panose="020B0600000101010101" pitchFamily="50" charset="-127"/>
            </a:endParaRPr>
          </a:p>
          <a:p>
            <a:pPr algn="ctr" defTabSz="685835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900" dirty="0">
                <a:latin typeface="+mn-lt"/>
                <a:ea typeface="굴림" panose="020B0600000101010101" pitchFamily="50" charset="-127"/>
              </a:rPr>
              <a:t>(Downlink</a:t>
            </a:r>
          </a:p>
          <a:p>
            <a:pPr algn="ctr" defTabSz="685835" fontAlgn="base">
              <a:spcBef>
                <a:spcPct val="0"/>
              </a:spcBef>
              <a:spcAft>
                <a:spcPct val="0"/>
              </a:spcAft>
            </a:pPr>
            <a:r>
              <a:rPr lang="en-US" altLang="ko-KR" sz="900" dirty="0">
                <a:latin typeface="+mn-lt"/>
              </a:rPr>
              <a:t>Power Divider</a:t>
            </a:r>
            <a:r>
              <a:rPr kumimoji="1" lang="en-US" altLang="ko-KR" sz="900" dirty="0">
                <a:latin typeface="+mn-lt"/>
                <a:ea typeface="굴림" panose="020B0600000101010101" pitchFamily="50" charset="-127"/>
              </a:rPr>
              <a:t>)</a:t>
            </a:r>
          </a:p>
        </p:txBody>
      </p:sp>
      <p:cxnSp>
        <p:nvCxnSpPr>
          <p:cNvPr id="128" name="직선 화살표 연결선 127">
            <a:extLst>
              <a:ext uri="{FF2B5EF4-FFF2-40B4-BE49-F238E27FC236}">
                <a16:creationId xmlns:a16="http://schemas.microsoft.com/office/drawing/2014/main" id="{8EAEE208-9540-4A34-A639-2FFC804E8BD4}"/>
              </a:ext>
            </a:extLst>
          </p:cNvPr>
          <p:cNvCxnSpPr>
            <a:cxnSpLocks/>
            <a:stCxn id="120" idx="3"/>
            <a:endCxn id="294" idx="1"/>
          </p:cNvCxnSpPr>
          <p:nvPr/>
        </p:nvCxnSpPr>
        <p:spPr bwMode="auto">
          <a:xfrm>
            <a:off x="4431824" y="2767231"/>
            <a:ext cx="312482" cy="4281"/>
          </a:xfrm>
          <a:prstGeom prst="straightConnector1">
            <a:avLst/>
          </a:prstGeom>
          <a:solidFill>
            <a:schemeClr val="accent1"/>
          </a:solidFill>
          <a:ln w="6350" cap="flat" cmpd="sng" algn="ctr">
            <a:solidFill>
              <a:srgbClr val="009900"/>
            </a:solidFill>
            <a:prstDash val="solid"/>
            <a:round/>
            <a:headEnd type="none" w="sm" len="sm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5" name="꺾인 연결선 34">
            <a:extLst>
              <a:ext uri="{FF2B5EF4-FFF2-40B4-BE49-F238E27FC236}">
                <a16:creationId xmlns:a16="http://schemas.microsoft.com/office/drawing/2014/main" id="{72DC9880-1E03-44A9-8488-2B533DE3A00B}"/>
              </a:ext>
            </a:extLst>
          </p:cNvPr>
          <p:cNvCxnSpPr>
            <a:cxnSpLocks/>
            <a:stCxn id="71" idx="1"/>
            <a:endCxn id="120" idx="3"/>
          </p:cNvCxnSpPr>
          <p:nvPr/>
        </p:nvCxnSpPr>
        <p:spPr>
          <a:xfrm rot="10800000">
            <a:off x="4431824" y="2767232"/>
            <a:ext cx="312482" cy="1158109"/>
          </a:xfrm>
          <a:prstGeom prst="bentConnector3">
            <a:avLst>
              <a:gd name="adj1" fmla="val 50000"/>
            </a:avLst>
          </a:prstGeom>
          <a:ln w="6350">
            <a:solidFill>
              <a:srgbClr val="009900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0" name="직사각형 139">
            <a:extLst>
              <a:ext uri="{FF2B5EF4-FFF2-40B4-BE49-F238E27FC236}">
                <a16:creationId xmlns:a16="http://schemas.microsoft.com/office/drawing/2014/main" id="{549A0233-8E50-42A9-B68A-220CE55C077E}"/>
              </a:ext>
            </a:extLst>
          </p:cNvPr>
          <p:cNvSpPr/>
          <p:nvPr/>
        </p:nvSpPr>
        <p:spPr>
          <a:xfrm>
            <a:off x="7742112" y="5093553"/>
            <a:ext cx="479618" cy="20774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ko-KR" sz="750" dirty="0">
                <a:solidFill>
                  <a:srgbClr val="0070C0"/>
                </a:solidFill>
                <a:latin typeface="+mn-lt"/>
                <a:cs typeface="Arial" panose="020B0604020202020204" pitchFamily="34" charset="0"/>
              </a:rPr>
              <a:t>PPS</a:t>
            </a:r>
            <a:endParaRPr lang="ko-KR" altLang="en-US" sz="750" dirty="0">
              <a:solidFill>
                <a:srgbClr val="0070C0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141" name="직사각형 140">
            <a:extLst>
              <a:ext uri="{FF2B5EF4-FFF2-40B4-BE49-F238E27FC236}">
                <a16:creationId xmlns:a16="http://schemas.microsoft.com/office/drawing/2014/main" id="{799412FA-D385-439B-99DD-ADF582C5831E}"/>
              </a:ext>
            </a:extLst>
          </p:cNvPr>
          <p:cNvSpPr/>
          <p:nvPr/>
        </p:nvSpPr>
        <p:spPr>
          <a:xfrm>
            <a:off x="969964" y="5276299"/>
            <a:ext cx="377027" cy="20774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altLang="ko-KR" sz="750" dirty="0">
                <a:solidFill>
                  <a:srgbClr val="0070C0"/>
                </a:solidFill>
                <a:latin typeface="+mn-lt"/>
                <a:cs typeface="Arial" panose="020B0604020202020204" pitchFamily="34" charset="0"/>
              </a:rPr>
              <a:t>PPS</a:t>
            </a:r>
          </a:p>
        </p:txBody>
      </p:sp>
      <p:sp>
        <p:nvSpPr>
          <p:cNvPr id="142" name="직사각형 141">
            <a:extLst>
              <a:ext uri="{FF2B5EF4-FFF2-40B4-BE49-F238E27FC236}">
                <a16:creationId xmlns:a16="http://schemas.microsoft.com/office/drawing/2014/main" id="{A4A2C998-D05B-4B18-ACE8-011A4CEFF116}"/>
              </a:ext>
            </a:extLst>
          </p:cNvPr>
          <p:cNvSpPr/>
          <p:nvPr/>
        </p:nvSpPr>
        <p:spPr bwMode="auto">
          <a:xfrm>
            <a:off x="3628983" y="6266015"/>
            <a:ext cx="0" cy="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flat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algn="ctr" defTabSz="685835" fontAlgn="base">
              <a:spcBef>
                <a:spcPct val="0"/>
              </a:spcBef>
              <a:spcAft>
                <a:spcPct val="0"/>
              </a:spcAft>
            </a:pPr>
            <a:endParaRPr lang="en-US" altLang="ko-KR" sz="1200" dirty="0">
              <a:latin typeface="+mn-lt"/>
            </a:endParaRPr>
          </a:p>
        </p:txBody>
      </p:sp>
      <p:cxnSp>
        <p:nvCxnSpPr>
          <p:cNvPr id="143" name="꺾인 연결선 34">
            <a:extLst>
              <a:ext uri="{FF2B5EF4-FFF2-40B4-BE49-F238E27FC236}">
                <a16:creationId xmlns:a16="http://schemas.microsoft.com/office/drawing/2014/main" id="{C9BD3D28-A2BF-4809-8E58-A8A5860DCD44}"/>
              </a:ext>
            </a:extLst>
          </p:cNvPr>
          <p:cNvCxnSpPr>
            <a:cxnSpLocks/>
            <a:stCxn id="141" idx="3"/>
            <a:endCxn id="142" idx="1"/>
          </p:cNvCxnSpPr>
          <p:nvPr/>
        </p:nvCxnSpPr>
        <p:spPr>
          <a:xfrm>
            <a:off x="1346991" y="5380174"/>
            <a:ext cx="2281992" cy="885842"/>
          </a:xfrm>
          <a:prstGeom prst="bentConnector3">
            <a:avLst>
              <a:gd name="adj1" fmla="val 3881"/>
            </a:avLst>
          </a:prstGeom>
          <a:ln w="6350">
            <a:solidFill>
              <a:srgbClr val="0070C0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꺾인 연결선 34">
            <a:extLst>
              <a:ext uri="{FF2B5EF4-FFF2-40B4-BE49-F238E27FC236}">
                <a16:creationId xmlns:a16="http://schemas.microsoft.com/office/drawing/2014/main" id="{DF9FDC38-4EC1-416A-84A9-9081385CD6CD}"/>
              </a:ext>
            </a:extLst>
          </p:cNvPr>
          <p:cNvCxnSpPr>
            <a:cxnSpLocks/>
            <a:stCxn id="142" idx="3"/>
            <a:endCxn id="140" idx="2"/>
          </p:cNvCxnSpPr>
          <p:nvPr/>
        </p:nvCxnSpPr>
        <p:spPr>
          <a:xfrm flipV="1">
            <a:off x="3628984" y="5301302"/>
            <a:ext cx="4352937" cy="964714"/>
          </a:xfrm>
          <a:prstGeom prst="bentConnector2">
            <a:avLst/>
          </a:prstGeom>
          <a:ln w="63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4" name="직사각형 153">
            <a:extLst>
              <a:ext uri="{FF2B5EF4-FFF2-40B4-BE49-F238E27FC236}">
                <a16:creationId xmlns:a16="http://schemas.microsoft.com/office/drawing/2014/main" id="{B104C2F6-37B2-4F27-A47D-1163DEB2C31D}"/>
              </a:ext>
            </a:extLst>
          </p:cNvPr>
          <p:cNvSpPr/>
          <p:nvPr/>
        </p:nvSpPr>
        <p:spPr>
          <a:xfrm>
            <a:off x="6338166" y="4517427"/>
            <a:ext cx="508536" cy="3231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altLang="ko-KR" sz="750" dirty="0">
                <a:solidFill>
                  <a:srgbClr val="FF0000"/>
                </a:solidFill>
                <a:latin typeface="+mn-lt"/>
                <a:cs typeface="Arial" panose="020B0604020202020204" pitchFamily="34" charset="0"/>
              </a:rPr>
              <a:t>Second</a:t>
            </a:r>
          </a:p>
          <a:p>
            <a:pPr algn="r"/>
            <a:r>
              <a:rPr lang="en-US" altLang="ko-KR" sz="750" dirty="0">
                <a:solidFill>
                  <a:srgbClr val="FF0000"/>
                </a:solidFill>
                <a:latin typeface="+mn-lt"/>
                <a:cs typeface="Arial" panose="020B0604020202020204" pitchFamily="34" charset="0"/>
              </a:rPr>
              <a:t>Voltage</a:t>
            </a:r>
            <a:endParaRPr lang="ko-KR" altLang="en-US" sz="750" dirty="0">
              <a:solidFill>
                <a:srgbClr val="FF0000"/>
              </a:solidFill>
              <a:latin typeface="+mn-lt"/>
              <a:cs typeface="Arial" panose="020B0604020202020204" pitchFamily="34" charset="0"/>
            </a:endParaRPr>
          </a:p>
        </p:txBody>
      </p:sp>
      <p:cxnSp>
        <p:nvCxnSpPr>
          <p:cNvPr id="155" name="꺾인 연결선 34">
            <a:extLst>
              <a:ext uri="{FF2B5EF4-FFF2-40B4-BE49-F238E27FC236}">
                <a16:creationId xmlns:a16="http://schemas.microsoft.com/office/drawing/2014/main" id="{1D858071-4BE9-4597-9967-8854046A590D}"/>
              </a:ext>
            </a:extLst>
          </p:cNvPr>
          <p:cNvCxnSpPr>
            <a:cxnSpLocks/>
            <a:stCxn id="174" idx="3"/>
            <a:endCxn id="154" idx="1"/>
          </p:cNvCxnSpPr>
          <p:nvPr/>
        </p:nvCxnSpPr>
        <p:spPr>
          <a:xfrm flipV="1">
            <a:off x="4150834" y="4679010"/>
            <a:ext cx="2187332" cy="269041"/>
          </a:xfrm>
          <a:prstGeom prst="bentConnector3">
            <a:avLst>
              <a:gd name="adj1" fmla="val 36591"/>
            </a:avLst>
          </a:prstGeom>
          <a:ln w="63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0" name="꺾인 연결선 34">
            <a:extLst>
              <a:ext uri="{FF2B5EF4-FFF2-40B4-BE49-F238E27FC236}">
                <a16:creationId xmlns:a16="http://schemas.microsoft.com/office/drawing/2014/main" id="{E6235E92-D9F2-4C12-A06E-3031C78290EC}"/>
              </a:ext>
            </a:extLst>
          </p:cNvPr>
          <p:cNvCxnSpPr>
            <a:cxnSpLocks/>
            <a:stCxn id="215" idx="0"/>
            <a:endCxn id="571" idx="2"/>
          </p:cNvCxnSpPr>
          <p:nvPr/>
        </p:nvCxnSpPr>
        <p:spPr>
          <a:xfrm rot="5400000" flipH="1" flipV="1">
            <a:off x="5355432" y="3868000"/>
            <a:ext cx="1538158" cy="1548"/>
          </a:xfrm>
          <a:prstGeom prst="bentConnector3">
            <a:avLst>
              <a:gd name="adj1" fmla="val 50000"/>
            </a:avLst>
          </a:prstGeom>
          <a:ln w="6350">
            <a:solidFill>
              <a:srgbClr val="0070C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4" name="꺾인 연결선 34">
            <a:extLst>
              <a:ext uri="{FF2B5EF4-FFF2-40B4-BE49-F238E27FC236}">
                <a16:creationId xmlns:a16="http://schemas.microsoft.com/office/drawing/2014/main" id="{68E29EB7-7D92-42E1-8811-223C29B47B51}"/>
              </a:ext>
            </a:extLst>
          </p:cNvPr>
          <p:cNvCxnSpPr>
            <a:cxnSpLocks/>
            <a:stCxn id="215" idx="0"/>
            <a:endCxn id="74" idx="2"/>
          </p:cNvCxnSpPr>
          <p:nvPr/>
        </p:nvCxnSpPr>
        <p:spPr>
          <a:xfrm rot="5400000" flipH="1" flipV="1">
            <a:off x="5932346" y="4444914"/>
            <a:ext cx="384330" cy="1548"/>
          </a:xfrm>
          <a:prstGeom prst="bentConnector3">
            <a:avLst>
              <a:gd name="adj1" fmla="val 50000"/>
            </a:avLst>
          </a:prstGeom>
          <a:ln w="6350">
            <a:solidFill>
              <a:srgbClr val="0070C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꺾인 연결선 34">
            <a:extLst>
              <a:ext uri="{FF2B5EF4-FFF2-40B4-BE49-F238E27FC236}">
                <a16:creationId xmlns:a16="http://schemas.microsoft.com/office/drawing/2014/main" id="{24C1A439-17E7-4311-ABBF-09B8F206B95F}"/>
              </a:ext>
            </a:extLst>
          </p:cNvPr>
          <p:cNvCxnSpPr>
            <a:cxnSpLocks/>
            <a:stCxn id="204" idx="0"/>
            <a:endCxn id="561" idx="2"/>
          </p:cNvCxnSpPr>
          <p:nvPr/>
        </p:nvCxnSpPr>
        <p:spPr>
          <a:xfrm rot="5400000" flipH="1" flipV="1">
            <a:off x="4951660" y="3869104"/>
            <a:ext cx="1540169" cy="1352"/>
          </a:xfrm>
          <a:prstGeom prst="bentConnector3">
            <a:avLst>
              <a:gd name="adj1" fmla="val 50000"/>
            </a:avLst>
          </a:prstGeom>
          <a:ln w="6350">
            <a:solidFill>
              <a:srgbClr val="0070C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꺾인 연결선 34">
            <a:extLst>
              <a:ext uri="{FF2B5EF4-FFF2-40B4-BE49-F238E27FC236}">
                <a16:creationId xmlns:a16="http://schemas.microsoft.com/office/drawing/2014/main" id="{5613D57A-1EEF-47EA-89C2-163743B600EC}"/>
              </a:ext>
            </a:extLst>
          </p:cNvPr>
          <p:cNvCxnSpPr>
            <a:cxnSpLocks/>
            <a:stCxn id="204" idx="0"/>
            <a:endCxn id="73" idx="2"/>
          </p:cNvCxnSpPr>
          <p:nvPr/>
        </p:nvCxnSpPr>
        <p:spPr>
          <a:xfrm rot="5400000" flipH="1" flipV="1">
            <a:off x="5528574" y="4446018"/>
            <a:ext cx="386341" cy="1352"/>
          </a:xfrm>
          <a:prstGeom prst="bentConnector3">
            <a:avLst>
              <a:gd name="adj1" fmla="val 50000"/>
            </a:avLst>
          </a:prstGeom>
          <a:ln w="6350">
            <a:solidFill>
              <a:srgbClr val="0070C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직사각형 70">
            <a:extLst>
              <a:ext uri="{FF2B5EF4-FFF2-40B4-BE49-F238E27FC236}">
                <a16:creationId xmlns:a16="http://schemas.microsoft.com/office/drawing/2014/main" id="{DAC50F05-4371-42B9-B0E6-2E44E490B132}"/>
              </a:ext>
            </a:extLst>
          </p:cNvPr>
          <p:cNvSpPr/>
          <p:nvPr/>
        </p:nvSpPr>
        <p:spPr bwMode="auto">
          <a:xfrm>
            <a:off x="4744306" y="3597156"/>
            <a:ext cx="1632242" cy="656367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algn="ctr" defTabSz="685835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200" dirty="0">
                <a:latin typeface="+mn-lt"/>
                <a:ea typeface="굴림" panose="020B0600000101010101" pitchFamily="50" charset="-127"/>
              </a:rPr>
              <a:t>XTM #7</a:t>
            </a:r>
          </a:p>
          <a:p>
            <a:pPr algn="ctr" defTabSz="685835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050" dirty="0">
                <a:latin typeface="+mn-lt"/>
                <a:ea typeface="굴림" panose="020B0600000101010101" pitchFamily="50" charset="-127"/>
              </a:rPr>
              <a:t>(X-Band Transmit Module)</a:t>
            </a:r>
          </a:p>
        </p:txBody>
      </p:sp>
      <p:sp>
        <p:nvSpPr>
          <p:cNvPr id="177" name="직사각형 176">
            <a:extLst>
              <a:ext uri="{FF2B5EF4-FFF2-40B4-BE49-F238E27FC236}">
                <a16:creationId xmlns:a16="http://schemas.microsoft.com/office/drawing/2014/main" id="{A04C6F1F-02C5-4D49-82AC-8B081B1E2B7E}"/>
              </a:ext>
            </a:extLst>
          </p:cNvPr>
          <p:cNvSpPr/>
          <p:nvPr/>
        </p:nvSpPr>
        <p:spPr>
          <a:xfrm>
            <a:off x="3051254" y="2431712"/>
            <a:ext cx="737702" cy="3231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750" dirty="0">
                <a:solidFill>
                  <a:srgbClr val="009900"/>
                </a:solidFill>
                <a:latin typeface="+mn-lt"/>
                <a:cs typeface="Arial" panose="020B0604020202020204" pitchFamily="34" charset="0"/>
              </a:rPr>
              <a:t>X-Band</a:t>
            </a:r>
          </a:p>
          <a:p>
            <a:pPr algn="ctr"/>
            <a:r>
              <a:rPr lang="en-US" altLang="ko-KR" sz="750" dirty="0">
                <a:solidFill>
                  <a:srgbClr val="009900"/>
                </a:solidFill>
                <a:latin typeface="+mn-lt"/>
                <a:cs typeface="Arial" panose="020B0604020202020204" pitchFamily="34" charset="0"/>
              </a:rPr>
              <a:t>Mission Data</a:t>
            </a:r>
            <a:endParaRPr lang="ko-KR" altLang="en-US" sz="750" dirty="0">
              <a:solidFill>
                <a:srgbClr val="009900"/>
              </a:solidFill>
              <a:latin typeface="+mn-lt"/>
              <a:cs typeface="Arial" panose="020B0604020202020204" pitchFamily="34" charset="0"/>
            </a:endParaRPr>
          </a:p>
        </p:txBody>
      </p:sp>
      <p:grpSp>
        <p:nvGrpSpPr>
          <p:cNvPr id="178" name="그룹 177">
            <a:extLst>
              <a:ext uri="{FF2B5EF4-FFF2-40B4-BE49-F238E27FC236}">
                <a16:creationId xmlns:a16="http://schemas.microsoft.com/office/drawing/2014/main" id="{4A7A1957-A39E-44F1-A613-E0A4FD2612A1}"/>
              </a:ext>
            </a:extLst>
          </p:cNvPr>
          <p:cNvGrpSpPr/>
          <p:nvPr/>
        </p:nvGrpSpPr>
        <p:grpSpPr>
          <a:xfrm>
            <a:off x="4298678" y="4905346"/>
            <a:ext cx="81000" cy="88185"/>
            <a:chOff x="9621427" y="5156166"/>
            <a:chExt cx="108000" cy="113159"/>
          </a:xfrm>
        </p:grpSpPr>
        <p:sp>
          <p:nvSpPr>
            <p:cNvPr id="179" name="직사각형 178">
              <a:extLst>
                <a:ext uri="{FF2B5EF4-FFF2-40B4-BE49-F238E27FC236}">
                  <a16:creationId xmlns:a16="http://schemas.microsoft.com/office/drawing/2014/main" id="{1C0DE17B-29E4-4D54-8EA8-2FFB696F3F80}"/>
                </a:ext>
              </a:extLst>
            </p:cNvPr>
            <p:cNvSpPr/>
            <p:nvPr/>
          </p:nvSpPr>
          <p:spPr bwMode="auto">
            <a:xfrm>
              <a:off x="9621427" y="5158745"/>
              <a:ext cx="104400" cy="104400"/>
            </a:xfrm>
            <a:prstGeom prst="rect">
              <a:avLst/>
            </a:prstGeom>
            <a:solidFill>
              <a:schemeClr val="bg1">
                <a:alpha val="0"/>
              </a:schemeClr>
            </a:solidFill>
            <a:ln w="6350" cap="flat" cmpd="sng" algn="ctr">
              <a:noFill/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68580" tIns="34290" rIns="68580" bIns="34290" numCol="1" rtlCol="0" anchor="t" anchorCtr="0" compatLnSpc="1">
              <a:prstTxWarp prst="textNoShape">
                <a:avLst/>
              </a:prstTxWarp>
            </a:bodyPr>
            <a:lstStyle/>
            <a:p>
              <a:pPr algn="ctr" defTabSz="685835" fontAlgn="base">
                <a:spcBef>
                  <a:spcPct val="0"/>
                </a:spcBef>
                <a:spcAft>
                  <a:spcPct val="0"/>
                </a:spcAft>
              </a:pPr>
              <a:endParaRPr lang="en-US" altLang="ko-KR" sz="900" dirty="0">
                <a:latin typeface="+mn-lt"/>
                <a:cs typeface="Arial" panose="020B0604020202020204" pitchFamily="34" charset="0"/>
              </a:endParaRPr>
            </a:p>
          </p:txBody>
        </p:sp>
        <p:grpSp>
          <p:nvGrpSpPr>
            <p:cNvPr id="180" name="그룹 179">
              <a:extLst>
                <a:ext uri="{FF2B5EF4-FFF2-40B4-BE49-F238E27FC236}">
                  <a16:creationId xmlns:a16="http://schemas.microsoft.com/office/drawing/2014/main" id="{C8301D94-2960-4560-952D-04556A29E08C}"/>
                </a:ext>
              </a:extLst>
            </p:cNvPr>
            <p:cNvGrpSpPr/>
            <p:nvPr/>
          </p:nvGrpSpPr>
          <p:grpSpPr>
            <a:xfrm>
              <a:off x="9621427" y="5156166"/>
              <a:ext cx="108000" cy="113159"/>
              <a:chOff x="10846836" y="2933955"/>
              <a:chExt cx="108000" cy="113159"/>
            </a:xfrm>
          </p:grpSpPr>
          <p:sp>
            <p:nvSpPr>
              <p:cNvPr id="181" name="원호 180">
                <a:extLst>
                  <a:ext uri="{FF2B5EF4-FFF2-40B4-BE49-F238E27FC236}">
                    <a16:creationId xmlns:a16="http://schemas.microsoft.com/office/drawing/2014/main" id="{A6BDD82E-2030-4CCE-839B-8F23CBBBFFB2}"/>
                  </a:ext>
                </a:extLst>
              </p:cNvPr>
              <p:cNvSpPr/>
              <p:nvPr/>
            </p:nvSpPr>
            <p:spPr>
              <a:xfrm>
                <a:off x="10846836" y="2939114"/>
                <a:ext cx="108000" cy="108000"/>
              </a:xfrm>
              <a:prstGeom prst="arc">
                <a:avLst/>
              </a:prstGeom>
              <a:ln>
                <a:solidFill>
                  <a:srgbClr val="1B6DA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 sz="1350"/>
              </a:p>
            </p:txBody>
          </p:sp>
          <p:sp>
            <p:nvSpPr>
              <p:cNvPr id="182" name="원호 181">
                <a:extLst>
                  <a:ext uri="{FF2B5EF4-FFF2-40B4-BE49-F238E27FC236}">
                    <a16:creationId xmlns:a16="http://schemas.microsoft.com/office/drawing/2014/main" id="{EC3F303B-2E54-41F0-AD12-F59546131424}"/>
                  </a:ext>
                </a:extLst>
              </p:cNvPr>
              <p:cNvSpPr/>
              <p:nvPr/>
            </p:nvSpPr>
            <p:spPr>
              <a:xfrm rot="5400000">
                <a:off x="10846836" y="2933955"/>
                <a:ext cx="108000" cy="108000"/>
              </a:xfrm>
              <a:prstGeom prst="arc">
                <a:avLst/>
              </a:prstGeom>
              <a:ln>
                <a:solidFill>
                  <a:srgbClr val="1B6DA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 sz="1350"/>
              </a:p>
            </p:txBody>
          </p:sp>
        </p:grpSp>
      </p:grpSp>
      <p:cxnSp>
        <p:nvCxnSpPr>
          <p:cNvPr id="185" name="꺾인 연결선 34">
            <a:extLst>
              <a:ext uri="{FF2B5EF4-FFF2-40B4-BE49-F238E27FC236}">
                <a16:creationId xmlns:a16="http://schemas.microsoft.com/office/drawing/2014/main" id="{D320E73A-F3C0-45A8-8613-32AE332BE902}"/>
              </a:ext>
            </a:extLst>
          </p:cNvPr>
          <p:cNvCxnSpPr>
            <a:cxnSpLocks/>
            <a:stCxn id="84" idx="2"/>
            <a:endCxn id="179" idx="2"/>
          </p:cNvCxnSpPr>
          <p:nvPr/>
        </p:nvCxnSpPr>
        <p:spPr>
          <a:xfrm rot="5400000" flipH="1">
            <a:off x="5668595" y="3657948"/>
            <a:ext cx="315459" cy="2976994"/>
          </a:xfrm>
          <a:prstGeom prst="bentConnector3">
            <a:avLst>
              <a:gd name="adj1" fmla="val -90583"/>
            </a:avLst>
          </a:prstGeom>
          <a:ln w="6350">
            <a:solidFill>
              <a:srgbClr val="0070C0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직사각형 71">
            <a:extLst>
              <a:ext uri="{FF2B5EF4-FFF2-40B4-BE49-F238E27FC236}">
                <a16:creationId xmlns:a16="http://schemas.microsoft.com/office/drawing/2014/main" id="{6515FC0C-FE24-4859-A803-642D99F876B7}"/>
              </a:ext>
            </a:extLst>
          </p:cNvPr>
          <p:cNvSpPr/>
          <p:nvPr/>
        </p:nvSpPr>
        <p:spPr>
          <a:xfrm>
            <a:off x="4695249" y="3933634"/>
            <a:ext cx="508536" cy="3231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altLang="ko-KR" sz="750" dirty="0">
                <a:solidFill>
                  <a:srgbClr val="FF0000"/>
                </a:solidFill>
                <a:latin typeface="+mn-lt"/>
                <a:cs typeface="Arial" panose="020B0604020202020204" pitchFamily="34" charset="0"/>
              </a:rPr>
              <a:t>Second</a:t>
            </a:r>
          </a:p>
          <a:p>
            <a:pPr algn="r"/>
            <a:r>
              <a:rPr lang="en-US" altLang="ko-KR" sz="750" dirty="0">
                <a:solidFill>
                  <a:srgbClr val="FF0000"/>
                </a:solidFill>
                <a:latin typeface="+mn-lt"/>
                <a:cs typeface="Arial" panose="020B0604020202020204" pitchFamily="34" charset="0"/>
              </a:rPr>
              <a:t>Voltage</a:t>
            </a:r>
            <a:endParaRPr lang="ko-KR" altLang="en-US" sz="750" dirty="0">
              <a:solidFill>
                <a:srgbClr val="FF0000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73" name="직사각형 72">
            <a:extLst>
              <a:ext uri="{FF2B5EF4-FFF2-40B4-BE49-F238E27FC236}">
                <a16:creationId xmlns:a16="http://schemas.microsoft.com/office/drawing/2014/main" id="{A67BC180-F9EB-474B-A81A-7057188D9769}"/>
              </a:ext>
            </a:extLst>
          </p:cNvPr>
          <p:cNvSpPr/>
          <p:nvPr/>
        </p:nvSpPr>
        <p:spPr>
          <a:xfrm>
            <a:off x="5482611" y="4045774"/>
            <a:ext cx="479618" cy="20774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750" dirty="0">
                <a:solidFill>
                  <a:srgbClr val="0070C0"/>
                </a:solidFill>
                <a:latin typeface="+mn-lt"/>
                <a:cs typeface="Arial" panose="020B0604020202020204" pitchFamily="34" charset="0"/>
              </a:rPr>
              <a:t>TM/TC</a:t>
            </a:r>
            <a:endParaRPr lang="ko-KR" altLang="en-US" sz="750" dirty="0">
              <a:solidFill>
                <a:srgbClr val="0070C0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C7D60D7E-6465-4094-9712-E1D21B3181C3}"/>
              </a:ext>
            </a:extLst>
          </p:cNvPr>
          <p:cNvSpPr/>
          <p:nvPr/>
        </p:nvSpPr>
        <p:spPr>
          <a:xfrm>
            <a:off x="5814943" y="3930358"/>
            <a:ext cx="620683" cy="3231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750" dirty="0">
                <a:solidFill>
                  <a:srgbClr val="0070C0"/>
                </a:solidFill>
                <a:latin typeface="+mn-lt"/>
                <a:cs typeface="Arial" panose="020B0604020202020204" pitchFamily="34" charset="0"/>
              </a:rPr>
              <a:t>Real Time</a:t>
            </a:r>
          </a:p>
          <a:p>
            <a:pPr algn="ctr"/>
            <a:r>
              <a:rPr lang="en-US" altLang="ko-KR" sz="750" dirty="0">
                <a:solidFill>
                  <a:srgbClr val="0070C0"/>
                </a:solidFill>
                <a:latin typeface="+mn-lt"/>
                <a:cs typeface="Arial" panose="020B0604020202020204" pitchFamily="34" charset="0"/>
              </a:rPr>
              <a:t>Control</a:t>
            </a:r>
            <a:endParaRPr lang="ko-KR" altLang="en-US" sz="750" dirty="0">
              <a:solidFill>
                <a:srgbClr val="0070C0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110" name="직사각형 109">
            <a:extLst>
              <a:ext uri="{FF2B5EF4-FFF2-40B4-BE49-F238E27FC236}">
                <a16:creationId xmlns:a16="http://schemas.microsoft.com/office/drawing/2014/main" id="{35C87483-C725-4246-8EA1-281A69681600}"/>
              </a:ext>
            </a:extLst>
          </p:cNvPr>
          <p:cNvSpPr/>
          <p:nvPr/>
        </p:nvSpPr>
        <p:spPr>
          <a:xfrm>
            <a:off x="5110279" y="3930358"/>
            <a:ext cx="492444" cy="3231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750" dirty="0">
                <a:solidFill>
                  <a:srgbClr val="0070C0"/>
                </a:solidFill>
                <a:latin typeface="+mn-lt"/>
                <a:cs typeface="Arial" panose="020B0604020202020204" pitchFamily="34" charset="0"/>
              </a:rPr>
              <a:t>Power</a:t>
            </a:r>
          </a:p>
          <a:p>
            <a:pPr algn="ctr"/>
            <a:r>
              <a:rPr lang="en-US" altLang="ko-KR" sz="750" dirty="0">
                <a:solidFill>
                  <a:srgbClr val="0070C0"/>
                </a:solidFill>
                <a:latin typeface="+mn-lt"/>
                <a:cs typeface="Arial" panose="020B0604020202020204" pitchFamily="34" charset="0"/>
              </a:rPr>
              <a:t>Control</a:t>
            </a:r>
            <a:endParaRPr lang="ko-KR" altLang="en-US" sz="750" dirty="0">
              <a:solidFill>
                <a:srgbClr val="0070C0"/>
              </a:solidFill>
              <a:latin typeface="+mn-lt"/>
              <a:cs typeface="Arial" panose="020B0604020202020204" pitchFamily="34" charset="0"/>
            </a:endParaRPr>
          </a:p>
        </p:txBody>
      </p:sp>
      <p:grpSp>
        <p:nvGrpSpPr>
          <p:cNvPr id="190" name="그룹 189">
            <a:extLst>
              <a:ext uri="{FF2B5EF4-FFF2-40B4-BE49-F238E27FC236}">
                <a16:creationId xmlns:a16="http://schemas.microsoft.com/office/drawing/2014/main" id="{EAE06E02-10D2-479F-8DDE-9025EAD288DF}"/>
              </a:ext>
            </a:extLst>
          </p:cNvPr>
          <p:cNvGrpSpPr/>
          <p:nvPr/>
        </p:nvGrpSpPr>
        <p:grpSpPr>
          <a:xfrm>
            <a:off x="5316001" y="4636470"/>
            <a:ext cx="81000" cy="88185"/>
            <a:chOff x="9621427" y="5156166"/>
            <a:chExt cx="108000" cy="113159"/>
          </a:xfrm>
        </p:grpSpPr>
        <p:sp>
          <p:nvSpPr>
            <p:cNvPr id="191" name="직사각형 190">
              <a:extLst>
                <a:ext uri="{FF2B5EF4-FFF2-40B4-BE49-F238E27FC236}">
                  <a16:creationId xmlns:a16="http://schemas.microsoft.com/office/drawing/2014/main" id="{E2348BD0-2FF1-4615-B33A-F2CD91A7F9C6}"/>
                </a:ext>
              </a:extLst>
            </p:cNvPr>
            <p:cNvSpPr/>
            <p:nvPr/>
          </p:nvSpPr>
          <p:spPr bwMode="auto">
            <a:xfrm>
              <a:off x="9621427" y="5158745"/>
              <a:ext cx="104400" cy="104400"/>
            </a:xfrm>
            <a:prstGeom prst="rect">
              <a:avLst/>
            </a:prstGeom>
            <a:solidFill>
              <a:schemeClr val="bg1">
                <a:alpha val="0"/>
              </a:schemeClr>
            </a:solidFill>
            <a:ln w="6350" cap="flat" cmpd="sng" algn="ctr">
              <a:noFill/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68580" tIns="34290" rIns="68580" bIns="34290" numCol="1" rtlCol="0" anchor="t" anchorCtr="0" compatLnSpc="1">
              <a:prstTxWarp prst="textNoShape">
                <a:avLst/>
              </a:prstTxWarp>
            </a:bodyPr>
            <a:lstStyle/>
            <a:p>
              <a:pPr algn="ctr" defTabSz="685835" fontAlgn="base">
                <a:spcBef>
                  <a:spcPct val="0"/>
                </a:spcBef>
                <a:spcAft>
                  <a:spcPct val="0"/>
                </a:spcAft>
              </a:pPr>
              <a:endParaRPr lang="en-US" altLang="ko-KR" sz="900" dirty="0">
                <a:latin typeface="+mn-lt"/>
                <a:cs typeface="Arial" panose="020B0604020202020204" pitchFamily="34" charset="0"/>
              </a:endParaRPr>
            </a:p>
          </p:txBody>
        </p:sp>
        <p:grpSp>
          <p:nvGrpSpPr>
            <p:cNvPr id="192" name="그룹 191">
              <a:extLst>
                <a:ext uri="{FF2B5EF4-FFF2-40B4-BE49-F238E27FC236}">
                  <a16:creationId xmlns:a16="http://schemas.microsoft.com/office/drawing/2014/main" id="{5EA56B14-F3CB-422A-8A63-8D980CAA39FA}"/>
                </a:ext>
              </a:extLst>
            </p:cNvPr>
            <p:cNvGrpSpPr/>
            <p:nvPr/>
          </p:nvGrpSpPr>
          <p:grpSpPr>
            <a:xfrm>
              <a:off x="9621427" y="5156166"/>
              <a:ext cx="108000" cy="113159"/>
              <a:chOff x="10846836" y="2933955"/>
              <a:chExt cx="108000" cy="113159"/>
            </a:xfrm>
          </p:grpSpPr>
          <p:sp>
            <p:nvSpPr>
              <p:cNvPr id="193" name="원호 192">
                <a:extLst>
                  <a:ext uri="{FF2B5EF4-FFF2-40B4-BE49-F238E27FC236}">
                    <a16:creationId xmlns:a16="http://schemas.microsoft.com/office/drawing/2014/main" id="{0F78B020-030B-42DB-95DA-464C2D60352A}"/>
                  </a:ext>
                </a:extLst>
              </p:cNvPr>
              <p:cNvSpPr/>
              <p:nvPr/>
            </p:nvSpPr>
            <p:spPr>
              <a:xfrm>
                <a:off x="10846836" y="2939114"/>
                <a:ext cx="108000" cy="108000"/>
              </a:xfrm>
              <a:prstGeom prst="arc">
                <a:avLst/>
              </a:prstGeom>
              <a:ln>
                <a:solidFill>
                  <a:srgbClr val="1B6DA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 sz="1350"/>
              </a:p>
            </p:txBody>
          </p:sp>
          <p:sp>
            <p:nvSpPr>
              <p:cNvPr id="194" name="원호 193">
                <a:extLst>
                  <a:ext uri="{FF2B5EF4-FFF2-40B4-BE49-F238E27FC236}">
                    <a16:creationId xmlns:a16="http://schemas.microsoft.com/office/drawing/2014/main" id="{046DE2DE-E577-4189-A700-A9D13F72CB82}"/>
                  </a:ext>
                </a:extLst>
              </p:cNvPr>
              <p:cNvSpPr/>
              <p:nvPr/>
            </p:nvSpPr>
            <p:spPr>
              <a:xfrm rot="5400000">
                <a:off x="10846836" y="2933955"/>
                <a:ext cx="108000" cy="108000"/>
              </a:xfrm>
              <a:prstGeom prst="arc">
                <a:avLst/>
              </a:prstGeom>
              <a:ln>
                <a:solidFill>
                  <a:srgbClr val="1B6DA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 sz="1350"/>
              </a:p>
            </p:txBody>
          </p:sp>
        </p:grpSp>
      </p:grpSp>
      <p:cxnSp>
        <p:nvCxnSpPr>
          <p:cNvPr id="198" name="꺾인 연결선 34">
            <a:extLst>
              <a:ext uri="{FF2B5EF4-FFF2-40B4-BE49-F238E27FC236}">
                <a16:creationId xmlns:a16="http://schemas.microsoft.com/office/drawing/2014/main" id="{49728C90-973B-45D3-AB48-A27190F8CD65}"/>
              </a:ext>
            </a:extLst>
          </p:cNvPr>
          <p:cNvCxnSpPr>
            <a:cxnSpLocks/>
            <a:stCxn id="84" idx="2"/>
            <a:endCxn id="191" idx="2"/>
          </p:cNvCxnSpPr>
          <p:nvPr/>
        </p:nvCxnSpPr>
        <p:spPr>
          <a:xfrm rot="5400000" flipH="1">
            <a:off x="6042819" y="4032172"/>
            <a:ext cx="584335" cy="1959671"/>
          </a:xfrm>
          <a:prstGeom prst="bentConnector3">
            <a:avLst>
              <a:gd name="adj1" fmla="val -48358"/>
            </a:avLst>
          </a:prstGeom>
          <a:ln w="6350">
            <a:solidFill>
              <a:srgbClr val="0070C0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3" name="그룹 202">
            <a:extLst>
              <a:ext uri="{FF2B5EF4-FFF2-40B4-BE49-F238E27FC236}">
                <a16:creationId xmlns:a16="http://schemas.microsoft.com/office/drawing/2014/main" id="{842ADFC2-CF56-4C92-B407-17E184CF6B1D}"/>
              </a:ext>
            </a:extLst>
          </p:cNvPr>
          <p:cNvGrpSpPr/>
          <p:nvPr/>
        </p:nvGrpSpPr>
        <p:grpSpPr>
          <a:xfrm>
            <a:off x="5681918" y="4637854"/>
            <a:ext cx="81000" cy="88185"/>
            <a:chOff x="9621427" y="5156166"/>
            <a:chExt cx="108000" cy="113159"/>
          </a:xfrm>
        </p:grpSpPr>
        <p:sp>
          <p:nvSpPr>
            <p:cNvPr id="204" name="직사각형 203">
              <a:extLst>
                <a:ext uri="{FF2B5EF4-FFF2-40B4-BE49-F238E27FC236}">
                  <a16:creationId xmlns:a16="http://schemas.microsoft.com/office/drawing/2014/main" id="{74A34C48-AFFE-4836-A3E9-6282C2A93EDF}"/>
                </a:ext>
              </a:extLst>
            </p:cNvPr>
            <p:cNvSpPr/>
            <p:nvPr/>
          </p:nvSpPr>
          <p:spPr bwMode="auto">
            <a:xfrm>
              <a:off x="9621427" y="5158745"/>
              <a:ext cx="104400" cy="104400"/>
            </a:xfrm>
            <a:prstGeom prst="rect">
              <a:avLst/>
            </a:prstGeom>
            <a:solidFill>
              <a:schemeClr val="bg1">
                <a:alpha val="0"/>
              </a:schemeClr>
            </a:solidFill>
            <a:ln w="6350" cap="flat" cmpd="sng" algn="ctr">
              <a:noFill/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68580" tIns="34290" rIns="68580" bIns="34290" numCol="1" rtlCol="0" anchor="t" anchorCtr="0" compatLnSpc="1">
              <a:prstTxWarp prst="textNoShape">
                <a:avLst/>
              </a:prstTxWarp>
            </a:bodyPr>
            <a:lstStyle/>
            <a:p>
              <a:pPr algn="ctr" defTabSz="685835" fontAlgn="base">
                <a:spcBef>
                  <a:spcPct val="0"/>
                </a:spcBef>
                <a:spcAft>
                  <a:spcPct val="0"/>
                </a:spcAft>
              </a:pPr>
              <a:endParaRPr lang="en-US" altLang="ko-KR" sz="900" dirty="0">
                <a:latin typeface="+mn-lt"/>
                <a:cs typeface="Arial" panose="020B0604020202020204" pitchFamily="34" charset="0"/>
              </a:endParaRPr>
            </a:p>
          </p:txBody>
        </p:sp>
        <p:grpSp>
          <p:nvGrpSpPr>
            <p:cNvPr id="205" name="그룹 204">
              <a:extLst>
                <a:ext uri="{FF2B5EF4-FFF2-40B4-BE49-F238E27FC236}">
                  <a16:creationId xmlns:a16="http://schemas.microsoft.com/office/drawing/2014/main" id="{DD032C5E-4FC7-47EF-9EA8-C09A7D17B162}"/>
                </a:ext>
              </a:extLst>
            </p:cNvPr>
            <p:cNvGrpSpPr/>
            <p:nvPr/>
          </p:nvGrpSpPr>
          <p:grpSpPr>
            <a:xfrm>
              <a:off x="9621427" y="5156166"/>
              <a:ext cx="108000" cy="113159"/>
              <a:chOff x="10846836" y="2933955"/>
              <a:chExt cx="108000" cy="113159"/>
            </a:xfrm>
          </p:grpSpPr>
          <p:sp>
            <p:nvSpPr>
              <p:cNvPr id="206" name="원호 205">
                <a:extLst>
                  <a:ext uri="{FF2B5EF4-FFF2-40B4-BE49-F238E27FC236}">
                    <a16:creationId xmlns:a16="http://schemas.microsoft.com/office/drawing/2014/main" id="{2E210796-E653-4256-A16C-E056DF373AD3}"/>
                  </a:ext>
                </a:extLst>
              </p:cNvPr>
              <p:cNvSpPr/>
              <p:nvPr/>
            </p:nvSpPr>
            <p:spPr>
              <a:xfrm>
                <a:off x="10846836" y="2939114"/>
                <a:ext cx="108000" cy="108000"/>
              </a:xfrm>
              <a:prstGeom prst="arc">
                <a:avLst/>
              </a:prstGeom>
              <a:ln>
                <a:solidFill>
                  <a:srgbClr val="1B6DA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 sz="1350"/>
              </a:p>
            </p:txBody>
          </p:sp>
          <p:sp>
            <p:nvSpPr>
              <p:cNvPr id="208" name="원호 207">
                <a:extLst>
                  <a:ext uri="{FF2B5EF4-FFF2-40B4-BE49-F238E27FC236}">
                    <a16:creationId xmlns:a16="http://schemas.microsoft.com/office/drawing/2014/main" id="{9BE537CC-33E5-4214-A9AD-F10279033D9D}"/>
                  </a:ext>
                </a:extLst>
              </p:cNvPr>
              <p:cNvSpPr/>
              <p:nvPr/>
            </p:nvSpPr>
            <p:spPr>
              <a:xfrm rot="5400000">
                <a:off x="10846836" y="2933955"/>
                <a:ext cx="108000" cy="108000"/>
              </a:xfrm>
              <a:prstGeom prst="arc">
                <a:avLst/>
              </a:prstGeom>
              <a:ln>
                <a:solidFill>
                  <a:srgbClr val="1B6DA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 sz="1350"/>
              </a:p>
            </p:txBody>
          </p:sp>
        </p:grpSp>
      </p:grpSp>
      <p:cxnSp>
        <p:nvCxnSpPr>
          <p:cNvPr id="212" name="꺾인 연결선 34">
            <a:extLst>
              <a:ext uri="{FF2B5EF4-FFF2-40B4-BE49-F238E27FC236}">
                <a16:creationId xmlns:a16="http://schemas.microsoft.com/office/drawing/2014/main" id="{DE056863-78F3-410D-A392-E40D4BB4A683}"/>
              </a:ext>
            </a:extLst>
          </p:cNvPr>
          <p:cNvCxnSpPr>
            <a:cxnSpLocks/>
            <a:stCxn id="93" idx="2"/>
            <a:endCxn id="204" idx="2"/>
          </p:cNvCxnSpPr>
          <p:nvPr/>
        </p:nvCxnSpPr>
        <p:spPr>
          <a:xfrm rot="5400000" flipH="1">
            <a:off x="6051207" y="4391084"/>
            <a:ext cx="582951" cy="1243230"/>
          </a:xfrm>
          <a:prstGeom prst="bentConnector3">
            <a:avLst>
              <a:gd name="adj1" fmla="val -34721"/>
            </a:avLst>
          </a:prstGeom>
          <a:ln w="6350">
            <a:solidFill>
              <a:srgbClr val="0070C0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13" name="그룹 212">
            <a:extLst>
              <a:ext uri="{FF2B5EF4-FFF2-40B4-BE49-F238E27FC236}">
                <a16:creationId xmlns:a16="http://schemas.microsoft.com/office/drawing/2014/main" id="{3227A945-2349-4BDA-A3F7-6DC9CC6360B3}"/>
              </a:ext>
            </a:extLst>
          </p:cNvPr>
          <p:cNvGrpSpPr/>
          <p:nvPr/>
        </p:nvGrpSpPr>
        <p:grpSpPr>
          <a:xfrm>
            <a:off x="6084587" y="4635843"/>
            <a:ext cx="81000" cy="88185"/>
            <a:chOff x="9621427" y="5156166"/>
            <a:chExt cx="108000" cy="113159"/>
          </a:xfrm>
        </p:grpSpPr>
        <p:sp>
          <p:nvSpPr>
            <p:cNvPr id="215" name="직사각형 214">
              <a:extLst>
                <a:ext uri="{FF2B5EF4-FFF2-40B4-BE49-F238E27FC236}">
                  <a16:creationId xmlns:a16="http://schemas.microsoft.com/office/drawing/2014/main" id="{D0DF7893-E0DF-47F3-92C2-AD8FBCEAEF12}"/>
                </a:ext>
              </a:extLst>
            </p:cNvPr>
            <p:cNvSpPr/>
            <p:nvPr/>
          </p:nvSpPr>
          <p:spPr bwMode="auto">
            <a:xfrm>
              <a:off x="9621427" y="5158745"/>
              <a:ext cx="104400" cy="104400"/>
            </a:xfrm>
            <a:prstGeom prst="rect">
              <a:avLst/>
            </a:prstGeom>
            <a:solidFill>
              <a:schemeClr val="bg1">
                <a:alpha val="0"/>
              </a:schemeClr>
            </a:solidFill>
            <a:ln w="6350" cap="flat" cmpd="sng" algn="ctr">
              <a:noFill/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68580" tIns="34290" rIns="68580" bIns="34290" numCol="1" rtlCol="0" anchor="t" anchorCtr="0" compatLnSpc="1">
              <a:prstTxWarp prst="textNoShape">
                <a:avLst/>
              </a:prstTxWarp>
            </a:bodyPr>
            <a:lstStyle/>
            <a:p>
              <a:pPr algn="ctr" defTabSz="685835" fontAlgn="base">
                <a:spcBef>
                  <a:spcPct val="0"/>
                </a:spcBef>
                <a:spcAft>
                  <a:spcPct val="0"/>
                </a:spcAft>
              </a:pPr>
              <a:endParaRPr lang="en-US" altLang="ko-KR" sz="900" dirty="0">
                <a:latin typeface="+mn-lt"/>
                <a:cs typeface="Arial" panose="020B0604020202020204" pitchFamily="34" charset="0"/>
              </a:endParaRPr>
            </a:p>
          </p:txBody>
        </p:sp>
        <p:grpSp>
          <p:nvGrpSpPr>
            <p:cNvPr id="216" name="그룹 215">
              <a:extLst>
                <a:ext uri="{FF2B5EF4-FFF2-40B4-BE49-F238E27FC236}">
                  <a16:creationId xmlns:a16="http://schemas.microsoft.com/office/drawing/2014/main" id="{819577CE-F2F4-441A-A143-E9DC2AF64B89}"/>
                </a:ext>
              </a:extLst>
            </p:cNvPr>
            <p:cNvGrpSpPr/>
            <p:nvPr/>
          </p:nvGrpSpPr>
          <p:grpSpPr>
            <a:xfrm>
              <a:off x="9621427" y="5156166"/>
              <a:ext cx="108000" cy="113159"/>
              <a:chOff x="10846836" y="2933955"/>
              <a:chExt cx="108000" cy="113159"/>
            </a:xfrm>
          </p:grpSpPr>
          <p:sp>
            <p:nvSpPr>
              <p:cNvPr id="217" name="원호 216">
                <a:extLst>
                  <a:ext uri="{FF2B5EF4-FFF2-40B4-BE49-F238E27FC236}">
                    <a16:creationId xmlns:a16="http://schemas.microsoft.com/office/drawing/2014/main" id="{E6FBC9CA-D6CC-49AA-A3C0-E898F0D8AB9A}"/>
                  </a:ext>
                </a:extLst>
              </p:cNvPr>
              <p:cNvSpPr/>
              <p:nvPr/>
            </p:nvSpPr>
            <p:spPr>
              <a:xfrm>
                <a:off x="10846836" y="2939114"/>
                <a:ext cx="108000" cy="108000"/>
              </a:xfrm>
              <a:prstGeom prst="arc">
                <a:avLst/>
              </a:prstGeom>
              <a:ln>
                <a:solidFill>
                  <a:srgbClr val="1B6DA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 sz="1350"/>
              </a:p>
            </p:txBody>
          </p:sp>
          <p:sp>
            <p:nvSpPr>
              <p:cNvPr id="219" name="원호 218">
                <a:extLst>
                  <a:ext uri="{FF2B5EF4-FFF2-40B4-BE49-F238E27FC236}">
                    <a16:creationId xmlns:a16="http://schemas.microsoft.com/office/drawing/2014/main" id="{6BEB896B-D40F-4D10-BFDE-0CE99AD5F1C1}"/>
                  </a:ext>
                </a:extLst>
              </p:cNvPr>
              <p:cNvSpPr/>
              <p:nvPr/>
            </p:nvSpPr>
            <p:spPr>
              <a:xfrm rot="5400000">
                <a:off x="10846836" y="2933955"/>
                <a:ext cx="108000" cy="108000"/>
              </a:xfrm>
              <a:prstGeom prst="arc">
                <a:avLst/>
              </a:prstGeom>
              <a:ln>
                <a:solidFill>
                  <a:srgbClr val="1B6DA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 sz="1350"/>
              </a:p>
            </p:txBody>
          </p:sp>
        </p:grpSp>
      </p:grpSp>
      <p:cxnSp>
        <p:nvCxnSpPr>
          <p:cNvPr id="221" name="꺾인 연결선 34">
            <a:extLst>
              <a:ext uri="{FF2B5EF4-FFF2-40B4-BE49-F238E27FC236}">
                <a16:creationId xmlns:a16="http://schemas.microsoft.com/office/drawing/2014/main" id="{10E58B19-8A67-4326-9C07-284897A49041}"/>
              </a:ext>
            </a:extLst>
          </p:cNvPr>
          <p:cNvCxnSpPr>
            <a:cxnSpLocks/>
            <a:stCxn id="85" idx="2"/>
            <a:endCxn id="215" idx="2"/>
          </p:cNvCxnSpPr>
          <p:nvPr/>
        </p:nvCxnSpPr>
        <p:spPr>
          <a:xfrm rot="5400000" flipH="1">
            <a:off x="6067456" y="4775494"/>
            <a:ext cx="576433" cy="463871"/>
          </a:xfrm>
          <a:prstGeom prst="bentConnector3">
            <a:avLst>
              <a:gd name="adj1" fmla="val -23134"/>
            </a:avLst>
          </a:prstGeom>
          <a:ln w="6350">
            <a:solidFill>
              <a:srgbClr val="0070C0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902117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Spacecraft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9222596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Ground Segment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090017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Launch Vehicle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Bidding Schedule for Launch Vehicle Selection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349223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Development Plan</a:t>
            </a:r>
            <a:endParaRPr lang="ko-KR" altLang="en-US"/>
          </a:p>
        </p:txBody>
      </p:sp>
      <p:sp>
        <p:nvSpPr>
          <p:cNvPr id="8" name="내용 개체 틀 7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Development Model Concept</a:t>
            </a:r>
            <a:endParaRPr lang="ko-KR" altLang="en-US"/>
          </a:p>
        </p:txBody>
      </p:sp>
      <p:graphicFrame>
        <p:nvGraphicFramePr>
          <p:cNvPr id="9" name="내용 개체 틀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10812433"/>
              </p:ext>
            </p:extLst>
          </p:nvPr>
        </p:nvGraphicFramePr>
        <p:xfrm>
          <a:off x="503237" y="1450411"/>
          <a:ext cx="8396292" cy="398942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011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969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9938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9938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9938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Subsystem</a:t>
                      </a:r>
                      <a:endParaRPr lang="ko-KR" altLang="en-US"/>
                    </a:p>
                  </a:txBody>
                  <a:tcPr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Unit or Components</a:t>
                      </a:r>
                      <a:endParaRPr lang="ko-KR" altLang="en-US"/>
                    </a:p>
                  </a:txBody>
                  <a:tcPr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Development Model</a:t>
                      </a:r>
                      <a:endParaRPr lang="ko-KR" altLang="en-US" dirty="0"/>
                    </a:p>
                  </a:txBody>
                  <a:tcPr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DM</a:t>
                      </a:r>
                      <a:endParaRPr lang="ko-KR" altLang="en-US" dirty="0"/>
                    </a:p>
                  </a:txBody>
                  <a:tcPr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EQM</a:t>
                      </a:r>
                      <a:endParaRPr lang="ko-KR" altLang="en-US" dirty="0"/>
                    </a:p>
                  </a:txBody>
                  <a:tcPr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FM</a:t>
                      </a:r>
                      <a:endParaRPr lang="ko-KR" altLang="en-US" dirty="0"/>
                    </a:p>
                  </a:txBody>
                  <a:tcPr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LSS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XDAA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-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 (P)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1 (P)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SCEU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-</a:t>
                      </a:r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 (P)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1 (P+R)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SATA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1/4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 (P)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 (P)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451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AOCS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-</a:t>
                      </a:r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 (P)</a:t>
                      </a:r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/>
                        <a:t>1 (P+R)</a:t>
                      </a:r>
                      <a:endParaRPr lang="ko-KR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6451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EPS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-</a:t>
                      </a:r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1 (P)</a:t>
                      </a:r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/>
                        <a:t>1 (P+R)</a:t>
                      </a:r>
                      <a:endParaRPr lang="ko-KR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6451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PS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-</a:t>
                      </a:r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1 (P)</a:t>
                      </a:r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/>
                        <a:t>1 (P+R)</a:t>
                      </a:r>
                      <a:endParaRPr lang="ko-KR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TC&amp;R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-</a:t>
                      </a:r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1 (P)</a:t>
                      </a:r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/>
                        <a:t>1 (P+R)</a:t>
                      </a:r>
                      <a:endParaRPr lang="ko-KR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TCS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-</a:t>
                      </a:r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 (P)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1 (P+R)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0715426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Development Plan</a:t>
            </a:r>
            <a:endParaRPr lang="ko-KR" altLang="en-US"/>
          </a:p>
        </p:txBody>
      </p:sp>
      <p:sp>
        <p:nvSpPr>
          <p:cNvPr id="6" name="내용 개체 틀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Redundancy Concept</a:t>
            </a:r>
            <a:endParaRPr lang="ko-KR" altLang="en-US"/>
          </a:p>
        </p:txBody>
      </p:sp>
      <p:graphicFrame>
        <p:nvGraphicFramePr>
          <p:cNvPr id="8" name="내용 개체 틀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66236704"/>
              </p:ext>
            </p:extLst>
          </p:nvPr>
        </p:nvGraphicFramePr>
        <p:xfrm>
          <a:off x="503237" y="1450411"/>
          <a:ext cx="8396292" cy="4726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011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969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9938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9938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9938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414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Subsystem</a:t>
                      </a:r>
                      <a:endParaRPr lang="ko-KR" altLang="en-US"/>
                    </a:p>
                  </a:txBody>
                  <a:tcPr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Unit or Components</a:t>
                      </a:r>
                      <a:endParaRPr lang="ko-KR" altLang="en-US" dirty="0"/>
                    </a:p>
                  </a:txBody>
                  <a:tcPr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Redundancy Concept</a:t>
                      </a:r>
                      <a:endParaRPr lang="ko-KR" altLang="en-US" dirty="0"/>
                    </a:p>
                  </a:txBody>
                  <a:tcPr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7490"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LSS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XDAA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-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749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SCEU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-</a:t>
                      </a:r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Partially Red.</a:t>
                      </a:r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0445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SATA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-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044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AOCS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-</a:t>
                      </a:r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Full Red.</a:t>
                      </a:r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044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EPS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-</a:t>
                      </a:r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Full Red.</a:t>
                      </a:r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2044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PS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-</a:t>
                      </a:r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Full Red.</a:t>
                      </a:r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2044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TC&amp;R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-</a:t>
                      </a:r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Full Red.</a:t>
                      </a:r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2044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TCS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-</a:t>
                      </a:r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Full Red.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3801327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Development Plan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Development Schedule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5721952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218769" y="2924908"/>
            <a:ext cx="8706462" cy="1008185"/>
          </a:xfrm>
          <a:prstGeom prst="rect">
            <a:avLst/>
          </a:prstGeom>
          <a:solidFill>
            <a:srgbClr val="DAC1FF">
              <a:alpha val="31765"/>
            </a:srgbClr>
          </a:solidFill>
        </p:spPr>
        <p:txBody>
          <a:bodyPr anchor="ctr" anchorCtr="1"/>
          <a:lstStyle>
            <a:defPPr>
              <a:defRPr lang="en-US"/>
            </a:defPPr>
            <a:lvl1pPr algn="ctr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itchFamily="18" charset="0"/>
                <a:ea typeface="굴림" charset="-127"/>
                <a:cs typeface="+mn-cs"/>
              </a:defRPr>
            </a:lvl1pPr>
            <a:lvl2pPr marL="457200" algn="ctr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itchFamily="18" charset="0"/>
                <a:ea typeface="굴림" charset="-127"/>
                <a:cs typeface="+mn-cs"/>
              </a:defRPr>
            </a:lvl2pPr>
            <a:lvl3pPr marL="914400" algn="ctr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itchFamily="18" charset="0"/>
                <a:ea typeface="굴림" charset="-127"/>
                <a:cs typeface="+mn-cs"/>
              </a:defRPr>
            </a:lvl3pPr>
            <a:lvl4pPr marL="1371600" algn="ctr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itchFamily="18" charset="0"/>
                <a:ea typeface="굴림" charset="-127"/>
                <a:cs typeface="+mn-cs"/>
              </a:defRPr>
            </a:lvl4pPr>
            <a:lvl5pPr marL="1828800" algn="ctr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itchFamily="18" charset="0"/>
                <a:ea typeface="굴림" charset="-127"/>
                <a:cs typeface="+mn-cs"/>
              </a:defRPr>
            </a:lvl5pPr>
            <a:lvl6pPr marL="22860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Times New Roman" pitchFamily="18" charset="0"/>
                <a:ea typeface="굴림" charset="-127"/>
                <a:cs typeface="+mn-cs"/>
              </a:defRPr>
            </a:lvl6pPr>
            <a:lvl7pPr marL="27432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Times New Roman" pitchFamily="18" charset="0"/>
                <a:ea typeface="굴림" charset="-127"/>
                <a:cs typeface="+mn-cs"/>
              </a:defRPr>
            </a:lvl7pPr>
            <a:lvl8pPr marL="32004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Times New Roman" pitchFamily="18" charset="0"/>
                <a:ea typeface="굴림" charset="-127"/>
                <a:cs typeface="+mn-cs"/>
              </a:defRPr>
            </a:lvl8pPr>
            <a:lvl9pPr marL="36576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Times New Roman" pitchFamily="18" charset="0"/>
                <a:ea typeface="굴림" charset="-127"/>
                <a:cs typeface="+mn-cs"/>
              </a:defRPr>
            </a:lvl9pPr>
          </a:lstStyle>
          <a:p>
            <a:pPr lvl="0" algn="l" latinLnBrk="0"/>
            <a:r>
              <a:rPr lang="en-US" altLang="ko-KR" b="1" dirty="0">
                <a:solidFill>
                  <a:srgbClr val="000000"/>
                </a:solidFill>
                <a:latin typeface="+mj-lt"/>
                <a:ea typeface="굴림" panose="020B0600000101010101" pitchFamily="50" charset="-127"/>
              </a:rPr>
              <a:t>Concept of Operation</a:t>
            </a:r>
            <a:endParaRPr lang="ko-KR" altLang="en-US" b="1" dirty="0">
              <a:solidFill>
                <a:srgbClr val="000000"/>
              </a:solidFill>
              <a:latin typeface="+mj-lt"/>
              <a:ea typeface="굴림" panose="020B0600000101010101" pitchFamily="50" charset="-127"/>
            </a:endParaRPr>
          </a:p>
        </p:txBody>
      </p:sp>
      <p:sp>
        <p:nvSpPr>
          <p:cNvPr id="5" name="Line 3"/>
          <p:cNvSpPr>
            <a:spLocks noChangeShapeType="1"/>
          </p:cNvSpPr>
          <p:nvPr/>
        </p:nvSpPr>
        <p:spPr bwMode="auto">
          <a:xfrm>
            <a:off x="221701" y="2913185"/>
            <a:ext cx="8686800" cy="0"/>
          </a:xfrm>
          <a:prstGeom prst="line">
            <a:avLst/>
          </a:prstGeom>
          <a:noFill/>
          <a:ln w="25400" cap="rnd">
            <a:gradFill flip="none" rotWithShape="1">
              <a:gsLst>
                <a:gs pos="0">
                  <a:srgbClr val="7030A0"/>
                </a:gs>
                <a:gs pos="99167">
                  <a:srgbClr val="7030A0"/>
                </a:gs>
                <a:gs pos="50000">
                  <a:srgbClr val="00B0F0"/>
                </a:gs>
              </a:gsLst>
              <a:lin ang="0" scaled="1"/>
              <a:tileRect/>
            </a:gra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US"/>
            </a:defPPr>
            <a:lvl1pPr algn="ctr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itchFamily="18" charset="0"/>
                <a:ea typeface="굴림" charset="-127"/>
                <a:cs typeface="+mn-cs"/>
              </a:defRPr>
            </a:lvl1pPr>
            <a:lvl2pPr marL="457200" algn="ctr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itchFamily="18" charset="0"/>
                <a:ea typeface="굴림" charset="-127"/>
                <a:cs typeface="+mn-cs"/>
              </a:defRPr>
            </a:lvl2pPr>
            <a:lvl3pPr marL="914400" algn="ctr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itchFamily="18" charset="0"/>
                <a:ea typeface="굴림" charset="-127"/>
                <a:cs typeface="+mn-cs"/>
              </a:defRPr>
            </a:lvl3pPr>
            <a:lvl4pPr marL="1371600" algn="ctr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itchFamily="18" charset="0"/>
                <a:ea typeface="굴림" charset="-127"/>
                <a:cs typeface="+mn-cs"/>
              </a:defRPr>
            </a:lvl4pPr>
            <a:lvl5pPr marL="1828800" algn="ctr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itchFamily="18" charset="0"/>
                <a:ea typeface="굴림" charset="-127"/>
                <a:cs typeface="+mn-cs"/>
              </a:defRPr>
            </a:lvl5pPr>
            <a:lvl6pPr marL="22860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Times New Roman" pitchFamily="18" charset="0"/>
                <a:ea typeface="굴림" charset="-127"/>
                <a:cs typeface="+mn-cs"/>
              </a:defRPr>
            </a:lvl6pPr>
            <a:lvl7pPr marL="27432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Times New Roman" pitchFamily="18" charset="0"/>
                <a:ea typeface="굴림" charset="-127"/>
                <a:cs typeface="+mn-cs"/>
              </a:defRPr>
            </a:lvl7pPr>
            <a:lvl8pPr marL="32004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Times New Roman" pitchFamily="18" charset="0"/>
                <a:ea typeface="굴림" charset="-127"/>
                <a:cs typeface="+mn-cs"/>
              </a:defRPr>
            </a:lvl8pPr>
            <a:lvl9pPr marL="36576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Times New Roman" pitchFamily="18" charset="0"/>
                <a:ea typeface="굴림" charset="-127"/>
                <a:cs typeface="+mn-cs"/>
              </a:defRPr>
            </a:lvl9pPr>
          </a:lstStyle>
          <a:p>
            <a:endParaRPr lang="ko-KR" altLang="en-US" sz="2215"/>
          </a:p>
        </p:txBody>
      </p:sp>
      <p:sp>
        <p:nvSpPr>
          <p:cNvPr id="6" name="Line 4"/>
          <p:cNvSpPr>
            <a:spLocks noChangeShapeType="1"/>
          </p:cNvSpPr>
          <p:nvPr/>
        </p:nvSpPr>
        <p:spPr bwMode="auto">
          <a:xfrm>
            <a:off x="221701" y="3931626"/>
            <a:ext cx="8686800" cy="0"/>
          </a:xfrm>
          <a:prstGeom prst="line">
            <a:avLst/>
          </a:prstGeom>
          <a:noFill/>
          <a:ln w="25400" cap="rnd">
            <a:gradFill flip="none" rotWithShape="1">
              <a:gsLst>
                <a:gs pos="0">
                  <a:srgbClr val="7030A0"/>
                </a:gs>
                <a:gs pos="99167">
                  <a:srgbClr val="7030A0"/>
                </a:gs>
                <a:gs pos="50000">
                  <a:srgbClr val="00B0F0"/>
                </a:gs>
              </a:gsLst>
              <a:lin ang="0" scaled="1"/>
              <a:tileRect/>
            </a:gra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US"/>
            </a:defPPr>
            <a:lvl1pPr algn="ctr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itchFamily="18" charset="0"/>
                <a:ea typeface="굴림" charset="-127"/>
                <a:cs typeface="+mn-cs"/>
              </a:defRPr>
            </a:lvl1pPr>
            <a:lvl2pPr marL="457200" algn="ctr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itchFamily="18" charset="0"/>
                <a:ea typeface="굴림" charset="-127"/>
                <a:cs typeface="+mn-cs"/>
              </a:defRPr>
            </a:lvl2pPr>
            <a:lvl3pPr marL="914400" algn="ctr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itchFamily="18" charset="0"/>
                <a:ea typeface="굴림" charset="-127"/>
                <a:cs typeface="+mn-cs"/>
              </a:defRPr>
            </a:lvl3pPr>
            <a:lvl4pPr marL="1371600" algn="ctr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itchFamily="18" charset="0"/>
                <a:ea typeface="굴림" charset="-127"/>
                <a:cs typeface="+mn-cs"/>
              </a:defRPr>
            </a:lvl4pPr>
            <a:lvl5pPr marL="1828800" algn="ctr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itchFamily="18" charset="0"/>
                <a:ea typeface="굴림" charset="-127"/>
                <a:cs typeface="+mn-cs"/>
              </a:defRPr>
            </a:lvl5pPr>
            <a:lvl6pPr marL="22860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Times New Roman" pitchFamily="18" charset="0"/>
                <a:ea typeface="굴림" charset="-127"/>
                <a:cs typeface="+mn-cs"/>
              </a:defRPr>
            </a:lvl6pPr>
            <a:lvl7pPr marL="27432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Times New Roman" pitchFamily="18" charset="0"/>
                <a:ea typeface="굴림" charset="-127"/>
                <a:cs typeface="+mn-cs"/>
              </a:defRPr>
            </a:lvl7pPr>
            <a:lvl8pPr marL="32004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Times New Roman" pitchFamily="18" charset="0"/>
                <a:ea typeface="굴림" charset="-127"/>
                <a:cs typeface="+mn-cs"/>
              </a:defRPr>
            </a:lvl8pPr>
            <a:lvl9pPr marL="36576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Times New Roman" pitchFamily="18" charset="0"/>
                <a:ea typeface="굴림" charset="-127"/>
                <a:cs typeface="+mn-cs"/>
              </a:defRPr>
            </a:lvl9pPr>
          </a:lstStyle>
          <a:p>
            <a:endParaRPr lang="ko-KR" altLang="en-US" sz="2215"/>
          </a:p>
        </p:txBody>
      </p:sp>
    </p:spTree>
    <p:extLst>
      <p:ext uri="{BB962C8B-B14F-4D97-AF65-F5344CB8AC3E}">
        <p14:creationId xmlns:p14="http://schemas.microsoft.com/office/powerpoint/2010/main" val="14003183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System Operations Overview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7544620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Orbit Design and Characteristics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Mission Orbit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0397274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Orbit Design and Characteristics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Ascending Node Pass (Dawn)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2507452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Orbit Design and Characteristics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Ascending Node Pass (Dusk)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3302853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Orbit Design and Characteristics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GS Contact Characteristics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9441998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System Operation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System Operation Phase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3037389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System Operation Phase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Satellite Operation Mode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703696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Payload Operation Mode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6798587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GS Operation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Mission Planning and Scheduling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346041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GS Operation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Command and Control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2080121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GS Operation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Telemetry Reception and Processing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5202260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GS Operation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Mission Support Operations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8975336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GS Operation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Flight Dynamics Operations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4374019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GS Operation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Payload Data Collection, Processing, and </a:t>
            </a:r>
            <a:r>
              <a:rPr lang="en-US" altLang="ko-KR" dirty="0" err="1"/>
              <a:t>Productioni</a:t>
            </a:r>
            <a:r>
              <a:rPr lang="en-US" altLang="ko-KR" dirty="0"/>
              <a:t> Generation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1687623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GS Operation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Calibration and Validation Operation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2107841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Payload Data Downlink Operation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2733079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218769" y="2924908"/>
            <a:ext cx="8706462" cy="1008185"/>
          </a:xfrm>
          <a:prstGeom prst="rect">
            <a:avLst/>
          </a:prstGeom>
          <a:solidFill>
            <a:srgbClr val="DAC1FF">
              <a:alpha val="31765"/>
            </a:srgbClr>
          </a:solidFill>
        </p:spPr>
        <p:txBody>
          <a:bodyPr anchor="ctr" anchorCtr="1"/>
          <a:lstStyle>
            <a:defPPr>
              <a:defRPr lang="en-US"/>
            </a:defPPr>
            <a:lvl1pPr algn="ctr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itchFamily="18" charset="0"/>
                <a:ea typeface="굴림" charset="-127"/>
                <a:cs typeface="+mn-cs"/>
              </a:defRPr>
            </a:lvl1pPr>
            <a:lvl2pPr marL="457200" algn="ctr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itchFamily="18" charset="0"/>
                <a:ea typeface="굴림" charset="-127"/>
                <a:cs typeface="+mn-cs"/>
              </a:defRPr>
            </a:lvl2pPr>
            <a:lvl3pPr marL="914400" algn="ctr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itchFamily="18" charset="0"/>
                <a:ea typeface="굴림" charset="-127"/>
                <a:cs typeface="+mn-cs"/>
              </a:defRPr>
            </a:lvl3pPr>
            <a:lvl4pPr marL="1371600" algn="ctr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itchFamily="18" charset="0"/>
                <a:ea typeface="굴림" charset="-127"/>
                <a:cs typeface="+mn-cs"/>
              </a:defRPr>
            </a:lvl4pPr>
            <a:lvl5pPr marL="1828800" algn="ctr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itchFamily="18" charset="0"/>
                <a:ea typeface="굴림" charset="-127"/>
                <a:cs typeface="+mn-cs"/>
              </a:defRPr>
            </a:lvl5pPr>
            <a:lvl6pPr marL="22860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Times New Roman" pitchFamily="18" charset="0"/>
                <a:ea typeface="굴림" charset="-127"/>
                <a:cs typeface="+mn-cs"/>
              </a:defRPr>
            </a:lvl6pPr>
            <a:lvl7pPr marL="27432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Times New Roman" pitchFamily="18" charset="0"/>
                <a:ea typeface="굴림" charset="-127"/>
                <a:cs typeface="+mn-cs"/>
              </a:defRPr>
            </a:lvl7pPr>
            <a:lvl8pPr marL="32004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Times New Roman" pitchFamily="18" charset="0"/>
                <a:ea typeface="굴림" charset="-127"/>
                <a:cs typeface="+mn-cs"/>
              </a:defRPr>
            </a:lvl8pPr>
            <a:lvl9pPr marL="36576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Times New Roman" pitchFamily="18" charset="0"/>
                <a:ea typeface="굴림" charset="-127"/>
                <a:cs typeface="+mn-cs"/>
              </a:defRPr>
            </a:lvl9pPr>
          </a:lstStyle>
          <a:p>
            <a:pPr lvl="0" algn="l" latinLnBrk="0"/>
            <a:r>
              <a:rPr lang="en-US" altLang="ko-KR" b="1" dirty="0">
                <a:solidFill>
                  <a:srgbClr val="000000"/>
                </a:solidFill>
                <a:latin typeface="+mj-lt"/>
                <a:ea typeface="굴림" panose="020B0600000101010101" pitchFamily="50" charset="-127"/>
              </a:rPr>
              <a:t>System Engineering</a:t>
            </a:r>
            <a:endParaRPr lang="ko-KR" altLang="en-US" b="1" dirty="0">
              <a:solidFill>
                <a:srgbClr val="000000"/>
              </a:solidFill>
              <a:latin typeface="+mj-lt"/>
              <a:ea typeface="굴림" panose="020B0600000101010101" pitchFamily="50" charset="-127"/>
            </a:endParaRPr>
          </a:p>
        </p:txBody>
      </p:sp>
      <p:sp>
        <p:nvSpPr>
          <p:cNvPr id="5" name="Line 3"/>
          <p:cNvSpPr>
            <a:spLocks noChangeShapeType="1"/>
          </p:cNvSpPr>
          <p:nvPr/>
        </p:nvSpPr>
        <p:spPr bwMode="auto">
          <a:xfrm>
            <a:off x="221701" y="2913185"/>
            <a:ext cx="8686800" cy="0"/>
          </a:xfrm>
          <a:prstGeom prst="line">
            <a:avLst/>
          </a:prstGeom>
          <a:noFill/>
          <a:ln w="25400" cap="rnd">
            <a:gradFill flip="none" rotWithShape="1">
              <a:gsLst>
                <a:gs pos="0">
                  <a:srgbClr val="7030A0"/>
                </a:gs>
                <a:gs pos="99167">
                  <a:srgbClr val="7030A0"/>
                </a:gs>
                <a:gs pos="50000">
                  <a:srgbClr val="00B0F0"/>
                </a:gs>
              </a:gsLst>
              <a:lin ang="0" scaled="1"/>
              <a:tileRect/>
            </a:gra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US"/>
            </a:defPPr>
            <a:lvl1pPr algn="ctr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itchFamily="18" charset="0"/>
                <a:ea typeface="굴림" charset="-127"/>
                <a:cs typeface="+mn-cs"/>
              </a:defRPr>
            </a:lvl1pPr>
            <a:lvl2pPr marL="457200" algn="ctr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itchFamily="18" charset="0"/>
                <a:ea typeface="굴림" charset="-127"/>
                <a:cs typeface="+mn-cs"/>
              </a:defRPr>
            </a:lvl2pPr>
            <a:lvl3pPr marL="914400" algn="ctr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itchFamily="18" charset="0"/>
                <a:ea typeface="굴림" charset="-127"/>
                <a:cs typeface="+mn-cs"/>
              </a:defRPr>
            </a:lvl3pPr>
            <a:lvl4pPr marL="1371600" algn="ctr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itchFamily="18" charset="0"/>
                <a:ea typeface="굴림" charset="-127"/>
                <a:cs typeface="+mn-cs"/>
              </a:defRPr>
            </a:lvl4pPr>
            <a:lvl5pPr marL="1828800" algn="ctr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itchFamily="18" charset="0"/>
                <a:ea typeface="굴림" charset="-127"/>
                <a:cs typeface="+mn-cs"/>
              </a:defRPr>
            </a:lvl5pPr>
            <a:lvl6pPr marL="22860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Times New Roman" pitchFamily="18" charset="0"/>
                <a:ea typeface="굴림" charset="-127"/>
                <a:cs typeface="+mn-cs"/>
              </a:defRPr>
            </a:lvl6pPr>
            <a:lvl7pPr marL="27432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Times New Roman" pitchFamily="18" charset="0"/>
                <a:ea typeface="굴림" charset="-127"/>
                <a:cs typeface="+mn-cs"/>
              </a:defRPr>
            </a:lvl7pPr>
            <a:lvl8pPr marL="32004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Times New Roman" pitchFamily="18" charset="0"/>
                <a:ea typeface="굴림" charset="-127"/>
                <a:cs typeface="+mn-cs"/>
              </a:defRPr>
            </a:lvl8pPr>
            <a:lvl9pPr marL="36576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Times New Roman" pitchFamily="18" charset="0"/>
                <a:ea typeface="굴림" charset="-127"/>
                <a:cs typeface="+mn-cs"/>
              </a:defRPr>
            </a:lvl9pPr>
          </a:lstStyle>
          <a:p>
            <a:endParaRPr lang="ko-KR" altLang="en-US" sz="2215"/>
          </a:p>
        </p:txBody>
      </p:sp>
      <p:sp>
        <p:nvSpPr>
          <p:cNvPr id="6" name="Line 4"/>
          <p:cNvSpPr>
            <a:spLocks noChangeShapeType="1"/>
          </p:cNvSpPr>
          <p:nvPr/>
        </p:nvSpPr>
        <p:spPr bwMode="auto">
          <a:xfrm>
            <a:off x="221701" y="3931626"/>
            <a:ext cx="8686800" cy="0"/>
          </a:xfrm>
          <a:prstGeom prst="line">
            <a:avLst/>
          </a:prstGeom>
          <a:noFill/>
          <a:ln w="25400" cap="rnd">
            <a:gradFill flip="none" rotWithShape="1">
              <a:gsLst>
                <a:gs pos="0">
                  <a:srgbClr val="7030A0"/>
                </a:gs>
                <a:gs pos="99167">
                  <a:srgbClr val="7030A0"/>
                </a:gs>
                <a:gs pos="50000">
                  <a:srgbClr val="00B0F0"/>
                </a:gs>
              </a:gsLst>
              <a:lin ang="0" scaled="1"/>
              <a:tileRect/>
            </a:gra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US"/>
            </a:defPPr>
            <a:lvl1pPr algn="ctr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itchFamily="18" charset="0"/>
                <a:ea typeface="굴림" charset="-127"/>
                <a:cs typeface="+mn-cs"/>
              </a:defRPr>
            </a:lvl1pPr>
            <a:lvl2pPr marL="457200" algn="ctr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itchFamily="18" charset="0"/>
                <a:ea typeface="굴림" charset="-127"/>
                <a:cs typeface="+mn-cs"/>
              </a:defRPr>
            </a:lvl2pPr>
            <a:lvl3pPr marL="914400" algn="ctr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itchFamily="18" charset="0"/>
                <a:ea typeface="굴림" charset="-127"/>
                <a:cs typeface="+mn-cs"/>
              </a:defRPr>
            </a:lvl3pPr>
            <a:lvl4pPr marL="1371600" algn="ctr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itchFamily="18" charset="0"/>
                <a:ea typeface="굴림" charset="-127"/>
                <a:cs typeface="+mn-cs"/>
              </a:defRPr>
            </a:lvl4pPr>
            <a:lvl5pPr marL="1828800" algn="ctr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itchFamily="18" charset="0"/>
                <a:ea typeface="굴림" charset="-127"/>
                <a:cs typeface="+mn-cs"/>
              </a:defRPr>
            </a:lvl5pPr>
            <a:lvl6pPr marL="22860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Times New Roman" pitchFamily="18" charset="0"/>
                <a:ea typeface="굴림" charset="-127"/>
                <a:cs typeface="+mn-cs"/>
              </a:defRPr>
            </a:lvl6pPr>
            <a:lvl7pPr marL="27432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Times New Roman" pitchFamily="18" charset="0"/>
                <a:ea typeface="굴림" charset="-127"/>
                <a:cs typeface="+mn-cs"/>
              </a:defRPr>
            </a:lvl7pPr>
            <a:lvl8pPr marL="32004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Times New Roman" pitchFamily="18" charset="0"/>
                <a:ea typeface="굴림" charset="-127"/>
                <a:cs typeface="+mn-cs"/>
              </a:defRPr>
            </a:lvl8pPr>
            <a:lvl9pPr marL="36576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Times New Roman" pitchFamily="18" charset="0"/>
                <a:ea typeface="굴림" charset="-127"/>
                <a:cs typeface="+mn-cs"/>
              </a:defRPr>
            </a:lvl9pPr>
          </a:lstStyle>
          <a:p>
            <a:endParaRPr lang="ko-KR" altLang="en-US" sz="2215"/>
          </a:p>
        </p:txBody>
      </p:sp>
    </p:spTree>
    <p:extLst>
      <p:ext uri="{BB962C8B-B14F-4D97-AF65-F5344CB8AC3E}">
        <p14:creationId xmlns:p14="http://schemas.microsoft.com/office/powerpoint/2010/main" val="72344411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Specification Tree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1732878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System Requirements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Requirements Allocation</a:t>
            </a:r>
            <a:endParaRPr lang="ko-KR" altLang="en-US" dirty="0"/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9409F9F2-2F43-4842-9A17-09AFA32899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5428776"/>
              </p:ext>
            </p:extLst>
          </p:nvPr>
        </p:nvGraphicFramePr>
        <p:xfrm>
          <a:off x="500335" y="1464151"/>
          <a:ext cx="8100202" cy="45829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0812">
                  <a:extLst>
                    <a:ext uri="{9D8B030D-6E8A-4147-A177-3AD203B41FA5}">
                      <a16:colId xmlns:a16="http://schemas.microsoft.com/office/drawing/2014/main" val="3967507389"/>
                    </a:ext>
                  </a:extLst>
                </a:gridCol>
                <a:gridCol w="3408907">
                  <a:extLst>
                    <a:ext uri="{9D8B030D-6E8A-4147-A177-3AD203B41FA5}">
                      <a16:colId xmlns:a16="http://schemas.microsoft.com/office/drawing/2014/main" val="3747694627"/>
                    </a:ext>
                  </a:extLst>
                </a:gridCol>
                <a:gridCol w="2165685">
                  <a:extLst>
                    <a:ext uri="{9D8B030D-6E8A-4147-A177-3AD203B41FA5}">
                      <a16:colId xmlns:a16="http://schemas.microsoft.com/office/drawing/2014/main" val="169883087"/>
                    </a:ext>
                  </a:extLst>
                </a:gridCol>
                <a:gridCol w="1724798">
                  <a:extLst>
                    <a:ext uri="{9D8B030D-6E8A-4147-A177-3AD203B41FA5}">
                      <a16:colId xmlns:a16="http://schemas.microsoft.com/office/drawing/2014/main" val="1220576217"/>
                    </a:ext>
                  </a:extLst>
                </a:gridCol>
              </a:tblGrid>
              <a:tr h="22278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순번</a:t>
                      </a:r>
                    </a:p>
                  </a:txBody>
                  <a:tcPr anchor="ctr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항목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설계규격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비고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4531302"/>
                  </a:ext>
                </a:extLst>
              </a:tr>
              <a:tr h="22278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SAR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 분해능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Az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: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&lt; 1 m, </a:t>
                      </a:r>
                      <a:r>
                        <a:rPr lang="en-US" altLang="ko-KR" sz="800" b="0" dirty="0" err="1">
                          <a:solidFill>
                            <a:schemeClr val="tx1"/>
                          </a:solidFill>
                        </a:rPr>
                        <a:t>Rg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 : &lt; 1 m</a:t>
                      </a:r>
                      <a:endParaRPr lang="ko-KR" altLang="en-US" sz="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16304871"/>
                  </a:ext>
                </a:extLst>
              </a:tr>
              <a:tr h="22278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고도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505 km</a:t>
                      </a:r>
                      <a:endParaRPr lang="ko-KR" altLang="en-US" sz="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TBD</a:t>
                      </a:r>
                      <a:endParaRPr lang="ko-KR" altLang="en-US" sz="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5036857"/>
                  </a:ext>
                </a:extLst>
              </a:tr>
              <a:tr h="22278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궤도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태양동기궤도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99435687"/>
                  </a:ext>
                </a:extLst>
              </a:tr>
              <a:tr h="22278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궤도당 최대 영상획득 시간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&gt; 60 s , Duty &lt; 1%</a:t>
                      </a:r>
                      <a:endParaRPr lang="ko-KR" altLang="en-US" sz="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TBD</a:t>
                      </a:r>
                      <a:endParaRPr lang="ko-KR" altLang="en-US" sz="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23659625"/>
                  </a:ext>
                </a:extLst>
              </a:tr>
              <a:tr h="22278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관측 모드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 err="1">
                          <a:solidFill>
                            <a:schemeClr val="tx1"/>
                          </a:solidFill>
                        </a:rPr>
                        <a:t>Stripmap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en-US" altLang="ko-KR" sz="800" b="0" dirty="0" err="1">
                          <a:solidFill>
                            <a:schemeClr val="tx1"/>
                          </a:solidFill>
                        </a:rPr>
                        <a:t>ScanSAR</a:t>
                      </a:r>
                      <a:endParaRPr lang="ko-KR" altLang="en-US" sz="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6446448"/>
                  </a:ext>
                </a:extLst>
              </a:tr>
              <a:tr h="22278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err="1">
                          <a:solidFill>
                            <a:schemeClr val="tx1"/>
                          </a:solidFill>
                        </a:rPr>
                        <a:t>관측폭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 err="1">
                          <a:solidFill>
                            <a:schemeClr val="tx1"/>
                          </a:solidFill>
                        </a:rPr>
                        <a:t>Stripmap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 : &gt; 40 km, </a:t>
                      </a:r>
                      <a:r>
                        <a:rPr lang="en-US" altLang="ko-KR" sz="800" b="0" dirty="0" err="1">
                          <a:solidFill>
                            <a:schemeClr val="tx1"/>
                          </a:solidFill>
                        </a:rPr>
                        <a:t>ScanSAR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 : &gt;120km</a:t>
                      </a:r>
                      <a:endParaRPr lang="ko-KR" altLang="en-US" sz="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TBD</a:t>
                      </a:r>
                      <a:endParaRPr lang="ko-KR" altLang="en-US" sz="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87719992"/>
                  </a:ext>
                </a:extLst>
              </a:tr>
              <a:tr h="22278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관측 경사각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20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sym typeface="Symbol" panose="05050102010706020507" pitchFamily="18" charset="2"/>
                        </a:rPr>
                        <a:t>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 ~ 35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sym typeface="Symbol" panose="05050102010706020507" pitchFamily="18" charset="2"/>
                        </a:rPr>
                        <a:t></a:t>
                      </a:r>
                      <a:endParaRPr lang="ko-KR" altLang="en-US" sz="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TBD</a:t>
                      </a:r>
                      <a:endParaRPr lang="ko-KR" altLang="en-US" sz="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83785114"/>
                  </a:ext>
                </a:extLst>
              </a:tr>
              <a:tr h="22278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9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SAR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 영상자료저장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ko-KR" altLang="en-US" sz="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TBD</a:t>
                      </a:r>
                      <a:endParaRPr lang="ko-KR" altLang="en-US" sz="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459762"/>
                  </a:ext>
                </a:extLst>
              </a:tr>
              <a:tr h="22278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SAR 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영상자료전송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ko-KR" altLang="en-US" sz="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TBD</a:t>
                      </a:r>
                      <a:endParaRPr lang="ko-KR" altLang="en-US" sz="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8495945"/>
                  </a:ext>
                </a:extLst>
              </a:tr>
              <a:tr h="22278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자료 암호화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ko-KR" altLang="en-US" sz="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TBD</a:t>
                      </a:r>
                      <a:endParaRPr lang="ko-KR" altLang="en-US" sz="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0369980"/>
                  </a:ext>
                </a:extLst>
              </a:tr>
              <a:tr h="22278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12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이중화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주요장치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TBD</a:t>
                      </a:r>
                      <a:endParaRPr lang="ko-KR" altLang="en-US" sz="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9546947"/>
                  </a:ext>
                </a:extLst>
              </a:tr>
              <a:tr h="22278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13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편파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V-pol.</a:t>
                      </a:r>
                      <a:endParaRPr lang="ko-KR" altLang="en-US" sz="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8695433"/>
                  </a:ext>
                </a:extLst>
              </a:tr>
              <a:tr h="22278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14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주파수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9.66 GHz</a:t>
                      </a:r>
                      <a:endParaRPr lang="ko-KR" altLang="en-US" sz="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81161276"/>
                  </a:ext>
                </a:extLst>
              </a:tr>
              <a:tr h="22278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15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Chirp 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대역폭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&gt; 300 MHz</a:t>
                      </a:r>
                      <a:endParaRPr lang="ko-KR" altLang="en-US" sz="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TBD</a:t>
                      </a:r>
                      <a:endParaRPr lang="ko-KR" altLang="en-US" sz="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05690612"/>
                  </a:ext>
                </a:extLst>
              </a:tr>
              <a:tr h="22278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16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Chirp 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생성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DDS, </a:t>
                      </a:r>
                      <a:r>
                        <a:rPr lang="en-US" altLang="ko-KR" sz="800" b="0" dirty="0" err="1">
                          <a:solidFill>
                            <a:schemeClr val="tx1"/>
                          </a:solidFill>
                        </a:rPr>
                        <a:t>Memorymap</a:t>
                      </a:r>
                      <a:endParaRPr lang="ko-KR" altLang="en-US" sz="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TBD</a:t>
                      </a:r>
                      <a:endParaRPr lang="ko-KR" altLang="en-US" sz="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31539315"/>
                  </a:ext>
                </a:extLst>
              </a:tr>
              <a:tr h="22278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17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소비전력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&lt; 600 W</a:t>
                      </a:r>
                      <a:endParaRPr lang="ko-KR" altLang="en-US" sz="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 TBD</a:t>
                      </a:r>
                      <a:endParaRPr lang="ko-KR" altLang="en-US" sz="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51445837"/>
                  </a:ext>
                </a:extLst>
              </a:tr>
              <a:tr h="22278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18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무게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&lt; 80 kg</a:t>
                      </a:r>
                      <a:endParaRPr lang="ko-KR" altLang="en-US" sz="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TBD</a:t>
                      </a:r>
                      <a:endParaRPr lang="ko-KR" altLang="en-US" sz="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169654"/>
                  </a:ext>
                </a:extLst>
              </a:tr>
              <a:tr h="35008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19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크기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At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Launch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: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0.6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m x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0.6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m x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0.6 m</a:t>
                      </a:r>
                    </a:p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In Orbit : 3.2 m x 0.6 m x 0.6 m</a:t>
                      </a:r>
                      <a:endParaRPr lang="ko-KR" altLang="en-US" sz="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TBD</a:t>
                      </a:r>
                      <a:endParaRPr lang="ko-KR" altLang="en-US" sz="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33535112"/>
                  </a:ext>
                </a:extLst>
              </a:tr>
              <a:tr h="22278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20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환경조건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진동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충격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, EMC,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온도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TBD</a:t>
                      </a:r>
                      <a:endParaRPr lang="ko-KR" altLang="en-US" sz="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907561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11239139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System Requirements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TBD/TBR/TBC List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75087114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System Budget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Definition and Allocation</a:t>
            </a:r>
            <a:endParaRPr lang="ko-KR" altLang="en-US"/>
          </a:p>
        </p:txBody>
      </p:sp>
      <p:graphicFrame>
        <p:nvGraphicFramePr>
          <p:cNvPr id="4" name="내용 개체 틀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90079726"/>
              </p:ext>
            </p:extLst>
          </p:nvPr>
        </p:nvGraphicFramePr>
        <p:xfrm>
          <a:off x="503237" y="1450411"/>
          <a:ext cx="8396292" cy="456631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011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751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28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6770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9938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Item</a:t>
                      </a:r>
                      <a:endParaRPr lang="ko-KR" altLang="en-US" sz="16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Responsible</a:t>
                      </a:r>
                      <a:endParaRPr lang="ko-KR" altLang="en-US" sz="16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담당자</a:t>
                      </a:r>
                    </a:p>
                  </a:txBody>
                  <a:tcPr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Description</a:t>
                      </a:r>
                      <a:endParaRPr lang="ko-KR" altLang="en-US" sz="16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Remark</a:t>
                      </a:r>
                      <a:endParaRPr lang="ko-KR" altLang="en-US" sz="16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Image Quality Budget</a:t>
                      </a:r>
                      <a:endParaRPr lang="ko-KR" altLang="en-US" sz="16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Sys. Eng.</a:t>
                      </a:r>
                      <a:endParaRPr lang="ko-KR" altLang="en-US" sz="16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우무현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6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451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Pointing Budget</a:t>
                      </a:r>
                      <a:endParaRPr lang="ko-KR" altLang="en-US" sz="16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Sys. Eng.</a:t>
                      </a:r>
                      <a:endParaRPr lang="ko-KR" altLang="en-US" sz="16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[TBD]</a:t>
                      </a:r>
                      <a:endParaRPr lang="ko-KR" altLang="en-US" sz="16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6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451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Mass Budget</a:t>
                      </a:r>
                      <a:endParaRPr lang="ko-KR" altLang="en-US" sz="16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MDI</a:t>
                      </a:r>
                      <a:endParaRPr lang="ko-KR" altLang="en-US" sz="16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오대수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6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451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Power Budget</a:t>
                      </a:r>
                      <a:endParaRPr lang="ko-KR" altLang="en-US" sz="16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EDI</a:t>
                      </a:r>
                      <a:endParaRPr lang="ko-KR" altLang="en-US" sz="16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오대수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6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S-band Link Budget</a:t>
                      </a:r>
                      <a:endParaRPr lang="ko-KR" altLang="en-US" sz="16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TC&amp;R</a:t>
                      </a:r>
                      <a:endParaRPr lang="ko-KR" altLang="en-US" sz="16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[TBD]</a:t>
                      </a:r>
                      <a:endParaRPr lang="ko-KR" altLang="en-US" sz="16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6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X-band Link Budget</a:t>
                      </a:r>
                      <a:endParaRPr lang="ko-KR" altLang="en-US" sz="16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Payload</a:t>
                      </a:r>
                      <a:endParaRPr lang="ko-KR" altLang="en-US" sz="16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우무현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6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Propellant Budget</a:t>
                      </a:r>
                      <a:endParaRPr lang="ko-KR" altLang="en-US" sz="16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Sys. Eng.</a:t>
                      </a:r>
                      <a:endParaRPr lang="ko-KR" altLang="en-US" sz="16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[TBD]</a:t>
                      </a:r>
                      <a:endParaRPr lang="ko-KR" altLang="en-US" sz="16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6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Reliability</a:t>
                      </a:r>
                      <a:endParaRPr lang="ko-KR" altLang="en-US" sz="16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PA</a:t>
                      </a:r>
                      <a:endParaRPr lang="ko-KR" altLang="en-US" sz="16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조성운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6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61618429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Image Quality Budget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2192131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Pointing Budget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97187893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Mass Budget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40725085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Power Budget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88325476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S-band Link Budget</a:t>
            </a:r>
            <a:endParaRPr lang="ko-KR" altLang="en-US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36335934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X-band Link Budget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08043521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Propellant Budget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46216092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Reliability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89472093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Interface between Payloads and Spacecraft Bus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06072609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Launch Vehicle Selection and Interface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Mission Design Interface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49389764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Launch Vehicle Selection and Interface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Electrical Interface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68746474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D263454-BA6F-429F-B0C1-0DDEEC6F1E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Launch Vehicle Selection and Interface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AA9F1EE-D202-4CD7-8AAE-E32CFB5587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Mechanical Interface</a:t>
            </a:r>
            <a:endParaRPr lang="ko-KR" altLang="en-US" dirty="0"/>
          </a:p>
        </p:txBody>
      </p:sp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23AB4A94-332B-4BB1-A7BF-7494FD25714B}"/>
              </a:ext>
            </a:extLst>
          </p:cNvPr>
          <p:cNvGraphicFramePr>
            <a:graphicFrameLocks noGrp="1"/>
          </p:cNvGraphicFramePr>
          <p:nvPr/>
        </p:nvGraphicFramePr>
        <p:xfrm>
          <a:off x="105926" y="1705511"/>
          <a:ext cx="8786419" cy="462938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1495">
                  <a:extLst>
                    <a:ext uri="{9D8B030D-6E8A-4147-A177-3AD203B41FA5}">
                      <a16:colId xmlns:a16="http://schemas.microsoft.com/office/drawing/2014/main" val="2693699986"/>
                    </a:ext>
                  </a:extLst>
                </a:gridCol>
                <a:gridCol w="3383280">
                  <a:extLst>
                    <a:ext uri="{9D8B030D-6E8A-4147-A177-3AD203B41FA5}">
                      <a16:colId xmlns:a16="http://schemas.microsoft.com/office/drawing/2014/main" val="3854614882"/>
                    </a:ext>
                  </a:extLst>
                </a:gridCol>
                <a:gridCol w="3368626">
                  <a:extLst>
                    <a:ext uri="{9D8B030D-6E8A-4147-A177-3AD203B41FA5}">
                      <a16:colId xmlns:a16="http://schemas.microsoft.com/office/drawing/2014/main" val="4087732750"/>
                    </a:ext>
                  </a:extLst>
                </a:gridCol>
                <a:gridCol w="1223018">
                  <a:extLst>
                    <a:ext uri="{9D8B030D-6E8A-4147-A177-3AD203B41FA5}">
                      <a16:colId xmlns:a16="http://schemas.microsoft.com/office/drawing/2014/main" val="3586262705"/>
                    </a:ext>
                  </a:extLst>
                </a:gridCol>
              </a:tblGrid>
              <a:tr h="346809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항목</a:t>
                      </a:r>
                    </a:p>
                  </a:txBody>
                  <a:tcPr anchor="ctr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+mj-lt"/>
                        </a:rPr>
                        <a:t>SPACE X – Falcon9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9000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+mj-lt"/>
                        </a:rPr>
                        <a:t>ROKET</a:t>
                      </a:r>
                      <a:r>
                        <a:rPr lang="en-US" altLang="ko-KR" sz="1200" baseline="0" dirty="0">
                          <a:solidFill>
                            <a:schemeClr val="tx1"/>
                          </a:solidFill>
                          <a:latin typeface="+mj-lt"/>
                        </a:rPr>
                        <a:t> LAB - Electron</a:t>
                      </a:r>
                      <a:endParaRPr lang="ko-KR" altLang="en-US" sz="12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000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비고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4801008"/>
                  </a:ext>
                </a:extLst>
              </a:tr>
              <a:tr h="365831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Fairing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+mn-lt"/>
                        <a:ea typeface="+mn-ea"/>
                      </a:endParaRPr>
                    </a:p>
                  </a:txBody>
                  <a:tcPr anchor="ctr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lnSpc>
                          <a:spcPct val="150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크기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: Ø4.6 X 11 (m)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lnSpc>
                          <a:spcPct val="150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크기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: Ø1.07 X</a:t>
                      </a:r>
                      <a:r>
                        <a:rPr lang="en-US" altLang="ko-KR" sz="900" b="0" baseline="0" dirty="0">
                          <a:solidFill>
                            <a:schemeClr val="tx1"/>
                          </a:solidFill>
                        </a:rPr>
                        <a:t> 1.9 (m)</a:t>
                      </a:r>
                      <a:endParaRPr lang="en-US" altLang="ko-KR" sz="9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57175" lvl="0" indent="-171450" algn="l" latinLnBrk="1">
                        <a:lnSpc>
                          <a:spcPct val="150000"/>
                        </a:lnSpc>
                        <a:buFont typeface="Wingdings" panose="05000000000000000000" pitchFamily="2" charset="2"/>
                        <a:buChar char="ü"/>
                      </a:pPr>
                      <a:endParaRPr lang="en-US" altLang="ko-KR" sz="9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08348595"/>
                  </a:ext>
                </a:extLst>
              </a:tr>
              <a:tr h="62425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Payload</a:t>
                      </a:r>
                      <a:br>
                        <a:rPr lang="en-US" altLang="ko-KR" sz="9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</a:b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plate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Interface</a:t>
                      </a:r>
                    </a:p>
                  </a:txBody>
                  <a:tcPr anchor="ctr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lnSpc>
                          <a:spcPct val="150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업체에 문의 필요</a:t>
                      </a:r>
                      <a:endParaRPr lang="en-US" altLang="ko-KR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lnSpc>
                          <a:spcPct val="150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업체에 문의 필요</a:t>
                      </a:r>
                      <a:endParaRPr lang="en-US" altLang="ko-KR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57175" lvl="0" indent="-171450" algn="l" latinLnBrk="1">
                        <a:lnSpc>
                          <a:spcPct val="150000"/>
                        </a:lnSpc>
                        <a:buFont typeface="Wingdings" panose="05000000000000000000" pitchFamily="2" charset="2"/>
                        <a:buChar char="ü"/>
                      </a:pPr>
                      <a:endParaRPr lang="en-US" altLang="ko-KR" sz="9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5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01" r="6238"/>
          <a:stretch/>
        </p:blipFill>
        <p:spPr bwMode="auto">
          <a:xfrm>
            <a:off x="1591398" y="2463045"/>
            <a:ext cx="2303594" cy="32353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3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90" r="3133" b="1486"/>
          <a:stretch/>
        </p:blipFill>
        <p:spPr bwMode="auto">
          <a:xfrm>
            <a:off x="4613679" y="2483365"/>
            <a:ext cx="2948275" cy="32177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직사각형 7"/>
          <p:cNvSpPr/>
          <p:nvPr/>
        </p:nvSpPr>
        <p:spPr>
          <a:xfrm>
            <a:off x="924560" y="1387902"/>
            <a:ext cx="3403600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ko-KR" sz="1200" dirty="0">
                <a:latin typeface="+mn-lt"/>
              </a:rPr>
              <a:t>※FALCON USER’S GUIDE JANUARY 2019</a:t>
            </a:r>
            <a:endParaRPr lang="ko-KR" altLang="en-US" sz="1200" dirty="0">
              <a:latin typeface="+mn-lt"/>
            </a:endParaRPr>
          </a:p>
        </p:txBody>
      </p:sp>
      <p:sp>
        <p:nvSpPr>
          <p:cNvPr id="11" name="직사각형 10"/>
          <p:cNvSpPr/>
          <p:nvPr/>
        </p:nvSpPr>
        <p:spPr>
          <a:xfrm>
            <a:off x="4328160" y="1387901"/>
            <a:ext cx="3403600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ko-KR" sz="1200" dirty="0">
                <a:latin typeface="+mn-lt"/>
              </a:rPr>
              <a:t>※PAYLOAD USER’S GUIDE JUNE 2019</a:t>
            </a:r>
          </a:p>
        </p:txBody>
      </p:sp>
    </p:spTree>
    <p:extLst>
      <p:ext uri="{BB962C8B-B14F-4D97-AF65-F5344CB8AC3E}">
        <p14:creationId xmlns:p14="http://schemas.microsoft.com/office/powerpoint/2010/main" val="1966476598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D263454-BA6F-429F-B0C1-0DDEEC6F1E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Launch Vehicle Selection and Interface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AA9F1EE-D202-4CD7-8AAE-E32CFB5587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Environment Interface</a:t>
            </a:r>
          </a:p>
          <a:p>
            <a:pPr marL="347663" lvl="1" indent="0">
              <a:buNone/>
            </a:pPr>
            <a:endParaRPr lang="en-US" altLang="ko-KR" dirty="0"/>
          </a:p>
        </p:txBody>
      </p:sp>
      <p:graphicFrame>
        <p:nvGraphicFramePr>
          <p:cNvPr id="7" name="표 4">
            <a:extLst>
              <a:ext uri="{FF2B5EF4-FFF2-40B4-BE49-F238E27FC236}">
                <a16:creationId xmlns:a16="http://schemas.microsoft.com/office/drawing/2014/main" id="{23AB4A94-332B-4BB1-A7BF-7494FD25714B}"/>
              </a:ext>
            </a:extLst>
          </p:cNvPr>
          <p:cNvGraphicFramePr>
            <a:graphicFrameLocks noGrp="1"/>
          </p:cNvGraphicFramePr>
          <p:nvPr/>
        </p:nvGraphicFramePr>
        <p:xfrm>
          <a:off x="156245" y="1338688"/>
          <a:ext cx="8786419" cy="502694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1495">
                  <a:extLst>
                    <a:ext uri="{9D8B030D-6E8A-4147-A177-3AD203B41FA5}">
                      <a16:colId xmlns:a16="http://schemas.microsoft.com/office/drawing/2014/main" val="2693699986"/>
                    </a:ext>
                  </a:extLst>
                </a:gridCol>
                <a:gridCol w="3383280">
                  <a:extLst>
                    <a:ext uri="{9D8B030D-6E8A-4147-A177-3AD203B41FA5}">
                      <a16:colId xmlns:a16="http://schemas.microsoft.com/office/drawing/2014/main" val="3854614882"/>
                    </a:ext>
                  </a:extLst>
                </a:gridCol>
                <a:gridCol w="3368626">
                  <a:extLst>
                    <a:ext uri="{9D8B030D-6E8A-4147-A177-3AD203B41FA5}">
                      <a16:colId xmlns:a16="http://schemas.microsoft.com/office/drawing/2014/main" val="4087732750"/>
                    </a:ext>
                  </a:extLst>
                </a:gridCol>
                <a:gridCol w="1223018">
                  <a:extLst>
                    <a:ext uri="{9D8B030D-6E8A-4147-A177-3AD203B41FA5}">
                      <a16:colId xmlns:a16="http://schemas.microsoft.com/office/drawing/2014/main" val="3586262705"/>
                    </a:ext>
                  </a:extLst>
                </a:gridCol>
              </a:tblGrid>
              <a:tr h="200533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규격</a:t>
                      </a:r>
                    </a:p>
                  </a:txBody>
                  <a:tcPr anchor="ctr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+mj-lt"/>
                        </a:rPr>
                        <a:t>SPACE X – Falcon9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9000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+mj-lt"/>
                        </a:rPr>
                        <a:t>ROKET</a:t>
                      </a:r>
                      <a:r>
                        <a:rPr lang="en-US" altLang="ko-KR" sz="1200" baseline="0" dirty="0">
                          <a:solidFill>
                            <a:schemeClr val="tx1"/>
                          </a:solidFill>
                          <a:latin typeface="+mj-lt"/>
                        </a:rPr>
                        <a:t> LAB - Electron</a:t>
                      </a:r>
                      <a:endParaRPr lang="ko-KR" altLang="en-US" sz="12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000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비고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4801008"/>
                  </a:ext>
                </a:extLst>
              </a:tr>
              <a:tr h="245783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Load</a:t>
                      </a:r>
                      <a:r>
                        <a:rPr lang="en-US" altLang="ko-KR" sz="9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 Factor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+mn-lt"/>
                        <a:ea typeface="+mn-ea"/>
                      </a:endParaRPr>
                    </a:p>
                  </a:txBody>
                  <a:tcPr anchor="ctr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endParaRPr lang="en-US" altLang="ko-KR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lnSpc>
                          <a:spcPct val="150000"/>
                        </a:lnSpc>
                        <a:buFont typeface="Wingdings" panose="05000000000000000000" pitchFamily="2" charset="2"/>
                        <a:buChar char="§"/>
                      </a:pPr>
                      <a:endParaRPr lang="en-US" altLang="ko-KR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57175" lvl="0" indent="-171450" algn="l" latinLnBrk="1">
                        <a:lnSpc>
                          <a:spcPct val="150000"/>
                        </a:lnSpc>
                        <a:buFont typeface="Wingdings" panose="05000000000000000000" pitchFamily="2" charset="2"/>
                        <a:buChar char="ü"/>
                      </a:pPr>
                      <a:endParaRPr lang="en-US" altLang="ko-KR" sz="9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08348595"/>
                  </a:ext>
                </a:extLst>
              </a:tr>
              <a:tr h="229479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>
                          <a:solidFill>
                            <a:schemeClr val="tx1"/>
                          </a:solidFill>
                        </a:rPr>
                        <a:t>Sine</a:t>
                      </a:r>
                      <a:r>
                        <a:rPr lang="en-US" altLang="ko-KR" sz="900" baseline="0" dirty="0">
                          <a:solidFill>
                            <a:schemeClr val="tx1"/>
                          </a:solidFill>
                        </a:rPr>
                        <a:t> Vibration</a:t>
                      </a:r>
                      <a:endParaRPr lang="ko-KR" alt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lnSpc>
                          <a:spcPct val="150000"/>
                        </a:lnSpc>
                        <a:buFont typeface="Wingdings" panose="05000000000000000000" pitchFamily="2" charset="2"/>
                        <a:buNone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매뉴얼에 항목 없음</a:t>
                      </a:r>
                      <a:endParaRPr lang="en-US" altLang="ko-KR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85725" indent="0" algn="l" latinLnBrk="1">
                        <a:lnSpc>
                          <a:spcPct val="150000"/>
                        </a:lnSpc>
                        <a:buFont typeface="Wingdings" panose="05000000000000000000" pitchFamily="2" charset="2"/>
                        <a:buNone/>
                      </a:pPr>
                      <a:endParaRPr lang="en-US" altLang="ko-KR" sz="9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12" name="그림 11"/>
          <p:cNvPicPr/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858"/>
          <a:stretch/>
        </p:blipFill>
        <p:spPr bwMode="auto">
          <a:xfrm>
            <a:off x="1154674" y="1712875"/>
            <a:ext cx="2796051" cy="1927633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88992" y="1712875"/>
            <a:ext cx="2897123" cy="19831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14" name="표 4">
            <a:extLst>
              <a:ext uri="{FF2B5EF4-FFF2-40B4-BE49-F238E27FC236}">
                <a16:creationId xmlns:a16="http://schemas.microsoft.com/office/drawing/2014/main" id="{283FC7E0-2074-410A-B3CD-0727C6976829}"/>
              </a:ext>
            </a:extLst>
          </p:cNvPr>
          <p:cNvGraphicFramePr>
            <a:graphicFrameLocks noGrp="1"/>
          </p:cNvGraphicFramePr>
          <p:nvPr/>
        </p:nvGraphicFramePr>
        <p:xfrm>
          <a:off x="1064459" y="4266853"/>
          <a:ext cx="1457761" cy="1691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3937">
                  <a:extLst>
                    <a:ext uri="{9D8B030D-6E8A-4147-A177-3AD203B41FA5}">
                      <a16:colId xmlns:a16="http://schemas.microsoft.com/office/drawing/2014/main" val="2693699986"/>
                    </a:ext>
                  </a:extLst>
                </a:gridCol>
                <a:gridCol w="773824">
                  <a:extLst>
                    <a:ext uri="{9D8B030D-6E8A-4147-A177-3AD203B41FA5}">
                      <a16:colId xmlns:a16="http://schemas.microsoft.com/office/drawing/2014/main" val="4087732750"/>
                    </a:ext>
                  </a:extLst>
                </a:gridCol>
              </a:tblGrid>
              <a:tr h="26065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dirty="0">
                          <a:solidFill>
                            <a:schemeClr val="tx1"/>
                          </a:solidFill>
                        </a:rPr>
                        <a:t>Frequency (Hz)</a:t>
                      </a:r>
                      <a:endParaRPr lang="ko-KR" altLang="en-US" sz="7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700" b="1" dirty="0">
                          <a:solidFill>
                            <a:schemeClr val="tx1"/>
                          </a:solidFill>
                        </a:rPr>
                        <a:t>Acceleration (g)</a:t>
                      </a:r>
                      <a:endParaRPr lang="ko-KR" altLang="en-US" sz="700" b="1" dirty="0">
                        <a:solidFill>
                          <a:schemeClr val="tx1"/>
                        </a:solidFill>
                      </a:endParaRPr>
                    </a:p>
                  </a:txBody>
                  <a:tcPr marL="9000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5599809"/>
                  </a:ext>
                </a:extLst>
              </a:tr>
              <a:tr h="16712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ko-KR" altLang="en-US" sz="7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dirty="0">
                          <a:solidFill>
                            <a:schemeClr val="tx1"/>
                          </a:solidFill>
                        </a:rPr>
                        <a:t>0.5</a:t>
                      </a:r>
                      <a:endParaRPr lang="ko-KR" altLang="en-US" sz="7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5196398"/>
                  </a:ext>
                </a:extLst>
              </a:tr>
              <a:tr h="16712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dirty="0">
                          <a:solidFill>
                            <a:schemeClr val="tx1"/>
                          </a:solidFill>
                        </a:rPr>
                        <a:t>20</a:t>
                      </a:r>
                      <a:endParaRPr lang="ko-KR" altLang="en-US" sz="7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700" dirty="0">
                          <a:solidFill>
                            <a:schemeClr val="tx1"/>
                          </a:solidFill>
                        </a:rPr>
                        <a:t>0.8</a:t>
                      </a:r>
                      <a:endParaRPr lang="ko-KR" altLang="en-US" sz="700" dirty="0">
                        <a:solidFill>
                          <a:schemeClr val="tx1"/>
                        </a:solidFill>
                      </a:endParaRPr>
                    </a:p>
                  </a:txBody>
                  <a:tcPr marL="9000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65876158"/>
                  </a:ext>
                </a:extLst>
              </a:tr>
              <a:tr h="16712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dirty="0">
                          <a:solidFill>
                            <a:schemeClr val="tx1"/>
                          </a:solidFill>
                        </a:rPr>
                        <a:t>35</a:t>
                      </a:r>
                      <a:endParaRPr lang="ko-KR" altLang="en-US" sz="7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700" dirty="0">
                          <a:solidFill>
                            <a:schemeClr val="tx1"/>
                          </a:solidFill>
                        </a:rPr>
                        <a:t>0.8</a:t>
                      </a:r>
                      <a:endParaRPr lang="ko-KR" altLang="en-US" sz="700" dirty="0">
                        <a:solidFill>
                          <a:schemeClr val="tx1"/>
                        </a:solidFill>
                      </a:endParaRPr>
                    </a:p>
                  </a:txBody>
                  <a:tcPr marL="9000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712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dirty="0">
                          <a:solidFill>
                            <a:schemeClr val="tx1"/>
                          </a:solidFill>
                        </a:rPr>
                        <a:t>35</a:t>
                      </a:r>
                      <a:endParaRPr lang="ko-KR" altLang="en-US" sz="7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700" dirty="0">
                          <a:solidFill>
                            <a:schemeClr val="tx1"/>
                          </a:solidFill>
                        </a:rPr>
                        <a:t>0.6</a:t>
                      </a:r>
                      <a:endParaRPr lang="ko-KR" altLang="en-US" sz="700" dirty="0">
                        <a:solidFill>
                          <a:schemeClr val="tx1"/>
                        </a:solidFill>
                      </a:endParaRPr>
                    </a:p>
                  </a:txBody>
                  <a:tcPr marL="9000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6712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dirty="0">
                          <a:solidFill>
                            <a:schemeClr val="tx1"/>
                          </a:solidFill>
                        </a:rPr>
                        <a:t>75</a:t>
                      </a:r>
                      <a:endParaRPr lang="ko-KR" altLang="en-US" sz="7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700" dirty="0">
                          <a:solidFill>
                            <a:schemeClr val="tx1"/>
                          </a:solidFill>
                        </a:rPr>
                        <a:t>0.6</a:t>
                      </a:r>
                      <a:endParaRPr lang="ko-KR" altLang="en-US" sz="700" dirty="0">
                        <a:solidFill>
                          <a:schemeClr val="tx1"/>
                        </a:solidFill>
                      </a:endParaRPr>
                    </a:p>
                  </a:txBody>
                  <a:tcPr marL="9000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6712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dirty="0">
                          <a:solidFill>
                            <a:schemeClr val="tx1"/>
                          </a:solidFill>
                        </a:rPr>
                        <a:t>85</a:t>
                      </a:r>
                      <a:endParaRPr lang="ko-KR" altLang="en-US" sz="7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700" dirty="0">
                          <a:solidFill>
                            <a:schemeClr val="tx1"/>
                          </a:solidFill>
                        </a:rPr>
                        <a:t>0.9</a:t>
                      </a:r>
                      <a:endParaRPr lang="ko-KR" altLang="en-US" sz="700" dirty="0">
                        <a:solidFill>
                          <a:schemeClr val="tx1"/>
                        </a:solidFill>
                      </a:endParaRPr>
                    </a:p>
                  </a:txBody>
                  <a:tcPr marL="9000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6712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dirty="0">
                          <a:solidFill>
                            <a:schemeClr val="tx1"/>
                          </a:solidFill>
                        </a:rPr>
                        <a:t>100</a:t>
                      </a:r>
                      <a:endParaRPr lang="ko-KR" altLang="en-US" sz="7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700" dirty="0">
                          <a:solidFill>
                            <a:schemeClr val="tx1"/>
                          </a:solidFill>
                        </a:rPr>
                        <a:t>0.9</a:t>
                      </a:r>
                      <a:endParaRPr lang="ko-KR" altLang="en-US" sz="700" dirty="0">
                        <a:solidFill>
                          <a:schemeClr val="tx1"/>
                        </a:solidFill>
                      </a:endParaRPr>
                    </a:p>
                  </a:txBody>
                  <a:tcPr marL="9000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15" name="표 4">
            <a:extLst>
              <a:ext uri="{FF2B5EF4-FFF2-40B4-BE49-F238E27FC236}">
                <a16:creationId xmlns:a16="http://schemas.microsoft.com/office/drawing/2014/main" id="{283FC7E0-2074-410A-B3CD-0727C6976829}"/>
              </a:ext>
            </a:extLst>
          </p:cNvPr>
          <p:cNvGraphicFramePr>
            <a:graphicFrameLocks noGrp="1"/>
          </p:cNvGraphicFramePr>
          <p:nvPr/>
        </p:nvGraphicFramePr>
        <p:xfrm>
          <a:off x="2773144" y="4280873"/>
          <a:ext cx="1318796" cy="899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4436">
                  <a:extLst>
                    <a:ext uri="{9D8B030D-6E8A-4147-A177-3AD203B41FA5}">
                      <a16:colId xmlns:a16="http://schemas.microsoft.com/office/drawing/2014/main" val="2693699986"/>
                    </a:ext>
                  </a:extLst>
                </a:gridCol>
                <a:gridCol w="594360">
                  <a:extLst>
                    <a:ext uri="{9D8B030D-6E8A-4147-A177-3AD203B41FA5}">
                      <a16:colId xmlns:a16="http://schemas.microsoft.com/office/drawing/2014/main" val="4087732750"/>
                    </a:ext>
                  </a:extLst>
                </a:gridCol>
              </a:tblGrid>
              <a:tr h="23578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dirty="0">
                          <a:solidFill>
                            <a:schemeClr val="tx1"/>
                          </a:solidFill>
                        </a:rPr>
                        <a:t>Frequency (Hz)</a:t>
                      </a:r>
                      <a:endParaRPr lang="ko-KR" altLang="en-US" sz="7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700" b="1" dirty="0">
                          <a:solidFill>
                            <a:schemeClr val="tx1"/>
                          </a:solidFill>
                        </a:rPr>
                        <a:t>Acceleration (g)</a:t>
                      </a:r>
                      <a:endParaRPr lang="ko-KR" altLang="en-US" sz="700" b="1" dirty="0">
                        <a:solidFill>
                          <a:schemeClr val="tx1"/>
                        </a:solidFill>
                      </a:endParaRPr>
                    </a:p>
                  </a:txBody>
                  <a:tcPr marL="9000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5599809"/>
                  </a:ext>
                </a:extLst>
              </a:tr>
              <a:tr h="15326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ko-KR" altLang="en-US" sz="7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dirty="0">
                          <a:solidFill>
                            <a:schemeClr val="tx1"/>
                          </a:solidFill>
                        </a:rPr>
                        <a:t>0.5</a:t>
                      </a:r>
                      <a:endParaRPr lang="ko-KR" altLang="en-US" sz="7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5196398"/>
                  </a:ext>
                </a:extLst>
              </a:tr>
              <a:tr h="15326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dirty="0">
                          <a:solidFill>
                            <a:schemeClr val="tx1"/>
                          </a:solidFill>
                        </a:rPr>
                        <a:t>85</a:t>
                      </a:r>
                      <a:endParaRPr lang="ko-KR" altLang="en-US" sz="7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700" dirty="0">
                          <a:solidFill>
                            <a:schemeClr val="tx1"/>
                          </a:solidFill>
                        </a:rPr>
                        <a:t>0.8</a:t>
                      </a:r>
                      <a:endParaRPr lang="ko-KR" altLang="en-US" sz="700" dirty="0">
                        <a:solidFill>
                          <a:schemeClr val="tx1"/>
                        </a:solidFill>
                      </a:endParaRPr>
                    </a:p>
                  </a:txBody>
                  <a:tcPr marL="9000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65876158"/>
                  </a:ext>
                </a:extLst>
              </a:tr>
              <a:tr h="15326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dirty="0">
                          <a:solidFill>
                            <a:schemeClr val="tx1"/>
                          </a:solidFill>
                        </a:rPr>
                        <a:t>100</a:t>
                      </a:r>
                      <a:endParaRPr lang="ko-KR" altLang="en-US" sz="7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700" dirty="0">
                          <a:solidFill>
                            <a:schemeClr val="tx1"/>
                          </a:solidFill>
                        </a:rPr>
                        <a:t>0.6</a:t>
                      </a:r>
                      <a:endParaRPr lang="ko-KR" altLang="en-US" sz="700" dirty="0">
                        <a:solidFill>
                          <a:schemeClr val="tx1"/>
                        </a:solidFill>
                      </a:endParaRPr>
                    </a:p>
                  </a:txBody>
                  <a:tcPr marL="9000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4C19171A-11D3-4182-933C-173EAEF29672}"/>
              </a:ext>
            </a:extLst>
          </p:cNvPr>
          <p:cNvSpPr txBox="1"/>
          <p:nvPr/>
        </p:nvSpPr>
        <p:spPr>
          <a:xfrm>
            <a:off x="996463" y="5934628"/>
            <a:ext cx="155623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900" dirty="0">
                <a:latin typeface="+mn-lt"/>
              </a:rPr>
              <a:t>&lt;Axial Sine Vibration&gt;</a:t>
            </a:r>
            <a:endParaRPr lang="ko-KR" altLang="en-US" sz="900" dirty="0">
              <a:latin typeface="+mn-lt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C19171A-11D3-4182-933C-173EAEF29672}"/>
              </a:ext>
            </a:extLst>
          </p:cNvPr>
          <p:cNvSpPr txBox="1"/>
          <p:nvPr/>
        </p:nvSpPr>
        <p:spPr>
          <a:xfrm>
            <a:off x="2573263" y="5277096"/>
            <a:ext cx="161954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900" dirty="0">
                <a:latin typeface="+mn-lt"/>
              </a:rPr>
              <a:t>&lt;</a:t>
            </a:r>
            <a:r>
              <a:rPr lang="en-US" altLang="ko-KR" sz="900" dirty="0" err="1">
                <a:latin typeface="+mn-lt"/>
              </a:rPr>
              <a:t>Laterial</a:t>
            </a:r>
            <a:r>
              <a:rPr lang="en-US" altLang="ko-KR" sz="900" dirty="0">
                <a:latin typeface="+mn-lt"/>
              </a:rPr>
              <a:t> Sine Vibration&gt;</a:t>
            </a:r>
            <a:endParaRPr lang="ko-KR" altLang="en-US" sz="900" dirty="0">
              <a:latin typeface="+mn-lt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453061" y="5915890"/>
            <a:ext cx="1855172" cy="41549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marL="257175" lvl="0" indent="-171450" latinLnBrk="1">
              <a:buFont typeface="Wingdings" panose="05000000000000000000" pitchFamily="2" charset="2"/>
              <a:buChar char="ü"/>
            </a:pPr>
            <a:r>
              <a:rPr lang="en-US" altLang="ko-KR" sz="700" dirty="0">
                <a:solidFill>
                  <a:srgbClr val="FF0000"/>
                </a:solidFill>
              </a:rPr>
              <a:t>Qualification : Limit levels x 1.25</a:t>
            </a:r>
          </a:p>
          <a:p>
            <a:pPr marL="257175" lvl="0" indent="-171450" latinLnBrk="1">
              <a:buFont typeface="Wingdings" panose="05000000000000000000" pitchFamily="2" charset="2"/>
              <a:buChar char="ü"/>
            </a:pPr>
            <a:r>
              <a:rPr lang="en-US" altLang="ko-KR" sz="700" dirty="0" err="1">
                <a:solidFill>
                  <a:srgbClr val="FF0000"/>
                </a:solidFill>
              </a:rPr>
              <a:t>Protoqualification</a:t>
            </a:r>
            <a:r>
              <a:rPr lang="en-US" altLang="ko-KR" sz="700" dirty="0">
                <a:solidFill>
                  <a:srgbClr val="FF0000"/>
                </a:solidFill>
              </a:rPr>
              <a:t> : Limit levels x 1.25</a:t>
            </a:r>
          </a:p>
          <a:p>
            <a:pPr marL="257175" lvl="0" indent="-171450" latinLnBrk="1">
              <a:buFont typeface="Wingdings" panose="05000000000000000000" pitchFamily="2" charset="2"/>
              <a:buChar char="ü"/>
            </a:pPr>
            <a:r>
              <a:rPr lang="en-US" altLang="ko-KR" sz="700" dirty="0">
                <a:solidFill>
                  <a:srgbClr val="FF0000"/>
                </a:solidFill>
              </a:rPr>
              <a:t>Acceptance : Limit levels x 1.0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91155" y="3640508"/>
            <a:ext cx="1855172" cy="41549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marL="257175" lvl="0" indent="-171450" latinLnBrk="1">
              <a:buFont typeface="Wingdings" panose="05000000000000000000" pitchFamily="2" charset="2"/>
              <a:buChar char="ü"/>
            </a:pPr>
            <a:r>
              <a:rPr lang="en-US" altLang="ko-KR" sz="700" dirty="0">
                <a:solidFill>
                  <a:srgbClr val="FF0000"/>
                </a:solidFill>
              </a:rPr>
              <a:t>Qualification : Limit levels x 1.25</a:t>
            </a:r>
          </a:p>
          <a:p>
            <a:pPr marL="257175" lvl="0" indent="-171450" latinLnBrk="1">
              <a:buFont typeface="Wingdings" panose="05000000000000000000" pitchFamily="2" charset="2"/>
              <a:buChar char="ü"/>
            </a:pPr>
            <a:r>
              <a:rPr lang="en-US" altLang="ko-KR" sz="700" dirty="0" err="1">
                <a:solidFill>
                  <a:srgbClr val="FF0000"/>
                </a:solidFill>
              </a:rPr>
              <a:t>Protoqualification</a:t>
            </a:r>
            <a:r>
              <a:rPr lang="en-US" altLang="ko-KR" sz="700" dirty="0">
                <a:solidFill>
                  <a:srgbClr val="FF0000"/>
                </a:solidFill>
              </a:rPr>
              <a:t> : Limit levels x 1.25</a:t>
            </a:r>
          </a:p>
          <a:p>
            <a:pPr marL="257175" lvl="0" indent="-171450" latinLnBrk="1">
              <a:buFont typeface="Wingdings" panose="05000000000000000000" pitchFamily="2" charset="2"/>
              <a:buChar char="ü"/>
            </a:pPr>
            <a:r>
              <a:rPr lang="en-US" altLang="ko-KR" sz="700" dirty="0">
                <a:solidFill>
                  <a:srgbClr val="FF0000"/>
                </a:solidFill>
              </a:rPr>
              <a:t>Acceptance : Limit levels x 1.0</a:t>
            </a:r>
          </a:p>
        </p:txBody>
      </p:sp>
    </p:spTree>
    <p:extLst>
      <p:ext uri="{BB962C8B-B14F-4D97-AF65-F5344CB8AC3E}">
        <p14:creationId xmlns:p14="http://schemas.microsoft.com/office/powerpoint/2010/main" val="3159781224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D263454-BA6F-429F-B0C1-0DDEEC6F1E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Launch Vehicle Selection and Interface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AA9F1EE-D202-4CD7-8AAE-E32CFB5587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Environment Interface</a:t>
            </a:r>
          </a:p>
        </p:txBody>
      </p:sp>
      <p:graphicFrame>
        <p:nvGraphicFramePr>
          <p:cNvPr id="7" name="표 4">
            <a:extLst>
              <a:ext uri="{FF2B5EF4-FFF2-40B4-BE49-F238E27FC236}">
                <a16:creationId xmlns:a16="http://schemas.microsoft.com/office/drawing/2014/main" id="{23AB4A94-332B-4BB1-A7BF-7494FD25714B}"/>
              </a:ext>
            </a:extLst>
          </p:cNvPr>
          <p:cNvGraphicFramePr>
            <a:graphicFrameLocks noGrp="1"/>
          </p:cNvGraphicFramePr>
          <p:nvPr/>
        </p:nvGraphicFramePr>
        <p:xfrm>
          <a:off x="156245" y="1338688"/>
          <a:ext cx="8786419" cy="48997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1495">
                  <a:extLst>
                    <a:ext uri="{9D8B030D-6E8A-4147-A177-3AD203B41FA5}">
                      <a16:colId xmlns:a16="http://schemas.microsoft.com/office/drawing/2014/main" val="2693699986"/>
                    </a:ext>
                  </a:extLst>
                </a:gridCol>
                <a:gridCol w="3383280">
                  <a:extLst>
                    <a:ext uri="{9D8B030D-6E8A-4147-A177-3AD203B41FA5}">
                      <a16:colId xmlns:a16="http://schemas.microsoft.com/office/drawing/2014/main" val="3854614882"/>
                    </a:ext>
                  </a:extLst>
                </a:gridCol>
                <a:gridCol w="3368626">
                  <a:extLst>
                    <a:ext uri="{9D8B030D-6E8A-4147-A177-3AD203B41FA5}">
                      <a16:colId xmlns:a16="http://schemas.microsoft.com/office/drawing/2014/main" val="4087732750"/>
                    </a:ext>
                  </a:extLst>
                </a:gridCol>
                <a:gridCol w="1223018">
                  <a:extLst>
                    <a:ext uri="{9D8B030D-6E8A-4147-A177-3AD203B41FA5}">
                      <a16:colId xmlns:a16="http://schemas.microsoft.com/office/drawing/2014/main" val="3586262705"/>
                    </a:ext>
                  </a:extLst>
                </a:gridCol>
              </a:tblGrid>
              <a:tr h="200533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규격</a:t>
                      </a:r>
                    </a:p>
                  </a:txBody>
                  <a:tcPr anchor="ctr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+mj-lt"/>
                        </a:rPr>
                        <a:t>SPACE X – Falcon9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9000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+mj-lt"/>
                        </a:rPr>
                        <a:t>ROKET</a:t>
                      </a:r>
                      <a:r>
                        <a:rPr lang="en-US" altLang="ko-KR" sz="1200" baseline="0" dirty="0">
                          <a:solidFill>
                            <a:schemeClr val="tx1"/>
                          </a:solidFill>
                          <a:latin typeface="+mj-lt"/>
                        </a:rPr>
                        <a:t> LAB - Electron</a:t>
                      </a:r>
                      <a:endParaRPr lang="ko-KR" altLang="en-US" sz="12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000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비고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4801008"/>
                  </a:ext>
                </a:extLst>
              </a:tr>
              <a:tr h="278807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Random Vibration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+mn-lt"/>
                        <a:ea typeface="+mn-ea"/>
                      </a:endParaRPr>
                    </a:p>
                  </a:txBody>
                  <a:tcPr anchor="ctr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lnSpc>
                          <a:spcPct val="150000"/>
                        </a:lnSpc>
                        <a:buFont typeface="Wingdings" panose="05000000000000000000" pitchFamily="2" charset="2"/>
                        <a:buChar char="§"/>
                      </a:pPr>
                      <a:endParaRPr lang="en-US" altLang="ko-KR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85725" indent="0" algn="l" latinLnBrk="1">
                        <a:lnSpc>
                          <a:spcPct val="150000"/>
                        </a:lnSpc>
                        <a:buFont typeface="Wingdings" panose="05000000000000000000" pitchFamily="2" charset="2"/>
                        <a:buNone/>
                      </a:pPr>
                      <a:endParaRPr lang="en-US" altLang="ko-KR" sz="900" b="1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08348595"/>
                  </a:ext>
                </a:extLst>
              </a:tr>
              <a:tr h="183734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>
                          <a:solidFill>
                            <a:schemeClr val="tx1"/>
                          </a:solidFill>
                        </a:rPr>
                        <a:t>Shock</a:t>
                      </a:r>
                      <a:endParaRPr lang="ko-KR" alt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lnSpc>
                          <a:spcPct val="150000"/>
                        </a:lnSpc>
                        <a:buFont typeface="Wingdings" panose="05000000000000000000" pitchFamily="2" charset="2"/>
                        <a:buNone/>
                      </a:pPr>
                      <a:endParaRPr lang="en-US" altLang="ko-KR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85725" indent="0" algn="ctr" latinLnBrk="1">
                        <a:lnSpc>
                          <a:spcPct val="150000"/>
                        </a:lnSpc>
                        <a:buFont typeface="Wingdings" panose="05000000000000000000" pitchFamily="2" charset="2"/>
                        <a:buNone/>
                      </a:pP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1" name="표 4">
                <a:extLst>
                  <a:ext uri="{FF2B5EF4-FFF2-40B4-BE49-F238E27FC236}">
                    <a16:creationId xmlns:a16="http://schemas.microsoft.com/office/drawing/2014/main" id="{283FC7E0-2074-410A-B3CD-0727C6976829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457234" y="1755973"/>
              <a:ext cx="2362737" cy="24384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80867">
                      <a:extLst>
                        <a:ext uri="{9D8B030D-6E8A-4147-A177-3AD203B41FA5}">
                          <a16:colId xmlns:a16="http://schemas.microsoft.com/office/drawing/2014/main" val="2693699986"/>
                        </a:ext>
                      </a:extLst>
                    </a:gridCol>
                    <a:gridCol w="1281870">
                      <a:extLst>
                        <a:ext uri="{9D8B030D-6E8A-4147-A177-3AD203B41FA5}">
                          <a16:colId xmlns:a16="http://schemas.microsoft.com/office/drawing/2014/main" val="4087732750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b="1" dirty="0">
                              <a:solidFill>
                                <a:schemeClr val="tx1"/>
                              </a:solidFill>
                            </a:rPr>
                            <a:t>Frequency (Hz)</a:t>
                          </a:r>
                          <a:endParaRPr lang="ko-KR" altLang="en-US" sz="10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ko-KR" sz="1000" b="1" dirty="0">
                              <a:solidFill>
                                <a:schemeClr val="tx1"/>
                              </a:solidFill>
                            </a:rPr>
                            <a:t>PSD (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altLang="ko-KR" sz="1000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ko-KR" sz="1000" b="1" i="1" smtClean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  <m:t>𝒈</m:t>
                                  </m:r>
                                </m:e>
                                <m:sup>
                                  <m:r>
                                    <a:rPr lang="en-US" altLang="ko-KR" sz="1000" b="1" i="1" smtClean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  <m:t>𝟐</m:t>
                                  </m:r>
                                </m:sup>
                              </m:sSup>
                            </m:oMath>
                          </a14:m>
                          <a:r>
                            <a:rPr lang="en-US" altLang="ko-KR" sz="1000" b="1" dirty="0">
                              <a:solidFill>
                                <a:schemeClr val="tx1"/>
                              </a:solidFill>
                            </a:rPr>
                            <a:t>/Hz)</a:t>
                          </a:r>
                          <a:endParaRPr lang="ko-KR" altLang="en-US" sz="10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90000" marT="0" marB="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75599809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000" dirty="0">
                              <a:solidFill>
                                <a:schemeClr val="tx1"/>
                              </a:solidFill>
                            </a:rPr>
                            <a:t>20</a:t>
                          </a:r>
                          <a:endParaRPr lang="ko-KR" altLang="en-US" sz="1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b="0" dirty="0">
                              <a:solidFill>
                                <a:schemeClr val="tx1"/>
                              </a:solidFill>
                            </a:rPr>
                            <a:t>0.005</a:t>
                          </a:r>
                          <a:endParaRPr lang="ko-KR" altLang="en-US" sz="10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65196398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b="0" dirty="0">
                              <a:solidFill>
                                <a:schemeClr val="tx1"/>
                              </a:solidFill>
                            </a:rPr>
                            <a:t>50</a:t>
                          </a:r>
                          <a:endParaRPr lang="ko-KR" altLang="en-US" sz="10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ko-KR" sz="1000" dirty="0">
                              <a:solidFill>
                                <a:schemeClr val="tx1"/>
                              </a:solidFill>
                            </a:rPr>
                            <a:t>0.005</a:t>
                          </a:r>
                          <a:endParaRPr lang="ko-KR" altLang="en-US" sz="1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90000" marT="0" marB="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665876158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b="0" dirty="0">
                              <a:solidFill>
                                <a:schemeClr val="tx1"/>
                              </a:solidFill>
                            </a:rPr>
                            <a:t>150</a:t>
                          </a:r>
                          <a:endParaRPr lang="ko-KR" altLang="en-US" sz="10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ko-KR" sz="1000" dirty="0">
                              <a:solidFill>
                                <a:schemeClr val="tx1"/>
                              </a:solidFill>
                            </a:rPr>
                            <a:t>0.02</a:t>
                          </a:r>
                          <a:endParaRPr lang="ko-KR" altLang="en-US" sz="1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90000" marT="0" marB="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b="0" dirty="0">
                              <a:solidFill>
                                <a:schemeClr val="tx1"/>
                              </a:solidFill>
                            </a:rPr>
                            <a:t>600</a:t>
                          </a:r>
                          <a:endParaRPr lang="ko-KR" altLang="en-US" sz="10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ko-KR" sz="1000" dirty="0">
                              <a:solidFill>
                                <a:schemeClr val="tx1"/>
                              </a:solidFill>
                            </a:rPr>
                            <a:t>0.02</a:t>
                          </a:r>
                          <a:endParaRPr lang="ko-KR" altLang="en-US" sz="1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90000" marT="0" marB="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b="0" dirty="0">
                              <a:solidFill>
                                <a:schemeClr val="tx1"/>
                              </a:solidFill>
                            </a:rPr>
                            <a:t>800</a:t>
                          </a:r>
                          <a:endParaRPr lang="ko-KR" altLang="en-US" sz="10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ko-KR" sz="1000" dirty="0">
                              <a:solidFill>
                                <a:schemeClr val="tx1"/>
                              </a:solidFill>
                            </a:rPr>
                            <a:t>0.06</a:t>
                          </a:r>
                          <a:endParaRPr lang="ko-KR" altLang="en-US" sz="1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90000" marT="0" marB="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b="0" dirty="0">
                              <a:solidFill>
                                <a:schemeClr val="tx1"/>
                              </a:solidFill>
                            </a:rPr>
                            <a:t>1150</a:t>
                          </a:r>
                          <a:endParaRPr lang="ko-KR" altLang="en-US" sz="10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ko-KR" sz="1000" dirty="0">
                              <a:solidFill>
                                <a:schemeClr val="tx1"/>
                              </a:solidFill>
                            </a:rPr>
                            <a:t>0.06</a:t>
                          </a:r>
                          <a:endParaRPr lang="ko-KR" altLang="en-US" sz="1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90000" marT="0" marB="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b="0" dirty="0">
                              <a:solidFill>
                                <a:schemeClr val="tx1"/>
                              </a:solidFill>
                            </a:rPr>
                            <a:t>1300</a:t>
                          </a:r>
                          <a:endParaRPr lang="ko-KR" altLang="en-US" sz="10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ko-KR" sz="1000" dirty="0">
                              <a:solidFill>
                                <a:schemeClr val="tx1"/>
                              </a:solidFill>
                            </a:rPr>
                            <a:t>0.02</a:t>
                          </a:r>
                          <a:endParaRPr lang="ko-KR" altLang="en-US" sz="1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90000" marT="0" marB="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7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b="0" dirty="0">
                              <a:solidFill>
                                <a:schemeClr val="tx1"/>
                              </a:solidFill>
                            </a:rPr>
                            <a:t>2000</a:t>
                          </a:r>
                          <a:endParaRPr lang="ko-KR" altLang="en-US" sz="10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ko-KR" sz="1000" dirty="0">
                              <a:solidFill>
                                <a:schemeClr val="tx1"/>
                              </a:solidFill>
                            </a:rPr>
                            <a:t>0.02</a:t>
                          </a:r>
                          <a:endParaRPr lang="ko-KR" altLang="en-US" sz="1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90000" marT="0" marB="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8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b="0" dirty="0">
                              <a:solidFill>
                                <a:schemeClr val="tx1"/>
                              </a:solidFill>
                            </a:rPr>
                            <a:t>GRMS</a:t>
                          </a:r>
                          <a:endParaRPr lang="ko-KR" altLang="en-US" sz="10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ko-KR" sz="1000" dirty="0">
                              <a:solidFill>
                                <a:schemeClr val="tx1"/>
                              </a:solidFill>
                            </a:rPr>
                            <a:t>7.63</a:t>
                          </a:r>
                          <a:endParaRPr lang="ko-KR" altLang="en-US" sz="1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90000" marT="0" marB="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1" name="표 4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283FC7E0-2074-410A-B3CD-0727C697682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11801197"/>
                  </p:ext>
                </p:extLst>
              </p:nvPr>
            </p:nvGraphicFramePr>
            <p:xfrm>
              <a:off x="1457234" y="1755973"/>
              <a:ext cx="2362737" cy="24384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80867">
                      <a:extLst>
                        <a:ext uri="{9D8B030D-6E8A-4147-A177-3AD203B41FA5}">
                          <a16:colId xmlns:a16="http://schemas.microsoft.com/office/drawing/2014/main" xmlns="" xmlns:a14="http://schemas.microsoft.com/office/drawing/2010/main" val="2693699986"/>
                        </a:ext>
                      </a:extLst>
                    </a:gridCol>
                    <a:gridCol w="1281870">
                      <a:extLst>
                        <a:ext uri="{9D8B030D-6E8A-4147-A177-3AD203B41FA5}">
                          <a16:colId xmlns:a16="http://schemas.microsoft.com/office/drawing/2014/main" xmlns="" xmlns:a14="http://schemas.microsoft.com/office/drawing/2010/main" val="4087732750"/>
                        </a:ext>
                      </a:extLst>
                    </a:gridCol>
                  </a:tblGrid>
                  <a:tr h="24384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b="1" dirty="0" smtClean="0">
                              <a:solidFill>
                                <a:schemeClr val="tx1"/>
                              </a:solidFill>
                            </a:rPr>
                            <a:t>Frequency (Hz)</a:t>
                          </a:r>
                          <a:endParaRPr lang="ko-KR" altLang="en-US" sz="10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90000" marT="0" marB="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2"/>
                          <a:stretch>
                            <a:fillRect l="-83886" b="-91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="" xmlns:a14="http://schemas.microsoft.com/office/drawing/2010/main" val="2475599809"/>
                      </a:ext>
                    </a:extLst>
                  </a:tr>
                  <a:tr h="243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000" dirty="0" smtClean="0">
                              <a:solidFill>
                                <a:schemeClr val="tx1"/>
                              </a:solidFill>
                            </a:rPr>
                            <a:t>20</a:t>
                          </a:r>
                          <a:endParaRPr lang="ko-KR" altLang="en-US" sz="1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b="0" dirty="0" smtClean="0">
                              <a:solidFill>
                                <a:schemeClr val="tx1"/>
                              </a:solidFill>
                            </a:rPr>
                            <a:t>0.005</a:t>
                          </a:r>
                          <a:endParaRPr lang="ko-KR" altLang="en-US" sz="10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xmlns="" xmlns:a14="http://schemas.microsoft.com/office/drawing/2010/main" val="2665196398"/>
                      </a:ext>
                    </a:extLst>
                  </a:tr>
                  <a:tr h="24384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b="0" dirty="0" smtClean="0">
                              <a:solidFill>
                                <a:schemeClr val="tx1"/>
                              </a:solidFill>
                            </a:rPr>
                            <a:t>50</a:t>
                          </a:r>
                          <a:endParaRPr lang="ko-KR" altLang="en-US" sz="10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ko-KR" sz="1000" dirty="0" smtClean="0">
                              <a:solidFill>
                                <a:schemeClr val="tx1"/>
                              </a:solidFill>
                            </a:rPr>
                            <a:t>0.005</a:t>
                          </a:r>
                          <a:endParaRPr lang="ko-KR" altLang="en-US" sz="1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90000" marT="0" marB="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xmlns="" xmlns:a14="http://schemas.microsoft.com/office/drawing/2010/main" val="665876158"/>
                      </a:ext>
                    </a:extLst>
                  </a:tr>
                  <a:tr h="24384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b="0" dirty="0" smtClean="0">
                              <a:solidFill>
                                <a:schemeClr val="tx1"/>
                              </a:solidFill>
                            </a:rPr>
                            <a:t>150</a:t>
                          </a:r>
                          <a:endParaRPr lang="ko-KR" altLang="en-US" sz="10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ko-KR" sz="1000" dirty="0" smtClean="0">
                              <a:solidFill>
                                <a:schemeClr val="tx1"/>
                              </a:solidFill>
                            </a:rPr>
                            <a:t>0.02</a:t>
                          </a:r>
                          <a:endParaRPr lang="ko-KR" altLang="en-US" sz="1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90000" marT="0" marB="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24384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b="0" dirty="0" smtClean="0">
                              <a:solidFill>
                                <a:schemeClr val="tx1"/>
                              </a:solidFill>
                            </a:rPr>
                            <a:t>600</a:t>
                          </a:r>
                          <a:endParaRPr lang="ko-KR" altLang="en-US" sz="10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ko-KR" sz="1000" dirty="0" smtClean="0">
                              <a:solidFill>
                                <a:schemeClr val="tx1"/>
                              </a:solidFill>
                            </a:rPr>
                            <a:t>0.02</a:t>
                          </a:r>
                          <a:endParaRPr lang="ko-KR" altLang="en-US" sz="1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90000" marT="0" marB="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24384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b="0" dirty="0" smtClean="0">
                              <a:solidFill>
                                <a:schemeClr val="tx1"/>
                              </a:solidFill>
                            </a:rPr>
                            <a:t>800</a:t>
                          </a:r>
                          <a:endParaRPr lang="ko-KR" altLang="en-US" sz="10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ko-KR" sz="1000" dirty="0" smtClean="0">
                              <a:solidFill>
                                <a:schemeClr val="tx1"/>
                              </a:solidFill>
                            </a:rPr>
                            <a:t>0.06</a:t>
                          </a:r>
                          <a:endParaRPr lang="ko-KR" altLang="en-US" sz="1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90000" marT="0" marB="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24384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b="0" dirty="0" smtClean="0">
                              <a:solidFill>
                                <a:schemeClr val="tx1"/>
                              </a:solidFill>
                            </a:rPr>
                            <a:t>1150</a:t>
                          </a:r>
                          <a:endParaRPr lang="ko-KR" altLang="en-US" sz="10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ko-KR" sz="1000" dirty="0" smtClean="0">
                              <a:solidFill>
                                <a:schemeClr val="tx1"/>
                              </a:solidFill>
                            </a:rPr>
                            <a:t>0.06</a:t>
                          </a:r>
                          <a:endParaRPr lang="ko-KR" altLang="en-US" sz="1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90000" marT="0" marB="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24384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b="0" dirty="0" smtClean="0">
                              <a:solidFill>
                                <a:schemeClr val="tx1"/>
                              </a:solidFill>
                            </a:rPr>
                            <a:t>1300</a:t>
                          </a:r>
                          <a:endParaRPr lang="ko-KR" altLang="en-US" sz="10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ko-KR" sz="1000" dirty="0" smtClean="0">
                              <a:solidFill>
                                <a:schemeClr val="tx1"/>
                              </a:solidFill>
                            </a:rPr>
                            <a:t>0.02</a:t>
                          </a:r>
                          <a:endParaRPr lang="ko-KR" altLang="en-US" sz="1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90000" marT="0" marB="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24384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b="0" dirty="0" smtClean="0">
                              <a:solidFill>
                                <a:schemeClr val="tx1"/>
                              </a:solidFill>
                            </a:rPr>
                            <a:t>2000</a:t>
                          </a:r>
                          <a:endParaRPr lang="ko-KR" altLang="en-US" sz="10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ko-KR" sz="1000" dirty="0" smtClean="0">
                              <a:solidFill>
                                <a:schemeClr val="tx1"/>
                              </a:solidFill>
                            </a:rPr>
                            <a:t>0.02</a:t>
                          </a:r>
                          <a:endParaRPr lang="ko-KR" altLang="en-US" sz="1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90000" marT="0" marB="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24384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b="0" dirty="0" smtClean="0">
                              <a:solidFill>
                                <a:schemeClr val="tx1"/>
                              </a:solidFill>
                            </a:rPr>
                            <a:t>GRMS</a:t>
                          </a:r>
                          <a:endParaRPr lang="ko-KR" altLang="en-US" sz="10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ko-KR" sz="1000" dirty="0" smtClean="0">
                              <a:solidFill>
                                <a:schemeClr val="tx1"/>
                              </a:solidFill>
                            </a:rPr>
                            <a:t>7.63</a:t>
                          </a:r>
                          <a:endParaRPr lang="ko-KR" altLang="en-US" sz="1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90000" marT="0" marB="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6" name="표 4">
                <a:extLst>
                  <a:ext uri="{FF2B5EF4-FFF2-40B4-BE49-F238E27FC236}">
                    <a16:creationId xmlns:a16="http://schemas.microsoft.com/office/drawing/2014/main" id="{283FC7E0-2074-410A-B3CD-0727C6976829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4610633" y="1755417"/>
              <a:ext cx="2892576" cy="17068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268875">
                      <a:extLst>
                        <a:ext uri="{9D8B030D-6E8A-4147-A177-3AD203B41FA5}">
                          <a16:colId xmlns:a16="http://schemas.microsoft.com/office/drawing/2014/main" val="2693699986"/>
                        </a:ext>
                      </a:extLst>
                    </a:gridCol>
                    <a:gridCol w="1623701">
                      <a:extLst>
                        <a:ext uri="{9D8B030D-6E8A-4147-A177-3AD203B41FA5}">
                          <a16:colId xmlns:a16="http://schemas.microsoft.com/office/drawing/2014/main" val="4087732750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b="1" dirty="0">
                              <a:solidFill>
                                <a:schemeClr val="tx1"/>
                              </a:solidFill>
                            </a:rPr>
                            <a:t>Frequency (Hz)</a:t>
                          </a:r>
                          <a:endParaRPr lang="ko-KR" altLang="en-US" sz="10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ko-KR" sz="1000" b="1" dirty="0">
                              <a:solidFill>
                                <a:schemeClr val="tx1"/>
                              </a:solidFill>
                            </a:rPr>
                            <a:t>PSD (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altLang="ko-KR" sz="1000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ko-KR" sz="1000" b="1" i="1" smtClean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  <m:t>𝒈</m:t>
                                  </m:r>
                                </m:e>
                                <m:sup>
                                  <m:r>
                                    <a:rPr lang="en-US" altLang="ko-KR" sz="1000" b="1" i="1" smtClean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  <m:t>𝟐</m:t>
                                  </m:r>
                                </m:sup>
                              </m:sSup>
                            </m:oMath>
                          </a14:m>
                          <a:r>
                            <a:rPr lang="en-US" altLang="ko-KR" sz="1000" b="1" dirty="0">
                              <a:solidFill>
                                <a:schemeClr val="tx1"/>
                              </a:solidFill>
                            </a:rPr>
                            <a:t>/Hz)</a:t>
                          </a:r>
                          <a:endParaRPr lang="ko-KR" altLang="en-US" sz="10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90000" marT="0" marB="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75599809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000" dirty="0">
                              <a:solidFill>
                                <a:schemeClr val="tx1"/>
                              </a:solidFill>
                            </a:rPr>
                            <a:t>20</a:t>
                          </a:r>
                          <a:endParaRPr lang="ko-KR" altLang="en-US" sz="1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b="0" dirty="0">
                              <a:solidFill>
                                <a:schemeClr val="tx1"/>
                              </a:solidFill>
                            </a:rPr>
                            <a:t>0.013</a:t>
                          </a:r>
                          <a:endParaRPr lang="ko-KR" altLang="en-US" sz="10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65196398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b="0" dirty="0">
                              <a:solidFill>
                                <a:schemeClr val="tx1"/>
                              </a:solidFill>
                            </a:rPr>
                            <a:t>50</a:t>
                          </a:r>
                          <a:endParaRPr lang="ko-KR" altLang="en-US" sz="10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ko-KR" sz="1000" dirty="0">
                              <a:solidFill>
                                <a:schemeClr val="tx1"/>
                              </a:solidFill>
                            </a:rPr>
                            <a:t>0.03</a:t>
                          </a:r>
                          <a:endParaRPr lang="ko-KR" altLang="en-US" sz="1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90000" marT="0" marB="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665876158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b="0" dirty="0">
                              <a:solidFill>
                                <a:schemeClr val="tx1"/>
                              </a:solidFill>
                            </a:rPr>
                            <a:t>150</a:t>
                          </a:r>
                          <a:endParaRPr lang="ko-KR" altLang="en-US" sz="10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ko-KR" sz="1000" dirty="0">
                              <a:solidFill>
                                <a:schemeClr val="tx1"/>
                              </a:solidFill>
                            </a:rPr>
                            <a:t>0.03</a:t>
                          </a:r>
                          <a:endParaRPr lang="ko-KR" altLang="en-US" sz="1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90000" marT="0" marB="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b="0" dirty="0">
                              <a:solidFill>
                                <a:schemeClr val="tx1"/>
                              </a:solidFill>
                            </a:rPr>
                            <a:t>300</a:t>
                          </a:r>
                          <a:endParaRPr lang="ko-KR" altLang="en-US" sz="10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ko-KR" sz="1000" dirty="0">
                              <a:solidFill>
                                <a:schemeClr val="tx1"/>
                              </a:solidFill>
                            </a:rPr>
                            <a:t>0.005</a:t>
                          </a:r>
                          <a:endParaRPr lang="ko-KR" altLang="en-US" sz="1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90000" marT="0" marB="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b="0" dirty="0">
                              <a:solidFill>
                                <a:schemeClr val="tx1"/>
                              </a:solidFill>
                            </a:rPr>
                            <a:t>800</a:t>
                          </a:r>
                          <a:endParaRPr lang="ko-KR" altLang="en-US" sz="10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ko-KR" sz="1000" dirty="0">
                              <a:solidFill>
                                <a:schemeClr val="tx1"/>
                              </a:solidFill>
                            </a:rPr>
                            <a:t>0.005</a:t>
                          </a:r>
                          <a:endParaRPr lang="ko-KR" altLang="en-US" sz="1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90000" marT="0" marB="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b="0" dirty="0">
                              <a:solidFill>
                                <a:schemeClr val="tx1"/>
                              </a:solidFill>
                            </a:rPr>
                            <a:t>2000</a:t>
                          </a:r>
                          <a:endParaRPr lang="ko-KR" altLang="en-US" sz="10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ko-KR" sz="1000" dirty="0">
                              <a:solidFill>
                                <a:schemeClr val="tx1"/>
                              </a:solidFill>
                            </a:rPr>
                            <a:t>0.01</a:t>
                          </a:r>
                          <a:endParaRPr lang="ko-KR" altLang="en-US" sz="1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90000" marT="0" marB="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6" name="표 4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283FC7E0-2074-410A-B3CD-0727C697682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11480539"/>
                  </p:ext>
                </p:extLst>
              </p:nvPr>
            </p:nvGraphicFramePr>
            <p:xfrm>
              <a:off x="4610633" y="1755417"/>
              <a:ext cx="2892576" cy="17068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268875">
                      <a:extLst>
                        <a:ext uri="{9D8B030D-6E8A-4147-A177-3AD203B41FA5}">
                          <a16:colId xmlns:a16="http://schemas.microsoft.com/office/drawing/2014/main" xmlns="" xmlns:a14="http://schemas.microsoft.com/office/drawing/2010/main" val="2693699986"/>
                        </a:ext>
                      </a:extLst>
                    </a:gridCol>
                    <a:gridCol w="1623701">
                      <a:extLst>
                        <a:ext uri="{9D8B030D-6E8A-4147-A177-3AD203B41FA5}">
                          <a16:colId xmlns:a16="http://schemas.microsoft.com/office/drawing/2014/main" xmlns="" xmlns:a14="http://schemas.microsoft.com/office/drawing/2010/main" val="4087732750"/>
                        </a:ext>
                      </a:extLst>
                    </a:gridCol>
                  </a:tblGrid>
                  <a:tr h="24384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b="1" dirty="0" smtClean="0">
                              <a:solidFill>
                                <a:schemeClr val="tx1"/>
                              </a:solidFill>
                            </a:rPr>
                            <a:t>Frequency (Hz)</a:t>
                          </a:r>
                          <a:endParaRPr lang="ko-KR" altLang="en-US" sz="10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90000" marT="0" marB="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77903" t="-2500" b="-61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="" xmlns:a14="http://schemas.microsoft.com/office/drawing/2010/main" val="2475599809"/>
                      </a:ext>
                    </a:extLst>
                  </a:tr>
                  <a:tr h="243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000" dirty="0" smtClean="0">
                              <a:solidFill>
                                <a:schemeClr val="tx1"/>
                              </a:solidFill>
                            </a:rPr>
                            <a:t>20</a:t>
                          </a:r>
                          <a:endParaRPr lang="ko-KR" altLang="en-US" sz="1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b="0" dirty="0" smtClean="0">
                              <a:solidFill>
                                <a:schemeClr val="tx1"/>
                              </a:solidFill>
                            </a:rPr>
                            <a:t>0.013</a:t>
                          </a:r>
                          <a:endParaRPr lang="ko-KR" altLang="en-US" sz="10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xmlns="" xmlns:a14="http://schemas.microsoft.com/office/drawing/2010/main" val="2665196398"/>
                      </a:ext>
                    </a:extLst>
                  </a:tr>
                  <a:tr h="24384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b="0" dirty="0" smtClean="0">
                              <a:solidFill>
                                <a:schemeClr val="tx1"/>
                              </a:solidFill>
                            </a:rPr>
                            <a:t>50</a:t>
                          </a:r>
                          <a:endParaRPr lang="ko-KR" altLang="en-US" sz="10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ko-KR" sz="1000" dirty="0" smtClean="0">
                              <a:solidFill>
                                <a:schemeClr val="tx1"/>
                              </a:solidFill>
                            </a:rPr>
                            <a:t>0.03</a:t>
                          </a:r>
                          <a:endParaRPr lang="ko-KR" altLang="en-US" sz="1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90000" marT="0" marB="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xmlns="" xmlns:a14="http://schemas.microsoft.com/office/drawing/2010/main" val="665876158"/>
                      </a:ext>
                    </a:extLst>
                  </a:tr>
                  <a:tr h="24384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b="0" dirty="0" smtClean="0">
                              <a:solidFill>
                                <a:schemeClr val="tx1"/>
                              </a:solidFill>
                            </a:rPr>
                            <a:t>150</a:t>
                          </a:r>
                          <a:endParaRPr lang="ko-KR" altLang="en-US" sz="10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ko-KR" sz="1000" dirty="0" smtClean="0">
                              <a:solidFill>
                                <a:schemeClr val="tx1"/>
                              </a:solidFill>
                            </a:rPr>
                            <a:t>0.03</a:t>
                          </a:r>
                          <a:endParaRPr lang="ko-KR" altLang="en-US" sz="1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90000" marT="0" marB="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24384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b="0" dirty="0" smtClean="0">
                              <a:solidFill>
                                <a:schemeClr val="tx1"/>
                              </a:solidFill>
                            </a:rPr>
                            <a:t>300</a:t>
                          </a:r>
                          <a:endParaRPr lang="ko-KR" altLang="en-US" sz="10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ko-KR" sz="1000" dirty="0" smtClean="0">
                              <a:solidFill>
                                <a:schemeClr val="tx1"/>
                              </a:solidFill>
                            </a:rPr>
                            <a:t>0.005</a:t>
                          </a:r>
                          <a:endParaRPr lang="ko-KR" altLang="en-US" sz="1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90000" marT="0" marB="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24384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b="0" dirty="0" smtClean="0">
                              <a:solidFill>
                                <a:schemeClr val="tx1"/>
                              </a:solidFill>
                            </a:rPr>
                            <a:t>800</a:t>
                          </a:r>
                          <a:endParaRPr lang="ko-KR" altLang="en-US" sz="10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ko-KR" sz="1000" dirty="0" smtClean="0">
                              <a:solidFill>
                                <a:schemeClr val="tx1"/>
                              </a:solidFill>
                            </a:rPr>
                            <a:t>0.005</a:t>
                          </a:r>
                          <a:endParaRPr lang="ko-KR" altLang="en-US" sz="1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90000" marT="0" marB="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24384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b="0" dirty="0" smtClean="0">
                              <a:solidFill>
                                <a:schemeClr val="tx1"/>
                              </a:solidFill>
                            </a:rPr>
                            <a:t>2000</a:t>
                          </a:r>
                          <a:endParaRPr lang="ko-KR" altLang="en-US" sz="10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ko-KR" sz="1000" dirty="0" smtClean="0">
                              <a:solidFill>
                                <a:schemeClr val="tx1"/>
                              </a:solidFill>
                            </a:rPr>
                            <a:t>0.01</a:t>
                          </a:r>
                          <a:endParaRPr lang="ko-KR" altLang="en-US" sz="1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90000" marT="0" marB="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</a:tbl>
              </a:graphicData>
            </a:graphic>
          </p:graphicFrame>
        </mc:Fallback>
      </mc:AlternateContent>
      <p:graphicFrame>
        <p:nvGraphicFramePr>
          <p:cNvPr id="17" name="표 4">
            <a:extLst>
              <a:ext uri="{FF2B5EF4-FFF2-40B4-BE49-F238E27FC236}">
                <a16:creationId xmlns:a16="http://schemas.microsoft.com/office/drawing/2014/main" id="{283FC7E0-2074-410A-B3CD-0727C6976829}"/>
              </a:ext>
            </a:extLst>
          </p:cNvPr>
          <p:cNvGraphicFramePr>
            <a:graphicFrameLocks noGrp="1"/>
          </p:cNvGraphicFramePr>
          <p:nvPr/>
        </p:nvGraphicFramePr>
        <p:xfrm>
          <a:off x="1294863" y="4900825"/>
          <a:ext cx="2807119" cy="975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1784">
                  <a:extLst>
                    <a:ext uri="{9D8B030D-6E8A-4147-A177-3AD203B41FA5}">
                      <a16:colId xmlns:a16="http://schemas.microsoft.com/office/drawing/2014/main" val="2693699986"/>
                    </a:ext>
                  </a:extLst>
                </a:gridCol>
                <a:gridCol w="1555335">
                  <a:extLst>
                    <a:ext uri="{9D8B030D-6E8A-4147-A177-3AD203B41FA5}">
                      <a16:colId xmlns:a16="http://schemas.microsoft.com/office/drawing/2014/main" val="408773275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solidFill>
                            <a:schemeClr val="tx1"/>
                          </a:solidFill>
                        </a:rPr>
                        <a:t>Frequency (Hz)</a:t>
                      </a:r>
                      <a:endParaRPr lang="ko-KR" altLang="en-US" sz="10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b="1" dirty="0">
                          <a:solidFill>
                            <a:schemeClr val="tx1"/>
                          </a:solidFill>
                        </a:rPr>
                        <a:t>SRS (g)</a:t>
                      </a:r>
                      <a:endParaRPr lang="ko-KR" altLang="en-US" sz="1000" b="1" dirty="0">
                        <a:solidFill>
                          <a:schemeClr val="tx1"/>
                        </a:solidFill>
                      </a:endParaRPr>
                    </a:p>
                  </a:txBody>
                  <a:tcPr marL="9000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55998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100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30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51963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1000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1000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9000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658761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10000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1000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9000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20" name="표 4">
            <a:extLst>
              <a:ext uri="{FF2B5EF4-FFF2-40B4-BE49-F238E27FC236}">
                <a16:creationId xmlns:a16="http://schemas.microsoft.com/office/drawing/2014/main" id="{283FC7E0-2074-410A-B3CD-0727C6976829}"/>
              </a:ext>
            </a:extLst>
          </p:cNvPr>
          <p:cNvGraphicFramePr>
            <a:graphicFrameLocks noGrp="1"/>
          </p:cNvGraphicFramePr>
          <p:nvPr/>
        </p:nvGraphicFramePr>
        <p:xfrm>
          <a:off x="4687544" y="4892280"/>
          <a:ext cx="2858392" cy="975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4153">
                  <a:extLst>
                    <a:ext uri="{9D8B030D-6E8A-4147-A177-3AD203B41FA5}">
                      <a16:colId xmlns:a16="http://schemas.microsoft.com/office/drawing/2014/main" val="2693699986"/>
                    </a:ext>
                  </a:extLst>
                </a:gridCol>
                <a:gridCol w="1444239">
                  <a:extLst>
                    <a:ext uri="{9D8B030D-6E8A-4147-A177-3AD203B41FA5}">
                      <a16:colId xmlns:a16="http://schemas.microsoft.com/office/drawing/2014/main" val="408773275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solidFill>
                            <a:schemeClr val="tx1"/>
                          </a:solidFill>
                        </a:rPr>
                        <a:t>Frequency (Hz)</a:t>
                      </a:r>
                      <a:endParaRPr lang="ko-KR" altLang="en-US" sz="10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b="1" dirty="0">
                          <a:solidFill>
                            <a:schemeClr val="tx1"/>
                          </a:solidFill>
                        </a:rPr>
                        <a:t>SRS (g)</a:t>
                      </a:r>
                      <a:endParaRPr lang="ko-KR" altLang="en-US" sz="1000" b="1" dirty="0">
                        <a:solidFill>
                          <a:schemeClr val="tx1"/>
                        </a:solidFill>
                      </a:endParaRPr>
                    </a:p>
                  </a:txBody>
                  <a:tcPr marL="9000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55998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100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50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51963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900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700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9000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658761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10000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700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9000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51703248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D263454-BA6F-429F-B0C1-0DDEEC6F1E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Launch Vehicle Selection and Interface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AA9F1EE-D202-4CD7-8AAE-E32CFB5587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Environment Interface</a:t>
            </a:r>
          </a:p>
        </p:txBody>
      </p:sp>
      <p:graphicFrame>
        <p:nvGraphicFramePr>
          <p:cNvPr id="7" name="표 4">
            <a:extLst>
              <a:ext uri="{FF2B5EF4-FFF2-40B4-BE49-F238E27FC236}">
                <a16:creationId xmlns:a16="http://schemas.microsoft.com/office/drawing/2014/main" id="{23AB4A94-332B-4BB1-A7BF-7494FD25714B}"/>
              </a:ext>
            </a:extLst>
          </p:cNvPr>
          <p:cNvGraphicFramePr>
            <a:graphicFrameLocks noGrp="1"/>
          </p:cNvGraphicFramePr>
          <p:nvPr/>
        </p:nvGraphicFramePr>
        <p:xfrm>
          <a:off x="156245" y="1338688"/>
          <a:ext cx="8786419" cy="478010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1495">
                  <a:extLst>
                    <a:ext uri="{9D8B030D-6E8A-4147-A177-3AD203B41FA5}">
                      <a16:colId xmlns:a16="http://schemas.microsoft.com/office/drawing/2014/main" val="2693699986"/>
                    </a:ext>
                  </a:extLst>
                </a:gridCol>
                <a:gridCol w="3383280">
                  <a:extLst>
                    <a:ext uri="{9D8B030D-6E8A-4147-A177-3AD203B41FA5}">
                      <a16:colId xmlns:a16="http://schemas.microsoft.com/office/drawing/2014/main" val="3854614882"/>
                    </a:ext>
                  </a:extLst>
                </a:gridCol>
                <a:gridCol w="3368626">
                  <a:extLst>
                    <a:ext uri="{9D8B030D-6E8A-4147-A177-3AD203B41FA5}">
                      <a16:colId xmlns:a16="http://schemas.microsoft.com/office/drawing/2014/main" val="4087732750"/>
                    </a:ext>
                  </a:extLst>
                </a:gridCol>
                <a:gridCol w="1223018">
                  <a:extLst>
                    <a:ext uri="{9D8B030D-6E8A-4147-A177-3AD203B41FA5}">
                      <a16:colId xmlns:a16="http://schemas.microsoft.com/office/drawing/2014/main" val="3586262705"/>
                    </a:ext>
                  </a:extLst>
                </a:gridCol>
              </a:tblGrid>
              <a:tr h="200533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규격</a:t>
                      </a:r>
                    </a:p>
                  </a:txBody>
                  <a:tcPr anchor="ctr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+mj-lt"/>
                        </a:rPr>
                        <a:t>SPACE X – Falcon9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9000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+mj-lt"/>
                        </a:rPr>
                        <a:t>ROKET</a:t>
                      </a:r>
                      <a:r>
                        <a:rPr lang="en-US" altLang="ko-KR" sz="1200" baseline="0" dirty="0">
                          <a:solidFill>
                            <a:schemeClr val="tx1"/>
                          </a:solidFill>
                          <a:latin typeface="+mj-lt"/>
                        </a:rPr>
                        <a:t> LAB - Electron</a:t>
                      </a:r>
                      <a:endParaRPr lang="ko-KR" altLang="en-US" sz="12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000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비고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4801008"/>
                  </a:ext>
                </a:extLst>
              </a:tr>
              <a:tr h="450578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ACOUSTIC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+mn-lt"/>
                        <a:ea typeface="+mn-ea"/>
                      </a:endParaRPr>
                    </a:p>
                  </a:txBody>
                  <a:tcPr anchor="ctr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lnSpc>
                          <a:spcPct val="150000"/>
                        </a:lnSpc>
                        <a:buFont typeface="Wingdings" panose="05000000000000000000" pitchFamily="2" charset="2"/>
                        <a:buChar char="§"/>
                      </a:pPr>
                      <a:endParaRPr lang="en-US" altLang="ko-KR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85725" indent="0" algn="ctr" latinLnBrk="1">
                        <a:lnSpc>
                          <a:spcPct val="150000"/>
                        </a:lnSpc>
                        <a:buFont typeface="Wingdings" panose="05000000000000000000" pitchFamily="2" charset="2"/>
                        <a:buNone/>
                      </a:pP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08348595"/>
                  </a:ext>
                </a:extLst>
              </a:tr>
            </a:tbl>
          </a:graphicData>
        </a:graphic>
      </p:graphicFrame>
      <p:graphicFrame>
        <p:nvGraphicFramePr>
          <p:cNvPr id="9" name="표 4">
            <a:extLst>
              <a:ext uri="{FF2B5EF4-FFF2-40B4-BE49-F238E27FC236}">
                <a16:creationId xmlns:a16="http://schemas.microsoft.com/office/drawing/2014/main" id="{283FC7E0-2074-410A-B3CD-0727C6976829}"/>
              </a:ext>
            </a:extLst>
          </p:cNvPr>
          <p:cNvGraphicFramePr>
            <a:graphicFrameLocks noGrp="1"/>
          </p:cNvGraphicFramePr>
          <p:nvPr/>
        </p:nvGraphicFramePr>
        <p:xfrm>
          <a:off x="1123948" y="1875614"/>
          <a:ext cx="3054946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11604">
                  <a:extLst>
                    <a:ext uri="{9D8B030D-6E8A-4147-A177-3AD203B41FA5}">
                      <a16:colId xmlns:a16="http://schemas.microsoft.com/office/drawing/2014/main" val="2693699986"/>
                    </a:ext>
                  </a:extLst>
                </a:gridCol>
                <a:gridCol w="1743342">
                  <a:extLst>
                    <a:ext uri="{9D8B030D-6E8A-4147-A177-3AD203B41FA5}">
                      <a16:colId xmlns:a16="http://schemas.microsoft.com/office/drawing/2014/main" val="408773275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solidFill>
                            <a:schemeClr val="tx1"/>
                          </a:solidFill>
                        </a:rPr>
                        <a:t>Frequency (Hz)</a:t>
                      </a:r>
                      <a:endParaRPr lang="ko-KR" altLang="en-US" sz="10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b="1" dirty="0">
                          <a:solidFill>
                            <a:schemeClr val="tx1"/>
                          </a:solidFill>
                        </a:rPr>
                        <a:t>Acoustic Limit Levels (P95/50), 60% Factor (DB)</a:t>
                      </a:r>
                      <a:endParaRPr lang="ko-KR" altLang="en-US" sz="1000" b="1" dirty="0">
                        <a:solidFill>
                          <a:schemeClr val="tx1"/>
                        </a:solidFill>
                      </a:endParaRPr>
                    </a:p>
                  </a:txBody>
                  <a:tcPr marL="9000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55998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25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126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51963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100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130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9000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658761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125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130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9000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200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130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9000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315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127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9000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400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124.5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9000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630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118.5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9000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1000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113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9000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2192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3150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106.5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9000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2192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5000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104.5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9000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2192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8000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102.5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9000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2192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10000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101.5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9000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2192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OASPL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140.3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9000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graphicFrame>
        <p:nvGraphicFramePr>
          <p:cNvPr id="10" name="표 4">
            <a:extLst>
              <a:ext uri="{FF2B5EF4-FFF2-40B4-BE49-F238E27FC236}">
                <a16:creationId xmlns:a16="http://schemas.microsoft.com/office/drawing/2014/main" id="{283FC7E0-2074-410A-B3CD-0727C6976829}"/>
              </a:ext>
            </a:extLst>
          </p:cNvPr>
          <p:cNvGraphicFramePr>
            <a:graphicFrameLocks noGrp="1"/>
          </p:cNvGraphicFramePr>
          <p:nvPr/>
        </p:nvGraphicFramePr>
        <p:xfrm>
          <a:off x="4498113" y="1882982"/>
          <a:ext cx="3054946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11604">
                  <a:extLst>
                    <a:ext uri="{9D8B030D-6E8A-4147-A177-3AD203B41FA5}">
                      <a16:colId xmlns:a16="http://schemas.microsoft.com/office/drawing/2014/main" val="2693699986"/>
                    </a:ext>
                  </a:extLst>
                </a:gridCol>
                <a:gridCol w="1743342">
                  <a:extLst>
                    <a:ext uri="{9D8B030D-6E8A-4147-A177-3AD203B41FA5}">
                      <a16:colId xmlns:a16="http://schemas.microsoft.com/office/drawing/2014/main" val="408773275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solidFill>
                            <a:schemeClr val="tx1"/>
                          </a:solidFill>
                        </a:rPr>
                        <a:t>Frequency (Hz)</a:t>
                      </a:r>
                      <a:endParaRPr lang="ko-KR" altLang="en-US" sz="10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b="1" dirty="0">
                          <a:solidFill>
                            <a:schemeClr val="tx1"/>
                          </a:solidFill>
                        </a:rPr>
                        <a:t>Acoustic Limit Levels (P95/50), 60% Factor (DB)</a:t>
                      </a:r>
                      <a:endParaRPr lang="ko-KR" altLang="en-US" sz="1000" b="1" dirty="0">
                        <a:solidFill>
                          <a:schemeClr val="tx1"/>
                        </a:solidFill>
                      </a:endParaRPr>
                    </a:p>
                  </a:txBody>
                  <a:tcPr marL="9000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55998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25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105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51963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100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114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9000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658761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125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113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9000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200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112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9000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315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112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9000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400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112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9000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630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112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9000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1000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113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9000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2192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3150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104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9000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2192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5000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101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9000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2192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8000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100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9000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2192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10000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100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9000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2192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OASPL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9000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50527287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D263454-BA6F-429F-B0C1-0DDEEC6F1E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Launch Vehicle Selection and Interface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AA9F1EE-D202-4CD7-8AAE-E32CFB5587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Thermal Condition</a:t>
            </a:r>
          </a:p>
        </p:txBody>
      </p:sp>
      <p:graphicFrame>
        <p:nvGraphicFramePr>
          <p:cNvPr id="7" name="표 4">
            <a:extLst>
              <a:ext uri="{FF2B5EF4-FFF2-40B4-BE49-F238E27FC236}">
                <a16:creationId xmlns:a16="http://schemas.microsoft.com/office/drawing/2014/main" id="{23AB4A94-332B-4BB1-A7BF-7494FD25714B}"/>
              </a:ext>
            </a:extLst>
          </p:cNvPr>
          <p:cNvGraphicFramePr>
            <a:graphicFrameLocks noGrp="1"/>
          </p:cNvGraphicFramePr>
          <p:nvPr/>
        </p:nvGraphicFramePr>
        <p:xfrm>
          <a:off x="156245" y="1338688"/>
          <a:ext cx="8786419" cy="276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1495">
                  <a:extLst>
                    <a:ext uri="{9D8B030D-6E8A-4147-A177-3AD203B41FA5}">
                      <a16:colId xmlns:a16="http://schemas.microsoft.com/office/drawing/2014/main" val="2693699986"/>
                    </a:ext>
                  </a:extLst>
                </a:gridCol>
                <a:gridCol w="3383280">
                  <a:extLst>
                    <a:ext uri="{9D8B030D-6E8A-4147-A177-3AD203B41FA5}">
                      <a16:colId xmlns:a16="http://schemas.microsoft.com/office/drawing/2014/main" val="3854614882"/>
                    </a:ext>
                  </a:extLst>
                </a:gridCol>
                <a:gridCol w="3368626">
                  <a:extLst>
                    <a:ext uri="{9D8B030D-6E8A-4147-A177-3AD203B41FA5}">
                      <a16:colId xmlns:a16="http://schemas.microsoft.com/office/drawing/2014/main" val="4087732750"/>
                    </a:ext>
                  </a:extLst>
                </a:gridCol>
                <a:gridCol w="1223018">
                  <a:extLst>
                    <a:ext uri="{9D8B030D-6E8A-4147-A177-3AD203B41FA5}">
                      <a16:colId xmlns:a16="http://schemas.microsoft.com/office/drawing/2014/main" val="3586262705"/>
                    </a:ext>
                  </a:extLst>
                </a:gridCol>
              </a:tblGrid>
              <a:tr h="200533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규격</a:t>
                      </a:r>
                    </a:p>
                  </a:txBody>
                  <a:tcPr anchor="ctr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+mj-lt"/>
                        </a:rPr>
                        <a:t>SPACE X – Falcon9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9000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+mj-lt"/>
                        </a:rPr>
                        <a:t>ROKET</a:t>
                      </a:r>
                      <a:r>
                        <a:rPr lang="en-US" altLang="ko-KR" sz="1200" baseline="0" dirty="0">
                          <a:solidFill>
                            <a:schemeClr val="tx1"/>
                          </a:solidFill>
                          <a:latin typeface="+mj-lt"/>
                        </a:rPr>
                        <a:t> LAB - Electron</a:t>
                      </a:r>
                      <a:endParaRPr lang="ko-KR" altLang="en-US" sz="12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000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비고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4801008"/>
                  </a:ext>
                </a:extLst>
              </a:tr>
              <a:tr h="2493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Thermal</a:t>
                      </a:r>
                      <a:r>
                        <a:rPr lang="en-US" altLang="ko-KR" sz="9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 condition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+mn-lt"/>
                        <a:ea typeface="+mn-ea"/>
                      </a:endParaRPr>
                    </a:p>
                  </a:txBody>
                  <a:tcPr anchor="ctr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Thermal Vacuum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기준</a:t>
                      </a:r>
                    </a:p>
                  </a:txBody>
                  <a:tcPr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lnSpc>
                          <a:spcPct val="150000"/>
                        </a:lnSpc>
                        <a:buFont typeface="Wingdings" panose="05000000000000000000" pitchFamily="2" charset="2"/>
                        <a:buNone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매뉴얼에 항목 없음</a:t>
                      </a:r>
                      <a:endParaRPr lang="en-US" altLang="ko-KR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85725" indent="0" algn="ctr" latinLnBrk="1">
                        <a:lnSpc>
                          <a:spcPct val="150000"/>
                        </a:lnSpc>
                        <a:buFont typeface="Wingdings" panose="05000000000000000000" pitchFamily="2" charset="2"/>
                        <a:buNone/>
                      </a:pP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08348595"/>
                  </a:ext>
                </a:extLst>
              </a:tr>
            </a:tbl>
          </a:graphicData>
        </a:graphic>
      </p:graphicFrame>
      <p:pic>
        <p:nvPicPr>
          <p:cNvPr id="9" name="그림 8"/>
          <p:cNvPicPr/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522"/>
          <a:stretch/>
        </p:blipFill>
        <p:spPr bwMode="auto">
          <a:xfrm>
            <a:off x="1077408" y="1752129"/>
            <a:ext cx="3189791" cy="216924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210911537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Space to Ground Interface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S-band Interface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93704136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Space to Ground Interface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X-band Interface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95803565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EMI/EMC Design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02015461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Verification Plan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Overview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43173795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Verification Management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Requirement Verification Matrix (RVM) Scope</a:t>
            </a:r>
          </a:p>
          <a:p>
            <a:pPr lvl="1"/>
            <a:r>
              <a:rPr lang="en-US" altLang="ko-KR" dirty="0"/>
              <a:t>System Specification</a:t>
            </a:r>
          </a:p>
          <a:p>
            <a:pPr lvl="1"/>
            <a:r>
              <a:rPr lang="en-US" altLang="ko-KR" dirty="0"/>
              <a:t>System Level Interface Control Document</a:t>
            </a:r>
          </a:p>
          <a:p>
            <a:pPr lvl="1"/>
            <a:r>
              <a:rPr lang="en-US" altLang="ko-KR" dirty="0"/>
              <a:t>Spacecraft Bus, Payload, Ground System Specification</a:t>
            </a:r>
          </a:p>
          <a:p>
            <a:pPr lvl="1"/>
            <a:r>
              <a:rPr lang="en-US" altLang="ko-KR" dirty="0"/>
              <a:t>Spacecraft Bus Subsystem Specification</a:t>
            </a:r>
          </a:p>
          <a:p>
            <a:pPr lvl="1"/>
            <a:r>
              <a:rPr lang="en-US" altLang="ko-KR" dirty="0"/>
              <a:t>Payload Subsystem Specification</a:t>
            </a:r>
          </a:p>
          <a:p>
            <a:pPr lvl="1"/>
            <a:endParaRPr lang="en-US" altLang="ko-KR" dirty="0"/>
          </a:p>
          <a:p>
            <a:r>
              <a:rPr lang="en-US" altLang="ko-KR" dirty="0"/>
              <a:t>Requirement Traceability Matrix (RTM) Scope</a:t>
            </a:r>
          </a:p>
          <a:p>
            <a:pPr lvl="1"/>
            <a:r>
              <a:rPr lang="en-US" altLang="ko-KR" dirty="0"/>
              <a:t>System Specification</a:t>
            </a:r>
          </a:p>
          <a:p>
            <a:pPr lvl="1"/>
            <a:r>
              <a:rPr lang="en-US" altLang="ko-KR" dirty="0"/>
              <a:t>System to Spacecraft Bus, Payload, Ground System Specification</a:t>
            </a:r>
          </a:p>
          <a:p>
            <a:pPr lvl="1"/>
            <a:r>
              <a:rPr lang="en-US" altLang="ko-KR" dirty="0"/>
              <a:t>Spacecraft Bus to Subsystem Specification</a:t>
            </a:r>
          </a:p>
          <a:p>
            <a:pPr lvl="1"/>
            <a:r>
              <a:rPr lang="en-US" altLang="ko-KR" dirty="0"/>
              <a:t>Payload to Subsystem Specification</a:t>
            </a:r>
          </a:p>
          <a:p>
            <a:pPr lvl="1"/>
            <a:endParaRPr lang="en-US" altLang="ko-KR" dirty="0"/>
          </a:p>
          <a:p>
            <a:r>
              <a:rPr lang="en-US" altLang="ko-KR" dirty="0"/>
              <a:t>Verification Test Matrix (VTM) Scope</a:t>
            </a:r>
          </a:p>
          <a:p>
            <a:pPr lvl="1"/>
            <a:r>
              <a:rPr lang="en-US" altLang="ko-KR" dirty="0"/>
              <a:t>Satellite, STM, ETB</a:t>
            </a:r>
          </a:p>
          <a:p>
            <a:pPr lvl="1"/>
            <a:r>
              <a:rPr lang="en-US" altLang="ko-KR" dirty="0"/>
              <a:t>Spacecraft Bus Units</a:t>
            </a:r>
          </a:p>
          <a:p>
            <a:pPr lvl="1"/>
            <a:r>
              <a:rPr lang="en-US" altLang="ko-KR" dirty="0"/>
              <a:t>Payload Units</a:t>
            </a:r>
          </a:p>
          <a:p>
            <a:endParaRPr lang="ko-KR" altLang="en-US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05460030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D263454-BA6F-429F-B0C1-0DDEEC6F1E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Requirement Verification Matrix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AA9F1EE-D202-4CD7-8AAE-E32CFB5587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System</a:t>
            </a: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6172CA61-1F9F-4662-B8D4-588A5E0345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5107489"/>
              </p:ext>
            </p:extLst>
          </p:nvPr>
        </p:nvGraphicFramePr>
        <p:xfrm>
          <a:off x="543465" y="1399949"/>
          <a:ext cx="824485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0000">
                  <a:extLst>
                    <a:ext uri="{9D8B030D-6E8A-4147-A177-3AD203B41FA5}">
                      <a16:colId xmlns:a16="http://schemas.microsoft.com/office/drawing/2014/main" val="3967507389"/>
                    </a:ext>
                  </a:extLst>
                </a:gridCol>
                <a:gridCol w="2125123">
                  <a:extLst>
                    <a:ext uri="{9D8B030D-6E8A-4147-A177-3AD203B41FA5}">
                      <a16:colId xmlns:a16="http://schemas.microsoft.com/office/drawing/2014/main" val="3747694627"/>
                    </a:ext>
                  </a:extLst>
                </a:gridCol>
                <a:gridCol w="845439">
                  <a:extLst>
                    <a:ext uri="{9D8B030D-6E8A-4147-A177-3AD203B41FA5}">
                      <a16:colId xmlns:a16="http://schemas.microsoft.com/office/drawing/2014/main" val="169883087"/>
                    </a:ext>
                  </a:extLst>
                </a:gridCol>
                <a:gridCol w="845439">
                  <a:extLst>
                    <a:ext uri="{9D8B030D-6E8A-4147-A177-3AD203B41FA5}">
                      <a16:colId xmlns:a16="http://schemas.microsoft.com/office/drawing/2014/main" val="3943304868"/>
                    </a:ext>
                  </a:extLst>
                </a:gridCol>
                <a:gridCol w="411147">
                  <a:extLst>
                    <a:ext uri="{9D8B030D-6E8A-4147-A177-3AD203B41FA5}">
                      <a16:colId xmlns:a16="http://schemas.microsoft.com/office/drawing/2014/main" val="1702981382"/>
                    </a:ext>
                  </a:extLst>
                </a:gridCol>
                <a:gridCol w="411147">
                  <a:extLst>
                    <a:ext uri="{9D8B030D-6E8A-4147-A177-3AD203B41FA5}">
                      <a16:colId xmlns:a16="http://schemas.microsoft.com/office/drawing/2014/main" val="562482782"/>
                    </a:ext>
                  </a:extLst>
                </a:gridCol>
                <a:gridCol w="411147">
                  <a:extLst>
                    <a:ext uri="{9D8B030D-6E8A-4147-A177-3AD203B41FA5}">
                      <a16:colId xmlns:a16="http://schemas.microsoft.com/office/drawing/2014/main" val="1927246510"/>
                    </a:ext>
                  </a:extLst>
                </a:gridCol>
                <a:gridCol w="411147">
                  <a:extLst>
                    <a:ext uri="{9D8B030D-6E8A-4147-A177-3AD203B41FA5}">
                      <a16:colId xmlns:a16="http://schemas.microsoft.com/office/drawing/2014/main" val="2590156078"/>
                    </a:ext>
                  </a:extLst>
                </a:gridCol>
                <a:gridCol w="411147">
                  <a:extLst>
                    <a:ext uri="{9D8B030D-6E8A-4147-A177-3AD203B41FA5}">
                      <a16:colId xmlns:a16="http://schemas.microsoft.com/office/drawing/2014/main" val="2775731582"/>
                    </a:ext>
                  </a:extLst>
                </a:gridCol>
                <a:gridCol w="1473114">
                  <a:extLst>
                    <a:ext uri="{9D8B030D-6E8A-4147-A177-3AD203B41FA5}">
                      <a16:colId xmlns:a16="http://schemas.microsoft.com/office/drawing/2014/main" val="1220576217"/>
                    </a:ext>
                  </a:extLst>
                </a:gridCol>
              </a:tblGrid>
              <a:tr h="0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Req. Id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항목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Level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Phase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5"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Verification Method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비고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4531302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7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7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540742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SAR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분해능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Symbol" panose="05050102010706020507" pitchFamily="18" charset="2"/>
                        </a:rPr>
                        <a:t>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Symbol" panose="05050102010706020507" pitchFamily="18" charset="2"/>
                        </a:rPr>
                        <a:t>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163048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고도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Symbol" panose="05050102010706020507" pitchFamily="18" charset="2"/>
                        </a:rPr>
                        <a:t>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50368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궤도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Symbol" panose="05050102010706020507" pitchFamily="18" charset="2"/>
                        </a:rPr>
                        <a:t>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994356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궤도당 최대 영상획득 시간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ko-KR" alt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Symbol" panose="05050102010706020507" pitchFamily="18" charset="2"/>
                        </a:rPr>
                        <a:t>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Symbol" panose="05050102010706020507" pitchFamily="18" charset="2"/>
                        </a:rPr>
                        <a:t>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236596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관측 모드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Symbol" panose="05050102010706020507" pitchFamily="18" charset="2"/>
                        </a:rPr>
                        <a:t>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Symbol" panose="05050102010706020507" pitchFamily="18" charset="2"/>
                        </a:rPr>
                        <a:t>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64464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관측폭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ko-KR" alt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Symbol" panose="05050102010706020507" pitchFamily="18" charset="2"/>
                        </a:rPr>
                        <a:t>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Symbol" panose="05050102010706020507" pitchFamily="18" charset="2"/>
                        </a:rPr>
                        <a:t>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877199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관측 경사각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Symbol" panose="05050102010706020507" pitchFamily="18" charset="2"/>
                        </a:rPr>
                        <a:t>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Symbol" panose="05050102010706020507" pitchFamily="18" charset="2"/>
                        </a:rPr>
                        <a:t>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837851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SAR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영상자료저장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ko-KR" alt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Symbol" panose="05050102010706020507" pitchFamily="18" charset="2"/>
                        </a:rPr>
                        <a:t>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4597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SAR 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영상자료전송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ko-KR" alt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Symbol" panose="05050102010706020507" pitchFamily="18" charset="2"/>
                        </a:rPr>
                        <a:t>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84959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자료 암호화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Symbol" panose="05050102010706020507" pitchFamily="18" charset="2"/>
                        </a:rPr>
                        <a:t>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03699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이중화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ko-KR" alt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Symbol" panose="05050102010706020507" pitchFamily="18" charset="2"/>
                        </a:rPr>
                        <a:t>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95469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편파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Symbol" panose="05050102010706020507" pitchFamily="18" charset="2"/>
                        </a:rPr>
                        <a:t>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86954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주파수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Symbol" panose="05050102010706020507" pitchFamily="18" charset="2"/>
                        </a:rPr>
                        <a:t>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811612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Chirp 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대역폭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Symbol" panose="05050102010706020507" pitchFamily="18" charset="2"/>
                        </a:rPr>
                        <a:t>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056906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Chirp 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생성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ko-KR" alt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Symbol" panose="05050102010706020507" pitchFamily="18" charset="2"/>
                        </a:rPr>
                        <a:t>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Symbol" panose="05050102010706020507" pitchFamily="18" charset="2"/>
                        </a:rPr>
                        <a:t>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315393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소비전력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Symbol" panose="05050102010706020507" pitchFamily="18" charset="2"/>
                        </a:rPr>
                        <a:t>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Symbol" panose="05050102010706020507" pitchFamily="18" charset="2"/>
                        </a:rPr>
                        <a:t>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514458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무게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Symbol" panose="05050102010706020507" pitchFamily="18" charset="2"/>
                        </a:rPr>
                        <a:t>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Symbol" panose="05050102010706020507" pitchFamily="18" charset="2"/>
                        </a:rPr>
                        <a:t>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1696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크기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Symbol" panose="05050102010706020507" pitchFamily="18" charset="2"/>
                        </a:rPr>
                        <a:t>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Symbol" panose="05050102010706020507" pitchFamily="18" charset="2"/>
                        </a:rPr>
                        <a:t>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335351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환경조건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Symbol" panose="05050102010706020507" pitchFamily="18" charset="2"/>
                        </a:rPr>
                        <a:t>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Symbol" panose="05050102010706020507" pitchFamily="18" charset="2"/>
                        </a:rPr>
                        <a:t>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410498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12915492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D263454-BA6F-429F-B0C1-0DDEEC6F1E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Requirement Verification Matrix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AA9F1EE-D202-4CD7-8AAE-E32CFB5587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SAA</a:t>
            </a: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6172CA61-1F9F-4662-B8D4-588A5E0345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613947"/>
              </p:ext>
            </p:extLst>
          </p:nvPr>
        </p:nvGraphicFramePr>
        <p:xfrm>
          <a:off x="543465" y="1399949"/>
          <a:ext cx="8244850" cy="490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0000">
                  <a:extLst>
                    <a:ext uri="{9D8B030D-6E8A-4147-A177-3AD203B41FA5}">
                      <a16:colId xmlns:a16="http://schemas.microsoft.com/office/drawing/2014/main" val="3967507389"/>
                    </a:ext>
                  </a:extLst>
                </a:gridCol>
                <a:gridCol w="2125123">
                  <a:extLst>
                    <a:ext uri="{9D8B030D-6E8A-4147-A177-3AD203B41FA5}">
                      <a16:colId xmlns:a16="http://schemas.microsoft.com/office/drawing/2014/main" val="3747694627"/>
                    </a:ext>
                  </a:extLst>
                </a:gridCol>
                <a:gridCol w="845439">
                  <a:extLst>
                    <a:ext uri="{9D8B030D-6E8A-4147-A177-3AD203B41FA5}">
                      <a16:colId xmlns:a16="http://schemas.microsoft.com/office/drawing/2014/main" val="169883087"/>
                    </a:ext>
                  </a:extLst>
                </a:gridCol>
                <a:gridCol w="845439">
                  <a:extLst>
                    <a:ext uri="{9D8B030D-6E8A-4147-A177-3AD203B41FA5}">
                      <a16:colId xmlns:a16="http://schemas.microsoft.com/office/drawing/2014/main" val="3943304868"/>
                    </a:ext>
                  </a:extLst>
                </a:gridCol>
                <a:gridCol w="411147">
                  <a:extLst>
                    <a:ext uri="{9D8B030D-6E8A-4147-A177-3AD203B41FA5}">
                      <a16:colId xmlns:a16="http://schemas.microsoft.com/office/drawing/2014/main" val="1702981382"/>
                    </a:ext>
                  </a:extLst>
                </a:gridCol>
                <a:gridCol w="411147">
                  <a:extLst>
                    <a:ext uri="{9D8B030D-6E8A-4147-A177-3AD203B41FA5}">
                      <a16:colId xmlns:a16="http://schemas.microsoft.com/office/drawing/2014/main" val="562482782"/>
                    </a:ext>
                  </a:extLst>
                </a:gridCol>
                <a:gridCol w="411147">
                  <a:extLst>
                    <a:ext uri="{9D8B030D-6E8A-4147-A177-3AD203B41FA5}">
                      <a16:colId xmlns:a16="http://schemas.microsoft.com/office/drawing/2014/main" val="1927246510"/>
                    </a:ext>
                  </a:extLst>
                </a:gridCol>
                <a:gridCol w="411147">
                  <a:extLst>
                    <a:ext uri="{9D8B030D-6E8A-4147-A177-3AD203B41FA5}">
                      <a16:colId xmlns:a16="http://schemas.microsoft.com/office/drawing/2014/main" val="2590156078"/>
                    </a:ext>
                  </a:extLst>
                </a:gridCol>
                <a:gridCol w="411147">
                  <a:extLst>
                    <a:ext uri="{9D8B030D-6E8A-4147-A177-3AD203B41FA5}">
                      <a16:colId xmlns:a16="http://schemas.microsoft.com/office/drawing/2014/main" val="2775731582"/>
                    </a:ext>
                  </a:extLst>
                </a:gridCol>
                <a:gridCol w="1473114">
                  <a:extLst>
                    <a:ext uri="{9D8B030D-6E8A-4147-A177-3AD203B41FA5}">
                      <a16:colId xmlns:a16="http://schemas.microsoft.com/office/drawing/2014/main" val="1220576217"/>
                    </a:ext>
                  </a:extLst>
                </a:gridCol>
              </a:tblGrid>
              <a:tr h="0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Req. Id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항목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Level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Phase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5"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Verification Method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비고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4531302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7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7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540742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Frequency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>
                          <a:solidFill>
                            <a:schemeClr val="tx1"/>
                          </a:solidFill>
                          <a:sym typeface="Symbol" panose="05050102010706020507" pitchFamily="18" charset="2"/>
                        </a:rPr>
                        <a:t></a:t>
                      </a:r>
                      <a:endParaRPr lang="ko-KR" altLang="en-US" sz="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Symbol" panose="05050102010706020507" pitchFamily="18" charset="2"/>
                        </a:rPr>
                        <a:t></a:t>
                      </a:r>
                      <a:endParaRPr lang="ko-KR" altLang="en-US" sz="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163048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Bandwidth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굴림"/>
                          <a:cs typeface="+mn-cs"/>
                          <a:sym typeface="Symbol" panose="05050102010706020507" pitchFamily="18" charset="2"/>
                        </a:rPr>
                        <a:t></a:t>
                      </a:r>
                      <a:endParaRPr lang="ko-KR" altLang="en-US" sz="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Symbol" panose="05050102010706020507" pitchFamily="18" charset="2"/>
                        </a:rPr>
                        <a:t></a:t>
                      </a:r>
                      <a:endParaRPr lang="ko-KR" altLang="en-US" sz="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VSWR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ko-KR" alt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굴림"/>
                          <a:cs typeface="+mn-cs"/>
                          <a:sym typeface="Symbol" panose="05050102010706020507" pitchFamily="18" charset="2"/>
                        </a:rPr>
                        <a:t></a:t>
                      </a:r>
                      <a:endParaRPr lang="ko-KR" altLang="en-US" sz="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Symbol" panose="05050102010706020507" pitchFamily="18" charset="2"/>
                        </a:rPr>
                        <a:t></a:t>
                      </a:r>
                      <a:endParaRPr lang="ko-KR" altLang="en-US" sz="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Gain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ko-KR" alt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굴림"/>
                          <a:cs typeface="+mn-cs"/>
                          <a:sym typeface="Symbol" panose="05050102010706020507" pitchFamily="18" charset="2"/>
                        </a:rPr>
                        <a:t></a:t>
                      </a:r>
                      <a:endParaRPr lang="ko-KR" altLang="en-US" sz="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Symbol" panose="05050102010706020507" pitchFamily="18" charset="2"/>
                        </a:rPr>
                        <a:t></a:t>
                      </a:r>
                      <a:endParaRPr lang="ko-KR" altLang="en-US" sz="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50368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Horizontal 3dB Half Power Beam Width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굴림"/>
                          <a:cs typeface="+mn-cs"/>
                          <a:sym typeface="Symbol" panose="05050102010706020507" pitchFamily="18" charset="2"/>
                        </a:rPr>
                        <a:t></a:t>
                      </a:r>
                      <a:endParaRPr lang="ko-KR" altLang="en-US" sz="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Symbol" panose="05050102010706020507" pitchFamily="18" charset="2"/>
                        </a:rPr>
                        <a:t></a:t>
                      </a:r>
                      <a:endParaRPr lang="ko-KR" altLang="en-US" sz="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994356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Vertical 3dB Half Power Beam Width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ko-KR" alt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굴림"/>
                          <a:cs typeface="+mn-cs"/>
                          <a:sym typeface="Symbol" panose="05050102010706020507" pitchFamily="18" charset="2"/>
                        </a:rPr>
                        <a:t></a:t>
                      </a:r>
                      <a:endParaRPr lang="ko-KR" altLang="en-US" sz="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Symbol" panose="05050102010706020507" pitchFamily="18" charset="2"/>
                        </a:rPr>
                        <a:t></a:t>
                      </a:r>
                      <a:endParaRPr lang="ko-KR" altLang="en-US" sz="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236596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Horizontal Radiation Pattern 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굴림"/>
                          <a:cs typeface="+mn-cs"/>
                          <a:sym typeface="Symbol" panose="05050102010706020507" pitchFamily="18" charset="2"/>
                        </a:rPr>
                        <a:t></a:t>
                      </a:r>
                      <a:endParaRPr lang="ko-KR" altLang="en-US" sz="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Symbol" panose="05050102010706020507" pitchFamily="18" charset="2"/>
                        </a:rPr>
                        <a:t></a:t>
                      </a:r>
                      <a:endParaRPr lang="ko-KR" altLang="en-US" sz="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64464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Vertical Radiation Pattern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ko-KR" alt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굴림"/>
                          <a:cs typeface="+mn-cs"/>
                          <a:sym typeface="Symbol" panose="05050102010706020507" pitchFamily="18" charset="2"/>
                        </a:rPr>
                        <a:t></a:t>
                      </a:r>
                      <a:endParaRPr lang="ko-KR" altLang="en-US" sz="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Symbol" panose="05050102010706020507" pitchFamily="18" charset="2"/>
                        </a:rPr>
                        <a:t></a:t>
                      </a:r>
                      <a:endParaRPr lang="ko-KR" altLang="en-US" sz="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877199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Sidelobe Level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ko-KR" alt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굴림"/>
                          <a:cs typeface="+mn-cs"/>
                          <a:sym typeface="Symbol" panose="05050102010706020507" pitchFamily="18" charset="2"/>
                        </a:rPr>
                        <a:t></a:t>
                      </a:r>
                      <a:endParaRPr lang="ko-KR" altLang="en-US" sz="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Symbol" panose="05050102010706020507" pitchFamily="18" charset="2"/>
                        </a:rPr>
                        <a:t></a:t>
                      </a:r>
                      <a:endParaRPr lang="ko-KR" altLang="en-US" sz="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837851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Beam Squint Angle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굴림"/>
                          <a:cs typeface="+mn-cs"/>
                          <a:sym typeface="Symbol" panose="05050102010706020507" pitchFamily="18" charset="2"/>
                        </a:rPr>
                        <a:t></a:t>
                      </a:r>
                      <a:endParaRPr lang="ko-KR" altLang="en-US" sz="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Symbol" panose="05050102010706020507" pitchFamily="18" charset="2"/>
                        </a:rPr>
                        <a:t></a:t>
                      </a:r>
                      <a:endParaRPr lang="ko-KR" altLang="en-US" sz="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4597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Aperture Phase Variation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ko-KR" alt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굴림"/>
                          <a:cs typeface="+mn-cs"/>
                          <a:sym typeface="Symbol" panose="05050102010706020507" pitchFamily="18" charset="2"/>
                        </a:rPr>
                        <a:t></a:t>
                      </a:r>
                      <a:endParaRPr lang="ko-KR" altLang="en-US" sz="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Symbol" panose="05050102010706020507" pitchFamily="18" charset="2"/>
                        </a:rPr>
                        <a:t></a:t>
                      </a:r>
                      <a:endParaRPr lang="ko-KR" altLang="en-US" sz="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84959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Aperture Amplitude Variation 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굴림"/>
                          <a:cs typeface="+mn-cs"/>
                          <a:sym typeface="Symbol" panose="05050102010706020507" pitchFamily="18" charset="2"/>
                        </a:rPr>
                        <a:t></a:t>
                      </a:r>
                      <a:endParaRPr lang="ko-KR" altLang="en-US" sz="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Symbol" panose="05050102010706020507" pitchFamily="18" charset="2"/>
                        </a:rPr>
                        <a:t></a:t>
                      </a:r>
                      <a:endParaRPr lang="ko-KR" altLang="en-US" sz="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03699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Gain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굴림"/>
                          <a:cs typeface="+mn-cs"/>
                          <a:sym typeface="Symbol" panose="05050102010706020507" pitchFamily="18" charset="2"/>
                        </a:rPr>
                        <a:t></a:t>
                      </a:r>
                      <a:endParaRPr lang="ko-KR" altLang="en-US" sz="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Symbol" panose="05050102010706020507" pitchFamily="18" charset="2"/>
                        </a:rPr>
                        <a:t></a:t>
                      </a:r>
                      <a:endParaRPr lang="ko-KR" altLang="en-US" sz="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95469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Horizontal 3dB Half Power Beam Width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굴림"/>
                          <a:cs typeface="+mn-cs"/>
                          <a:sym typeface="Symbol" panose="05050102010706020507" pitchFamily="18" charset="2"/>
                        </a:rPr>
                        <a:t></a:t>
                      </a:r>
                      <a:endParaRPr lang="ko-KR" altLang="en-US" sz="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Symbol" panose="05050102010706020507" pitchFamily="18" charset="2"/>
                        </a:rPr>
                        <a:t></a:t>
                      </a:r>
                      <a:endParaRPr lang="ko-KR" altLang="en-US" sz="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86954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Vertical 3dB Half Power Beam Width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ko-KR" alt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굴림"/>
                          <a:cs typeface="+mn-cs"/>
                          <a:sym typeface="Symbol" panose="05050102010706020507" pitchFamily="18" charset="2"/>
                        </a:rPr>
                        <a:t></a:t>
                      </a:r>
                      <a:endParaRPr lang="ko-KR" altLang="en-US" sz="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Symbol" panose="05050102010706020507" pitchFamily="18" charset="2"/>
                        </a:rPr>
                        <a:t></a:t>
                      </a:r>
                      <a:endParaRPr lang="ko-KR" altLang="en-US" sz="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811612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Horizontal Radiation Pattern 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굴림"/>
                          <a:cs typeface="+mn-cs"/>
                          <a:sym typeface="Symbol" panose="05050102010706020507" pitchFamily="18" charset="2"/>
                        </a:rPr>
                        <a:t></a:t>
                      </a:r>
                      <a:endParaRPr lang="ko-KR" altLang="en-US" sz="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Symbol" panose="05050102010706020507" pitchFamily="18" charset="2"/>
                        </a:rPr>
                        <a:t></a:t>
                      </a:r>
                      <a:endParaRPr lang="ko-KR" altLang="en-US" sz="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056906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Vertical Radiation Pattern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굴림"/>
                          <a:cs typeface="+mn-cs"/>
                          <a:sym typeface="Symbol" panose="05050102010706020507" pitchFamily="18" charset="2"/>
                        </a:rPr>
                        <a:t></a:t>
                      </a:r>
                      <a:endParaRPr lang="ko-KR" altLang="en-US" sz="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Symbol" panose="05050102010706020507" pitchFamily="18" charset="2"/>
                        </a:rPr>
                        <a:t></a:t>
                      </a:r>
                      <a:endParaRPr lang="ko-KR" altLang="en-US" sz="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315393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Sidelobe Level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굴림"/>
                          <a:cs typeface="+mn-cs"/>
                          <a:sym typeface="Symbol" panose="05050102010706020507" pitchFamily="18" charset="2"/>
                        </a:rPr>
                        <a:t></a:t>
                      </a:r>
                      <a:endParaRPr lang="ko-KR" altLang="en-US" sz="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Symbol" panose="05050102010706020507" pitchFamily="18" charset="2"/>
                        </a:rPr>
                        <a:t></a:t>
                      </a:r>
                      <a:endParaRPr lang="ko-KR" altLang="en-US" sz="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514458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Beam Squint Angle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굴림"/>
                          <a:cs typeface="+mn-cs"/>
                          <a:sym typeface="Symbol" panose="05050102010706020507" pitchFamily="18" charset="2"/>
                        </a:rPr>
                        <a:t></a:t>
                      </a:r>
                      <a:endParaRPr lang="ko-KR" altLang="en-US" sz="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Symbol" panose="05050102010706020507" pitchFamily="18" charset="2"/>
                        </a:rPr>
                        <a:t></a:t>
                      </a:r>
                      <a:endParaRPr lang="ko-KR" altLang="en-US" sz="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1696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Aperture Phase Variation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굴림"/>
                          <a:cs typeface="+mn-cs"/>
                          <a:sym typeface="Symbol" panose="05050102010706020507" pitchFamily="18" charset="2"/>
                        </a:rPr>
                        <a:t></a:t>
                      </a:r>
                      <a:endParaRPr lang="ko-KR" altLang="en-US" sz="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Symbol" panose="05050102010706020507" pitchFamily="18" charset="2"/>
                        </a:rPr>
                        <a:t></a:t>
                      </a:r>
                      <a:endParaRPr lang="ko-KR" altLang="en-US" sz="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335351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Aperture Amplitude Variation 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굴림"/>
                          <a:cs typeface="+mn-cs"/>
                          <a:sym typeface="Symbol" panose="05050102010706020507" pitchFamily="18" charset="2"/>
                        </a:rPr>
                        <a:t></a:t>
                      </a:r>
                      <a:endParaRPr lang="ko-KR" altLang="en-US" sz="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Symbol" panose="05050102010706020507" pitchFamily="18" charset="2"/>
                        </a:rPr>
                        <a:t></a:t>
                      </a:r>
                      <a:endParaRPr lang="ko-KR" altLang="en-US" sz="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410498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96834049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Requirement Verification Matrix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76909202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Requirement Traceability Matrix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19722944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Verification Test Matrix (VTM)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42044983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218769" y="2924908"/>
            <a:ext cx="8706462" cy="1008185"/>
          </a:xfrm>
          <a:prstGeom prst="rect">
            <a:avLst/>
          </a:prstGeom>
          <a:solidFill>
            <a:srgbClr val="DAC1FF">
              <a:alpha val="31765"/>
            </a:srgbClr>
          </a:solidFill>
        </p:spPr>
        <p:txBody>
          <a:bodyPr anchor="ctr" anchorCtr="1"/>
          <a:lstStyle>
            <a:defPPr>
              <a:defRPr lang="en-US"/>
            </a:defPPr>
            <a:lvl1pPr algn="ctr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itchFamily="18" charset="0"/>
                <a:ea typeface="굴림" charset="-127"/>
                <a:cs typeface="+mn-cs"/>
              </a:defRPr>
            </a:lvl1pPr>
            <a:lvl2pPr marL="457200" algn="ctr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itchFamily="18" charset="0"/>
                <a:ea typeface="굴림" charset="-127"/>
                <a:cs typeface="+mn-cs"/>
              </a:defRPr>
            </a:lvl2pPr>
            <a:lvl3pPr marL="914400" algn="ctr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itchFamily="18" charset="0"/>
                <a:ea typeface="굴림" charset="-127"/>
                <a:cs typeface="+mn-cs"/>
              </a:defRPr>
            </a:lvl3pPr>
            <a:lvl4pPr marL="1371600" algn="ctr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itchFamily="18" charset="0"/>
                <a:ea typeface="굴림" charset="-127"/>
                <a:cs typeface="+mn-cs"/>
              </a:defRPr>
            </a:lvl4pPr>
            <a:lvl5pPr marL="1828800" algn="ctr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itchFamily="18" charset="0"/>
                <a:ea typeface="굴림" charset="-127"/>
                <a:cs typeface="+mn-cs"/>
              </a:defRPr>
            </a:lvl5pPr>
            <a:lvl6pPr marL="22860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Times New Roman" pitchFamily="18" charset="0"/>
                <a:ea typeface="굴림" charset="-127"/>
                <a:cs typeface="+mn-cs"/>
              </a:defRPr>
            </a:lvl6pPr>
            <a:lvl7pPr marL="27432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Times New Roman" pitchFamily="18" charset="0"/>
                <a:ea typeface="굴림" charset="-127"/>
                <a:cs typeface="+mn-cs"/>
              </a:defRPr>
            </a:lvl7pPr>
            <a:lvl8pPr marL="32004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Times New Roman" pitchFamily="18" charset="0"/>
                <a:ea typeface="굴림" charset="-127"/>
                <a:cs typeface="+mn-cs"/>
              </a:defRPr>
            </a:lvl8pPr>
            <a:lvl9pPr marL="36576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Times New Roman" pitchFamily="18" charset="0"/>
                <a:ea typeface="굴림" charset="-127"/>
                <a:cs typeface="+mn-cs"/>
              </a:defRPr>
            </a:lvl9pPr>
          </a:lstStyle>
          <a:p>
            <a:pPr lvl="0" algn="l" latinLnBrk="0"/>
            <a:r>
              <a:rPr lang="en-US" altLang="ko-KR" b="1" dirty="0">
                <a:solidFill>
                  <a:srgbClr val="000000"/>
                </a:solidFill>
                <a:latin typeface="+mj-lt"/>
                <a:ea typeface="굴림" panose="020B0600000101010101" pitchFamily="50" charset="-127"/>
              </a:rPr>
              <a:t>Product Assurance Requirements and Plan</a:t>
            </a:r>
            <a:endParaRPr lang="ko-KR" altLang="en-US" b="1" dirty="0">
              <a:solidFill>
                <a:srgbClr val="000000"/>
              </a:solidFill>
              <a:latin typeface="+mj-lt"/>
              <a:ea typeface="굴림" panose="020B0600000101010101" pitchFamily="50" charset="-127"/>
            </a:endParaRPr>
          </a:p>
        </p:txBody>
      </p:sp>
      <p:sp>
        <p:nvSpPr>
          <p:cNvPr id="5" name="Line 3"/>
          <p:cNvSpPr>
            <a:spLocks noChangeShapeType="1"/>
          </p:cNvSpPr>
          <p:nvPr/>
        </p:nvSpPr>
        <p:spPr bwMode="auto">
          <a:xfrm>
            <a:off x="221701" y="2913185"/>
            <a:ext cx="8686800" cy="0"/>
          </a:xfrm>
          <a:prstGeom prst="line">
            <a:avLst/>
          </a:prstGeom>
          <a:noFill/>
          <a:ln w="25400" cap="rnd">
            <a:gradFill flip="none" rotWithShape="1">
              <a:gsLst>
                <a:gs pos="0">
                  <a:srgbClr val="7030A0"/>
                </a:gs>
                <a:gs pos="99167">
                  <a:srgbClr val="7030A0"/>
                </a:gs>
                <a:gs pos="50000">
                  <a:srgbClr val="00B0F0"/>
                </a:gs>
              </a:gsLst>
              <a:lin ang="0" scaled="1"/>
              <a:tileRect/>
            </a:gra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US"/>
            </a:defPPr>
            <a:lvl1pPr algn="ctr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itchFamily="18" charset="0"/>
                <a:ea typeface="굴림" charset="-127"/>
                <a:cs typeface="+mn-cs"/>
              </a:defRPr>
            </a:lvl1pPr>
            <a:lvl2pPr marL="457200" algn="ctr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itchFamily="18" charset="0"/>
                <a:ea typeface="굴림" charset="-127"/>
                <a:cs typeface="+mn-cs"/>
              </a:defRPr>
            </a:lvl2pPr>
            <a:lvl3pPr marL="914400" algn="ctr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itchFamily="18" charset="0"/>
                <a:ea typeface="굴림" charset="-127"/>
                <a:cs typeface="+mn-cs"/>
              </a:defRPr>
            </a:lvl3pPr>
            <a:lvl4pPr marL="1371600" algn="ctr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itchFamily="18" charset="0"/>
                <a:ea typeface="굴림" charset="-127"/>
                <a:cs typeface="+mn-cs"/>
              </a:defRPr>
            </a:lvl4pPr>
            <a:lvl5pPr marL="1828800" algn="ctr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itchFamily="18" charset="0"/>
                <a:ea typeface="굴림" charset="-127"/>
                <a:cs typeface="+mn-cs"/>
              </a:defRPr>
            </a:lvl5pPr>
            <a:lvl6pPr marL="22860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Times New Roman" pitchFamily="18" charset="0"/>
                <a:ea typeface="굴림" charset="-127"/>
                <a:cs typeface="+mn-cs"/>
              </a:defRPr>
            </a:lvl6pPr>
            <a:lvl7pPr marL="27432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Times New Roman" pitchFamily="18" charset="0"/>
                <a:ea typeface="굴림" charset="-127"/>
                <a:cs typeface="+mn-cs"/>
              </a:defRPr>
            </a:lvl7pPr>
            <a:lvl8pPr marL="32004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Times New Roman" pitchFamily="18" charset="0"/>
                <a:ea typeface="굴림" charset="-127"/>
                <a:cs typeface="+mn-cs"/>
              </a:defRPr>
            </a:lvl8pPr>
            <a:lvl9pPr marL="36576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Times New Roman" pitchFamily="18" charset="0"/>
                <a:ea typeface="굴림" charset="-127"/>
                <a:cs typeface="+mn-cs"/>
              </a:defRPr>
            </a:lvl9pPr>
          </a:lstStyle>
          <a:p>
            <a:endParaRPr lang="ko-KR" altLang="en-US" sz="2215"/>
          </a:p>
        </p:txBody>
      </p:sp>
      <p:sp>
        <p:nvSpPr>
          <p:cNvPr id="6" name="Line 4"/>
          <p:cNvSpPr>
            <a:spLocks noChangeShapeType="1"/>
          </p:cNvSpPr>
          <p:nvPr/>
        </p:nvSpPr>
        <p:spPr bwMode="auto">
          <a:xfrm>
            <a:off x="221701" y="3931626"/>
            <a:ext cx="8686800" cy="0"/>
          </a:xfrm>
          <a:prstGeom prst="line">
            <a:avLst/>
          </a:prstGeom>
          <a:noFill/>
          <a:ln w="25400" cap="rnd">
            <a:gradFill flip="none" rotWithShape="1">
              <a:gsLst>
                <a:gs pos="0">
                  <a:srgbClr val="7030A0"/>
                </a:gs>
                <a:gs pos="99167">
                  <a:srgbClr val="7030A0"/>
                </a:gs>
                <a:gs pos="50000">
                  <a:srgbClr val="00B0F0"/>
                </a:gs>
              </a:gsLst>
              <a:lin ang="0" scaled="1"/>
              <a:tileRect/>
            </a:gra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US"/>
            </a:defPPr>
            <a:lvl1pPr algn="ctr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itchFamily="18" charset="0"/>
                <a:ea typeface="굴림" charset="-127"/>
                <a:cs typeface="+mn-cs"/>
              </a:defRPr>
            </a:lvl1pPr>
            <a:lvl2pPr marL="457200" algn="ctr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itchFamily="18" charset="0"/>
                <a:ea typeface="굴림" charset="-127"/>
                <a:cs typeface="+mn-cs"/>
              </a:defRPr>
            </a:lvl2pPr>
            <a:lvl3pPr marL="914400" algn="ctr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itchFamily="18" charset="0"/>
                <a:ea typeface="굴림" charset="-127"/>
                <a:cs typeface="+mn-cs"/>
              </a:defRPr>
            </a:lvl3pPr>
            <a:lvl4pPr marL="1371600" algn="ctr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itchFamily="18" charset="0"/>
                <a:ea typeface="굴림" charset="-127"/>
                <a:cs typeface="+mn-cs"/>
              </a:defRPr>
            </a:lvl4pPr>
            <a:lvl5pPr marL="1828800" algn="ctr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itchFamily="18" charset="0"/>
                <a:ea typeface="굴림" charset="-127"/>
                <a:cs typeface="+mn-cs"/>
              </a:defRPr>
            </a:lvl5pPr>
            <a:lvl6pPr marL="22860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Times New Roman" pitchFamily="18" charset="0"/>
                <a:ea typeface="굴림" charset="-127"/>
                <a:cs typeface="+mn-cs"/>
              </a:defRPr>
            </a:lvl6pPr>
            <a:lvl7pPr marL="27432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Times New Roman" pitchFamily="18" charset="0"/>
                <a:ea typeface="굴림" charset="-127"/>
                <a:cs typeface="+mn-cs"/>
              </a:defRPr>
            </a:lvl7pPr>
            <a:lvl8pPr marL="32004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Times New Roman" pitchFamily="18" charset="0"/>
                <a:ea typeface="굴림" charset="-127"/>
                <a:cs typeface="+mn-cs"/>
              </a:defRPr>
            </a:lvl8pPr>
            <a:lvl9pPr marL="36576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Times New Roman" pitchFamily="18" charset="0"/>
                <a:ea typeface="굴림" charset="-127"/>
                <a:cs typeface="+mn-cs"/>
              </a:defRPr>
            </a:lvl9pPr>
          </a:lstStyle>
          <a:p>
            <a:endParaRPr lang="ko-KR" altLang="en-US" sz="2215"/>
          </a:p>
        </p:txBody>
      </p:sp>
    </p:spTree>
    <p:extLst>
      <p:ext uri="{BB962C8B-B14F-4D97-AF65-F5344CB8AC3E}">
        <p14:creationId xmlns:p14="http://schemas.microsoft.com/office/powerpoint/2010/main" val="413563083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PA General / QA Plan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31891317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Software QA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97433380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EEE Part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59574027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Material &amp; Processes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06603023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Reliability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71955164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Contamination Control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8067155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218769" y="2924908"/>
            <a:ext cx="8706462" cy="1008185"/>
          </a:xfrm>
          <a:prstGeom prst="rect">
            <a:avLst/>
          </a:prstGeom>
          <a:solidFill>
            <a:srgbClr val="DAC1FF">
              <a:alpha val="31765"/>
            </a:srgbClr>
          </a:solidFill>
        </p:spPr>
        <p:txBody>
          <a:bodyPr anchor="ctr" anchorCtr="1"/>
          <a:lstStyle>
            <a:defPPr>
              <a:defRPr lang="en-US"/>
            </a:defPPr>
            <a:lvl1pPr algn="ctr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itchFamily="18" charset="0"/>
                <a:ea typeface="굴림" charset="-127"/>
                <a:cs typeface="+mn-cs"/>
              </a:defRPr>
            </a:lvl1pPr>
            <a:lvl2pPr marL="457200" algn="ctr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itchFamily="18" charset="0"/>
                <a:ea typeface="굴림" charset="-127"/>
                <a:cs typeface="+mn-cs"/>
              </a:defRPr>
            </a:lvl2pPr>
            <a:lvl3pPr marL="914400" algn="ctr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itchFamily="18" charset="0"/>
                <a:ea typeface="굴림" charset="-127"/>
                <a:cs typeface="+mn-cs"/>
              </a:defRPr>
            </a:lvl3pPr>
            <a:lvl4pPr marL="1371600" algn="ctr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itchFamily="18" charset="0"/>
                <a:ea typeface="굴림" charset="-127"/>
                <a:cs typeface="+mn-cs"/>
              </a:defRPr>
            </a:lvl4pPr>
            <a:lvl5pPr marL="1828800" algn="ctr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itchFamily="18" charset="0"/>
                <a:ea typeface="굴림" charset="-127"/>
                <a:cs typeface="+mn-cs"/>
              </a:defRPr>
            </a:lvl5pPr>
            <a:lvl6pPr marL="22860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Times New Roman" pitchFamily="18" charset="0"/>
                <a:ea typeface="굴림" charset="-127"/>
                <a:cs typeface="+mn-cs"/>
              </a:defRPr>
            </a:lvl6pPr>
            <a:lvl7pPr marL="27432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Times New Roman" pitchFamily="18" charset="0"/>
                <a:ea typeface="굴림" charset="-127"/>
                <a:cs typeface="+mn-cs"/>
              </a:defRPr>
            </a:lvl7pPr>
            <a:lvl8pPr marL="32004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Times New Roman" pitchFamily="18" charset="0"/>
                <a:ea typeface="굴림" charset="-127"/>
                <a:cs typeface="+mn-cs"/>
              </a:defRPr>
            </a:lvl8pPr>
            <a:lvl9pPr marL="36576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Times New Roman" pitchFamily="18" charset="0"/>
                <a:ea typeface="굴림" charset="-127"/>
                <a:cs typeface="+mn-cs"/>
              </a:defRPr>
            </a:lvl9pPr>
          </a:lstStyle>
          <a:p>
            <a:pPr lvl="0" algn="l" latinLnBrk="0"/>
            <a:r>
              <a:rPr lang="en-US" altLang="ko-KR" b="1" dirty="0">
                <a:solidFill>
                  <a:srgbClr val="000000"/>
                </a:solidFill>
                <a:latin typeface="+mj-lt"/>
                <a:ea typeface="굴림" panose="020B0600000101010101" pitchFamily="50" charset="-127"/>
              </a:rPr>
              <a:t>Payload System</a:t>
            </a:r>
            <a:endParaRPr lang="ko-KR" altLang="en-US" b="1" dirty="0">
              <a:solidFill>
                <a:srgbClr val="000000"/>
              </a:solidFill>
              <a:latin typeface="+mj-lt"/>
              <a:ea typeface="굴림" panose="020B0600000101010101" pitchFamily="50" charset="-127"/>
            </a:endParaRPr>
          </a:p>
        </p:txBody>
      </p:sp>
      <p:sp>
        <p:nvSpPr>
          <p:cNvPr id="5" name="Line 3"/>
          <p:cNvSpPr>
            <a:spLocks noChangeShapeType="1"/>
          </p:cNvSpPr>
          <p:nvPr/>
        </p:nvSpPr>
        <p:spPr bwMode="auto">
          <a:xfrm>
            <a:off x="221701" y="2913185"/>
            <a:ext cx="8686800" cy="0"/>
          </a:xfrm>
          <a:prstGeom prst="line">
            <a:avLst/>
          </a:prstGeom>
          <a:noFill/>
          <a:ln w="25400" cap="rnd">
            <a:gradFill flip="none" rotWithShape="1">
              <a:gsLst>
                <a:gs pos="0">
                  <a:srgbClr val="7030A0"/>
                </a:gs>
                <a:gs pos="99167">
                  <a:srgbClr val="7030A0"/>
                </a:gs>
                <a:gs pos="50000">
                  <a:srgbClr val="00B0F0"/>
                </a:gs>
              </a:gsLst>
              <a:lin ang="0" scaled="1"/>
              <a:tileRect/>
            </a:gra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US"/>
            </a:defPPr>
            <a:lvl1pPr algn="ctr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itchFamily="18" charset="0"/>
                <a:ea typeface="굴림" charset="-127"/>
                <a:cs typeface="+mn-cs"/>
              </a:defRPr>
            </a:lvl1pPr>
            <a:lvl2pPr marL="457200" algn="ctr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itchFamily="18" charset="0"/>
                <a:ea typeface="굴림" charset="-127"/>
                <a:cs typeface="+mn-cs"/>
              </a:defRPr>
            </a:lvl2pPr>
            <a:lvl3pPr marL="914400" algn="ctr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itchFamily="18" charset="0"/>
                <a:ea typeface="굴림" charset="-127"/>
                <a:cs typeface="+mn-cs"/>
              </a:defRPr>
            </a:lvl3pPr>
            <a:lvl4pPr marL="1371600" algn="ctr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itchFamily="18" charset="0"/>
                <a:ea typeface="굴림" charset="-127"/>
                <a:cs typeface="+mn-cs"/>
              </a:defRPr>
            </a:lvl4pPr>
            <a:lvl5pPr marL="1828800" algn="ctr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itchFamily="18" charset="0"/>
                <a:ea typeface="굴림" charset="-127"/>
                <a:cs typeface="+mn-cs"/>
              </a:defRPr>
            </a:lvl5pPr>
            <a:lvl6pPr marL="22860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Times New Roman" pitchFamily="18" charset="0"/>
                <a:ea typeface="굴림" charset="-127"/>
                <a:cs typeface="+mn-cs"/>
              </a:defRPr>
            </a:lvl6pPr>
            <a:lvl7pPr marL="27432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Times New Roman" pitchFamily="18" charset="0"/>
                <a:ea typeface="굴림" charset="-127"/>
                <a:cs typeface="+mn-cs"/>
              </a:defRPr>
            </a:lvl7pPr>
            <a:lvl8pPr marL="32004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Times New Roman" pitchFamily="18" charset="0"/>
                <a:ea typeface="굴림" charset="-127"/>
                <a:cs typeface="+mn-cs"/>
              </a:defRPr>
            </a:lvl8pPr>
            <a:lvl9pPr marL="36576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Times New Roman" pitchFamily="18" charset="0"/>
                <a:ea typeface="굴림" charset="-127"/>
                <a:cs typeface="+mn-cs"/>
              </a:defRPr>
            </a:lvl9pPr>
          </a:lstStyle>
          <a:p>
            <a:endParaRPr lang="ko-KR" altLang="en-US" sz="2215"/>
          </a:p>
        </p:txBody>
      </p:sp>
      <p:sp>
        <p:nvSpPr>
          <p:cNvPr id="6" name="Line 4"/>
          <p:cNvSpPr>
            <a:spLocks noChangeShapeType="1"/>
          </p:cNvSpPr>
          <p:nvPr/>
        </p:nvSpPr>
        <p:spPr bwMode="auto">
          <a:xfrm>
            <a:off x="221701" y="3931626"/>
            <a:ext cx="8686800" cy="0"/>
          </a:xfrm>
          <a:prstGeom prst="line">
            <a:avLst/>
          </a:prstGeom>
          <a:noFill/>
          <a:ln w="25400" cap="rnd">
            <a:gradFill flip="none" rotWithShape="1">
              <a:gsLst>
                <a:gs pos="0">
                  <a:srgbClr val="7030A0"/>
                </a:gs>
                <a:gs pos="99167">
                  <a:srgbClr val="7030A0"/>
                </a:gs>
                <a:gs pos="50000">
                  <a:srgbClr val="00B0F0"/>
                </a:gs>
              </a:gsLst>
              <a:lin ang="0" scaled="1"/>
              <a:tileRect/>
            </a:gra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US"/>
            </a:defPPr>
            <a:lvl1pPr algn="ctr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itchFamily="18" charset="0"/>
                <a:ea typeface="굴림" charset="-127"/>
                <a:cs typeface="+mn-cs"/>
              </a:defRPr>
            </a:lvl1pPr>
            <a:lvl2pPr marL="457200" algn="ctr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itchFamily="18" charset="0"/>
                <a:ea typeface="굴림" charset="-127"/>
                <a:cs typeface="+mn-cs"/>
              </a:defRPr>
            </a:lvl2pPr>
            <a:lvl3pPr marL="914400" algn="ctr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itchFamily="18" charset="0"/>
                <a:ea typeface="굴림" charset="-127"/>
                <a:cs typeface="+mn-cs"/>
              </a:defRPr>
            </a:lvl3pPr>
            <a:lvl4pPr marL="1371600" algn="ctr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itchFamily="18" charset="0"/>
                <a:ea typeface="굴림" charset="-127"/>
                <a:cs typeface="+mn-cs"/>
              </a:defRPr>
            </a:lvl4pPr>
            <a:lvl5pPr marL="1828800" algn="ctr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itchFamily="18" charset="0"/>
                <a:ea typeface="굴림" charset="-127"/>
                <a:cs typeface="+mn-cs"/>
              </a:defRPr>
            </a:lvl5pPr>
            <a:lvl6pPr marL="22860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Times New Roman" pitchFamily="18" charset="0"/>
                <a:ea typeface="굴림" charset="-127"/>
                <a:cs typeface="+mn-cs"/>
              </a:defRPr>
            </a:lvl6pPr>
            <a:lvl7pPr marL="27432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Times New Roman" pitchFamily="18" charset="0"/>
                <a:ea typeface="굴림" charset="-127"/>
                <a:cs typeface="+mn-cs"/>
              </a:defRPr>
            </a:lvl7pPr>
            <a:lvl8pPr marL="32004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Times New Roman" pitchFamily="18" charset="0"/>
                <a:ea typeface="굴림" charset="-127"/>
                <a:cs typeface="+mn-cs"/>
              </a:defRPr>
            </a:lvl8pPr>
            <a:lvl9pPr marL="36576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Times New Roman" pitchFamily="18" charset="0"/>
                <a:ea typeface="굴림" charset="-127"/>
                <a:cs typeface="+mn-cs"/>
              </a:defRPr>
            </a:lvl9pPr>
          </a:lstStyle>
          <a:p>
            <a:endParaRPr lang="ko-KR" altLang="en-US" sz="2215"/>
          </a:p>
        </p:txBody>
      </p:sp>
    </p:spTree>
    <p:extLst>
      <p:ext uri="{BB962C8B-B14F-4D97-AF65-F5344CB8AC3E}">
        <p14:creationId xmlns:p14="http://schemas.microsoft.com/office/powerpoint/2010/main" val="1918963873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SAR Payload Major Requirements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96634954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Configuration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11473669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Function Block Diagram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EF217776-3175-4847-AAF6-2870F24165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6158" y="1562584"/>
            <a:ext cx="7065034" cy="45314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0968758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SAR Payload Hardware Matrix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60942592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SAR Sensor Electronics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1061120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SAR Antenna Subsystem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46522007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Data Link Subsystem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10282097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218769" y="2924908"/>
            <a:ext cx="8706462" cy="1008185"/>
          </a:xfrm>
          <a:prstGeom prst="rect">
            <a:avLst/>
          </a:prstGeom>
          <a:solidFill>
            <a:srgbClr val="DAC1FF">
              <a:alpha val="31765"/>
            </a:srgbClr>
          </a:solidFill>
        </p:spPr>
        <p:txBody>
          <a:bodyPr anchor="ctr" anchorCtr="1"/>
          <a:lstStyle>
            <a:defPPr>
              <a:defRPr lang="en-US"/>
            </a:defPPr>
            <a:lvl1pPr algn="ctr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itchFamily="18" charset="0"/>
                <a:ea typeface="굴림" charset="-127"/>
                <a:cs typeface="+mn-cs"/>
              </a:defRPr>
            </a:lvl1pPr>
            <a:lvl2pPr marL="457200" algn="ctr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itchFamily="18" charset="0"/>
                <a:ea typeface="굴림" charset="-127"/>
                <a:cs typeface="+mn-cs"/>
              </a:defRPr>
            </a:lvl2pPr>
            <a:lvl3pPr marL="914400" algn="ctr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itchFamily="18" charset="0"/>
                <a:ea typeface="굴림" charset="-127"/>
                <a:cs typeface="+mn-cs"/>
              </a:defRPr>
            </a:lvl3pPr>
            <a:lvl4pPr marL="1371600" algn="ctr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itchFamily="18" charset="0"/>
                <a:ea typeface="굴림" charset="-127"/>
                <a:cs typeface="+mn-cs"/>
              </a:defRPr>
            </a:lvl4pPr>
            <a:lvl5pPr marL="1828800" algn="ctr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itchFamily="18" charset="0"/>
                <a:ea typeface="굴림" charset="-127"/>
                <a:cs typeface="+mn-cs"/>
              </a:defRPr>
            </a:lvl5pPr>
            <a:lvl6pPr marL="22860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Times New Roman" pitchFamily="18" charset="0"/>
                <a:ea typeface="굴림" charset="-127"/>
                <a:cs typeface="+mn-cs"/>
              </a:defRPr>
            </a:lvl6pPr>
            <a:lvl7pPr marL="27432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Times New Roman" pitchFamily="18" charset="0"/>
                <a:ea typeface="굴림" charset="-127"/>
                <a:cs typeface="+mn-cs"/>
              </a:defRPr>
            </a:lvl7pPr>
            <a:lvl8pPr marL="32004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Times New Roman" pitchFamily="18" charset="0"/>
                <a:ea typeface="굴림" charset="-127"/>
                <a:cs typeface="+mn-cs"/>
              </a:defRPr>
            </a:lvl8pPr>
            <a:lvl9pPr marL="36576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Times New Roman" pitchFamily="18" charset="0"/>
                <a:ea typeface="굴림" charset="-127"/>
                <a:cs typeface="+mn-cs"/>
              </a:defRPr>
            </a:lvl9pPr>
          </a:lstStyle>
          <a:p>
            <a:pPr lvl="0" algn="l" latinLnBrk="0"/>
            <a:r>
              <a:rPr lang="en-US" altLang="ko-KR" b="1" dirty="0">
                <a:solidFill>
                  <a:srgbClr val="000000"/>
                </a:solidFill>
                <a:latin typeface="+mj-lt"/>
                <a:ea typeface="굴림" panose="020B0600000101010101" pitchFamily="50" charset="-127"/>
              </a:rPr>
              <a:t>Spacecraft Bus System</a:t>
            </a:r>
            <a:endParaRPr lang="ko-KR" altLang="en-US" b="1" dirty="0">
              <a:solidFill>
                <a:srgbClr val="000000"/>
              </a:solidFill>
              <a:latin typeface="+mj-lt"/>
              <a:ea typeface="굴림" panose="020B0600000101010101" pitchFamily="50" charset="-127"/>
            </a:endParaRPr>
          </a:p>
        </p:txBody>
      </p:sp>
      <p:sp>
        <p:nvSpPr>
          <p:cNvPr id="5" name="Line 3"/>
          <p:cNvSpPr>
            <a:spLocks noChangeShapeType="1"/>
          </p:cNvSpPr>
          <p:nvPr/>
        </p:nvSpPr>
        <p:spPr bwMode="auto">
          <a:xfrm>
            <a:off x="221701" y="2913185"/>
            <a:ext cx="8686800" cy="0"/>
          </a:xfrm>
          <a:prstGeom prst="line">
            <a:avLst/>
          </a:prstGeom>
          <a:noFill/>
          <a:ln w="25400" cap="rnd">
            <a:gradFill flip="none" rotWithShape="1">
              <a:gsLst>
                <a:gs pos="0">
                  <a:srgbClr val="7030A0"/>
                </a:gs>
                <a:gs pos="99167">
                  <a:srgbClr val="7030A0"/>
                </a:gs>
                <a:gs pos="50000">
                  <a:srgbClr val="00B0F0"/>
                </a:gs>
              </a:gsLst>
              <a:lin ang="0" scaled="1"/>
              <a:tileRect/>
            </a:gra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US"/>
            </a:defPPr>
            <a:lvl1pPr algn="ctr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itchFamily="18" charset="0"/>
                <a:ea typeface="굴림" charset="-127"/>
                <a:cs typeface="+mn-cs"/>
              </a:defRPr>
            </a:lvl1pPr>
            <a:lvl2pPr marL="457200" algn="ctr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itchFamily="18" charset="0"/>
                <a:ea typeface="굴림" charset="-127"/>
                <a:cs typeface="+mn-cs"/>
              </a:defRPr>
            </a:lvl2pPr>
            <a:lvl3pPr marL="914400" algn="ctr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itchFamily="18" charset="0"/>
                <a:ea typeface="굴림" charset="-127"/>
                <a:cs typeface="+mn-cs"/>
              </a:defRPr>
            </a:lvl3pPr>
            <a:lvl4pPr marL="1371600" algn="ctr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itchFamily="18" charset="0"/>
                <a:ea typeface="굴림" charset="-127"/>
                <a:cs typeface="+mn-cs"/>
              </a:defRPr>
            </a:lvl4pPr>
            <a:lvl5pPr marL="1828800" algn="ctr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itchFamily="18" charset="0"/>
                <a:ea typeface="굴림" charset="-127"/>
                <a:cs typeface="+mn-cs"/>
              </a:defRPr>
            </a:lvl5pPr>
            <a:lvl6pPr marL="22860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Times New Roman" pitchFamily="18" charset="0"/>
                <a:ea typeface="굴림" charset="-127"/>
                <a:cs typeface="+mn-cs"/>
              </a:defRPr>
            </a:lvl6pPr>
            <a:lvl7pPr marL="27432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Times New Roman" pitchFamily="18" charset="0"/>
                <a:ea typeface="굴림" charset="-127"/>
                <a:cs typeface="+mn-cs"/>
              </a:defRPr>
            </a:lvl7pPr>
            <a:lvl8pPr marL="32004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Times New Roman" pitchFamily="18" charset="0"/>
                <a:ea typeface="굴림" charset="-127"/>
                <a:cs typeface="+mn-cs"/>
              </a:defRPr>
            </a:lvl8pPr>
            <a:lvl9pPr marL="36576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Times New Roman" pitchFamily="18" charset="0"/>
                <a:ea typeface="굴림" charset="-127"/>
                <a:cs typeface="+mn-cs"/>
              </a:defRPr>
            </a:lvl9pPr>
          </a:lstStyle>
          <a:p>
            <a:endParaRPr lang="ko-KR" altLang="en-US" sz="2215"/>
          </a:p>
        </p:txBody>
      </p:sp>
      <p:sp>
        <p:nvSpPr>
          <p:cNvPr id="6" name="Line 4"/>
          <p:cNvSpPr>
            <a:spLocks noChangeShapeType="1"/>
          </p:cNvSpPr>
          <p:nvPr/>
        </p:nvSpPr>
        <p:spPr bwMode="auto">
          <a:xfrm>
            <a:off x="221701" y="3931626"/>
            <a:ext cx="8686800" cy="0"/>
          </a:xfrm>
          <a:prstGeom prst="line">
            <a:avLst/>
          </a:prstGeom>
          <a:noFill/>
          <a:ln w="25400" cap="rnd">
            <a:gradFill flip="none" rotWithShape="1">
              <a:gsLst>
                <a:gs pos="0">
                  <a:srgbClr val="7030A0"/>
                </a:gs>
                <a:gs pos="99167">
                  <a:srgbClr val="7030A0"/>
                </a:gs>
                <a:gs pos="50000">
                  <a:srgbClr val="00B0F0"/>
                </a:gs>
              </a:gsLst>
              <a:lin ang="0" scaled="1"/>
              <a:tileRect/>
            </a:gra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US"/>
            </a:defPPr>
            <a:lvl1pPr algn="ctr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itchFamily="18" charset="0"/>
                <a:ea typeface="굴림" charset="-127"/>
                <a:cs typeface="+mn-cs"/>
              </a:defRPr>
            </a:lvl1pPr>
            <a:lvl2pPr marL="457200" algn="ctr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itchFamily="18" charset="0"/>
                <a:ea typeface="굴림" charset="-127"/>
                <a:cs typeface="+mn-cs"/>
              </a:defRPr>
            </a:lvl2pPr>
            <a:lvl3pPr marL="914400" algn="ctr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itchFamily="18" charset="0"/>
                <a:ea typeface="굴림" charset="-127"/>
                <a:cs typeface="+mn-cs"/>
              </a:defRPr>
            </a:lvl3pPr>
            <a:lvl4pPr marL="1371600" algn="ctr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itchFamily="18" charset="0"/>
                <a:ea typeface="굴림" charset="-127"/>
                <a:cs typeface="+mn-cs"/>
              </a:defRPr>
            </a:lvl4pPr>
            <a:lvl5pPr marL="1828800" algn="ctr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itchFamily="18" charset="0"/>
                <a:ea typeface="굴림" charset="-127"/>
                <a:cs typeface="+mn-cs"/>
              </a:defRPr>
            </a:lvl5pPr>
            <a:lvl6pPr marL="22860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Times New Roman" pitchFamily="18" charset="0"/>
                <a:ea typeface="굴림" charset="-127"/>
                <a:cs typeface="+mn-cs"/>
              </a:defRPr>
            </a:lvl6pPr>
            <a:lvl7pPr marL="27432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Times New Roman" pitchFamily="18" charset="0"/>
                <a:ea typeface="굴림" charset="-127"/>
                <a:cs typeface="+mn-cs"/>
              </a:defRPr>
            </a:lvl7pPr>
            <a:lvl8pPr marL="32004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Times New Roman" pitchFamily="18" charset="0"/>
                <a:ea typeface="굴림" charset="-127"/>
                <a:cs typeface="+mn-cs"/>
              </a:defRPr>
            </a:lvl8pPr>
            <a:lvl9pPr marL="36576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Times New Roman" pitchFamily="18" charset="0"/>
                <a:ea typeface="굴림" charset="-127"/>
                <a:cs typeface="+mn-cs"/>
              </a:defRPr>
            </a:lvl9pPr>
          </a:lstStyle>
          <a:p>
            <a:endParaRPr lang="ko-KR" altLang="en-US" sz="2215"/>
          </a:p>
        </p:txBody>
      </p:sp>
    </p:spTree>
    <p:extLst>
      <p:ext uri="{BB962C8B-B14F-4D97-AF65-F5344CB8AC3E}">
        <p14:creationId xmlns:p14="http://schemas.microsoft.com/office/powerpoint/2010/main" val="2874474006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Spacecraft Bus Major Requirements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63122018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Configuration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30089285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Function Block Diagram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65586715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Spacecraft Bus Hardware Matrix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75606384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Mechanical Design Integration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02748262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Electrical Design Integration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80111254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Structures and Mechanism Subsystem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6606283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Thermal Control Subsystem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20833337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Attitude and Orbit Control Subsystem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48327316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Propulsion Subsystem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06492519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Telemetry, Command and Ranging Subsystem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62508568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Electrical Power Subsystem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12534655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Flight Software Subsystem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022058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218769" y="2924908"/>
            <a:ext cx="8706462" cy="1008185"/>
          </a:xfrm>
          <a:prstGeom prst="rect">
            <a:avLst/>
          </a:prstGeom>
          <a:solidFill>
            <a:srgbClr val="DAC1FF">
              <a:alpha val="31765"/>
            </a:srgbClr>
          </a:solidFill>
        </p:spPr>
        <p:txBody>
          <a:bodyPr anchor="ctr" anchorCtr="1"/>
          <a:lstStyle>
            <a:defPPr>
              <a:defRPr lang="en-US"/>
            </a:defPPr>
            <a:lvl1pPr algn="ctr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itchFamily="18" charset="0"/>
                <a:ea typeface="굴림" charset="-127"/>
                <a:cs typeface="+mn-cs"/>
              </a:defRPr>
            </a:lvl1pPr>
            <a:lvl2pPr marL="457200" algn="ctr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itchFamily="18" charset="0"/>
                <a:ea typeface="굴림" charset="-127"/>
                <a:cs typeface="+mn-cs"/>
              </a:defRPr>
            </a:lvl2pPr>
            <a:lvl3pPr marL="914400" algn="ctr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itchFamily="18" charset="0"/>
                <a:ea typeface="굴림" charset="-127"/>
                <a:cs typeface="+mn-cs"/>
              </a:defRPr>
            </a:lvl3pPr>
            <a:lvl4pPr marL="1371600" algn="ctr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itchFamily="18" charset="0"/>
                <a:ea typeface="굴림" charset="-127"/>
                <a:cs typeface="+mn-cs"/>
              </a:defRPr>
            </a:lvl4pPr>
            <a:lvl5pPr marL="1828800" algn="ctr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itchFamily="18" charset="0"/>
                <a:ea typeface="굴림" charset="-127"/>
                <a:cs typeface="+mn-cs"/>
              </a:defRPr>
            </a:lvl5pPr>
            <a:lvl6pPr marL="22860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Times New Roman" pitchFamily="18" charset="0"/>
                <a:ea typeface="굴림" charset="-127"/>
                <a:cs typeface="+mn-cs"/>
              </a:defRPr>
            </a:lvl6pPr>
            <a:lvl7pPr marL="27432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Times New Roman" pitchFamily="18" charset="0"/>
                <a:ea typeface="굴림" charset="-127"/>
                <a:cs typeface="+mn-cs"/>
              </a:defRPr>
            </a:lvl7pPr>
            <a:lvl8pPr marL="32004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Times New Roman" pitchFamily="18" charset="0"/>
                <a:ea typeface="굴림" charset="-127"/>
                <a:cs typeface="+mn-cs"/>
              </a:defRPr>
            </a:lvl8pPr>
            <a:lvl9pPr marL="36576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Times New Roman" pitchFamily="18" charset="0"/>
                <a:ea typeface="굴림" charset="-127"/>
                <a:cs typeface="+mn-cs"/>
              </a:defRPr>
            </a:lvl9pPr>
          </a:lstStyle>
          <a:p>
            <a:pPr lvl="0" algn="l" latinLnBrk="0"/>
            <a:r>
              <a:rPr lang="en-US" altLang="ko-KR" b="1" dirty="0">
                <a:solidFill>
                  <a:srgbClr val="000000"/>
                </a:solidFill>
                <a:latin typeface="+mj-lt"/>
                <a:ea typeface="굴림" panose="020B0600000101010101" pitchFamily="50" charset="-127"/>
              </a:rPr>
              <a:t>Ground Segment</a:t>
            </a:r>
            <a:endParaRPr lang="ko-KR" altLang="en-US" b="1" dirty="0">
              <a:solidFill>
                <a:srgbClr val="000000"/>
              </a:solidFill>
              <a:latin typeface="+mj-lt"/>
              <a:ea typeface="굴림" panose="020B0600000101010101" pitchFamily="50" charset="-127"/>
            </a:endParaRPr>
          </a:p>
        </p:txBody>
      </p:sp>
      <p:sp>
        <p:nvSpPr>
          <p:cNvPr id="5" name="Line 3"/>
          <p:cNvSpPr>
            <a:spLocks noChangeShapeType="1"/>
          </p:cNvSpPr>
          <p:nvPr/>
        </p:nvSpPr>
        <p:spPr bwMode="auto">
          <a:xfrm>
            <a:off x="221701" y="2913185"/>
            <a:ext cx="8686800" cy="0"/>
          </a:xfrm>
          <a:prstGeom prst="line">
            <a:avLst/>
          </a:prstGeom>
          <a:noFill/>
          <a:ln w="25400" cap="rnd">
            <a:gradFill flip="none" rotWithShape="1">
              <a:gsLst>
                <a:gs pos="0">
                  <a:srgbClr val="7030A0"/>
                </a:gs>
                <a:gs pos="99167">
                  <a:srgbClr val="7030A0"/>
                </a:gs>
                <a:gs pos="50000">
                  <a:srgbClr val="00B0F0"/>
                </a:gs>
              </a:gsLst>
              <a:lin ang="0" scaled="1"/>
              <a:tileRect/>
            </a:gra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US"/>
            </a:defPPr>
            <a:lvl1pPr algn="ctr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itchFamily="18" charset="0"/>
                <a:ea typeface="굴림" charset="-127"/>
                <a:cs typeface="+mn-cs"/>
              </a:defRPr>
            </a:lvl1pPr>
            <a:lvl2pPr marL="457200" algn="ctr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itchFamily="18" charset="0"/>
                <a:ea typeface="굴림" charset="-127"/>
                <a:cs typeface="+mn-cs"/>
              </a:defRPr>
            </a:lvl2pPr>
            <a:lvl3pPr marL="914400" algn="ctr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itchFamily="18" charset="0"/>
                <a:ea typeface="굴림" charset="-127"/>
                <a:cs typeface="+mn-cs"/>
              </a:defRPr>
            </a:lvl3pPr>
            <a:lvl4pPr marL="1371600" algn="ctr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itchFamily="18" charset="0"/>
                <a:ea typeface="굴림" charset="-127"/>
                <a:cs typeface="+mn-cs"/>
              </a:defRPr>
            </a:lvl4pPr>
            <a:lvl5pPr marL="1828800" algn="ctr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itchFamily="18" charset="0"/>
                <a:ea typeface="굴림" charset="-127"/>
                <a:cs typeface="+mn-cs"/>
              </a:defRPr>
            </a:lvl5pPr>
            <a:lvl6pPr marL="22860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Times New Roman" pitchFamily="18" charset="0"/>
                <a:ea typeface="굴림" charset="-127"/>
                <a:cs typeface="+mn-cs"/>
              </a:defRPr>
            </a:lvl6pPr>
            <a:lvl7pPr marL="27432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Times New Roman" pitchFamily="18" charset="0"/>
                <a:ea typeface="굴림" charset="-127"/>
                <a:cs typeface="+mn-cs"/>
              </a:defRPr>
            </a:lvl7pPr>
            <a:lvl8pPr marL="32004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Times New Roman" pitchFamily="18" charset="0"/>
                <a:ea typeface="굴림" charset="-127"/>
                <a:cs typeface="+mn-cs"/>
              </a:defRPr>
            </a:lvl8pPr>
            <a:lvl9pPr marL="36576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Times New Roman" pitchFamily="18" charset="0"/>
                <a:ea typeface="굴림" charset="-127"/>
                <a:cs typeface="+mn-cs"/>
              </a:defRPr>
            </a:lvl9pPr>
          </a:lstStyle>
          <a:p>
            <a:endParaRPr lang="ko-KR" altLang="en-US" sz="2215"/>
          </a:p>
        </p:txBody>
      </p:sp>
      <p:sp>
        <p:nvSpPr>
          <p:cNvPr id="6" name="Line 4"/>
          <p:cNvSpPr>
            <a:spLocks noChangeShapeType="1"/>
          </p:cNvSpPr>
          <p:nvPr/>
        </p:nvSpPr>
        <p:spPr bwMode="auto">
          <a:xfrm>
            <a:off x="221701" y="3931626"/>
            <a:ext cx="8686800" cy="0"/>
          </a:xfrm>
          <a:prstGeom prst="line">
            <a:avLst/>
          </a:prstGeom>
          <a:noFill/>
          <a:ln w="25400" cap="rnd">
            <a:gradFill flip="none" rotWithShape="1">
              <a:gsLst>
                <a:gs pos="0">
                  <a:srgbClr val="7030A0"/>
                </a:gs>
                <a:gs pos="99167">
                  <a:srgbClr val="7030A0"/>
                </a:gs>
                <a:gs pos="50000">
                  <a:srgbClr val="00B0F0"/>
                </a:gs>
              </a:gsLst>
              <a:lin ang="0" scaled="1"/>
              <a:tileRect/>
            </a:gra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US"/>
            </a:defPPr>
            <a:lvl1pPr algn="ctr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itchFamily="18" charset="0"/>
                <a:ea typeface="굴림" charset="-127"/>
                <a:cs typeface="+mn-cs"/>
              </a:defRPr>
            </a:lvl1pPr>
            <a:lvl2pPr marL="457200" algn="ctr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itchFamily="18" charset="0"/>
                <a:ea typeface="굴림" charset="-127"/>
                <a:cs typeface="+mn-cs"/>
              </a:defRPr>
            </a:lvl2pPr>
            <a:lvl3pPr marL="914400" algn="ctr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itchFamily="18" charset="0"/>
                <a:ea typeface="굴림" charset="-127"/>
                <a:cs typeface="+mn-cs"/>
              </a:defRPr>
            </a:lvl3pPr>
            <a:lvl4pPr marL="1371600" algn="ctr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itchFamily="18" charset="0"/>
                <a:ea typeface="굴림" charset="-127"/>
                <a:cs typeface="+mn-cs"/>
              </a:defRPr>
            </a:lvl4pPr>
            <a:lvl5pPr marL="1828800" algn="ctr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itchFamily="18" charset="0"/>
                <a:ea typeface="굴림" charset="-127"/>
                <a:cs typeface="+mn-cs"/>
              </a:defRPr>
            </a:lvl5pPr>
            <a:lvl6pPr marL="22860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Times New Roman" pitchFamily="18" charset="0"/>
                <a:ea typeface="굴림" charset="-127"/>
                <a:cs typeface="+mn-cs"/>
              </a:defRPr>
            </a:lvl6pPr>
            <a:lvl7pPr marL="27432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Times New Roman" pitchFamily="18" charset="0"/>
                <a:ea typeface="굴림" charset="-127"/>
                <a:cs typeface="+mn-cs"/>
              </a:defRPr>
            </a:lvl7pPr>
            <a:lvl8pPr marL="32004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Times New Roman" pitchFamily="18" charset="0"/>
                <a:ea typeface="굴림" charset="-127"/>
                <a:cs typeface="+mn-cs"/>
              </a:defRPr>
            </a:lvl8pPr>
            <a:lvl9pPr marL="36576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Times New Roman" pitchFamily="18" charset="0"/>
                <a:ea typeface="굴림" charset="-127"/>
                <a:cs typeface="+mn-cs"/>
              </a:defRPr>
            </a:lvl9pPr>
          </a:lstStyle>
          <a:p>
            <a:endParaRPr lang="ko-KR" altLang="en-US" sz="2215"/>
          </a:p>
        </p:txBody>
      </p:sp>
    </p:spTree>
    <p:extLst>
      <p:ext uri="{BB962C8B-B14F-4D97-AF65-F5344CB8AC3E}">
        <p14:creationId xmlns:p14="http://schemas.microsoft.com/office/powerpoint/2010/main" val="4116622085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Architecture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18406273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Mission Control Element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6074985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Image Reception and Processing Element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39426300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Calibration and Validation Element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45785777"/>
      </p:ext>
    </p:extLst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SAR Processor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92772812"/>
      </p:ext>
    </p:extLst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218769" y="2924908"/>
            <a:ext cx="8706462" cy="1008185"/>
          </a:xfrm>
          <a:prstGeom prst="rect">
            <a:avLst/>
          </a:prstGeom>
          <a:solidFill>
            <a:srgbClr val="DAC1FF">
              <a:alpha val="31765"/>
            </a:srgbClr>
          </a:solidFill>
        </p:spPr>
        <p:txBody>
          <a:bodyPr anchor="ctr" anchorCtr="1"/>
          <a:lstStyle>
            <a:defPPr>
              <a:defRPr lang="en-US"/>
            </a:defPPr>
            <a:lvl1pPr algn="ctr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itchFamily="18" charset="0"/>
                <a:ea typeface="굴림" charset="-127"/>
                <a:cs typeface="+mn-cs"/>
              </a:defRPr>
            </a:lvl1pPr>
            <a:lvl2pPr marL="457200" algn="ctr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itchFamily="18" charset="0"/>
                <a:ea typeface="굴림" charset="-127"/>
                <a:cs typeface="+mn-cs"/>
              </a:defRPr>
            </a:lvl2pPr>
            <a:lvl3pPr marL="914400" algn="ctr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itchFamily="18" charset="0"/>
                <a:ea typeface="굴림" charset="-127"/>
                <a:cs typeface="+mn-cs"/>
              </a:defRPr>
            </a:lvl3pPr>
            <a:lvl4pPr marL="1371600" algn="ctr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itchFamily="18" charset="0"/>
                <a:ea typeface="굴림" charset="-127"/>
                <a:cs typeface="+mn-cs"/>
              </a:defRPr>
            </a:lvl4pPr>
            <a:lvl5pPr marL="1828800" algn="ctr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itchFamily="18" charset="0"/>
                <a:ea typeface="굴림" charset="-127"/>
                <a:cs typeface="+mn-cs"/>
              </a:defRPr>
            </a:lvl5pPr>
            <a:lvl6pPr marL="22860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Times New Roman" pitchFamily="18" charset="0"/>
                <a:ea typeface="굴림" charset="-127"/>
                <a:cs typeface="+mn-cs"/>
              </a:defRPr>
            </a:lvl6pPr>
            <a:lvl7pPr marL="27432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Times New Roman" pitchFamily="18" charset="0"/>
                <a:ea typeface="굴림" charset="-127"/>
                <a:cs typeface="+mn-cs"/>
              </a:defRPr>
            </a:lvl7pPr>
            <a:lvl8pPr marL="32004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Times New Roman" pitchFamily="18" charset="0"/>
                <a:ea typeface="굴림" charset="-127"/>
                <a:cs typeface="+mn-cs"/>
              </a:defRPr>
            </a:lvl8pPr>
            <a:lvl9pPr marL="36576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Times New Roman" pitchFamily="18" charset="0"/>
                <a:ea typeface="굴림" charset="-127"/>
                <a:cs typeface="+mn-cs"/>
              </a:defRPr>
            </a:lvl9pPr>
          </a:lstStyle>
          <a:p>
            <a:pPr lvl="0" algn="l" latinLnBrk="0"/>
            <a:r>
              <a:rPr lang="en-US" altLang="ko-KR" b="1" dirty="0">
                <a:solidFill>
                  <a:srgbClr val="000000"/>
                </a:solidFill>
                <a:latin typeface="+mj-lt"/>
                <a:ea typeface="굴림" panose="020B0600000101010101" pitchFamily="50" charset="-127"/>
              </a:rPr>
              <a:t>Assembly, Integration, and Test</a:t>
            </a:r>
            <a:endParaRPr lang="ko-KR" altLang="en-US" b="1" dirty="0">
              <a:solidFill>
                <a:srgbClr val="000000"/>
              </a:solidFill>
              <a:latin typeface="+mj-lt"/>
              <a:ea typeface="굴림" panose="020B0600000101010101" pitchFamily="50" charset="-127"/>
            </a:endParaRPr>
          </a:p>
        </p:txBody>
      </p:sp>
      <p:sp>
        <p:nvSpPr>
          <p:cNvPr id="5" name="Line 3"/>
          <p:cNvSpPr>
            <a:spLocks noChangeShapeType="1"/>
          </p:cNvSpPr>
          <p:nvPr/>
        </p:nvSpPr>
        <p:spPr bwMode="auto">
          <a:xfrm>
            <a:off x="221701" y="2913185"/>
            <a:ext cx="8686800" cy="0"/>
          </a:xfrm>
          <a:prstGeom prst="line">
            <a:avLst/>
          </a:prstGeom>
          <a:noFill/>
          <a:ln w="25400" cap="rnd">
            <a:gradFill flip="none" rotWithShape="1">
              <a:gsLst>
                <a:gs pos="0">
                  <a:srgbClr val="7030A0"/>
                </a:gs>
                <a:gs pos="99167">
                  <a:srgbClr val="7030A0"/>
                </a:gs>
                <a:gs pos="50000">
                  <a:srgbClr val="00B0F0"/>
                </a:gs>
              </a:gsLst>
              <a:lin ang="0" scaled="1"/>
              <a:tileRect/>
            </a:gra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US"/>
            </a:defPPr>
            <a:lvl1pPr algn="ctr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itchFamily="18" charset="0"/>
                <a:ea typeface="굴림" charset="-127"/>
                <a:cs typeface="+mn-cs"/>
              </a:defRPr>
            </a:lvl1pPr>
            <a:lvl2pPr marL="457200" algn="ctr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itchFamily="18" charset="0"/>
                <a:ea typeface="굴림" charset="-127"/>
                <a:cs typeface="+mn-cs"/>
              </a:defRPr>
            </a:lvl2pPr>
            <a:lvl3pPr marL="914400" algn="ctr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itchFamily="18" charset="0"/>
                <a:ea typeface="굴림" charset="-127"/>
                <a:cs typeface="+mn-cs"/>
              </a:defRPr>
            </a:lvl3pPr>
            <a:lvl4pPr marL="1371600" algn="ctr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itchFamily="18" charset="0"/>
                <a:ea typeface="굴림" charset="-127"/>
                <a:cs typeface="+mn-cs"/>
              </a:defRPr>
            </a:lvl4pPr>
            <a:lvl5pPr marL="1828800" algn="ctr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itchFamily="18" charset="0"/>
                <a:ea typeface="굴림" charset="-127"/>
                <a:cs typeface="+mn-cs"/>
              </a:defRPr>
            </a:lvl5pPr>
            <a:lvl6pPr marL="22860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Times New Roman" pitchFamily="18" charset="0"/>
                <a:ea typeface="굴림" charset="-127"/>
                <a:cs typeface="+mn-cs"/>
              </a:defRPr>
            </a:lvl6pPr>
            <a:lvl7pPr marL="27432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Times New Roman" pitchFamily="18" charset="0"/>
                <a:ea typeface="굴림" charset="-127"/>
                <a:cs typeface="+mn-cs"/>
              </a:defRPr>
            </a:lvl7pPr>
            <a:lvl8pPr marL="32004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Times New Roman" pitchFamily="18" charset="0"/>
                <a:ea typeface="굴림" charset="-127"/>
                <a:cs typeface="+mn-cs"/>
              </a:defRPr>
            </a:lvl8pPr>
            <a:lvl9pPr marL="36576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Times New Roman" pitchFamily="18" charset="0"/>
                <a:ea typeface="굴림" charset="-127"/>
                <a:cs typeface="+mn-cs"/>
              </a:defRPr>
            </a:lvl9pPr>
          </a:lstStyle>
          <a:p>
            <a:endParaRPr lang="ko-KR" altLang="en-US" sz="2215"/>
          </a:p>
        </p:txBody>
      </p:sp>
      <p:sp>
        <p:nvSpPr>
          <p:cNvPr id="6" name="Line 4"/>
          <p:cNvSpPr>
            <a:spLocks noChangeShapeType="1"/>
          </p:cNvSpPr>
          <p:nvPr/>
        </p:nvSpPr>
        <p:spPr bwMode="auto">
          <a:xfrm>
            <a:off x="221701" y="3931626"/>
            <a:ext cx="8686800" cy="0"/>
          </a:xfrm>
          <a:prstGeom prst="line">
            <a:avLst/>
          </a:prstGeom>
          <a:noFill/>
          <a:ln w="25400" cap="rnd">
            <a:gradFill flip="none" rotWithShape="1">
              <a:gsLst>
                <a:gs pos="0">
                  <a:srgbClr val="7030A0"/>
                </a:gs>
                <a:gs pos="99167">
                  <a:srgbClr val="7030A0"/>
                </a:gs>
                <a:gs pos="50000">
                  <a:srgbClr val="00B0F0"/>
                </a:gs>
              </a:gsLst>
              <a:lin ang="0" scaled="1"/>
              <a:tileRect/>
            </a:gra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US"/>
            </a:defPPr>
            <a:lvl1pPr algn="ctr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itchFamily="18" charset="0"/>
                <a:ea typeface="굴림" charset="-127"/>
                <a:cs typeface="+mn-cs"/>
              </a:defRPr>
            </a:lvl1pPr>
            <a:lvl2pPr marL="457200" algn="ctr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itchFamily="18" charset="0"/>
                <a:ea typeface="굴림" charset="-127"/>
                <a:cs typeface="+mn-cs"/>
              </a:defRPr>
            </a:lvl2pPr>
            <a:lvl3pPr marL="914400" algn="ctr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itchFamily="18" charset="0"/>
                <a:ea typeface="굴림" charset="-127"/>
                <a:cs typeface="+mn-cs"/>
              </a:defRPr>
            </a:lvl3pPr>
            <a:lvl4pPr marL="1371600" algn="ctr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itchFamily="18" charset="0"/>
                <a:ea typeface="굴림" charset="-127"/>
                <a:cs typeface="+mn-cs"/>
              </a:defRPr>
            </a:lvl4pPr>
            <a:lvl5pPr marL="1828800" algn="ctr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itchFamily="18" charset="0"/>
                <a:ea typeface="굴림" charset="-127"/>
                <a:cs typeface="+mn-cs"/>
              </a:defRPr>
            </a:lvl5pPr>
            <a:lvl6pPr marL="22860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Times New Roman" pitchFamily="18" charset="0"/>
                <a:ea typeface="굴림" charset="-127"/>
                <a:cs typeface="+mn-cs"/>
              </a:defRPr>
            </a:lvl6pPr>
            <a:lvl7pPr marL="27432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Times New Roman" pitchFamily="18" charset="0"/>
                <a:ea typeface="굴림" charset="-127"/>
                <a:cs typeface="+mn-cs"/>
              </a:defRPr>
            </a:lvl7pPr>
            <a:lvl8pPr marL="32004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Times New Roman" pitchFamily="18" charset="0"/>
                <a:ea typeface="굴림" charset="-127"/>
                <a:cs typeface="+mn-cs"/>
              </a:defRPr>
            </a:lvl8pPr>
            <a:lvl9pPr marL="36576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Times New Roman" pitchFamily="18" charset="0"/>
                <a:ea typeface="굴림" charset="-127"/>
                <a:cs typeface="+mn-cs"/>
              </a:defRPr>
            </a:lvl9pPr>
          </a:lstStyle>
          <a:p>
            <a:endParaRPr lang="ko-KR" altLang="en-US" sz="2215"/>
          </a:p>
        </p:txBody>
      </p:sp>
    </p:spTree>
    <p:extLst>
      <p:ext uri="{BB962C8B-B14F-4D97-AF65-F5344CB8AC3E}">
        <p14:creationId xmlns:p14="http://schemas.microsoft.com/office/powerpoint/2010/main" val="1368359241"/>
      </p:ext>
    </p:extLst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Electrical Test Bed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73829861"/>
      </p:ext>
    </p:extLst>
  </p:cSld>
  <p:clrMapOvr>
    <a:masterClrMapping/>
  </p:clrMapOvr>
</p:sld>
</file>

<file path=ppt/theme/theme1.xml><?xml version="1.0" encoding="utf-8"?>
<a:theme xmlns:a="http://schemas.openxmlformats.org/drawingml/2006/main" name="기본 디자인">
  <a:themeElements>
    <a:clrScheme name="기본 디자인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기본 디자인">
      <a:majorFont>
        <a:latin typeface="Arial"/>
        <a:ea typeface="굴림"/>
        <a:cs typeface=""/>
      </a:majorFont>
      <a:minorFont>
        <a:latin typeface="Arial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57150" cap="flat" cmpd="sng" algn="ctr">
          <a:solidFill>
            <a:schemeClr val="accent2"/>
          </a:solidFill>
          <a:prstDash val="solid"/>
          <a:round/>
          <a:headEnd type="none" w="sm" len="sm"/>
          <a:tailEnd type="none" w="sm" len="sm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굴림" panose="020B0600000101010101" pitchFamily="50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57150" cap="flat" cmpd="sng" algn="ctr">
          <a:solidFill>
            <a:schemeClr val="accent2"/>
          </a:solidFill>
          <a:prstDash val="solid"/>
          <a:round/>
          <a:headEnd type="none" w="sm" len="sm"/>
          <a:tailEnd type="none" w="sm" len="sm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굴림" panose="020B0600000101010101" pitchFamily="50" charset="-127"/>
          </a:defRPr>
        </a:defPPr>
      </a:lstStyle>
    </a:lnDef>
  </a:objectDefaults>
  <a:extraClrSchemeLst>
    <a:extraClrScheme>
      <a:clrScheme name="기본 디자인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50307</TotalTime>
  <Words>3432</Words>
  <Application>Microsoft Office PowerPoint</Application>
  <PresentationFormat>화면 슬라이드 쇼(4:3)</PresentationFormat>
  <Paragraphs>1400</Paragraphs>
  <Slides>119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119</vt:i4>
      </vt:variant>
    </vt:vector>
  </HeadingPairs>
  <TitlesOfParts>
    <vt:vector size="128" baseType="lpstr">
      <vt:lpstr>굴림</vt:lpstr>
      <vt:lpstr>나눔고딕</vt:lpstr>
      <vt:lpstr>맑은 고딕</vt:lpstr>
      <vt:lpstr>Arial</vt:lpstr>
      <vt:lpstr>Cambria Math</vt:lpstr>
      <vt:lpstr>Symbol</vt:lpstr>
      <vt:lpstr>Times New Roman</vt:lpstr>
      <vt:lpstr>Wingdings</vt:lpstr>
      <vt:lpstr>기본 디자인</vt:lpstr>
      <vt:lpstr>초소형 SAR 위성 시스템</vt:lpstr>
      <vt:lpstr>Agenda</vt:lpstr>
      <vt:lpstr>Agenda</vt:lpstr>
      <vt:lpstr>Agenda</vt:lpstr>
      <vt:lpstr>Agenda</vt:lpstr>
      <vt:lpstr>Agenda</vt:lpstr>
      <vt:lpstr>Agenda</vt:lpstr>
      <vt:lpstr>Agenda</vt:lpstr>
      <vt:lpstr>Agenda</vt:lpstr>
      <vt:lpstr>Agenda</vt:lpstr>
      <vt:lpstr>PowerPoint 프레젠테이션</vt:lpstr>
      <vt:lpstr>Mission Objective</vt:lpstr>
      <vt:lpstr>Satellite Configuration</vt:lpstr>
      <vt:lpstr>Development Baseline</vt:lpstr>
      <vt:lpstr>Major Milestone</vt:lpstr>
      <vt:lpstr>Roles &amp; Responsibility</vt:lpstr>
      <vt:lpstr>PowerPoint 프레젠테이션</vt:lpstr>
      <vt:lpstr>Concept of Operation</vt:lpstr>
      <vt:lpstr>System Requirements</vt:lpstr>
      <vt:lpstr>H/W Design Baseline </vt:lpstr>
      <vt:lpstr>Satellite Architecture</vt:lpstr>
      <vt:lpstr>Satellite Architecture</vt:lpstr>
      <vt:lpstr>Payload Architecture</vt:lpstr>
      <vt:lpstr>Payload Architecture</vt:lpstr>
      <vt:lpstr>Payload Architecture</vt:lpstr>
      <vt:lpstr>Payload Architecture</vt:lpstr>
      <vt:lpstr>Payload Architecture</vt:lpstr>
      <vt:lpstr>Payload Architecture</vt:lpstr>
      <vt:lpstr>Spacecraft</vt:lpstr>
      <vt:lpstr>Ground Segment</vt:lpstr>
      <vt:lpstr>Launch Vehicle</vt:lpstr>
      <vt:lpstr>Development Plan</vt:lpstr>
      <vt:lpstr>Development Plan</vt:lpstr>
      <vt:lpstr>Development Plan</vt:lpstr>
      <vt:lpstr>PowerPoint 프레젠테이션</vt:lpstr>
      <vt:lpstr>System Operations Overview</vt:lpstr>
      <vt:lpstr>Orbit Design and Characteristics</vt:lpstr>
      <vt:lpstr>Orbit Design and Characteristics</vt:lpstr>
      <vt:lpstr>Orbit Design and Characteristics</vt:lpstr>
      <vt:lpstr>Orbit Design and Characteristics</vt:lpstr>
      <vt:lpstr>System Operation</vt:lpstr>
      <vt:lpstr>System Operation Phase</vt:lpstr>
      <vt:lpstr>Payload Operation Mode</vt:lpstr>
      <vt:lpstr>GS Operation</vt:lpstr>
      <vt:lpstr>GS Operation</vt:lpstr>
      <vt:lpstr>GS Operation</vt:lpstr>
      <vt:lpstr>GS Operation</vt:lpstr>
      <vt:lpstr>GS Operation</vt:lpstr>
      <vt:lpstr>GS Operation</vt:lpstr>
      <vt:lpstr>GS Operation</vt:lpstr>
      <vt:lpstr>Payload Data Downlink Operation</vt:lpstr>
      <vt:lpstr>PowerPoint 프레젠테이션</vt:lpstr>
      <vt:lpstr>Specification Tree</vt:lpstr>
      <vt:lpstr>System Requirements</vt:lpstr>
      <vt:lpstr>System Requirements</vt:lpstr>
      <vt:lpstr>System Budget</vt:lpstr>
      <vt:lpstr>Image Quality Budget</vt:lpstr>
      <vt:lpstr>Pointing Budget</vt:lpstr>
      <vt:lpstr>Mass Budget</vt:lpstr>
      <vt:lpstr>Power Budget</vt:lpstr>
      <vt:lpstr>S-band Link Budget</vt:lpstr>
      <vt:lpstr>X-band Link Budget</vt:lpstr>
      <vt:lpstr>Propellant Budget</vt:lpstr>
      <vt:lpstr>Reliability</vt:lpstr>
      <vt:lpstr>Interface between Payloads and Spacecraft Bus</vt:lpstr>
      <vt:lpstr>Launch Vehicle Selection and Interface</vt:lpstr>
      <vt:lpstr>Launch Vehicle Selection and Interface</vt:lpstr>
      <vt:lpstr>Launch Vehicle Selection and Interface</vt:lpstr>
      <vt:lpstr>Launch Vehicle Selection and Interface</vt:lpstr>
      <vt:lpstr>Launch Vehicle Selection and Interface</vt:lpstr>
      <vt:lpstr>Launch Vehicle Selection and Interface</vt:lpstr>
      <vt:lpstr>Launch Vehicle Selection and Interface</vt:lpstr>
      <vt:lpstr>Space to Ground Interface</vt:lpstr>
      <vt:lpstr>Space to Ground Interface</vt:lpstr>
      <vt:lpstr>EMI/EMC Design</vt:lpstr>
      <vt:lpstr>Verification Plan</vt:lpstr>
      <vt:lpstr>Verification Management</vt:lpstr>
      <vt:lpstr>Requirement Verification Matrix</vt:lpstr>
      <vt:lpstr>Requirement Verification Matrix</vt:lpstr>
      <vt:lpstr>Requirement Verification Matrix</vt:lpstr>
      <vt:lpstr>Requirement Traceability Matrix</vt:lpstr>
      <vt:lpstr>Verification Test Matrix (VTM)</vt:lpstr>
      <vt:lpstr>PowerPoint 프레젠테이션</vt:lpstr>
      <vt:lpstr>PA General / QA Plan</vt:lpstr>
      <vt:lpstr>Software QA</vt:lpstr>
      <vt:lpstr>EEE Part</vt:lpstr>
      <vt:lpstr>Material &amp; Processes</vt:lpstr>
      <vt:lpstr>Reliability</vt:lpstr>
      <vt:lpstr>Contamination Control</vt:lpstr>
      <vt:lpstr>PowerPoint 프레젠테이션</vt:lpstr>
      <vt:lpstr>SAR Payload Major Requirements</vt:lpstr>
      <vt:lpstr>Configuration</vt:lpstr>
      <vt:lpstr>Function Block Diagram</vt:lpstr>
      <vt:lpstr>SAR Payload Hardware Matrix</vt:lpstr>
      <vt:lpstr>SAR Sensor Electronics</vt:lpstr>
      <vt:lpstr>SAR Antenna Subsystem</vt:lpstr>
      <vt:lpstr>Data Link Subsystem</vt:lpstr>
      <vt:lpstr>PowerPoint 프레젠테이션</vt:lpstr>
      <vt:lpstr>Spacecraft Bus Major Requirements</vt:lpstr>
      <vt:lpstr>Configuration</vt:lpstr>
      <vt:lpstr>Function Block Diagram</vt:lpstr>
      <vt:lpstr>Spacecraft Bus Hardware Matrix</vt:lpstr>
      <vt:lpstr>Mechanical Design Integration</vt:lpstr>
      <vt:lpstr>Electrical Design Integration</vt:lpstr>
      <vt:lpstr>Structures and Mechanism Subsystem</vt:lpstr>
      <vt:lpstr>Thermal Control Subsystem</vt:lpstr>
      <vt:lpstr>Attitude and Orbit Control Subsystem</vt:lpstr>
      <vt:lpstr>Propulsion Subsystem</vt:lpstr>
      <vt:lpstr>Telemetry, Command and Ranging Subsystem</vt:lpstr>
      <vt:lpstr>Electrical Power Subsystem</vt:lpstr>
      <vt:lpstr>Flight Software Subsystem</vt:lpstr>
      <vt:lpstr>PowerPoint 프레젠테이션</vt:lpstr>
      <vt:lpstr>Architecture</vt:lpstr>
      <vt:lpstr>Mission Control Element</vt:lpstr>
      <vt:lpstr>Image Reception and Processing Element</vt:lpstr>
      <vt:lpstr>Calibration and Validation Element</vt:lpstr>
      <vt:lpstr>SAR Processor</vt:lpstr>
      <vt:lpstr>PowerPoint 프레젠테이션</vt:lpstr>
      <vt:lpstr>Electrical Test Bed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한동인</dc:creator>
  <cp:lastModifiedBy>O18008</cp:lastModifiedBy>
  <cp:revision>2070</cp:revision>
  <cp:lastPrinted>2019-05-20T07:28:10Z</cp:lastPrinted>
  <dcterms:created xsi:type="dcterms:W3CDTF">1601-01-01T00:00:00Z</dcterms:created>
  <dcterms:modified xsi:type="dcterms:W3CDTF">2020-03-04T12:53:25Z</dcterms:modified>
</cp:coreProperties>
</file>