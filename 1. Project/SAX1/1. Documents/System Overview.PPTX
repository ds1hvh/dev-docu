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209" r:id="rId2"/>
    <p:sldId id="1545" r:id="rId3"/>
    <p:sldId id="1419" r:id="rId4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DA5"/>
    <a:srgbClr val="009900"/>
    <a:srgbClr val="FFCC99"/>
    <a:srgbClr val="0000FF"/>
    <a:srgbClr val="00CC00"/>
    <a:srgbClr val="33CC33"/>
    <a:srgbClr val="F2F2F2"/>
    <a:srgbClr val="EFFFB3"/>
    <a:srgbClr val="63686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7" autoAdjust="0"/>
    <p:restoredTop sz="96362" autoAdjust="0"/>
  </p:normalViewPr>
  <p:slideViewPr>
    <p:cSldViewPr snapToGrid="0">
      <p:cViewPr varScale="1">
        <p:scale>
          <a:sx n="127" d="100"/>
          <a:sy n="127" d="100"/>
        </p:scale>
        <p:origin x="1182" y="120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5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image" Target="../media/image14.jpeg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3.jpe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5.wmf"/><Relationship Id="rId14" Type="http://schemas.openxmlformats.org/officeDocument/2006/relationships/image" Target="../media/image10.wmf"/><Relationship Id="rId22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11" Type="http://schemas.openxmlformats.org/officeDocument/2006/relationships/image" Target="../media/image23.jpeg"/><Relationship Id="rId5" Type="http://schemas.openxmlformats.org/officeDocument/2006/relationships/image" Target="../media/image19.jpeg"/><Relationship Id="rId10" Type="http://schemas.openxmlformats.org/officeDocument/2006/relationships/image" Target="../media/image16.wmf"/><Relationship Id="rId4" Type="http://schemas.openxmlformats.org/officeDocument/2006/relationships/image" Target="../media/image18.png"/><Relationship Id="rId9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594121"/>
          </a:xfrm>
        </p:spPr>
        <p:txBody>
          <a:bodyPr/>
          <a:lstStyle/>
          <a:p>
            <a:pPr algn="ctr"/>
            <a:r>
              <a:rPr lang="en-US" altLang="ko-KR" sz="3600" dirty="0"/>
              <a:t>Data Service </a:t>
            </a:r>
            <a:br>
              <a:rPr lang="en-US" altLang="ko-KR" sz="3600" dirty="0"/>
            </a:br>
            <a:r>
              <a:rPr lang="en-US" altLang="ko-KR" sz="3600" dirty="0"/>
              <a:t>Infrastructure concept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dirty="0"/>
              <a:t>2020. 11. 19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Overview</a:t>
            </a:r>
            <a:endParaRPr lang="ko-KR" altLang="en-US" dirty="0"/>
          </a:p>
        </p:txBody>
      </p:sp>
      <p:sp>
        <p:nvSpPr>
          <p:cNvPr id="5" name="Oval 150">
            <a:extLst>
              <a:ext uri="{FF2B5EF4-FFF2-40B4-BE49-F238E27FC236}">
                <a16:creationId xmlns:a16="http://schemas.microsoft.com/office/drawing/2014/main" id="{BB2B944D-D761-414F-951D-01F3B7FA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362" y="5131651"/>
            <a:ext cx="793750" cy="476250"/>
          </a:xfrm>
          <a:prstGeom prst="ellipse">
            <a:avLst/>
          </a:prstGeom>
          <a:gradFill rotWithShape="0">
            <a:gsLst>
              <a:gs pos="0">
                <a:schemeClr val="bg1">
                  <a:gamma/>
                  <a:shade val="76078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6FE3B090-6243-4F7F-AF3D-142944C401AB}"/>
              </a:ext>
            </a:extLst>
          </p:cNvPr>
          <p:cNvSpPr>
            <a:spLocks noChangeArrowheads="1"/>
          </p:cNvSpPr>
          <p:nvPr/>
        </p:nvSpPr>
        <p:spPr bwMode="gray">
          <a:xfrm rot="10800000">
            <a:off x="3755423" y="1237514"/>
            <a:ext cx="3581400" cy="1143000"/>
          </a:xfrm>
          <a:prstGeom prst="wedgeRectCallout">
            <a:avLst>
              <a:gd name="adj1" fmla="val -33778"/>
              <a:gd name="adj2" fmla="val 48056"/>
            </a:avLst>
          </a:prstGeom>
          <a:solidFill>
            <a:srgbClr val="FFFFB1"/>
          </a:solidFill>
          <a:ln w="12700">
            <a:solidFill>
              <a:srgbClr val="FF6600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 algn="l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71500" algn="l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algn="l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714500" algn="l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286000" algn="l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latinLnBrk="0">
              <a:buClrTx/>
              <a:buFontTx/>
              <a:buNone/>
            </a:pPr>
            <a:endParaRPr lang="ko-KR" altLang="ko-KR">
              <a:latin typeface="굴림" panose="020B0600000101010101" pitchFamily="50" charset="-127"/>
            </a:endParaRP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4ECF21DF-6922-494F-B78C-9E5F21F82E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83998" y="1331177"/>
            <a:ext cx="1181100" cy="895350"/>
          </a:xfrm>
          <a:prstGeom prst="roundRect">
            <a:avLst>
              <a:gd name="adj" fmla="val 10898"/>
            </a:avLst>
          </a:prstGeom>
          <a:pattFill prst="pct50">
            <a:fgClr>
              <a:srgbClr val="FFCC00"/>
            </a:fgClr>
            <a:bgClr>
              <a:srgbClr val="FFFFFF"/>
            </a:bgClr>
          </a:pattFill>
          <a:ln w="12700">
            <a:solidFill>
              <a:srgbClr val="FF99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82172DB7-E773-4772-A7B4-46226899F421}"/>
              </a:ext>
            </a:extLst>
          </p:cNvPr>
          <p:cNvSpPr>
            <a:spLocks noChangeShapeType="1"/>
          </p:cNvSpPr>
          <p:nvPr/>
        </p:nvSpPr>
        <p:spPr bwMode="gray">
          <a:xfrm>
            <a:off x="5254023" y="2180489"/>
            <a:ext cx="1588" cy="366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7FDCD19E-2745-4F95-99CD-3A6D7C8514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80973" y="1332764"/>
            <a:ext cx="536575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900" b="1">
                <a:solidFill>
                  <a:schemeClr val="bg1"/>
                </a:solidFill>
              </a:rPr>
              <a:t>DB</a:t>
            </a:r>
            <a:r>
              <a:rPr kumimoji="0" lang="ko-KR" altLang="en-US" sz="900" b="1">
                <a:solidFill>
                  <a:schemeClr val="bg1"/>
                </a:solidFill>
              </a:rPr>
              <a:t>서버</a:t>
            </a: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4ABEF8E8-D6CC-4D2D-B5F1-F4FFAFB86CBA}"/>
              </a:ext>
            </a:extLst>
          </p:cNvPr>
          <p:cNvSpPr>
            <a:spLocks noChangeShapeType="1"/>
          </p:cNvSpPr>
          <p:nvPr/>
        </p:nvSpPr>
        <p:spPr bwMode="gray">
          <a:xfrm>
            <a:off x="5393723" y="2520214"/>
            <a:ext cx="1588" cy="384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1" name="Line 20">
            <a:extLst>
              <a:ext uri="{FF2B5EF4-FFF2-40B4-BE49-F238E27FC236}">
                <a16:creationId xmlns:a16="http://schemas.microsoft.com/office/drawing/2014/main" id="{46BD615E-F8E4-4F1F-8A8D-B692C2A98020}"/>
              </a:ext>
            </a:extLst>
          </p:cNvPr>
          <p:cNvSpPr>
            <a:spLocks noChangeShapeType="1"/>
          </p:cNvSpPr>
          <p:nvPr/>
        </p:nvSpPr>
        <p:spPr bwMode="gray">
          <a:xfrm>
            <a:off x="5393723" y="2898039"/>
            <a:ext cx="1588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2" name="Text Box 21">
            <a:extLst>
              <a:ext uri="{FF2B5EF4-FFF2-40B4-BE49-F238E27FC236}">
                <a16:creationId xmlns:a16="http://schemas.microsoft.com/office/drawing/2014/main" id="{F9081A70-DC23-48D8-8DC2-D23AD868A73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55623" y="2517039"/>
            <a:ext cx="1056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800" b="1" dirty="0"/>
              <a:t>Ethernet</a:t>
            </a: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1879F6B4-E23D-4C90-AF02-C4D0E1E8466B}"/>
              </a:ext>
            </a:extLst>
          </p:cNvPr>
          <p:cNvSpPr>
            <a:spLocks noChangeShapeType="1"/>
          </p:cNvSpPr>
          <p:nvPr/>
        </p:nvSpPr>
        <p:spPr bwMode="gray">
          <a:xfrm>
            <a:off x="5327048" y="3256814"/>
            <a:ext cx="1400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21B22975-B54E-4269-A412-979D29278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79108"/>
              </p:ext>
            </p:extLst>
          </p:nvPr>
        </p:nvGraphicFramePr>
        <p:xfrm>
          <a:off x="6146198" y="3017102"/>
          <a:ext cx="2301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클립" r:id="rId3" imgW="3031560" imgH="4533480" progId="MS_ClipArt_Gallery.2">
                  <p:embed/>
                </p:oleObj>
              </mc:Choice>
              <mc:Fallback>
                <p:oleObj name="클립" r:id="rId3" imgW="3031560" imgH="4533480" progId="MS_ClipArt_Gallery.2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B40DA8B6-41AE-44A0-8574-DB9E82B4D3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6146198" y="3017102"/>
                        <a:ext cx="2301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81D0D5B9-99BB-4802-A95F-EDEC857D7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686952"/>
              </p:ext>
            </p:extLst>
          </p:nvPr>
        </p:nvGraphicFramePr>
        <p:xfrm>
          <a:off x="6041423" y="3085364"/>
          <a:ext cx="2301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클립" r:id="rId5" imgW="3031560" imgH="4533480" progId="MS_ClipArt_Gallery.2">
                  <p:embed/>
                </p:oleObj>
              </mc:Choice>
              <mc:Fallback>
                <p:oleObj name="클립" r:id="rId5" imgW="3031560" imgH="4533480" progId="MS_ClipArt_Gallery.2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57D0E57D-8E5E-4B6B-9AFF-6F79A731B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6041423" y="3085364"/>
                        <a:ext cx="2301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25">
            <a:extLst>
              <a:ext uri="{FF2B5EF4-FFF2-40B4-BE49-F238E27FC236}">
                <a16:creationId xmlns:a16="http://schemas.microsoft.com/office/drawing/2014/main" id="{589123BE-8DEE-42D2-8B66-71209E269F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65223" y="2848827"/>
            <a:ext cx="422275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ko-KR" altLang="en-US" sz="900" b="1">
                <a:solidFill>
                  <a:schemeClr val="bg1"/>
                </a:solidFill>
              </a:rPr>
              <a:t>방화벽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86EF1F60-33DF-40CD-96E3-64B16CFEC545}"/>
              </a:ext>
            </a:extLst>
          </p:cNvPr>
          <p:cNvSpPr>
            <a:spLocks noChangeShapeType="1"/>
          </p:cNvSpPr>
          <p:nvPr/>
        </p:nvSpPr>
        <p:spPr bwMode="gray">
          <a:xfrm>
            <a:off x="6716111" y="3248877"/>
            <a:ext cx="1587" cy="579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grpSp>
        <p:nvGrpSpPr>
          <p:cNvPr id="18" name="Group 28">
            <a:extLst>
              <a:ext uri="{FF2B5EF4-FFF2-40B4-BE49-F238E27FC236}">
                <a16:creationId xmlns:a16="http://schemas.microsoft.com/office/drawing/2014/main" id="{4A0826FD-6145-470C-8B51-60794CCF65A7}"/>
              </a:ext>
            </a:extLst>
          </p:cNvPr>
          <p:cNvGrpSpPr>
            <a:grpSpLocks/>
          </p:cNvGrpSpPr>
          <p:nvPr/>
        </p:nvGrpSpPr>
        <p:grpSpPr bwMode="auto">
          <a:xfrm>
            <a:off x="1134487" y="3629876"/>
            <a:ext cx="1981200" cy="796925"/>
            <a:chOff x="1403" y="3694"/>
            <a:chExt cx="2069" cy="304"/>
          </a:xfrm>
        </p:grpSpPr>
        <p:sp>
          <p:nvSpPr>
            <p:cNvPr id="19" name="Oval 29">
              <a:extLst>
                <a:ext uri="{FF2B5EF4-FFF2-40B4-BE49-F238E27FC236}">
                  <a16:creationId xmlns:a16="http://schemas.microsoft.com/office/drawing/2014/main" id="{C7C900F4-855D-4D14-861C-870961C5A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704"/>
              <a:ext cx="506" cy="98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Oval 30">
              <a:extLst>
                <a:ext uri="{FF2B5EF4-FFF2-40B4-BE49-F238E27FC236}">
                  <a16:creationId xmlns:a16="http://schemas.microsoft.com/office/drawing/2014/main" id="{32C533E5-173B-42A0-83AE-8055C3509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3694"/>
              <a:ext cx="413" cy="79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31">
              <a:extLst>
                <a:ext uri="{FF2B5EF4-FFF2-40B4-BE49-F238E27FC236}">
                  <a16:creationId xmlns:a16="http://schemas.microsoft.com/office/drawing/2014/main" id="{AB7EFE65-924A-457E-BFAA-46B1BD3CB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8" y="3778"/>
              <a:ext cx="644" cy="126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14DD2CA7-3ED8-43C7-93F1-F03C423E4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834"/>
              <a:ext cx="736" cy="145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Oval 33">
              <a:extLst>
                <a:ext uri="{FF2B5EF4-FFF2-40B4-BE49-F238E27FC236}">
                  <a16:creationId xmlns:a16="http://schemas.microsoft.com/office/drawing/2014/main" id="{3C211D93-E186-4F9D-9980-6DBCFE4AC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3853"/>
              <a:ext cx="551" cy="107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34">
              <a:extLst>
                <a:ext uri="{FF2B5EF4-FFF2-40B4-BE49-F238E27FC236}">
                  <a16:creationId xmlns:a16="http://schemas.microsoft.com/office/drawing/2014/main" id="{E265A185-CF0D-478C-A165-15FA6EF0A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3862"/>
              <a:ext cx="413" cy="79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Oval 35">
              <a:extLst>
                <a:ext uri="{FF2B5EF4-FFF2-40B4-BE49-F238E27FC236}">
                  <a16:creationId xmlns:a16="http://schemas.microsoft.com/office/drawing/2014/main" id="{F8A1125F-8DFD-466C-8FAD-A9449DF7D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" y="3797"/>
              <a:ext cx="413" cy="79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Oval 36">
              <a:extLst>
                <a:ext uri="{FF2B5EF4-FFF2-40B4-BE49-F238E27FC236}">
                  <a16:creationId xmlns:a16="http://schemas.microsoft.com/office/drawing/2014/main" id="{0A3F687D-E4E5-48F1-A899-B8BCC9A9F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722"/>
              <a:ext cx="644" cy="126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Oval 37">
              <a:extLst>
                <a:ext uri="{FF2B5EF4-FFF2-40B4-BE49-F238E27FC236}">
                  <a16:creationId xmlns:a16="http://schemas.microsoft.com/office/drawing/2014/main" id="{12153490-E05C-4411-B594-895BE8C63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3872"/>
              <a:ext cx="643" cy="126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Oval 38">
              <a:extLst>
                <a:ext uri="{FF2B5EF4-FFF2-40B4-BE49-F238E27FC236}">
                  <a16:creationId xmlns:a16="http://schemas.microsoft.com/office/drawing/2014/main" id="{F13E3872-1810-4C4F-94C9-1C873815C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3732"/>
              <a:ext cx="506" cy="97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Oval 39">
              <a:extLst>
                <a:ext uri="{FF2B5EF4-FFF2-40B4-BE49-F238E27FC236}">
                  <a16:creationId xmlns:a16="http://schemas.microsoft.com/office/drawing/2014/main" id="{429EB715-D3BF-4BBA-8568-66EBA6FCB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" y="3694"/>
              <a:ext cx="459" cy="89"/>
            </a:xfrm>
            <a:prstGeom prst="ellipse">
              <a:avLst/>
            </a:pr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Freeform 40">
              <a:extLst>
                <a:ext uri="{FF2B5EF4-FFF2-40B4-BE49-F238E27FC236}">
                  <a16:creationId xmlns:a16="http://schemas.microsoft.com/office/drawing/2014/main" id="{5B33468B-DCD6-4E56-AE66-9FB853FC7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3717"/>
              <a:ext cx="1785" cy="243"/>
            </a:xfrm>
            <a:custGeom>
              <a:avLst/>
              <a:gdLst>
                <a:gd name="T0" fmla="*/ 1100 w 3570"/>
                <a:gd name="T1" fmla="*/ 171 h 1705"/>
                <a:gd name="T2" fmla="*/ 1250 w 3570"/>
                <a:gd name="T3" fmla="*/ 50 h 1705"/>
                <a:gd name="T4" fmla="*/ 1917 w 3570"/>
                <a:gd name="T5" fmla="*/ 57 h 1705"/>
                <a:gd name="T6" fmla="*/ 2388 w 3570"/>
                <a:gd name="T7" fmla="*/ 0 h 1705"/>
                <a:gd name="T8" fmla="*/ 2984 w 3570"/>
                <a:gd name="T9" fmla="*/ 205 h 1705"/>
                <a:gd name="T10" fmla="*/ 3282 w 3570"/>
                <a:gd name="T11" fmla="*/ 147 h 1705"/>
                <a:gd name="T12" fmla="*/ 3443 w 3570"/>
                <a:gd name="T13" fmla="*/ 171 h 1705"/>
                <a:gd name="T14" fmla="*/ 3477 w 3570"/>
                <a:gd name="T15" fmla="*/ 677 h 1705"/>
                <a:gd name="T16" fmla="*/ 3570 w 3570"/>
                <a:gd name="T17" fmla="*/ 758 h 1705"/>
                <a:gd name="T18" fmla="*/ 3294 w 3570"/>
                <a:gd name="T19" fmla="*/ 1150 h 1705"/>
                <a:gd name="T20" fmla="*/ 2995 w 3570"/>
                <a:gd name="T21" fmla="*/ 881 h 1705"/>
                <a:gd name="T22" fmla="*/ 2914 w 3570"/>
                <a:gd name="T23" fmla="*/ 1020 h 1705"/>
                <a:gd name="T24" fmla="*/ 2491 w 3570"/>
                <a:gd name="T25" fmla="*/ 1557 h 1705"/>
                <a:gd name="T26" fmla="*/ 1078 w 3570"/>
                <a:gd name="T27" fmla="*/ 1705 h 1705"/>
                <a:gd name="T28" fmla="*/ 344 w 3570"/>
                <a:gd name="T29" fmla="*/ 1599 h 1705"/>
                <a:gd name="T30" fmla="*/ 114 w 3570"/>
                <a:gd name="T31" fmla="*/ 1264 h 1705"/>
                <a:gd name="T32" fmla="*/ 114 w 3570"/>
                <a:gd name="T33" fmla="*/ 921 h 1705"/>
                <a:gd name="T34" fmla="*/ 0 w 3570"/>
                <a:gd name="T35" fmla="*/ 636 h 1705"/>
                <a:gd name="T36" fmla="*/ 1100 w 3570"/>
                <a:gd name="T37" fmla="*/ 171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70" h="1705">
                  <a:moveTo>
                    <a:pt x="1100" y="171"/>
                  </a:moveTo>
                  <a:lnTo>
                    <a:pt x="1250" y="50"/>
                  </a:lnTo>
                  <a:lnTo>
                    <a:pt x="1917" y="57"/>
                  </a:lnTo>
                  <a:lnTo>
                    <a:pt x="2388" y="0"/>
                  </a:lnTo>
                  <a:lnTo>
                    <a:pt x="2984" y="205"/>
                  </a:lnTo>
                  <a:lnTo>
                    <a:pt x="3282" y="147"/>
                  </a:lnTo>
                  <a:lnTo>
                    <a:pt x="3443" y="171"/>
                  </a:lnTo>
                  <a:lnTo>
                    <a:pt x="3477" y="677"/>
                  </a:lnTo>
                  <a:lnTo>
                    <a:pt x="3570" y="758"/>
                  </a:lnTo>
                  <a:lnTo>
                    <a:pt x="3294" y="1150"/>
                  </a:lnTo>
                  <a:lnTo>
                    <a:pt x="2995" y="881"/>
                  </a:lnTo>
                  <a:lnTo>
                    <a:pt x="2914" y="1020"/>
                  </a:lnTo>
                  <a:lnTo>
                    <a:pt x="2491" y="1557"/>
                  </a:lnTo>
                  <a:lnTo>
                    <a:pt x="1078" y="1705"/>
                  </a:lnTo>
                  <a:lnTo>
                    <a:pt x="344" y="1599"/>
                  </a:lnTo>
                  <a:lnTo>
                    <a:pt x="114" y="1264"/>
                  </a:lnTo>
                  <a:lnTo>
                    <a:pt x="114" y="921"/>
                  </a:lnTo>
                  <a:lnTo>
                    <a:pt x="0" y="636"/>
                  </a:lnTo>
                  <a:lnTo>
                    <a:pt x="1100" y="171"/>
                  </a:lnTo>
                  <a:close/>
                </a:path>
              </a:pathLst>
            </a:custGeom>
            <a:gradFill rotWithShape="0">
              <a:gsLst>
                <a:gs pos="0">
                  <a:srgbClr val="DCDCDC">
                    <a:gamma/>
                    <a:tint val="0"/>
                    <a:invGamma/>
                  </a:srgbClr>
                </a:gs>
                <a:gs pos="100000">
                  <a:srgbClr val="DCDCDC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 Box 41">
            <a:extLst>
              <a:ext uri="{FF2B5EF4-FFF2-40B4-BE49-F238E27FC236}">
                <a16:creationId xmlns:a16="http://schemas.microsoft.com/office/drawing/2014/main" id="{016F86DE-EDFB-47F8-8D1C-936C7455D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552" y="3852153"/>
            <a:ext cx="655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b="1" dirty="0"/>
              <a:t>LAN</a:t>
            </a:r>
          </a:p>
        </p:txBody>
      </p:sp>
      <p:sp>
        <p:nvSpPr>
          <p:cNvPr id="32" name="Rectangle 42">
            <a:extLst>
              <a:ext uri="{FF2B5EF4-FFF2-40B4-BE49-F238E27FC236}">
                <a16:creationId xmlns:a16="http://schemas.microsoft.com/office/drawing/2014/main" id="{A1D14319-5CDB-43FA-AB53-EC3F255D58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75510" y="5580226"/>
            <a:ext cx="925777" cy="10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 dirty="0">
                <a:latin typeface="HY울릉도M" pitchFamily="18" charset="-127"/>
                <a:ea typeface="HY울릉도M" pitchFamily="18" charset="-127"/>
              </a:rPr>
              <a:t>사내 클라이언트</a:t>
            </a:r>
          </a:p>
        </p:txBody>
      </p:sp>
      <p:graphicFrame>
        <p:nvGraphicFramePr>
          <p:cNvPr id="33" name="Object 43">
            <a:extLst>
              <a:ext uri="{FF2B5EF4-FFF2-40B4-BE49-F238E27FC236}">
                <a16:creationId xmlns:a16="http://schemas.microsoft.com/office/drawing/2014/main" id="{392852FE-481A-4A9C-8DA5-D78F35FDD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229230"/>
              </p:ext>
            </p:extLst>
          </p:nvPr>
        </p:nvGraphicFramePr>
        <p:xfrm>
          <a:off x="2537837" y="5128476"/>
          <a:ext cx="4159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클립" r:id="rId6" imgW="1761480" imgH="1584360" progId="MS_ClipArt_Gallery.2">
                  <p:embed/>
                </p:oleObj>
              </mc:Choice>
              <mc:Fallback>
                <p:oleObj name="클립" r:id="rId6" imgW="1761480" imgH="1584360" progId="MS_ClipArt_Gallery.2">
                  <p:embed/>
                  <p:pic>
                    <p:nvPicPr>
                      <p:cNvPr id="38" name="Object 43">
                        <a:extLst>
                          <a:ext uri="{FF2B5EF4-FFF2-40B4-BE49-F238E27FC236}">
                            <a16:creationId xmlns:a16="http://schemas.microsoft.com/office/drawing/2014/main" id="{3CAC7027-1ED9-4F79-84B1-866EF23C31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2537837" y="5128476"/>
                        <a:ext cx="4159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44">
            <a:extLst>
              <a:ext uri="{FF2B5EF4-FFF2-40B4-BE49-F238E27FC236}">
                <a16:creationId xmlns:a16="http://schemas.microsoft.com/office/drawing/2014/main" id="{0B1BA4E7-0738-49D4-91AB-B0E098921E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8013" y="5587263"/>
            <a:ext cx="415925" cy="103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 dirty="0">
                <a:latin typeface="HY울릉도M" pitchFamily="18" charset="-127"/>
                <a:ea typeface="HY울릉도M" pitchFamily="18" charset="-127"/>
              </a:rPr>
              <a:t>직원</a:t>
            </a:r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1B1E5D32-B15F-4DDD-992B-57CDFC9A03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03423" y="3599714"/>
            <a:ext cx="53340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900"/>
              <a:t>Router</a:t>
            </a:r>
          </a:p>
        </p:txBody>
      </p:sp>
      <p:grpSp>
        <p:nvGrpSpPr>
          <p:cNvPr id="36" name="Group 46">
            <a:extLst>
              <a:ext uri="{FF2B5EF4-FFF2-40B4-BE49-F238E27FC236}">
                <a16:creationId xmlns:a16="http://schemas.microsoft.com/office/drawing/2014/main" id="{0B95AF6D-69AF-4015-B09A-F70DBD656D85}"/>
              </a:ext>
            </a:extLst>
          </p:cNvPr>
          <p:cNvGrpSpPr>
            <a:grpSpLocks/>
          </p:cNvGrpSpPr>
          <p:nvPr/>
        </p:nvGrpSpPr>
        <p:grpSpPr bwMode="auto">
          <a:xfrm>
            <a:off x="6489098" y="3799739"/>
            <a:ext cx="441325" cy="228600"/>
            <a:chOff x="2880" y="3312"/>
            <a:chExt cx="219" cy="107"/>
          </a:xfrm>
        </p:grpSpPr>
        <p:grpSp>
          <p:nvGrpSpPr>
            <p:cNvPr id="37" name="Group 47">
              <a:extLst>
                <a:ext uri="{FF2B5EF4-FFF2-40B4-BE49-F238E27FC236}">
                  <a16:creationId xmlns:a16="http://schemas.microsoft.com/office/drawing/2014/main" id="{C05D2F37-5983-423D-B83A-72B6D9AFC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4" y="3317"/>
              <a:ext cx="215" cy="102"/>
              <a:chOff x="1498" y="5193"/>
              <a:chExt cx="215" cy="89"/>
            </a:xfrm>
          </p:grpSpPr>
          <p:sp>
            <p:nvSpPr>
              <p:cNvPr id="52" name="Rectangle 48">
                <a:extLst>
                  <a:ext uri="{FF2B5EF4-FFF2-40B4-BE49-F238E27FC236}">
                    <a16:creationId xmlns:a16="http://schemas.microsoft.com/office/drawing/2014/main" id="{0D124EE2-9439-428C-AF54-6F500E313E0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98" y="5222"/>
                <a:ext cx="215" cy="3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3" name="Oval 49">
                <a:extLst>
                  <a:ext uri="{FF2B5EF4-FFF2-40B4-BE49-F238E27FC236}">
                    <a16:creationId xmlns:a16="http://schemas.microsoft.com/office/drawing/2014/main" id="{0275BCD4-5199-47A8-B092-DB919310892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01" y="5225"/>
                <a:ext cx="212" cy="5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Oval 50">
                <a:extLst>
                  <a:ext uri="{FF2B5EF4-FFF2-40B4-BE49-F238E27FC236}">
                    <a16:creationId xmlns:a16="http://schemas.microsoft.com/office/drawing/2014/main" id="{1E93EEFD-EB9A-4635-8938-C54AC4C4AE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01" y="5193"/>
                <a:ext cx="212" cy="5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8" name="Rectangle 51">
              <a:extLst>
                <a:ext uri="{FF2B5EF4-FFF2-40B4-BE49-F238E27FC236}">
                  <a16:creationId xmlns:a16="http://schemas.microsoft.com/office/drawing/2014/main" id="{CD71186A-6AD3-466C-8654-ED99C99625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80" y="3344"/>
              <a:ext cx="215" cy="37"/>
            </a:xfrm>
            <a:prstGeom prst="rect">
              <a:avLst/>
            </a:prstGeom>
            <a:solidFill>
              <a:srgbClr val="004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Oval 52">
              <a:extLst>
                <a:ext uri="{FF2B5EF4-FFF2-40B4-BE49-F238E27FC236}">
                  <a16:creationId xmlns:a16="http://schemas.microsoft.com/office/drawing/2014/main" id="{DFCE9C92-EB66-487A-92BF-F8D7A93866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82" y="3348"/>
              <a:ext cx="213" cy="65"/>
            </a:xfrm>
            <a:prstGeom prst="ellipse">
              <a:avLst/>
            </a:prstGeom>
            <a:solidFill>
              <a:srgbClr val="004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Oval 53">
              <a:extLst>
                <a:ext uri="{FF2B5EF4-FFF2-40B4-BE49-F238E27FC236}">
                  <a16:creationId xmlns:a16="http://schemas.microsoft.com/office/drawing/2014/main" id="{A55DCDE1-CC3E-4297-B03D-6550A7BB8C3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82" y="3312"/>
              <a:ext cx="213" cy="66"/>
            </a:xfrm>
            <a:prstGeom prst="ellipse">
              <a:avLst/>
            </a:prstGeom>
            <a:solidFill>
              <a:srgbClr val="558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1" name="Group 54">
              <a:extLst>
                <a:ext uri="{FF2B5EF4-FFF2-40B4-BE49-F238E27FC236}">
                  <a16:creationId xmlns:a16="http://schemas.microsoft.com/office/drawing/2014/main" id="{19BD5D9C-2E2A-49EC-8923-2942CB1F71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2" y="3320"/>
              <a:ext cx="134" cy="48"/>
              <a:chOff x="1536" y="5196"/>
              <a:chExt cx="134" cy="42"/>
            </a:xfrm>
          </p:grpSpPr>
          <p:grpSp>
            <p:nvGrpSpPr>
              <p:cNvPr id="42" name="Group 55">
                <a:extLst>
                  <a:ext uri="{FF2B5EF4-FFF2-40B4-BE49-F238E27FC236}">
                    <a16:creationId xmlns:a16="http://schemas.microsoft.com/office/drawing/2014/main" id="{31393D16-F94B-463A-BB49-E322FB3EDE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5196"/>
                <a:ext cx="134" cy="42"/>
                <a:chOff x="1536" y="5196"/>
                <a:chExt cx="134" cy="42"/>
              </a:xfrm>
            </p:grpSpPr>
            <p:sp>
              <p:nvSpPr>
                <p:cNvPr id="48" name="Freeform 56">
                  <a:extLst>
                    <a:ext uri="{FF2B5EF4-FFF2-40B4-BE49-F238E27FC236}">
                      <a16:creationId xmlns:a16="http://schemas.microsoft.com/office/drawing/2014/main" id="{F82B4E6B-5AEF-4752-9409-F04FF44C6D3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36" y="5196"/>
                  <a:ext cx="61" cy="17"/>
                </a:xfrm>
                <a:custGeom>
                  <a:avLst/>
                  <a:gdLst>
                    <a:gd name="T0" fmla="*/ 0 w 61"/>
                    <a:gd name="T1" fmla="*/ 3 h 17"/>
                    <a:gd name="T2" fmla="*/ 15 w 61"/>
                    <a:gd name="T3" fmla="*/ 0 h 17"/>
                    <a:gd name="T4" fmla="*/ 46 w 61"/>
                    <a:gd name="T5" fmla="*/ 9 h 17"/>
                    <a:gd name="T6" fmla="*/ 61 w 61"/>
                    <a:gd name="T7" fmla="*/ 6 h 17"/>
                    <a:gd name="T8" fmla="*/ 56 w 61"/>
                    <a:gd name="T9" fmla="*/ 17 h 17"/>
                    <a:gd name="T10" fmla="*/ 15 w 61"/>
                    <a:gd name="T11" fmla="*/ 17 h 17"/>
                    <a:gd name="T12" fmla="*/ 33 w 61"/>
                    <a:gd name="T13" fmla="*/ 14 h 17"/>
                    <a:gd name="T14" fmla="*/ 0 w 61"/>
                    <a:gd name="T15" fmla="*/ 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1" h="17">
                      <a:moveTo>
                        <a:pt x="0" y="3"/>
                      </a:moveTo>
                      <a:lnTo>
                        <a:pt x="15" y="0"/>
                      </a:lnTo>
                      <a:lnTo>
                        <a:pt x="46" y="9"/>
                      </a:lnTo>
                      <a:lnTo>
                        <a:pt x="61" y="6"/>
                      </a:lnTo>
                      <a:lnTo>
                        <a:pt x="56" y="17"/>
                      </a:lnTo>
                      <a:lnTo>
                        <a:pt x="15" y="17"/>
                      </a:lnTo>
                      <a:lnTo>
                        <a:pt x="33" y="14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" name="Freeform 57">
                  <a:extLst>
                    <a:ext uri="{FF2B5EF4-FFF2-40B4-BE49-F238E27FC236}">
                      <a16:creationId xmlns:a16="http://schemas.microsoft.com/office/drawing/2014/main" id="{56D93BCE-97B6-44AD-8F71-110CD9D2894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36" y="5196"/>
                  <a:ext cx="61" cy="17"/>
                </a:xfrm>
                <a:custGeom>
                  <a:avLst/>
                  <a:gdLst>
                    <a:gd name="T0" fmla="*/ 0 w 61"/>
                    <a:gd name="T1" fmla="*/ 3 h 17"/>
                    <a:gd name="T2" fmla="*/ 15 w 61"/>
                    <a:gd name="T3" fmla="*/ 0 h 17"/>
                    <a:gd name="T4" fmla="*/ 46 w 61"/>
                    <a:gd name="T5" fmla="*/ 9 h 17"/>
                    <a:gd name="T6" fmla="*/ 61 w 61"/>
                    <a:gd name="T7" fmla="*/ 6 h 17"/>
                    <a:gd name="T8" fmla="*/ 56 w 61"/>
                    <a:gd name="T9" fmla="*/ 17 h 17"/>
                    <a:gd name="T10" fmla="*/ 15 w 61"/>
                    <a:gd name="T11" fmla="*/ 17 h 17"/>
                    <a:gd name="T12" fmla="*/ 33 w 61"/>
                    <a:gd name="T13" fmla="*/ 14 h 17"/>
                    <a:gd name="T14" fmla="*/ 0 w 61"/>
                    <a:gd name="T15" fmla="*/ 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1" h="17">
                      <a:moveTo>
                        <a:pt x="0" y="3"/>
                      </a:moveTo>
                      <a:lnTo>
                        <a:pt x="15" y="0"/>
                      </a:lnTo>
                      <a:lnTo>
                        <a:pt x="46" y="9"/>
                      </a:lnTo>
                      <a:lnTo>
                        <a:pt x="61" y="6"/>
                      </a:lnTo>
                      <a:lnTo>
                        <a:pt x="56" y="17"/>
                      </a:lnTo>
                      <a:lnTo>
                        <a:pt x="15" y="17"/>
                      </a:lnTo>
                      <a:lnTo>
                        <a:pt x="33" y="14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0" name="Freeform 58">
                  <a:extLst>
                    <a:ext uri="{FF2B5EF4-FFF2-40B4-BE49-F238E27FC236}">
                      <a16:creationId xmlns:a16="http://schemas.microsoft.com/office/drawing/2014/main" id="{7CD22AE3-3743-4916-97B7-A2CB53181CA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07" y="5223"/>
                  <a:ext cx="63" cy="15"/>
                </a:xfrm>
                <a:custGeom>
                  <a:avLst/>
                  <a:gdLst>
                    <a:gd name="T0" fmla="*/ 63 w 63"/>
                    <a:gd name="T1" fmla="*/ 12 h 15"/>
                    <a:gd name="T2" fmla="*/ 48 w 63"/>
                    <a:gd name="T3" fmla="*/ 15 h 15"/>
                    <a:gd name="T4" fmla="*/ 15 w 63"/>
                    <a:gd name="T5" fmla="*/ 8 h 15"/>
                    <a:gd name="T6" fmla="*/ 0 w 63"/>
                    <a:gd name="T7" fmla="*/ 12 h 15"/>
                    <a:gd name="T8" fmla="*/ 4 w 63"/>
                    <a:gd name="T9" fmla="*/ 0 h 15"/>
                    <a:gd name="T10" fmla="*/ 48 w 63"/>
                    <a:gd name="T11" fmla="*/ 0 h 15"/>
                    <a:gd name="T12" fmla="*/ 31 w 63"/>
                    <a:gd name="T13" fmla="*/ 5 h 15"/>
                    <a:gd name="T14" fmla="*/ 63 w 63"/>
                    <a:gd name="T15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3" h="15">
                      <a:moveTo>
                        <a:pt x="63" y="12"/>
                      </a:moveTo>
                      <a:lnTo>
                        <a:pt x="48" y="15"/>
                      </a:lnTo>
                      <a:lnTo>
                        <a:pt x="15" y="8"/>
                      </a:lnTo>
                      <a:lnTo>
                        <a:pt x="0" y="12"/>
                      </a:lnTo>
                      <a:lnTo>
                        <a:pt x="4" y="0"/>
                      </a:lnTo>
                      <a:lnTo>
                        <a:pt x="48" y="0"/>
                      </a:lnTo>
                      <a:lnTo>
                        <a:pt x="31" y="5"/>
                      </a:lnTo>
                      <a:lnTo>
                        <a:pt x="63" y="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" name="Freeform 59">
                  <a:extLst>
                    <a:ext uri="{FF2B5EF4-FFF2-40B4-BE49-F238E27FC236}">
                      <a16:creationId xmlns:a16="http://schemas.microsoft.com/office/drawing/2014/main" id="{E7AADB52-3AA5-445B-BDEE-4C137C8DD45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07" y="5223"/>
                  <a:ext cx="63" cy="15"/>
                </a:xfrm>
                <a:custGeom>
                  <a:avLst/>
                  <a:gdLst>
                    <a:gd name="T0" fmla="*/ 63 w 63"/>
                    <a:gd name="T1" fmla="*/ 12 h 15"/>
                    <a:gd name="T2" fmla="*/ 48 w 63"/>
                    <a:gd name="T3" fmla="*/ 15 h 15"/>
                    <a:gd name="T4" fmla="*/ 15 w 63"/>
                    <a:gd name="T5" fmla="*/ 8 h 15"/>
                    <a:gd name="T6" fmla="*/ 0 w 63"/>
                    <a:gd name="T7" fmla="*/ 12 h 15"/>
                    <a:gd name="T8" fmla="*/ 4 w 63"/>
                    <a:gd name="T9" fmla="*/ 0 h 15"/>
                    <a:gd name="T10" fmla="*/ 48 w 63"/>
                    <a:gd name="T11" fmla="*/ 0 h 15"/>
                    <a:gd name="T12" fmla="*/ 31 w 63"/>
                    <a:gd name="T13" fmla="*/ 5 h 15"/>
                    <a:gd name="T14" fmla="*/ 63 w 63"/>
                    <a:gd name="T15" fmla="*/ 1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3" h="15">
                      <a:moveTo>
                        <a:pt x="63" y="12"/>
                      </a:moveTo>
                      <a:lnTo>
                        <a:pt x="48" y="15"/>
                      </a:lnTo>
                      <a:lnTo>
                        <a:pt x="15" y="8"/>
                      </a:lnTo>
                      <a:lnTo>
                        <a:pt x="0" y="12"/>
                      </a:lnTo>
                      <a:lnTo>
                        <a:pt x="4" y="0"/>
                      </a:lnTo>
                      <a:lnTo>
                        <a:pt x="48" y="0"/>
                      </a:lnTo>
                      <a:lnTo>
                        <a:pt x="31" y="5"/>
                      </a:lnTo>
                      <a:lnTo>
                        <a:pt x="63" y="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3" name="Group 60">
                <a:extLst>
                  <a:ext uri="{FF2B5EF4-FFF2-40B4-BE49-F238E27FC236}">
                    <a16:creationId xmlns:a16="http://schemas.microsoft.com/office/drawing/2014/main" id="{FA645254-1884-4114-8AD8-AA116D3637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0" y="5196"/>
                <a:ext cx="125" cy="42"/>
                <a:chOff x="1540" y="5196"/>
                <a:chExt cx="125" cy="42"/>
              </a:xfrm>
            </p:grpSpPr>
            <p:sp>
              <p:nvSpPr>
                <p:cNvPr id="44" name="Freeform 61">
                  <a:extLst>
                    <a:ext uri="{FF2B5EF4-FFF2-40B4-BE49-F238E27FC236}">
                      <a16:creationId xmlns:a16="http://schemas.microsoft.com/office/drawing/2014/main" id="{9ED4EC6F-64B1-47C2-9279-4BED1237D50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03" y="5196"/>
                  <a:ext cx="62" cy="17"/>
                </a:xfrm>
                <a:custGeom>
                  <a:avLst/>
                  <a:gdLst>
                    <a:gd name="T0" fmla="*/ 0 w 62"/>
                    <a:gd name="T1" fmla="*/ 14 h 17"/>
                    <a:gd name="T2" fmla="*/ 14 w 62"/>
                    <a:gd name="T3" fmla="*/ 17 h 17"/>
                    <a:gd name="T4" fmla="*/ 46 w 62"/>
                    <a:gd name="T5" fmla="*/ 6 h 17"/>
                    <a:gd name="T6" fmla="*/ 62 w 62"/>
                    <a:gd name="T7" fmla="*/ 9 h 17"/>
                    <a:gd name="T8" fmla="*/ 56 w 62"/>
                    <a:gd name="T9" fmla="*/ 0 h 17"/>
                    <a:gd name="T10" fmla="*/ 14 w 62"/>
                    <a:gd name="T11" fmla="*/ 0 h 17"/>
                    <a:gd name="T12" fmla="*/ 35 w 62"/>
                    <a:gd name="T13" fmla="*/ 3 h 17"/>
                    <a:gd name="T14" fmla="*/ 0 w 62"/>
                    <a:gd name="T15" fmla="*/ 1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2" h="17">
                      <a:moveTo>
                        <a:pt x="0" y="14"/>
                      </a:moveTo>
                      <a:lnTo>
                        <a:pt x="14" y="17"/>
                      </a:lnTo>
                      <a:lnTo>
                        <a:pt x="46" y="6"/>
                      </a:lnTo>
                      <a:lnTo>
                        <a:pt x="62" y="9"/>
                      </a:lnTo>
                      <a:lnTo>
                        <a:pt x="56" y="0"/>
                      </a:lnTo>
                      <a:lnTo>
                        <a:pt x="14" y="0"/>
                      </a:lnTo>
                      <a:lnTo>
                        <a:pt x="35" y="3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5" name="Freeform 62">
                  <a:extLst>
                    <a:ext uri="{FF2B5EF4-FFF2-40B4-BE49-F238E27FC236}">
                      <a16:creationId xmlns:a16="http://schemas.microsoft.com/office/drawing/2014/main" id="{14FA8AA0-A446-439E-8295-3984DD4069F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03" y="5196"/>
                  <a:ext cx="62" cy="17"/>
                </a:xfrm>
                <a:custGeom>
                  <a:avLst/>
                  <a:gdLst>
                    <a:gd name="T0" fmla="*/ 0 w 62"/>
                    <a:gd name="T1" fmla="*/ 14 h 17"/>
                    <a:gd name="T2" fmla="*/ 14 w 62"/>
                    <a:gd name="T3" fmla="*/ 17 h 17"/>
                    <a:gd name="T4" fmla="*/ 46 w 62"/>
                    <a:gd name="T5" fmla="*/ 6 h 17"/>
                    <a:gd name="T6" fmla="*/ 62 w 62"/>
                    <a:gd name="T7" fmla="*/ 9 h 17"/>
                    <a:gd name="T8" fmla="*/ 56 w 62"/>
                    <a:gd name="T9" fmla="*/ 0 h 17"/>
                    <a:gd name="T10" fmla="*/ 14 w 62"/>
                    <a:gd name="T11" fmla="*/ 0 h 17"/>
                    <a:gd name="T12" fmla="*/ 35 w 62"/>
                    <a:gd name="T13" fmla="*/ 3 h 17"/>
                    <a:gd name="T14" fmla="*/ 0 w 62"/>
                    <a:gd name="T15" fmla="*/ 1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2" h="17">
                      <a:moveTo>
                        <a:pt x="0" y="14"/>
                      </a:moveTo>
                      <a:lnTo>
                        <a:pt x="14" y="17"/>
                      </a:lnTo>
                      <a:lnTo>
                        <a:pt x="46" y="6"/>
                      </a:lnTo>
                      <a:lnTo>
                        <a:pt x="62" y="9"/>
                      </a:lnTo>
                      <a:lnTo>
                        <a:pt x="56" y="0"/>
                      </a:lnTo>
                      <a:lnTo>
                        <a:pt x="14" y="0"/>
                      </a:lnTo>
                      <a:lnTo>
                        <a:pt x="35" y="3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6" name="Freeform 63">
                  <a:extLst>
                    <a:ext uri="{FF2B5EF4-FFF2-40B4-BE49-F238E27FC236}">
                      <a16:creationId xmlns:a16="http://schemas.microsoft.com/office/drawing/2014/main" id="{C137EF0F-0238-440C-90DD-4BB8BCF966F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40" y="5220"/>
                  <a:ext cx="61" cy="18"/>
                </a:xfrm>
                <a:custGeom>
                  <a:avLst/>
                  <a:gdLst>
                    <a:gd name="T0" fmla="*/ 61 w 61"/>
                    <a:gd name="T1" fmla="*/ 3 h 18"/>
                    <a:gd name="T2" fmla="*/ 46 w 61"/>
                    <a:gd name="T3" fmla="*/ 0 h 18"/>
                    <a:gd name="T4" fmla="*/ 15 w 61"/>
                    <a:gd name="T5" fmla="*/ 11 h 18"/>
                    <a:gd name="T6" fmla="*/ 0 w 61"/>
                    <a:gd name="T7" fmla="*/ 8 h 18"/>
                    <a:gd name="T8" fmla="*/ 4 w 61"/>
                    <a:gd name="T9" fmla="*/ 18 h 18"/>
                    <a:gd name="T10" fmla="*/ 46 w 61"/>
                    <a:gd name="T11" fmla="*/ 18 h 18"/>
                    <a:gd name="T12" fmla="*/ 27 w 61"/>
                    <a:gd name="T13" fmla="*/ 15 h 18"/>
                    <a:gd name="T14" fmla="*/ 61 w 61"/>
                    <a:gd name="T15" fmla="*/ 3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1" h="18">
                      <a:moveTo>
                        <a:pt x="61" y="3"/>
                      </a:moveTo>
                      <a:lnTo>
                        <a:pt x="46" y="0"/>
                      </a:lnTo>
                      <a:lnTo>
                        <a:pt x="15" y="11"/>
                      </a:lnTo>
                      <a:lnTo>
                        <a:pt x="0" y="8"/>
                      </a:lnTo>
                      <a:lnTo>
                        <a:pt x="4" y="18"/>
                      </a:lnTo>
                      <a:lnTo>
                        <a:pt x="46" y="18"/>
                      </a:lnTo>
                      <a:lnTo>
                        <a:pt x="27" y="15"/>
                      </a:lnTo>
                      <a:lnTo>
                        <a:pt x="61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Freeform 64">
                  <a:extLst>
                    <a:ext uri="{FF2B5EF4-FFF2-40B4-BE49-F238E27FC236}">
                      <a16:creationId xmlns:a16="http://schemas.microsoft.com/office/drawing/2014/main" id="{5E0A2F0D-E5F1-4C0F-AE04-5FE2DE35BC6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40" y="5220"/>
                  <a:ext cx="61" cy="18"/>
                </a:xfrm>
                <a:custGeom>
                  <a:avLst/>
                  <a:gdLst>
                    <a:gd name="T0" fmla="*/ 61 w 61"/>
                    <a:gd name="T1" fmla="*/ 3 h 18"/>
                    <a:gd name="T2" fmla="*/ 46 w 61"/>
                    <a:gd name="T3" fmla="*/ 0 h 18"/>
                    <a:gd name="T4" fmla="*/ 15 w 61"/>
                    <a:gd name="T5" fmla="*/ 11 h 18"/>
                    <a:gd name="T6" fmla="*/ 0 w 61"/>
                    <a:gd name="T7" fmla="*/ 8 h 18"/>
                    <a:gd name="T8" fmla="*/ 4 w 61"/>
                    <a:gd name="T9" fmla="*/ 18 h 18"/>
                    <a:gd name="T10" fmla="*/ 46 w 61"/>
                    <a:gd name="T11" fmla="*/ 18 h 18"/>
                    <a:gd name="T12" fmla="*/ 27 w 61"/>
                    <a:gd name="T13" fmla="*/ 15 h 18"/>
                    <a:gd name="T14" fmla="*/ 61 w 61"/>
                    <a:gd name="T15" fmla="*/ 3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1" h="18">
                      <a:moveTo>
                        <a:pt x="61" y="3"/>
                      </a:moveTo>
                      <a:lnTo>
                        <a:pt x="46" y="0"/>
                      </a:lnTo>
                      <a:lnTo>
                        <a:pt x="15" y="11"/>
                      </a:lnTo>
                      <a:lnTo>
                        <a:pt x="0" y="8"/>
                      </a:lnTo>
                      <a:lnTo>
                        <a:pt x="4" y="18"/>
                      </a:lnTo>
                      <a:lnTo>
                        <a:pt x="46" y="18"/>
                      </a:lnTo>
                      <a:lnTo>
                        <a:pt x="27" y="15"/>
                      </a:lnTo>
                      <a:lnTo>
                        <a:pt x="61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55" name="Freeform 65">
            <a:extLst>
              <a:ext uri="{FF2B5EF4-FFF2-40B4-BE49-F238E27FC236}">
                <a16:creationId xmlns:a16="http://schemas.microsoft.com/office/drawing/2014/main" id="{E474E0F7-CFE6-49DC-B673-D52475C16609}"/>
              </a:ext>
            </a:extLst>
          </p:cNvPr>
          <p:cNvSpPr>
            <a:spLocks/>
          </p:cNvSpPr>
          <p:nvPr/>
        </p:nvSpPr>
        <p:spPr bwMode="auto">
          <a:xfrm rot="18631102" flipH="1">
            <a:off x="5719161" y="4863364"/>
            <a:ext cx="446088" cy="935037"/>
          </a:xfrm>
          <a:custGeom>
            <a:avLst/>
            <a:gdLst>
              <a:gd name="T0" fmla="*/ 0 w 320"/>
              <a:gd name="T1" fmla="*/ 0 h 504"/>
              <a:gd name="T2" fmla="*/ 184 w 320"/>
              <a:gd name="T3" fmla="*/ 264 h 504"/>
              <a:gd name="T4" fmla="*/ 104 w 320"/>
              <a:gd name="T5" fmla="*/ 232 h 504"/>
              <a:gd name="T6" fmla="*/ 320 w 320"/>
              <a:gd name="T7" fmla="*/ 504 h 504"/>
              <a:gd name="T8" fmla="*/ 32 w 320"/>
              <a:gd name="T9" fmla="*/ 192 h 504"/>
              <a:gd name="T10" fmla="*/ 120 w 320"/>
              <a:gd name="T11" fmla="*/ 224 h 504"/>
              <a:gd name="T12" fmla="*/ 0 w 320"/>
              <a:gd name="T13" fmla="*/ 0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504">
                <a:moveTo>
                  <a:pt x="0" y="0"/>
                </a:moveTo>
                <a:lnTo>
                  <a:pt x="184" y="264"/>
                </a:lnTo>
                <a:lnTo>
                  <a:pt x="104" y="232"/>
                </a:lnTo>
                <a:lnTo>
                  <a:pt x="320" y="504"/>
                </a:lnTo>
                <a:lnTo>
                  <a:pt x="32" y="192"/>
                </a:lnTo>
                <a:lnTo>
                  <a:pt x="120" y="22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gamma/>
                  <a:tint val="0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6" name="Freeform 66">
            <a:extLst>
              <a:ext uri="{FF2B5EF4-FFF2-40B4-BE49-F238E27FC236}">
                <a16:creationId xmlns:a16="http://schemas.microsoft.com/office/drawing/2014/main" id="{FABCB597-28E0-42AC-831B-19DC648AFE03}"/>
              </a:ext>
            </a:extLst>
          </p:cNvPr>
          <p:cNvSpPr>
            <a:spLocks/>
          </p:cNvSpPr>
          <p:nvPr/>
        </p:nvSpPr>
        <p:spPr bwMode="auto">
          <a:xfrm rot="16322267" flipH="1">
            <a:off x="6183505" y="4565708"/>
            <a:ext cx="322262" cy="914400"/>
          </a:xfrm>
          <a:custGeom>
            <a:avLst/>
            <a:gdLst>
              <a:gd name="T0" fmla="*/ 0 w 320"/>
              <a:gd name="T1" fmla="*/ 0 h 504"/>
              <a:gd name="T2" fmla="*/ 184 w 320"/>
              <a:gd name="T3" fmla="*/ 264 h 504"/>
              <a:gd name="T4" fmla="*/ 104 w 320"/>
              <a:gd name="T5" fmla="*/ 232 h 504"/>
              <a:gd name="T6" fmla="*/ 320 w 320"/>
              <a:gd name="T7" fmla="*/ 504 h 504"/>
              <a:gd name="T8" fmla="*/ 32 w 320"/>
              <a:gd name="T9" fmla="*/ 192 h 504"/>
              <a:gd name="T10" fmla="*/ 120 w 320"/>
              <a:gd name="T11" fmla="*/ 224 h 504"/>
              <a:gd name="T12" fmla="*/ 0 w 320"/>
              <a:gd name="T13" fmla="*/ 0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504">
                <a:moveTo>
                  <a:pt x="0" y="0"/>
                </a:moveTo>
                <a:lnTo>
                  <a:pt x="184" y="264"/>
                </a:lnTo>
                <a:lnTo>
                  <a:pt x="104" y="232"/>
                </a:lnTo>
                <a:lnTo>
                  <a:pt x="320" y="504"/>
                </a:lnTo>
                <a:lnTo>
                  <a:pt x="32" y="192"/>
                </a:lnTo>
                <a:lnTo>
                  <a:pt x="120" y="22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gamma/>
                  <a:tint val="0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57" name="Object 67">
            <a:extLst>
              <a:ext uri="{FF2B5EF4-FFF2-40B4-BE49-F238E27FC236}">
                <a16:creationId xmlns:a16="http://schemas.microsoft.com/office/drawing/2014/main" id="{30DE4BA5-E600-4DCB-8566-3F240E4523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415473"/>
              </p:ext>
            </p:extLst>
          </p:nvPr>
        </p:nvGraphicFramePr>
        <p:xfrm>
          <a:off x="5203223" y="4528402"/>
          <a:ext cx="914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VISIO" r:id="rId8" imgW="1757160" imgH="677520" progId="Visio.Drawing.4">
                  <p:embed/>
                </p:oleObj>
              </mc:Choice>
              <mc:Fallback>
                <p:oleObj name="VISIO" r:id="rId8" imgW="1757160" imgH="677520" progId="Visio.Drawing.4">
                  <p:embed/>
                  <p:pic>
                    <p:nvPicPr>
                      <p:cNvPr id="62" name="Object 67">
                        <a:extLst>
                          <a:ext uri="{FF2B5EF4-FFF2-40B4-BE49-F238E27FC236}">
                            <a16:creationId xmlns:a16="http://schemas.microsoft.com/office/drawing/2014/main" id="{901DADA0-8373-47F8-9E50-FFAAB2C376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223" y="4528402"/>
                        <a:ext cx="914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68">
            <a:extLst>
              <a:ext uri="{FF2B5EF4-FFF2-40B4-BE49-F238E27FC236}">
                <a16:creationId xmlns:a16="http://schemas.microsoft.com/office/drawing/2014/main" id="{6FADA3F5-7696-4C7E-8295-D9489E53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8798" y="4614127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b="1" dirty="0"/>
              <a:t>인터넷</a:t>
            </a:r>
          </a:p>
        </p:txBody>
      </p:sp>
      <p:graphicFrame>
        <p:nvGraphicFramePr>
          <p:cNvPr id="59" name="Object 69">
            <a:extLst>
              <a:ext uri="{FF2B5EF4-FFF2-40B4-BE49-F238E27FC236}">
                <a16:creationId xmlns:a16="http://schemas.microsoft.com/office/drawing/2014/main" id="{E1823EEA-0F26-4306-9EC9-0E4547537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104025"/>
              </p:ext>
            </p:extLst>
          </p:nvPr>
        </p:nvGraphicFramePr>
        <p:xfrm>
          <a:off x="6803423" y="4514114"/>
          <a:ext cx="35401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클립" r:id="rId10" imgW="509400" imgH="514080" progId="MS_ClipArt_Gallery.2">
                  <p:embed/>
                </p:oleObj>
              </mc:Choice>
              <mc:Fallback>
                <p:oleObj name="클립" r:id="rId10" imgW="509400" imgH="514080" progId="MS_ClipArt_Gallery.2">
                  <p:embed/>
                  <p:pic>
                    <p:nvPicPr>
                      <p:cNvPr id="64" name="Object 69">
                        <a:extLst>
                          <a:ext uri="{FF2B5EF4-FFF2-40B4-BE49-F238E27FC236}">
                            <a16:creationId xmlns:a16="http://schemas.microsoft.com/office/drawing/2014/main" id="{4988D1B6-EE93-4D74-A9B5-E4175EB2290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423" y="4514114"/>
                        <a:ext cx="354013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70">
            <a:extLst>
              <a:ext uri="{FF2B5EF4-FFF2-40B4-BE49-F238E27FC236}">
                <a16:creationId xmlns:a16="http://schemas.microsoft.com/office/drawing/2014/main" id="{974725F9-84E9-452D-949F-624565D7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223" y="4923689"/>
            <a:ext cx="735013" cy="10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>
                <a:latin typeface="HY울릉도M" pitchFamily="18" charset="-127"/>
                <a:ea typeface="HY울릉도M" pitchFamily="18" charset="-127"/>
              </a:rPr>
              <a:t>일반 접속자</a:t>
            </a:r>
          </a:p>
        </p:txBody>
      </p:sp>
      <p:sp>
        <p:nvSpPr>
          <p:cNvPr id="61" name="Freeform 71">
            <a:extLst>
              <a:ext uri="{FF2B5EF4-FFF2-40B4-BE49-F238E27FC236}">
                <a16:creationId xmlns:a16="http://schemas.microsoft.com/office/drawing/2014/main" id="{C325BD74-85D9-4D7F-994D-23D20313F7CB}"/>
              </a:ext>
            </a:extLst>
          </p:cNvPr>
          <p:cNvSpPr>
            <a:spLocks/>
          </p:cNvSpPr>
          <p:nvPr/>
        </p:nvSpPr>
        <p:spPr bwMode="auto">
          <a:xfrm rot="14955331" flipH="1">
            <a:off x="6352573" y="4214077"/>
            <a:ext cx="273050" cy="933450"/>
          </a:xfrm>
          <a:custGeom>
            <a:avLst/>
            <a:gdLst>
              <a:gd name="T0" fmla="*/ 0 w 320"/>
              <a:gd name="T1" fmla="*/ 0 h 504"/>
              <a:gd name="T2" fmla="*/ 184 w 320"/>
              <a:gd name="T3" fmla="*/ 264 h 504"/>
              <a:gd name="T4" fmla="*/ 104 w 320"/>
              <a:gd name="T5" fmla="*/ 232 h 504"/>
              <a:gd name="T6" fmla="*/ 320 w 320"/>
              <a:gd name="T7" fmla="*/ 504 h 504"/>
              <a:gd name="T8" fmla="*/ 32 w 320"/>
              <a:gd name="T9" fmla="*/ 192 h 504"/>
              <a:gd name="T10" fmla="*/ 120 w 320"/>
              <a:gd name="T11" fmla="*/ 224 h 504"/>
              <a:gd name="T12" fmla="*/ 0 w 320"/>
              <a:gd name="T13" fmla="*/ 0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504">
                <a:moveTo>
                  <a:pt x="0" y="0"/>
                </a:moveTo>
                <a:lnTo>
                  <a:pt x="184" y="264"/>
                </a:lnTo>
                <a:lnTo>
                  <a:pt x="104" y="232"/>
                </a:lnTo>
                <a:lnTo>
                  <a:pt x="320" y="504"/>
                </a:lnTo>
                <a:lnTo>
                  <a:pt x="32" y="192"/>
                </a:lnTo>
                <a:lnTo>
                  <a:pt x="120" y="22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gamma/>
                  <a:tint val="0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62" name="Object 72">
            <a:extLst>
              <a:ext uri="{FF2B5EF4-FFF2-40B4-BE49-F238E27FC236}">
                <a16:creationId xmlns:a16="http://schemas.microsoft.com/office/drawing/2014/main" id="{828C225E-6B3C-4B1C-8F5A-B70B66DE90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108201"/>
              </p:ext>
            </p:extLst>
          </p:nvPr>
        </p:nvGraphicFramePr>
        <p:xfrm>
          <a:off x="6546248" y="5072914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클립" r:id="rId12" imgW="881280" imgH="719280" progId="MS_ClipArt_Gallery.2">
                  <p:embed/>
                </p:oleObj>
              </mc:Choice>
              <mc:Fallback>
                <p:oleObj name="클립" r:id="rId12" imgW="881280" imgH="719280" progId="MS_ClipArt_Gallery.2">
                  <p:embed/>
                  <p:pic>
                    <p:nvPicPr>
                      <p:cNvPr id="67" name="Object 72">
                        <a:extLst>
                          <a:ext uri="{FF2B5EF4-FFF2-40B4-BE49-F238E27FC236}">
                            <a16:creationId xmlns:a16="http://schemas.microsoft.com/office/drawing/2014/main" id="{978754FA-9E4B-48F7-BA25-D6180354B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248" y="5072914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73">
            <a:extLst>
              <a:ext uri="{FF2B5EF4-FFF2-40B4-BE49-F238E27FC236}">
                <a16:creationId xmlns:a16="http://schemas.microsoft.com/office/drawing/2014/main" id="{F2E026F0-2294-4235-B1A4-85A63A25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248" y="5509477"/>
            <a:ext cx="533400" cy="10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 dirty="0">
                <a:latin typeface="HY울릉도M" pitchFamily="18" charset="-127"/>
                <a:ea typeface="HY울릉도M" pitchFamily="18" charset="-127"/>
              </a:rPr>
              <a:t>학계</a:t>
            </a:r>
          </a:p>
        </p:txBody>
      </p:sp>
      <p:pic>
        <p:nvPicPr>
          <p:cNvPr id="64" name="Picture 74">
            <a:extLst>
              <a:ext uri="{FF2B5EF4-FFF2-40B4-BE49-F238E27FC236}">
                <a16:creationId xmlns:a16="http://schemas.microsoft.com/office/drawing/2014/main" id="{DD99D0A4-73E4-40B4-A71B-8255CD1DFB47}"/>
              </a:ext>
            </a:extLst>
          </p:cNvPr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98" y="5811102"/>
            <a:ext cx="388938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" name="Rectangle 75">
            <a:extLst>
              <a:ext uri="{FF2B5EF4-FFF2-40B4-BE49-F238E27FC236}">
                <a16:creationId xmlns:a16="http://schemas.microsoft.com/office/drawing/2014/main" id="{14E0FE29-468D-4A1F-9141-9D0E111C4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223" y="6173052"/>
            <a:ext cx="965200" cy="10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 dirty="0">
                <a:latin typeface="HY울릉도M" pitchFamily="18" charset="-127"/>
                <a:ea typeface="HY울릉도M" pitchFamily="18" charset="-127"/>
              </a:rPr>
              <a:t>외부 관계자 접속</a:t>
            </a:r>
          </a:p>
        </p:txBody>
      </p:sp>
      <p:sp>
        <p:nvSpPr>
          <p:cNvPr id="66" name="Freeform 76">
            <a:extLst>
              <a:ext uri="{FF2B5EF4-FFF2-40B4-BE49-F238E27FC236}">
                <a16:creationId xmlns:a16="http://schemas.microsoft.com/office/drawing/2014/main" id="{0AF34630-25DA-4BBC-9688-D3DE0B2E2A24}"/>
              </a:ext>
            </a:extLst>
          </p:cNvPr>
          <p:cNvSpPr>
            <a:spLocks/>
          </p:cNvSpPr>
          <p:nvPr/>
        </p:nvSpPr>
        <p:spPr bwMode="auto">
          <a:xfrm rot="12951604" flipH="1">
            <a:off x="5876323" y="3693377"/>
            <a:ext cx="304800" cy="1116012"/>
          </a:xfrm>
          <a:custGeom>
            <a:avLst/>
            <a:gdLst>
              <a:gd name="T0" fmla="*/ 0 w 320"/>
              <a:gd name="T1" fmla="*/ 0 h 504"/>
              <a:gd name="T2" fmla="*/ 184 w 320"/>
              <a:gd name="T3" fmla="*/ 264 h 504"/>
              <a:gd name="T4" fmla="*/ 104 w 320"/>
              <a:gd name="T5" fmla="*/ 232 h 504"/>
              <a:gd name="T6" fmla="*/ 320 w 320"/>
              <a:gd name="T7" fmla="*/ 504 h 504"/>
              <a:gd name="T8" fmla="*/ 32 w 320"/>
              <a:gd name="T9" fmla="*/ 192 h 504"/>
              <a:gd name="T10" fmla="*/ 120 w 320"/>
              <a:gd name="T11" fmla="*/ 224 h 504"/>
              <a:gd name="T12" fmla="*/ 0 w 320"/>
              <a:gd name="T13" fmla="*/ 0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504">
                <a:moveTo>
                  <a:pt x="0" y="0"/>
                </a:moveTo>
                <a:lnTo>
                  <a:pt x="184" y="264"/>
                </a:lnTo>
                <a:lnTo>
                  <a:pt x="104" y="232"/>
                </a:lnTo>
                <a:lnTo>
                  <a:pt x="320" y="504"/>
                </a:lnTo>
                <a:lnTo>
                  <a:pt x="32" y="192"/>
                </a:lnTo>
                <a:lnTo>
                  <a:pt x="120" y="22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gamma/>
                  <a:tint val="0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67" name="Object 77">
            <a:extLst>
              <a:ext uri="{FF2B5EF4-FFF2-40B4-BE49-F238E27FC236}">
                <a16:creationId xmlns:a16="http://schemas.microsoft.com/office/drawing/2014/main" id="{2C161BB7-932D-49EC-B1B9-504690694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807923"/>
              </p:ext>
            </p:extLst>
          </p:nvPr>
        </p:nvGraphicFramePr>
        <p:xfrm>
          <a:off x="5266723" y="5779352"/>
          <a:ext cx="374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클립" r:id="rId15" imgW="5600160" imgH="3588840" progId="MS_ClipArt_Gallery.2">
                  <p:embed/>
                </p:oleObj>
              </mc:Choice>
              <mc:Fallback>
                <p:oleObj name="클립" r:id="rId15" imgW="5600160" imgH="3588840" progId="MS_ClipArt_Gallery.2">
                  <p:embed/>
                  <p:pic>
                    <p:nvPicPr>
                      <p:cNvPr id="72" name="Object 77">
                        <a:extLst>
                          <a:ext uri="{FF2B5EF4-FFF2-40B4-BE49-F238E27FC236}">
                            <a16:creationId xmlns:a16="http://schemas.microsoft.com/office/drawing/2014/main" id="{D5B6B412-AF38-4855-A5F2-AF6CFEEF18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723" y="5779352"/>
                        <a:ext cx="374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8" name="Picture 78">
            <a:extLst>
              <a:ext uri="{FF2B5EF4-FFF2-40B4-BE49-F238E27FC236}">
                <a16:creationId xmlns:a16="http://schemas.microsoft.com/office/drawing/2014/main" id="{D192698C-A0B2-4844-A08F-77DC47F6728C}"/>
              </a:ext>
            </a:extLst>
          </p:cNvPr>
          <p:cNvPicPr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973" y="5887302"/>
            <a:ext cx="44291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Rectangle 79">
            <a:extLst>
              <a:ext uri="{FF2B5EF4-FFF2-40B4-BE49-F238E27FC236}">
                <a16:creationId xmlns:a16="http://schemas.microsoft.com/office/drawing/2014/main" id="{DE02C84E-9F65-489D-B46D-9C82ADBA3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823" y="6192102"/>
            <a:ext cx="644525" cy="10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900" dirty="0">
                <a:latin typeface="HY울릉도M" pitchFamily="18" charset="-127"/>
                <a:ea typeface="HY울릉도M" pitchFamily="18" charset="-127"/>
              </a:rPr>
              <a:t>외부기관</a:t>
            </a:r>
          </a:p>
        </p:txBody>
      </p:sp>
      <p:sp>
        <p:nvSpPr>
          <p:cNvPr id="70" name="Freeform 80">
            <a:extLst>
              <a:ext uri="{FF2B5EF4-FFF2-40B4-BE49-F238E27FC236}">
                <a16:creationId xmlns:a16="http://schemas.microsoft.com/office/drawing/2014/main" id="{F68F57C2-D3BD-4511-9FDB-7228501491E9}"/>
              </a:ext>
            </a:extLst>
          </p:cNvPr>
          <p:cNvSpPr>
            <a:spLocks/>
          </p:cNvSpPr>
          <p:nvPr/>
        </p:nvSpPr>
        <p:spPr bwMode="auto">
          <a:xfrm rot="20485613" flipH="1">
            <a:off x="5300061" y="4907814"/>
            <a:ext cx="330200" cy="982663"/>
          </a:xfrm>
          <a:custGeom>
            <a:avLst/>
            <a:gdLst>
              <a:gd name="T0" fmla="*/ 0 w 320"/>
              <a:gd name="T1" fmla="*/ 0 h 504"/>
              <a:gd name="T2" fmla="*/ 184 w 320"/>
              <a:gd name="T3" fmla="*/ 264 h 504"/>
              <a:gd name="T4" fmla="*/ 104 w 320"/>
              <a:gd name="T5" fmla="*/ 232 h 504"/>
              <a:gd name="T6" fmla="*/ 320 w 320"/>
              <a:gd name="T7" fmla="*/ 504 h 504"/>
              <a:gd name="T8" fmla="*/ 32 w 320"/>
              <a:gd name="T9" fmla="*/ 192 h 504"/>
              <a:gd name="T10" fmla="*/ 120 w 320"/>
              <a:gd name="T11" fmla="*/ 224 h 504"/>
              <a:gd name="T12" fmla="*/ 0 w 320"/>
              <a:gd name="T13" fmla="*/ 0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0" h="504">
                <a:moveTo>
                  <a:pt x="0" y="0"/>
                </a:moveTo>
                <a:lnTo>
                  <a:pt x="184" y="264"/>
                </a:lnTo>
                <a:lnTo>
                  <a:pt x="104" y="232"/>
                </a:lnTo>
                <a:lnTo>
                  <a:pt x="320" y="504"/>
                </a:lnTo>
                <a:lnTo>
                  <a:pt x="32" y="192"/>
                </a:lnTo>
                <a:lnTo>
                  <a:pt x="120" y="22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gamma/>
                  <a:tint val="0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" name="Freeform 81">
            <a:extLst>
              <a:ext uri="{FF2B5EF4-FFF2-40B4-BE49-F238E27FC236}">
                <a16:creationId xmlns:a16="http://schemas.microsoft.com/office/drawing/2014/main" id="{4B9B9026-9DC8-4A5C-8326-DFDC98B6827B}"/>
              </a:ext>
            </a:extLst>
          </p:cNvPr>
          <p:cNvSpPr>
            <a:spLocks/>
          </p:cNvSpPr>
          <p:nvPr/>
        </p:nvSpPr>
        <p:spPr bwMode="gray">
          <a:xfrm rot="20908059">
            <a:off x="3222290" y="3528440"/>
            <a:ext cx="2218495" cy="249195"/>
          </a:xfrm>
          <a:custGeom>
            <a:avLst/>
            <a:gdLst>
              <a:gd name="T0" fmla="*/ 0 w 480"/>
              <a:gd name="T1" fmla="*/ 144 h 144"/>
              <a:gd name="T2" fmla="*/ 240 w 480"/>
              <a:gd name="T3" fmla="*/ 48 h 144"/>
              <a:gd name="T4" fmla="*/ 192 w 480"/>
              <a:gd name="T5" fmla="*/ 96 h 144"/>
              <a:gd name="T6" fmla="*/ 480 w 480"/>
              <a:gd name="T7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0" h="144">
                <a:moveTo>
                  <a:pt x="0" y="144"/>
                </a:moveTo>
                <a:lnTo>
                  <a:pt x="240" y="48"/>
                </a:lnTo>
                <a:lnTo>
                  <a:pt x="192" y="96"/>
                </a:lnTo>
                <a:lnTo>
                  <a:pt x="480" y="0"/>
                </a:lnTo>
              </a:path>
            </a:pathLst>
          </a:custGeom>
          <a:noFill/>
          <a:ln w="38100">
            <a:pattFill prst="pct50">
              <a:fgClr>
                <a:schemeClr val="accent2"/>
              </a:fgClr>
              <a:bgClr>
                <a:srgbClr val="FFFFFF"/>
              </a:bgClr>
            </a:patt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2" name="Freeform 82">
            <a:extLst>
              <a:ext uri="{FF2B5EF4-FFF2-40B4-BE49-F238E27FC236}">
                <a16:creationId xmlns:a16="http://schemas.microsoft.com/office/drawing/2014/main" id="{0C0B1E59-6AE8-4C7A-9242-A2198582BF20}"/>
              </a:ext>
            </a:extLst>
          </p:cNvPr>
          <p:cNvSpPr>
            <a:spLocks/>
          </p:cNvSpPr>
          <p:nvPr/>
        </p:nvSpPr>
        <p:spPr bwMode="gray">
          <a:xfrm>
            <a:off x="1474212" y="4372826"/>
            <a:ext cx="250825" cy="798512"/>
          </a:xfrm>
          <a:custGeom>
            <a:avLst/>
            <a:gdLst>
              <a:gd name="T0" fmla="*/ 0 w 158"/>
              <a:gd name="T1" fmla="*/ 503 h 503"/>
              <a:gd name="T2" fmla="*/ 68 w 158"/>
              <a:gd name="T3" fmla="*/ 162 h 503"/>
              <a:gd name="T4" fmla="*/ 104 w 158"/>
              <a:gd name="T5" fmla="*/ 342 h 503"/>
              <a:gd name="T6" fmla="*/ 158 w 158"/>
              <a:gd name="T7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" h="503">
                <a:moveTo>
                  <a:pt x="0" y="503"/>
                </a:moveTo>
                <a:lnTo>
                  <a:pt x="68" y="162"/>
                </a:lnTo>
                <a:lnTo>
                  <a:pt x="104" y="342"/>
                </a:lnTo>
                <a:lnTo>
                  <a:pt x="158" y="0"/>
                </a:lnTo>
              </a:path>
            </a:pathLst>
          </a:custGeom>
          <a:noFill/>
          <a:ln w="38100">
            <a:pattFill prst="pct50">
              <a:fgClr>
                <a:schemeClr val="accent2"/>
              </a:fgClr>
              <a:bgClr>
                <a:srgbClr val="FFFFFF"/>
              </a:bgClr>
            </a:patt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73" name="Object 83">
            <a:extLst>
              <a:ext uri="{FF2B5EF4-FFF2-40B4-BE49-F238E27FC236}">
                <a16:creationId xmlns:a16="http://schemas.microsoft.com/office/drawing/2014/main" id="{1E7B9495-FF80-471C-B0EB-AD7E1471E6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782727"/>
              </p:ext>
            </p:extLst>
          </p:nvPr>
        </p:nvGraphicFramePr>
        <p:xfrm>
          <a:off x="1344037" y="5096726"/>
          <a:ext cx="3048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문서" r:id="rId18" imgW="593640" imgH="428400" progId="Word.Document.8">
                  <p:embed/>
                </p:oleObj>
              </mc:Choice>
              <mc:Fallback>
                <p:oleObj name="문서" r:id="rId18" imgW="593640" imgH="428400" progId="Word.Document.8">
                  <p:embed/>
                  <p:pic>
                    <p:nvPicPr>
                      <p:cNvPr id="78" name="Object 83">
                        <a:extLst>
                          <a:ext uri="{FF2B5EF4-FFF2-40B4-BE49-F238E27FC236}">
                            <a16:creationId xmlns:a16="http://schemas.microsoft.com/office/drawing/2014/main" id="{A17A0ECF-1DB5-4D77-B7A0-A25D72B7CF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1344037" y="5096726"/>
                        <a:ext cx="30480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84">
            <a:extLst>
              <a:ext uri="{FF2B5EF4-FFF2-40B4-BE49-F238E27FC236}">
                <a16:creationId xmlns:a16="http://schemas.microsoft.com/office/drawing/2014/main" id="{B02B3612-8515-41EA-A638-3E18C35D8B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2016710"/>
              </p:ext>
            </p:extLst>
          </p:nvPr>
        </p:nvGraphicFramePr>
        <p:xfrm>
          <a:off x="1420237" y="5149113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문서" r:id="rId20" imgW="593640" imgH="428400" progId="Word.Document.8">
                  <p:embed/>
                </p:oleObj>
              </mc:Choice>
              <mc:Fallback>
                <p:oleObj name="문서" r:id="rId20" imgW="593640" imgH="428400" progId="Word.Document.8">
                  <p:embed/>
                  <p:pic>
                    <p:nvPicPr>
                      <p:cNvPr id="79" name="Object 84">
                        <a:extLst>
                          <a:ext uri="{FF2B5EF4-FFF2-40B4-BE49-F238E27FC236}">
                            <a16:creationId xmlns:a16="http://schemas.microsoft.com/office/drawing/2014/main" id="{3BB86983-126F-46B4-B2DA-224E9AD9D9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1420237" y="5149113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85">
            <a:extLst>
              <a:ext uri="{FF2B5EF4-FFF2-40B4-BE49-F238E27FC236}">
                <a16:creationId xmlns:a16="http://schemas.microsoft.com/office/drawing/2014/main" id="{9D3C1D97-D69E-4D24-B1CB-1554C08D3A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1928843"/>
              </p:ext>
            </p:extLst>
          </p:nvPr>
        </p:nvGraphicFramePr>
        <p:xfrm>
          <a:off x="1505962" y="5199913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문서" r:id="rId21" imgW="593640" imgH="428400" progId="Word.Document.8">
                  <p:embed/>
                </p:oleObj>
              </mc:Choice>
              <mc:Fallback>
                <p:oleObj name="문서" r:id="rId21" imgW="593640" imgH="428400" progId="Word.Document.8">
                  <p:embed/>
                  <p:pic>
                    <p:nvPicPr>
                      <p:cNvPr id="80" name="Object 85">
                        <a:extLst>
                          <a:ext uri="{FF2B5EF4-FFF2-40B4-BE49-F238E27FC236}">
                            <a16:creationId xmlns:a16="http://schemas.microsoft.com/office/drawing/2014/main" id="{2C818C64-CC50-4B82-A498-C3D4ACAFEE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1505962" y="5199913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Freeform 86">
            <a:extLst>
              <a:ext uri="{FF2B5EF4-FFF2-40B4-BE49-F238E27FC236}">
                <a16:creationId xmlns:a16="http://schemas.microsoft.com/office/drawing/2014/main" id="{7530F74D-7F90-452C-B60D-FA83AB6F6F75}"/>
              </a:ext>
            </a:extLst>
          </p:cNvPr>
          <p:cNvSpPr>
            <a:spLocks/>
          </p:cNvSpPr>
          <p:nvPr/>
        </p:nvSpPr>
        <p:spPr bwMode="gray">
          <a:xfrm>
            <a:off x="2458462" y="4315676"/>
            <a:ext cx="295275" cy="781050"/>
          </a:xfrm>
          <a:custGeom>
            <a:avLst/>
            <a:gdLst>
              <a:gd name="T0" fmla="*/ 172 w 186"/>
              <a:gd name="T1" fmla="*/ 492 h 492"/>
              <a:gd name="T2" fmla="*/ 18 w 186"/>
              <a:gd name="T3" fmla="*/ 228 h 492"/>
              <a:gd name="T4" fmla="*/ 186 w 186"/>
              <a:gd name="T5" fmla="*/ 348 h 492"/>
              <a:gd name="T6" fmla="*/ 0 w 186"/>
              <a:gd name="T7" fmla="*/ 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6" h="492">
                <a:moveTo>
                  <a:pt x="172" y="492"/>
                </a:moveTo>
                <a:lnTo>
                  <a:pt x="18" y="228"/>
                </a:lnTo>
                <a:lnTo>
                  <a:pt x="186" y="348"/>
                </a:lnTo>
                <a:lnTo>
                  <a:pt x="0" y="0"/>
                </a:lnTo>
              </a:path>
            </a:pathLst>
          </a:custGeom>
          <a:noFill/>
          <a:ln w="38100">
            <a:pattFill prst="pct50">
              <a:fgClr>
                <a:schemeClr val="accent2"/>
              </a:fgClr>
              <a:bgClr>
                <a:srgbClr val="FFFFFF"/>
              </a:bgClr>
            </a:patt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7" name="Line 89">
            <a:extLst>
              <a:ext uri="{FF2B5EF4-FFF2-40B4-BE49-F238E27FC236}">
                <a16:creationId xmlns:a16="http://schemas.microsoft.com/office/drawing/2014/main" id="{1846EB7B-57A4-4116-BFFB-16C1DE677440}"/>
              </a:ext>
            </a:extLst>
          </p:cNvPr>
          <p:cNvSpPr>
            <a:spLocks noChangeShapeType="1"/>
          </p:cNvSpPr>
          <p:nvPr/>
        </p:nvSpPr>
        <p:spPr bwMode="gray">
          <a:xfrm>
            <a:off x="5920773" y="2137627"/>
            <a:ext cx="1588" cy="366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pic>
        <p:nvPicPr>
          <p:cNvPr id="78" name="Picture 90">
            <a:extLst>
              <a:ext uri="{FF2B5EF4-FFF2-40B4-BE49-F238E27FC236}">
                <a16:creationId xmlns:a16="http://schemas.microsoft.com/office/drawing/2014/main" id="{EA080D5C-CA3C-4BAC-AFE6-A629D8FE6A4C}"/>
              </a:ext>
            </a:extLst>
          </p:cNvPr>
          <p:cNvPicPr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241323" y="3148864"/>
            <a:ext cx="3873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9" name="Line 91">
            <a:extLst>
              <a:ext uri="{FF2B5EF4-FFF2-40B4-BE49-F238E27FC236}">
                <a16:creationId xmlns:a16="http://schemas.microsoft.com/office/drawing/2014/main" id="{673A0872-3BFA-45BB-8CFF-5AFB68EED6EF}"/>
              </a:ext>
            </a:extLst>
          </p:cNvPr>
          <p:cNvSpPr>
            <a:spLocks noChangeShapeType="1"/>
          </p:cNvSpPr>
          <p:nvPr/>
        </p:nvSpPr>
        <p:spPr bwMode="gray">
          <a:xfrm>
            <a:off x="6504973" y="2147152"/>
            <a:ext cx="1588" cy="366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80" name="AutoShape 92">
            <a:extLst>
              <a:ext uri="{FF2B5EF4-FFF2-40B4-BE49-F238E27FC236}">
                <a16:creationId xmlns:a16="http://schemas.microsoft.com/office/drawing/2014/main" id="{87B718F3-300F-4572-8C0B-40C2F10CF61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87594" y="1324827"/>
            <a:ext cx="539750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900" b="1">
                <a:solidFill>
                  <a:schemeClr val="bg1"/>
                </a:solidFill>
              </a:rPr>
              <a:t>WAS</a:t>
            </a:r>
          </a:p>
        </p:txBody>
      </p:sp>
      <p:grpSp>
        <p:nvGrpSpPr>
          <p:cNvPr id="81" name="Group 103">
            <a:extLst>
              <a:ext uri="{FF2B5EF4-FFF2-40B4-BE49-F238E27FC236}">
                <a16:creationId xmlns:a16="http://schemas.microsoft.com/office/drawing/2014/main" id="{71F8536C-8CDF-4AB1-A459-CF5FD62F959E}"/>
              </a:ext>
            </a:extLst>
          </p:cNvPr>
          <p:cNvGrpSpPr>
            <a:grpSpLocks/>
          </p:cNvGrpSpPr>
          <p:nvPr/>
        </p:nvGrpSpPr>
        <p:grpSpPr bwMode="auto">
          <a:xfrm>
            <a:off x="3481486" y="2469414"/>
            <a:ext cx="3807712" cy="160907"/>
            <a:chOff x="576" y="2544"/>
            <a:chExt cx="3426" cy="66"/>
          </a:xfrm>
        </p:grpSpPr>
        <p:sp>
          <p:nvSpPr>
            <p:cNvPr id="82" name="Rectangle 104">
              <a:extLst>
                <a:ext uri="{FF2B5EF4-FFF2-40B4-BE49-F238E27FC236}">
                  <a16:creationId xmlns:a16="http://schemas.microsoft.com/office/drawing/2014/main" id="{D555FCC7-1863-4137-9611-5C969B1F6059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6200000" flipV="1">
              <a:off x="565" y="2559"/>
              <a:ext cx="62" cy="40"/>
            </a:xfrm>
            <a:prstGeom prst="rect">
              <a:avLst/>
            </a:prstGeom>
            <a:gradFill rotWithShape="0">
              <a:gsLst>
                <a:gs pos="0">
                  <a:srgbClr val="990099"/>
                </a:gs>
                <a:gs pos="100000">
                  <a:srgbClr val="9900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3" name="Rectangle 105">
              <a:extLst>
                <a:ext uri="{FF2B5EF4-FFF2-40B4-BE49-F238E27FC236}">
                  <a16:creationId xmlns:a16="http://schemas.microsoft.com/office/drawing/2014/main" id="{BE470C67-B2B8-405D-9721-85571AFF4248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6200000" flipV="1">
              <a:off x="3951" y="2555"/>
              <a:ext cx="62" cy="40"/>
            </a:xfrm>
            <a:prstGeom prst="rect">
              <a:avLst/>
            </a:prstGeom>
            <a:gradFill rotWithShape="0">
              <a:gsLst>
                <a:gs pos="0">
                  <a:srgbClr val="990099"/>
                </a:gs>
                <a:gs pos="100000">
                  <a:srgbClr val="9900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4" name="Rectangle 106">
              <a:extLst>
                <a:ext uri="{FF2B5EF4-FFF2-40B4-BE49-F238E27FC236}">
                  <a16:creationId xmlns:a16="http://schemas.microsoft.com/office/drawing/2014/main" id="{2D888516-7374-48BF-9D48-B8FABD2481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82" y="2565"/>
              <a:ext cx="3401" cy="32"/>
            </a:xfrm>
            <a:prstGeom prst="rect">
              <a:avLst/>
            </a:prstGeom>
            <a:gradFill rotWithShape="0">
              <a:gsLst>
                <a:gs pos="0">
                  <a:srgbClr val="990099"/>
                </a:gs>
                <a:gs pos="100000">
                  <a:srgbClr val="9900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pic>
        <p:nvPicPr>
          <p:cNvPr id="85" name="Picture 112">
            <a:extLst>
              <a:ext uri="{FF2B5EF4-FFF2-40B4-BE49-F238E27FC236}">
                <a16:creationId xmlns:a16="http://schemas.microsoft.com/office/drawing/2014/main" id="{45E3D44A-616B-442A-AC30-474271F41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000023" y="1820127"/>
            <a:ext cx="495300" cy="54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114">
            <a:extLst>
              <a:ext uri="{FF2B5EF4-FFF2-40B4-BE49-F238E27FC236}">
                <a16:creationId xmlns:a16="http://schemas.microsoft.com/office/drawing/2014/main" id="{FCC53334-64D8-4A38-A022-5B98868EA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695348" y="1847114"/>
            <a:ext cx="39211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AutoShape 115">
            <a:extLst>
              <a:ext uri="{FF2B5EF4-FFF2-40B4-BE49-F238E27FC236}">
                <a16:creationId xmlns:a16="http://schemas.microsoft.com/office/drawing/2014/main" id="{1AAF8D03-B747-4FA6-8879-057A51B260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61998" y="1332764"/>
            <a:ext cx="652145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700" b="1" dirty="0">
                <a:solidFill>
                  <a:schemeClr val="bg1"/>
                </a:solidFill>
              </a:rPr>
              <a:t>Algorithms</a:t>
            </a:r>
            <a:endParaRPr kumimoji="0" lang="ko-KR" altLang="en-US" sz="700" b="1" dirty="0">
              <a:solidFill>
                <a:schemeClr val="bg1"/>
              </a:solidFill>
            </a:endParaRPr>
          </a:p>
        </p:txBody>
      </p:sp>
      <p:pic>
        <p:nvPicPr>
          <p:cNvPr id="88" name="Picture 119">
            <a:extLst>
              <a:ext uri="{FF2B5EF4-FFF2-40B4-BE49-F238E27FC236}">
                <a16:creationId xmlns:a16="http://schemas.microsoft.com/office/drawing/2014/main" id="{AB427B12-CF7A-49B2-9395-3079E9CB6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270023" y="1847114"/>
            <a:ext cx="392113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Line 135">
            <a:extLst>
              <a:ext uri="{FF2B5EF4-FFF2-40B4-BE49-F238E27FC236}">
                <a16:creationId xmlns:a16="http://schemas.microsoft.com/office/drawing/2014/main" id="{9F81C97A-4556-4B82-97E9-3F3FC0A0AAE2}"/>
              </a:ext>
            </a:extLst>
          </p:cNvPr>
          <p:cNvSpPr>
            <a:spLocks noChangeShapeType="1"/>
          </p:cNvSpPr>
          <p:nvPr/>
        </p:nvSpPr>
        <p:spPr bwMode="gray">
          <a:xfrm>
            <a:off x="4104673" y="1940777"/>
            <a:ext cx="3175" cy="590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90" name="Line 136">
            <a:extLst>
              <a:ext uri="{FF2B5EF4-FFF2-40B4-BE49-F238E27FC236}">
                <a16:creationId xmlns:a16="http://schemas.microsoft.com/office/drawing/2014/main" id="{09FAB626-898B-4694-9A5A-B47F6C8BAA22}"/>
              </a:ext>
            </a:extLst>
          </p:cNvPr>
          <p:cNvSpPr>
            <a:spLocks noChangeShapeType="1"/>
          </p:cNvSpPr>
          <p:nvPr/>
        </p:nvSpPr>
        <p:spPr bwMode="gray">
          <a:xfrm>
            <a:off x="4666648" y="1864577"/>
            <a:ext cx="3175" cy="6905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pic>
        <p:nvPicPr>
          <p:cNvPr id="91" name="Picture 137">
            <a:extLst>
              <a:ext uri="{FF2B5EF4-FFF2-40B4-BE49-F238E27FC236}">
                <a16:creationId xmlns:a16="http://schemas.microsoft.com/office/drawing/2014/main" id="{25E1E8A0-80EF-410E-A63E-2A3DBBABCB24}"/>
              </a:ext>
            </a:extLst>
          </p:cNvPr>
          <p:cNvPicPr>
            <a:picLocks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955448" y="1826477"/>
            <a:ext cx="3810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" name="Picture 138">
            <a:extLst>
              <a:ext uri="{FF2B5EF4-FFF2-40B4-BE49-F238E27FC236}">
                <a16:creationId xmlns:a16="http://schemas.microsoft.com/office/drawing/2014/main" id="{B7E1E917-BE0F-4DFB-9281-13DD812BC3C3}"/>
              </a:ext>
            </a:extLst>
          </p:cNvPr>
          <p:cNvPicPr>
            <a:picLocks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517423" y="1826477"/>
            <a:ext cx="3810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" name="AutoShape 139">
            <a:extLst>
              <a:ext uri="{FF2B5EF4-FFF2-40B4-BE49-F238E27FC236}">
                <a16:creationId xmlns:a16="http://schemas.microsoft.com/office/drawing/2014/main" id="{F169F519-910B-4ED0-8F8B-E446C5EBEC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2573" y="1607402"/>
            <a:ext cx="536575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900" b="1">
                <a:solidFill>
                  <a:schemeClr val="bg1"/>
                </a:solidFill>
              </a:rPr>
              <a:t>Backup</a:t>
            </a:r>
          </a:p>
        </p:txBody>
      </p:sp>
      <p:sp>
        <p:nvSpPr>
          <p:cNvPr id="94" name="AutoShape 140">
            <a:extLst>
              <a:ext uri="{FF2B5EF4-FFF2-40B4-BE49-F238E27FC236}">
                <a16:creationId xmlns:a16="http://schemas.microsoft.com/office/drawing/2014/main" id="{C34CFFA1-4093-4A73-BB76-CAE987E519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99948" y="1607402"/>
            <a:ext cx="536575" cy="187325"/>
          </a:xfrm>
          <a:prstGeom prst="bevel">
            <a:avLst>
              <a:gd name="adj" fmla="val 12500"/>
            </a:avLst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900" b="1">
                <a:solidFill>
                  <a:schemeClr val="bg1"/>
                </a:solidFill>
              </a:rPr>
              <a:t>Storage</a:t>
            </a:r>
          </a:p>
        </p:txBody>
      </p:sp>
      <p:sp>
        <p:nvSpPr>
          <p:cNvPr id="95" name="AutoShape 141">
            <a:extLst>
              <a:ext uri="{FF2B5EF4-FFF2-40B4-BE49-F238E27FC236}">
                <a16:creationId xmlns:a16="http://schemas.microsoft.com/office/drawing/2014/main" id="{F4583E53-A0CF-4966-B848-D738D78BDF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14198" y="1350227"/>
            <a:ext cx="536575" cy="187325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rgbClr val="FF9933"/>
              </a:gs>
              <a:gs pos="50000">
                <a:srgbClr val="FF9933">
                  <a:gamma/>
                  <a:shade val="56078"/>
                  <a:invGamma/>
                </a:srgbClr>
              </a:gs>
              <a:gs pos="100000">
                <a:srgbClr val="FF99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eaLnBrk="0" latinLnBrk="0" hangingPunct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900" b="1">
                <a:solidFill>
                  <a:schemeClr val="bg1"/>
                </a:solidFill>
              </a:rPr>
              <a:t>NAS(*2)</a:t>
            </a:r>
          </a:p>
        </p:txBody>
      </p:sp>
    </p:spTree>
    <p:extLst>
      <p:ext uri="{BB962C8B-B14F-4D97-AF65-F5344CB8AC3E}">
        <p14:creationId xmlns:p14="http://schemas.microsoft.com/office/powerpoint/2010/main" val="117064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Architecture ( Detail)</a:t>
            </a:r>
            <a:endParaRPr lang="ko-KR" altLang="en-US" dirty="0"/>
          </a:p>
        </p:txBody>
      </p:sp>
      <p:pic>
        <p:nvPicPr>
          <p:cNvPr id="6" name="Picture 39">
            <a:extLst>
              <a:ext uri="{FF2B5EF4-FFF2-40B4-BE49-F238E27FC236}">
                <a16:creationId xmlns:a16="http://schemas.microsoft.com/office/drawing/2014/main" id="{0E1EEA4B-2642-4DB2-ADCC-776D1D483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4122107"/>
            <a:ext cx="646113" cy="104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0">
            <a:extLst>
              <a:ext uri="{FF2B5EF4-FFF2-40B4-BE49-F238E27FC236}">
                <a16:creationId xmlns:a16="http://schemas.microsoft.com/office/drawing/2014/main" id="{66A9E4BC-4CC4-436D-BA85-E79A3166E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4122107"/>
            <a:ext cx="646113" cy="104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1">
            <a:extLst>
              <a:ext uri="{FF2B5EF4-FFF2-40B4-BE49-F238E27FC236}">
                <a16:creationId xmlns:a16="http://schemas.microsoft.com/office/drawing/2014/main" id="{273E9748-98AA-4971-B598-33130DDEF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5596895"/>
            <a:ext cx="381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2">
            <a:extLst>
              <a:ext uri="{FF2B5EF4-FFF2-40B4-BE49-F238E27FC236}">
                <a16:creationId xmlns:a16="http://schemas.microsoft.com/office/drawing/2014/main" id="{EF2139D4-533D-47CB-8BD7-6530888E3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2301245"/>
            <a:ext cx="485775" cy="5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3">
            <a:extLst>
              <a:ext uri="{FF2B5EF4-FFF2-40B4-BE49-F238E27FC236}">
                <a16:creationId xmlns:a16="http://schemas.microsoft.com/office/drawing/2014/main" id="{679DA6DB-23A5-4E8D-8F2F-CDC89FA3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4122107"/>
            <a:ext cx="647700" cy="104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46">
            <a:extLst>
              <a:ext uri="{FF2B5EF4-FFF2-40B4-BE49-F238E27FC236}">
                <a16:creationId xmlns:a16="http://schemas.microsoft.com/office/drawing/2014/main" id="{3391D05C-4954-4ACE-AC1B-275F5C5B3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3436307"/>
            <a:ext cx="903287" cy="434975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 anchor="ctr"/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ko-KR" altLang="en-US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통합 </a:t>
            </a:r>
            <a:r>
              <a:rPr kumimoji="0" lang="en-US" altLang="ko-KR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DB </a:t>
            </a:r>
            <a:r>
              <a:rPr kumimoji="0" lang="ko-KR" altLang="en-US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서버</a:t>
            </a:r>
          </a:p>
        </p:txBody>
      </p:sp>
      <p:sp>
        <p:nvSpPr>
          <p:cNvPr id="18" name="AutoShape 47">
            <a:extLst>
              <a:ext uri="{FF2B5EF4-FFF2-40B4-BE49-F238E27FC236}">
                <a16:creationId xmlns:a16="http://schemas.microsoft.com/office/drawing/2014/main" id="{4BC08BB6-04CA-4E8D-8524-AFCC3251A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838" y="4618995"/>
            <a:ext cx="606425" cy="522287"/>
          </a:xfrm>
          <a:prstGeom prst="can">
            <a:avLst>
              <a:gd name="adj" fmla="val 25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</a:extLst>
        </p:spPr>
        <p:txBody>
          <a:bodyPr wrap="none" lIns="105741" tIns="52871" rIns="105741" bIns="52871" anchor="ctr"/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DBMS</a:t>
            </a:r>
          </a:p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Oracle</a:t>
            </a:r>
            <a:endParaRPr kumimoji="0" lang="en-US" altLang="ko-KR" sz="2800" b="0" dirty="0"/>
          </a:p>
        </p:txBody>
      </p:sp>
      <p:pic>
        <p:nvPicPr>
          <p:cNvPr id="20" name="Picture 48">
            <a:extLst>
              <a:ext uri="{FF2B5EF4-FFF2-40B4-BE49-F238E27FC236}">
                <a16:creationId xmlns:a16="http://schemas.microsoft.com/office/drawing/2014/main" id="{27011EC7-3F79-474B-8441-E97BFBAAF073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0" y="5593720"/>
            <a:ext cx="471488" cy="3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</a:extLst>
        </p:spPr>
      </p:pic>
      <p:sp>
        <p:nvSpPr>
          <p:cNvPr id="22" name="Text Box 49">
            <a:extLst>
              <a:ext uri="{FF2B5EF4-FFF2-40B4-BE49-F238E27FC236}">
                <a16:creationId xmlns:a16="http://schemas.microsoft.com/office/drawing/2014/main" id="{F29E25B8-FFAA-4033-A21F-0B45DDA97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899" y="6012820"/>
            <a:ext cx="582238" cy="245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Switch</a:t>
            </a:r>
            <a:endParaRPr kumimoji="0" lang="en-US" altLang="ko-KR" sz="1200" b="0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24" name="Picture 50">
            <a:extLst>
              <a:ext uri="{FF2B5EF4-FFF2-40B4-BE49-F238E27FC236}">
                <a16:creationId xmlns:a16="http://schemas.microsoft.com/office/drawing/2014/main" id="{BBC4A196-CE49-4802-9FAC-E4941B73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225" y="5398457"/>
            <a:ext cx="1192213" cy="79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Line 51">
            <a:extLst>
              <a:ext uri="{FF2B5EF4-FFF2-40B4-BE49-F238E27FC236}">
                <a16:creationId xmlns:a16="http://schemas.microsoft.com/office/drawing/2014/main" id="{6EA2213E-EC78-430F-9FA0-087B9FA7D5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5331782"/>
            <a:ext cx="0" cy="269875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28" name="Line 52">
            <a:extLst>
              <a:ext uri="{FF2B5EF4-FFF2-40B4-BE49-F238E27FC236}">
                <a16:creationId xmlns:a16="http://schemas.microsoft.com/office/drawing/2014/main" id="{3980FA6D-1DE9-4E2D-BC5F-FA122F24D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650" y="5782632"/>
            <a:ext cx="554038" cy="0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30" name="Text Box 53">
            <a:extLst>
              <a:ext uri="{FF2B5EF4-FFF2-40B4-BE49-F238E27FC236}">
                <a16:creationId xmlns:a16="http://schemas.microsoft.com/office/drawing/2014/main" id="{39BB5F84-9E78-4A8D-97BA-AF684C157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357" y="5555547"/>
            <a:ext cx="777648" cy="24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076" tIns="54120" rIns="104076" bIns="54120" anchor="ctr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휴먼엑스포" panose="02030504000101010101" pitchFamily="18" charset="-127"/>
              </a:rPr>
              <a:t>STORAGE</a:t>
            </a:r>
          </a:p>
        </p:txBody>
      </p:sp>
      <p:sp>
        <p:nvSpPr>
          <p:cNvPr id="32" name="Line 54">
            <a:extLst>
              <a:ext uri="{FF2B5EF4-FFF2-40B4-BE49-F238E27FC236}">
                <a16:creationId xmlns:a16="http://schemas.microsoft.com/office/drawing/2014/main" id="{5EA22CC2-11D5-46F8-BAC6-838E9C8D6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25" y="5785807"/>
            <a:ext cx="749300" cy="0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pic>
        <p:nvPicPr>
          <p:cNvPr id="34" name="Picture 55">
            <a:extLst>
              <a:ext uri="{FF2B5EF4-FFF2-40B4-BE49-F238E27FC236}">
                <a16:creationId xmlns:a16="http://schemas.microsoft.com/office/drawing/2014/main" id="{CB47F95E-1216-4F4E-9071-B9DC0854B5D2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2339059"/>
            <a:ext cx="471487" cy="38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</a:extLst>
        </p:spPr>
      </p:pic>
      <p:sp>
        <p:nvSpPr>
          <p:cNvPr id="36" name="Text Box 56">
            <a:extLst>
              <a:ext uri="{FF2B5EF4-FFF2-40B4-BE49-F238E27FC236}">
                <a16:creationId xmlns:a16="http://schemas.microsoft.com/office/drawing/2014/main" id="{C9F7FE4C-BD72-4132-BC0C-AD4E0BB8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38" y="3436307"/>
            <a:ext cx="903287" cy="245274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Algorithm</a:t>
            </a:r>
            <a:endParaRPr kumimoji="0" lang="en-US" altLang="ko-KR" sz="900" b="0" dirty="0">
              <a:latin typeface="새바탕" pitchFamily="18" charset="-127"/>
              <a:ea typeface="새바탕" pitchFamily="18" charset="-127"/>
            </a:endParaRPr>
          </a:p>
        </p:txBody>
      </p:sp>
      <p:sp>
        <p:nvSpPr>
          <p:cNvPr id="38" name="Text Box 57">
            <a:extLst>
              <a:ext uri="{FF2B5EF4-FFF2-40B4-BE49-F238E27FC236}">
                <a16:creationId xmlns:a16="http://schemas.microsoft.com/office/drawing/2014/main" id="{37CA6466-7D4B-4C97-897E-AA5CE1714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3436307"/>
            <a:ext cx="1231900" cy="383774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System Service </a:t>
            </a:r>
            <a:r>
              <a:rPr kumimoji="0" lang="ko-KR" altLang="en-US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서버</a:t>
            </a:r>
            <a:endParaRPr kumimoji="0" lang="en-US" altLang="ko-KR" sz="900" b="0" dirty="0">
              <a:latin typeface="새바탕" pitchFamily="18" charset="-127"/>
              <a:ea typeface="새바탕" pitchFamily="18" charset="-127"/>
            </a:endParaRPr>
          </a:p>
        </p:txBody>
      </p:sp>
      <p:sp>
        <p:nvSpPr>
          <p:cNvPr id="40" name="Line 58">
            <a:extLst>
              <a:ext uri="{FF2B5EF4-FFF2-40B4-BE49-F238E27FC236}">
                <a16:creationId xmlns:a16="http://schemas.microsoft.com/office/drawing/2014/main" id="{AC0A7356-0CAB-4B9F-896F-9DE2C0457F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9888" y="5090482"/>
            <a:ext cx="0" cy="246063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42" name="Text Box 59">
            <a:extLst>
              <a:ext uri="{FF2B5EF4-FFF2-40B4-BE49-F238E27FC236}">
                <a16:creationId xmlns:a16="http://schemas.microsoft.com/office/drawing/2014/main" id="{99D5AA31-C17B-408B-B062-76E2E2DDD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0" y="1869445"/>
            <a:ext cx="711200" cy="245274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latin typeface="새바탕" pitchFamily="18" charset="-127"/>
                <a:ea typeface="새바탕" pitchFamily="18" charset="-127"/>
              </a:rPr>
              <a:t>WEB</a:t>
            </a:r>
          </a:p>
        </p:txBody>
      </p:sp>
      <p:pic>
        <p:nvPicPr>
          <p:cNvPr id="44" name="Picture 61">
            <a:extLst>
              <a:ext uri="{FF2B5EF4-FFF2-40B4-BE49-F238E27FC236}">
                <a16:creationId xmlns:a16="http://schemas.microsoft.com/office/drawing/2014/main" id="{121E1EF1-678A-4FC8-A3BA-B9DF41F14D22}"/>
              </a:ext>
            </a:extLst>
          </p:cNvPr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727" y="897194"/>
            <a:ext cx="16891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</a:extLst>
        </p:spPr>
      </p:pic>
      <p:sp>
        <p:nvSpPr>
          <p:cNvPr id="46" name="Text Box 62">
            <a:extLst>
              <a:ext uri="{FF2B5EF4-FFF2-40B4-BE49-F238E27FC236}">
                <a16:creationId xmlns:a16="http://schemas.microsoft.com/office/drawing/2014/main" id="{CEE9CDF0-649E-4E90-A1BF-4A3C9666D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2" y="1014669"/>
            <a:ext cx="117157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0" latinLnBrk="0" hangingPunct="0"/>
            <a:r>
              <a:rPr kumimoji="0" lang="en-US" altLang="ko-KR" sz="1400" b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INTERNET</a:t>
            </a:r>
            <a:endParaRPr kumimoji="0" lang="en-US" altLang="ko-KR" sz="2800" b="0"/>
          </a:p>
        </p:txBody>
      </p:sp>
      <p:graphicFrame>
        <p:nvGraphicFramePr>
          <p:cNvPr id="48" name="Object 63">
            <a:extLst>
              <a:ext uri="{FF2B5EF4-FFF2-40B4-BE49-F238E27FC236}">
                <a16:creationId xmlns:a16="http://schemas.microsoft.com/office/drawing/2014/main" id="{6BA9DEAC-E0A4-42C4-B65D-16B84A540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091572"/>
              </p:ext>
            </p:extLst>
          </p:nvPr>
        </p:nvGraphicFramePr>
        <p:xfrm flipV="1">
          <a:off x="4067175" y="1135319"/>
          <a:ext cx="582613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9" imgW="4395788" imgH="1652588" progId="MS_ClipArt_Gallery.5">
                  <p:embed/>
                </p:oleObj>
              </mc:Choice>
              <mc:Fallback>
                <p:oleObj r:id="rId9" imgW="4395788" imgH="1652588" progId="MS_ClipArt_Gallery.5">
                  <p:embed/>
                  <p:pic>
                    <p:nvPicPr>
                      <p:cNvPr id="53" name="Object 63">
                        <a:extLst>
                          <a:ext uri="{FF2B5EF4-FFF2-40B4-BE49-F238E27FC236}">
                            <a16:creationId xmlns:a16="http://schemas.microsoft.com/office/drawing/2014/main" id="{428F2F07-6626-42EA-A7B7-CCF6FD5A4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4067175" y="1135319"/>
                        <a:ext cx="582613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64">
            <a:extLst>
              <a:ext uri="{FF2B5EF4-FFF2-40B4-BE49-F238E27FC236}">
                <a16:creationId xmlns:a16="http://schemas.microsoft.com/office/drawing/2014/main" id="{2C9729CA-0AAA-43DC-B707-39ED6819B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7163" y="871794"/>
            <a:ext cx="696912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076" tIns="54120" rIns="104076" bIns="54120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just" eaLnBrk="0" latinLnBrk="0" hangingPunct="0"/>
            <a:r>
              <a:rPr kumimoji="0" lang="en-US" altLang="ko-KR" sz="1200" b="0">
                <a:solidFill>
                  <a:srgbClr val="000000"/>
                </a:solidFill>
                <a:latin typeface="바탕" panose="02030600000101010101" pitchFamily="18" charset="-127"/>
                <a:ea typeface="휴먼엑스포" panose="02030504000101010101" pitchFamily="18" charset="-127"/>
              </a:rPr>
              <a:t>Router</a:t>
            </a:r>
            <a:endParaRPr kumimoji="0" lang="en-US" altLang="ko-KR" sz="2800" b="0"/>
          </a:p>
        </p:txBody>
      </p:sp>
      <p:pic>
        <p:nvPicPr>
          <p:cNvPr id="52" name="Picture 65">
            <a:extLst>
              <a:ext uri="{FF2B5EF4-FFF2-40B4-BE49-F238E27FC236}">
                <a16:creationId xmlns:a16="http://schemas.microsoft.com/office/drawing/2014/main" id="{880A9C14-69B2-48B5-82D9-71B050A2B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829" y="1495448"/>
            <a:ext cx="301625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 Box 67">
            <a:extLst>
              <a:ext uri="{FF2B5EF4-FFF2-40B4-BE49-F238E27FC236}">
                <a16:creationId xmlns:a16="http://schemas.microsoft.com/office/drawing/2014/main" id="{942F15B8-EF6E-42B1-9B63-81E1A4A8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788" y="1767037"/>
            <a:ext cx="800100" cy="2413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ko-KR" altLang="en-US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방화벽</a:t>
            </a:r>
            <a:endParaRPr kumimoji="0" lang="ko-KR" altLang="en-US" sz="900" b="0" dirty="0">
              <a:latin typeface="새바탕" pitchFamily="18" charset="-127"/>
              <a:ea typeface="새바탕" pitchFamily="18" charset="-127"/>
            </a:endParaRPr>
          </a:p>
        </p:txBody>
      </p:sp>
      <p:sp>
        <p:nvSpPr>
          <p:cNvPr id="56" name="Freeform 70">
            <a:extLst>
              <a:ext uri="{FF2B5EF4-FFF2-40B4-BE49-F238E27FC236}">
                <a16:creationId xmlns:a16="http://schemas.microsoft.com/office/drawing/2014/main" id="{E3B1E14E-EC3A-4031-98AF-9D000FA7CC60}"/>
              </a:ext>
            </a:extLst>
          </p:cNvPr>
          <p:cNvSpPr>
            <a:spLocks/>
          </p:cNvSpPr>
          <p:nvPr/>
        </p:nvSpPr>
        <p:spPr bwMode="auto">
          <a:xfrm>
            <a:off x="4587874" y="1197231"/>
            <a:ext cx="735013" cy="82550"/>
          </a:xfrm>
          <a:custGeom>
            <a:avLst/>
            <a:gdLst>
              <a:gd name="T0" fmla="*/ 220 w 220"/>
              <a:gd name="T1" fmla="*/ 0 h 274"/>
              <a:gd name="T2" fmla="*/ 140 w 220"/>
              <a:gd name="T3" fmla="*/ 104 h 274"/>
              <a:gd name="T4" fmla="*/ 100 w 220"/>
              <a:gd name="T5" fmla="*/ 160 h 274"/>
              <a:gd name="T6" fmla="*/ 28 w 220"/>
              <a:gd name="T7" fmla="*/ 248 h 274"/>
              <a:gd name="T8" fmla="*/ 4 w 220"/>
              <a:gd name="T9" fmla="*/ 248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0" h="274">
                <a:moveTo>
                  <a:pt x="220" y="0"/>
                </a:moveTo>
                <a:cubicBezTo>
                  <a:pt x="170" y="17"/>
                  <a:pt x="163" y="64"/>
                  <a:pt x="140" y="104"/>
                </a:cubicBezTo>
                <a:cubicBezTo>
                  <a:pt x="129" y="124"/>
                  <a:pt x="113" y="141"/>
                  <a:pt x="100" y="160"/>
                </a:cubicBezTo>
                <a:cubicBezTo>
                  <a:pt x="87" y="212"/>
                  <a:pt x="75" y="216"/>
                  <a:pt x="28" y="248"/>
                </a:cubicBezTo>
                <a:cubicBezTo>
                  <a:pt x="0" y="267"/>
                  <a:pt x="4" y="274"/>
                  <a:pt x="4" y="2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8" name="Line 72">
            <a:extLst>
              <a:ext uri="{FF2B5EF4-FFF2-40B4-BE49-F238E27FC236}">
                <a16:creationId xmlns:a16="http://schemas.microsoft.com/office/drawing/2014/main" id="{746E1076-C40E-4428-87F5-4D8DE79D7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336931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0" name="Line 76">
            <a:extLst>
              <a:ext uri="{FF2B5EF4-FFF2-40B4-BE49-F238E27FC236}">
                <a16:creationId xmlns:a16="http://schemas.microsoft.com/office/drawing/2014/main" id="{51FD89B7-2AE2-49A1-82AF-55976D77E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1650" y="5092070"/>
            <a:ext cx="0" cy="257175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62" name="Line 77">
            <a:extLst>
              <a:ext uri="{FF2B5EF4-FFF2-40B4-BE49-F238E27FC236}">
                <a16:creationId xmlns:a16="http://schemas.microsoft.com/office/drawing/2014/main" id="{6C6D4B10-C4CD-49D5-975B-EFA6314B89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7163" y="5079370"/>
            <a:ext cx="0" cy="260350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64" name="Line 79">
            <a:extLst>
              <a:ext uri="{FF2B5EF4-FFF2-40B4-BE49-F238E27FC236}">
                <a16:creationId xmlns:a16="http://schemas.microsoft.com/office/drawing/2014/main" id="{282A4C78-AC99-4122-AF01-C5ED60147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1250" y="4742820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6" name="Line 82">
            <a:extLst>
              <a:ext uri="{FF2B5EF4-FFF2-40B4-BE49-F238E27FC236}">
                <a16:creationId xmlns:a16="http://schemas.microsoft.com/office/drawing/2014/main" id="{4C318F0E-513C-47A1-B9C0-A0ED3EA5D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7163" y="5314321"/>
            <a:ext cx="4095750" cy="19049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68" name="Rectangle 88">
            <a:extLst>
              <a:ext uri="{FF2B5EF4-FFF2-40B4-BE49-F238E27FC236}">
                <a16:creationId xmlns:a16="http://schemas.microsoft.com/office/drawing/2014/main" id="{C88D5FC8-3C74-47F0-A370-4C1A6505D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5288" y="6065207"/>
            <a:ext cx="627062" cy="384175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 anchor="ctr"/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Back-Up</a:t>
            </a:r>
            <a:br>
              <a:rPr kumimoji="0" lang="en-US" altLang="ko-KR" sz="900" b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kumimoji="0" lang="ko-KR" altLang="en-US" sz="900" b="0">
                <a:solidFill>
                  <a:srgbClr val="000000"/>
                </a:solidFill>
              </a:rPr>
              <a:t>서버</a:t>
            </a:r>
            <a:endParaRPr kumimoji="0" lang="ko-KR" altLang="en-US" sz="2800" b="0"/>
          </a:p>
        </p:txBody>
      </p:sp>
      <p:sp>
        <p:nvSpPr>
          <p:cNvPr id="70" name="Rectangle 90">
            <a:extLst>
              <a:ext uri="{FF2B5EF4-FFF2-40B4-BE49-F238E27FC236}">
                <a16:creationId xmlns:a16="http://schemas.microsoft.com/office/drawing/2014/main" id="{EC740274-9182-4632-B372-59580C632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5488945"/>
            <a:ext cx="3111500" cy="104457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2" name="Text Box 91">
            <a:extLst>
              <a:ext uri="{FF2B5EF4-FFF2-40B4-BE49-F238E27FC236}">
                <a16:creationId xmlns:a16="http://schemas.microsoft.com/office/drawing/2014/main" id="{0F652BA4-62A5-4187-918E-52F5A0864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5657220"/>
            <a:ext cx="966787" cy="514350"/>
          </a:xfrm>
          <a:prstGeom prst="rect">
            <a:avLst/>
          </a:prstGeom>
          <a:solidFill>
            <a:srgbClr val="C0C0C0"/>
          </a:solidFill>
          <a:ln>
            <a:noFill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0" latinLnBrk="0" hangingPunct="0"/>
            <a:r>
              <a:rPr kumimoji="0" lang="ko-KR" altLang="en-US" sz="900" b="0">
                <a:latin typeface="Tahoma" panose="020B0604030504040204" pitchFamily="34" charset="0"/>
              </a:rPr>
              <a:t>향후</a:t>
            </a:r>
          </a:p>
          <a:p>
            <a:pPr eaLnBrk="0" latinLnBrk="0" hangingPunct="0"/>
            <a:r>
              <a:rPr kumimoji="0" lang="ko-KR" altLang="en-US" sz="900" b="0">
                <a:latin typeface="Tahoma" panose="020B0604030504040204" pitchFamily="34" charset="0"/>
              </a:rPr>
              <a:t>통합  </a:t>
            </a:r>
            <a:r>
              <a:rPr kumimoji="0" lang="en-US" altLang="ko-KR" sz="900" b="0">
                <a:latin typeface="Tahoma" panose="020B0604030504040204" pitchFamily="34" charset="0"/>
              </a:rPr>
              <a:t>Back-Up </a:t>
            </a:r>
          </a:p>
          <a:p>
            <a:pPr eaLnBrk="0" latinLnBrk="0" hangingPunct="0"/>
            <a:r>
              <a:rPr kumimoji="0" lang="ko-KR" altLang="en-US" sz="900" b="0">
                <a:latin typeface="Tahoma" panose="020B0604030504040204" pitchFamily="34" charset="0"/>
              </a:rPr>
              <a:t>시스템 구성</a:t>
            </a:r>
          </a:p>
        </p:txBody>
      </p:sp>
      <p:sp>
        <p:nvSpPr>
          <p:cNvPr id="74" name="Line 93">
            <a:extLst>
              <a:ext uri="{FF2B5EF4-FFF2-40B4-BE49-F238E27FC236}">
                <a16:creationId xmlns:a16="http://schemas.microsoft.com/office/drawing/2014/main" id="{B36189ED-4D95-4178-A0CD-293656D4F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9738" y="4377695"/>
            <a:ext cx="800100" cy="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6" name="Line 96">
            <a:extLst>
              <a:ext uri="{FF2B5EF4-FFF2-40B4-BE49-F238E27FC236}">
                <a16:creationId xmlns:a16="http://schemas.microsoft.com/office/drawing/2014/main" id="{277FA749-C187-44CF-B409-20AD46982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6163" y="4384045"/>
            <a:ext cx="444500" cy="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8" name="Line 98">
            <a:extLst>
              <a:ext uri="{FF2B5EF4-FFF2-40B4-BE49-F238E27FC236}">
                <a16:creationId xmlns:a16="http://schemas.microsoft.com/office/drawing/2014/main" id="{D140856F-8610-436E-BF57-8CC48AC7E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6163" y="3029907"/>
            <a:ext cx="0" cy="1366838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0" name="Line 99">
            <a:extLst>
              <a:ext uri="{FF2B5EF4-FFF2-40B4-BE49-F238E27FC236}">
                <a16:creationId xmlns:a16="http://schemas.microsoft.com/office/drawing/2014/main" id="{43CEE1F0-53A6-4474-9702-073355059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6975" y="4358645"/>
            <a:ext cx="379413" cy="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2" name="Text Box 100">
            <a:extLst>
              <a:ext uri="{FF2B5EF4-FFF2-40B4-BE49-F238E27FC236}">
                <a16:creationId xmlns:a16="http://schemas.microsoft.com/office/drawing/2014/main" id="{333B3B99-6A0E-4093-8020-4D3DDE645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661" y="2320695"/>
            <a:ext cx="957341" cy="383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GBIT</a:t>
            </a:r>
          </a:p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 SWITCH</a:t>
            </a:r>
            <a:endParaRPr kumimoji="0" lang="en-US" altLang="ko-KR" sz="900" b="0" dirty="0"/>
          </a:p>
        </p:txBody>
      </p:sp>
      <p:sp>
        <p:nvSpPr>
          <p:cNvPr id="84" name="Line 101">
            <a:extLst>
              <a:ext uri="{FF2B5EF4-FFF2-40B4-BE49-F238E27FC236}">
                <a16:creationId xmlns:a16="http://schemas.microsoft.com/office/drawing/2014/main" id="{120766C8-A5A8-464F-882E-5E9281E8EA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8642" y="2134558"/>
            <a:ext cx="0" cy="1829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6" name="Line 102">
            <a:extLst>
              <a:ext uri="{FF2B5EF4-FFF2-40B4-BE49-F238E27FC236}">
                <a16:creationId xmlns:a16="http://schemas.microsoft.com/office/drawing/2014/main" id="{76074849-7047-43E5-A788-0B1C805076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2704067"/>
            <a:ext cx="0" cy="302027"/>
          </a:xfrm>
          <a:prstGeom prst="line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8" name="Line 107">
            <a:extLst>
              <a:ext uri="{FF2B5EF4-FFF2-40B4-BE49-F238E27FC236}">
                <a16:creationId xmlns:a16="http://schemas.microsoft.com/office/drawing/2014/main" id="{7E2D5001-0C13-4279-B019-A0FE73DD0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5125" y="2777495"/>
            <a:ext cx="0" cy="252412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90" name="Picture 109">
            <a:extLst>
              <a:ext uri="{FF2B5EF4-FFF2-40B4-BE49-F238E27FC236}">
                <a16:creationId xmlns:a16="http://schemas.microsoft.com/office/drawing/2014/main" id="{A7C51541-6538-427F-BCBF-D700A7D5B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0" y="2347282"/>
            <a:ext cx="306388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Text Box 110">
            <a:extLst>
              <a:ext uri="{FF2B5EF4-FFF2-40B4-BE49-F238E27FC236}">
                <a16:creationId xmlns:a16="http://schemas.microsoft.com/office/drawing/2014/main" id="{8CF952D4-FD03-47CD-A037-4B3C39A7F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552" y="1869445"/>
            <a:ext cx="1047748" cy="383774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EAEAE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0" latinLnBrk="0" hangingPunct="0"/>
            <a:r>
              <a:rPr kumimoji="0" lang="ko-KR" altLang="en-US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인증서버</a:t>
            </a:r>
          </a:p>
          <a:p>
            <a:pPr algn="ctr" eaLnBrk="0" latinLnBrk="0" hangingPunct="0"/>
            <a:r>
              <a:rPr kumimoji="0" lang="en-US" altLang="ko-KR" sz="900" b="0" dirty="0">
                <a:solidFill>
                  <a:srgbClr val="000000"/>
                </a:solidFill>
                <a:latin typeface="새바탕" pitchFamily="18" charset="-127"/>
                <a:ea typeface="새바탕" pitchFamily="18" charset="-127"/>
              </a:rPr>
              <a:t>DRM</a:t>
            </a:r>
            <a:endParaRPr kumimoji="0" lang="en-US" altLang="ko-KR" sz="900" b="0" dirty="0">
              <a:latin typeface="새바탕" pitchFamily="18" charset="-127"/>
              <a:ea typeface="새바탕" pitchFamily="18" charset="-127"/>
            </a:endParaRPr>
          </a:p>
        </p:txBody>
      </p:sp>
      <p:sp>
        <p:nvSpPr>
          <p:cNvPr id="94" name="Line 112">
            <a:extLst>
              <a:ext uri="{FF2B5EF4-FFF2-40B4-BE49-F238E27FC236}">
                <a16:creationId xmlns:a16="http://schemas.microsoft.com/office/drawing/2014/main" id="{94077EC6-8B48-4B89-AE66-7DE94B35D9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66088" y="2767970"/>
            <a:ext cx="0" cy="2582862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96" name="Rectangle 143">
            <a:extLst>
              <a:ext uri="{FF2B5EF4-FFF2-40B4-BE49-F238E27FC236}">
                <a16:creationId xmlns:a16="http://schemas.microsoft.com/office/drawing/2014/main" id="{DA89BFDF-2139-44D2-AB6A-B9B78D268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61" y="4498345"/>
            <a:ext cx="1727200" cy="6175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8" name="Line 144">
            <a:extLst>
              <a:ext uri="{FF2B5EF4-FFF2-40B4-BE49-F238E27FC236}">
                <a16:creationId xmlns:a16="http://schemas.microsoft.com/office/drawing/2014/main" id="{8AF24E75-1A9B-44C8-90AC-49BA19A44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" y="4817347"/>
            <a:ext cx="285750" cy="0"/>
          </a:xfrm>
          <a:prstGeom prst="line">
            <a:avLst/>
          </a:prstGeom>
          <a:noFill/>
          <a:ln w="38100" cmpd="dbl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ko-KR" altLang="en-US"/>
          </a:p>
        </p:txBody>
      </p:sp>
      <p:sp>
        <p:nvSpPr>
          <p:cNvPr id="100" name="Line 145">
            <a:extLst>
              <a:ext uri="{FF2B5EF4-FFF2-40B4-BE49-F238E27FC236}">
                <a16:creationId xmlns:a16="http://schemas.microsoft.com/office/drawing/2014/main" id="{FCABE146-9A16-496D-BC28-787FCE4EA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" y="4649072"/>
            <a:ext cx="263525" cy="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" name="Text Box 146">
            <a:extLst>
              <a:ext uri="{FF2B5EF4-FFF2-40B4-BE49-F238E27FC236}">
                <a16:creationId xmlns:a16="http://schemas.microsoft.com/office/drawing/2014/main" id="{580CC756-CF4D-468A-85A4-FB76D268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4520334"/>
            <a:ext cx="1347788" cy="55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5741" tIns="52871" rIns="105741" bIns="52871">
            <a:spAutoFit/>
          </a:bodyPr>
          <a:lstStyle>
            <a:lvl1pPr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528638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057275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585913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114550" algn="l" defTabSz="1057275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717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30289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861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943350" defTabSz="1057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0" latinLnBrk="0" hangingPunct="0">
              <a:lnSpc>
                <a:spcPct val="110000"/>
              </a:lnSpc>
            </a:pPr>
            <a:r>
              <a:rPr kumimoji="0" lang="en-US" altLang="ko-KR" sz="900" dirty="0"/>
              <a:t>GIGA BIT</a:t>
            </a:r>
          </a:p>
          <a:p>
            <a:pPr eaLnBrk="0" latinLnBrk="0" hangingPunct="0">
              <a:lnSpc>
                <a:spcPct val="110000"/>
              </a:lnSpc>
            </a:pPr>
            <a:r>
              <a:rPr kumimoji="0" lang="en-US" altLang="ko-KR" sz="900" dirty="0"/>
              <a:t>Fiber Channel</a:t>
            </a:r>
          </a:p>
          <a:p>
            <a:pPr eaLnBrk="0" latinLnBrk="0" hangingPunct="0">
              <a:lnSpc>
                <a:spcPct val="110000"/>
              </a:lnSpc>
            </a:pPr>
            <a:r>
              <a:rPr kumimoji="0" lang="en-US" altLang="ko-KR" sz="900" dirty="0"/>
              <a:t>Fast Ethernet</a:t>
            </a:r>
          </a:p>
        </p:txBody>
      </p:sp>
      <p:sp>
        <p:nvSpPr>
          <p:cNvPr id="104" name="Line 148">
            <a:extLst>
              <a:ext uri="{FF2B5EF4-FFF2-40B4-BE49-F238E27FC236}">
                <a16:creationId xmlns:a16="http://schemas.microsoft.com/office/drawing/2014/main" id="{89D3D995-606E-4684-9D28-274CF17E9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350" y="4984034"/>
            <a:ext cx="263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6" name="Line 149">
            <a:extLst>
              <a:ext uri="{FF2B5EF4-FFF2-40B4-BE49-F238E27FC236}">
                <a16:creationId xmlns:a16="http://schemas.microsoft.com/office/drawing/2014/main" id="{BE377952-73D3-410B-9123-420EEF82CC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850" y="3009269"/>
            <a:ext cx="4983163" cy="1111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8" name="Line 150">
            <a:extLst>
              <a:ext uri="{FF2B5EF4-FFF2-40B4-BE49-F238E27FC236}">
                <a16:creationId xmlns:a16="http://schemas.microsoft.com/office/drawing/2014/main" id="{7A03BB24-DC3D-4B3A-934A-457823FF5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0850" y="3014032"/>
            <a:ext cx="0" cy="1366838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0" name="Line 151">
            <a:extLst>
              <a:ext uri="{FF2B5EF4-FFF2-40B4-BE49-F238E27FC236}">
                <a16:creationId xmlns:a16="http://schemas.microsoft.com/office/drawing/2014/main" id="{A36FFD69-E8C5-4416-9B27-A1C26690C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2767970"/>
            <a:ext cx="0" cy="246062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" name="Line 172">
            <a:extLst>
              <a:ext uri="{FF2B5EF4-FFF2-40B4-BE49-F238E27FC236}">
                <a16:creationId xmlns:a16="http://schemas.microsoft.com/office/drawing/2014/main" id="{98F8E464-EF63-4F56-8285-F04BA9038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4438" y="3001332"/>
            <a:ext cx="0" cy="1366838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12590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50313</TotalTime>
  <Words>76</Words>
  <Application>Microsoft Office PowerPoint</Application>
  <PresentationFormat>화면 슬라이드 쇼(4:3)</PresentationFormat>
  <Paragraphs>43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4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HY울릉도M</vt:lpstr>
      <vt:lpstr>굴림</vt:lpstr>
      <vt:lpstr>바탕</vt:lpstr>
      <vt:lpstr>새바탕</vt:lpstr>
      <vt:lpstr>Arial</vt:lpstr>
      <vt:lpstr>Tahoma</vt:lpstr>
      <vt:lpstr>Times New Roman</vt:lpstr>
      <vt:lpstr>Wingdings</vt:lpstr>
      <vt:lpstr>기본 디자인</vt:lpstr>
      <vt:lpstr>Microsoft Clip Gallery</vt:lpstr>
      <vt:lpstr>VISIO</vt:lpstr>
      <vt:lpstr>Microsoft Word 문서</vt:lpstr>
      <vt:lpstr>MS_ClipArt_Gallery.5</vt:lpstr>
      <vt:lpstr>Data Service  Infrastructure concept</vt:lpstr>
      <vt:lpstr>System Overview</vt:lpstr>
      <vt:lpstr>System Architecture ( Detail)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2071</cp:revision>
  <cp:lastPrinted>2019-05-20T07:28:10Z</cp:lastPrinted>
  <dcterms:created xsi:type="dcterms:W3CDTF">1601-01-01T00:00:00Z</dcterms:created>
  <dcterms:modified xsi:type="dcterms:W3CDTF">2020-11-18T23:59:38Z</dcterms:modified>
</cp:coreProperties>
</file>